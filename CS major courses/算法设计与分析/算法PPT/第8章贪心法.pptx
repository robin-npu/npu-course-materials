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113"/>
  </p:notesMasterIdLst>
  <p:handoutMasterIdLst>
    <p:handoutMasterId r:id="rId114"/>
  </p:handoutMasterIdLst>
  <p:sldIdLst>
    <p:sldId id="522" r:id="rId2"/>
    <p:sldId id="365" r:id="rId3"/>
    <p:sldId id="523" r:id="rId4"/>
    <p:sldId id="531" r:id="rId5"/>
    <p:sldId id="532" r:id="rId6"/>
    <p:sldId id="533" r:id="rId7"/>
    <p:sldId id="534" r:id="rId8"/>
    <p:sldId id="535" r:id="rId9"/>
    <p:sldId id="525" r:id="rId10"/>
    <p:sldId id="536" r:id="rId11"/>
    <p:sldId id="559" r:id="rId12"/>
    <p:sldId id="524" r:id="rId13"/>
    <p:sldId id="538" r:id="rId14"/>
    <p:sldId id="539" r:id="rId15"/>
    <p:sldId id="526" r:id="rId16"/>
    <p:sldId id="640" r:id="rId17"/>
    <p:sldId id="641" r:id="rId18"/>
    <p:sldId id="642" r:id="rId19"/>
    <p:sldId id="527" r:id="rId20"/>
    <p:sldId id="543" r:id="rId21"/>
    <p:sldId id="544" r:id="rId22"/>
    <p:sldId id="556" r:id="rId23"/>
    <p:sldId id="545" r:id="rId24"/>
    <p:sldId id="557" r:id="rId25"/>
    <p:sldId id="558" r:id="rId26"/>
    <p:sldId id="546" r:id="rId27"/>
    <p:sldId id="547" r:id="rId28"/>
    <p:sldId id="548" r:id="rId29"/>
    <p:sldId id="643" r:id="rId30"/>
    <p:sldId id="644" r:id="rId31"/>
    <p:sldId id="550" r:id="rId32"/>
    <p:sldId id="551" r:id="rId33"/>
    <p:sldId id="560" r:id="rId34"/>
    <p:sldId id="552" r:id="rId35"/>
    <p:sldId id="565" r:id="rId36"/>
    <p:sldId id="553" r:id="rId37"/>
    <p:sldId id="554" r:id="rId38"/>
    <p:sldId id="561" r:id="rId39"/>
    <p:sldId id="562" r:id="rId40"/>
    <p:sldId id="555" r:id="rId41"/>
    <p:sldId id="563" r:id="rId42"/>
    <p:sldId id="564" r:id="rId43"/>
    <p:sldId id="572" r:id="rId44"/>
    <p:sldId id="573" r:id="rId45"/>
    <p:sldId id="574" r:id="rId46"/>
    <p:sldId id="575" r:id="rId47"/>
    <p:sldId id="645" r:id="rId48"/>
    <p:sldId id="646" r:id="rId49"/>
    <p:sldId id="647" r:id="rId50"/>
    <p:sldId id="648" r:id="rId51"/>
    <p:sldId id="649" r:id="rId52"/>
    <p:sldId id="650" r:id="rId53"/>
    <p:sldId id="566" r:id="rId54"/>
    <p:sldId id="587" r:id="rId55"/>
    <p:sldId id="581" r:id="rId56"/>
    <p:sldId id="582" r:id="rId57"/>
    <p:sldId id="583" r:id="rId58"/>
    <p:sldId id="584" r:id="rId59"/>
    <p:sldId id="585" r:id="rId60"/>
    <p:sldId id="586" r:id="rId61"/>
    <p:sldId id="588" r:id="rId62"/>
    <p:sldId id="589" r:id="rId63"/>
    <p:sldId id="537" r:id="rId64"/>
    <p:sldId id="590" r:id="rId65"/>
    <p:sldId id="530" r:id="rId66"/>
    <p:sldId id="612" r:id="rId67"/>
    <p:sldId id="613" r:id="rId68"/>
    <p:sldId id="614" r:id="rId69"/>
    <p:sldId id="570" r:id="rId70"/>
    <p:sldId id="603" r:id="rId71"/>
    <p:sldId id="639" r:id="rId72"/>
    <p:sldId id="604" r:id="rId73"/>
    <p:sldId id="606" r:id="rId74"/>
    <p:sldId id="607" r:id="rId75"/>
    <p:sldId id="608" r:id="rId76"/>
    <p:sldId id="609" r:id="rId77"/>
    <p:sldId id="610" r:id="rId78"/>
    <p:sldId id="571" r:id="rId79"/>
    <p:sldId id="593" r:id="rId80"/>
    <p:sldId id="594" r:id="rId81"/>
    <p:sldId id="595" r:id="rId82"/>
    <p:sldId id="596" r:id="rId83"/>
    <p:sldId id="597" r:id="rId84"/>
    <p:sldId id="615" r:id="rId85"/>
    <p:sldId id="616" r:id="rId86"/>
    <p:sldId id="617" r:id="rId87"/>
    <p:sldId id="618" r:id="rId88"/>
    <p:sldId id="619" r:id="rId89"/>
    <p:sldId id="651" r:id="rId90"/>
    <p:sldId id="652" r:id="rId91"/>
    <p:sldId id="653" r:id="rId92"/>
    <p:sldId id="654" r:id="rId93"/>
    <p:sldId id="655" r:id="rId94"/>
    <p:sldId id="656" r:id="rId95"/>
    <p:sldId id="657" r:id="rId96"/>
    <p:sldId id="600" r:id="rId97"/>
    <p:sldId id="601" r:id="rId98"/>
    <p:sldId id="626" r:id="rId99"/>
    <p:sldId id="627" r:id="rId100"/>
    <p:sldId id="628" r:id="rId101"/>
    <p:sldId id="630" r:id="rId102"/>
    <p:sldId id="631" r:id="rId103"/>
    <p:sldId id="629" r:id="rId104"/>
    <p:sldId id="632" r:id="rId105"/>
    <p:sldId id="633" r:id="rId106"/>
    <p:sldId id="634" r:id="rId107"/>
    <p:sldId id="635" r:id="rId108"/>
    <p:sldId id="636" r:id="rId109"/>
    <p:sldId id="637" r:id="rId110"/>
    <p:sldId id="638" r:id="rId111"/>
    <p:sldId id="658" r:id="rId112"/>
  </p:sldIdLst>
  <p:sldSz cx="9144000" cy="6858000" type="screen4x3"/>
  <p:notesSz cx="6858000" cy="9144000"/>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00"/>
    <a:srgbClr val="FF00FF"/>
    <a:srgbClr val="FF3300"/>
    <a:srgbClr val="FF3399"/>
    <a:srgbClr val="339933"/>
    <a:srgbClr val="000000"/>
    <a:srgbClr val="3333FF"/>
    <a:srgbClr val="6600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p:cViewPr varScale="1">
        <p:scale>
          <a:sx n="99" d="100"/>
          <a:sy n="99" d="100"/>
        </p:scale>
        <p:origin x="129"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pPr/>
              <a:t>2024-01-28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fld id="{0D1E2EF4-146E-47B5-A412-FFD548A1AB6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18</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19</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20</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21</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22</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23</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24</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25</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26</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27</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28</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29</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30</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31</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32</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33</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34</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35</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36</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37</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38</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39</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40</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41</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42</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47</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53</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54</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63</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65</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69</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78</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79</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80</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81</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82</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83</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84</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85</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86</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87</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88</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89</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90</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91</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92</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93</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94</a:t>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95</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96</a:t>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97</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98</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99</a:t>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100</a:t>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101</a:t>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102</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103</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104</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105</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106</a:t>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107</a:t>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108</a:t>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109</a:t>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110</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lvl1pPr>
              <a:defRPr sz="1400">
                <a:solidFill>
                  <a:srgbClr val="FF0000"/>
                </a:solidFill>
                <a:latin typeface="Consolas" pitchFamily="49" charset="0"/>
                <a:cs typeface="Consolas" pitchFamily="49" charset="0"/>
              </a:defRPr>
            </a:lvl1pPr>
          </a:lstStyle>
          <a:p>
            <a:fld id="{7AF016A1-9F15-429F-9EFD-84004B73C732}" type="slidenum">
              <a:rPr lang="en-US" altLang="zh-CN" smtClean="0"/>
              <a:pPr/>
              <a:t>‹#›</a:t>
            </a:fld>
            <a:r>
              <a:rPr lang="en-US" altLang="zh-CN"/>
              <a:t>/109</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10"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gif"/></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714612" y="142852"/>
            <a:ext cx="4786346" cy="879829"/>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第</a:t>
            </a:r>
            <a:r>
              <a:rPr lang="en-US" altLang="zh-CN"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8</a:t>
            </a: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章</a:t>
            </a:r>
            <a:r>
              <a:rPr lang="en-US" altLang="zh-CN"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a:t>
            </a: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贪心法</a:t>
            </a:r>
          </a:p>
        </p:txBody>
      </p:sp>
      <p:sp>
        <p:nvSpPr>
          <p:cNvPr id="5" name="TextBox 4">
            <a:hlinkClick r:id="rId3" action="ppaction://hlinksldjump"/>
          </p:cNvPr>
          <p:cNvSpPr txBox="1"/>
          <p:nvPr/>
        </p:nvSpPr>
        <p:spPr>
          <a:xfrm>
            <a:off x="3071802" y="1391165"/>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贪心法概述</a:t>
            </a:r>
          </a:p>
        </p:txBody>
      </p:sp>
      <p:sp>
        <p:nvSpPr>
          <p:cNvPr id="9" name="TextBox 8">
            <a:hlinkClick r:id="" action="ppaction://noaction"/>
          </p:cNvPr>
          <p:cNvSpPr txBox="1"/>
          <p:nvPr/>
        </p:nvSpPr>
        <p:spPr>
          <a:xfrm>
            <a:off x="3071802" y="2143116"/>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8.2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区间问题</a:t>
            </a:r>
          </a:p>
        </p:txBody>
      </p:sp>
      <p:grpSp>
        <p:nvGrpSpPr>
          <p:cNvPr id="16" name="组合 79"/>
          <p:cNvGrpSpPr>
            <a:grpSpLocks/>
          </p:cNvGrpSpPr>
          <p:nvPr/>
        </p:nvGrpSpPr>
        <p:grpSpPr bwMode="auto">
          <a:xfrm>
            <a:off x="571472" y="2679762"/>
            <a:ext cx="2160000" cy="2177998"/>
            <a:chOff x="6379728" y="2488774"/>
            <a:chExt cx="2513016" cy="2533955"/>
          </a:xfrm>
        </p:grpSpPr>
        <p:sp>
          <p:nvSpPr>
            <p:cNvPr id="17"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a:ea typeface="宋体"/>
              </a:endParaRPr>
            </a:p>
          </p:txBody>
        </p:sp>
        <p:sp>
          <p:nvSpPr>
            <p:cNvPr id="18"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19" name="文本框 20"/>
          <p:cNvSpPr txBox="1">
            <a:spLocks noChangeArrowheads="1"/>
          </p:cNvSpPr>
          <p:nvPr/>
        </p:nvSpPr>
        <p:spPr bwMode="auto">
          <a:xfrm>
            <a:off x="822994" y="3789539"/>
            <a:ext cx="1678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en-US" altLang="zh-CN" sz="2000" b="1" dirty="0">
                <a:solidFill>
                  <a:srgbClr val="9900FF"/>
                </a:solidFill>
              </a:rPr>
              <a:t>CONTENTS</a:t>
            </a:r>
            <a:endParaRPr lang="zh-CN" altLang="en-US" sz="2000" b="1" dirty="0">
              <a:solidFill>
                <a:srgbClr val="9900FF"/>
              </a:solidFill>
            </a:endParaRPr>
          </a:p>
        </p:txBody>
      </p:sp>
      <p:sp>
        <p:nvSpPr>
          <p:cNvPr id="20" name="文本框 20"/>
          <p:cNvSpPr txBox="1">
            <a:spLocks noChangeArrowheads="1"/>
          </p:cNvSpPr>
          <p:nvPr/>
        </p:nvSpPr>
        <p:spPr bwMode="auto">
          <a:xfrm>
            <a:off x="967010" y="3109529"/>
            <a:ext cx="14122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zh-CN" altLang="en-US" sz="3200" b="1" dirty="0">
                <a:solidFill>
                  <a:srgbClr val="008000"/>
                </a:solidFill>
              </a:rPr>
              <a:t>提纲</a:t>
            </a:r>
          </a:p>
        </p:txBody>
      </p:sp>
      <p:sp>
        <p:nvSpPr>
          <p:cNvPr id="12" name="TextBox 11">
            <a:hlinkClick r:id="" action="ppaction://noaction"/>
          </p:cNvPr>
          <p:cNvSpPr txBox="1"/>
          <p:nvPr/>
        </p:nvSpPr>
        <p:spPr>
          <a:xfrm>
            <a:off x="3071802" y="2857496"/>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8.3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背包问题</a:t>
            </a:r>
          </a:p>
        </p:txBody>
      </p:sp>
      <p:sp>
        <p:nvSpPr>
          <p:cNvPr id="14" name="TextBox 13">
            <a:hlinkClick r:id="" action="ppaction://noaction"/>
          </p:cNvPr>
          <p:cNvSpPr txBox="1"/>
          <p:nvPr/>
        </p:nvSpPr>
        <p:spPr>
          <a:xfrm>
            <a:off x="3071802" y="3571876"/>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8.4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田忌赛马问题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5" name="TextBox 14">
            <a:hlinkClick r:id="" action="ppaction://noaction"/>
          </p:cNvPr>
          <p:cNvSpPr txBox="1"/>
          <p:nvPr/>
        </p:nvSpPr>
        <p:spPr>
          <a:xfrm>
            <a:off x="3071802" y="4286256"/>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8.5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零钱兑换问题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1" name="TextBox 20">
            <a:hlinkClick r:id="" action="ppaction://noaction"/>
          </p:cNvPr>
          <p:cNvSpPr txBox="1"/>
          <p:nvPr/>
        </p:nvSpPr>
        <p:spPr>
          <a:xfrm>
            <a:off x="3071802" y="5000636"/>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8.6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哈夫曼编码</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2" name="TextBox 21">
            <a:hlinkClick r:id="" action="ppaction://noaction"/>
          </p:cNvPr>
          <p:cNvSpPr txBox="1"/>
          <p:nvPr/>
        </p:nvSpPr>
        <p:spPr>
          <a:xfrm>
            <a:off x="3071802" y="5715016"/>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8.7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拟阵</a:t>
            </a: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4" name="灯片编号占位符 23"/>
          <p:cNvSpPr>
            <a:spLocks noGrp="1"/>
          </p:cNvSpPr>
          <p:nvPr>
            <p:ph type="sldNum" sz="quarter" idx="12"/>
          </p:nvPr>
        </p:nvSpPr>
        <p:spPr/>
        <p:txBody>
          <a:bodyPr/>
          <a:lstStyle/>
          <a:p>
            <a:fld id="{7AF016A1-9F15-429F-9EFD-84004B73C732}" type="slidenum">
              <a:rPr lang="en-US" altLang="zh-CN" smtClean="0"/>
              <a:pPr/>
              <a:t>1</a:t>
            </a:fld>
            <a:r>
              <a:rPr lang="en-US" altLang="zh-CN"/>
              <a:t>/109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428596" y="1428736"/>
            <a:ext cx="378621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8.1.1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什么是贪心法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a:hlinkClick r:id="rId3" action="ppaction://hlinksldjump"/>
          </p:cNvPr>
          <p:cNvSpPr txBox="1"/>
          <p:nvPr/>
        </p:nvSpPr>
        <p:spPr>
          <a:xfrm>
            <a:off x="2500298" y="428604"/>
            <a:ext cx="4000528"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贪心法概述</a:t>
            </a:r>
          </a:p>
        </p:txBody>
      </p:sp>
      <p:sp>
        <p:nvSpPr>
          <p:cNvPr id="6" name="TextBox 5"/>
          <p:cNvSpPr txBox="1"/>
          <p:nvPr/>
        </p:nvSpPr>
        <p:spPr>
          <a:xfrm>
            <a:off x="642910" y="2214554"/>
            <a:ext cx="8215370" cy="3987630"/>
          </a:xfrm>
          <a:prstGeom prst="rect">
            <a:avLst/>
          </a:prstGeom>
          <a:solidFill>
            <a:schemeClr val="bg1"/>
          </a:solidFill>
          <a:ln>
            <a:solidFill>
              <a:schemeClr val="accent6">
                <a:lumMod val="40000"/>
                <a:lumOff val="60000"/>
              </a:schemeClr>
            </a:solidFill>
          </a:ln>
        </p:spPr>
        <p:txBody>
          <a:bodyPr wrap="square" rtlCol="0">
            <a:spAutoFit/>
          </a:bodyPr>
          <a:lstStyle/>
          <a:p>
            <a:pPr marL="457200" indent="-457200" algn="l">
              <a:lnSpc>
                <a:spcPts val="3200"/>
              </a:lnSpc>
              <a:spcBef>
                <a:spcPts val="600"/>
              </a:spcBef>
              <a:buBlip>
                <a:blip r:embed="rId4"/>
              </a:buBlip>
            </a:pPr>
            <a:r>
              <a:rPr lang="zh-CN" altLang="zh-CN">
                <a:solidFill>
                  <a:srgbClr val="FF0000"/>
                </a:solidFill>
                <a:latin typeface="楷体" pitchFamily="49" charset="-122"/>
                <a:ea typeface="楷体" pitchFamily="49" charset="-122"/>
              </a:rPr>
              <a:t>贪心法</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greedy algorithms</a:t>
            </a:r>
            <a:r>
              <a:rPr lang="zh-CN" altLang="zh-CN">
                <a:solidFill>
                  <a:srgbClr val="0000FF"/>
                </a:solidFill>
                <a:latin typeface="Consolas" pitchFamily="49" charset="0"/>
                <a:ea typeface="仿宋" pitchFamily="49" charset="-122"/>
              </a:rPr>
              <a:t>）是一种重要的算法设计策略，用于求解优</a:t>
            </a:r>
            <a:r>
              <a:rPr lang="zh-CN" altLang="en-US">
                <a:solidFill>
                  <a:srgbClr val="0000FF"/>
                </a:solidFill>
                <a:latin typeface="Consolas" pitchFamily="49" charset="0"/>
                <a:ea typeface="仿宋" pitchFamily="49" charset="-122"/>
              </a:rPr>
              <a:t>化</a:t>
            </a:r>
            <a:r>
              <a:rPr lang="zh-CN" altLang="zh-CN">
                <a:solidFill>
                  <a:srgbClr val="0000FF"/>
                </a:solidFill>
                <a:latin typeface="Consolas" pitchFamily="49" charset="0"/>
                <a:ea typeface="仿宋" pitchFamily="49" charset="-122"/>
              </a:rPr>
              <a:t>问题。</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4"/>
              </a:buBlip>
            </a:pPr>
            <a:r>
              <a:rPr lang="zh-CN" altLang="zh-CN">
                <a:solidFill>
                  <a:srgbClr val="0000FF"/>
                </a:solidFill>
                <a:latin typeface="Consolas" pitchFamily="49" charset="0"/>
                <a:ea typeface="仿宋" pitchFamily="49" charset="-122"/>
              </a:rPr>
              <a:t>贪心法是从问题的某一个初始状态出发，通过逐步构造最优解的方法向给定的目标前进，并期望通过这种方法产生出一个全局最优解的方法。</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4"/>
              </a:buBlip>
            </a:pPr>
            <a:r>
              <a:rPr lang="zh-CN" altLang="zh-CN">
                <a:solidFill>
                  <a:srgbClr val="0000FF"/>
                </a:solidFill>
                <a:latin typeface="Consolas" pitchFamily="49" charset="0"/>
                <a:ea typeface="仿宋" pitchFamily="49" charset="-122"/>
              </a:rPr>
              <a:t>做出贪心决策的依据称为贪心准则（策略），</a:t>
            </a:r>
            <a:r>
              <a:rPr lang="zh-CN" altLang="en-US">
                <a:solidFill>
                  <a:srgbClr val="0000FF"/>
                </a:solidFill>
                <a:latin typeface="Consolas" pitchFamily="49" charset="0"/>
                <a:ea typeface="仿宋" pitchFamily="49" charset="-122"/>
              </a:rPr>
              <a:t>并且</a:t>
            </a:r>
            <a:r>
              <a:rPr lang="zh-CN" altLang="zh-CN">
                <a:solidFill>
                  <a:srgbClr val="0000FF"/>
                </a:solidFill>
                <a:latin typeface="Consolas" pitchFamily="49" charset="0"/>
                <a:ea typeface="仿宋" pitchFamily="49" charset="-122"/>
              </a:rPr>
              <a:t>决策一旦做出，就不可再更改。</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4"/>
              </a:buBlip>
            </a:pPr>
            <a:r>
              <a:rPr lang="zh-CN" altLang="zh-CN">
                <a:solidFill>
                  <a:srgbClr val="0000FF"/>
                </a:solidFill>
                <a:latin typeface="Consolas" pitchFamily="49" charset="0"/>
                <a:ea typeface="仿宋" pitchFamily="49" charset="-122"/>
              </a:rPr>
              <a:t>总之，贪心法总是作出在当前看来最好的选择，这个局部最优选择仅依赖以前的决策，但不依赖于以后的决策。</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2</a:t>
            </a:fld>
            <a:r>
              <a:rPr lang="en-US" altLang="zh-CN"/>
              <a:t>/109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71480"/>
            <a:ext cx="6072230"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8.1.2 </a:t>
            </a:r>
            <a:r>
              <a:rPr lang="zh-CN" altLang="zh-CN" sz="2800">
                <a:latin typeface="Consolas" pitchFamily="49" charset="0"/>
                <a:ea typeface="微软雅黑" pitchFamily="34" charset="-122"/>
              </a:rPr>
              <a:t>贪心法求解问题具有的性质</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571472" y="1428736"/>
            <a:ext cx="321471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pt-BR" altLang="zh-CN">
                <a:solidFill>
                  <a:schemeClr val="bg1"/>
                </a:solidFill>
                <a:latin typeface="Consolas" pitchFamily="49" charset="0"/>
                <a:ea typeface="微软雅黑" pitchFamily="34" charset="-122"/>
                <a:cs typeface="Consolas" pitchFamily="49" charset="0"/>
              </a:rPr>
              <a:t>1</a:t>
            </a:r>
            <a:r>
              <a:rPr lang="en-US" altLang="zh-CN">
                <a:solidFill>
                  <a:schemeClr val="bg1"/>
                </a:solidFill>
                <a:latin typeface="Consolas" pitchFamily="49" charset="0"/>
                <a:ea typeface="微软雅黑" pitchFamily="34" charset="-122"/>
                <a:cs typeface="Consolas" pitchFamily="49" charset="0"/>
              </a:rPr>
              <a:t>. </a:t>
            </a:r>
            <a:r>
              <a:rPr lang="zh-CN" altLang="en-US">
                <a:solidFill>
                  <a:schemeClr val="bg1"/>
                </a:solidFill>
                <a:latin typeface="Consolas" pitchFamily="49" charset="0"/>
                <a:ea typeface="微软雅黑" pitchFamily="34" charset="-122"/>
                <a:cs typeface="Consolas" pitchFamily="49" charset="0"/>
              </a:rPr>
              <a:t>最优子结构性质</a:t>
            </a:r>
            <a:endParaRPr lang="zh-CN" altLang="zh-CN">
              <a:solidFill>
                <a:schemeClr val="bg1"/>
              </a:solidFill>
              <a:latin typeface="Consolas" pitchFamily="49" charset="0"/>
              <a:ea typeface="微软雅黑" pitchFamily="34" charset="-122"/>
              <a:cs typeface="Consolas" pitchFamily="49" charset="0"/>
            </a:endParaRPr>
          </a:p>
        </p:txBody>
      </p:sp>
      <p:sp>
        <p:nvSpPr>
          <p:cNvPr id="5" name="TextBox 4"/>
          <p:cNvSpPr txBox="1"/>
          <p:nvPr/>
        </p:nvSpPr>
        <p:spPr>
          <a:xfrm>
            <a:off x="571472" y="2214554"/>
            <a:ext cx="8072494"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如果问题的</a:t>
            </a:r>
            <a:r>
              <a:rPr lang="zh-CN" altLang="zh-CN">
                <a:solidFill>
                  <a:srgbClr val="FF0000"/>
                </a:solidFill>
                <a:latin typeface="Consolas" pitchFamily="49" charset="0"/>
                <a:ea typeface="仿宋" pitchFamily="49" charset="-122"/>
              </a:rPr>
              <a:t>最优解所包含的子问题的解也是最优的</a:t>
            </a:r>
            <a:r>
              <a:rPr lang="zh-CN" altLang="zh-CN">
                <a:solidFill>
                  <a:srgbClr val="0000FF"/>
                </a:solidFill>
                <a:latin typeface="Consolas" pitchFamily="49" charset="0"/>
                <a:ea typeface="仿宋" pitchFamily="49" charset="-122"/>
              </a:rPr>
              <a:t>，就称该问题具有最优子结构性质。</a:t>
            </a:r>
            <a:endParaRPr lang="en-US" altLang="zh-CN">
              <a:solidFill>
                <a:srgbClr val="0000FF"/>
              </a:solidFill>
              <a:latin typeface="Consolas" pitchFamily="49" charset="0"/>
              <a:ea typeface="仿宋" pitchFamily="49" charset="-122"/>
            </a:endParaRPr>
          </a:p>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通常采用</a:t>
            </a:r>
            <a:r>
              <a:rPr lang="zh-CN" altLang="zh-CN">
                <a:solidFill>
                  <a:srgbClr val="FF0000"/>
                </a:solidFill>
                <a:latin typeface="Consolas" pitchFamily="49" charset="0"/>
                <a:ea typeface="仿宋" pitchFamily="49" charset="-122"/>
              </a:rPr>
              <a:t>反证法</a:t>
            </a:r>
            <a:r>
              <a:rPr lang="zh-CN" altLang="zh-CN">
                <a:solidFill>
                  <a:srgbClr val="0000FF"/>
                </a:solidFill>
                <a:latin typeface="Consolas" pitchFamily="49" charset="0"/>
                <a:ea typeface="仿宋" pitchFamily="49" charset="-122"/>
              </a:rPr>
              <a:t>来证明一个问题具有最优子结构性质。</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3</a:t>
            </a:fld>
            <a:r>
              <a:rPr lang="en-US" altLang="zh-CN"/>
              <a:t>/109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642918"/>
            <a:ext cx="321471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pt-BR" altLang="zh-CN">
                <a:solidFill>
                  <a:schemeClr val="bg1"/>
                </a:solidFill>
                <a:latin typeface="Consolas" pitchFamily="49" charset="0"/>
                <a:ea typeface="微软雅黑" pitchFamily="34" charset="-122"/>
                <a:cs typeface="Consolas" pitchFamily="49" charset="0"/>
              </a:rPr>
              <a:t>2. </a:t>
            </a:r>
            <a:r>
              <a:rPr lang="zh-CN" altLang="en-US">
                <a:solidFill>
                  <a:schemeClr val="bg1"/>
                </a:solidFill>
                <a:latin typeface="Consolas" pitchFamily="49" charset="0"/>
                <a:ea typeface="微软雅黑" pitchFamily="34" charset="-122"/>
                <a:cs typeface="Consolas" pitchFamily="49" charset="0"/>
              </a:rPr>
              <a:t>贪心选择性质</a:t>
            </a:r>
            <a:endParaRPr lang="zh-CN" altLang="zh-CN">
              <a:solidFill>
                <a:schemeClr val="bg1"/>
              </a:solidFill>
              <a:latin typeface="Consolas" pitchFamily="49" charset="0"/>
              <a:ea typeface="微软雅黑" pitchFamily="34" charset="-122"/>
              <a:cs typeface="Consolas" pitchFamily="49" charset="0"/>
            </a:endParaRPr>
          </a:p>
        </p:txBody>
      </p:sp>
      <p:sp>
        <p:nvSpPr>
          <p:cNvPr id="4" name="TextBox 3"/>
          <p:cNvSpPr txBox="1"/>
          <p:nvPr/>
        </p:nvSpPr>
        <p:spPr>
          <a:xfrm>
            <a:off x="642910" y="1428736"/>
            <a:ext cx="8072494" cy="278537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所谓</a:t>
            </a:r>
            <a:r>
              <a:rPr lang="zh-CN" altLang="zh-CN">
                <a:solidFill>
                  <a:srgbClr val="FF0000"/>
                </a:solidFill>
                <a:latin typeface="Consolas" pitchFamily="49" charset="0"/>
                <a:ea typeface="仿宋" pitchFamily="49" charset="-122"/>
              </a:rPr>
              <a:t>贪心选择性质</a:t>
            </a:r>
            <a:r>
              <a:rPr lang="zh-CN" altLang="zh-CN">
                <a:solidFill>
                  <a:srgbClr val="0000FF"/>
                </a:solidFill>
                <a:latin typeface="Consolas" pitchFamily="49" charset="0"/>
                <a:ea typeface="仿宋" pitchFamily="49" charset="-122"/>
              </a:rPr>
              <a:t>是指整体最优解可以通过一系列局部最优选择（即贪心选择）来得到。</a:t>
            </a:r>
            <a:endParaRPr lang="en-US" altLang="zh-CN">
              <a:solidFill>
                <a:srgbClr val="0000FF"/>
              </a:solidFill>
              <a:latin typeface="Consolas" pitchFamily="49" charset="0"/>
              <a:ea typeface="仿宋" pitchFamily="49" charset="-122"/>
            </a:endParaRPr>
          </a:p>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在证明问题是否具有贪心选择性质时，通常采用</a:t>
            </a:r>
            <a:r>
              <a:rPr lang="zh-CN" altLang="zh-CN">
                <a:solidFill>
                  <a:srgbClr val="FF0000"/>
                </a:solidFill>
                <a:latin typeface="Consolas" pitchFamily="49" charset="0"/>
                <a:ea typeface="仿宋" pitchFamily="49" charset="-122"/>
              </a:rPr>
              <a:t>数学归纳法</a:t>
            </a:r>
            <a:r>
              <a:rPr lang="zh-CN" altLang="zh-CN">
                <a:solidFill>
                  <a:srgbClr val="0000FF"/>
                </a:solidFill>
                <a:latin typeface="Consolas" pitchFamily="49" charset="0"/>
                <a:ea typeface="仿宋" pitchFamily="49" charset="-122"/>
              </a:rPr>
              <a:t>证明，先证明第一步贪心选择能够得到整体最优解，再通过归纳步的证明保证每一步贪心选择都能够得到问题的整体最优解。</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4</a:t>
            </a:fld>
            <a:r>
              <a:rPr lang="en-US" altLang="zh-CN"/>
              <a:t>/109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71480"/>
            <a:ext cx="521497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8.1.2 </a:t>
            </a:r>
            <a:r>
              <a:rPr lang="zh-CN" altLang="zh-CN" sz="2800">
                <a:latin typeface="Consolas" pitchFamily="49" charset="0"/>
                <a:ea typeface="微软雅黑" pitchFamily="34" charset="-122"/>
              </a:rPr>
              <a:t>贪心法一般求解过程</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642910" y="1643050"/>
            <a:ext cx="7643866" cy="203196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）建立数学模型来描述问题。</a:t>
            </a:r>
          </a:p>
          <a:p>
            <a:pPr algn="l">
              <a:lnSpc>
                <a:spcPts val="34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）把求解的问题分成若干个子问题。</a:t>
            </a:r>
          </a:p>
          <a:p>
            <a:pPr algn="l">
              <a:lnSpc>
                <a:spcPts val="34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）对每一子问题求解，得到子问题的局部最优解。</a:t>
            </a:r>
          </a:p>
          <a:p>
            <a:pPr algn="l">
              <a:lnSpc>
                <a:spcPts val="3400"/>
              </a:lnSpc>
              <a:spcBef>
                <a:spcPts val="600"/>
              </a:spcBef>
            </a:pP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）把子问题的局部最优解合成原问题的最优解。</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5</a:t>
            </a:fld>
            <a:r>
              <a:rPr lang="en-US" altLang="zh-CN"/>
              <a:t>/109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643998" cy="34497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SolutionType </a:t>
            </a:r>
            <a:r>
              <a:rPr lang="en-US" altLang="zh-CN" sz="2000">
                <a:solidFill>
                  <a:srgbClr val="FF0000"/>
                </a:solidFill>
                <a:latin typeface="Consolas" pitchFamily="49" charset="0"/>
                <a:ea typeface="仿宋" pitchFamily="49" charset="-122"/>
              </a:rPr>
              <a:t>greedy</a:t>
            </a:r>
            <a:r>
              <a:rPr lang="en-US" altLang="zh-CN" sz="2000">
                <a:solidFill>
                  <a:srgbClr val="0000FF"/>
                </a:solidFill>
                <a:latin typeface="Consolas" pitchFamily="49" charset="0"/>
                <a:ea typeface="仿宋" pitchFamily="49" charset="-122"/>
              </a:rPr>
              <a:t>(SType a[],int 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SolutionType x={}</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解向量，初始时为空</a:t>
            </a: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i=0;i&lt;n;i++)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执行</a:t>
            </a:r>
            <a:r>
              <a:rPr lang="en-US" altLang="zh-CN" sz="2000">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步操作</a:t>
            </a:r>
          </a:p>
          <a:p>
            <a:pPr algn="l" defTabSz="360000">
              <a:lnSpc>
                <a:spcPts val="2800"/>
              </a:lnSpc>
              <a:spcBef>
                <a:spcPts val="0"/>
              </a:spcBef>
            </a:pPr>
            <a:r>
              <a:rPr lang="en-US" altLang="zh-CN" sz="2000">
                <a:solidFill>
                  <a:srgbClr val="0000FF"/>
                </a:solidFill>
                <a:latin typeface="Consolas" pitchFamily="49" charset="0"/>
                <a:ea typeface="仿宋" pitchFamily="49" charset="-122"/>
              </a:rPr>
              <a:t>		xi=</a:t>
            </a:r>
            <a:r>
              <a:rPr lang="en-US" altLang="zh-CN" sz="2000">
                <a:solidFill>
                  <a:srgbClr val="FF0000"/>
                </a:solidFill>
                <a:latin typeface="Consolas" pitchFamily="49" charset="0"/>
                <a:ea typeface="仿宋" pitchFamily="49" charset="-122"/>
              </a:rPr>
              <a:t>Select</a:t>
            </a:r>
            <a:r>
              <a:rPr lang="en-US" altLang="zh-CN" sz="2000">
                <a:solidFill>
                  <a:srgbClr val="0000FF"/>
                </a:solidFill>
                <a:latin typeface="Consolas" pitchFamily="49" charset="0"/>
                <a:ea typeface="仿宋" pitchFamily="49" charset="-122"/>
              </a:rPr>
              <a:t>(a);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中选择一个当前最好的分量</a:t>
            </a:r>
          </a:p>
          <a:p>
            <a:pPr algn="l" defTabSz="360000">
              <a:lnSpc>
                <a:spcPts val="28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00"/>
                </a:solidFill>
                <a:latin typeface="Consolas" pitchFamily="49" charset="0"/>
                <a:ea typeface="仿宋" pitchFamily="49" charset="-122"/>
              </a:rPr>
              <a:t>Feasiable</a:t>
            </a:r>
            <a:r>
              <a:rPr lang="en-US" altLang="zh-CN" sz="2000">
                <a:solidFill>
                  <a:srgbClr val="0000FF"/>
                </a:solidFill>
                <a:latin typeface="Consolas" pitchFamily="49" charset="0"/>
                <a:ea typeface="仿宋" pitchFamily="49" charset="-122"/>
              </a:rPr>
              <a:t>(xi))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判断</a:t>
            </a:r>
            <a:r>
              <a:rPr lang="en-US" altLang="zh-CN" sz="2000">
                <a:solidFill>
                  <a:srgbClr val="00B0F0"/>
                </a:solidFill>
                <a:latin typeface="Consolas" pitchFamily="49" charset="0"/>
                <a:ea typeface="仿宋" pitchFamily="49" charset="-122"/>
              </a:rPr>
              <a:t>xi</a:t>
            </a:r>
            <a:r>
              <a:rPr lang="zh-CN" altLang="zh-CN" sz="2000">
                <a:solidFill>
                  <a:srgbClr val="00B0F0"/>
                </a:solidFill>
                <a:latin typeface="Consolas" pitchFamily="49" charset="0"/>
                <a:ea typeface="仿宋" pitchFamily="49" charset="-122"/>
              </a:rPr>
              <a:t>是否包含在当前解中</a:t>
            </a:r>
          </a:p>
          <a:p>
            <a:pPr algn="l" defTabSz="360000">
              <a:lnSpc>
                <a:spcPts val="2800"/>
              </a:lnSpc>
              <a:spcBef>
                <a:spcPts val="0"/>
              </a:spcBef>
            </a:pPr>
            <a:r>
              <a:rPr lang="en-US" altLang="zh-CN" sz="2000">
                <a:solidFill>
                  <a:srgbClr val="0000FF"/>
                </a:solidFill>
                <a:latin typeface="Consolas" pitchFamily="49" charset="0"/>
                <a:ea typeface="仿宋" pitchFamily="49" charset="-122"/>
              </a:rPr>
              <a:t>			solution=</a:t>
            </a:r>
            <a:r>
              <a:rPr lang="en-US" altLang="zh-CN" sz="2000">
                <a:solidFill>
                  <a:srgbClr val="FF0000"/>
                </a:solidFill>
                <a:latin typeface="Consolas" pitchFamily="49" charset="0"/>
                <a:ea typeface="仿宋" pitchFamily="49" charset="-122"/>
              </a:rPr>
              <a:t>Unio</a:t>
            </a:r>
            <a:r>
              <a:rPr lang="en-US" altLang="zh-CN" sz="2000">
                <a:solidFill>
                  <a:srgbClr val="0000FF"/>
                </a:solidFill>
                <a:latin typeface="Consolas" pitchFamily="49" charset="0"/>
                <a:ea typeface="仿宋" pitchFamily="49" charset="-122"/>
              </a:rPr>
              <a:t>n(x,xi);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a:t>
            </a:r>
            <a:r>
              <a:rPr lang="en-US" altLang="zh-CN" sz="2000">
                <a:solidFill>
                  <a:srgbClr val="00B0F0"/>
                </a:solidFill>
                <a:latin typeface="Consolas" pitchFamily="49" charset="0"/>
                <a:ea typeface="仿宋" pitchFamily="49" charset="-122"/>
              </a:rPr>
              <a:t>xi</a:t>
            </a:r>
            <a:r>
              <a:rPr lang="zh-CN" altLang="zh-CN" sz="2000">
                <a:solidFill>
                  <a:srgbClr val="00B0F0"/>
                </a:solidFill>
                <a:latin typeface="Consolas" pitchFamily="49" charset="0"/>
                <a:ea typeface="仿宋" pitchFamily="49" charset="-122"/>
              </a:rPr>
              <a:t>分量合并形成</a:t>
            </a:r>
            <a:r>
              <a:rPr lang="en-US" altLang="zh-CN" sz="2000">
                <a:solidFill>
                  <a:srgbClr val="00B0F0"/>
                </a:solidFill>
                <a:latin typeface="Consolas" pitchFamily="49" charset="0"/>
                <a:ea typeface="仿宋" pitchFamily="49" charset="-122"/>
              </a:rPr>
              <a:t>x</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返回生成的最优解</a:t>
            </a: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a:t>
            </a:fld>
            <a:r>
              <a:rPr lang="en-US" altLang="zh-CN"/>
              <a:t>/109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214546" y="428604"/>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8.2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区间问题</a:t>
            </a:r>
          </a:p>
        </p:txBody>
      </p:sp>
      <p:sp>
        <p:nvSpPr>
          <p:cNvPr id="4" name="TextBox 3"/>
          <p:cNvSpPr txBox="1"/>
          <p:nvPr/>
        </p:nvSpPr>
        <p:spPr>
          <a:xfrm>
            <a:off x="428596" y="1357298"/>
            <a:ext cx="450059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Consolas" pitchFamily="49" charset="0"/>
                <a:ea typeface="微软雅黑" pitchFamily="34" charset="-122"/>
              </a:rPr>
              <a:t>8.2.1 </a:t>
            </a:r>
            <a:r>
              <a:rPr lang="zh-CN" altLang="zh-CN" sz="2800">
                <a:latin typeface="Consolas" pitchFamily="49" charset="0"/>
                <a:ea typeface="微软雅黑" pitchFamily="34" charset="-122"/>
              </a:rPr>
              <a:t>最大兼容区间个数</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642910" y="2357430"/>
            <a:ext cx="8215370" cy="3423373"/>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a:solidFill>
                  <a:srgbClr val="FF0000"/>
                </a:solidFill>
                <a:latin typeface="楷体" pitchFamily="49" charset="-122"/>
                <a:ea typeface="楷体" pitchFamily="49" charset="-122"/>
                <a:sym typeface="Wingdings"/>
              </a:rPr>
              <a:t></a:t>
            </a:r>
            <a:r>
              <a:rPr lang="zh-CN" altLang="zh-CN">
                <a:solidFill>
                  <a:srgbClr val="FF0000"/>
                </a:solidFill>
                <a:latin typeface="楷体" pitchFamily="49" charset="-122"/>
                <a:ea typeface="楷体" pitchFamily="49" charset="-122"/>
              </a:rPr>
              <a:t>问题描述</a:t>
            </a:r>
            <a:r>
              <a:rPr lang="zh-CN" altLang="zh-CN">
                <a:solidFill>
                  <a:srgbClr val="0000FF"/>
                </a:solidFill>
                <a:latin typeface="Consolas" pitchFamily="49" charset="0"/>
                <a:ea typeface="仿宋" pitchFamily="49" charset="-122"/>
              </a:rPr>
              <a:t>：活动安排问题是假设有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个活动</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mn-ea"/>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），有一个资源，每个活动执行时都要占用该资源，并且该资源任何时刻只能被一个活动所占用，一旦某个活动开始执行，中间不能被打断，直到其执行完毕。每个活动</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有一个开始时间</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和结束时间</a:t>
            </a:r>
            <a:r>
              <a:rPr lang="en-US" altLang="zh-CN" i="1">
                <a:solidFill>
                  <a:srgbClr val="0000FF"/>
                </a:solidFill>
                <a:latin typeface="Consolas" pitchFamily="49" charset="0"/>
                <a:ea typeface="仿宋" pitchFamily="49" charset="-122"/>
              </a:rPr>
              <a:t>e</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e</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），它是一个半开时间区间</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e</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假设最早活动执行时间为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。求一种最优活动安排方案，使得安排的活动个数最多。</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7</a:t>
            </a:fld>
            <a:r>
              <a:rPr lang="en-US" altLang="zh-CN"/>
              <a:t>/109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357158" y="1142984"/>
            <a:ext cx="8569325" cy="2631490"/>
          </a:xfrm>
          <a:prstGeom prst="rect">
            <a:avLst/>
          </a:prstGeom>
          <a:solidFill>
            <a:schemeClr val="bg1"/>
          </a:solidFill>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cs typeface="Consolas" pitchFamily="49" charset="0"/>
              </a:rPr>
              <a:t>假设活动时间的参考原点为</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。一个活动</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mn-ea"/>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mj-ea"/>
                <a:ea typeface="+mj-ea"/>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）用一个区间</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s</a:t>
            </a:r>
            <a:r>
              <a:rPr lang="en-US" altLang="zh-CN" i="1" baseline="-25000">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表示，当活动按结束时间（右端点）递增排序后，两个活动</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s</a:t>
            </a:r>
            <a:r>
              <a:rPr lang="en-US" altLang="zh-CN" i="1" baseline="-25000">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s</a:t>
            </a:r>
            <a:r>
              <a:rPr lang="en-US" altLang="zh-CN" i="1" baseline="-25000">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FF0000"/>
                </a:solidFill>
                <a:latin typeface="Consolas" pitchFamily="49" charset="0"/>
                <a:ea typeface="仿宋" pitchFamily="49" charset="-122"/>
                <a:cs typeface="Consolas" pitchFamily="49" charset="0"/>
              </a:rPr>
              <a:t>兼容</a:t>
            </a:r>
            <a:r>
              <a:rPr lang="zh-CN" altLang="zh-CN">
                <a:solidFill>
                  <a:srgbClr val="0000FF"/>
                </a:solidFill>
                <a:latin typeface="Consolas" pitchFamily="49" charset="0"/>
                <a:ea typeface="仿宋" pitchFamily="49" charset="-122"/>
                <a:cs typeface="Consolas" pitchFamily="49" charset="0"/>
              </a:rPr>
              <a:t>（满足</a:t>
            </a:r>
            <a:r>
              <a:rPr lang="en-US" altLang="zh-CN" i="1">
                <a:solidFill>
                  <a:srgbClr val="0000FF"/>
                </a:solidFill>
                <a:latin typeface="Consolas" pitchFamily="49" charset="0"/>
                <a:ea typeface="仿宋" pitchFamily="49" charset="-122"/>
                <a:cs typeface="Consolas" pitchFamily="49" charset="0"/>
              </a:rPr>
              <a:t>s</a:t>
            </a:r>
            <a:r>
              <a:rPr lang="en-US" altLang="zh-CN" i="1" baseline="-25000">
                <a:solidFill>
                  <a:srgbClr val="0000FF"/>
                </a:solidFill>
                <a:latin typeface="Consolas" pitchFamily="49" charset="0"/>
                <a:ea typeface="仿宋" pitchFamily="49" charset="-122"/>
                <a:cs typeface="Consolas" pitchFamily="49" charset="0"/>
              </a:rPr>
              <a:t>i</a:t>
            </a:r>
            <a:r>
              <a:rPr lang="zh-CN" altLang="zh-CN">
                <a:solidFill>
                  <a:srgbClr val="0000FF"/>
                </a:solidFill>
                <a:latin typeface="+mn-ea"/>
                <a:cs typeface="Consolas" pitchFamily="49" charset="0"/>
              </a:rPr>
              <a:t>≥</a:t>
            </a:r>
            <a:r>
              <a:rPr lang="en-US" altLang="zh-CN" i="1">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或</a:t>
            </a:r>
            <a:r>
              <a:rPr lang="en-US" altLang="zh-CN" i="1">
                <a:solidFill>
                  <a:srgbClr val="0000FF"/>
                </a:solidFill>
                <a:latin typeface="Consolas" pitchFamily="49" charset="0"/>
                <a:ea typeface="仿宋" pitchFamily="49" charset="-122"/>
                <a:cs typeface="Consolas" pitchFamily="49" charset="0"/>
              </a:rPr>
              <a:t>s</a:t>
            </a:r>
            <a:r>
              <a:rPr lang="en-US" altLang="zh-CN" i="1" baseline="-25000">
                <a:solidFill>
                  <a:srgbClr val="0000FF"/>
                </a:solidFill>
                <a:latin typeface="Consolas" pitchFamily="49" charset="0"/>
                <a:ea typeface="仿宋" pitchFamily="49" charset="-122"/>
                <a:cs typeface="Consolas" pitchFamily="49" charset="0"/>
              </a:rPr>
              <a:t>j</a:t>
            </a:r>
            <a:r>
              <a:rPr lang="zh-CN" altLang="zh-CN">
                <a:solidFill>
                  <a:srgbClr val="0000FF"/>
                </a:solidFill>
                <a:latin typeface="+mn-ea"/>
                <a:cs typeface="Consolas" pitchFamily="49" charset="0"/>
              </a:rPr>
              <a:t>≥</a:t>
            </a:r>
            <a:r>
              <a:rPr lang="en-US" altLang="zh-CN" i="1">
                <a:solidFill>
                  <a:srgbClr val="0000FF"/>
                </a:solidFill>
                <a:latin typeface="Consolas" pitchFamily="49" charset="0"/>
                <a:ea typeface="仿宋" pitchFamily="49" charset="-122"/>
                <a:cs typeface="Consolas" pitchFamily="49" charset="0"/>
              </a:rPr>
              <a:t>e</a:t>
            </a:r>
            <a:r>
              <a:rPr lang="en-US" altLang="zh-CN" i="1" baseline="-25000">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）实际上就是指它们不相交。</a:t>
            </a: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cs typeface="Consolas" pitchFamily="49" charset="0"/>
              </a:rPr>
              <a:t>用数组</a:t>
            </a:r>
            <a:r>
              <a:rPr lang="en-US"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存放所有的活动，</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mn-ea"/>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），存放活动起始时间，</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存放活动结束时间。</a:t>
            </a:r>
          </a:p>
        </p:txBody>
      </p:sp>
      <p:sp>
        <p:nvSpPr>
          <p:cNvPr id="4" name="TextBox 3"/>
          <p:cNvSpPr txBox="1"/>
          <p:nvPr/>
        </p:nvSpPr>
        <p:spPr>
          <a:xfrm>
            <a:off x="142844" y="538443"/>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3089"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087" name="Rectangle 15"/>
          <p:cNvSpPr>
            <a:spLocks noChangeArrowheads="1"/>
          </p:cNvSpPr>
          <p:nvPr/>
        </p:nvSpPr>
        <p:spPr bwMode="auto">
          <a:xfrm>
            <a:off x="1500936" y="4834705"/>
            <a:ext cx="1273006" cy="40216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3086" name="Rectangle 14"/>
          <p:cNvSpPr>
            <a:spLocks noChangeArrowheads="1"/>
          </p:cNvSpPr>
          <p:nvPr/>
        </p:nvSpPr>
        <p:spPr bwMode="auto">
          <a:xfrm>
            <a:off x="1428728" y="4432540"/>
            <a:ext cx="357030" cy="2726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85" name="Rectangle 13"/>
          <p:cNvSpPr>
            <a:spLocks noChangeArrowheads="1"/>
          </p:cNvSpPr>
          <p:nvPr/>
        </p:nvSpPr>
        <p:spPr bwMode="auto">
          <a:xfrm>
            <a:off x="2478423" y="4432540"/>
            <a:ext cx="355693" cy="2726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e</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84" name="Rectangle 12"/>
          <p:cNvSpPr>
            <a:spLocks noChangeArrowheads="1"/>
          </p:cNvSpPr>
          <p:nvPr/>
        </p:nvSpPr>
        <p:spPr bwMode="auto">
          <a:xfrm>
            <a:off x="5826751" y="5372060"/>
            <a:ext cx="1459893" cy="271518"/>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(b)</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 s</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e</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83" name="Rectangle 11"/>
          <p:cNvSpPr>
            <a:spLocks noChangeArrowheads="1"/>
          </p:cNvSpPr>
          <p:nvPr/>
        </p:nvSpPr>
        <p:spPr bwMode="auto">
          <a:xfrm>
            <a:off x="2953126" y="4834705"/>
            <a:ext cx="1273006" cy="40216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3082" name="Rectangle 10"/>
          <p:cNvSpPr>
            <a:spLocks noChangeArrowheads="1"/>
          </p:cNvSpPr>
          <p:nvPr/>
        </p:nvSpPr>
        <p:spPr bwMode="auto">
          <a:xfrm>
            <a:off x="2882255" y="4432540"/>
            <a:ext cx="355693" cy="2726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81" name="Rectangle 9"/>
          <p:cNvSpPr>
            <a:spLocks noChangeArrowheads="1"/>
          </p:cNvSpPr>
          <p:nvPr/>
        </p:nvSpPr>
        <p:spPr bwMode="auto">
          <a:xfrm>
            <a:off x="3930613" y="4432540"/>
            <a:ext cx="355693" cy="2726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e</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80" name="Rectangle 8"/>
          <p:cNvSpPr>
            <a:spLocks noChangeArrowheads="1"/>
          </p:cNvSpPr>
          <p:nvPr/>
        </p:nvSpPr>
        <p:spPr bwMode="auto">
          <a:xfrm>
            <a:off x="2071670" y="5429264"/>
            <a:ext cx="1597929" cy="34295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(a) </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j</a:t>
            </a:r>
            <a:r>
              <a:rPr kumimoji="0" lang="en-US" altLang="zh-CN" sz="2000" b="0" i="0" u="none" strike="noStrike" cap="none" normalizeH="0" baseline="0">
                <a:ln>
                  <a:noFill/>
                </a:ln>
                <a:solidFill>
                  <a:srgbClr val="0000FF"/>
                </a:solidFill>
                <a:effectLst/>
                <a:latin typeface="+mn-ea"/>
                <a:ea typeface="+mn-ea"/>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e</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79" name="Rectangle 7"/>
          <p:cNvSpPr>
            <a:spLocks noChangeArrowheads="1"/>
          </p:cNvSpPr>
          <p:nvPr/>
        </p:nvSpPr>
        <p:spPr bwMode="auto">
          <a:xfrm>
            <a:off x="5215654" y="4831297"/>
            <a:ext cx="1273006" cy="40216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3078" name="Rectangle 6"/>
          <p:cNvSpPr>
            <a:spLocks noChangeArrowheads="1"/>
          </p:cNvSpPr>
          <p:nvPr/>
        </p:nvSpPr>
        <p:spPr bwMode="auto">
          <a:xfrm>
            <a:off x="5143446" y="4429132"/>
            <a:ext cx="357030" cy="2726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77" name="Rectangle 5"/>
          <p:cNvSpPr>
            <a:spLocks noChangeArrowheads="1"/>
          </p:cNvSpPr>
          <p:nvPr/>
        </p:nvSpPr>
        <p:spPr bwMode="auto">
          <a:xfrm>
            <a:off x="6193141" y="4429132"/>
            <a:ext cx="355693" cy="2726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e</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76" name="Rectangle 4"/>
          <p:cNvSpPr>
            <a:spLocks noChangeArrowheads="1"/>
          </p:cNvSpPr>
          <p:nvPr/>
        </p:nvSpPr>
        <p:spPr bwMode="auto">
          <a:xfrm>
            <a:off x="6667844" y="4831297"/>
            <a:ext cx="1273006" cy="40216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3075" name="Rectangle 3"/>
          <p:cNvSpPr>
            <a:spLocks noChangeArrowheads="1"/>
          </p:cNvSpPr>
          <p:nvPr/>
        </p:nvSpPr>
        <p:spPr bwMode="auto">
          <a:xfrm>
            <a:off x="6596973" y="4429132"/>
            <a:ext cx="355693" cy="2726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s</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74" name="Rectangle 2"/>
          <p:cNvSpPr>
            <a:spLocks noChangeArrowheads="1"/>
          </p:cNvSpPr>
          <p:nvPr/>
        </p:nvSpPr>
        <p:spPr bwMode="auto">
          <a:xfrm>
            <a:off x="7645331" y="4429132"/>
            <a:ext cx="355693" cy="2726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宋体" pitchFamily="2" charset="-122"/>
                <a:cs typeface="Times New Roman" pitchFamily="18" charset="0"/>
              </a:rPr>
              <a:t>e</a:t>
            </a:r>
            <a:r>
              <a:rPr kumimoji="0" lang="en-US" altLang="zh-CN" sz="2000" b="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1" name="灯片编号占位符 20"/>
          <p:cNvSpPr>
            <a:spLocks noGrp="1"/>
          </p:cNvSpPr>
          <p:nvPr>
            <p:ph type="sldNum" sz="quarter" idx="12"/>
          </p:nvPr>
        </p:nvSpPr>
        <p:spPr/>
        <p:txBody>
          <a:bodyPr/>
          <a:lstStyle/>
          <a:p>
            <a:fld id="{7AF016A1-9F15-429F-9EFD-84004B73C732}" type="slidenum">
              <a:rPr lang="en-US" altLang="zh-CN" smtClean="0"/>
              <a:pPr/>
              <a:t>8</a:t>
            </a:fld>
            <a:r>
              <a:rPr lang="en-US" altLang="zh-CN"/>
              <a:t>/109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71480"/>
            <a:ext cx="8286808" cy="140038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0"/>
              </a:spcBef>
              <a:buBlip>
                <a:blip r:embed="rId3"/>
              </a:buBlip>
            </a:pPr>
            <a:r>
              <a:rPr lang="zh-CN" altLang="zh-CN">
                <a:solidFill>
                  <a:srgbClr val="FF0000"/>
                </a:solidFill>
                <a:latin typeface="楷体" pitchFamily="49" charset="-122"/>
                <a:ea typeface="楷体" pitchFamily="49" charset="-122"/>
              </a:rPr>
              <a:t>贪心策略</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每一步总是选择分配这样的一个活动，它能够使得余下的活动的时间最大化即余下活动中兼容活动尽可能多。</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a:t>
            </a:fld>
            <a:r>
              <a:rPr lang="en-US" altLang="zh-CN"/>
              <a:t>/109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428596" y="890573"/>
          <a:ext cx="7643871" cy="1371600"/>
        </p:xfrm>
        <a:graphic>
          <a:graphicData uri="http://schemas.openxmlformats.org/drawingml/2006/table">
            <a:tbl>
              <a:tblPr>
                <a:tableStyleId>{35758FB7-9AC5-4552-8A53-C91805E547FA}</a:tableStyleId>
              </a:tblPr>
              <a:tblGrid>
                <a:gridCol w="1297487">
                  <a:extLst>
                    <a:ext uri="{9D8B030D-6E8A-4147-A177-3AD203B41FA5}">
                      <a16:colId xmlns:a16="http://schemas.microsoft.com/office/drawing/2014/main" val="20000"/>
                    </a:ext>
                  </a:extLst>
                </a:gridCol>
                <a:gridCol w="576944">
                  <a:extLst>
                    <a:ext uri="{9D8B030D-6E8A-4147-A177-3AD203B41FA5}">
                      <a16:colId xmlns:a16="http://schemas.microsoft.com/office/drawing/2014/main" val="20001"/>
                    </a:ext>
                  </a:extLst>
                </a:gridCol>
                <a:gridCol w="576944">
                  <a:extLst>
                    <a:ext uri="{9D8B030D-6E8A-4147-A177-3AD203B41FA5}">
                      <a16:colId xmlns:a16="http://schemas.microsoft.com/office/drawing/2014/main" val="20002"/>
                    </a:ext>
                  </a:extLst>
                </a:gridCol>
                <a:gridCol w="576944">
                  <a:extLst>
                    <a:ext uri="{9D8B030D-6E8A-4147-A177-3AD203B41FA5}">
                      <a16:colId xmlns:a16="http://schemas.microsoft.com/office/drawing/2014/main" val="20003"/>
                    </a:ext>
                  </a:extLst>
                </a:gridCol>
                <a:gridCol w="576944">
                  <a:extLst>
                    <a:ext uri="{9D8B030D-6E8A-4147-A177-3AD203B41FA5}">
                      <a16:colId xmlns:a16="http://schemas.microsoft.com/office/drawing/2014/main" val="20004"/>
                    </a:ext>
                  </a:extLst>
                </a:gridCol>
                <a:gridCol w="576944">
                  <a:extLst>
                    <a:ext uri="{9D8B030D-6E8A-4147-A177-3AD203B41FA5}">
                      <a16:colId xmlns:a16="http://schemas.microsoft.com/office/drawing/2014/main" val="20005"/>
                    </a:ext>
                  </a:extLst>
                </a:gridCol>
                <a:gridCol w="576944">
                  <a:extLst>
                    <a:ext uri="{9D8B030D-6E8A-4147-A177-3AD203B41FA5}">
                      <a16:colId xmlns:a16="http://schemas.microsoft.com/office/drawing/2014/main" val="20006"/>
                    </a:ext>
                  </a:extLst>
                </a:gridCol>
                <a:gridCol w="576944">
                  <a:extLst>
                    <a:ext uri="{9D8B030D-6E8A-4147-A177-3AD203B41FA5}">
                      <a16:colId xmlns:a16="http://schemas.microsoft.com/office/drawing/2014/main" val="20007"/>
                    </a:ext>
                  </a:extLst>
                </a:gridCol>
                <a:gridCol w="576944">
                  <a:extLst>
                    <a:ext uri="{9D8B030D-6E8A-4147-A177-3AD203B41FA5}">
                      <a16:colId xmlns:a16="http://schemas.microsoft.com/office/drawing/2014/main" val="20008"/>
                    </a:ext>
                  </a:extLst>
                </a:gridCol>
                <a:gridCol w="576944">
                  <a:extLst>
                    <a:ext uri="{9D8B030D-6E8A-4147-A177-3AD203B41FA5}">
                      <a16:colId xmlns:a16="http://schemas.microsoft.com/office/drawing/2014/main" val="20009"/>
                    </a:ext>
                  </a:extLst>
                </a:gridCol>
                <a:gridCol w="576944">
                  <a:extLst>
                    <a:ext uri="{9D8B030D-6E8A-4147-A177-3AD203B41FA5}">
                      <a16:colId xmlns:a16="http://schemas.microsoft.com/office/drawing/2014/main" val="20010"/>
                    </a:ext>
                  </a:extLst>
                </a:gridCol>
                <a:gridCol w="576944">
                  <a:extLst>
                    <a:ext uri="{9D8B030D-6E8A-4147-A177-3AD203B41FA5}">
                      <a16:colId xmlns:a16="http://schemas.microsoft.com/office/drawing/2014/main" val="20011"/>
                    </a:ext>
                  </a:extLst>
                </a:gridCol>
              </a:tblGrid>
              <a:tr h="441327">
                <a:tc>
                  <a:txBody>
                    <a:bodyPr/>
                    <a:lstStyle/>
                    <a:p>
                      <a:pPr indent="0" algn="ctr">
                        <a:lnSpc>
                          <a:spcPct val="150000"/>
                        </a:lnSpc>
                        <a:spcAft>
                          <a:spcPts val="0"/>
                        </a:spcAft>
                      </a:pPr>
                      <a:r>
                        <a:rPr lang="en-US" sz="2000" i="1" kern="100">
                          <a:solidFill>
                            <a:srgbClr val="0000FF"/>
                          </a:solidFill>
                          <a:latin typeface="Consolas" pitchFamily="49" charset="0"/>
                          <a:ea typeface="仿宋" pitchFamily="49" charset="-122"/>
                        </a:rPr>
                        <a:t>i</a:t>
                      </a:r>
                      <a:endParaRPr lang="zh-CN" sz="2000" b="1"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2</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4</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5</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6</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7</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8</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9</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10</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11</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extLst>
                  <a:ext uri="{0D108BD9-81ED-4DB2-BD59-A6C34878D82A}">
                    <a16:rowId xmlns:a16="http://schemas.microsoft.com/office/drawing/2014/main" val="10000"/>
                  </a:ext>
                </a:extLst>
              </a:tr>
              <a:tr h="441327">
                <a:tc>
                  <a:txBody>
                    <a:bodyPr/>
                    <a:lstStyle/>
                    <a:p>
                      <a:pPr indent="0" algn="ctr">
                        <a:lnSpc>
                          <a:spcPct val="150000"/>
                        </a:lnSpc>
                        <a:spcAft>
                          <a:spcPts val="0"/>
                        </a:spcAft>
                      </a:pPr>
                      <a:r>
                        <a:rPr lang="zh-CN" sz="2000" kern="100">
                          <a:solidFill>
                            <a:srgbClr val="0000FF"/>
                          </a:solidFill>
                          <a:latin typeface="Consolas" pitchFamily="49" charset="0"/>
                          <a:ea typeface="仿宋" pitchFamily="49" charset="-122"/>
                        </a:rPr>
                        <a:t>开始时间</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0</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5</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5</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6</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8</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8</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2</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12</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extLst>
                  <a:ext uri="{0D108BD9-81ED-4DB2-BD59-A6C34878D82A}">
                    <a16:rowId xmlns:a16="http://schemas.microsoft.com/office/drawing/2014/main" val="10001"/>
                  </a:ext>
                </a:extLst>
              </a:tr>
              <a:tr h="441327">
                <a:tc>
                  <a:txBody>
                    <a:bodyPr/>
                    <a:lstStyle/>
                    <a:p>
                      <a:pPr indent="0" algn="ctr">
                        <a:lnSpc>
                          <a:spcPct val="150000"/>
                        </a:lnSpc>
                        <a:spcAft>
                          <a:spcPts val="0"/>
                        </a:spcAft>
                      </a:pPr>
                      <a:r>
                        <a:rPr lang="zh-CN" sz="2000" kern="100">
                          <a:solidFill>
                            <a:srgbClr val="0000FF"/>
                          </a:solidFill>
                          <a:latin typeface="Consolas" pitchFamily="49" charset="0"/>
                          <a:ea typeface="仿宋" pitchFamily="49" charset="-122"/>
                        </a:rPr>
                        <a:t>结束时间</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4</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5</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6</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7</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8</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9</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10</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11</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12</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13</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15</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extLst>
                  <a:ext uri="{0D108BD9-81ED-4DB2-BD59-A6C34878D82A}">
                    <a16:rowId xmlns:a16="http://schemas.microsoft.com/office/drawing/2014/main" val="10002"/>
                  </a:ext>
                </a:extLst>
              </a:tr>
            </a:tbl>
          </a:graphicData>
        </a:graphic>
      </p:graphicFrame>
      <p:sp>
        <p:nvSpPr>
          <p:cNvPr id="3" name="TextBox 2"/>
          <p:cNvSpPr txBox="1"/>
          <p:nvPr/>
        </p:nvSpPr>
        <p:spPr>
          <a:xfrm>
            <a:off x="357158" y="176193"/>
            <a:ext cx="8286808" cy="461665"/>
          </a:xfrm>
          <a:prstGeom prst="rect">
            <a:avLst/>
          </a:prstGeom>
          <a:noFill/>
        </p:spPr>
        <p:txBody>
          <a:bodyPr wrap="square" rtlCol="0">
            <a:spAutoFit/>
          </a:bodyPr>
          <a:lstStyle/>
          <a:p>
            <a:pPr algn="l">
              <a:lnSpc>
                <a:spcPct val="100000"/>
              </a:lnSpc>
            </a:pPr>
            <a:r>
              <a:rPr lang="zh-CN" altLang="zh-CN">
                <a:solidFill>
                  <a:srgbClr val="0000FF"/>
                </a:solidFill>
                <a:latin typeface="Consolas" pitchFamily="49" charset="0"/>
                <a:ea typeface="仿宋" pitchFamily="49" charset="-122"/>
                <a:cs typeface="Consolas" pitchFamily="49" charset="0"/>
              </a:rPr>
              <a:t>例如，对于</a:t>
            </a:r>
            <a:r>
              <a:rPr lang="zh-CN" altLang="en-US">
                <a:solidFill>
                  <a:srgbClr val="0000FF"/>
                </a:solidFill>
                <a:latin typeface="Consolas" pitchFamily="49" charset="0"/>
                <a:ea typeface="仿宋" pitchFamily="49" charset="-122"/>
                <a:cs typeface="Consolas" pitchFamily="49" charset="0"/>
              </a:rPr>
              <a:t>下</a:t>
            </a:r>
            <a:r>
              <a:rPr lang="zh-CN" altLang="zh-CN">
                <a:solidFill>
                  <a:srgbClr val="0000FF"/>
                </a:solidFill>
                <a:latin typeface="Consolas" pitchFamily="49" charset="0"/>
                <a:ea typeface="仿宋" pitchFamily="49" charset="-122"/>
                <a:cs typeface="Consolas" pitchFamily="49" charset="0"/>
              </a:rPr>
              <a:t>表的</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=11</a:t>
            </a:r>
            <a:r>
              <a:rPr lang="zh-CN" altLang="zh-CN">
                <a:solidFill>
                  <a:srgbClr val="0000FF"/>
                </a:solidFill>
                <a:latin typeface="Consolas" pitchFamily="49" charset="0"/>
                <a:ea typeface="仿宋" pitchFamily="49" charset="-122"/>
                <a:cs typeface="Consolas" pitchFamily="49" charset="0"/>
              </a:rPr>
              <a:t>个活动（已按结束时间递增排序）</a:t>
            </a:r>
            <a:r>
              <a:rPr lang="en-US" altLang="zh-CN" i="1">
                <a:solidFill>
                  <a:srgbClr val="0000FF"/>
                </a:solidFill>
                <a:latin typeface="Consolas" pitchFamily="49" charset="0"/>
                <a:ea typeface="仿宋" pitchFamily="49" charset="-122"/>
                <a:cs typeface="Consolas" pitchFamily="49" charset="0"/>
              </a:rPr>
              <a:t>A</a:t>
            </a:r>
            <a:r>
              <a:rPr lang="zh-CN" altLang="en-US">
                <a:solidFill>
                  <a:srgbClr val="0000FF"/>
                </a:solidFill>
                <a:latin typeface="Consolas" pitchFamily="49" charset="0"/>
                <a:ea typeface="仿宋" pitchFamily="49" charset="-122"/>
                <a:cs typeface="Consolas" pitchFamily="49" charset="0"/>
              </a:rPr>
              <a:t>：</a:t>
            </a:r>
          </a:p>
        </p:txBody>
      </p:sp>
      <p:sp>
        <p:nvSpPr>
          <p:cNvPr id="8" name="TextBox 7"/>
          <p:cNvSpPr txBox="1"/>
          <p:nvPr/>
        </p:nvSpPr>
        <p:spPr>
          <a:xfrm>
            <a:off x="357158" y="2428868"/>
            <a:ext cx="4714908" cy="461665"/>
          </a:xfrm>
          <a:prstGeom prst="rect">
            <a:avLst/>
          </a:prstGeom>
          <a:noFill/>
        </p:spPr>
        <p:txBody>
          <a:bodyPr wrap="square" rtlCol="0">
            <a:spAutoFit/>
          </a:bodyPr>
          <a:lstStyle/>
          <a:p>
            <a:pPr>
              <a:lnSpc>
                <a:spcPct val="100000"/>
              </a:lnSpc>
            </a:pPr>
            <a:r>
              <a:rPr lang="zh-CN" altLang="en-US">
                <a:solidFill>
                  <a:srgbClr val="0000FF"/>
                </a:solidFill>
                <a:latin typeface="Consolas" pitchFamily="49" charset="0"/>
                <a:ea typeface="仿宋" pitchFamily="49" charset="-122"/>
                <a:cs typeface="Consolas" pitchFamily="49" charset="0"/>
              </a:rPr>
              <a:t>产生最大兼容活动集合的过程：</a:t>
            </a:r>
          </a:p>
        </p:txBody>
      </p:sp>
      <p:sp>
        <p:nvSpPr>
          <p:cNvPr id="9" name="TextBox 8"/>
          <p:cNvSpPr txBox="1"/>
          <p:nvPr/>
        </p:nvSpPr>
        <p:spPr>
          <a:xfrm>
            <a:off x="857224" y="3000372"/>
            <a:ext cx="2071702" cy="3600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1    </a:t>
            </a:r>
            <a:r>
              <a:rPr lang="en-US" altLang="zh-CN" sz="2000">
                <a:solidFill>
                  <a:srgbClr val="FF0000"/>
                </a:solidFill>
                <a:latin typeface="Consolas" pitchFamily="49" charset="0"/>
                <a:ea typeface="楷体" pitchFamily="49" charset="-122"/>
                <a:cs typeface="Consolas" pitchFamily="49" charset="0"/>
              </a:rPr>
              <a:t>√</a:t>
            </a:r>
          </a:p>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2    </a:t>
            </a:r>
            <a:r>
              <a:rPr lang="en-US" altLang="zh-CN" sz="2000">
                <a:solidFill>
                  <a:srgbClr val="FF0000"/>
                </a:solidFill>
                <a:latin typeface="Consolas" pitchFamily="49" charset="0"/>
                <a:ea typeface="楷体" pitchFamily="49" charset="-122"/>
                <a:cs typeface="Consolas" pitchFamily="49" charset="0"/>
                <a:sym typeface="Symbol"/>
              </a:rPr>
              <a:t></a:t>
            </a:r>
          </a:p>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3    </a:t>
            </a:r>
            <a:r>
              <a:rPr lang="en-US" altLang="zh-CN" sz="2000">
                <a:solidFill>
                  <a:srgbClr val="FF0000"/>
                </a:solidFill>
                <a:latin typeface="Consolas" pitchFamily="49" charset="0"/>
                <a:ea typeface="楷体" pitchFamily="49" charset="-122"/>
                <a:cs typeface="Consolas" pitchFamily="49" charset="0"/>
                <a:sym typeface="Symbol"/>
              </a:rPr>
              <a:t></a:t>
            </a:r>
          </a:p>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4    </a:t>
            </a:r>
            <a:r>
              <a:rPr lang="en-US" altLang="zh-CN" sz="2000">
                <a:solidFill>
                  <a:srgbClr val="FF0000"/>
                </a:solidFill>
                <a:latin typeface="Consolas" pitchFamily="49" charset="0"/>
                <a:ea typeface="楷体" pitchFamily="49" charset="-122"/>
                <a:cs typeface="Consolas" pitchFamily="49" charset="0"/>
              </a:rPr>
              <a:t>√</a:t>
            </a:r>
          </a:p>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5    </a:t>
            </a:r>
            <a:r>
              <a:rPr lang="en-US" altLang="zh-CN" sz="2000">
                <a:solidFill>
                  <a:srgbClr val="FF0000"/>
                </a:solidFill>
                <a:latin typeface="Consolas" pitchFamily="49" charset="0"/>
                <a:ea typeface="楷体" pitchFamily="49" charset="-122"/>
                <a:cs typeface="Consolas" pitchFamily="49" charset="0"/>
                <a:sym typeface="Symbol"/>
              </a:rPr>
              <a:t></a:t>
            </a:r>
          </a:p>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6    </a:t>
            </a:r>
            <a:r>
              <a:rPr lang="en-US" altLang="zh-CN" sz="2000">
                <a:solidFill>
                  <a:srgbClr val="FF0000"/>
                </a:solidFill>
                <a:latin typeface="Consolas" pitchFamily="49" charset="0"/>
                <a:ea typeface="楷体" pitchFamily="49" charset="-122"/>
                <a:cs typeface="Consolas" pitchFamily="49" charset="0"/>
                <a:sym typeface="Symbol"/>
              </a:rPr>
              <a:t></a:t>
            </a:r>
          </a:p>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7    </a:t>
            </a:r>
            <a:r>
              <a:rPr lang="en-US" altLang="zh-CN" sz="2000">
                <a:solidFill>
                  <a:srgbClr val="FF0000"/>
                </a:solidFill>
                <a:latin typeface="Consolas" pitchFamily="49" charset="0"/>
                <a:ea typeface="楷体" pitchFamily="49" charset="-122"/>
                <a:cs typeface="Consolas" pitchFamily="49" charset="0"/>
                <a:sym typeface="Symbol"/>
              </a:rPr>
              <a:t></a:t>
            </a:r>
          </a:p>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8    </a:t>
            </a:r>
            <a:r>
              <a:rPr lang="en-US" altLang="zh-CN" sz="2000">
                <a:solidFill>
                  <a:srgbClr val="FF0000"/>
                </a:solidFill>
                <a:latin typeface="Consolas" pitchFamily="49" charset="0"/>
                <a:ea typeface="楷体" pitchFamily="49" charset="-122"/>
                <a:cs typeface="Consolas" pitchFamily="49" charset="0"/>
              </a:rPr>
              <a:t>√</a:t>
            </a:r>
            <a:endParaRPr lang="en-US" altLang="zh-CN" sz="2000">
              <a:solidFill>
                <a:srgbClr val="FF0000"/>
              </a:solidFill>
              <a:latin typeface="Consolas" pitchFamily="49" charset="0"/>
              <a:ea typeface="楷体" pitchFamily="49" charset="-122"/>
              <a:cs typeface="Consolas" pitchFamily="49" charset="0"/>
              <a:sym typeface="Symbol"/>
            </a:endParaRPr>
          </a:p>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9    </a:t>
            </a:r>
            <a:r>
              <a:rPr lang="en-US" altLang="zh-CN" sz="2000">
                <a:solidFill>
                  <a:srgbClr val="FF0000"/>
                </a:solidFill>
                <a:latin typeface="Consolas" pitchFamily="49" charset="0"/>
                <a:ea typeface="楷体" pitchFamily="49" charset="-122"/>
                <a:cs typeface="Consolas" pitchFamily="49" charset="0"/>
                <a:sym typeface="Symbol"/>
              </a:rPr>
              <a:t></a:t>
            </a:r>
          </a:p>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10   </a:t>
            </a:r>
            <a:r>
              <a:rPr lang="en-US" altLang="zh-CN" sz="2000">
                <a:solidFill>
                  <a:srgbClr val="FF0000"/>
                </a:solidFill>
                <a:latin typeface="Consolas" pitchFamily="49" charset="0"/>
                <a:ea typeface="楷体" pitchFamily="49" charset="-122"/>
                <a:cs typeface="Consolas" pitchFamily="49" charset="0"/>
                <a:sym typeface="Symbol"/>
              </a:rPr>
              <a:t></a:t>
            </a:r>
          </a:p>
          <a:p>
            <a:pPr algn="l">
              <a:lnSpc>
                <a:spcPts val="2500"/>
              </a:lnSpc>
              <a:spcBef>
                <a:spcPts val="0"/>
              </a:spcBef>
            </a:pPr>
            <a:r>
              <a:rPr lang="zh-CN" altLang="en-US" sz="2000">
                <a:solidFill>
                  <a:srgbClr val="0000FF"/>
                </a:solidFill>
                <a:latin typeface="Consolas" pitchFamily="49" charset="0"/>
                <a:ea typeface="楷体" pitchFamily="49" charset="-122"/>
                <a:cs typeface="Consolas" pitchFamily="49" charset="0"/>
              </a:rPr>
              <a:t>活动</a:t>
            </a:r>
            <a:r>
              <a:rPr lang="en-US" altLang="zh-CN" sz="2000">
                <a:solidFill>
                  <a:srgbClr val="0000FF"/>
                </a:solidFill>
                <a:latin typeface="Consolas" pitchFamily="49" charset="0"/>
                <a:ea typeface="楷体" pitchFamily="49" charset="-122"/>
                <a:cs typeface="Consolas" pitchFamily="49" charset="0"/>
              </a:rPr>
              <a:t>11   </a:t>
            </a:r>
            <a:r>
              <a:rPr lang="en-US" altLang="zh-CN" sz="2000">
                <a:solidFill>
                  <a:srgbClr val="FF0000"/>
                </a:solidFill>
                <a:latin typeface="Consolas" pitchFamily="49" charset="0"/>
                <a:ea typeface="楷体" pitchFamily="49" charset="-122"/>
                <a:cs typeface="Consolas" pitchFamily="49" charset="0"/>
              </a:rPr>
              <a:t>√</a:t>
            </a:r>
            <a:endParaRPr lang="en-US" altLang="zh-CN" sz="2000">
              <a:solidFill>
                <a:srgbClr val="FF0000"/>
              </a:solidFill>
              <a:latin typeface="Consolas" pitchFamily="49" charset="0"/>
              <a:ea typeface="楷体" pitchFamily="49" charset="-122"/>
              <a:cs typeface="Consolas" pitchFamily="49" charset="0"/>
              <a:sym typeface="Symbol"/>
            </a:endParaRPr>
          </a:p>
        </p:txBody>
      </p:sp>
      <p:sp>
        <p:nvSpPr>
          <p:cNvPr id="10" name="TextBox 9"/>
          <p:cNvSpPr txBox="1"/>
          <p:nvPr/>
        </p:nvSpPr>
        <p:spPr>
          <a:xfrm>
            <a:off x="4143372" y="3929066"/>
            <a:ext cx="2786082" cy="363176"/>
          </a:xfrm>
          <a:prstGeom prst="rect">
            <a:avLst/>
          </a:prstGeom>
          <a:noFill/>
        </p:spPr>
        <p:txBody>
          <a:bodyPr wrap="square" rtlCol="0">
            <a:spAutoFit/>
          </a:bodyPr>
          <a:lstStyle/>
          <a:p>
            <a:pPr algn="l"/>
            <a:r>
              <a:rPr lang="zh-CN" altLang="en-US" sz="2200">
                <a:solidFill>
                  <a:srgbClr val="0000FF"/>
                </a:solidFill>
                <a:latin typeface="Consolas" pitchFamily="49" charset="0"/>
                <a:ea typeface="楷体" pitchFamily="49" charset="-122"/>
                <a:cs typeface="Consolas" pitchFamily="49" charset="0"/>
              </a:rPr>
              <a:t>最大兼容活动集合：</a:t>
            </a:r>
            <a:endParaRPr lang="zh-CN" altLang="en-US" sz="2200">
              <a:latin typeface="Consolas" pitchFamily="49" charset="0"/>
              <a:cs typeface="Consolas" pitchFamily="49" charset="0"/>
            </a:endParaRPr>
          </a:p>
        </p:txBody>
      </p:sp>
      <p:sp>
        <p:nvSpPr>
          <p:cNvPr id="11" name="TextBox 10"/>
          <p:cNvSpPr txBox="1"/>
          <p:nvPr/>
        </p:nvSpPr>
        <p:spPr>
          <a:xfrm>
            <a:off x="4786314" y="4429132"/>
            <a:ext cx="857256" cy="341953"/>
          </a:xfrm>
          <a:prstGeom prst="rect">
            <a:avLst/>
          </a:prstGeom>
          <a:noFill/>
        </p:spPr>
        <p:txBody>
          <a:bodyPr wrap="square" rtlCol="0">
            <a:spAutoFit/>
          </a:bodyPr>
          <a:lstStyle/>
          <a:p>
            <a:pPr algn="l"/>
            <a:r>
              <a:rPr lang="zh-CN" altLang="en-US" sz="2000">
                <a:solidFill>
                  <a:srgbClr val="0000FF"/>
                </a:solidFill>
                <a:latin typeface="Consolas" pitchFamily="49" charset="0"/>
                <a:ea typeface="微软雅黑" pitchFamily="34" charset="-122"/>
                <a:cs typeface="Consolas" pitchFamily="49" charset="0"/>
              </a:rPr>
              <a:t>活动</a:t>
            </a:r>
            <a:r>
              <a:rPr lang="en-US" altLang="zh-CN" sz="2000">
                <a:solidFill>
                  <a:srgbClr val="0000FF"/>
                </a:solidFill>
                <a:latin typeface="Consolas" pitchFamily="49" charset="0"/>
                <a:ea typeface="微软雅黑" pitchFamily="34" charset="-122"/>
                <a:cs typeface="Consolas" pitchFamily="49" charset="0"/>
              </a:rPr>
              <a:t>1</a:t>
            </a:r>
            <a:endParaRPr lang="zh-CN" altLang="en-US" sz="2000">
              <a:solidFill>
                <a:srgbClr val="0000FF"/>
              </a:solidFill>
              <a:latin typeface="Consolas" pitchFamily="49" charset="0"/>
              <a:ea typeface="微软雅黑" pitchFamily="34" charset="-122"/>
              <a:cs typeface="Consolas" pitchFamily="49" charset="0"/>
            </a:endParaRPr>
          </a:p>
        </p:txBody>
      </p:sp>
      <p:sp>
        <p:nvSpPr>
          <p:cNvPr id="12" name="TextBox 11"/>
          <p:cNvSpPr txBox="1"/>
          <p:nvPr/>
        </p:nvSpPr>
        <p:spPr>
          <a:xfrm>
            <a:off x="5643570" y="4429132"/>
            <a:ext cx="857256" cy="341953"/>
          </a:xfrm>
          <a:prstGeom prst="rect">
            <a:avLst/>
          </a:prstGeom>
          <a:noFill/>
        </p:spPr>
        <p:txBody>
          <a:bodyPr wrap="square" rtlCol="0">
            <a:spAutoFit/>
          </a:bodyPr>
          <a:lstStyle/>
          <a:p>
            <a:pPr algn="l"/>
            <a:r>
              <a:rPr lang="zh-CN" altLang="en-US" sz="2000">
                <a:solidFill>
                  <a:srgbClr val="0000FF"/>
                </a:solidFill>
                <a:latin typeface="Consolas" pitchFamily="49" charset="0"/>
                <a:ea typeface="微软雅黑" pitchFamily="34" charset="-122"/>
                <a:cs typeface="Consolas" pitchFamily="49" charset="0"/>
              </a:rPr>
              <a:t>活动</a:t>
            </a:r>
            <a:r>
              <a:rPr lang="en-US" altLang="zh-CN" sz="2000">
                <a:solidFill>
                  <a:srgbClr val="0000FF"/>
                </a:solidFill>
                <a:latin typeface="Consolas" pitchFamily="49" charset="0"/>
                <a:ea typeface="微软雅黑" pitchFamily="34" charset="-122"/>
                <a:cs typeface="Consolas" pitchFamily="49" charset="0"/>
              </a:rPr>
              <a:t>4</a:t>
            </a:r>
            <a:endParaRPr lang="zh-CN" altLang="en-US" sz="2000">
              <a:solidFill>
                <a:srgbClr val="0000FF"/>
              </a:solidFill>
              <a:latin typeface="Consolas" pitchFamily="49" charset="0"/>
              <a:ea typeface="微软雅黑" pitchFamily="34" charset="-122"/>
              <a:cs typeface="Consolas" pitchFamily="49" charset="0"/>
            </a:endParaRPr>
          </a:p>
        </p:txBody>
      </p:sp>
      <p:sp>
        <p:nvSpPr>
          <p:cNvPr id="13" name="TextBox 12"/>
          <p:cNvSpPr txBox="1"/>
          <p:nvPr/>
        </p:nvSpPr>
        <p:spPr>
          <a:xfrm>
            <a:off x="6572264" y="4429132"/>
            <a:ext cx="857256" cy="341953"/>
          </a:xfrm>
          <a:prstGeom prst="rect">
            <a:avLst/>
          </a:prstGeom>
          <a:noFill/>
        </p:spPr>
        <p:txBody>
          <a:bodyPr wrap="square" rtlCol="0">
            <a:spAutoFit/>
          </a:bodyPr>
          <a:lstStyle/>
          <a:p>
            <a:pPr algn="l"/>
            <a:r>
              <a:rPr lang="zh-CN" altLang="en-US" sz="2000">
                <a:solidFill>
                  <a:srgbClr val="0000FF"/>
                </a:solidFill>
                <a:latin typeface="Consolas" pitchFamily="49" charset="0"/>
                <a:ea typeface="微软雅黑" pitchFamily="34" charset="-122"/>
                <a:cs typeface="Consolas" pitchFamily="49" charset="0"/>
              </a:rPr>
              <a:t>活动</a:t>
            </a:r>
            <a:r>
              <a:rPr lang="en-US" altLang="zh-CN" sz="2000">
                <a:solidFill>
                  <a:srgbClr val="0000FF"/>
                </a:solidFill>
                <a:latin typeface="Consolas" pitchFamily="49" charset="0"/>
                <a:ea typeface="微软雅黑" pitchFamily="34" charset="-122"/>
                <a:cs typeface="Consolas" pitchFamily="49" charset="0"/>
              </a:rPr>
              <a:t>8</a:t>
            </a:r>
            <a:endParaRPr lang="zh-CN" altLang="en-US" sz="2000">
              <a:solidFill>
                <a:srgbClr val="0000FF"/>
              </a:solidFill>
              <a:latin typeface="Consolas" pitchFamily="49" charset="0"/>
              <a:ea typeface="微软雅黑" pitchFamily="34" charset="-122"/>
              <a:cs typeface="Consolas" pitchFamily="49" charset="0"/>
            </a:endParaRPr>
          </a:p>
        </p:txBody>
      </p:sp>
      <p:sp>
        <p:nvSpPr>
          <p:cNvPr id="14" name="TextBox 13"/>
          <p:cNvSpPr txBox="1"/>
          <p:nvPr/>
        </p:nvSpPr>
        <p:spPr>
          <a:xfrm>
            <a:off x="7500958" y="4429132"/>
            <a:ext cx="1071570" cy="341953"/>
          </a:xfrm>
          <a:prstGeom prst="rect">
            <a:avLst/>
          </a:prstGeom>
          <a:noFill/>
        </p:spPr>
        <p:txBody>
          <a:bodyPr wrap="square" rtlCol="0">
            <a:spAutoFit/>
          </a:bodyPr>
          <a:lstStyle/>
          <a:p>
            <a:pPr algn="l"/>
            <a:r>
              <a:rPr lang="zh-CN" altLang="en-US" sz="2000">
                <a:solidFill>
                  <a:srgbClr val="0000FF"/>
                </a:solidFill>
                <a:latin typeface="Consolas" pitchFamily="49" charset="0"/>
                <a:ea typeface="微软雅黑" pitchFamily="34" charset="-122"/>
                <a:cs typeface="Consolas" pitchFamily="49" charset="0"/>
              </a:rPr>
              <a:t>活动</a:t>
            </a:r>
            <a:r>
              <a:rPr lang="en-US" altLang="zh-CN" sz="2000">
                <a:solidFill>
                  <a:srgbClr val="0000FF"/>
                </a:solidFill>
                <a:latin typeface="Consolas" pitchFamily="49" charset="0"/>
                <a:ea typeface="微软雅黑" pitchFamily="34" charset="-122"/>
                <a:cs typeface="Consolas" pitchFamily="49" charset="0"/>
              </a:rPr>
              <a:t>11</a:t>
            </a:r>
            <a:endParaRPr lang="zh-CN" altLang="en-US" sz="2000">
              <a:solidFill>
                <a:srgbClr val="0000FF"/>
              </a:solidFill>
              <a:latin typeface="Consolas" pitchFamily="49" charset="0"/>
              <a:ea typeface="微软雅黑" pitchFamily="34" charset="-122"/>
              <a:cs typeface="Consolas" pitchFamily="49" charset="0"/>
            </a:endParaRPr>
          </a:p>
        </p:txBody>
      </p:sp>
      <p:grpSp>
        <p:nvGrpSpPr>
          <p:cNvPr id="4" name="组合 16"/>
          <p:cNvGrpSpPr/>
          <p:nvPr/>
        </p:nvGrpSpPr>
        <p:grpSpPr>
          <a:xfrm>
            <a:off x="5072066" y="5000636"/>
            <a:ext cx="3071834" cy="685862"/>
            <a:chOff x="5072066" y="5000636"/>
            <a:chExt cx="3071834" cy="685862"/>
          </a:xfrm>
        </p:grpSpPr>
        <p:sp>
          <p:nvSpPr>
            <p:cNvPr id="15" name="右大括号 14"/>
            <p:cNvSpPr/>
            <p:nvPr/>
          </p:nvSpPr>
          <p:spPr>
            <a:xfrm rot="5400000">
              <a:off x="6500826" y="3571876"/>
              <a:ext cx="214314" cy="3071834"/>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6" name="TextBox 15"/>
            <p:cNvSpPr txBox="1"/>
            <p:nvPr/>
          </p:nvSpPr>
          <p:spPr>
            <a:xfrm>
              <a:off x="5715008" y="5286388"/>
              <a:ext cx="1785950" cy="400110"/>
            </a:xfrm>
            <a:prstGeom prst="rect">
              <a:avLst/>
            </a:prstGeom>
            <a:noFill/>
          </p:spPr>
          <p:txBody>
            <a:bodyPr wrap="square" rtlCol="0">
              <a:spAutoFit/>
            </a:bodyPr>
            <a:lstStyle/>
            <a:p>
              <a:pPr algn="ctr"/>
              <a:r>
                <a:rPr lang="zh-CN" altLang="en-US" sz="2000">
                  <a:solidFill>
                    <a:srgbClr val="0000FF"/>
                  </a:solidFill>
                  <a:latin typeface="楷体" pitchFamily="49" charset="-122"/>
                  <a:ea typeface="楷体" pitchFamily="49" charset="-122"/>
                </a:rPr>
                <a:t>求解结果</a:t>
              </a:r>
            </a:p>
          </p:txBody>
        </p:sp>
      </p:grpSp>
      <p:sp>
        <p:nvSpPr>
          <p:cNvPr id="18" name="灯片编号占位符 17"/>
          <p:cNvSpPr>
            <a:spLocks noGrp="1"/>
          </p:cNvSpPr>
          <p:nvPr>
            <p:ph type="sldNum" sz="quarter" idx="12"/>
          </p:nvPr>
        </p:nvSpPr>
        <p:spPr/>
        <p:txBody>
          <a:bodyPr/>
          <a:lstStyle/>
          <a:p>
            <a:fld id="{7AF016A1-9F15-429F-9EFD-84004B73C732}" type="slidenum">
              <a:rPr lang="en-US" altLang="zh-CN" smtClean="0"/>
              <a:pPr/>
              <a:t>10</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9">
                                            <p:txEl>
                                              <p:pRg st="10" end="10"/>
                                            </p:txEl>
                                          </p:spTgt>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500034" y="214290"/>
          <a:ext cx="7643871" cy="1371600"/>
        </p:xfrm>
        <a:graphic>
          <a:graphicData uri="http://schemas.openxmlformats.org/drawingml/2006/table">
            <a:tbl>
              <a:tblPr>
                <a:tableStyleId>{35758FB7-9AC5-4552-8A53-C91805E547FA}</a:tableStyleId>
              </a:tblPr>
              <a:tblGrid>
                <a:gridCol w="1297487">
                  <a:extLst>
                    <a:ext uri="{9D8B030D-6E8A-4147-A177-3AD203B41FA5}">
                      <a16:colId xmlns:a16="http://schemas.microsoft.com/office/drawing/2014/main" val="20000"/>
                    </a:ext>
                  </a:extLst>
                </a:gridCol>
                <a:gridCol w="576944">
                  <a:extLst>
                    <a:ext uri="{9D8B030D-6E8A-4147-A177-3AD203B41FA5}">
                      <a16:colId xmlns:a16="http://schemas.microsoft.com/office/drawing/2014/main" val="20001"/>
                    </a:ext>
                  </a:extLst>
                </a:gridCol>
                <a:gridCol w="576944">
                  <a:extLst>
                    <a:ext uri="{9D8B030D-6E8A-4147-A177-3AD203B41FA5}">
                      <a16:colId xmlns:a16="http://schemas.microsoft.com/office/drawing/2014/main" val="20002"/>
                    </a:ext>
                  </a:extLst>
                </a:gridCol>
                <a:gridCol w="576944">
                  <a:extLst>
                    <a:ext uri="{9D8B030D-6E8A-4147-A177-3AD203B41FA5}">
                      <a16:colId xmlns:a16="http://schemas.microsoft.com/office/drawing/2014/main" val="20003"/>
                    </a:ext>
                  </a:extLst>
                </a:gridCol>
                <a:gridCol w="576944">
                  <a:extLst>
                    <a:ext uri="{9D8B030D-6E8A-4147-A177-3AD203B41FA5}">
                      <a16:colId xmlns:a16="http://schemas.microsoft.com/office/drawing/2014/main" val="20004"/>
                    </a:ext>
                  </a:extLst>
                </a:gridCol>
                <a:gridCol w="576944">
                  <a:extLst>
                    <a:ext uri="{9D8B030D-6E8A-4147-A177-3AD203B41FA5}">
                      <a16:colId xmlns:a16="http://schemas.microsoft.com/office/drawing/2014/main" val="20005"/>
                    </a:ext>
                  </a:extLst>
                </a:gridCol>
                <a:gridCol w="576944">
                  <a:extLst>
                    <a:ext uri="{9D8B030D-6E8A-4147-A177-3AD203B41FA5}">
                      <a16:colId xmlns:a16="http://schemas.microsoft.com/office/drawing/2014/main" val="20006"/>
                    </a:ext>
                  </a:extLst>
                </a:gridCol>
                <a:gridCol w="576944">
                  <a:extLst>
                    <a:ext uri="{9D8B030D-6E8A-4147-A177-3AD203B41FA5}">
                      <a16:colId xmlns:a16="http://schemas.microsoft.com/office/drawing/2014/main" val="20007"/>
                    </a:ext>
                  </a:extLst>
                </a:gridCol>
                <a:gridCol w="576944">
                  <a:extLst>
                    <a:ext uri="{9D8B030D-6E8A-4147-A177-3AD203B41FA5}">
                      <a16:colId xmlns:a16="http://schemas.microsoft.com/office/drawing/2014/main" val="20008"/>
                    </a:ext>
                  </a:extLst>
                </a:gridCol>
                <a:gridCol w="576944">
                  <a:extLst>
                    <a:ext uri="{9D8B030D-6E8A-4147-A177-3AD203B41FA5}">
                      <a16:colId xmlns:a16="http://schemas.microsoft.com/office/drawing/2014/main" val="20009"/>
                    </a:ext>
                  </a:extLst>
                </a:gridCol>
                <a:gridCol w="576944">
                  <a:extLst>
                    <a:ext uri="{9D8B030D-6E8A-4147-A177-3AD203B41FA5}">
                      <a16:colId xmlns:a16="http://schemas.microsoft.com/office/drawing/2014/main" val="20010"/>
                    </a:ext>
                  </a:extLst>
                </a:gridCol>
                <a:gridCol w="576944">
                  <a:extLst>
                    <a:ext uri="{9D8B030D-6E8A-4147-A177-3AD203B41FA5}">
                      <a16:colId xmlns:a16="http://schemas.microsoft.com/office/drawing/2014/main" val="20011"/>
                    </a:ext>
                  </a:extLst>
                </a:gridCol>
              </a:tblGrid>
              <a:tr h="441327">
                <a:tc>
                  <a:txBody>
                    <a:bodyPr/>
                    <a:lstStyle/>
                    <a:p>
                      <a:pPr indent="0" algn="ctr">
                        <a:lnSpc>
                          <a:spcPct val="150000"/>
                        </a:lnSpc>
                        <a:spcAft>
                          <a:spcPts val="0"/>
                        </a:spcAft>
                      </a:pPr>
                      <a:r>
                        <a:rPr lang="en-US" sz="2000" i="1" kern="100">
                          <a:solidFill>
                            <a:srgbClr val="0000FF"/>
                          </a:solidFill>
                          <a:latin typeface="Consolas" pitchFamily="49" charset="0"/>
                          <a:ea typeface="仿宋" pitchFamily="49" charset="-122"/>
                        </a:rPr>
                        <a:t>i</a:t>
                      </a:r>
                      <a:endParaRPr lang="zh-CN" sz="2000" b="1"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2</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4</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5</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6</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7</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8</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9</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10</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11</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extLst>
                  <a:ext uri="{0D108BD9-81ED-4DB2-BD59-A6C34878D82A}">
                    <a16:rowId xmlns:a16="http://schemas.microsoft.com/office/drawing/2014/main" val="10000"/>
                  </a:ext>
                </a:extLst>
              </a:tr>
              <a:tr h="441327">
                <a:tc>
                  <a:txBody>
                    <a:bodyPr/>
                    <a:lstStyle/>
                    <a:p>
                      <a:pPr indent="0" algn="ctr">
                        <a:lnSpc>
                          <a:spcPct val="150000"/>
                        </a:lnSpc>
                        <a:spcAft>
                          <a:spcPts val="0"/>
                        </a:spcAft>
                      </a:pPr>
                      <a:r>
                        <a:rPr lang="zh-CN" sz="2000" kern="100">
                          <a:solidFill>
                            <a:srgbClr val="0000FF"/>
                          </a:solidFill>
                          <a:latin typeface="Consolas" pitchFamily="49" charset="0"/>
                          <a:ea typeface="仿宋" pitchFamily="49" charset="-122"/>
                        </a:rPr>
                        <a:t>开始时间</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0</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5</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5</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6</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8</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8</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2</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12</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extLst>
                  <a:ext uri="{0D108BD9-81ED-4DB2-BD59-A6C34878D82A}">
                    <a16:rowId xmlns:a16="http://schemas.microsoft.com/office/drawing/2014/main" val="10001"/>
                  </a:ext>
                </a:extLst>
              </a:tr>
              <a:tr h="441327">
                <a:tc>
                  <a:txBody>
                    <a:bodyPr/>
                    <a:lstStyle/>
                    <a:p>
                      <a:pPr indent="0" algn="ctr">
                        <a:lnSpc>
                          <a:spcPct val="150000"/>
                        </a:lnSpc>
                        <a:spcAft>
                          <a:spcPts val="0"/>
                        </a:spcAft>
                      </a:pPr>
                      <a:r>
                        <a:rPr lang="zh-CN" sz="2000" kern="100">
                          <a:solidFill>
                            <a:srgbClr val="0000FF"/>
                          </a:solidFill>
                          <a:latin typeface="Consolas" pitchFamily="49" charset="0"/>
                          <a:ea typeface="仿宋" pitchFamily="49" charset="-122"/>
                        </a:rPr>
                        <a:t>结束时间</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4</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5</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6</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7</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8</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9</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10</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11</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12</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13</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ctr">
                        <a:lnSpc>
                          <a:spcPct val="150000"/>
                        </a:lnSpc>
                        <a:spcAft>
                          <a:spcPts val="0"/>
                        </a:spcAft>
                      </a:pPr>
                      <a:r>
                        <a:rPr lang="en-US" sz="2000" kern="100">
                          <a:solidFill>
                            <a:srgbClr val="0000FF"/>
                          </a:solidFill>
                          <a:latin typeface="Consolas" pitchFamily="49" charset="0"/>
                          <a:ea typeface="仿宋" pitchFamily="49" charset="-122"/>
                        </a:rPr>
                        <a:t>15</a:t>
                      </a:r>
                      <a:endParaRPr lang="zh-CN" sz="20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40000"/>
                        <a:lumOff val="60000"/>
                      </a:schemeClr>
                    </a:solidFill>
                  </a:tcPr>
                </a:tc>
                <a:extLst>
                  <a:ext uri="{0D108BD9-81ED-4DB2-BD59-A6C34878D82A}">
                    <a16:rowId xmlns:a16="http://schemas.microsoft.com/office/drawing/2014/main" val="10002"/>
                  </a:ext>
                </a:extLst>
              </a:tr>
            </a:tbl>
          </a:graphicData>
        </a:graphic>
      </p:graphicFrame>
      <p:sp>
        <p:nvSpPr>
          <p:cNvPr id="2109" name="Rectangle 6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07" name="AutoShape 59"/>
          <p:cNvSpPr>
            <a:spLocks noChangeShapeType="1"/>
          </p:cNvSpPr>
          <p:nvPr/>
        </p:nvSpPr>
        <p:spPr bwMode="auto">
          <a:xfrm flipV="1">
            <a:off x="3570191"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106" name="AutoShape 58"/>
          <p:cNvSpPr>
            <a:spLocks noChangeShapeType="1"/>
          </p:cNvSpPr>
          <p:nvPr/>
        </p:nvSpPr>
        <p:spPr bwMode="auto">
          <a:xfrm flipV="1">
            <a:off x="5278880"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105" name="AutoShape 57"/>
          <p:cNvSpPr>
            <a:spLocks noChangeShapeType="1"/>
          </p:cNvSpPr>
          <p:nvPr/>
        </p:nvSpPr>
        <p:spPr bwMode="auto">
          <a:xfrm flipV="1">
            <a:off x="5703442"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104" name="AutoShape 56"/>
          <p:cNvSpPr>
            <a:spLocks noChangeShapeType="1"/>
          </p:cNvSpPr>
          <p:nvPr/>
        </p:nvSpPr>
        <p:spPr bwMode="auto">
          <a:xfrm flipV="1">
            <a:off x="6128005"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103" name="AutoShape 55"/>
          <p:cNvSpPr>
            <a:spLocks noChangeShapeType="1"/>
          </p:cNvSpPr>
          <p:nvPr/>
        </p:nvSpPr>
        <p:spPr bwMode="auto">
          <a:xfrm flipV="1">
            <a:off x="6563007"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102" name="AutoShape 54"/>
          <p:cNvSpPr>
            <a:spLocks noChangeShapeType="1"/>
          </p:cNvSpPr>
          <p:nvPr/>
        </p:nvSpPr>
        <p:spPr bwMode="auto">
          <a:xfrm flipV="1">
            <a:off x="6987569"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101" name="AutoShape 53"/>
          <p:cNvSpPr>
            <a:spLocks noChangeShapeType="1"/>
          </p:cNvSpPr>
          <p:nvPr/>
        </p:nvSpPr>
        <p:spPr bwMode="auto">
          <a:xfrm flipV="1">
            <a:off x="7412131"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100" name="AutoShape 52"/>
          <p:cNvSpPr>
            <a:spLocks noChangeShapeType="1"/>
          </p:cNvSpPr>
          <p:nvPr/>
        </p:nvSpPr>
        <p:spPr bwMode="auto">
          <a:xfrm flipV="1">
            <a:off x="7836694"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99" name="AutoShape 51"/>
          <p:cNvSpPr>
            <a:spLocks noChangeShapeType="1"/>
          </p:cNvSpPr>
          <p:nvPr/>
        </p:nvSpPr>
        <p:spPr bwMode="auto">
          <a:xfrm flipV="1">
            <a:off x="3145629"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98" name="AutoShape 50"/>
          <p:cNvSpPr>
            <a:spLocks noChangeShapeType="1"/>
          </p:cNvSpPr>
          <p:nvPr/>
        </p:nvSpPr>
        <p:spPr bwMode="auto">
          <a:xfrm flipV="1">
            <a:off x="3994753"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97" name="AutoShape 49"/>
          <p:cNvSpPr>
            <a:spLocks noChangeShapeType="1"/>
          </p:cNvSpPr>
          <p:nvPr/>
        </p:nvSpPr>
        <p:spPr bwMode="auto">
          <a:xfrm flipV="1">
            <a:off x="1436940" y="1867807"/>
            <a:ext cx="2320" cy="4341808"/>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96" name="AutoShape 48"/>
          <p:cNvSpPr>
            <a:spLocks noChangeShapeType="1"/>
          </p:cNvSpPr>
          <p:nvPr/>
        </p:nvSpPr>
        <p:spPr bwMode="auto">
          <a:xfrm flipV="1">
            <a:off x="1436940" y="6208455"/>
            <a:ext cx="6839396" cy="1160"/>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95" name="Rectangle 47"/>
          <p:cNvSpPr>
            <a:spLocks noChangeArrowheads="1"/>
          </p:cNvSpPr>
          <p:nvPr/>
        </p:nvSpPr>
        <p:spPr bwMode="auto">
          <a:xfrm>
            <a:off x="1325579" y="6317522"/>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94" name="Rectangle 46"/>
          <p:cNvSpPr>
            <a:spLocks noChangeArrowheads="1"/>
          </p:cNvSpPr>
          <p:nvPr/>
        </p:nvSpPr>
        <p:spPr bwMode="auto">
          <a:xfrm>
            <a:off x="1750142" y="6317522"/>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93" name="Rectangle 45"/>
          <p:cNvSpPr>
            <a:spLocks noChangeArrowheads="1"/>
          </p:cNvSpPr>
          <p:nvPr/>
        </p:nvSpPr>
        <p:spPr bwMode="auto">
          <a:xfrm>
            <a:off x="2194424" y="6317522"/>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92" name="Rectangle 44"/>
          <p:cNvSpPr>
            <a:spLocks noChangeArrowheads="1"/>
          </p:cNvSpPr>
          <p:nvPr/>
        </p:nvSpPr>
        <p:spPr bwMode="auto">
          <a:xfrm>
            <a:off x="2606226" y="6317522"/>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91" name="Rectangle 43"/>
          <p:cNvSpPr>
            <a:spLocks noChangeArrowheads="1"/>
          </p:cNvSpPr>
          <p:nvPr/>
        </p:nvSpPr>
        <p:spPr bwMode="auto">
          <a:xfrm>
            <a:off x="3041228" y="6317522"/>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90" name="Rectangle 42"/>
          <p:cNvSpPr>
            <a:spLocks noChangeArrowheads="1"/>
          </p:cNvSpPr>
          <p:nvPr/>
        </p:nvSpPr>
        <p:spPr bwMode="auto">
          <a:xfrm>
            <a:off x="3464631" y="6317522"/>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89" name="Rectangle 41"/>
          <p:cNvSpPr>
            <a:spLocks noChangeArrowheads="1"/>
          </p:cNvSpPr>
          <p:nvPr/>
        </p:nvSpPr>
        <p:spPr bwMode="auto">
          <a:xfrm>
            <a:off x="3911233" y="6317522"/>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88" name="Rectangle 40"/>
          <p:cNvSpPr>
            <a:spLocks noChangeArrowheads="1"/>
          </p:cNvSpPr>
          <p:nvPr/>
        </p:nvSpPr>
        <p:spPr bwMode="auto">
          <a:xfrm>
            <a:off x="4314915" y="6317522"/>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87" name="Rectangle 39"/>
          <p:cNvSpPr>
            <a:spLocks noChangeArrowheads="1"/>
          </p:cNvSpPr>
          <p:nvPr/>
        </p:nvSpPr>
        <p:spPr bwMode="auto">
          <a:xfrm>
            <a:off x="4748757" y="6317522"/>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86" name="Rectangle 38"/>
          <p:cNvSpPr>
            <a:spLocks noChangeArrowheads="1"/>
          </p:cNvSpPr>
          <p:nvPr/>
        </p:nvSpPr>
        <p:spPr bwMode="auto">
          <a:xfrm>
            <a:off x="5191880" y="6317522"/>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85" name="Rectangle 37"/>
          <p:cNvSpPr>
            <a:spLocks noChangeArrowheads="1"/>
          </p:cNvSpPr>
          <p:nvPr/>
        </p:nvSpPr>
        <p:spPr bwMode="auto">
          <a:xfrm>
            <a:off x="5564242" y="6317522"/>
            <a:ext cx="295802"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84" name="Rectangle 36"/>
          <p:cNvSpPr>
            <a:spLocks noChangeArrowheads="1"/>
          </p:cNvSpPr>
          <p:nvPr/>
        </p:nvSpPr>
        <p:spPr bwMode="auto">
          <a:xfrm>
            <a:off x="1071538" y="2135834"/>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83" name="Rectangle 35"/>
          <p:cNvSpPr>
            <a:spLocks noChangeArrowheads="1"/>
          </p:cNvSpPr>
          <p:nvPr/>
        </p:nvSpPr>
        <p:spPr bwMode="auto">
          <a:xfrm>
            <a:off x="5999244" y="6317522"/>
            <a:ext cx="295802"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82" name="Rectangle 34"/>
          <p:cNvSpPr>
            <a:spLocks noChangeArrowheads="1"/>
          </p:cNvSpPr>
          <p:nvPr/>
        </p:nvSpPr>
        <p:spPr bwMode="auto">
          <a:xfrm>
            <a:off x="6427286" y="6317522"/>
            <a:ext cx="295802"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81" name="Rectangle 33"/>
          <p:cNvSpPr>
            <a:spLocks noChangeArrowheads="1"/>
          </p:cNvSpPr>
          <p:nvPr/>
        </p:nvSpPr>
        <p:spPr bwMode="auto">
          <a:xfrm>
            <a:off x="6862288" y="6317522"/>
            <a:ext cx="295802"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80" name="Rectangle 32"/>
          <p:cNvSpPr>
            <a:spLocks noChangeArrowheads="1"/>
          </p:cNvSpPr>
          <p:nvPr/>
        </p:nvSpPr>
        <p:spPr bwMode="auto">
          <a:xfrm>
            <a:off x="7279891" y="6317522"/>
            <a:ext cx="295802"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79" name="Rectangle 31"/>
          <p:cNvSpPr>
            <a:spLocks noChangeArrowheads="1"/>
          </p:cNvSpPr>
          <p:nvPr/>
        </p:nvSpPr>
        <p:spPr bwMode="auto">
          <a:xfrm>
            <a:off x="7714893" y="6317522"/>
            <a:ext cx="295802"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78" name="Rectangle 30"/>
          <p:cNvSpPr>
            <a:spLocks noChangeArrowheads="1"/>
          </p:cNvSpPr>
          <p:nvPr/>
        </p:nvSpPr>
        <p:spPr bwMode="auto">
          <a:xfrm>
            <a:off x="1071538" y="2497845"/>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77" name="Rectangle 29"/>
          <p:cNvSpPr>
            <a:spLocks noChangeArrowheads="1"/>
          </p:cNvSpPr>
          <p:nvPr/>
        </p:nvSpPr>
        <p:spPr bwMode="auto">
          <a:xfrm>
            <a:off x="1071538" y="2894664"/>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76" name="Rectangle 28"/>
          <p:cNvSpPr>
            <a:spLocks noChangeArrowheads="1"/>
          </p:cNvSpPr>
          <p:nvPr/>
        </p:nvSpPr>
        <p:spPr bwMode="auto">
          <a:xfrm>
            <a:off x="1071538" y="3256675"/>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75" name="Rectangle 27"/>
          <p:cNvSpPr>
            <a:spLocks noChangeArrowheads="1"/>
          </p:cNvSpPr>
          <p:nvPr/>
        </p:nvSpPr>
        <p:spPr bwMode="auto">
          <a:xfrm>
            <a:off x="1071538" y="3646533"/>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74" name="Rectangle 26"/>
          <p:cNvSpPr>
            <a:spLocks noChangeArrowheads="1"/>
          </p:cNvSpPr>
          <p:nvPr/>
        </p:nvSpPr>
        <p:spPr bwMode="auto">
          <a:xfrm>
            <a:off x="1071538" y="4008543"/>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73" name="Rectangle 25"/>
          <p:cNvSpPr>
            <a:spLocks noChangeArrowheads="1"/>
          </p:cNvSpPr>
          <p:nvPr/>
        </p:nvSpPr>
        <p:spPr bwMode="auto">
          <a:xfrm>
            <a:off x="1071538" y="4405363"/>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72" name="Rectangle 24"/>
          <p:cNvSpPr>
            <a:spLocks noChangeArrowheads="1"/>
          </p:cNvSpPr>
          <p:nvPr/>
        </p:nvSpPr>
        <p:spPr bwMode="auto">
          <a:xfrm>
            <a:off x="1071538" y="4767373"/>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71" name="Rectangle 23"/>
          <p:cNvSpPr>
            <a:spLocks noChangeArrowheads="1"/>
          </p:cNvSpPr>
          <p:nvPr/>
        </p:nvSpPr>
        <p:spPr bwMode="auto">
          <a:xfrm>
            <a:off x="1071538" y="5111980"/>
            <a:ext cx="205321"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70" name="Rectangle 22"/>
          <p:cNvSpPr>
            <a:spLocks noChangeArrowheads="1"/>
          </p:cNvSpPr>
          <p:nvPr/>
        </p:nvSpPr>
        <p:spPr bwMode="auto">
          <a:xfrm>
            <a:off x="1071538" y="5508799"/>
            <a:ext cx="295802"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69" name="Rectangle 21"/>
          <p:cNvSpPr>
            <a:spLocks noChangeArrowheads="1"/>
          </p:cNvSpPr>
          <p:nvPr/>
        </p:nvSpPr>
        <p:spPr bwMode="auto">
          <a:xfrm>
            <a:off x="1071538" y="5870810"/>
            <a:ext cx="295802" cy="266867"/>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68" name="AutoShape 20"/>
          <p:cNvSpPr>
            <a:spLocks noChangeShapeType="1"/>
          </p:cNvSpPr>
          <p:nvPr/>
        </p:nvSpPr>
        <p:spPr bwMode="auto">
          <a:xfrm flipV="1">
            <a:off x="1861502"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67" name="AutoShape 19"/>
          <p:cNvSpPr>
            <a:spLocks noChangeShapeType="1"/>
          </p:cNvSpPr>
          <p:nvPr/>
        </p:nvSpPr>
        <p:spPr bwMode="auto">
          <a:xfrm flipV="1">
            <a:off x="2286064"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66" name="AutoShape 18"/>
          <p:cNvSpPr>
            <a:spLocks noChangeShapeType="1"/>
          </p:cNvSpPr>
          <p:nvPr/>
        </p:nvSpPr>
        <p:spPr bwMode="auto">
          <a:xfrm flipV="1">
            <a:off x="2710627"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65" name="Rectangle 17"/>
          <p:cNvSpPr>
            <a:spLocks noChangeArrowheads="1"/>
          </p:cNvSpPr>
          <p:nvPr/>
        </p:nvSpPr>
        <p:spPr bwMode="auto">
          <a:xfrm>
            <a:off x="1864982" y="2152078"/>
            <a:ext cx="1287607" cy="249463"/>
          </a:xfrm>
          <a:prstGeom prst="rect">
            <a:avLst/>
          </a:prstGeom>
          <a:solidFill>
            <a:srgbClr val="FF0000"/>
          </a:solidFill>
          <a:ln>
            <a:headEnd/>
            <a:tailEnd type="none" w="sm" len="sm"/>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64" name="Rectangle 16"/>
          <p:cNvSpPr>
            <a:spLocks noChangeArrowheads="1"/>
          </p:cNvSpPr>
          <p:nvPr/>
        </p:nvSpPr>
        <p:spPr bwMode="auto">
          <a:xfrm>
            <a:off x="2710627" y="2515249"/>
            <a:ext cx="863045" cy="249463"/>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63" name="Rectangle 15"/>
          <p:cNvSpPr>
            <a:spLocks noChangeArrowheads="1"/>
          </p:cNvSpPr>
          <p:nvPr/>
        </p:nvSpPr>
        <p:spPr bwMode="auto">
          <a:xfrm>
            <a:off x="1448229" y="2894664"/>
            <a:ext cx="2552013" cy="249463"/>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62" name="Rectangle 14"/>
          <p:cNvSpPr>
            <a:spLocks noChangeArrowheads="1"/>
          </p:cNvSpPr>
          <p:nvPr/>
        </p:nvSpPr>
        <p:spPr bwMode="auto">
          <a:xfrm>
            <a:off x="3573671" y="3256675"/>
            <a:ext cx="845644" cy="249463"/>
          </a:xfrm>
          <a:prstGeom prst="rect">
            <a:avLst/>
          </a:prstGeom>
          <a:solidFill>
            <a:srgbClr val="FF0000"/>
          </a:solidFill>
          <a:ln>
            <a:headEnd/>
            <a:tailEnd type="none" w="sm" len="sm"/>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61" name="AutoShape 13"/>
          <p:cNvSpPr>
            <a:spLocks noChangeShapeType="1"/>
          </p:cNvSpPr>
          <p:nvPr/>
        </p:nvSpPr>
        <p:spPr bwMode="auto">
          <a:xfrm flipV="1">
            <a:off x="4419316"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60" name="AutoShape 12"/>
          <p:cNvSpPr>
            <a:spLocks noChangeShapeType="1"/>
          </p:cNvSpPr>
          <p:nvPr/>
        </p:nvSpPr>
        <p:spPr bwMode="auto">
          <a:xfrm flipV="1">
            <a:off x="4854318" y="1989637"/>
            <a:ext cx="2320" cy="4209535"/>
          </a:xfrm>
          <a:prstGeom prst="straightConnector1">
            <a:avLst/>
          </a:prstGeom>
          <a:noFill/>
          <a:ln w="9525">
            <a:solidFill>
              <a:srgbClr val="000000"/>
            </a:solidFill>
            <a:prstDash val="dash"/>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59" name="Rectangle 11"/>
          <p:cNvSpPr>
            <a:spLocks noChangeArrowheads="1"/>
          </p:cNvSpPr>
          <p:nvPr/>
        </p:nvSpPr>
        <p:spPr bwMode="auto">
          <a:xfrm>
            <a:off x="2710627" y="3582717"/>
            <a:ext cx="2140211" cy="249463"/>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58" name="Rectangle 10"/>
          <p:cNvSpPr>
            <a:spLocks noChangeArrowheads="1"/>
          </p:cNvSpPr>
          <p:nvPr/>
        </p:nvSpPr>
        <p:spPr bwMode="auto">
          <a:xfrm>
            <a:off x="3570191" y="3944727"/>
            <a:ext cx="1712169" cy="249463"/>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57" name="Rectangle 9"/>
          <p:cNvSpPr>
            <a:spLocks noChangeArrowheads="1"/>
          </p:cNvSpPr>
          <p:nvPr/>
        </p:nvSpPr>
        <p:spPr bwMode="auto">
          <a:xfrm>
            <a:off x="3997073" y="4317181"/>
            <a:ext cx="1706369" cy="249463"/>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56" name="Rectangle 8"/>
          <p:cNvSpPr>
            <a:spLocks noChangeArrowheads="1"/>
          </p:cNvSpPr>
          <p:nvPr/>
        </p:nvSpPr>
        <p:spPr bwMode="auto">
          <a:xfrm>
            <a:off x="4850838" y="4693115"/>
            <a:ext cx="1277167" cy="249463"/>
          </a:xfrm>
          <a:prstGeom prst="rect">
            <a:avLst/>
          </a:prstGeom>
          <a:solidFill>
            <a:srgbClr val="FF0000"/>
          </a:solidFill>
          <a:ln>
            <a:headEnd/>
            <a:tailEnd type="none" w="sm" len="sm"/>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55" name="Rectangle 7"/>
          <p:cNvSpPr>
            <a:spLocks noChangeArrowheads="1"/>
          </p:cNvSpPr>
          <p:nvPr/>
        </p:nvSpPr>
        <p:spPr bwMode="auto">
          <a:xfrm>
            <a:off x="4850838" y="5096896"/>
            <a:ext cx="1708689" cy="249463"/>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54" name="Rectangle 6"/>
          <p:cNvSpPr>
            <a:spLocks noChangeArrowheads="1"/>
          </p:cNvSpPr>
          <p:nvPr/>
        </p:nvSpPr>
        <p:spPr bwMode="auto">
          <a:xfrm>
            <a:off x="2288384" y="5526204"/>
            <a:ext cx="4699185" cy="249463"/>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53" name="Rectangle 5"/>
          <p:cNvSpPr>
            <a:spLocks noChangeArrowheads="1"/>
          </p:cNvSpPr>
          <p:nvPr/>
        </p:nvSpPr>
        <p:spPr bwMode="auto">
          <a:xfrm>
            <a:off x="6559527" y="5870810"/>
            <a:ext cx="1277167" cy="249463"/>
          </a:xfrm>
          <a:prstGeom prst="rect">
            <a:avLst/>
          </a:prstGeom>
          <a:solidFill>
            <a:srgbClr val="FF0000"/>
          </a:solidFill>
          <a:ln>
            <a:headEnd/>
            <a:tailEnd type="none" w="sm" len="sm"/>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52" name="AutoShape 4"/>
          <p:cNvSpPr>
            <a:spLocks noChangeShapeType="1"/>
          </p:cNvSpPr>
          <p:nvPr/>
        </p:nvSpPr>
        <p:spPr bwMode="auto">
          <a:xfrm>
            <a:off x="3152589" y="2277389"/>
            <a:ext cx="421082" cy="1104597"/>
          </a:xfrm>
          <a:prstGeom prst="straightConnector1">
            <a:avLst/>
          </a:prstGeom>
          <a:noFill/>
          <a:ln w="28575">
            <a:solidFill>
              <a:srgbClr val="FF00FF"/>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51" name="AutoShape 3"/>
          <p:cNvSpPr>
            <a:spLocks noChangeShapeType="1"/>
          </p:cNvSpPr>
          <p:nvPr/>
        </p:nvSpPr>
        <p:spPr bwMode="auto">
          <a:xfrm>
            <a:off x="4419316" y="3381986"/>
            <a:ext cx="431522" cy="1436440"/>
          </a:xfrm>
          <a:prstGeom prst="straightConnector1">
            <a:avLst/>
          </a:prstGeom>
          <a:noFill/>
          <a:ln w="28575">
            <a:solidFill>
              <a:srgbClr val="FF00FF"/>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050" name="AutoShape 2"/>
          <p:cNvSpPr>
            <a:spLocks noChangeShapeType="1"/>
          </p:cNvSpPr>
          <p:nvPr/>
        </p:nvSpPr>
        <p:spPr bwMode="auto">
          <a:xfrm>
            <a:off x="6128005" y="4818426"/>
            <a:ext cx="431522" cy="1177695"/>
          </a:xfrm>
          <a:prstGeom prst="straightConnector1">
            <a:avLst/>
          </a:prstGeom>
          <a:noFill/>
          <a:ln w="28575">
            <a:solidFill>
              <a:srgbClr val="FF00FF"/>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63" name="灯片编号占位符 62"/>
          <p:cNvSpPr>
            <a:spLocks noGrp="1"/>
          </p:cNvSpPr>
          <p:nvPr>
            <p:ph type="sldNum" sz="quarter" idx="12"/>
          </p:nvPr>
        </p:nvSpPr>
        <p:spPr/>
        <p:txBody>
          <a:bodyPr/>
          <a:lstStyle/>
          <a:p>
            <a:fld id="{7AF016A1-9F15-429F-9EFD-84004B73C732}" type="slidenum">
              <a:rPr lang="en-US" altLang="zh-CN" smtClean="0"/>
              <a:pPr/>
              <a:t>11</a:t>
            </a:fld>
            <a:r>
              <a:rPr lang="en-US" altLang="zh-CN"/>
              <a:t>/109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715436" cy="34497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Action</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活动的类型</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活动起始时间</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活动结束时间</a:t>
            </a:r>
          </a:p>
          <a:p>
            <a:pPr algn="l" defTabSz="360000">
              <a:lnSpc>
                <a:spcPts val="2800"/>
              </a:lnSpc>
              <a:spcBef>
                <a:spcPts val="0"/>
              </a:spcBef>
            </a:pPr>
            <a:r>
              <a:rPr lang="en-US" altLang="zh-CN" sz="2000">
                <a:solidFill>
                  <a:srgbClr val="0000FF"/>
                </a:solidFill>
                <a:latin typeface="Consolas" pitchFamily="49" charset="0"/>
                <a:ea typeface="仿宋" pitchFamily="49" charset="-122"/>
              </a:rPr>
              <a:t>	Action(int s,int e):s(s),e(e) {}</a:t>
            </a:r>
          </a:p>
          <a:p>
            <a:pPr algn="l" defTabSz="360000">
              <a:lnSpc>
                <a:spcPts val="2800"/>
              </a:lnSpc>
              <a:spcBef>
                <a:spcPts val="0"/>
              </a:spcBef>
            </a:pP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operator&lt;</a:t>
            </a:r>
            <a:r>
              <a:rPr lang="en-US" altLang="zh-CN" sz="2000">
                <a:solidFill>
                  <a:srgbClr val="0000FF"/>
                </a:solidFill>
                <a:latin typeface="Consolas" pitchFamily="49" charset="0"/>
                <a:ea typeface="仿宋" pitchFamily="49" charset="-122"/>
              </a:rPr>
              <a:t>(const Action &amp;o) const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重载</a:t>
            </a:r>
            <a:r>
              <a:rPr lang="en-US" altLang="zh-CN" sz="2000">
                <a:solidFill>
                  <a:srgbClr val="00B0F0"/>
                </a:solidFill>
                <a:latin typeface="Consolas" pitchFamily="49" charset="0"/>
                <a:ea typeface="仿宋" pitchFamily="49" charset="-122"/>
              </a:rPr>
              <a:t>&lt;</a:t>
            </a:r>
            <a:r>
              <a:rPr lang="zh-CN" altLang="zh-CN" sz="2000">
                <a:solidFill>
                  <a:srgbClr val="00B0F0"/>
                </a:solidFill>
                <a:latin typeface="Consolas" pitchFamily="49" charset="0"/>
                <a:ea typeface="仿宋" pitchFamily="49" charset="-122"/>
              </a:rPr>
              <a:t>关系函数</a:t>
            </a: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e&lt;=o.e;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用于按活动结束时间递增排序</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12</a:t>
            </a:fld>
            <a:r>
              <a:rPr lang="en-US" altLang="zh-CN"/>
              <a:t>/109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29111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greedy</a:t>
            </a:r>
            <a:r>
              <a:rPr lang="en-US" altLang="zh-CN" sz="2000">
                <a:solidFill>
                  <a:srgbClr val="0000FF"/>
                </a:solidFill>
                <a:latin typeface="Consolas" pitchFamily="49" charset="0"/>
                <a:ea typeface="仿宋" pitchFamily="49" charset="-122"/>
              </a:rPr>
              <a:t>(vector&lt;Action&gt;&amp;A)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求解最大兼容活动子集</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vector&lt;bool&gt; flag(n,false);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标记选取的活动</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(A.begin(),A.end());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按活动结束时间递增排序</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006600"/>
                </a:solidFill>
                <a:latin typeface="Consolas" pitchFamily="49" charset="0"/>
                <a:ea typeface="仿宋" pitchFamily="49" charset="-122"/>
              </a:rPr>
              <a:t>preend</a:t>
            </a:r>
            <a:r>
              <a:rPr lang="en-US" altLang="zh-CN" sz="2000">
                <a:solidFill>
                  <a:srgbClr val="0000FF"/>
                </a:solidFill>
                <a:latin typeface="Consolas" pitchFamily="49" charset="0"/>
                <a:ea typeface="仿宋" pitchFamily="49" charset="-122"/>
              </a:rPr>
              <a:t>=A[0].e;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前一个兼容活动的结束时间</a:t>
            </a:r>
          </a:p>
          <a:p>
            <a:pPr algn="l" defTabSz="360000">
              <a:lnSpc>
                <a:spcPts val="3000"/>
              </a:lnSpc>
              <a:spcBef>
                <a:spcPts val="0"/>
              </a:spcBef>
            </a:pPr>
            <a:r>
              <a:rPr lang="en-US" altLang="zh-CN" sz="2000">
                <a:solidFill>
                  <a:srgbClr val="0000FF"/>
                </a:solidFill>
                <a:latin typeface="Consolas" pitchFamily="49" charset="0"/>
                <a:ea typeface="仿宋" pitchFamily="49" charset="-122"/>
              </a:rPr>
              <a:t>	flag[0]=true;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ans=1;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选择的活动个数</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13</a:t>
            </a:fld>
            <a:r>
              <a:rPr lang="en-US" altLang="zh-CN"/>
              <a:t>/109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357166"/>
            <a:ext cx="8286808" cy="555290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for (int i=1;i&lt;n;i++)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A[i].s&gt;=preend</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//A[i]</a:t>
            </a:r>
            <a:r>
              <a:rPr lang="zh-CN" altLang="zh-CN" sz="2000">
                <a:solidFill>
                  <a:srgbClr val="00B0F0"/>
                </a:solidFill>
                <a:latin typeface="Consolas" pitchFamily="49" charset="0"/>
                <a:ea typeface="仿宋" pitchFamily="49" charset="-122"/>
              </a:rPr>
              <a:t>与当前区段兼容</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flag[i]=true;	</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选择</a:t>
            </a:r>
            <a:r>
              <a:rPr lang="en-US" altLang="zh-CN" sz="2000">
                <a:solidFill>
                  <a:srgbClr val="00B0F0"/>
                </a:solidFill>
                <a:latin typeface="Consolas" pitchFamily="49" charset="0"/>
                <a:ea typeface="仿宋" pitchFamily="49" charset="-122"/>
              </a:rPr>
              <a:t>A[i]</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ans++;</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preend=A[i].e;</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求解结果</a:t>
            </a:r>
            <a:r>
              <a:rPr lang="en-US" altLang="zh-CN" sz="2000">
                <a:solidFill>
                  <a:srgbClr val="0000FF"/>
                </a:solidFill>
                <a:latin typeface="Consolas" pitchFamily="49" charset="0"/>
                <a:ea typeface="仿宋" pitchFamily="49" charset="-122"/>
              </a:rPr>
              <a:t>\n");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输出求解结果</a:t>
            </a: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选取的活动</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i=0;i&lt;n;i++)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(flag[i])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printf("[%d,%d) ",A[i].s,A[i].e);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printf("\n  </a:t>
            </a:r>
            <a:r>
              <a:rPr lang="zh-CN" altLang="zh-CN" sz="2000">
                <a:solidFill>
                  <a:srgbClr val="0000FF"/>
                </a:solidFill>
                <a:latin typeface="Consolas" pitchFamily="49" charset="0"/>
                <a:ea typeface="仿宋" pitchFamily="49" charset="-122"/>
              </a:rPr>
              <a:t>共</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个活动</a:t>
            </a:r>
            <a:r>
              <a:rPr lang="en-US" altLang="zh-CN" sz="2000">
                <a:solidFill>
                  <a:srgbClr val="0000FF"/>
                </a:solidFill>
                <a:latin typeface="Consolas" pitchFamily="49" charset="0"/>
                <a:ea typeface="仿宋" pitchFamily="49" charset="-122"/>
              </a:rPr>
              <a:t>\n",ans);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14</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714356"/>
            <a:ext cx="8429684"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greedy</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算法的主要时间花费在排序上，排序时间为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，所以整个算法的时间复杂度为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15</a:t>
            </a:fld>
            <a:r>
              <a:rPr lang="en-US" altLang="zh-CN"/>
              <a:t>/109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00042"/>
            <a:ext cx="1857388" cy="587441"/>
          </a:xfrm>
          <a:prstGeom prst="rect">
            <a:avLst/>
          </a:prstGeom>
          <a:solidFill>
            <a:schemeClr val="accent6">
              <a:lumMod val="20000"/>
              <a:lumOff val="80000"/>
            </a:schemeClr>
          </a:solidFill>
        </p:spPr>
        <p:style>
          <a:lnRef idx="3">
            <a:schemeClr val="lt1"/>
          </a:lnRef>
          <a:fillRef idx="1">
            <a:schemeClr val="accent6"/>
          </a:fillRef>
          <a:effectRef idx="1">
            <a:schemeClr val="accent6"/>
          </a:effectRef>
          <a:fontRef idx="minor">
            <a:schemeClr val="lt1"/>
          </a:fontRef>
        </p:style>
        <p:txBody>
          <a:bodyPr wrap="square" tIns="108000" bIns="108000" rtlCol="0">
            <a:spAutoFit/>
          </a:body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算法证明</a:t>
            </a:r>
          </a:p>
        </p:txBody>
      </p:sp>
      <p:sp>
        <p:nvSpPr>
          <p:cNvPr id="4" name="TextBox 3"/>
          <p:cNvSpPr txBox="1"/>
          <p:nvPr/>
        </p:nvSpPr>
        <p:spPr>
          <a:xfrm>
            <a:off x="500034" y="1428736"/>
            <a:ext cx="2786082"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en-US">
                <a:solidFill>
                  <a:schemeClr val="bg1"/>
                </a:solidFill>
                <a:latin typeface="Consolas" pitchFamily="49" charset="0"/>
                <a:ea typeface="微软雅黑" pitchFamily="34" charset="-122"/>
                <a:cs typeface="Consolas" pitchFamily="49" charset="0"/>
              </a:rPr>
              <a:t>最优子结构性质</a:t>
            </a:r>
            <a:endParaRPr lang="zh-CN" altLang="zh-CN">
              <a:solidFill>
                <a:schemeClr val="bg1"/>
              </a:solidFill>
              <a:latin typeface="Consolas" pitchFamily="49" charset="0"/>
              <a:ea typeface="微软雅黑" pitchFamily="34" charset="-122"/>
              <a:cs typeface="Consolas" pitchFamily="49" charset="0"/>
            </a:endParaRPr>
          </a:p>
        </p:txBody>
      </p:sp>
      <p:sp>
        <p:nvSpPr>
          <p:cNvPr id="6" name="TextBox 5"/>
          <p:cNvSpPr txBox="1"/>
          <p:nvPr/>
        </p:nvSpPr>
        <p:spPr>
          <a:xfrm>
            <a:off x="357158" y="2285992"/>
            <a:ext cx="8572560" cy="222112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zh-CN" altLang="zh-CN">
                <a:solidFill>
                  <a:srgbClr val="0000FF"/>
                </a:solidFill>
                <a:latin typeface="Consolas" pitchFamily="49" charset="0"/>
                <a:ea typeface="仿宋" pitchFamily="49" charset="-122"/>
              </a:rPr>
              <a:t>首先证明</a:t>
            </a:r>
            <a:r>
              <a:rPr lang="zh-CN" altLang="zh-CN">
                <a:solidFill>
                  <a:srgbClr val="FF0000"/>
                </a:solidFill>
                <a:latin typeface="Consolas" pitchFamily="49" charset="0"/>
                <a:ea typeface="华文中宋" pitchFamily="2" charset="-122"/>
              </a:rPr>
              <a:t>总存在一个以活动</a:t>
            </a:r>
            <a:r>
              <a:rPr lang="en-US" altLang="zh-CN">
                <a:solidFill>
                  <a:srgbClr val="FF0000"/>
                </a:solidFill>
                <a:latin typeface="Consolas" pitchFamily="49" charset="0"/>
                <a:ea typeface="华文中宋" pitchFamily="2" charset="-122"/>
              </a:rPr>
              <a:t>1</a:t>
            </a:r>
            <a:r>
              <a:rPr lang="zh-CN" altLang="zh-CN">
                <a:solidFill>
                  <a:srgbClr val="FF0000"/>
                </a:solidFill>
                <a:latin typeface="Consolas" pitchFamily="49" charset="0"/>
                <a:ea typeface="华文中宋" pitchFamily="2" charset="-122"/>
              </a:rPr>
              <a:t>开始的最优解</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如果最优解</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第一个选中的是活动</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k</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中的活动是兼容的，即</a:t>
            </a:r>
            <a:r>
              <a:rPr lang="en-US" altLang="zh-CN">
                <a:solidFill>
                  <a:srgbClr val="0000FF"/>
                </a:solidFill>
                <a:latin typeface="Consolas" pitchFamily="49" charset="0"/>
                <a:ea typeface="仿宋" pitchFamily="49" charset="-122"/>
                <a:sym typeface="Symbol"/>
              </a:rPr>
              <a:t></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有</a:t>
            </a:r>
            <a:r>
              <a:rPr lang="en-US" altLang="zh-CN" i="1">
                <a:solidFill>
                  <a:srgbClr val="0000FF"/>
                </a:solidFill>
                <a:latin typeface="Consolas" pitchFamily="49" charset="0"/>
                <a:ea typeface="仿宋" pitchFamily="49" charset="-122"/>
              </a:rPr>
              <a:t>e</a:t>
            </a:r>
            <a:r>
              <a:rPr lang="en-US" altLang="zh-CN" i="1" baseline="-25000">
                <a:solidFill>
                  <a:srgbClr val="0000FF"/>
                </a:solidFill>
                <a:latin typeface="Consolas" pitchFamily="49" charset="0"/>
                <a:ea typeface="仿宋" pitchFamily="49" charset="-122"/>
              </a:rPr>
              <a:t>k</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，又因为</a:t>
            </a:r>
            <a:r>
              <a:rPr lang="en-US" altLang="zh-CN" i="1">
                <a:solidFill>
                  <a:srgbClr val="0000FF"/>
                </a:solidFill>
                <a:latin typeface="Consolas" pitchFamily="49" charset="0"/>
                <a:ea typeface="仿宋" pitchFamily="49" charset="-122"/>
              </a:rPr>
              <a:t>e</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mj-ea"/>
              </a:rPr>
              <a:t>≤</a:t>
            </a:r>
            <a:r>
              <a:rPr lang="en-US" altLang="zh-CN" i="1">
                <a:solidFill>
                  <a:srgbClr val="0000FF"/>
                </a:solidFill>
                <a:latin typeface="Consolas" pitchFamily="49" charset="0"/>
                <a:ea typeface="仿宋" pitchFamily="49" charset="-122"/>
              </a:rPr>
              <a:t>e</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mj-ea"/>
              </a:rPr>
              <a:t>≤</a:t>
            </a:r>
            <a:r>
              <a:rPr lang="zh-CN" altLang="zh-CN">
                <a:solidFill>
                  <a:srgbClr val="0000FF"/>
                </a:solidFill>
                <a:latin typeface="+mj-ea"/>
                <a:ea typeface="+mj-ea"/>
              </a:rPr>
              <a:t>…</a:t>
            </a:r>
            <a:r>
              <a:rPr lang="en-US" altLang="zh-CN">
                <a:solidFill>
                  <a:srgbClr val="0000FF"/>
                </a:solidFill>
                <a:latin typeface="+mj-ea"/>
              </a:rPr>
              <a:t>≤</a:t>
            </a:r>
            <a:r>
              <a:rPr lang="en-US" altLang="zh-CN" i="1">
                <a:solidFill>
                  <a:srgbClr val="0000FF"/>
                </a:solidFill>
                <a:latin typeface="Consolas" pitchFamily="49" charset="0"/>
                <a:ea typeface="仿宋" pitchFamily="49" charset="-122"/>
              </a:rPr>
              <a:t>e</a:t>
            </a:r>
            <a:r>
              <a:rPr lang="en-US" altLang="zh-CN" i="1" baseline="-25000">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，所以</a:t>
            </a:r>
            <a:r>
              <a:rPr lang="en-US" altLang="zh-CN" i="1">
                <a:solidFill>
                  <a:srgbClr val="0000FF"/>
                </a:solidFill>
                <a:latin typeface="Consolas" pitchFamily="49" charset="0"/>
                <a:ea typeface="仿宋" pitchFamily="49" charset="-122"/>
              </a:rPr>
              <a:t>e</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e</a:t>
            </a:r>
            <a:r>
              <a:rPr lang="en-US" altLang="zh-CN" i="1" baseline="-25000">
                <a:solidFill>
                  <a:srgbClr val="0000FF"/>
                </a:solidFill>
                <a:latin typeface="Consolas" pitchFamily="49" charset="0"/>
                <a:ea typeface="仿宋" pitchFamily="49" charset="-122"/>
              </a:rPr>
              <a:t>k</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，设</a:t>
            </a:r>
            <a:r>
              <a:rPr lang="en-US" altLang="zh-CN">
                <a:solidFill>
                  <a:srgbClr val="0000FF"/>
                </a:solidFill>
                <a:latin typeface="Consolas" pitchFamily="49" charset="0"/>
                <a:ea typeface="仿宋" pitchFamily="49" charset="-122"/>
              </a:rPr>
              <a:t>Y=X-[</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e</a:t>
            </a:r>
            <a:r>
              <a:rPr lang="en-US" altLang="zh-CN" i="1" baseline="-25000">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e</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也一定是</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的一个最优解。这就说明</a:t>
            </a:r>
            <a:r>
              <a:rPr lang="zh-CN" altLang="zh-CN">
                <a:solidFill>
                  <a:srgbClr val="FF00FF"/>
                </a:solidFill>
                <a:latin typeface="Consolas" pitchFamily="49" charset="0"/>
                <a:ea typeface="仿宋" pitchFamily="49" charset="-122"/>
              </a:rPr>
              <a:t>总存在一个以活动</a:t>
            </a:r>
            <a:r>
              <a:rPr lang="en-US" altLang="zh-CN">
                <a:solidFill>
                  <a:srgbClr val="FF00FF"/>
                </a:solidFill>
                <a:latin typeface="Consolas" pitchFamily="49" charset="0"/>
                <a:ea typeface="仿宋" pitchFamily="49" charset="-122"/>
              </a:rPr>
              <a:t>1</a:t>
            </a:r>
            <a:r>
              <a:rPr lang="zh-CN" altLang="zh-CN">
                <a:solidFill>
                  <a:srgbClr val="FF00FF"/>
                </a:solidFill>
                <a:latin typeface="Consolas" pitchFamily="49" charset="0"/>
                <a:ea typeface="仿宋" pitchFamily="49" charset="-122"/>
              </a:rPr>
              <a:t>开始的最优解</a:t>
            </a:r>
            <a:r>
              <a:rPr lang="zh-CN" altLang="zh-CN">
                <a:solidFill>
                  <a:srgbClr val="0000FF"/>
                </a:solidFill>
                <a:latin typeface="Consolas" pitchFamily="49" charset="0"/>
                <a:ea typeface="仿宋" pitchFamily="49" charset="-122"/>
              </a:rPr>
              <a:t>。</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16</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1357298"/>
            <a:ext cx="8501122" cy="40934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en-US">
                <a:solidFill>
                  <a:srgbClr val="FF0000"/>
                </a:solidFill>
                <a:latin typeface="Consolas" pitchFamily="49" charset="0"/>
                <a:ea typeface="微软雅黑" pitchFamily="34" charset="-122"/>
                <a:cs typeface="Consolas" pitchFamily="49" charset="0"/>
              </a:rPr>
              <a:t>最优子结构性质：</a:t>
            </a:r>
            <a:r>
              <a:rPr lang="zh-CN" altLang="zh-CN">
                <a:solidFill>
                  <a:srgbClr val="0000FF"/>
                </a:solidFill>
                <a:latin typeface="Consolas" pitchFamily="49" charset="0"/>
                <a:ea typeface="仿宋" pitchFamily="49" charset="-122"/>
              </a:rPr>
              <a:t>如果</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的以活动</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开始的最优解，设</a:t>
            </a:r>
            <a:r>
              <a:rPr lang="en-US" altLang="zh-CN">
                <a:solidFill>
                  <a:srgbClr val="0000FF"/>
                </a:solidFill>
                <a:latin typeface="Consolas" pitchFamily="49" charset="0"/>
                <a:ea typeface="仿宋" pitchFamily="49" charset="-122"/>
              </a:rPr>
              <a:t>A'={</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i</a:t>
            </a:r>
            <a:r>
              <a:rPr lang="zh-CN" altLang="en-US">
                <a:solidFill>
                  <a:srgbClr val="0000FF"/>
                </a:solidFill>
                <a:latin typeface="+mj-ea"/>
                <a:ea typeface="+mj-ea"/>
              </a:rPr>
              <a:t>≥</a:t>
            </a:r>
            <a:r>
              <a:rPr lang="en-US" altLang="zh-CN" i="1">
                <a:solidFill>
                  <a:srgbClr val="0000FF"/>
                </a:solidFill>
                <a:latin typeface="Consolas" pitchFamily="49" charset="0"/>
                <a:ea typeface="仿宋" pitchFamily="49" charset="-122"/>
              </a:rPr>
              <a:t>e</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X'=X-{1}</a:t>
            </a:r>
            <a:r>
              <a:rPr lang="zh-CN" altLang="zh-CN">
                <a:solidFill>
                  <a:srgbClr val="0000FF"/>
                </a:solidFill>
                <a:latin typeface="Consolas" pitchFamily="49" charset="0"/>
                <a:ea typeface="仿宋" pitchFamily="49" charset="-122"/>
              </a:rPr>
              <a:t>也是</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的最优解。</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由于</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是一个最优解，</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中的活动一定是兼容的，则</a:t>
            </a:r>
            <a:r>
              <a:rPr lang="en-US" altLang="zh-CN">
                <a:solidFill>
                  <a:srgbClr val="0000FF"/>
                </a:solidFill>
                <a:latin typeface="Consolas" pitchFamily="49" charset="0"/>
                <a:ea typeface="仿宋" pitchFamily="49" charset="-122"/>
              </a:rPr>
              <a:t>X'=X-{1}</a:t>
            </a:r>
            <a:r>
              <a:rPr lang="zh-CN" altLang="zh-CN">
                <a:solidFill>
                  <a:srgbClr val="0000FF"/>
                </a:solidFill>
                <a:latin typeface="Consolas" pitchFamily="49" charset="0"/>
                <a:ea typeface="仿宋" pitchFamily="49" charset="-122"/>
              </a:rPr>
              <a:t>中的活动也一定是兼容的，所以只需要证明</a:t>
            </a:r>
            <a:r>
              <a:rPr lang="en-US" altLang="zh-CN">
                <a:solidFill>
                  <a:srgbClr val="FF0000"/>
                </a:solidFill>
                <a:latin typeface="Consolas" pitchFamily="49" charset="0"/>
                <a:ea typeface="仿宋" pitchFamily="49" charset="-122"/>
              </a:rPr>
              <a:t>X'</a:t>
            </a:r>
            <a:r>
              <a:rPr lang="zh-CN" altLang="zh-CN">
                <a:solidFill>
                  <a:srgbClr val="FF0000"/>
                </a:solidFill>
                <a:latin typeface="Consolas" pitchFamily="49" charset="0"/>
                <a:ea typeface="仿宋" pitchFamily="49" charset="-122"/>
              </a:rPr>
              <a:t>是</a:t>
            </a:r>
            <a:r>
              <a:rPr lang="en-US" altLang="zh-CN">
                <a:solidFill>
                  <a:srgbClr val="FF0000"/>
                </a:solidFill>
                <a:latin typeface="Consolas" pitchFamily="49" charset="0"/>
                <a:ea typeface="仿宋" pitchFamily="49" charset="-122"/>
              </a:rPr>
              <a:t>A'</a:t>
            </a:r>
            <a:r>
              <a:rPr lang="zh-CN" altLang="zh-CN">
                <a:solidFill>
                  <a:srgbClr val="FF0000"/>
                </a:solidFill>
                <a:latin typeface="Consolas" pitchFamily="49" charset="0"/>
                <a:ea typeface="仿宋" pitchFamily="49" charset="-122"/>
              </a:rPr>
              <a:t>的最大兼容活动子集即可</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采用</a:t>
            </a:r>
            <a:r>
              <a:rPr lang="zh-CN" altLang="zh-CN">
                <a:solidFill>
                  <a:srgbClr val="FF0000"/>
                </a:solidFill>
                <a:latin typeface="Consolas" pitchFamily="49" charset="0"/>
                <a:ea typeface="仿宋" pitchFamily="49" charset="-122"/>
              </a:rPr>
              <a:t>反证法</a:t>
            </a:r>
            <a:r>
              <a:rPr lang="zh-CN" altLang="zh-CN">
                <a:solidFill>
                  <a:srgbClr val="0000FF"/>
                </a:solidFill>
                <a:latin typeface="Consolas" pitchFamily="49" charset="0"/>
                <a:ea typeface="仿宋" pitchFamily="49" charset="-122"/>
              </a:rPr>
              <a:t>，如果</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不是</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的最大兼容活动子集，则一定有</a:t>
            </a:r>
            <a:r>
              <a:rPr lang="en-US" altLang="zh-CN">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的兼容活动子集，同时</a:t>
            </a:r>
            <a:r>
              <a:rPr lang="en-US" altLang="zh-CN">
                <a:solidFill>
                  <a:srgbClr val="0000FF"/>
                </a:solidFill>
                <a:latin typeface="Consolas" pitchFamily="49" charset="0"/>
                <a:ea typeface="仿宋" pitchFamily="49" charset="-122"/>
              </a:rPr>
              <a:t>|Y'|&gt;|X'|</a:t>
            </a:r>
            <a:r>
              <a:rPr lang="zh-CN" altLang="zh-CN">
                <a:solidFill>
                  <a:srgbClr val="0000FF"/>
                </a:solidFill>
                <a:latin typeface="Consolas" pitchFamily="49" charset="0"/>
                <a:ea typeface="仿宋" pitchFamily="49" charset="-122"/>
              </a:rPr>
              <a:t>。而</a:t>
            </a:r>
            <a:r>
              <a:rPr lang="en-US" altLang="zh-CN">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中一定不含活动</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，令</a:t>
            </a:r>
            <a:r>
              <a:rPr lang="en-US" altLang="zh-CN">
                <a:solidFill>
                  <a:srgbClr val="0000FF"/>
                </a:solidFill>
                <a:latin typeface="Consolas" pitchFamily="49" charset="0"/>
                <a:ea typeface="仿宋" pitchFamily="49" charset="-122"/>
              </a:rPr>
              <a:t>Y=Y'</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一定是</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的一个兼容子集，并且</a:t>
            </a:r>
            <a:r>
              <a:rPr lang="en-US" altLang="zh-CN">
                <a:solidFill>
                  <a:srgbClr val="0000FF"/>
                </a:solidFill>
                <a:latin typeface="Consolas" pitchFamily="49" charset="0"/>
                <a:ea typeface="仿宋" pitchFamily="49" charset="-122"/>
              </a:rPr>
              <a:t>|Y|&gt;|X|</a:t>
            </a:r>
            <a:r>
              <a:rPr lang="zh-CN" altLang="zh-CN">
                <a:solidFill>
                  <a:srgbClr val="0000FF"/>
                </a:solidFill>
                <a:latin typeface="Consolas" pitchFamily="49" charset="0"/>
                <a:ea typeface="仿宋" pitchFamily="49" charset="-122"/>
              </a:rPr>
              <a:t>，这样与</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的最优解矛盾。</a:t>
            </a:r>
          </a:p>
        </p:txBody>
      </p:sp>
      <p:sp>
        <p:nvSpPr>
          <p:cNvPr id="6" name="TextBox 5"/>
          <p:cNvSpPr txBox="1"/>
          <p:nvPr/>
        </p:nvSpPr>
        <p:spPr>
          <a:xfrm>
            <a:off x="428596" y="571480"/>
            <a:ext cx="3714776" cy="461665"/>
          </a:xfrm>
          <a:prstGeom prst="rect">
            <a:avLst/>
          </a:prstGeom>
          <a:noFill/>
        </p:spPr>
        <p:txBody>
          <a:bodyPr wrap="square" rtlCol="0">
            <a:spAutoFit/>
          </a:bodyPr>
          <a:lstStyle/>
          <a:p>
            <a:pPr algn="l">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证明最优子结构性质成立</a:t>
            </a:r>
            <a:endParaRPr lang="zh-CN" altLang="en-US">
              <a:solidFill>
                <a:srgbClr val="FF0000"/>
              </a:solidFill>
              <a:latin typeface="Consolas" pitchFamily="49" charset="0"/>
              <a:ea typeface="楷体"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17</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357166"/>
            <a:ext cx="2786082"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lnSpc>
                <a:spcPct val="100000"/>
              </a:lnSpc>
            </a:pPr>
            <a:r>
              <a:rPr lang="zh-CN" altLang="en-US">
                <a:solidFill>
                  <a:schemeClr val="bg1"/>
                </a:solidFill>
                <a:latin typeface="Consolas" pitchFamily="49" charset="0"/>
                <a:ea typeface="微软雅黑" pitchFamily="34" charset="-122"/>
                <a:cs typeface="Consolas" pitchFamily="49" charset="0"/>
              </a:rPr>
              <a:t>贪心选择性质</a:t>
            </a:r>
            <a:endParaRPr lang="zh-CN" altLang="zh-CN">
              <a:solidFill>
                <a:schemeClr val="bg1"/>
              </a:solidFill>
              <a:latin typeface="Consolas" pitchFamily="49" charset="0"/>
              <a:ea typeface="微软雅黑" pitchFamily="34" charset="-122"/>
              <a:cs typeface="Consolas" pitchFamily="49" charset="0"/>
            </a:endParaRPr>
          </a:p>
        </p:txBody>
      </p:sp>
      <p:sp>
        <p:nvSpPr>
          <p:cNvPr id="4" name="TextBox 3"/>
          <p:cNvSpPr txBox="1"/>
          <p:nvPr/>
        </p:nvSpPr>
        <p:spPr>
          <a:xfrm>
            <a:off x="500034" y="1214422"/>
            <a:ext cx="8143932" cy="522194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采用数学归纳法证明满足贪心选择性质</a:t>
            </a:r>
            <a:r>
              <a:rPr lang="zh-CN" altLang="en-US">
                <a:solidFill>
                  <a:srgbClr val="0000FF"/>
                </a:solidFill>
                <a:latin typeface="Consolas" pitchFamily="49" charset="0"/>
                <a:ea typeface="仿宋" pitchFamily="49" charset="-122"/>
              </a:rPr>
              <a:t>：</a:t>
            </a:r>
            <a:r>
              <a:rPr lang="zh-CN" altLang="zh-CN">
                <a:solidFill>
                  <a:srgbClr val="FF0000"/>
                </a:solidFill>
                <a:latin typeface="华文中宋" pitchFamily="2" charset="-122"/>
                <a:ea typeface="华文中宋" pitchFamily="2" charset="-122"/>
              </a:rPr>
              <a:t>按照每次选择具有最早结束时间的兼容活动可以得到最优解</a:t>
            </a:r>
            <a:r>
              <a:rPr lang="zh-CN" altLang="en-US"/>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设</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的包含活动</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的最优解，按</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中包含的活动兼容个数</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做归纳证明。</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当</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时</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中只有活动</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，可以推出</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中所有活动均不兼容，结论成立。</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假设</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时结论均成立。</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当</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时，按照贪心法的过程先从</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中选择活动</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，设</a:t>
            </a:r>
            <a:r>
              <a:rPr lang="en-US" altLang="zh-CN">
                <a:solidFill>
                  <a:srgbClr val="0000FF"/>
                </a:solidFill>
                <a:latin typeface="Consolas" pitchFamily="49" charset="0"/>
                <a:ea typeface="仿宋" pitchFamily="49" charset="-122"/>
              </a:rPr>
              <a:t>A'={</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 | </a:t>
            </a:r>
            <a:r>
              <a:rPr lang="en-US" altLang="zh-CN" i="1">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e</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，其最优解必含</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个兼容活动，根据假设可以得到其最优解</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，显然</a:t>
            </a:r>
            <a:r>
              <a:rPr lang="en-US" altLang="zh-CN">
                <a:solidFill>
                  <a:srgbClr val="0000FF"/>
                </a:solidFill>
                <a:latin typeface="Consolas" pitchFamily="49" charset="0"/>
                <a:ea typeface="仿宋" pitchFamily="49" charset="-122"/>
              </a:rPr>
              <a:t>X=X'</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的最优解。</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18</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85728"/>
            <a:ext cx="8715436" cy="6273512"/>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2880"/>
              </a:lnSpc>
              <a:spcBef>
                <a:spcPts val="0"/>
              </a:spcBef>
            </a:pPr>
            <a:r>
              <a:rPr lang="en-US" altLang="zh-CN">
                <a:solidFill>
                  <a:srgbClr val="FF0000"/>
                </a:solidFill>
                <a:latin typeface="Consolas" pitchFamily="49" charset="0"/>
                <a:ea typeface="楷体" pitchFamily="49" charset="-122"/>
              </a:rPr>
              <a:t>        </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8.2</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无重叠区间（</a:t>
            </a:r>
            <a:r>
              <a:rPr lang="en-US" altLang="zh-CN">
                <a:solidFill>
                  <a:srgbClr val="0000FF"/>
                </a:solidFill>
                <a:latin typeface="Consolas" pitchFamily="49" charset="0"/>
                <a:ea typeface="仿宋" pitchFamily="49" charset="-122"/>
              </a:rPr>
              <a:t>LintCode1242</a:t>
            </a:r>
            <a:r>
              <a:rPr lang="zh-CN" altLang="zh-CN">
                <a:solidFill>
                  <a:srgbClr val="0000FF"/>
                </a:solidFill>
                <a:latin typeface="Consolas" pitchFamily="49" charset="0"/>
                <a:ea typeface="仿宋" pitchFamily="49" charset="-122"/>
              </a:rPr>
              <a:t>★★）。给定</a:t>
            </a:r>
            <a:endParaRPr lang="en-US" altLang="zh-CN">
              <a:solidFill>
                <a:srgbClr val="0000FF"/>
              </a:solidFill>
              <a:latin typeface="Consolas" pitchFamily="49" charset="0"/>
              <a:ea typeface="仿宋" pitchFamily="49" charset="-122"/>
            </a:endParaRPr>
          </a:p>
          <a:p>
            <a:pPr algn="l" defTabSz="360000">
              <a:lnSpc>
                <a:spcPts val="288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一个含有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个区间的集合</a:t>
            </a:r>
            <a:r>
              <a:rPr lang="en-US" altLang="zh-CN">
                <a:solidFill>
                  <a:srgbClr val="0000FF"/>
                </a:solidFill>
                <a:latin typeface="Consolas" pitchFamily="49" charset="0"/>
                <a:ea typeface="仿宋" pitchFamily="49" charset="-122"/>
              </a:rPr>
              <a:t>intervals</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intervals[</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]=[si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ei)</a:t>
            </a:r>
            <a:r>
              <a:rPr lang="zh-CN" altLang="zh-CN">
                <a:solidFill>
                  <a:srgbClr val="0000FF"/>
                </a:solidFill>
                <a:latin typeface="Consolas" pitchFamily="49" charset="0"/>
                <a:ea typeface="仿宋" pitchFamily="49" charset="-122"/>
              </a:rPr>
              <a:t>，每个区间的类型如下：</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class </a:t>
            </a:r>
            <a:r>
              <a:rPr lang="en-US" altLang="zh-CN" sz="2000">
                <a:solidFill>
                  <a:srgbClr val="FF0000"/>
                </a:solidFill>
                <a:latin typeface="Consolas" pitchFamily="49" charset="0"/>
                <a:ea typeface="仿宋" pitchFamily="49" charset="-122"/>
              </a:rPr>
              <a:t>Interval</a:t>
            </a:r>
            <a:r>
              <a:rPr lang="en-US" altLang="zh-CN" sz="2000">
                <a:solidFill>
                  <a:srgbClr val="006600"/>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区间的类型</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public:</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int start, 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会议开始时间和结束时间</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	Interval(int start, int end)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构造函数</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		this-&gt;start = start;</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this-&gt;end = end;</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a:t>
            </a:r>
            <a:endParaRPr lang="zh-CN" altLang="zh-CN" sz="2000">
              <a:solidFill>
                <a:srgbClr val="006600"/>
              </a:solidFill>
              <a:latin typeface="Consolas" pitchFamily="49" charset="0"/>
              <a:ea typeface="仿宋" pitchFamily="49" charset="-122"/>
            </a:endParaRPr>
          </a:p>
          <a:p>
            <a:pPr algn="l" defTabSz="360000">
              <a:lnSpc>
                <a:spcPts val="2880"/>
              </a:lnSpc>
              <a:spcBef>
                <a:spcPts val="0"/>
              </a:spcBef>
            </a:pPr>
            <a:r>
              <a:rPr lang="zh-CN" altLang="zh-CN">
                <a:solidFill>
                  <a:srgbClr val="0000FF"/>
                </a:solidFill>
                <a:latin typeface="Consolas" pitchFamily="49" charset="0"/>
                <a:ea typeface="仿宋" pitchFamily="49" charset="-122"/>
              </a:rPr>
              <a:t>可以假设每个区间的右端点一定比左端点大，另外尽管区间</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边缘重合，但是它们并未重叠。求需要移除区间的最小数量，使剩余区间互不重叠。</a:t>
            </a:r>
            <a:endParaRPr lang="en-US" altLang="zh-CN">
              <a:solidFill>
                <a:srgbClr val="0000FF"/>
              </a:solidFill>
              <a:latin typeface="Consolas" pitchFamily="49" charset="0"/>
              <a:ea typeface="仿宋" pitchFamily="49" charset="-122"/>
            </a:endParaRPr>
          </a:p>
          <a:p>
            <a:pPr algn="l" defTabSz="360000">
              <a:lnSpc>
                <a:spcPts val="288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intervals={[1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，答案是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，移除</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后剩下的区间没有重叠。</a:t>
            </a:r>
            <a:endParaRPr lang="en-US" altLang="zh-CN">
              <a:solidFill>
                <a:srgbClr val="0000FF"/>
              </a:solidFill>
              <a:latin typeface="Consolas" pitchFamily="49" charset="0"/>
              <a:ea typeface="仿宋" pitchFamily="49" charset="-122"/>
            </a:endParaRPr>
          </a:p>
          <a:p>
            <a:pPr algn="l" defTabSz="360000">
              <a:lnSpc>
                <a:spcPts val="288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defTabSz="360000">
              <a:lnSpc>
                <a:spcPts val="2880"/>
              </a:lnSpc>
              <a:spcBef>
                <a:spcPts val="0"/>
              </a:spcBef>
            </a:pPr>
            <a:r>
              <a:rPr lang="en-US" altLang="zh-CN" sz="2000">
                <a:solidFill>
                  <a:srgbClr val="006600"/>
                </a:solidFill>
                <a:latin typeface="Consolas" pitchFamily="49" charset="0"/>
                <a:ea typeface="仿宋" pitchFamily="49" charset="-122"/>
              </a:rPr>
              <a:t>   int eraseOverlapIntervals(vector&lt;Interval&gt; &amp;intervals) {}</a:t>
            </a:r>
            <a:endParaRPr lang="zh-CN" altLang="zh-CN" sz="2000">
              <a:solidFill>
                <a:srgbClr val="006600"/>
              </a:solidFill>
              <a:latin typeface="Consolas" pitchFamily="49" charset="0"/>
              <a:ea typeface="仿宋" pitchFamily="49" charset="-122"/>
            </a:endParaRPr>
          </a:p>
        </p:txBody>
      </p:sp>
      <p:grpSp>
        <p:nvGrpSpPr>
          <p:cNvPr id="5" name="组合 4"/>
          <p:cNvGrpSpPr/>
          <p:nvPr/>
        </p:nvGrpSpPr>
        <p:grpSpPr>
          <a:xfrm>
            <a:off x="214282" y="1"/>
            <a:ext cx="1000132" cy="1000108"/>
            <a:chOff x="857224" y="1071546"/>
            <a:chExt cx="1041400" cy="1044575"/>
          </a:xfrm>
        </p:grpSpPr>
        <p:sp>
          <p:nvSpPr>
            <p:cNvPr id="6"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7"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19</a:t>
            </a:fld>
            <a:r>
              <a:rPr lang="en-US" altLang="zh-CN"/>
              <a:t>/109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85720" y="1357298"/>
            <a:ext cx="8569325" cy="1438855"/>
          </a:xfrm>
          <a:prstGeom prst="rect">
            <a:avLst/>
          </a:prstGeom>
          <a:solidFill>
            <a:schemeClr val="bg1"/>
          </a:solidFill>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gn="l">
              <a:lnSpc>
                <a:spcPts val="3300"/>
              </a:lnSpc>
              <a:spcBef>
                <a:spcPts val="600"/>
              </a:spcBef>
              <a:buBlip>
                <a:blip r:embed="rId3"/>
              </a:buBlip>
            </a:pPr>
            <a:r>
              <a:rPr lang="zh-CN" altLang="zh-CN">
                <a:solidFill>
                  <a:srgbClr val="0000FF"/>
                </a:solidFill>
                <a:latin typeface="Consolas" pitchFamily="49" charset="0"/>
                <a:ea typeface="仿宋" pitchFamily="49" charset="-122"/>
              </a:rPr>
              <a:t>两个相互不相交的区间就是兼容区间，采用前面活动安排问题的贪心法求出</a:t>
            </a:r>
            <a:r>
              <a:rPr lang="en-US" altLang="zh-CN">
                <a:solidFill>
                  <a:srgbClr val="0000FF"/>
                </a:solidFill>
                <a:latin typeface="Consolas" pitchFamily="49" charset="0"/>
                <a:ea typeface="仿宋" pitchFamily="49" charset="-122"/>
              </a:rPr>
              <a:t>intervals</a:t>
            </a:r>
            <a:r>
              <a:rPr lang="zh-CN" altLang="zh-CN">
                <a:solidFill>
                  <a:srgbClr val="0000FF"/>
                </a:solidFill>
                <a:latin typeface="Consolas" pitchFamily="49" charset="0"/>
                <a:ea typeface="仿宋" pitchFamily="49" charset="-122"/>
              </a:rPr>
              <a:t>中最多兼容区间的个数</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300"/>
              </a:lnSpc>
              <a:spcBef>
                <a:spcPts val="600"/>
              </a:spcBef>
              <a:buBlip>
                <a:blip r:embed="rId3"/>
              </a:buBlip>
            </a:pPr>
            <a:r>
              <a:rPr lang="zh-CN" altLang="en-US">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n-ans</a:t>
            </a:r>
            <a:r>
              <a:rPr lang="zh-CN" altLang="zh-CN">
                <a:solidFill>
                  <a:srgbClr val="0000FF"/>
                </a:solidFill>
                <a:latin typeface="Consolas" pitchFamily="49" charset="0"/>
                <a:ea typeface="仿宋" pitchFamily="49" charset="-122"/>
              </a:rPr>
              <a:t>就是使剩余区间互不重叠需要移除区间的最小数量。</a:t>
            </a:r>
            <a:endParaRPr lang="zh-CN" altLang="zh-CN">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285720" y="571480"/>
            <a:ext cx="1143008"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解法</a:t>
            </a:r>
            <a:r>
              <a:rPr lang="en-US" altLang="zh-CN">
                <a:solidFill>
                  <a:srgbClr val="FF0000"/>
                </a:solidFill>
                <a:latin typeface="Consolas" pitchFamily="49" charset="0"/>
                <a:ea typeface="微软雅黑" pitchFamily="34" charset="-122"/>
                <a:cs typeface="Consolas" pitchFamily="49" charset="0"/>
              </a:rPr>
              <a:t>1</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20</a:t>
            </a:fld>
            <a:r>
              <a:rPr lang="en-US" altLang="zh-CN"/>
              <a:t>/109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01147"/>
            <a:ext cx="8643998" cy="20134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struct Cmp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a:t>
            </a:r>
            <a:r>
              <a:rPr lang="en-US" altLang="zh-CN" sz="2000">
                <a:solidFill>
                  <a:srgbClr val="0000FF"/>
                </a:solidFill>
                <a:latin typeface="Consolas" pitchFamily="49" charset="0"/>
                <a:ea typeface="仿宋" pitchFamily="49" charset="-122"/>
              </a:rPr>
              <a:t>(const Interval &amp;a, const Interval &amp;b)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a.end&lt;b.end;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用于按右端点递增排序</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21</a:t>
            </a:fld>
            <a:r>
              <a:rPr lang="en-US" altLang="zh-CN"/>
              <a:t>/109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142852"/>
            <a:ext cx="8715436" cy="565414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5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eraseOverlapIntervals</a:t>
            </a:r>
            <a:r>
              <a:rPr lang="en-US" altLang="zh-CN" sz="2000">
                <a:solidFill>
                  <a:srgbClr val="0000FF"/>
                </a:solidFill>
                <a:latin typeface="Consolas" pitchFamily="49" charset="0"/>
                <a:ea typeface="仿宋" pitchFamily="49" charset="-122"/>
              </a:rPr>
              <a:t>(vector&lt;Interval&gt; &amp;intervals)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n=intervals.size();</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if(n&lt;=1) return 0;</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(intervals.begin(),intervals.end(),Cmp());</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ans=1;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表示兼容区间的个数，初始为</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preend=intervals[0].end;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存放区间</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的右端点</a:t>
            </a:r>
          </a:p>
          <a:p>
            <a:pPr algn="l" defTabSz="360000">
              <a:lnSpc>
                <a:spcPts val="2500"/>
              </a:lnSpc>
              <a:spcBef>
                <a:spcPts val="0"/>
              </a:spcBef>
            </a:pPr>
            <a:r>
              <a:rPr lang="en-US" altLang="zh-CN" sz="2000">
                <a:solidFill>
                  <a:srgbClr val="0000FF"/>
                </a:solidFill>
                <a:latin typeface="Consolas" pitchFamily="49" charset="0"/>
                <a:ea typeface="仿宋" pitchFamily="49" charset="-122"/>
              </a:rPr>
              <a:t>    	for (int i=1;i&lt;n;i++)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遍历</a:t>
            </a:r>
            <a:r>
              <a:rPr lang="en-US" altLang="zh-CN" sz="2000">
                <a:solidFill>
                  <a:srgbClr val="00B0F0"/>
                </a:solidFill>
                <a:latin typeface="Consolas" pitchFamily="49" charset="0"/>
                <a:ea typeface="仿宋" pitchFamily="49" charset="-122"/>
              </a:rPr>
              <a:t>intervals</a:t>
            </a:r>
            <a:endParaRPr lang="zh-CN" altLang="zh-CN" sz="2000">
              <a:solidFill>
                <a:srgbClr val="00B0F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intervals[i].start&gt;=preend</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当前区间是兼容区间</a:t>
            </a:r>
          </a:p>
          <a:p>
            <a:pPr algn="l" defTabSz="360000">
              <a:lnSpc>
                <a:spcPts val="2500"/>
              </a:lnSpc>
              <a:spcBef>
                <a:spcPts val="0"/>
              </a:spcBef>
            </a:pPr>
            <a:r>
              <a:rPr lang="en-US" altLang="zh-CN" sz="2000">
                <a:solidFill>
                  <a:srgbClr val="0000FF"/>
                </a:solidFill>
                <a:latin typeface="Consolas" pitchFamily="49" charset="0"/>
                <a:ea typeface="仿宋" pitchFamily="49" charset="-122"/>
              </a:rPr>
              <a:t>        	ans++;</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preend=intervals[i].end;</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return n-ans;</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4" name="组合 9"/>
          <p:cNvGrpSpPr/>
          <p:nvPr/>
        </p:nvGrpSpPr>
        <p:grpSpPr>
          <a:xfrm>
            <a:off x="428596" y="6072206"/>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41ms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4.01MB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22</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1500174"/>
            <a:ext cx="8715436" cy="185884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也可以用</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表示需要移除区间的最小数量（初始为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若当前区间</a:t>
            </a:r>
            <a:r>
              <a:rPr lang="en-US" altLang="zh-CN">
                <a:solidFill>
                  <a:srgbClr val="0000FF"/>
                </a:solidFill>
                <a:latin typeface="Consolas" pitchFamily="49" charset="0"/>
                <a:ea typeface="仿宋" pitchFamily="49" charset="-122"/>
              </a:rPr>
              <a:t>interval[</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与前面以</a:t>
            </a:r>
            <a:r>
              <a:rPr lang="en-US" altLang="zh-CN">
                <a:solidFill>
                  <a:srgbClr val="0000FF"/>
                </a:solidFill>
                <a:latin typeface="Consolas" pitchFamily="49" charset="0"/>
                <a:ea typeface="仿宋" pitchFamily="49" charset="-122"/>
              </a:rPr>
              <a:t>preend</a:t>
            </a:r>
            <a:r>
              <a:rPr lang="zh-CN" altLang="zh-CN">
                <a:solidFill>
                  <a:srgbClr val="0000FF"/>
                </a:solidFill>
                <a:latin typeface="Consolas" pitchFamily="49" charset="0"/>
                <a:ea typeface="仿宋" pitchFamily="49" charset="-122"/>
              </a:rPr>
              <a:t>结尾的区段相交（</a:t>
            </a:r>
            <a:r>
              <a:rPr lang="en-US" altLang="zh-CN">
                <a:solidFill>
                  <a:srgbClr val="0000FF"/>
                </a:solidFill>
                <a:latin typeface="Consolas" pitchFamily="49" charset="0"/>
                <a:ea typeface="仿宋" pitchFamily="49" charset="-122"/>
              </a:rPr>
              <a:t>intervals[i].start&lt;preend</a:t>
            </a:r>
            <a:r>
              <a:rPr lang="zh-CN" altLang="zh-CN">
                <a:solidFill>
                  <a:srgbClr val="0000FF"/>
                </a:solidFill>
                <a:latin typeface="Consolas" pitchFamily="49" charset="0"/>
                <a:ea typeface="仿宋" pitchFamily="49" charset="-122"/>
              </a:rPr>
              <a:t>），则删除之，置</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；否则表示不相交，置</a:t>
            </a:r>
            <a:r>
              <a:rPr lang="en-US" altLang="zh-CN">
                <a:solidFill>
                  <a:srgbClr val="0000FF"/>
                </a:solidFill>
                <a:latin typeface="Consolas" pitchFamily="49" charset="0"/>
                <a:ea typeface="仿宋" pitchFamily="49" charset="-122"/>
              </a:rPr>
              <a:t>preend=intervals[i].end</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23</a:t>
            </a:fld>
            <a:r>
              <a:rPr lang="en-US" altLang="zh-CN"/>
              <a:t>/109</a:t>
            </a:r>
          </a:p>
        </p:txBody>
      </p:sp>
      <p:sp>
        <p:nvSpPr>
          <p:cNvPr id="6" name="TextBox 5"/>
          <p:cNvSpPr txBox="1"/>
          <p:nvPr/>
        </p:nvSpPr>
        <p:spPr>
          <a:xfrm>
            <a:off x="285720" y="571480"/>
            <a:ext cx="1143008"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解法</a:t>
            </a:r>
            <a:r>
              <a:rPr lang="en-US" altLang="zh-CN">
                <a:solidFill>
                  <a:srgbClr val="FF0000"/>
                </a:solidFill>
                <a:latin typeface="Consolas" pitchFamily="49" charset="0"/>
                <a:ea typeface="微软雅黑" pitchFamily="34" charset="-122"/>
                <a:cs typeface="Consolas" pitchFamily="49" charset="0"/>
              </a:rPr>
              <a:t>2</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01147"/>
            <a:ext cx="8643998" cy="20134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struct Cmp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a:t>
            </a:r>
            <a:r>
              <a:rPr lang="en-US" altLang="zh-CN" sz="2000">
                <a:solidFill>
                  <a:srgbClr val="0000FF"/>
                </a:solidFill>
                <a:latin typeface="Consolas" pitchFamily="49" charset="0"/>
                <a:ea typeface="仿宋" pitchFamily="49" charset="-122"/>
              </a:rPr>
              <a:t>(const Interval &amp;a, const Interval &amp;b)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a.end&lt;b.end;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用于按右端点递增排序</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24</a:t>
            </a:fld>
            <a:r>
              <a:rPr lang="en-US" altLang="zh-CN"/>
              <a:t>/109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142852"/>
            <a:ext cx="8715436" cy="56683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5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eraseOverlapIntervals</a:t>
            </a:r>
            <a:r>
              <a:rPr lang="en-US" altLang="zh-CN" sz="2000">
                <a:solidFill>
                  <a:srgbClr val="0000FF"/>
                </a:solidFill>
                <a:latin typeface="Consolas" pitchFamily="49" charset="0"/>
                <a:ea typeface="仿宋" pitchFamily="49" charset="-122"/>
              </a:rPr>
              <a:t>(vector&lt;Interval&gt; &amp;intervals)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n=intervals.size();</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if(n&lt;=1) return 0;</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(intervals.begin(),intervals.end(),Cmp());</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ans=0;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存放答案</a:t>
            </a:r>
          </a:p>
          <a:p>
            <a:pPr algn="l" defTabSz="360000">
              <a:lnSpc>
                <a:spcPts val="2500"/>
              </a:lnSpc>
              <a:spcBef>
                <a:spcPts val="0"/>
              </a:spcBef>
            </a:pPr>
            <a:r>
              <a:rPr lang="en-US" altLang="zh-CN" sz="2000">
                <a:solidFill>
                  <a:srgbClr val="0000FF"/>
                </a:solidFill>
                <a:latin typeface="Consolas" pitchFamily="49" charset="0"/>
                <a:ea typeface="仿宋" pitchFamily="49" charset="-122"/>
              </a:rPr>
              <a:t>     	int preend=intervals[0].end;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存放区间</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的右端点</a:t>
            </a:r>
          </a:p>
          <a:p>
            <a:pPr algn="l" defTabSz="360000">
              <a:lnSpc>
                <a:spcPts val="2500"/>
              </a:lnSpc>
              <a:spcBef>
                <a:spcPts val="0"/>
              </a:spcBef>
            </a:pPr>
            <a:r>
              <a:rPr lang="en-US" altLang="zh-CN" sz="2000">
                <a:solidFill>
                  <a:srgbClr val="0000FF"/>
                </a:solidFill>
                <a:latin typeface="Consolas" pitchFamily="49" charset="0"/>
                <a:ea typeface="仿宋" pitchFamily="49" charset="-122"/>
              </a:rPr>
              <a:t>     	for(int i=1;i&lt;n;i++)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遍历</a:t>
            </a:r>
            <a:r>
              <a:rPr lang="en-US" altLang="zh-CN" sz="2000">
                <a:solidFill>
                  <a:srgbClr val="00B0F0"/>
                </a:solidFill>
                <a:latin typeface="Consolas" pitchFamily="49" charset="0"/>
                <a:ea typeface="仿宋" pitchFamily="49" charset="-122"/>
              </a:rPr>
              <a:t>intervals</a:t>
            </a:r>
            <a:endParaRPr lang="zh-CN" altLang="zh-CN" sz="2000">
              <a:solidFill>
                <a:srgbClr val="00B0F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intervals[i].start&lt;preend</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当前区间不是兼容</a:t>
            </a:r>
          </a:p>
          <a:p>
            <a:pPr algn="l" defTabSz="360000">
              <a:lnSpc>
                <a:spcPts val="2500"/>
              </a:lnSpc>
              <a:spcBef>
                <a:spcPts val="0"/>
              </a:spcBef>
            </a:pPr>
            <a:r>
              <a:rPr lang="en-US" altLang="zh-CN" sz="2000">
                <a:solidFill>
                  <a:srgbClr val="0000FF"/>
                </a:solidFill>
                <a:latin typeface="Consolas" pitchFamily="49" charset="0"/>
                <a:ea typeface="仿宋" pitchFamily="49" charset="-122"/>
              </a:rPr>
              <a:t>        	ans++;</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preend=intervals[i].end;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当前区间是兼容</a:t>
            </a: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428596" y="6072206"/>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41ms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5.42MB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25</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12686"/>
            <a:ext cx="3357586"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Consolas" pitchFamily="49" charset="0"/>
                <a:ea typeface="微软雅黑" pitchFamily="34" charset="-122"/>
              </a:rPr>
              <a:t>8.2.2 </a:t>
            </a:r>
            <a:r>
              <a:rPr lang="zh-CN" altLang="zh-CN" sz="2800">
                <a:latin typeface="Consolas" pitchFamily="49" charset="0"/>
                <a:ea typeface="微软雅黑" pitchFamily="34" charset="-122"/>
              </a:rPr>
              <a:t>区间</a:t>
            </a:r>
            <a:r>
              <a:rPr lang="zh-CN" altLang="en-US" sz="2800">
                <a:latin typeface="Consolas" pitchFamily="49" charset="0"/>
                <a:ea typeface="微软雅黑" pitchFamily="34" charset="-122"/>
              </a:rPr>
              <a:t>合并</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142844" y="1068201"/>
            <a:ext cx="8929718" cy="5504071"/>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8.3</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合并区间（</a:t>
            </a:r>
            <a:r>
              <a:rPr lang="en-US" altLang="zh-CN">
                <a:solidFill>
                  <a:srgbClr val="0000FF"/>
                </a:solidFill>
                <a:latin typeface="Consolas" pitchFamily="49" charset="0"/>
                <a:ea typeface="仿宋" pitchFamily="49" charset="-122"/>
              </a:rPr>
              <a:t>LintCode156</a:t>
            </a:r>
            <a:r>
              <a:rPr lang="zh-CN" altLang="zh-CN">
                <a:solidFill>
                  <a:srgbClr val="0000FF"/>
                </a:solidFill>
                <a:latin typeface="Consolas" pitchFamily="49" charset="0"/>
                <a:ea typeface="仿宋" pitchFamily="49" charset="-122"/>
              </a:rPr>
              <a:t>★）。给出若干闭合区间</a:t>
            </a:r>
            <a:r>
              <a:rPr lang="en-US" altLang="zh-CN">
                <a:solidFill>
                  <a:srgbClr val="0000FF"/>
                </a:solidFill>
                <a:latin typeface="Consolas" pitchFamily="49" charset="0"/>
                <a:ea typeface="仿宋" pitchFamily="49" charset="-122"/>
              </a:rPr>
              <a:t>intervals</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class </a:t>
            </a:r>
            <a:r>
              <a:rPr lang="en-US" altLang="zh-CN" sz="2000">
                <a:solidFill>
                  <a:srgbClr val="FF0000"/>
                </a:solidFill>
                <a:latin typeface="Consolas" pitchFamily="49" charset="0"/>
                <a:ea typeface="仿宋" pitchFamily="49" charset="-122"/>
              </a:rPr>
              <a:t>Interval</a:t>
            </a:r>
            <a:r>
              <a:rPr lang="en-US" altLang="zh-CN" sz="2000">
                <a:solidFill>
                  <a:srgbClr val="006600"/>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区间的类型</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public:</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int start, 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会议开始时间和结束时间</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	Interval(int start, int end)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构造函数</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		this-&gt;start = start;</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this-&gt;end = end;</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zh-CN" altLang="zh-CN">
                <a:solidFill>
                  <a:srgbClr val="0000FF"/>
                </a:solidFill>
                <a:latin typeface="Consolas" pitchFamily="49" charset="0"/>
                <a:ea typeface="仿宋" pitchFamily="49" charset="-122"/>
              </a:rPr>
              <a:t>合并所有重叠的部分，注意</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可以合并为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2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intervals={[1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[8</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18]}</a:t>
            </a:r>
            <a:r>
              <a:rPr lang="zh-CN" altLang="zh-CN">
                <a:solidFill>
                  <a:srgbClr val="0000FF"/>
                </a:solidFill>
                <a:latin typeface="Consolas" pitchFamily="49" charset="0"/>
                <a:ea typeface="仿宋" pitchFamily="49" charset="-122"/>
              </a:rPr>
              <a:t>，输出结果是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[8</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18]}</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2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defTabSz="360000">
              <a:lnSpc>
                <a:spcPts val="3200"/>
              </a:lnSpc>
              <a:spcBef>
                <a:spcPts val="0"/>
              </a:spcBef>
            </a:pPr>
            <a:r>
              <a:rPr lang="en-US" altLang="zh-CN" sz="2000">
                <a:solidFill>
                  <a:srgbClr val="006600"/>
                </a:solidFill>
                <a:latin typeface="Consolas" pitchFamily="49" charset="0"/>
                <a:ea typeface="仿宋" pitchFamily="49" charset="-122"/>
              </a:rPr>
              <a:t>    vector&lt;Interval&gt; merge(vector&lt;Interval&gt; &amp;intervals) {}</a:t>
            </a:r>
            <a:endParaRPr lang="zh-CN" altLang="en-US" sz="2000">
              <a:solidFill>
                <a:srgbClr val="006600"/>
              </a:solidFill>
              <a:latin typeface="Consolas" pitchFamily="49" charset="0"/>
              <a:ea typeface="仿宋" pitchFamily="49" charset="-122"/>
              <a:cs typeface="Consolas" pitchFamily="49" charset="0"/>
            </a:endParaRPr>
          </a:p>
        </p:txBody>
      </p:sp>
      <p:grpSp>
        <p:nvGrpSpPr>
          <p:cNvPr id="6" name="组合 5"/>
          <p:cNvGrpSpPr/>
          <p:nvPr/>
        </p:nvGrpSpPr>
        <p:grpSpPr>
          <a:xfrm>
            <a:off x="4071934" y="0"/>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9" name="灯片编号占位符 8"/>
          <p:cNvSpPr>
            <a:spLocks noGrp="1"/>
          </p:cNvSpPr>
          <p:nvPr>
            <p:ph type="sldNum" sz="quarter" idx="12"/>
          </p:nvPr>
        </p:nvSpPr>
        <p:spPr/>
        <p:txBody>
          <a:bodyPr/>
          <a:lstStyle/>
          <a:p>
            <a:fld id="{7AF016A1-9F15-429F-9EFD-84004B73C732}" type="slidenum">
              <a:rPr lang="en-US" altLang="zh-CN" smtClean="0"/>
              <a:pPr/>
              <a:t>26</a:t>
            </a:fld>
            <a:r>
              <a:rPr lang="en-US" altLang="zh-CN"/>
              <a:t>/109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85720" y="1357298"/>
            <a:ext cx="8715436" cy="2298065"/>
          </a:xfrm>
          <a:prstGeom prst="rect">
            <a:avLst/>
          </a:prstGeom>
          <a:solidFill>
            <a:schemeClr val="bg1"/>
          </a:solidFill>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存放最终合并的结果（初始为空）</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先将全部区间按照左端点递增排序，将区间</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添加到</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中</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用</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从</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开始遍历</a:t>
            </a:r>
            <a:r>
              <a:rPr lang="en-US" altLang="zh-CN">
                <a:solidFill>
                  <a:srgbClr val="0000FF"/>
                </a:solidFill>
                <a:latin typeface="Consolas" pitchFamily="49" charset="0"/>
                <a:ea typeface="仿宋" pitchFamily="49" charset="-122"/>
              </a:rPr>
              <a:t>intervals</a:t>
            </a:r>
            <a:r>
              <a:rPr lang="zh-CN" altLang="zh-CN">
                <a:solidFill>
                  <a:srgbClr val="0000FF"/>
                </a:solidFill>
                <a:latin typeface="Consolas" pitchFamily="49" charset="0"/>
                <a:ea typeface="仿宋" pitchFamily="49" charset="-122"/>
              </a:rPr>
              <a:t>，设当前区间为</a:t>
            </a:r>
            <a:r>
              <a:rPr lang="en-US" altLang="zh-CN">
                <a:solidFill>
                  <a:srgbClr val="0000FF"/>
                </a:solidFill>
                <a:latin typeface="Consolas" pitchFamily="49" charset="0"/>
                <a:ea typeface="仿宋" pitchFamily="49" charset="-122"/>
              </a:rPr>
              <a:t>[curs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cure]</a:t>
            </a:r>
            <a:r>
              <a:rPr lang="zh-CN" altLang="zh-CN">
                <a:solidFill>
                  <a:srgbClr val="0000FF"/>
                </a:solidFill>
                <a:latin typeface="Consolas" pitchFamily="49" charset="0"/>
                <a:ea typeface="仿宋" pitchFamily="49" charset="-122"/>
              </a:rPr>
              <a:t>，而当前的合并区间为</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中末尾区间即</a:t>
            </a:r>
            <a:r>
              <a:rPr lang="en-US" altLang="zh-CN">
                <a:solidFill>
                  <a:srgbClr val="0000FF"/>
                </a:solidFill>
                <a:latin typeface="Consolas" pitchFamily="49" charset="0"/>
                <a:ea typeface="仿宋" pitchFamily="49" charset="-122"/>
              </a:rPr>
              <a:t>ans.back()</a:t>
            </a:r>
            <a:r>
              <a:rPr lang="zh-CN" altLang="zh-CN">
                <a:solidFill>
                  <a:srgbClr val="0000FF"/>
                </a:solidFill>
                <a:latin typeface="Consolas" pitchFamily="49" charset="0"/>
                <a:ea typeface="仿宋" pitchFamily="49" charset="-122"/>
              </a:rPr>
              <a:t>，分为如下两种情况</a:t>
            </a:r>
            <a:r>
              <a:rPr lang="zh-CN" altLang="en-US">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endParaRPr>
          </a:p>
        </p:txBody>
      </p:sp>
      <p:sp>
        <p:nvSpPr>
          <p:cNvPr id="4" name="TextBox 3"/>
          <p:cNvSpPr txBox="1"/>
          <p:nvPr/>
        </p:nvSpPr>
        <p:spPr>
          <a:xfrm>
            <a:off x="285720" y="714356"/>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27</a:t>
            </a:fld>
            <a:r>
              <a:rPr lang="en-US" altLang="zh-CN"/>
              <a:t>/109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14356"/>
            <a:ext cx="8215370" cy="1246495"/>
          </a:xfrm>
          <a:prstGeom prst="rect">
            <a:avLst/>
          </a:prstGeom>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）若</a:t>
            </a:r>
            <a:r>
              <a:rPr lang="en-US" altLang="zh-CN" sz="2200">
                <a:solidFill>
                  <a:srgbClr val="0000FF"/>
                </a:solidFill>
                <a:latin typeface="Consolas" pitchFamily="49" charset="0"/>
                <a:ea typeface="仿宋" pitchFamily="49" charset="-122"/>
              </a:rPr>
              <a:t>ans.back().end&lt;curs</a:t>
            </a:r>
            <a:r>
              <a:rPr lang="zh-CN" altLang="zh-CN" sz="2200">
                <a:solidFill>
                  <a:srgbClr val="0000FF"/>
                </a:solidFill>
                <a:latin typeface="Consolas" pitchFamily="49" charset="0"/>
                <a:ea typeface="仿宋" pitchFamily="49" charset="-122"/>
              </a:rPr>
              <a:t>，说明当前区间</a:t>
            </a:r>
            <a:r>
              <a:rPr lang="en-US" altLang="zh-CN" sz="2200" i="1">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与当前合并区间不相交，如图</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所示，则从当前区间</a:t>
            </a:r>
            <a:r>
              <a:rPr lang="en-US" altLang="zh-CN" sz="2200" i="1">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开始一个新的合并区间，即将区间</a:t>
            </a:r>
            <a:r>
              <a:rPr lang="en-US" altLang="zh-CN" sz="2200" i="1">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添加到</a:t>
            </a:r>
            <a:r>
              <a:rPr lang="en-US" altLang="zh-CN" sz="2200">
                <a:solidFill>
                  <a:srgbClr val="0000FF"/>
                </a:solidFill>
                <a:latin typeface="Consolas" pitchFamily="49" charset="0"/>
                <a:ea typeface="仿宋" pitchFamily="49" charset="-122"/>
              </a:rPr>
              <a:t>ans</a:t>
            </a:r>
            <a:r>
              <a:rPr lang="zh-CN" altLang="zh-CN" sz="2200">
                <a:solidFill>
                  <a:srgbClr val="0000FF"/>
                </a:solidFill>
                <a:latin typeface="Consolas" pitchFamily="49" charset="0"/>
                <a:ea typeface="仿宋" pitchFamily="49" charset="-122"/>
              </a:rPr>
              <a:t>中。</a:t>
            </a:r>
          </a:p>
        </p:txBody>
      </p:sp>
      <p:grpSp>
        <p:nvGrpSpPr>
          <p:cNvPr id="4" name="组合 3"/>
          <p:cNvGrpSpPr/>
          <p:nvPr/>
        </p:nvGrpSpPr>
        <p:grpSpPr>
          <a:xfrm>
            <a:off x="1643042" y="2503100"/>
            <a:ext cx="5072098" cy="1997470"/>
            <a:chOff x="1643042" y="574274"/>
            <a:chExt cx="5072098" cy="1997470"/>
          </a:xfrm>
        </p:grpSpPr>
        <p:sp>
          <p:nvSpPr>
            <p:cNvPr id="5" name="Rectangle 17"/>
            <p:cNvSpPr>
              <a:spLocks noChangeArrowheads="1"/>
            </p:cNvSpPr>
            <p:nvPr/>
          </p:nvSpPr>
          <p:spPr bwMode="auto">
            <a:xfrm>
              <a:off x="2380532" y="1010086"/>
              <a:ext cx="1827745" cy="32805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6" name="Rectangle 16"/>
            <p:cNvSpPr>
              <a:spLocks noChangeArrowheads="1"/>
            </p:cNvSpPr>
            <p:nvPr/>
          </p:nvSpPr>
          <p:spPr bwMode="auto">
            <a:xfrm>
              <a:off x="4278520" y="1831423"/>
              <a:ext cx="793545" cy="286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curs</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 name="Rectangle 15"/>
            <p:cNvSpPr>
              <a:spLocks noChangeArrowheads="1"/>
            </p:cNvSpPr>
            <p:nvPr/>
          </p:nvSpPr>
          <p:spPr bwMode="auto">
            <a:xfrm>
              <a:off x="1643042" y="2286790"/>
              <a:ext cx="4857784" cy="2849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ans.back().end&lt;curs</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zh-CN" altLang="en-US" sz="2000" i="0" u="none" strike="noStrike" cap="none" normalizeH="0" baseline="0">
                  <a:ln>
                    <a:noFill/>
                  </a:ln>
                  <a:solidFill>
                    <a:srgbClr val="FF0000"/>
                  </a:solidFill>
                  <a:effectLst/>
                  <a:latin typeface="Consolas" pitchFamily="49" charset="0"/>
                  <a:ea typeface="仿宋" pitchFamily="49" charset="-122"/>
                  <a:cs typeface="Times New Roman" pitchFamily="18" charset="0"/>
                </a:rPr>
                <a:t>不相交</a:t>
              </a:r>
              <a:endParaRPr kumimoji="0" lang="zh-CN" altLang="en-US" sz="200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8" name="Rectangle 14"/>
            <p:cNvSpPr>
              <a:spLocks noChangeArrowheads="1"/>
            </p:cNvSpPr>
            <p:nvPr/>
          </p:nvSpPr>
          <p:spPr bwMode="auto">
            <a:xfrm>
              <a:off x="4372648" y="1421952"/>
              <a:ext cx="1199765" cy="325661"/>
            </a:xfrm>
            <a:prstGeom prst="rect">
              <a:avLst/>
            </a:prstGeom>
            <a:solidFill>
              <a:srgbClr val="FF0000"/>
            </a:solidFill>
            <a:ln>
              <a:headEnd/>
              <a:tailEnd type="none" w="sm" len="sm"/>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 name="Rectangle 13"/>
            <p:cNvSpPr>
              <a:spLocks noChangeArrowheads="1"/>
            </p:cNvSpPr>
            <p:nvPr/>
          </p:nvSpPr>
          <p:spPr bwMode="auto">
            <a:xfrm>
              <a:off x="4277116" y="574274"/>
              <a:ext cx="2438024" cy="28854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ans.back().end</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AutoShape 12"/>
            <p:cNvSpPr>
              <a:spLocks noChangeShapeType="1"/>
            </p:cNvSpPr>
            <p:nvPr/>
          </p:nvSpPr>
          <p:spPr bwMode="auto">
            <a:xfrm>
              <a:off x="4208277" y="711962"/>
              <a:ext cx="1405" cy="1221231"/>
            </a:xfrm>
            <a:prstGeom prst="straightConnector1">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 name="Rectangle 11"/>
            <p:cNvSpPr>
              <a:spLocks noChangeArrowheads="1"/>
            </p:cNvSpPr>
            <p:nvPr/>
          </p:nvSpPr>
          <p:spPr bwMode="auto">
            <a:xfrm>
              <a:off x="2380532" y="574274"/>
              <a:ext cx="1663374" cy="28854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当前合并区间</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Rectangle 10"/>
            <p:cNvSpPr>
              <a:spLocks noChangeArrowheads="1"/>
            </p:cNvSpPr>
            <p:nvPr/>
          </p:nvSpPr>
          <p:spPr bwMode="auto">
            <a:xfrm>
              <a:off x="5311106" y="1817056"/>
              <a:ext cx="832530" cy="286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cure</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14" name="灯片编号占位符 13"/>
          <p:cNvSpPr>
            <a:spLocks noGrp="1"/>
          </p:cNvSpPr>
          <p:nvPr>
            <p:ph type="sldNum" sz="quarter" idx="12"/>
          </p:nvPr>
        </p:nvSpPr>
        <p:spPr/>
        <p:txBody>
          <a:bodyPr/>
          <a:lstStyle/>
          <a:p>
            <a:fld id="{7AF016A1-9F15-429F-9EFD-84004B73C732}" type="slidenum">
              <a:rPr lang="en-US" altLang="zh-CN" smtClean="0"/>
              <a:pPr/>
              <a:t>28</a:t>
            </a:fld>
            <a:r>
              <a:rPr lang="en-US" altLang="zh-CN"/>
              <a:t>/109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19" name="Rectangle 1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22"/>
          <p:cNvGrpSpPr/>
          <p:nvPr/>
        </p:nvGrpSpPr>
        <p:grpSpPr>
          <a:xfrm>
            <a:off x="1857356" y="1785926"/>
            <a:ext cx="4429156" cy="1925234"/>
            <a:chOff x="2143108" y="4003298"/>
            <a:chExt cx="4429156" cy="1925234"/>
          </a:xfrm>
        </p:grpSpPr>
        <p:sp>
          <p:nvSpPr>
            <p:cNvPr id="25609" name="Rectangle 9"/>
            <p:cNvSpPr>
              <a:spLocks noChangeArrowheads="1"/>
            </p:cNvSpPr>
            <p:nvPr/>
          </p:nvSpPr>
          <p:spPr bwMode="auto">
            <a:xfrm>
              <a:off x="2380532" y="4439110"/>
              <a:ext cx="1827745" cy="32805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608" name="Rectangle 8"/>
            <p:cNvSpPr>
              <a:spLocks noChangeArrowheads="1"/>
            </p:cNvSpPr>
            <p:nvPr/>
          </p:nvSpPr>
          <p:spPr bwMode="auto">
            <a:xfrm>
              <a:off x="3608394" y="5260447"/>
              <a:ext cx="749291" cy="286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curs</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5607" name="Rectangle 7"/>
            <p:cNvSpPr>
              <a:spLocks noChangeArrowheads="1"/>
            </p:cNvSpPr>
            <p:nvPr/>
          </p:nvSpPr>
          <p:spPr bwMode="auto">
            <a:xfrm>
              <a:off x="2143108" y="5643578"/>
              <a:ext cx="4429156" cy="2849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 ans.back().end</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curs</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zh-CN" altLang="en-US" sz="2000" i="0" u="none" strike="noStrike" cap="none" normalizeH="0" baseline="0">
                  <a:ln>
                    <a:noFill/>
                  </a:ln>
                  <a:solidFill>
                    <a:srgbClr val="FF0000"/>
                  </a:solidFill>
                  <a:effectLst/>
                  <a:latin typeface="Consolas" pitchFamily="49" charset="0"/>
                  <a:ea typeface="仿宋" pitchFamily="49" charset="-122"/>
                  <a:cs typeface="Times New Roman" pitchFamily="18" charset="0"/>
                </a:rPr>
                <a:t>相交</a:t>
              </a:r>
              <a:endParaRPr kumimoji="0" lang="zh-CN" altLang="en-US" sz="200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25606" name="Rectangle 6"/>
            <p:cNvSpPr>
              <a:spLocks noChangeArrowheads="1"/>
            </p:cNvSpPr>
            <p:nvPr/>
          </p:nvSpPr>
          <p:spPr bwMode="auto">
            <a:xfrm>
              <a:off x="3702522" y="4850976"/>
              <a:ext cx="1199765" cy="325661"/>
            </a:xfrm>
            <a:prstGeom prst="rect">
              <a:avLst/>
            </a:prstGeom>
            <a:solidFill>
              <a:srgbClr val="FF0000"/>
            </a:solidFill>
            <a:ln>
              <a:headEnd/>
              <a:tailEnd type="none" w="sm" len="sm"/>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605" name="Rectangle 5"/>
            <p:cNvSpPr>
              <a:spLocks noChangeArrowheads="1"/>
            </p:cNvSpPr>
            <p:nvPr/>
          </p:nvSpPr>
          <p:spPr bwMode="auto">
            <a:xfrm>
              <a:off x="4277116" y="4003298"/>
              <a:ext cx="2009395" cy="28854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ans.back().end</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5604" name="AutoShape 4"/>
            <p:cNvSpPr>
              <a:spLocks noChangeShapeType="1"/>
            </p:cNvSpPr>
            <p:nvPr/>
          </p:nvSpPr>
          <p:spPr bwMode="auto">
            <a:xfrm>
              <a:off x="4208278" y="4140986"/>
              <a:ext cx="1405" cy="1221231"/>
            </a:xfrm>
            <a:prstGeom prst="straightConnector1">
              <a:avLst/>
            </a:prstGeom>
            <a:noFill/>
            <a:ln w="28575">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603" name="Rectangle 3"/>
            <p:cNvSpPr>
              <a:spLocks noChangeArrowheads="1"/>
            </p:cNvSpPr>
            <p:nvPr/>
          </p:nvSpPr>
          <p:spPr bwMode="auto">
            <a:xfrm>
              <a:off x="2380532" y="4003298"/>
              <a:ext cx="1663374" cy="28854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当前合并区间</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5602" name="Rectangle 2"/>
            <p:cNvSpPr>
              <a:spLocks noChangeArrowheads="1"/>
            </p:cNvSpPr>
            <p:nvPr/>
          </p:nvSpPr>
          <p:spPr bwMode="auto">
            <a:xfrm>
              <a:off x="4640980" y="5246080"/>
              <a:ext cx="788276" cy="286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cure</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24" name="TextBox 23"/>
          <p:cNvSpPr txBox="1"/>
          <p:nvPr/>
        </p:nvSpPr>
        <p:spPr>
          <a:xfrm>
            <a:off x="214282" y="214290"/>
            <a:ext cx="8786874" cy="124649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）若</a:t>
            </a:r>
            <a:r>
              <a:rPr lang="en-US" altLang="zh-CN" sz="2200">
                <a:solidFill>
                  <a:srgbClr val="0000FF"/>
                </a:solidFill>
                <a:latin typeface="Consolas" pitchFamily="49" charset="0"/>
                <a:ea typeface="仿宋" pitchFamily="49" charset="-122"/>
              </a:rPr>
              <a:t>ans.back().end</a:t>
            </a:r>
            <a:r>
              <a:rPr lang="zh-CN" altLang="zh-CN" sz="2200">
                <a:solidFill>
                  <a:srgbClr val="0000FF"/>
                </a:solidFill>
                <a:latin typeface="+mj-ea"/>
                <a:ea typeface="+mj-ea"/>
              </a:rPr>
              <a:t>≥</a:t>
            </a:r>
            <a:r>
              <a:rPr lang="en-US" altLang="zh-CN" sz="2200">
                <a:solidFill>
                  <a:srgbClr val="0000FF"/>
                </a:solidFill>
                <a:latin typeface="Consolas" pitchFamily="49" charset="0"/>
                <a:ea typeface="仿宋" pitchFamily="49" charset="-122"/>
              </a:rPr>
              <a:t>curs</a:t>
            </a:r>
            <a:r>
              <a:rPr lang="en-US" altLang="zh-CN" sz="2200">
                <a:solidFill>
                  <a:srgbClr val="0000FF"/>
                </a:solidFill>
                <a:latin typeface="Consolas" pitchFamily="49" charset="0"/>
                <a:ea typeface="仿宋" pitchFamily="49" charset="-122"/>
                <a:sym typeface="Wingdings"/>
              </a:rPr>
              <a:t></a:t>
            </a:r>
            <a:r>
              <a:rPr lang="zh-CN" altLang="zh-CN" sz="2200">
                <a:solidFill>
                  <a:srgbClr val="0000FF"/>
                </a:solidFill>
                <a:latin typeface="Consolas" pitchFamily="49" charset="0"/>
                <a:ea typeface="仿宋" pitchFamily="49" charset="-122"/>
              </a:rPr>
              <a:t>当前区间</a:t>
            </a:r>
            <a:r>
              <a:rPr lang="en-US" altLang="zh-CN" sz="2200" i="1">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与当前合并区间相交，如图</a:t>
            </a:r>
            <a:r>
              <a:rPr lang="en-US" altLang="zh-CN" sz="2200">
                <a:solidFill>
                  <a:srgbClr val="0000FF"/>
                </a:solidFill>
                <a:latin typeface="Consolas" pitchFamily="49" charset="0"/>
                <a:ea typeface="仿宋" pitchFamily="49" charset="-122"/>
              </a:rPr>
              <a:t>(b)</a:t>
            </a:r>
            <a:r>
              <a:rPr lang="zh-CN" altLang="zh-CN" sz="2200">
                <a:solidFill>
                  <a:srgbClr val="0000FF"/>
                </a:solidFill>
                <a:latin typeface="Consolas" pitchFamily="49" charset="0"/>
                <a:ea typeface="仿宋" pitchFamily="49" charset="-122"/>
              </a:rPr>
              <a:t>所示，则将当前区间</a:t>
            </a:r>
            <a:r>
              <a:rPr lang="en-US" altLang="zh-CN" sz="2200" i="1">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合并到当前合并区间中，同时更新当前合并区间的右端点为最大值即</a:t>
            </a:r>
            <a:r>
              <a:rPr lang="en-US" altLang="zh-CN" sz="2200">
                <a:solidFill>
                  <a:srgbClr val="FF00FF"/>
                </a:solidFill>
                <a:latin typeface="Consolas" pitchFamily="49" charset="0"/>
                <a:ea typeface="仿宋" pitchFamily="49" charset="-122"/>
              </a:rPr>
              <a:t>max(ans.back().end,cure)</a:t>
            </a:r>
            <a:r>
              <a:rPr lang="zh-CN" altLang="zh-CN"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p:txBody>
      </p:sp>
      <p:grpSp>
        <p:nvGrpSpPr>
          <p:cNvPr id="3" name="组合 22"/>
          <p:cNvGrpSpPr/>
          <p:nvPr/>
        </p:nvGrpSpPr>
        <p:grpSpPr>
          <a:xfrm>
            <a:off x="1928794" y="4432724"/>
            <a:ext cx="4429156" cy="1925234"/>
            <a:chOff x="2143108" y="4003298"/>
            <a:chExt cx="4429156" cy="1925234"/>
          </a:xfrm>
        </p:grpSpPr>
        <p:sp>
          <p:nvSpPr>
            <p:cNvPr id="18" name="Rectangle 9"/>
            <p:cNvSpPr>
              <a:spLocks noChangeArrowheads="1"/>
            </p:cNvSpPr>
            <p:nvPr/>
          </p:nvSpPr>
          <p:spPr bwMode="auto">
            <a:xfrm>
              <a:off x="2657153" y="4439110"/>
              <a:ext cx="2905848" cy="32805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 name="Rectangle 8"/>
            <p:cNvSpPr>
              <a:spLocks noChangeArrowheads="1"/>
            </p:cNvSpPr>
            <p:nvPr/>
          </p:nvSpPr>
          <p:spPr bwMode="auto">
            <a:xfrm>
              <a:off x="3679833" y="5260447"/>
              <a:ext cx="749291" cy="286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curs</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0" name="Rectangle 7"/>
            <p:cNvSpPr>
              <a:spLocks noChangeArrowheads="1"/>
            </p:cNvSpPr>
            <p:nvPr/>
          </p:nvSpPr>
          <p:spPr bwMode="auto">
            <a:xfrm>
              <a:off x="2143108" y="5643578"/>
              <a:ext cx="4429156" cy="284954"/>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 ans.back().end</a:t>
              </a:r>
              <a:r>
                <a:rPr kumimoji="0" lang="en-US" altLang="zh-CN" sz="2000" b="0" i="0" u="none" strike="noStrike" cap="none" normalizeH="0" baseline="0">
                  <a:ln>
                    <a:noFill/>
                  </a:ln>
                  <a:solidFill>
                    <a:srgbClr val="0000FF"/>
                  </a:solidFill>
                  <a:effectLst/>
                  <a:latin typeface="+mj-ea"/>
                  <a:ea typeface="+mj-ea"/>
                  <a:cs typeface="Times New Roman" pitchFamily="18" charset="0"/>
                </a:rPr>
                <a:t>≥</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curs</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zh-CN" altLang="en-US" sz="2000" i="0" u="none" strike="noStrike" cap="none" normalizeH="0" baseline="0">
                  <a:ln>
                    <a:noFill/>
                  </a:ln>
                  <a:solidFill>
                    <a:srgbClr val="FF0000"/>
                  </a:solidFill>
                  <a:effectLst/>
                  <a:latin typeface="Consolas" pitchFamily="49" charset="0"/>
                  <a:ea typeface="仿宋" pitchFamily="49" charset="-122"/>
                  <a:cs typeface="Times New Roman" pitchFamily="18" charset="0"/>
                </a:rPr>
                <a:t>相交</a:t>
              </a:r>
              <a:endParaRPr kumimoji="0" lang="zh-CN" altLang="en-US" sz="200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21" name="Rectangle 6"/>
            <p:cNvSpPr>
              <a:spLocks noChangeArrowheads="1"/>
            </p:cNvSpPr>
            <p:nvPr/>
          </p:nvSpPr>
          <p:spPr bwMode="auto">
            <a:xfrm>
              <a:off x="3702522" y="4850976"/>
              <a:ext cx="1199765" cy="325661"/>
            </a:xfrm>
            <a:prstGeom prst="rect">
              <a:avLst/>
            </a:prstGeom>
            <a:solidFill>
              <a:srgbClr val="FF0000"/>
            </a:solidFill>
            <a:ln>
              <a:headEnd/>
              <a:tailEnd type="none" w="sm" len="sm"/>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2" name="Rectangle 5"/>
            <p:cNvSpPr>
              <a:spLocks noChangeArrowheads="1"/>
            </p:cNvSpPr>
            <p:nvPr/>
          </p:nvSpPr>
          <p:spPr bwMode="auto">
            <a:xfrm>
              <a:off x="4062803" y="4003298"/>
              <a:ext cx="2009395" cy="28854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ans.back().end</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3" name="AutoShape 4"/>
            <p:cNvSpPr>
              <a:spLocks noChangeShapeType="1"/>
            </p:cNvSpPr>
            <p:nvPr/>
          </p:nvSpPr>
          <p:spPr bwMode="auto">
            <a:xfrm>
              <a:off x="3991365" y="4140986"/>
              <a:ext cx="1405" cy="1221231"/>
            </a:xfrm>
            <a:prstGeom prst="straightConnector1">
              <a:avLst/>
            </a:prstGeom>
            <a:noFill/>
            <a:ln w="28575">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6" name="Rectangle 3"/>
            <p:cNvSpPr>
              <a:spLocks noChangeArrowheads="1"/>
            </p:cNvSpPr>
            <p:nvPr/>
          </p:nvSpPr>
          <p:spPr bwMode="auto">
            <a:xfrm>
              <a:off x="2265684" y="4003298"/>
              <a:ext cx="1663374" cy="28854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当前合并区间</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7" name="Rectangle 2"/>
            <p:cNvSpPr>
              <a:spLocks noChangeArrowheads="1"/>
            </p:cNvSpPr>
            <p:nvPr/>
          </p:nvSpPr>
          <p:spPr bwMode="auto">
            <a:xfrm>
              <a:off x="4640980" y="5246080"/>
              <a:ext cx="788276" cy="286151"/>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cure</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28" name="矩形 27"/>
          <p:cNvSpPr/>
          <p:nvPr/>
        </p:nvSpPr>
        <p:spPr>
          <a:xfrm>
            <a:off x="1643042" y="1643050"/>
            <a:ext cx="5000660" cy="2357454"/>
          </a:xfrm>
          <a:prstGeom prst="rect">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9" name="矩形 28"/>
          <p:cNvSpPr/>
          <p:nvPr/>
        </p:nvSpPr>
        <p:spPr>
          <a:xfrm>
            <a:off x="1643042" y="4214818"/>
            <a:ext cx="5000660" cy="2357454"/>
          </a:xfrm>
          <a:prstGeom prst="rect">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0" name="灯片编号占位符 29"/>
          <p:cNvSpPr>
            <a:spLocks noGrp="1"/>
          </p:cNvSpPr>
          <p:nvPr>
            <p:ph type="sldNum" sz="quarter" idx="12"/>
          </p:nvPr>
        </p:nvSpPr>
        <p:spPr/>
        <p:txBody>
          <a:bodyPr/>
          <a:lstStyle/>
          <a:p>
            <a:fld id="{7AF016A1-9F15-429F-9EFD-84004B73C732}" type="slidenum">
              <a:rPr lang="en-US" altLang="zh-CN" smtClean="0"/>
              <a:pPr/>
              <a:t>29</a:t>
            </a:fld>
            <a:r>
              <a:rPr lang="en-US" altLang="zh-CN"/>
              <a:t>/8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19" name="Rectangle 1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5" name="TextBox 24"/>
          <p:cNvSpPr txBox="1"/>
          <p:nvPr/>
        </p:nvSpPr>
        <p:spPr>
          <a:xfrm>
            <a:off x="428596" y="2000240"/>
            <a:ext cx="8286808" cy="90665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300"/>
              </a:lnSpc>
              <a:spcBef>
                <a:spcPts val="0"/>
              </a:spcBef>
              <a:buBlip>
                <a:blip r:embed="rId3"/>
              </a:buBlip>
            </a:pPr>
            <a:r>
              <a:rPr lang="zh-CN" altLang="zh-CN">
                <a:solidFill>
                  <a:srgbClr val="FF0000"/>
                </a:solidFill>
                <a:latin typeface="华文中宋" pitchFamily="2" charset="-122"/>
                <a:ea typeface="华文中宋" pitchFamily="2" charset="-122"/>
              </a:rPr>
              <a:t>贪心策略</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每次合并时取最大的右端点，这样就可以合并更多的区间了，到达整体最优的目的。</a:t>
            </a:r>
          </a:p>
        </p:txBody>
      </p:sp>
      <p:sp>
        <p:nvSpPr>
          <p:cNvPr id="15" name="TextBox 14"/>
          <p:cNvSpPr txBox="1"/>
          <p:nvPr/>
        </p:nvSpPr>
        <p:spPr>
          <a:xfrm>
            <a:off x="1285852" y="857232"/>
            <a:ext cx="5715040"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Consolas" pitchFamily="49" charset="0"/>
                <a:ea typeface="仿宋" pitchFamily="49" charset="-122"/>
              </a:rPr>
              <a:t>相交时</a:t>
            </a:r>
            <a:r>
              <a:rPr lang="zh-CN" altLang="en-US">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max(ans.back().end</a:t>
            </a:r>
            <a:r>
              <a:rPr lang="zh-CN" altLang="en-US">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cure)</a:t>
            </a:r>
            <a:endParaRPr lang="zh-CN" altLang="en-US">
              <a:solidFill>
                <a:srgbClr val="0000FF"/>
              </a:solidFill>
              <a:latin typeface="Consolas" pitchFamily="49" charset="0"/>
              <a:ea typeface="楷体" pitchFamily="49" charset="-122"/>
              <a:cs typeface="Consolas" pitchFamily="49" charset="0"/>
            </a:endParaRPr>
          </a:p>
        </p:txBody>
      </p:sp>
      <p:sp>
        <p:nvSpPr>
          <p:cNvPr id="17" name="灯片编号占位符 16"/>
          <p:cNvSpPr>
            <a:spLocks noGrp="1"/>
          </p:cNvSpPr>
          <p:nvPr>
            <p:ph type="sldNum" sz="quarter" idx="12"/>
          </p:nvPr>
        </p:nvSpPr>
        <p:spPr/>
        <p:txBody>
          <a:bodyPr/>
          <a:lstStyle/>
          <a:p>
            <a:fld id="{7AF016A1-9F15-429F-9EFD-84004B73C732}" type="slidenum">
              <a:rPr lang="en-US" altLang="zh-CN" smtClean="0"/>
              <a:pPr/>
              <a:t>30</a:t>
            </a:fld>
            <a:r>
              <a:rPr lang="en-US" altLang="zh-CN"/>
              <a:t>/8</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85728"/>
            <a:ext cx="8501122" cy="214417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3"/>
              </a:buBlip>
            </a:pPr>
            <a:r>
              <a:rPr lang="zh-CN" altLang="zh-CN" sz="2200">
                <a:solidFill>
                  <a:srgbClr val="0000FF"/>
                </a:solidFill>
                <a:latin typeface="Consolas" pitchFamily="49" charset="0"/>
                <a:ea typeface="仿宋" pitchFamily="49" charset="-122"/>
              </a:rPr>
              <a:t>例如，</a:t>
            </a:r>
            <a:r>
              <a:rPr lang="en-US" altLang="zh-CN" sz="2200">
                <a:solidFill>
                  <a:srgbClr val="0000FF"/>
                </a:solidFill>
                <a:latin typeface="Consolas" pitchFamily="49" charset="0"/>
                <a:ea typeface="仿宋" pitchFamily="49" charset="-122"/>
              </a:rPr>
              <a:t>intervals={[5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[8</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9]</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 [4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[9</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en-US"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marL="457200" indent="-457200" algn="l">
              <a:lnSpc>
                <a:spcPts val="3200"/>
              </a:lnSpc>
              <a:spcBef>
                <a:spcPts val="0"/>
              </a:spcBef>
              <a:buBlip>
                <a:blip r:embed="rId3"/>
              </a:buBlip>
            </a:pPr>
            <a:r>
              <a:rPr lang="zh-CN" altLang="zh-CN" sz="2200">
                <a:solidFill>
                  <a:srgbClr val="0000FF"/>
                </a:solidFill>
                <a:latin typeface="Consolas" pitchFamily="49" charset="0"/>
                <a:ea typeface="仿宋" pitchFamily="49" charset="-122"/>
              </a:rPr>
              <a:t>将求按区间左端点递增排序后的结果为</a:t>
            </a:r>
            <a:r>
              <a:rPr lang="en-US" altLang="zh-CN" sz="2200">
                <a:solidFill>
                  <a:srgbClr val="0000FF"/>
                </a:solidFill>
                <a:latin typeface="Consolas" pitchFamily="49" charset="0"/>
                <a:ea typeface="仿宋" pitchFamily="49" charset="-122"/>
              </a:rPr>
              <a:t>intervals={[0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[8</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9]</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[9</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10]}</a:t>
            </a:r>
            <a:r>
              <a:rPr lang="zh-CN" altLang="en-US"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marL="457200" indent="-457200" algn="l">
              <a:lnSpc>
                <a:spcPts val="3200"/>
              </a:lnSpc>
              <a:spcBef>
                <a:spcPts val="0"/>
              </a:spcBef>
              <a:buBlip>
                <a:blip r:embed="rId3"/>
              </a:buBlip>
            </a:pPr>
            <a:r>
              <a:rPr lang="zh-CN" altLang="zh-CN" sz="2200">
                <a:solidFill>
                  <a:srgbClr val="0000FF"/>
                </a:solidFill>
                <a:latin typeface="Consolas" pitchFamily="49" charset="0"/>
                <a:ea typeface="仿宋" pitchFamily="49" charset="-122"/>
              </a:rPr>
              <a:t>按上述过程得到的合并区间是</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[9</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10]}</a:t>
            </a:r>
            <a:r>
              <a:rPr lang="zh-CN" altLang="en-US" sz="2200">
                <a:solidFill>
                  <a:srgbClr val="0000FF"/>
                </a:solidFill>
                <a:latin typeface="Consolas" pitchFamily="49" charset="0"/>
                <a:ea typeface="仿宋" pitchFamily="49" charset="-122"/>
              </a:rPr>
              <a:t>。</a:t>
            </a:r>
            <a:endParaRPr lang="zh-CN" altLang="en-US" sz="2200">
              <a:solidFill>
                <a:srgbClr val="0000FF"/>
              </a:solidFill>
              <a:latin typeface="Consolas" pitchFamily="49" charset="0"/>
              <a:ea typeface="仿宋" pitchFamily="49" charset="-122"/>
              <a:cs typeface="Consolas" pitchFamily="49" charset="0"/>
            </a:endParaRPr>
          </a:p>
        </p:txBody>
      </p:sp>
      <p:sp>
        <p:nvSpPr>
          <p:cNvPr id="23590" name="Rectangle 3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2" name="组合 41"/>
          <p:cNvGrpSpPr/>
          <p:nvPr/>
        </p:nvGrpSpPr>
        <p:grpSpPr>
          <a:xfrm>
            <a:off x="1452608" y="2643182"/>
            <a:ext cx="5976912" cy="3622284"/>
            <a:chOff x="1439965" y="2571744"/>
            <a:chExt cx="5976912" cy="3622284"/>
          </a:xfrm>
        </p:grpSpPr>
        <p:sp>
          <p:nvSpPr>
            <p:cNvPr id="23588" name="AutoShape 36"/>
            <p:cNvSpPr>
              <a:spLocks noChangeShapeType="1"/>
            </p:cNvSpPr>
            <p:nvPr/>
          </p:nvSpPr>
          <p:spPr bwMode="auto">
            <a:xfrm>
              <a:off x="1444179" y="2890054"/>
              <a:ext cx="5972698" cy="227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87" name="Rectangle 35"/>
            <p:cNvSpPr>
              <a:spLocks noChangeArrowheads="1"/>
            </p:cNvSpPr>
            <p:nvPr/>
          </p:nvSpPr>
          <p:spPr bwMode="auto">
            <a:xfrm>
              <a:off x="1583243" y="2571744"/>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86" name="Rectangle 34"/>
            <p:cNvSpPr>
              <a:spLocks noChangeArrowheads="1"/>
            </p:cNvSpPr>
            <p:nvPr/>
          </p:nvSpPr>
          <p:spPr bwMode="auto">
            <a:xfrm>
              <a:off x="2097356" y="2571744"/>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85" name="Rectangle 33"/>
            <p:cNvSpPr>
              <a:spLocks noChangeArrowheads="1"/>
            </p:cNvSpPr>
            <p:nvPr/>
          </p:nvSpPr>
          <p:spPr bwMode="auto">
            <a:xfrm>
              <a:off x="2635348" y="2571744"/>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84" name="Rectangle 32"/>
            <p:cNvSpPr>
              <a:spLocks noChangeArrowheads="1"/>
            </p:cNvSpPr>
            <p:nvPr/>
          </p:nvSpPr>
          <p:spPr bwMode="auto">
            <a:xfrm>
              <a:off x="3134009" y="2571744"/>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83" name="Rectangle 31"/>
            <p:cNvSpPr>
              <a:spLocks noChangeArrowheads="1"/>
            </p:cNvSpPr>
            <p:nvPr/>
          </p:nvSpPr>
          <p:spPr bwMode="auto">
            <a:xfrm>
              <a:off x="3660764" y="2571744"/>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82" name="Rectangle 30"/>
            <p:cNvSpPr>
              <a:spLocks noChangeArrowheads="1"/>
            </p:cNvSpPr>
            <p:nvPr/>
          </p:nvSpPr>
          <p:spPr bwMode="auto">
            <a:xfrm>
              <a:off x="4173472" y="2571744"/>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81" name="Rectangle 29"/>
            <p:cNvSpPr>
              <a:spLocks noChangeArrowheads="1"/>
            </p:cNvSpPr>
            <p:nvPr/>
          </p:nvSpPr>
          <p:spPr bwMode="auto">
            <a:xfrm>
              <a:off x="4714274" y="2571744"/>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80" name="Rectangle 28"/>
            <p:cNvSpPr>
              <a:spLocks noChangeArrowheads="1"/>
            </p:cNvSpPr>
            <p:nvPr/>
          </p:nvSpPr>
          <p:spPr bwMode="auto">
            <a:xfrm>
              <a:off x="5203103" y="2571744"/>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79" name="Rectangle 27"/>
            <p:cNvSpPr>
              <a:spLocks noChangeArrowheads="1"/>
            </p:cNvSpPr>
            <p:nvPr/>
          </p:nvSpPr>
          <p:spPr bwMode="auto">
            <a:xfrm>
              <a:off x="5728453" y="2571744"/>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78" name="Rectangle 26"/>
            <p:cNvSpPr>
              <a:spLocks noChangeArrowheads="1"/>
            </p:cNvSpPr>
            <p:nvPr/>
          </p:nvSpPr>
          <p:spPr bwMode="auto">
            <a:xfrm>
              <a:off x="6265040" y="2571744"/>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77" name="Rectangle 25"/>
            <p:cNvSpPr>
              <a:spLocks noChangeArrowheads="1"/>
            </p:cNvSpPr>
            <p:nvPr/>
          </p:nvSpPr>
          <p:spPr bwMode="auto">
            <a:xfrm>
              <a:off x="6715943" y="2571744"/>
              <a:ext cx="358193"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76" name="Rectangle 24"/>
            <p:cNvSpPr>
              <a:spLocks noChangeArrowheads="1"/>
            </p:cNvSpPr>
            <p:nvPr/>
          </p:nvSpPr>
          <p:spPr bwMode="auto">
            <a:xfrm>
              <a:off x="1656286" y="3043525"/>
              <a:ext cx="1592907" cy="19326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75" name="Rectangle 23"/>
            <p:cNvSpPr>
              <a:spLocks noChangeArrowheads="1"/>
            </p:cNvSpPr>
            <p:nvPr/>
          </p:nvSpPr>
          <p:spPr bwMode="auto">
            <a:xfrm>
              <a:off x="2157757" y="3347057"/>
              <a:ext cx="596989" cy="19326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74" name="Rectangle 22"/>
            <p:cNvSpPr>
              <a:spLocks noChangeArrowheads="1"/>
            </p:cNvSpPr>
            <p:nvPr/>
          </p:nvSpPr>
          <p:spPr bwMode="auto">
            <a:xfrm>
              <a:off x="3767520" y="3601705"/>
              <a:ext cx="1592907" cy="19326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73" name="Rectangle 21"/>
            <p:cNvSpPr>
              <a:spLocks noChangeArrowheads="1"/>
            </p:cNvSpPr>
            <p:nvPr/>
          </p:nvSpPr>
          <p:spPr bwMode="auto">
            <a:xfrm>
              <a:off x="4350462" y="3881363"/>
              <a:ext cx="596989" cy="19326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72" name="Rectangle 20"/>
            <p:cNvSpPr>
              <a:spLocks noChangeArrowheads="1"/>
            </p:cNvSpPr>
            <p:nvPr/>
          </p:nvSpPr>
          <p:spPr bwMode="auto">
            <a:xfrm>
              <a:off x="4350462" y="4198536"/>
              <a:ext cx="995918" cy="19326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71" name="Rectangle 19"/>
            <p:cNvSpPr>
              <a:spLocks noChangeArrowheads="1"/>
            </p:cNvSpPr>
            <p:nvPr/>
          </p:nvSpPr>
          <p:spPr bwMode="auto">
            <a:xfrm>
              <a:off x="5825376" y="4450911"/>
              <a:ext cx="596989" cy="19326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70" name="Rectangle 18"/>
            <p:cNvSpPr>
              <a:spLocks noChangeArrowheads="1"/>
            </p:cNvSpPr>
            <p:nvPr/>
          </p:nvSpPr>
          <p:spPr bwMode="auto">
            <a:xfrm>
              <a:off x="6440625" y="4713517"/>
              <a:ext cx="596989" cy="19326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69" name="AutoShape 17"/>
            <p:cNvSpPr>
              <a:spLocks noChangeArrowheads="1"/>
            </p:cNvSpPr>
            <p:nvPr/>
          </p:nvSpPr>
          <p:spPr bwMode="auto">
            <a:xfrm>
              <a:off x="4132737" y="4714884"/>
              <a:ext cx="330100" cy="402435"/>
            </a:xfrm>
            <a:prstGeom prst="downArrow">
              <a:avLst>
                <a:gd name="adj1" fmla="val 50000"/>
                <a:gd name="adj2" fmla="val 37660"/>
              </a:avLst>
            </a:prstGeom>
            <a:ln>
              <a:headEnd/>
              <a:tailEnd/>
            </a:ln>
          </p:spPr>
          <p:style>
            <a:lnRef idx="1">
              <a:schemeClr val="accent2"/>
            </a:lnRef>
            <a:fillRef idx="3">
              <a:schemeClr val="accent2"/>
            </a:fillRef>
            <a:effectRef idx="2">
              <a:schemeClr val="accent2"/>
            </a:effectRef>
            <a:fontRef idx="minor">
              <a:schemeClr val="lt1"/>
            </a:fontRef>
          </p:style>
          <p:txBody>
            <a:bodyPr vert="eaVert"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68" name="AutoShape 16"/>
            <p:cNvSpPr>
              <a:spLocks noChangeShapeType="1"/>
            </p:cNvSpPr>
            <p:nvPr/>
          </p:nvSpPr>
          <p:spPr bwMode="auto">
            <a:xfrm>
              <a:off x="1439965" y="5533260"/>
              <a:ext cx="5972698" cy="227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67" name="Rectangle 15"/>
            <p:cNvSpPr>
              <a:spLocks noChangeArrowheads="1"/>
            </p:cNvSpPr>
            <p:nvPr/>
          </p:nvSpPr>
          <p:spPr bwMode="auto">
            <a:xfrm>
              <a:off x="1579029" y="5214950"/>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66" name="Rectangle 14"/>
            <p:cNvSpPr>
              <a:spLocks noChangeArrowheads="1"/>
            </p:cNvSpPr>
            <p:nvPr/>
          </p:nvSpPr>
          <p:spPr bwMode="auto">
            <a:xfrm>
              <a:off x="2093142" y="5214950"/>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65" name="Rectangle 13"/>
            <p:cNvSpPr>
              <a:spLocks noChangeArrowheads="1"/>
            </p:cNvSpPr>
            <p:nvPr/>
          </p:nvSpPr>
          <p:spPr bwMode="auto">
            <a:xfrm>
              <a:off x="2631134" y="5214950"/>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64" name="Rectangle 12"/>
            <p:cNvSpPr>
              <a:spLocks noChangeArrowheads="1"/>
            </p:cNvSpPr>
            <p:nvPr/>
          </p:nvSpPr>
          <p:spPr bwMode="auto">
            <a:xfrm>
              <a:off x="3129795" y="5214950"/>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63" name="Rectangle 11"/>
            <p:cNvSpPr>
              <a:spLocks noChangeArrowheads="1"/>
            </p:cNvSpPr>
            <p:nvPr/>
          </p:nvSpPr>
          <p:spPr bwMode="auto">
            <a:xfrm>
              <a:off x="3656550" y="5214950"/>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62" name="Rectangle 10"/>
            <p:cNvSpPr>
              <a:spLocks noChangeArrowheads="1"/>
            </p:cNvSpPr>
            <p:nvPr/>
          </p:nvSpPr>
          <p:spPr bwMode="auto">
            <a:xfrm>
              <a:off x="4169258" y="5214950"/>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61" name="Rectangle 9"/>
            <p:cNvSpPr>
              <a:spLocks noChangeArrowheads="1"/>
            </p:cNvSpPr>
            <p:nvPr/>
          </p:nvSpPr>
          <p:spPr bwMode="auto">
            <a:xfrm>
              <a:off x="4710060" y="5214950"/>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60" name="Rectangle 8"/>
            <p:cNvSpPr>
              <a:spLocks noChangeArrowheads="1"/>
            </p:cNvSpPr>
            <p:nvPr/>
          </p:nvSpPr>
          <p:spPr bwMode="auto">
            <a:xfrm>
              <a:off x="5198889" y="5214950"/>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59" name="Rectangle 7"/>
            <p:cNvSpPr>
              <a:spLocks noChangeArrowheads="1"/>
            </p:cNvSpPr>
            <p:nvPr/>
          </p:nvSpPr>
          <p:spPr bwMode="auto">
            <a:xfrm>
              <a:off x="5724239" y="5214950"/>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58" name="Rectangle 6"/>
            <p:cNvSpPr>
              <a:spLocks noChangeArrowheads="1"/>
            </p:cNvSpPr>
            <p:nvPr/>
          </p:nvSpPr>
          <p:spPr bwMode="auto">
            <a:xfrm>
              <a:off x="6260826" y="5214950"/>
              <a:ext cx="248628"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57" name="Rectangle 5"/>
            <p:cNvSpPr>
              <a:spLocks noChangeArrowheads="1"/>
            </p:cNvSpPr>
            <p:nvPr/>
          </p:nvSpPr>
          <p:spPr bwMode="auto">
            <a:xfrm>
              <a:off x="6711729" y="5214950"/>
              <a:ext cx="358193" cy="26260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10</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556" name="Rectangle 4"/>
            <p:cNvSpPr>
              <a:spLocks noChangeArrowheads="1"/>
            </p:cNvSpPr>
            <p:nvPr/>
          </p:nvSpPr>
          <p:spPr bwMode="auto">
            <a:xfrm>
              <a:off x="1656286" y="5665132"/>
              <a:ext cx="1592907" cy="193260"/>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vert="horz"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55" name="Rectangle 3"/>
            <p:cNvSpPr>
              <a:spLocks noChangeArrowheads="1"/>
            </p:cNvSpPr>
            <p:nvPr/>
          </p:nvSpPr>
          <p:spPr bwMode="auto">
            <a:xfrm>
              <a:off x="3753473" y="5827697"/>
              <a:ext cx="1592907" cy="193260"/>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vert="horz"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23554" name="Rectangle 2"/>
            <p:cNvSpPr>
              <a:spLocks noChangeArrowheads="1"/>
            </p:cNvSpPr>
            <p:nvPr/>
          </p:nvSpPr>
          <p:spPr bwMode="auto">
            <a:xfrm>
              <a:off x="5850660" y="6000768"/>
              <a:ext cx="1035249" cy="193260"/>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vert="horz" wrap="square" lIns="0" tIns="0" rIns="0" bIns="0" numCol="1" anchor="t" anchorCtr="0" compatLnSpc="1">
              <a:prstTxWarp prst="textNoShape">
                <a:avLst/>
              </a:prstTxWarp>
            </a:bodyPr>
            <a:lstStyle/>
            <a:p>
              <a:endParaRPr lang="zh-CN" altLang="en-US" sz="1800">
                <a:solidFill>
                  <a:srgbClr val="0000FF"/>
                </a:solidFill>
                <a:latin typeface="Consolas" pitchFamily="49" charset="0"/>
              </a:endParaRPr>
            </a:p>
          </p:txBody>
        </p:sp>
      </p:grpSp>
      <p:sp>
        <p:nvSpPr>
          <p:cNvPr id="43" name="灯片编号占位符 42"/>
          <p:cNvSpPr>
            <a:spLocks noGrp="1"/>
          </p:cNvSpPr>
          <p:nvPr>
            <p:ph type="sldNum" sz="quarter" idx="12"/>
          </p:nvPr>
        </p:nvSpPr>
        <p:spPr/>
        <p:txBody>
          <a:bodyPr/>
          <a:lstStyle/>
          <a:p>
            <a:fld id="{7AF016A1-9F15-429F-9EFD-84004B73C732}" type="slidenum">
              <a:rPr lang="en-US" altLang="zh-CN" smtClean="0"/>
              <a:pPr/>
              <a:t>31</a:t>
            </a:fld>
            <a:r>
              <a:rPr lang="en-US" altLang="zh-CN"/>
              <a:t>/109</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785794"/>
            <a:ext cx="8715436" cy="21417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struct Cmp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a:t>
            </a:r>
            <a:r>
              <a:rPr lang="en-US" altLang="zh-CN" sz="2000">
                <a:solidFill>
                  <a:srgbClr val="0000FF"/>
                </a:solidFill>
                <a:latin typeface="Consolas" pitchFamily="49" charset="0"/>
                <a:ea typeface="仿宋" pitchFamily="49" charset="-122"/>
              </a:rPr>
              <a:t>(const Interval &amp;a, const Interval &amp;b)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a.start&lt;b.start;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用于按左端点递增排序</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32</a:t>
            </a:fld>
            <a:r>
              <a:rPr lang="en-US" altLang="zh-CN"/>
              <a:t>/109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142852"/>
            <a:ext cx="8858312" cy="606586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vector&lt;Interval&gt; </a:t>
            </a:r>
            <a:r>
              <a:rPr lang="en-US" altLang="zh-CN" sz="2000">
                <a:solidFill>
                  <a:srgbClr val="FF0000"/>
                </a:solidFill>
                <a:latin typeface="Consolas" pitchFamily="49" charset="0"/>
                <a:ea typeface="仿宋" pitchFamily="49" charset="-122"/>
              </a:rPr>
              <a:t>merge</a:t>
            </a:r>
            <a:r>
              <a:rPr lang="en-US" altLang="zh-CN" sz="2000">
                <a:solidFill>
                  <a:srgbClr val="0000FF"/>
                </a:solidFill>
                <a:latin typeface="Consolas" pitchFamily="49" charset="0"/>
                <a:ea typeface="仿宋" pitchFamily="49" charset="-122"/>
              </a:rPr>
              <a:t>(vector&lt;Interval&gt; &amp;intervals)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n=intervals.size();</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 (n&lt;=1) return intervals;</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(intervals.begin(),intervals.end(),Cmp());</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vector&lt;Interval&gt; ans;</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ans.push_back(intervals[0]);</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 (int i=1;i&lt;n;i++)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用</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遍历</a:t>
            </a:r>
            <a:r>
              <a:rPr lang="en-US" altLang="zh-CN" sz="2000">
                <a:solidFill>
                  <a:srgbClr val="00B0F0"/>
                </a:solidFill>
                <a:latin typeface="Consolas" pitchFamily="49" charset="0"/>
                <a:ea typeface="仿宋" pitchFamily="49" charset="-122"/>
              </a:rPr>
              <a:t>intervals</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curs=intervals[i].start;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求当前区间</a:t>
            </a:r>
            <a:r>
              <a:rPr lang="en-US" altLang="zh-CN" sz="2000">
                <a:solidFill>
                  <a:srgbClr val="00B0F0"/>
                </a:solidFill>
                <a:latin typeface="Consolas" pitchFamily="49" charset="0"/>
                <a:ea typeface="仿宋" pitchFamily="49" charset="-122"/>
              </a:rPr>
              <a:t>[curs,cure)</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cure=intervals[i].end;</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ans.back().end&lt;curs</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不相交</a:t>
            </a:r>
          </a:p>
          <a:p>
            <a:pPr algn="l" defTabSz="360000">
              <a:lnSpc>
                <a:spcPts val="2400"/>
              </a:lnSpc>
              <a:spcBef>
                <a:spcPts val="0"/>
              </a:spcBef>
            </a:pPr>
            <a:r>
              <a:rPr lang="en-US" altLang="zh-CN" sz="2000">
                <a:solidFill>
                  <a:srgbClr val="0000FF"/>
                </a:solidFill>
                <a:latin typeface="Consolas" pitchFamily="49" charset="0"/>
                <a:ea typeface="仿宋" pitchFamily="49" charset="-122"/>
              </a:rPr>
              <a:t>        	ans.push_back({curs,cure});</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相交：合并</a:t>
            </a:r>
          </a:p>
          <a:p>
            <a:pPr algn="l" defTabSz="360000">
              <a:lnSpc>
                <a:spcPts val="2400"/>
              </a:lnSpc>
              <a:spcBef>
                <a:spcPts val="0"/>
              </a:spcBef>
            </a:pPr>
            <a:r>
              <a:rPr lang="en-US" altLang="zh-CN" sz="2000">
                <a:solidFill>
                  <a:srgbClr val="0000FF"/>
                </a:solidFill>
                <a:latin typeface="Consolas" pitchFamily="49" charset="0"/>
                <a:ea typeface="仿宋" pitchFamily="49" charset="-122"/>
              </a:rPr>
              <a:t>          	ans.back().end=max(ans.back().end,cure);</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428596" y="6253483"/>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61ms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5.42MB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33</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6" end="1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7" end="1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385765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Consolas" pitchFamily="49" charset="0"/>
                <a:ea typeface="微软雅黑" pitchFamily="34" charset="-122"/>
              </a:rPr>
              <a:t>8.2.3 </a:t>
            </a:r>
            <a:r>
              <a:rPr lang="zh-CN" altLang="en-US" sz="2800">
                <a:latin typeface="Consolas" pitchFamily="49" charset="0"/>
                <a:ea typeface="微软雅黑" pitchFamily="34" charset="-122"/>
              </a:rPr>
              <a:t>最少资源问题</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285720" y="1785926"/>
            <a:ext cx="8643998" cy="3683060"/>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spcAft>
                <a:spcPts val="1200"/>
              </a:spcAft>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8.4</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会议室</a:t>
            </a:r>
            <a:r>
              <a:rPr lang="en-US" altLang="zh-CN">
                <a:solidFill>
                  <a:srgbClr val="0000FF"/>
                </a:solidFill>
                <a:latin typeface="Consolas" pitchFamily="49" charset="0"/>
                <a:ea typeface="仿宋" pitchFamily="49" charset="-122"/>
              </a:rPr>
              <a:t>II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LintCode919</a:t>
            </a:r>
            <a:r>
              <a:rPr lang="zh-CN" altLang="zh-CN">
                <a:solidFill>
                  <a:srgbClr val="0000FF"/>
                </a:solidFill>
                <a:latin typeface="Consolas" pitchFamily="49" charset="0"/>
                <a:ea typeface="仿宋" pitchFamily="49" charset="-122"/>
              </a:rPr>
              <a:t>★★）。给定一系列的会议时间间隔</a:t>
            </a:r>
            <a:r>
              <a:rPr lang="en-US" altLang="zh-CN">
                <a:solidFill>
                  <a:srgbClr val="0000FF"/>
                </a:solidFill>
                <a:latin typeface="Consolas" pitchFamily="49" charset="0"/>
                <a:ea typeface="仿宋" pitchFamily="49" charset="-122"/>
              </a:rPr>
              <a:t>intervals</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class </a:t>
            </a:r>
            <a:r>
              <a:rPr lang="en-US" altLang="zh-CN" sz="2000">
                <a:solidFill>
                  <a:srgbClr val="FF0000"/>
                </a:solidFill>
                <a:latin typeface="Consolas" pitchFamily="49" charset="0"/>
                <a:ea typeface="仿宋" pitchFamily="49" charset="-122"/>
              </a:rPr>
              <a:t>Interval</a:t>
            </a:r>
            <a:r>
              <a:rPr lang="en-US" altLang="zh-CN" sz="2000">
                <a:solidFill>
                  <a:srgbClr val="006600"/>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区间的类型</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public:</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int start, 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会议开始时间和结束时间</a:t>
            </a:r>
          </a:p>
          <a:p>
            <a:pPr lvl="1" algn="l" defTabSz="360000">
              <a:lnSpc>
                <a:spcPts val="2400"/>
              </a:lnSpc>
              <a:spcBef>
                <a:spcPts val="1200"/>
              </a:spcBef>
            </a:pPr>
            <a:r>
              <a:rPr lang="en-US" altLang="zh-CN" sz="2000">
                <a:solidFill>
                  <a:srgbClr val="006600"/>
                </a:solidFill>
                <a:latin typeface="Consolas" pitchFamily="49" charset="0"/>
                <a:ea typeface="仿宋" pitchFamily="49" charset="-122"/>
              </a:rPr>
              <a:t>	Interval(int start, int end)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构造函数</a:t>
            </a:r>
          </a:p>
          <a:p>
            <a:pPr lvl="1" algn="l" defTabSz="360000">
              <a:lnSpc>
                <a:spcPts val="2400"/>
              </a:lnSpc>
              <a:spcBef>
                <a:spcPts val="0"/>
              </a:spcBef>
            </a:pPr>
            <a:r>
              <a:rPr lang="en-US" altLang="zh-CN" sz="2000">
                <a:solidFill>
                  <a:srgbClr val="006600"/>
                </a:solidFill>
                <a:latin typeface="Consolas" pitchFamily="49" charset="0"/>
                <a:ea typeface="仿宋" pitchFamily="49" charset="-122"/>
              </a:rPr>
              <a:t>		this-&gt;start = start;</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this-&gt;end = end;</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	}</a:t>
            </a:r>
            <a:endParaRPr lang="zh-CN" altLang="zh-CN" sz="2000">
              <a:solidFill>
                <a:srgbClr val="006600"/>
              </a:solidFill>
              <a:latin typeface="Consolas" pitchFamily="49" charset="0"/>
              <a:ea typeface="仿宋" pitchFamily="49" charset="-122"/>
            </a:endParaRPr>
          </a:p>
          <a:p>
            <a:pPr lvl="1" algn="l" defTabSz="360000">
              <a:lnSpc>
                <a:spcPts val="2400"/>
              </a:lnSpc>
              <a:spcBef>
                <a:spcPts val="0"/>
              </a:spcBef>
            </a:pPr>
            <a:r>
              <a:rPr lang="en-US" altLang="zh-CN" sz="2000">
                <a:solidFill>
                  <a:srgbClr val="006600"/>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grpSp>
        <p:nvGrpSpPr>
          <p:cNvPr id="6" name="组合 5"/>
          <p:cNvGrpSpPr/>
          <p:nvPr/>
        </p:nvGrpSpPr>
        <p:grpSpPr>
          <a:xfrm>
            <a:off x="4714876" y="285728"/>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9" name="灯片编号占位符 8"/>
          <p:cNvSpPr>
            <a:spLocks noGrp="1"/>
          </p:cNvSpPr>
          <p:nvPr>
            <p:ph type="sldNum" sz="quarter" idx="12"/>
          </p:nvPr>
        </p:nvSpPr>
        <p:spPr/>
        <p:txBody>
          <a:bodyPr/>
          <a:lstStyle/>
          <a:p>
            <a:fld id="{7AF016A1-9F15-429F-9EFD-84004B73C732}" type="slidenum">
              <a:rPr lang="en-US" altLang="zh-CN" smtClean="0"/>
              <a:pPr/>
              <a:t>34</a:t>
            </a:fld>
            <a:r>
              <a:rPr lang="en-US" altLang="zh-CN"/>
              <a:t>/109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928670"/>
            <a:ext cx="8643998" cy="360611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zh-CN" altLang="zh-CN">
                <a:solidFill>
                  <a:srgbClr val="0000FF"/>
                </a:solidFill>
                <a:latin typeface="Consolas" pitchFamily="49" charset="0"/>
                <a:ea typeface="仿宋" pitchFamily="49" charset="-122"/>
              </a:rPr>
              <a:t>每个会议包括起始和结束时间</a:t>
            </a:r>
            <a:r>
              <a:rPr lang="en-US" altLang="zh-CN">
                <a:solidFill>
                  <a:srgbClr val="0000FF"/>
                </a:solidFill>
                <a:latin typeface="Consolas" pitchFamily="49" charset="0"/>
                <a:ea typeface="仿宋" pitchFamily="49" charset="-122"/>
              </a:rPr>
              <a:t>{[s</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e</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[s</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e</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s</a:t>
            </a:r>
            <a:r>
              <a:rPr lang="en-US" altLang="zh-CN" i="1" baseline="-25000">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&lt;e</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），求所需最小的会议室数量。注意</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8)</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[8</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在</a:t>
            </a:r>
            <a:r>
              <a:rPr lang="en-US" altLang="zh-CN">
                <a:solidFill>
                  <a:srgbClr val="0000FF"/>
                </a:solidFill>
                <a:latin typeface="Consolas" pitchFamily="49" charset="0"/>
                <a:ea typeface="仿宋" pitchFamily="49" charset="-122"/>
              </a:rPr>
              <a:t>8</a:t>
            </a:r>
            <a:r>
              <a:rPr lang="zh-CN" altLang="zh-CN">
                <a:solidFill>
                  <a:srgbClr val="0000FF"/>
                </a:solidFill>
                <a:latin typeface="Consolas" pitchFamily="49" charset="0"/>
                <a:ea typeface="仿宋" pitchFamily="49" charset="-122"/>
              </a:rPr>
              <a:t>时刻是不冲突的。</a:t>
            </a:r>
            <a:endParaRPr lang="en-US" altLang="zh-CN">
              <a:solidFill>
                <a:srgbClr val="0000FF"/>
              </a:solidFill>
              <a:latin typeface="Consolas" pitchFamily="49" charset="0"/>
              <a:ea typeface="仿宋" pitchFamily="49" charset="-122"/>
            </a:endParaRP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intervals={[0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20)}</a:t>
            </a:r>
            <a:r>
              <a:rPr lang="zh-CN" altLang="zh-CN">
                <a:solidFill>
                  <a:srgbClr val="0000FF"/>
                </a:solidFill>
                <a:latin typeface="Consolas" pitchFamily="49" charset="0"/>
                <a:ea typeface="仿宋" pitchFamily="49" charset="-122"/>
              </a:rPr>
              <a:t>，答案是</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，最少需要</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个会议室，</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30)</a:t>
            </a:r>
            <a:r>
              <a:rPr lang="zh-CN" altLang="zh-CN">
                <a:solidFill>
                  <a:srgbClr val="0000FF"/>
                </a:solidFill>
                <a:latin typeface="Consolas" pitchFamily="49" charset="0"/>
                <a:ea typeface="仿宋" pitchFamily="49" charset="-122"/>
              </a:rPr>
              <a:t>占用一个会议室，</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[15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20)</a:t>
            </a:r>
            <a:r>
              <a:rPr lang="zh-CN" altLang="zh-CN">
                <a:solidFill>
                  <a:srgbClr val="0000FF"/>
                </a:solidFill>
                <a:latin typeface="Consolas" pitchFamily="49" charset="0"/>
                <a:ea typeface="仿宋" pitchFamily="49" charset="-122"/>
              </a:rPr>
              <a:t>占用另外一个会议室。</a:t>
            </a:r>
            <a:endParaRPr lang="en-US" altLang="zh-CN">
              <a:solidFill>
                <a:srgbClr val="0000FF"/>
              </a:solidFill>
              <a:latin typeface="Consolas" pitchFamily="49" charset="0"/>
              <a:ea typeface="仿宋" pitchFamily="49" charset="-122"/>
            </a:endParaRP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a:lnSpc>
                <a:spcPts val="3200"/>
              </a:lnSpc>
              <a:spcBef>
                <a:spcPts val="600"/>
              </a:spcBef>
            </a:pPr>
            <a:r>
              <a:rPr lang="en-US" altLang="zh-CN" sz="2000">
                <a:solidFill>
                  <a:srgbClr val="006600"/>
                </a:solidFill>
                <a:latin typeface="Consolas" pitchFamily="49" charset="0"/>
                <a:ea typeface="仿宋" pitchFamily="49" charset="-122"/>
              </a:rPr>
              <a:t>	int minMeetingRooms(vector&lt;Interval&gt; &amp;intervals) { }</a:t>
            </a:r>
            <a:endParaRPr lang="zh-CN" altLang="zh-CN" sz="2000">
              <a:solidFill>
                <a:srgbClr val="006600"/>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35</a:t>
            </a:fld>
            <a:r>
              <a:rPr lang="en-US" altLang="zh-CN"/>
              <a:t>/109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85720" y="1357298"/>
            <a:ext cx="8715436" cy="4016484"/>
          </a:xfrm>
          <a:prstGeom prst="rect">
            <a:avLst/>
          </a:prstGeom>
          <a:solidFill>
            <a:schemeClr val="bg1"/>
          </a:solidFill>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defTabSz="360000">
              <a:lnSpc>
                <a:spcPts val="3200"/>
              </a:lnSpc>
              <a:spcBef>
                <a:spcPts val="600"/>
              </a:spcBef>
              <a:buBlip>
                <a:blip r:embed="rId3"/>
              </a:buBlip>
            </a:pPr>
            <a:r>
              <a:rPr lang="zh-CN" altLang="zh-CN">
                <a:solidFill>
                  <a:srgbClr val="0000FF"/>
                </a:solidFill>
                <a:latin typeface="Consolas" pitchFamily="49" charset="0"/>
                <a:ea typeface="仿宋" pitchFamily="49" charset="-122"/>
              </a:rPr>
              <a:t>每个会议时间间隔对应一个区间。</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600"/>
              </a:spcBef>
              <a:buBlip>
                <a:blip r:embed="rId3"/>
              </a:buBlip>
            </a:pPr>
            <a:r>
              <a:rPr lang="zh-CN" altLang="zh-CN">
                <a:solidFill>
                  <a:srgbClr val="FF0000"/>
                </a:solidFill>
                <a:latin typeface="楷体" pitchFamily="49" charset="-122"/>
                <a:ea typeface="楷体" pitchFamily="49" charset="-122"/>
              </a:rPr>
              <a:t>贪心策略</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优先选择最早开始的会议，同时将尽可能多的与其兼容的含义安排在一个会议室中。</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600"/>
              </a:spcBef>
              <a:buBlip>
                <a:blip r:embed="rId3"/>
              </a:buBlip>
            </a:pPr>
            <a:r>
              <a:rPr lang="zh-CN" altLang="zh-CN">
                <a:solidFill>
                  <a:srgbClr val="0000FF"/>
                </a:solidFill>
                <a:latin typeface="Consolas" pitchFamily="49" charset="0"/>
                <a:ea typeface="仿宋" pitchFamily="49" charset="-122"/>
              </a:rPr>
              <a:t>先将所有会议按开始时间（左端点）递增排序，用</a:t>
            </a:r>
            <a:r>
              <a:rPr lang="en-US" altLang="zh-CN">
                <a:solidFill>
                  <a:srgbClr val="0000FF"/>
                </a:solidFill>
                <a:latin typeface="Consolas" pitchFamily="49" charset="0"/>
                <a:ea typeface="仿宋" pitchFamily="49" charset="-122"/>
              </a:rPr>
              <a:t>flag</a:t>
            </a:r>
            <a:r>
              <a:rPr lang="zh-CN" altLang="zh-CN">
                <a:solidFill>
                  <a:srgbClr val="0000FF"/>
                </a:solidFill>
                <a:latin typeface="Consolas" pitchFamily="49" charset="0"/>
                <a:ea typeface="仿宋" pitchFamily="49" charset="-122"/>
              </a:rPr>
              <a:t>数组标识会议是否已经安排（初始时所有元素为</a:t>
            </a:r>
            <a:r>
              <a:rPr lang="en-US" altLang="zh-CN">
                <a:solidFill>
                  <a:srgbClr val="0000FF"/>
                </a:solidFill>
                <a:latin typeface="Consolas" pitchFamily="49" charset="0"/>
                <a:ea typeface="仿宋" pitchFamily="49" charset="-122"/>
              </a:rPr>
              <a:t>false</a:t>
            </a:r>
            <a:r>
              <a:rPr lang="zh-CN" altLang="zh-CN">
                <a:solidFill>
                  <a:srgbClr val="0000FF"/>
                </a:solidFill>
                <a:latin typeface="Consolas" pitchFamily="49" charset="0"/>
                <a:ea typeface="仿宋" pitchFamily="49" charset="-122"/>
              </a:rPr>
              <a:t>），顺序处理每个区间。</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600"/>
              </a:spcBef>
              <a:buBlip>
                <a:blip r:embed="rId3"/>
              </a:buBlip>
            </a:pPr>
            <a:r>
              <a:rPr lang="zh-CN" altLang="zh-CN">
                <a:solidFill>
                  <a:srgbClr val="0000FF"/>
                </a:solidFill>
                <a:latin typeface="Consolas" pitchFamily="49" charset="0"/>
                <a:ea typeface="仿宋" pitchFamily="49" charset="-122"/>
              </a:rPr>
              <a:t>对于尚未安排的最早开始的会议</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，将其后所有与会议</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兼容并且未安排的会议</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安排在一个会议室中，置</a:t>
            </a:r>
            <a:r>
              <a:rPr lang="en-US" altLang="zh-CN">
                <a:solidFill>
                  <a:srgbClr val="0000FF"/>
                </a:solidFill>
                <a:latin typeface="Consolas" pitchFamily="49" charset="0"/>
                <a:ea typeface="仿宋" pitchFamily="49" charset="-122"/>
              </a:rPr>
              <a:t>flag[</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true</a:t>
            </a:r>
            <a:r>
              <a:rPr lang="zh-CN" altLang="zh-CN">
                <a:solidFill>
                  <a:srgbClr val="0000FF"/>
                </a:solidFill>
                <a:latin typeface="Consolas" pitchFamily="49" charset="0"/>
                <a:ea typeface="仿宋" pitchFamily="49" charset="-122"/>
              </a:rPr>
              <a:t>。</a:t>
            </a:r>
          </a:p>
        </p:txBody>
      </p:sp>
      <p:sp>
        <p:nvSpPr>
          <p:cNvPr id="4" name="TextBox 3"/>
          <p:cNvSpPr txBox="1"/>
          <p:nvPr/>
        </p:nvSpPr>
        <p:spPr>
          <a:xfrm>
            <a:off x="285720" y="714356"/>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36</a:t>
            </a:fld>
            <a:r>
              <a:rPr lang="en-US" altLang="zh-CN"/>
              <a:t>/109</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85688" y="571480"/>
            <a:ext cx="8858312" cy="21417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struct Cmp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a:t>
            </a:r>
            <a:r>
              <a:rPr lang="en-US" altLang="zh-CN" sz="2000">
                <a:solidFill>
                  <a:srgbClr val="0000FF"/>
                </a:solidFill>
                <a:latin typeface="Consolas" pitchFamily="49" charset="0"/>
                <a:ea typeface="仿宋" pitchFamily="49" charset="-122"/>
              </a:rPr>
              <a:t>(const Interval &amp;a, const Interval &amp;b)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a.start&lt;b.start;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用于按</a:t>
            </a:r>
            <a:r>
              <a:rPr lang="en-US" altLang="zh-CN" sz="2000">
                <a:solidFill>
                  <a:srgbClr val="00B0F0"/>
                </a:solidFill>
                <a:latin typeface="Consolas" pitchFamily="49" charset="0"/>
                <a:ea typeface="仿宋" pitchFamily="49" charset="-122"/>
              </a:rPr>
              <a:t>start</a:t>
            </a:r>
            <a:r>
              <a:rPr lang="zh-CN" altLang="zh-CN" sz="2000">
                <a:solidFill>
                  <a:srgbClr val="00B0F0"/>
                </a:solidFill>
                <a:latin typeface="Consolas" pitchFamily="49" charset="0"/>
                <a:ea typeface="仿宋" pitchFamily="49" charset="-122"/>
              </a:rPr>
              <a:t>递增排序</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37</a:t>
            </a:fld>
            <a:r>
              <a:rPr lang="en-US" altLang="zh-CN"/>
              <a:t>/109</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42844" y="446408"/>
            <a:ext cx="8858312" cy="29111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minMeetingRooms</a:t>
            </a:r>
            <a:r>
              <a:rPr lang="en-US" altLang="zh-CN" sz="2000">
                <a:solidFill>
                  <a:srgbClr val="0000FF"/>
                </a:solidFill>
                <a:latin typeface="Consolas" pitchFamily="49" charset="0"/>
                <a:ea typeface="仿宋" pitchFamily="49" charset="-122"/>
              </a:rPr>
              <a:t>(vector&lt;Interval&gt; &amp;intervals)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n=intervals.size();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vector&lt;bool&gt; flag(n,false);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(intervals.begin(),intervals.end(),Cmp());</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ans=0;</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38</a:t>
            </a:fld>
            <a:r>
              <a:rPr lang="en-US" altLang="zh-CN"/>
              <a:t>/109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9"/>
          <p:cNvGrpSpPr/>
          <p:nvPr/>
        </p:nvGrpSpPr>
        <p:grpSpPr>
          <a:xfrm>
            <a:off x="642910" y="5786454"/>
            <a:ext cx="7000924" cy="461665"/>
            <a:chOff x="1071538" y="6286520"/>
            <a:chExt cx="7000924" cy="461665"/>
          </a:xfrm>
        </p:grpSpPr>
        <p:sp>
          <p:nvSpPr>
            <p:cNvPr id="4" name="TextBox 3"/>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41ms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5.42MB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6" name="TextBox 5"/>
          <p:cNvSpPr txBox="1"/>
          <p:nvPr/>
        </p:nvSpPr>
        <p:spPr>
          <a:xfrm>
            <a:off x="142844" y="142852"/>
            <a:ext cx="8858312" cy="52021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for(int i=0;i&lt;n;i++)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!flag[i]</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会议</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安排在一个新会议室中</a:t>
            </a:r>
          </a:p>
          <a:p>
            <a:pPr algn="l" defTabSz="360000">
              <a:lnSpc>
                <a:spcPts val="2600"/>
              </a:lnSpc>
              <a:spcBef>
                <a:spcPts val="0"/>
              </a:spcBef>
            </a:pPr>
            <a:r>
              <a:rPr lang="en-US" altLang="zh-CN" sz="2000">
                <a:solidFill>
                  <a:srgbClr val="0000FF"/>
                </a:solidFill>
                <a:latin typeface="Consolas" pitchFamily="49" charset="0"/>
                <a:ea typeface="仿宋" pitchFamily="49" charset="-122"/>
              </a:rPr>
              <a:t>          	ans++;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会议室个数增加</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preend=intervals[i].end;</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j=i+1;j&lt;n;j++)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!flag[j] &amp;&amp; intervals[j].start&gt;=preend</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preend=intervals[j].end;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会议</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安排在会议室</a:t>
            </a:r>
            <a:r>
              <a:rPr lang="en-US" altLang="zh-CN" sz="2000">
                <a:solidFill>
                  <a:srgbClr val="00B0F0"/>
                </a:solidFill>
                <a:latin typeface="Consolas" pitchFamily="49" charset="0"/>
                <a:ea typeface="仿宋" pitchFamily="49" charset="-122"/>
              </a:rPr>
              <a:t>i</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flag[j]=true;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39</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1187454"/>
            <a:ext cx="8643998" cy="437876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rPr>
              <a:t>利用优先队列（小根堆）提高性能，因为一旦某个会议安排会议室后就不必再处理，所以用优先队列</a:t>
            </a:r>
            <a:r>
              <a:rPr lang="en-US" altLang="zh-CN">
                <a:solidFill>
                  <a:srgbClr val="0000FF"/>
                </a:solidFill>
                <a:latin typeface="Consolas" pitchFamily="49" charset="0"/>
                <a:ea typeface="仿宋" pitchFamily="49" charset="-122"/>
              </a:rPr>
              <a:t>minpq</a:t>
            </a:r>
            <a:r>
              <a:rPr lang="zh-CN" altLang="zh-CN">
                <a:solidFill>
                  <a:srgbClr val="0000FF"/>
                </a:solidFill>
                <a:latin typeface="Consolas" pitchFamily="49" charset="0"/>
                <a:ea typeface="仿宋" pitchFamily="49" charset="-122"/>
              </a:rPr>
              <a:t>保存每个会议室中最大会议结束时间。对于当前会议</a:t>
            </a:r>
            <a:r>
              <a:rPr lang="en-US" altLang="zh-CN">
                <a:solidFill>
                  <a:srgbClr val="0000FF"/>
                </a:solidFill>
                <a:latin typeface="Consolas" pitchFamily="49" charset="0"/>
                <a:ea typeface="仿宋" pitchFamily="49" charset="-122"/>
              </a:rPr>
              <a:t>intervals[</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a:p>
            <a:pPr marL="914400" lvl="1" indent="-360000" algn="l">
              <a:lnSpc>
                <a:spcPts val="3000"/>
              </a:lnSpc>
              <a:spcBef>
                <a:spcPts val="1200"/>
              </a:spcBef>
              <a:buBlip>
                <a:blip r:embed="rId4"/>
              </a:buBlip>
            </a:pPr>
            <a:r>
              <a:rPr lang="zh-CN" altLang="zh-CN">
                <a:solidFill>
                  <a:srgbClr val="0000FF"/>
                </a:solidFill>
                <a:latin typeface="Consolas" pitchFamily="49" charset="0"/>
                <a:ea typeface="仿宋" pitchFamily="49" charset="-122"/>
              </a:rPr>
              <a:t>若</a:t>
            </a:r>
            <a:r>
              <a:rPr lang="en-US" altLang="zh-CN">
                <a:solidFill>
                  <a:srgbClr val="FF00FF"/>
                </a:solidFill>
                <a:latin typeface="Consolas" pitchFamily="49" charset="0"/>
                <a:ea typeface="仿宋" pitchFamily="49" charset="-122"/>
              </a:rPr>
              <a:t>intervals[</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].start</a:t>
            </a:r>
            <a:r>
              <a:rPr lang="zh-CN" altLang="zh-CN">
                <a:solidFill>
                  <a:srgbClr val="FF00FF"/>
                </a:solidFill>
                <a:latin typeface="+mn-ea"/>
                <a:ea typeface="+mn-ea"/>
              </a:rPr>
              <a:t>≥</a:t>
            </a:r>
            <a:r>
              <a:rPr lang="en-US" altLang="zh-CN">
                <a:solidFill>
                  <a:srgbClr val="FF00FF"/>
                </a:solidFill>
                <a:latin typeface="Consolas" pitchFamily="49" charset="0"/>
                <a:ea typeface="仿宋" pitchFamily="49" charset="-122"/>
              </a:rPr>
              <a:t>minpq.top()</a:t>
            </a:r>
            <a:r>
              <a:rPr lang="zh-CN" altLang="zh-CN">
                <a:solidFill>
                  <a:srgbClr val="0000FF"/>
                </a:solidFill>
                <a:latin typeface="Consolas" pitchFamily="49" charset="0"/>
                <a:ea typeface="仿宋" pitchFamily="49" charset="-122"/>
              </a:rPr>
              <a:t>，说明会议</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与堆顶的会议兼容，将会议</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安排在对应的会议室中，并用会议</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的结束时间替代之。</a:t>
            </a:r>
          </a:p>
          <a:p>
            <a:pPr marL="914400" lvl="1" indent="-360000" algn="l">
              <a:lnSpc>
                <a:spcPts val="3000"/>
              </a:lnSpc>
              <a:spcBef>
                <a:spcPts val="1200"/>
              </a:spcBef>
              <a:buBlip>
                <a:blip r:embed="rId4"/>
              </a:buBlip>
            </a:pPr>
            <a:r>
              <a:rPr lang="zh-CN" altLang="zh-CN">
                <a:solidFill>
                  <a:srgbClr val="0000FF"/>
                </a:solidFill>
                <a:latin typeface="Consolas" pitchFamily="49" charset="0"/>
                <a:ea typeface="仿宋" pitchFamily="49" charset="-122"/>
              </a:rPr>
              <a:t>若</a:t>
            </a:r>
            <a:r>
              <a:rPr lang="en-US" altLang="zh-CN">
                <a:solidFill>
                  <a:srgbClr val="FF00FF"/>
                </a:solidFill>
                <a:latin typeface="Consolas" pitchFamily="49" charset="0"/>
                <a:ea typeface="仿宋" pitchFamily="49" charset="-122"/>
              </a:rPr>
              <a:t>intervals[</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].start&lt;minpq.top()</a:t>
            </a:r>
            <a:r>
              <a:rPr lang="zh-CN" altLang="zh-CN">
                <a:solidFill>
                  <a:srgbClr val="0000FF"/>
                </a:solidFill>
                <a:latin typeface="Consolas" pitchFamily="49" charset="0"/>
                <a:ea typeface="仿宋" pitchFamily="49" charset="-122"/>
              </a:rPr>
              <a:t>，说明会议</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与优先队列中任何会议都不兼容，只能安排一个新会议室，将会议</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的结束时间进队。</a:t>
            </a:r>
          </a:p>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rPr>
              <a:t>最后</a:t>
            </a:r>
            <a:r>
              <a:rPr lang="en-US" altLang="zh-CN">
                <a:solidFill>
                  <a:srgbClr val="0000FF"/>
                </a:solidFill>
                <a:latin typeface="Consolas" pitchFamily="49" charset="0"/>
                <a:ea typeface="仿宋" pitchFamily="49" charset="-122"/>
              </a:rPr>
              <a:t>minpq</a:t>
            </a:r>
            <a:r>
              <a:rPr lang="zh-CN" altLang="zh-CN">
                <a:solidFill>
                  <a:srgbClr val="0000FF"/>
                </a:solidFill>
                <a:latin typeface="Consolas" pitchFamily="49" charset="0"/>
                <a:ea typeface="仿宋" pitchFamily="49" charset="-122"/>
              </a:rPr>
              <a:t>中的元素个数即为安排的会议室个数。</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642910" y="428604"/>
            <a:ext cx="178595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微软雅黑" pitchFamily="34" charset="-122"/>
                <a:ea typeface="微软雅黑" pitchFamily="34" charset="-122"/>
                <a:cs typeface="Consolas" pitchFamily="49" charset="0"/>
              </a:rPr>
              <a:t>算法优化</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40</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4282" y="531669"/>
            <a:ext cx="8643998" cy="21417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struct Cmp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a:t>
            </a:r>
            <a:r>
              <a:rPr lang="en-US" altLang="zh-CN" sz="2000">
                <a:solidFill>
                  <a:srgbClr val="0000FF"/>
                </a:solidFill>
                <a:latin typeface="Consolas" pitchFamily="49" charset="0"/>
                <a:ea typeface="仿宋" pitchFamily="49" charset="-122"/>
              </a:rPr>
              <a:t>(const Interval &amp;a, const Interval &amp;b)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a.start&lt;b.start;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用于按</a:t>
            </a:r>
            <a:r>
              <a:rPr lang="en-US" altLang="zh-CN" sz="2000">
                <a:solidFill>
                  <a:srgbClr val="00B0F0"/>
                </a:solidFill>
                <a:latin typeface="Consolas" pitchFamily="49" charset="0"/>
                <a:ea typeface="仿宋" pitchFamily="49" charset="-122"/>
              </a:rPr>
              <a:t>start</a:t>
            </a:r>
            <a:r>
              <a:rPr lang="zh-CN" altLang="zh-CN" sz="2000">
                <a:solidFill>
                  <a:srgbClr val="00B0F0"/>
                </a:solidFill>
                <a:latin typeface="Consolas" pitchFamily="49" charset="0"/>
                <a:ea typeface="仿宋" pitchFamily="49" charset="-122"/>
              </a:rPr>
              <a:t>递增排序</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41</a:t>
            </a:fld>
            <a:r>
              <a:rPr lang="en-US" altLang="zh-CN"/>
              <a:t>/109</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9"/>
          <p:cNvGrpSpPr/>
          <p:nvPr/>
        </p:nvGrpSpPr>
        <p:grpSpPr>
          <a:xfrm>
            <a:off x="428596" y="5500702"/>
            <a:ext cx="7000924" cy="461665"/>
            <a:chOff x="1071538" y="6286520"/>
            <a:chExt cx="7000924" cy="461665"/>
          </a:xfrm>
        </p:grpSpPr>
        <p:sp>
          <p:nvSpPr>
            <p:cNvPr id="4" name="TextBox 3"/>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40ms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5.45MB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6" name="TextBox 5"/>
          <p:cNvSpPr txBox="1"/>
          <p:nvPr/>
        </p:nvSpPr>
        <p:spPr>
          <a:xfrm>
            <a:off x="142844" y="142852"/>
            <a:ext cx="8858312" cy="503994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minMeetingRooms</a:t>
            </a:r>
            <a:r>
              <a:rPr lang="en-US" altLang="zh-CN" sz="2000">
                <a:solidFill>
                  <a:srgbClr val="0000FF"/>
                </a:solidFill>
                <a:latin typeface="Consolas" pitchFamily="49" charset="0"/>
                <a:ea typeface="仿宋" pitchFamily="49" charset="-122"/>
              </a:rPr>
              <a:t>(vector&lt;Interval&gt; &amp;intervals)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priority_queue&lt;int,vector&lt;int&gt;,greater&lt;int&gt;&gt; minpq;</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(intervals.begin(),intervals.end(),Cmp());</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minpq.push(intervals[0].end);</a:t>
            </a:r>
            <a:endParaRPr lang="zh-CN" altLang="zh-CN" sz="2000">
              <a:solidFill>
                <a:srgbClr val="0000FF"/>
              </a:solidFill>
              <a:latin typeface="Consolas" pitchFamily="49" charset="0"/>
              <a:ea typeface="仿宋" pitchFamily="49" charset="-122"/>
            </a:endParaRPr>
          </a:p>
          <a:p>
            <a:pPr algn="l" defTabSz="360000">
              <a:lnSpc>
                <a:spcPts val="2600"/>
              </a:lnSpc>
              <a:spcBef>
                <a:spcPts val="1200"/>
              </a:spcBef>
            </a:pPr>
            <a:r>
              <a:rPr lang="en-US" altLang="zh-CN" sz="2000">
                <a:solidFill>
                  <a:srgbClr val="0000FF"/>
                </a:solidFill>
                <a:latin typeface="Consolas" pitchFamily="49" charset="0"/>
                <a:ea typeface="仿宋" pitchFamily="49" charset="-122"/>
              </a:rPr>
              <a:t>     	for (int i=1;i&lt;intervals.size();i++)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intervals[i].start&gt;=minpq.top()</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兼容时出队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minpq.pop();</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minpq.push(intervals[i].end);</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minpq.size();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42</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TextBox 20"/>
          <p:cNvSpPr txBox="1"/>
          <p:nvPr/>
        </p:nvSpPr>
        <p:spPr>
          <a:xfrm>
            <a:off x="285720" y="1357298"/>
            <a:ext cx="8572560" cy="2730583"/>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0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有</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个编号为</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的物品，重量为</a:t>
            </a:r>
            <a:r>
              <a:rPr lang="pt-BR" altLang="zh-CN" i="1">
                <a:solidFill>
                  <a:srgbClr val="0000FF"/>
                </a:solidFill>
                <a:latin typeface="Consolas" pitchFamily="49" charset="0"/>
                <a:ea typeface="仿宋" pitchFamily="49" charset="-122"/>
                <a:cs typeface="Consolas" pitchFamily="49" charset="0"/>
              </a:rPr>
              <a:t>w</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w</a:t>
            </a:r>
            <a:r>
              <a:rPr lang="pt-BR"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w</a:t>
            </a:r>
            <a:r>
              <a:rPr lang="pt-BR"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n-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w</a:t>
            </a:r>
            <a:r>
              <a:rPr lang="pt-BR" altLang="zh-CN" i="1" baseline="-25000">
                <a:solidFill>
                  <a:srgbClr val="0000FF"/>
                </a:solidFill>
                <a:latin typeface="Consolas" pitchFamily="49" charset="0"/>
                <a:ea typeface="仿宋" pitchFamily="49" charset="-122"/>
                <a:cs typeface="Consolas" pitchFamily="49" charset="0"/>
              </a:rPr>
              <a:t>n</a:t>
            </a:r>
            <a:r>
              <a:rPr lang="pt-BR" altLang="zh-CN" baseline="-25000">
                <a:solidFill>
                  <a:srgbClr val="0000FF"/>
                </a:solidFill>
                <a:latin typeface="Consolas" pitchFamily="49" charset="0"/>
                <a:ea typeface="仿宋" pitchFamily="49" charset="-122"/>
                <a:cs typeface="Consolas" pitchFamily="49" charset="0"/>
              </a:rPr>
              <a:t>-1</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，价值为</a:t>
            </a:r>
            <a:r>
              <a:rPr lang="pt-BR" altLang="zh-CN" i="1">
                <a:solidFill>
                  <a:srgbClr val="0000FF"/>
                </a:solidFill>
                <a:latin typeface="Consolas" pitchFamily="49" charset="0"/>
                <a:ea typeface="仿宋" pitchFamily="49" charset="-122"/>
                <a:cs typeface="Consolas" pitchFamily="49" charset="0"/>
              </a:rPr>
              <a:t>v</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v</a:t>
            </a:r>
            <a:r>
              <a:rPr lang="pt-BR"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v</a:t>
            </a:r>
            <a:r>
              <a:rPr lang="pt-BR"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n-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v</a:t>
            </a:r>
            <a:r>
              <a:rPr lang="pt-BR" altLang="zh-CN" i="1" baseline="-25000">
                <a:solidFill>
                  <a:srgbClr val="0000FF"/>
                </a:solidFill>
                <a:latin typeface="Consolas" pitchFamily="49" charset="0"/>
                <a:ea typeface="仿宋" pitchFamily="49" charset="-122"/>
                <a:cs typeface="Consolas" pitchFamily="49" charset="0"/>
              </a:rPr>
              <a:t>n</a:t>
            </a:r>
            <a:r>
              <a:rPr lang="pt-BR" altLang="zh-CN" baseline="-25000">
                <a:solidFill>
                  <a:srgbClr val="0000FF"/>
                </a:solidFill>
                <a:latin typeface="Consolas" pitchFamily="49" charset="0"/>
                <a:ea typeface="仿宋" pitchFamily="49" charset="-122"/>
                <a:cs typeface="Consolas" pitchFamily="49" charset="0"/>
              </a:rPr>
              <a:t>-1</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，给定一个容量为</a:t>
            </a:r>
            <a:r>
              <a:rPr lang="pt-BR" altLang="zh-CN">
                <a:solidFill>
                  <a:srgbClr val="0000FF"/>
                </a:solidFill>
                <a:latin typeface="Consolas" pitchFamily="49" charset="0"/>
                <a:ea typeface="仿宋" pitchFamily="49" charset="-122"/>
                <a:cs typeface="Consolas" pitchFamily="49" charset="0"/>
              </a:rPr>
              <a:t>W</a:t>
            </a:r>
            <a:r>
              <a:rPr lang="zh-CN" altLang="zh-CN">
                <a:solidFill>
                  <a:srgbClr val="0000FF"/>
                </a:solidFill>
                <a:latin typeface="Consolas" pitchFamily="49" charset="0"/>
                <a:ea typeface="仿宋" pitchFamily="49" charset="-122"/>
                <a:cs typeface="Consolas" pitchFamily="49" charset="0"/>
              </a:rPr>
              <a:t>的背包。</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从这些物品中选取全部或者部分物品装入该背包中，找到选中物品不仅能够放到背包中而且价值最大的方案。</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与</a:t>
            </a:r>
            <a:r>
              <a:rPr lang="en-US" altLang="zh-CN">
                <a:solidFill>
                  <a:srgbClr val="0000FF"/>
                </a:solidFill>
                <a:latin typeface="Consolas" pitchFamily="49" charset="0"/>
                <a:ea typeface="仿宋" pitchFamily="49" charset="-122"/>
                <a:cs typeface="Consolas" pitchFamily="49" charset="0"/>
              </a:rPr>
              <a:t>0/1</a:t>
            </a:r>
            <a:r>
              <a:rPr lang="zh-CN" altLang="zh-CN">
                <a:solidFill>
                  <a:srgbClr val="0000FF"/>
                </a:solidFill>
                <a:latin typeface="Consolas" pitchFamily="49" charset="0"/>
                <a:ea typeface="仿宋" pitchFamily="49" charset="-122"/>
                <a:cs typeface="Consolas" pitchFamily="49" charset="0"/>
              </a:rPr>
              <a:t>背包问题的区别是这里的每个物品</a:t>
            </a:r>
            <a:r>
              <a:rPr lang="zh-CN" altLang="zh-CN">
                <a:solidFill>
                  <a:srgbClr val="FF00FF"/>
                </a:solidFill>
                <a:latin typeface="Consolas" pitchFamily="49" charset="0"/>
                <a:ea typeface="仿宋" pitchFamily="49" charset="-122"/>
                <a:cs typeface="Consolas" pitchFamily="49" charset="0"/>
              </a:rPr>
              <a:t>可以取一部分装入背包</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p:txBody>
      </p:sp>
      <p:graphicFrame>
        <p:nvGraphicFramePr>
          <p:cNvPr id="22" name="表格 21"/>
          <p:cNvGraphicFramePr>
            <a:graphicFrameLocks noGrp="1"/>
          </p:cNvGraphicFramePr>
          <p:nvPr/>
        </p:nvGraphicFramePr>
        <p:xfrm>
          <a:off x="1214414" y="4429132"/>
          <a:ext cx="5643601" cy="1428759"/>
        </p:xfrm>
        <a:graphic>
          <a:graphicData uri="http://schemas.openxmlformats.org/drawingml/2006/table">
            <a:tbl>
              <a:tblPr>
                <a:tableStyleId>{35758FB7-9AC5-4552-8A53-C91805E547FA}</a:tableStyleId>
              </a:tblPr>
              <a:tblGrid>
                <a:gridCol w="1785951">
                  <a:extLst>
                    <a:ext uri="{9D8B030D-6E8A-4147-A177-3AD203B41FA5}">
                      <a16:colId xmlns:a16="http://schemas.microsoft.com/office/drawing/2014/main" val="20000"/>
                    </a:ext>
                  </a:extLst>
                </a:gridCol>
                <a:gridCol w="785818">
                  <a:extLst>
                    <a:ext uri="{9D8B030D-6E8A-4147-A177-3AD203B41FA5}">
                      <a16:colId xmlns:a16="http://schemas.microsoft.com/office/drawing/2014/main" val="20001"/>
                    </a:ext>
                  </a:extLst>
                </a:gridCol>
                <a:gridCol w="714380">
                  <a:extLst>
                    <a:ext uri="{9D8B030D-6E8A-4147-A177-3AD203B41FA5}">
                      <a16:colId xmlns:a16="http://schemas.microsoft.com/office/drawing/2014/main" val="20002"/>
                    </a:ext>
                  </a:extLst>
                </a:gridCol>
                <a:gridCol w="857256">
                  <a:extLst>
                    <a:ext uri="{9D8B030D-6E8A-4147-A177-3AD203B41FA5}">
                      <a16:colId xmlns:a16="http://schemas.microsoft.com/office/drawing/2014/main" val="20003"/>
                    </a:ext>
                  </a:extLst>
                </a:gridCol>
                <a:gridCol w="785818">
                  <a:extLst>
                    <a:ext uri="{9D8B030D-6E8A-4147-A177-3AD203B41FA5}">
                      <a16:colId xmlns:a16="http://schemas.microsoft.com/office/drawing/2014/main" val="20004"/>
                    </a:ext>
                  </a:extLst>
                </a:gridCol>
                <a:gridCol w="714378">
                  <a:extLst>
                    <a:ext uri="{9D8B030D-6E8A-4147-A177-3AD203B41FA5}">
                      <a16:colId xmlns:a16="http://schemas.microsoft.com/office/drawing/2014/main" val="20005"/>
                    </a:ext>
                  </a:extLst>
                </a:gridCol>
              </a:tblGrid>
              <a:tr h="476253">
                <a:tc>
                  <a:txBody>
                    <a:bodyPr/>
                    <a:lstStyle/>
                    <a:p>
                      <a:pPr algn="ctr">
                        <a:lnSpc>
                          <a:spcPts val="3300"/>
                        </a:lnSpc>
                        <a:spcAft>
                          <a:spcPts val="0"/>
                        </a:spcAft>
                      </a:pPr>
                      <a:r>
                        <a:rPr lang="zh-CN" sz="2000" kern="100">
                          <a:solidFill>
                            <a:srgbClr val="FF00FF"/>
                          </a:solidFill>
                          <a:latin typeface="Consolas" pitchFamily="49" charset="0"/>
                          <a:ea typeface="仿宋" pitchFamily="49" charset="-122"/>
                          <a:cs typeface="Consolas" pitchFamily="49" charset="0"/>
                        </a:rPr>
                        <a:t>物品编号</a:t>
                      </a:r>
                      <a:r>
                        <a:rPr lang="en-US" sz="2000" kern="100">
                          <a:solidFill>
                            <a:srgbClr val="FF00FF"/>
                          </a:solidFill>
                          <a:latin typeface="Consolas" pitchFamily="49" charset="0"/>
                          <a:ea typeface="仿宋" pitchFamily="49" charset="-122"/>
                          <a:cs typeface="Consolas" pitchFamily="49" charset="0"/>
                        </a:rPr>
                        <a:t>no</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FF00FF"/>
                          </a:solidFill>
                          <a:latin typeface="Consolas" pitchFamily="49" charset="0"/>
                          <a:ea typeface="仿宋" pitchFamily="49" charset="-122"/>
                          <a:cs typeface="Consolas" pitchFamily="49" charset="0"/>
                        </a:rPr>
                        <a:t>0</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FF00FF"/>
                          </a:solidFill>
                          <a:latin typeface="Consolas" pitchFamily="49" charset="0"/>
                          <a:ea typeface="仿宋" pitchFamily="49" charset="-122"/>
                          <a:cs typeface="Consolas" pitchFamily="49" charset="0"/>
                        </a:rPr>
                        <a:t>1</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FF00FF"/>
                          </a:solidFill>
                          <a:latin typeface="Consolas" pitchFamily="49" charset="0"/>
                          <a:ea typeface="仿宋" pitchFamily="49" charset="-122"/>
                          <a:cs typeface="Consolas" pitchFamily="49" charset="0"/>
                        </a:rPr>
                        <a:t>2</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FF00FF"/>
                          </a:solidFill>
                          <a:latin typeface="Consolas" pitchFamily="49" charset="0"/>
                          <a:ea typeface="仿宋" pitchFamily="49" charset="-122"/>
                          <a:cs typeface="Consolas" pitchFamily="49" charset="0"/>
                        </a:rPr>
                        <a:t>3</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FF00FF"/>
                          </a:solidFill>
                          <a:latin typeface="Consolas" pitchFamily="49" charset="0"/>
                          <a:ea typeface="仿宋" pitchFamily="49" charset="-122"/>
                          <a:cs typeface="Consolas" pitchFamily="49" charset="0"/>
                        </a:rPr>
                        <a:t>4</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476253">
                <a:tc>
                  <a:txBody>
                    <a:bodyPr/>
                    <a:lstStyle/>
                    <a:p>
                      <a:pPr algn="ctr">
                        <a:lnSpc>
                          <a:spcPts val="3300"/>
                        </a:lnSpc>
                        <a:spcAft>
                          <a:spcPts val="0"/>
                        </a:spcAft>
                      </a:pPr>
                      <a:r>
                        <a:rPr lang="en-US" sz="2000" i="1" kern="100">
                          <a:solidFill>
                            <a:srgbClr val="0000FF"/>
                          </a:solidFill>
                          <a:latin typeface="Consolas" pitchFamily="49" charset="0"/>
                          <a:ea typeface="仿宋" pitchFamily="49" charset="-122"/>
                          <a:cs typeface="Consolas" pitchFamily="49" charset="0"/>
                        </a:rPr>
                        <a:t>w</a:t>
                      </a:r>
                      <a:endParaRPr lang="zh-CN" sz="2000"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10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20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30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40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50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476253">
                <a:tc>
                  <a:txBody>
                    <a:bodyPr/>
                    <a:lstStyle/>
                    <a:p>
                      <a:pPr algn="ctr">
                        <a:lnSpc>
                          <a:spcPts val="3300"/>
                        </a:lnSpc>
                        <a:spcAft>
                          <a:spcPts val="0"/>
                        </a:spcAft>
                      </a:pPr>
                      <a:r>
                        <a:rPr lang="en-US" sz="2000" i="1" kern="100">
                          <a:solidFill>
                            <a:srgbClr val="0000FF"/>
                          </a:solidFill>
                          <a:latin typeface="Consolas" pitchFamily="49" charset="0"/>
                          <a:ea typeface="仿宋" pitchFamily="49" charset="-122"/>
                          <a:cs typeface="Consolas" pitchFamily="49" charset="0"/>
                        </a:rPr>
                        <a:t>v</a:t>
                      </a:r>
                      <a:endParaRPr lang="zh-CN" sz="2000"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20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30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66</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40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60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2"/>
                  </a:ext>
                </a:extLst>
              </a:tr>
            </a:tbl>
          </a:graphicData>
        </a:graphic>
      </p:graphicFrame>
      <p:sp>
        <p:nvSpPr>
          <p:cNvPr id="24" name="TextBox 23"/>
          <p:cNvSpPr txBox="1"/>
          <p:nvPr/>
        </p:nvSpPr>
        <p:spPr>
          <a:xfrm>
            <a:off x="7143768" y="4857760"/>
            <a:ext cx="142876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mn-ea"/>
                <a:cs typeface="Consolas" pitchFamily="49" charset="0"/>
              </a:rPr>
              <a:t>W=100</a:t>
            </a:r>
            <a:endParaRPr lang="zh-CN" altLang="en-US" sz="2000">
              <a:solidFill>
                <a:srgbClr val="0000FF"/>
              </a:solidFill>
              <a:latin typeface="Consolas" pitchFamily="49" charset="0"/>
              <a:ea typeface="+mn-ea"/>
              <a:cs typeface="Consolas" pitchFamily="49" charset="0"/>
            </a:endParaRPr>
          </a:p>
        </p:txBody>
      </p:sp>
      <p:sp>
        <p:nvSpPr>
          <p:cNvPr id="9" name="TextBox 8">
            <a:hlinkClick r:id="" action="ppaction://noaction"/>
          </p:cNvPr>
          <p:cNvSpPr txBox="1"/>
          <p:nvPr/>
        </p:nvSpPr>
        <p:spPr>
          <a:xfrm>
            <a:off x="2500298" y="357166"/>
            <a:ext cx="357190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8.3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背包问题</a:t>
            </a: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43</a:t>
            </a:fld>
            <a:r>
              <a:rPr lang="en-US" altLang="zh-CN"/>
              <a:t>/109</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3" name="TextBox 32"/>
          <p:cNvSpPr txBox="1"/>
          <p:nvPr/>
        </p:nvSpPr>
        <p:spPr>
          <a:xfrm>
            <a:off x="214282" y="671436"/>
            <a:ext cx="571504"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34" name="TextBox 33"/>
          <p:cNvSpPr txBox="1"/>
          <p:nvPr/>
        </p:nvSpPr>
        <p:spPr>
          <a:xfrm>
            <a:off x="1000100" y="637240"/>
            <a:ext cx="7143800" cy="57718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buBlip>
                <a:blip r:embed="rId2"/>
              </a:buBlip>
            </a:pPr>
            <a:r>
              <a:rPr lang="zh-CN" altLang="zh-CN">
                <a:solidFill>
                  <a:srgbClr val="FF0000"/>
                </a:solidFill>
                <a:latin typeface="Times New Roman" pitchFamily="18" charset="0"/>
                <a:ea typeface="楷体" pitchFamily="49" charset="-122"/>
                <a:cs typeface="Times New Roman" pitchFamily="18" charset="0"/>
              </a:rPr>
              <a:t>贪心策略</a:t>
            </a:r>
            <a:r>
              <a:rPr lang="zh-CN" altLang="en-US">
                <a:solidFill>
                  <a:srgbClr val="0000FF"/>
                </a:solidFill>
                <a:latin typeface="Times New Roman" pitchFamily="18" charset="0"/>
                <a:ea typeface="楷体"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每次选择单位重量价值最大的物品</a:t>
            </a:r>
            <a:r>
              <a:rPr lang="zh-CN" altLang="en-US">
                <a:solidFill>
                  <a:srgbClr val="0000FF"/>
                </a:solidFill>
                <a:latin typeface="Consolas" pitchFamily="49" charset="0"/>
                <a:ea typeface="仿宋" pitchFamily="49" charset="-122"/>
                <a:cs typeface="Times New Roman" pitchFamily="18" charset="0"/>
              </a:rPr>
              <a:t>。</a:t>
            </a:r>
            <a:endParaRPr lang="zh-CN" altLang="zh-CN">
              <a:solidFill>
                <a:srgbClr val="0000FF"/>
              </a:solidFill>
              <a:latin typeface="Consolas" pitchFamily="49" charset="0"/>
              <a:ea typeface="仿宋" pitchFamily="49" charset="-122"/>
              <a:cs typeface="Times New Roman" pitchFamily="18" charset="0"/>
            </a:endParaRPr>
          </a:p>
        </p:txBody>
      </p:sp>
      <p:graphicFrame>
        <p:nvGraphicFramePr>
          <p:cNvPr id="35" name="表格 34"/>
          <p:cNvGraphicFramePr>
            <a:graphicFrameLocks noGrp="1"/>
          </p:cNvGraphicFramePr>
          <p:nvPr/>
        </p:nvGraphicFramePr>
        <p:xfrm>
          <a:off x="428596" y="1500174"/>
          <a:ext cx="6715169" cy="2344750"/>
        </p:xfrm>
        <a:graphic>
          <a:graphicData uri="http://schemas.openxmlformats.org/drawingml/2006/table">
            <a:tbl>
              <a:tblPr>
                <a:tableStyleId>{35758FB7-9AC5-4552-8A53-C91805E547FA}</a:tableStyleId>
              </a:tblPr>
              <a:tblGrid>
                <a:gridCol w="1928824">
                  <a:extLst>
                    <a:ext uri="{9D8B030D-6E8A-4147-A177-3AD203B41FA5}">
                      <a16:colId xmlns:a16="http://schemas.microsoft.com/office/drawing/2014/main" val="20000"/>
                    </a:ext>
                  </a:extLst>
                </a:gridCol>
                <a:gridCol w="1000132">
                  <a:extLst>
                    <a:ext uri="{9D8B030D-6E8A-4147-A177-3AD203B41FA5}">
                      <a16:colId xmlns:a16="http://schemas.microsoft.com/office/drawing/2014/main" val="20001"/>
                    </a:ext>
                  </a:extLst>
                </a:gridCol>
                <a:gridCol w="928694">
                  <a:extLst>
                    <a:ext uri="{9D8B030D-6E8A-4147-A177-3AD203B41FA5}">
                      <a16:colId xmlns:a16="http://schemas.microsoft.com/office/drawing/2014/main" val="20002"/>
                    </a:ext>
                  </a:extLst>
                </a:gridCol>
                <a:gridCol w="857256">
                  <a:extLst>
                    <a:ext uri="{9D8B030D-6E8A-4147-A177-3AD203B41FA5}">
                      <a16:colId xmlns:a16="http://schemas.microsoft.com/office/drawing/2014/main" val="20003"/>
                    </a:ext>
                  </a:extLst>
                </a:gridCol>
                <a:gridCol w="785818">
                  <a:extLst>
                    <a:ext uri="{9D8B030D-6E8A-4147-A177-3AD203B41FA5}">
                      <a16:colId xmlns:a16="http://schemas.microsoft.com/office/drawing/2014/main" val="20004"/>
                    </a:ext>
                  </a:extLst>
                </a:gridCol>
                <a:gridCol w="1214445">
                  <a:extLst>
                    <a:ext uri="{9D8B030D-6E8A-4147-A177-3AD203B41FA5}">
                      <a16:colId xmlns:a16="http://schemas.microsoft.com/office/drawing/2014/main" val="20005"/>
                    </a:ext>
                  </a:extLst>
                </a:gridCol>
              </a:tblGrid>
              <a:tr h="468950">
                <a:tc>
                  <a:txBody>
                    <a:bodyPr/>
                    <a:lstStyle/>
                    <a:p>
                      <a:pPr algn="ctr">
                        <a:lnSpc>
                          <a:spcPts val="3300"/>
                        </a:lnSpc>
                        <a:spcAft>
                          <a:spcPts val="0"/>
                        </a:spcAft>
                      </a:pPr>
                      <a:r>
                        <a:rPr lang="zh-CN" sz="2000" kern="100">
                          <a:solidFill>
                            <a:srgbClr val="FF00FF"/>
                          </a:solidFill>
                          <a:latin typeface="Consolas" pitchFamily="49" charset="0"/>
                          <a:ea typeface="仿宋" pitchFamily="49" charset="-122"/>
                          <a:cs typeface="Consolas" pitchFamily="49" charset="0"/>
                        </a:rPr>
                        <a:t>序号</a:t>
                      </a:r>
                      <a:r>
                        <a:rPr lang="en-US" sz="2000" i="1" kern="100">
                          <a:solidFill>
                            <a:srgbClr val="FF00FF"/>
                          </a:solidFill>
                          <a:latin typeface="Consolas" pitchFamily="49" charset="0"/>
                          <a:ea typeface="仿宋" pitchFamily="49" charset="-122"/>
                          <a:cs typeface="Consolas" pitchFamily="49" charset="0"/>
                        </a:rPr>
                        <a:t>i</a:t>
                      </a:r>
                      <a:endParaRPr lang="zh-CN" sz="2000" i="1"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FF00FF"/>
                          </a:solidFill>
                          <a:latin typeface="Consolas" pitchFamily="49" charset="0"/>
                          <a:ea typeface="仿宋" pitchFamily="49" charset="-122"/>
                          <a:cs typeface="Consolas" pitchFamily="49" charset="0"/>
                        </a:rPr>
                        <a:t>0</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FF00FF"/>
                          </a:solidFill>
                          <a:latin typeface="Consolas" pitchFamily="49" charset="0"/>
                          <a:ea typeface="仿宋" pitchFamily="49" charset="-122"/>
                          <a:cs typeface="Consolas" pitchFamily="49" charset="0"/>
                        </a:rPr>
                        <a:t>1</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FF00FF"/>
                          </a:solidFill>
                          <a:latin typeface="Consolas" pitchFamily="49" charset="0"/>
                          <a:ea typeface="仿宋" pitchFamily="49" charset="-122"/>
                          <a:cs typeface="Consolas" pitchFamily="49" charset="0"/>
                        </a:rPr>
                        <a:t>2</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FF00FF"/>
                          </a:solidFill>
                          <a:latin typeface="Consolas" pitchFamily="49" charset="0"/>
                          <a:ea typeface="仿宋" pitchFamily="49" charset="-122"/>
                          <a:cs typeface="Consolas" pitchFamily="49" charset="0"/>
                        </a:rPr>
                        <a:t>3</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FF00FF"/>
                          </a:solidFill>
                          <a:latin typeface="Consolas" pitchFamily="49" charset="0"/>
                          <a:ea typeface="仿宋" pitchFamily="49" charset="-122"/>
                          <a:cs typeface="Consolas" pitchFamily="49" charset="0"/>
                        </a:rPr>
                        <a:t>4</a:t>
                      </a:r>
                      <a:endParaRPr lang="zh-CN" sz="20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468950">
                <a:tc>
                  <a:txBody>
                    <a:bodyPr/>
                    <a:lstStyle/>
                    <a:p>
                      <a:pPr algn="ctr">
                        <a:lnSpc>
                          <a:spcPts val="3300"/>
                        </a:lnSpc>
                        <a:spcAft>
                          <a:spcPts val="0"/>
                        </a:spcAft>
                      </a:pPr>
                      <a:r>
                        <a:rPr lang="zh-CN" sz="2000" kern="100">
                          <a:solidFill>
                            <a:srgbClr val="0000FF"/>
                          </a:solidFill>
                          <a:latin typeface="Consolas" pitchFamily="49" charset="0"/>
                          <a:ea typeface="仿宋" pitchFamily="49" charset="-122"/>
                          <a:cs typeface="Consolas" pitchFamily="49" charset="0"/>
                        </a:rPr>
                        <a:t>物品编号</a:t>
                      </a:r>
                      <a:r>
                        <a:rPr lang="en-US" sz="2000" kern="100">
                          <a:solidFill>
                            <a:srgbClr val="0000FF"/>
                          </a:solidFill>
                          <a:latin typeface="Consolas" pitchFamily="49" charset="0"/>
                          <a:ea typeface="仿宋" pitchFamily="49" charset="-122"/>
                          <a:cs typeface="Consolas" pitchFamily="49" charset="0"/>
                        </a:rPr>
                        <a:t>no</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altLang="zh-CN" sz="2000" kern="100">
                          <a:solidFill>
                            <a:srgbClr val="0000FF"/>
                          </a:solidFill>
                          <a:latin typeface="Consolas" pitchFamily="49" charset="0"/>
                          <a:ea typeface="仿宋" pitchFamily="49" charset="-122"/>
                          <a:cs typeface="Consolas" pitchFamily="49" charset="0"/>
                        </a:rPr>
                        <a:t>2</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1</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4</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3</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468950">
                <a:tc>
                  <a:txBody>
                    <a:bodyPr/>
                    <a:lstStyle/>
                    <a:p>
                      <a:pPr algn="ctr">
                        <a:lnSpc>
                          <a:spcPts val="3300"/>
                        </a:lnSpc>
                        <a:spcAft>
                          <a:spcPts val="0"/>
                        </a:spcAft>
                      </a:pPr>
                      <a:r>
                        <a:rPr lang="en-US" sz="2000" i="1" kern="100">
                          <a:solidFill>
                            <a:srgbClr val="0000FF"/>
                          </a:solidFill>
                          <a:latin typeface="Consolas" pitchFamily="49" charset="0"/>
                          <a:ea typeface="仿宋" pitchFamily="49" charset="-122"/>
                          <a:cs typeface="Consolas" pitchFamily="49" charset="0"/>
                        </a:rPr>
                        <a:t>w</a:t>
                      </a:r>
                      <a:endParaRPr lang="zh-CN" sz="2000"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30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10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20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50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40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468950">
                <a:tc>
                  <a:txBody>
                    <a:bodyPr/>
                    <a:lstStyle/>
                    <a:p>
                      <a:pPr algn="ctr">
                        <a:lnSpc>
                          <a:spcPts val="3300"/>
                        </a:lnSpc>
                        <a:spcAft>
                          <a:spcPts val="0"/>
                        </a:spcAft>
                      </a:pPr>
                      <a:r>
                        <a:rPr lang="en-US" sz="2000" i="1" kern="100">
                          <a:solidFill>
                            <a:srgbClr val="0000FF"/>
                          </a:solidFill>
                          <a:latin typeface="Consolas" pitchFamily="49" charset="0"/>
                          <a:ea typeface="仿宋" pitchFamily="49" charset="-122"/>
                          <a:cs typeface="Consolas" pitchFamily="49" charset="0"/>
                        </a:rPr>
                        <a:t>v</a:t>
                      </a:r>
                      <a:endParaRPr lang="zh-CN" sz="2000"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66</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20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30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60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00FF"/>
                          </a:solidFill>
                          <a:latin typeface="Consolas" pitchFamily="49" charset="0"/>
                          <a:ea typeface="仿宋" pitchFamily="49" charset="-122"/>
                          <a:cs typeface="Consolas" pitchFamily="49" charset="0"/>
                        </a:rPr>
                        <a:t>40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468950">
                <a:tc>
                  <a:txBody>
                    <a:bodyPr/>
                    <a:lstStyle/>
                    <a:p>
                      <a:pPr algn="ctr">
                        <a:lnSpc>
                          <a:spcPts val="3300"/>
                        </a:lnSpc>
                        <a:spcAft>
                          <a:spcPts val="0"/>
                        </a:spcAft>
                      </a:pPr>
                      <a:r>
                        <a:rPr lang="en-US" sz="2000" i="1" kern="100">
                          <a:solidFill>
                            <a:srgbClr val="006600"/>
                          </a:solidFill>
                          <a:latin typeface="Consolas" pitchFamily="49" charset="0"/>
                          <a:ea typeface="仿宋" pitchFamily="49" charset="-122"/>
                          <a:cs typeface="Consolas" pitchFamily="49" charset="0"/>
                        </a:rPr>
                        <a:t>v</a:t>
                      </a:r>
                      <a:r>
                        <a:rPr lang="en-US" sz="2000" i="0" kern="100">
                          <a:solidFill>
                            <a:srgbClr val="006600"/>
                          </a:solidFill>
                          <a:latin typeface="Consolas" pitchFamily="49" charset="0"/>
                          <a:ea typeface="仿宋" pitchFamily="49" charset="-122"/>
                          <a:cs typeface="Consolas" pitchFamily="49" charset="0"/>
                        </a:rPr>
                        <a:t>/</a:t>
                      </a:r>
                      <a:r>
                        <a:rPr lang="en-US" sz="2000" i="1" kern="100">
                          <a:solidFill>
                            <a:srgbClr val="006600"/>
                          </a:solidFill>
                          <a:latin typeface="Consolas" pitchFamily="49" charset="0"/>
                          <a:ea typeface="仿宋" pitchFamily="49" charset="-122"/>
                          <a:cs typeface="Consolas" pitchFamily="49" charset="0"/>
                        </a:rPr>
                        <a:t>w</a:t>
                      </a:r>
                      <a:endParaRPr lang="zh-CN" sz="2000" i="1" kern="100">
                        <a:solidFill>
                          <a:srgbClr val="0066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6600"/>
                          </a:solidFill>
                          <a:latin typeface="Consolas" pitchFamily="49" charset="0"/>
                          <a:ea typeface="仿宋" pitchFamily="49" charset="-122"/>
                          <a:cs typeface="Consolas" pitchFamily="49" charset="0"/>
                        </a:rPr>
                        <a:t>2.2</a:t>
                      </a:r>
                      <a:endParaRPr lang="zh-CN" sz="2000" kern="100">
                        <a:solidFill>
                          <a:srgbClr val="0066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6600"/>
                          </a:solidFill>
                          <a:latin typeface="Consolas" pitchFamily="49" charset="0"/>
                          <a:ea typeface="仿宋" pitchFamily="49" charset="-122"/>
                          <a:cs typeface="Consolas" pitchFamily="49" charset="0"/>
                        </a:rPr>
                        <a:t>2.0</a:t>
                      </a:r>
                      <a:endParaRPr lang="zh-CN" sz="2000" kern="100">
                        <a:solidFill>
                          <a:srgbClr val="0066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6600"/>
                          </a:solidFill>
                          <a:latin typeface="Consolas" pitchFamily="49" charset="0"/>
                          <a:ea typeface="仿宋" pitchFamily="49" charset="-122"/>
                          <a:cs typeface="Consolas" pitchFamily="49" charset="0"/>
                        </a:rPr>
                        <a:t>1.5</a:t>
                      </a:r>
                      <a:endParaRPr lang="zh-CN" sz="2000" kern="100">
                        <a:solidFill>
                          <a:srgbClr val="0066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6600"/>
                          </a:solidFill>
                          <a:latin typeface="Consolas" pitchFamily="49" charset="0"/>
                          <a:ea typeface="仿宋" pitchFamily="49" charset="-122"/>
                          <a:cs typeface="Consolas" pitchFamily="49" charset="0"/>
                        </a:rPr>
                        <a:t>1.2</a:t>
                      </a:r>
                      <a:endParaRPr lang="zh-CN" sz="2000" kern="100">
                        <a:solidFill>
                          <a:srgbClr val="0066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3300"/>
                        </a:lnSpc>
                        <a:spcAft>
                          <a:spcPts val="0"/>
                        </a:spcAft>
                      </a:pPr>
                      <a:r>
                        <a:rPr lang="en-US" sz="2000" kern="100">
                          <a:solidFill>
                            <a:srgbClr val="006600"/>
                          </a:solidFill>
                          <a:latin typeface="Consolas" pitchFamily="49" charset="0"/>
                          <a:ea typeface="仿宋" pitchFamily="49" charset="-122"/>
                          <a:cs typeface="Consolas" pitchFamily="49" charset="0"/>
                        </a:rPr>
                        <a:t>1.0</a:t>
                      </a:r>
                      <a:endParaRPr lang="zh-CN" sz="2000" kern="100">
                        <a:solidFill>
                          <a:srgbClr val="0066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4"/>
                  </a:ext>
                </a:extLst>
              </a:tr>
            </a:tbl>
          </a:graphicData>
        </a:graphic>
      </p:graphicFrame>
      <p:grpSp>
        <p:nvGrpSpPr>
          <p:cNvPr id="16" name="组合 15"/>
          <p:cNvGrpSpPr/>
          <p:nvPr/>
        </p:nvGrpSpPr>
        <p:grpSpPr>
          <a:xfrm>
            <a:off x="642910" y="3786190"/>
            <a:ext cx="2214575" cy="1521093"/>
            <a:chOff x="642910" y="3786190"/>
            <a:chExt cx="2214575" cy="1521093"/>
          </a:xfrm>
        </p:grpSpPr>
        <p:sp>
          <p:nvSpPr>
            <p:cNvPr id="36" name="TextBox 35"/>
            <p:cNvSpPr txBox="1"/>
            <p:nvPr/>
          </p:nvSpPr>
          <p:spPr>
            <a:xfrm>
              <a:off x="642910" y="4291620"/>
              <a:ext cx="2000261" cy="1015663"/>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仿宋" pitchFamily="49" charset="-122"/>
                  <a:cs typeface="Times New Roman" pitchFamily="18" charset="0"/>
                </a:rPr>
                <a:t>x</a:t>
              </a:r>
              <a:r>
                <a:rPr lang="en-US" altLang="zh-CN" sz="2000">
                  <a:solidFill>
                    <a:srgbClr val="0000FF"/>
                  </a:solidFill>
                  <a:latin typeface="Consolas" pitchFamily="49" charset="0"/>
                  <a:ea typeface="仿宋" pitchFamily="49" charset="-122"/>
                  <a:cs typeface="Times New Roman" pitchFamily="18" charset="0"/>
                </a:rPr>
                <a:t>[0]=1</a:t>
              </a:r>
            </a:p>
            <a:p>
              <a:pPr algn="l">
                <a:lnSpc>
                  <a:spcPct val="100000"/>
                </a:lnSpc>
                <a:spcBef>
                  <a:spcPts val="0"/>
                </a:spcBef>
              </a:pPr>
              <a:r>
                <a:rPr lang="en-US" altLang="zh-CN" sz="2000">
                  <a:solidFill>
                    <a:srgbClr val="0000FF"/>
                  </a:solidFill>
                  <a:latin typeface="Consolas" pitchFamily="49" charset="0"/>
                  <a:ea typeface="仿宋" pitchFamily="49" charset="-122"/>
                  <a:cs typeface="Times New Roman" pitchFamily="18" charset="0"/>
                </a:rPr>
                <a:t>bestv=66</a:t>
              </a:r>
            </a:p>
            <a:p>
              <a:pPr algn="l">
                <a:lnSpc>
                  <a:spcPct val="100000"/>
                </a:lnSpc>
                <a:spcBef>
                  <a:spcPts val="0"/>
                </a:spcBef>
              </a:pPr>
              <a:r>
                <a:rPr lang="en-US" altLang="zh-CN" sz="2000">
                  <a:solidFill>
                    <a:srgbClr val="0000FF"/>
                  </a:solidFill>
                  <a:latin typeface="Consolas" pitchFamily="49" charset="0"/>
                  <a:ea typeface="仿宋" pitchFamily="49" charset="-122"/>
                  <a:cs typeface="Times New Roman" pitchFamily="18" charset="0"/>
                </a:rPr>
                <a:t>rw=rw-</a:t>
              </a:r>
              <a:r>
                <a:rPr lang="en-US" altLang="zh-CN" sz="2000" i="1">
                  <a:solidFill>
                    <a:srgbClr val="0000FF"/>
                  </a:solidFill>
                  <a:latin typeface="Consolas" pitchFamily="49" charset="0"/>
                  <a:ea typeface="仿宋" pitchFamily="49" charset="-122"/>
                  <a:cs typeface="Times New Roman" pitchFamily="18" charset="0"/>
                </a:rPr>
                <a:t>w</a:t>
              </a:r>
              <a:r>
                <a:rPr lang="en-US" altLang="zh-CN" sz="2000">
                  <a:solidFill>
                    <a:srgbClr val="0000FF"/>
                  </a:solidFill>
                  <a:latin typeface="Consolas" pitchFamily="49" charset="0"/>
                  <a:ea typeface="仿宋" pitchFamily="49" charset="-122"/>
                  <a:cs typeface="Times New Roman" pitchFamily="18" charset="0"/>
                </a:rPr>
                <a:t>[0]=70</a:t>
              </a:r>
              <a:endParaRPr lang="zh-CN" altLang="en-US" sz="2000">
                <a:solidFill>
                  <a:srgbClr val="0000FF"/>
                </a:solidFill>
                <a:latin typeface="Consolas" pitchFamily="49" charset="0"/>
                <a:ea typeface="仿宋" pitchFamily="49" charset="-122"/>
                <a:cs typeface="Times New Roman" pitchFamily="18" charset="0"/>
              </a:endParaRPr>
            </a:p>
          </p:txBody>
        </p:sp>
        <p:cxnSp>
          <p:nvCxnSpPr>
            <p:cNvPr id="41" name="直接箭头连接符 40"/>
            <p:cNvCxnSpPr/>
            <p:nvPr/>
          </p:nvCxnSpPr>
          <p:spPr>
            <a:xfrm flipV="1">
              <a:off x="1714480" y="3786190"/>
              <a:ext cx="1143005" cy="78581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18" name="组合 17"/>
          <p:cNvGrpSpPr/>
          <p:nvPr/>
        </p:nvGrpSpPr>
        <p:grpSpPr>
          <a:xfrm>
            <a:off x="2643174" y="3714752"/>
            <a:ext cx="2214578" cy="1592531"/>
            <a:chOff x="2643174" y="3714752"/>
            <a:chExt cx="2214578" cy="1592531"/>
          </a:xfrm>
        </p:grpSpPr>
        <p:sp>
          <p:nvSpPr>
            <p:cNvPr id="37" name="TextBox 36"/>
            <p:cNvSpPr txBox="1"/>
            <p:nvPr/>
          </p:nvSpPr>
          <p:spPr>
            <a:xfrm>
              <a:off x="2643174" y="4291620"/>
              <a:ext cx="2214578" cy="1015663"/>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仿宋" pitchFamily="49" charset="-122"/>
                  <a:cs typeface="Times New Roman" pitchFamily="18" charset="0"/>
                </a:rPr>
                <a:t>x</a:t>
              </a:r>
              <a:r>
                <a:rPr lang="en-US" altLang="zh-CN" sz="2000">
                  <a:solidFill>
                    <a:srgbClr val="0000FF"/>
                  </a:solidFill>
                  <a:latin typeface="Consolas" pitchFamily="49" charset="0"/>
                  <a:ea typeface="仿宋" pitchFamily="49" charset="-122"/>
                  <a:cs typeface="Times New Roman" pitchFamily="18" charset="0"/>
                </a:rPr>
                <a:t>[1]=1</a:t>
              </a:r>
            </a:p>
            <a:p>
              <a:pPr algn="l">
                <a:lnSpc>
                  <a:spcPct val="100000"/>
                </a:lnSpc>
                <a:spcBef>
                  <a:spcPts val="0"/>
                </a:spcBef>
              </a:pPr>
              <a:r>
                <a:rPr lang="en-US" altLang="zh-CN" sz="2000">
                  <a:solidFill>
                    <a:srgbClr val="0000FF"/>
                  </a:solidFill>
                  <a:latin typeface="Consolas" pitchFamily="49" charset="0"/>
                  <a:ea typeface="仿宋" pitchFamily="49" charset="-122"/>
                  <a:cs typeface="Times New Roman" pitchFamily="18" charset="0"/>
                </a:rPr>
                <a:t>bestv=66+20=86</a:t>
              </a:r>
            </a:p>
            <a:p>
              <a:pPr algn="l">
                <a:lnSpc>
                  <a:spcPct val="100000"/>
                </a:lnSpc>
                <a:spcBef>
                  <a:spcPts val="0"/>
                </a:spcBef>
              </a:pPr>
              <a:r>
                <a:rPr lang="en-US" altLang="zh-CN" sz="2000">
                  <a:solidFill>
                    <a:srgbClr val="0000FF"/>
                  </a:solidFill>
                  <a:latin typeface="Consolas" pitchFamily="49" charset="0"/>
                  <a:ea typeface="仿宋" pitchFamily="49" charset="-122"/>
                  <a:cs typeface="Times New Roman" pitchFamily="18" charset="0"/>
                </a:rPr>
                <a:t>rw=rw-</a:t>
              </a:r>
              <a:r>
                <a:rPr lang="en-US" altLang="zh-CN" sz="2000" i="1">
                  <a:solidFill>
                    <a:srgbClr val="0000FF"/>
                  </a:solidFill>
                  <a:latin typeface="Consolas" pitchFamily="49" charset="0"/>
                  <a:ea typeface="仿宋" pitchFamily="49" charset="-122"/>
                  <a:cs typeface="Times New Roman" pitchFamily="18" charset="0"/>
                </a:rPr>
                <a:t>w</a:t>
              </a:r>
              <a:r>
                <a:rPr lang="en-US" altLang="zh-CN" sz="2000">
                  <a:solidFill>
                    <a:srgbClr val="0000FF"/>
                  </a:solidFill>
                  <a:latin typeface="Consolas" pitchFamily="49" charset="0"/>
                  <a:ea typeface="仿宋" pitchFamily="49" charset="-122"/>
                  <a:cs typeface="Times New Roman" pitchFamily="18" charset="0"/>
                </a:rPr>
                <a:t>[1]=60</a:t>
              </a:r>
              <a:endParaRPr lang="zh-CN" altLang="en-US" sz="2000">
                <a:solidFill>
                  <a:srgbClr val="0000FF"/>
                </a:solidFill>
                <a:latin typeface="Consolas" pitchFamily="49" charset="0"/>
                <a:ea typeface="仿宋" pitchFamily="49" charset="-122"/>
                <a:cs typeface="Times New Roman" pitchFamily="18" charset="0"/>
              </a:endParaRPr>
            </a:p>
          </p:txBody>
        </p:sp>
        <p:cxnSp>
          <p:nvCxnSpPr>
            <p:cNvPr id="43" name="直接箭头连接符 42"/>
            <p:cNvCxnSpPr/>
            <p:nvPr/>
          </p:nvCxnSpPr>
          <p:spPr>
            <a:xfrm rot="5400000" flipH="1" flipV="1">
              <a:off x="3304770" y="3910413"/>
              <a:ext cx="570709" cy="1793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19" name="组合 18"/>
          <p:cNvGrpSpPr/>
          <p:nvPr/>
        </p:nvGrpSpPr>
        <p:grpSpPr>
          <a:xfrm>
            <a:off x="4429124" y="3714752"/>
            <a:ext cx="2357454" cy="1592531"/>
            <a:chOff x="4429124" y="3714752"/>
            <a:chExt cx="2357454" cy="1592531"/>
          </a:xfrm>
        </p:grpSpPr>
        <p:sp>
          <p:nvSpPr>
            <p:cNvPr id="38" name="TextBox 37"/>
            <p:cNvSpPr txBox="1"/>
            <p:nvPr/>
          </p:nvSpPr>
          <p:spPr>
            <a:xfrm>
              <a:off x="4429124" y="4291620"/>
              <a:ext cx="2357454" cy="1015663"/>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仿宋" pitchFamily="49" charset="-122"/>
                  <a:cs typeface="Times New Roman" pitchFamily="18" charset="0"/>
                </a:rPr>
                <a:t>x</a:t>
              </a:r>
              <a:r>
                <a:rPr lang="en-US" altLang="zh-CN" sz="2000">
                  <a:solidFill>
                    <a:srgbClr val="0000FF"/>
                  </a:solidFill>
                  <a:latin typeface="Consolas" pitchFamily="49" charset="0"/>
                  <a:ea typeface="仿宋" pitchFamily="49" charset="-122"/>
                  <a:cs typeface="Times New Roman" pitchFamily="18" charset="0"/>
                </a:rPr>
                <a:t>[2]=1</a:t>
              </a:r>
            </a:p>
            <a:p>
              <a:pPr algn="l">
                <a:lnSpc>
                  <a:spcPct val="100000"/>
                </a:lnSpc>
                <a:spcBef>
                  <a:spcPts val="0"/>
                </a:spcBef>
              </a:pPr>
              <a:r>
                <a:rPr lang="en-US" altLang="zh-CN" sz="2000">
                  <a:solidFill>
                    <a:srgbClr val="0000FF"/>
                  </a:solidFill>
                  <a:latin typeface="Consolas" pitchFamily="49" charset="0"/>
                  <a:ea typeface="仿宋" pitchFamily="49" charset="-122"/>
                  <a:cs typeface="Times New Roman" pitchFamily="18" charset="0"/>
                </a:rPr>
                <a:t>bestv=86+30=116</a:t>
              </a:r>
            </a:p>
            <a:p>
              <a:pPr algn="l">
                <a:lnSpc>
                  <a:spcPct val="100000"/>
                </a:lnSpc>
                <a:spcBef>
                  <a:spcPts val="0"/>
                </a:spcBef>
              </a:pPr>
              <a:r>
                <a:rPr lang="en-US" altLang="zh-CN" sz="2000">
                  <a:solidFill>
                    <a:srgbClr val="0000FF"/>
                  </a:solidFill>
                  <a:latin typeface="Consolas" pitchFamily="49" charset="0"/>
                  <a:ea typeface="仿宋" pitchFamily="49" charset="-122"/>
                  <a:cs typeface="Times New Roman" pitchFamily="18" charset="0"/>
                </a:rPr>
                <a:t>rw=rw-</a:t>
              </a:r>
              <a:r>
                <a:rPr lang="en-US" altLang="zh-CN" sz="2000" i="1">
                  <a:solidFill>
                    <a:srgbClr val="0000FF"/>
                  </a:solidFill>
                  <a:latin typeface="Consolas" pitchFamily="49" charset="0"/>
                  <a:ea typeface="仿宋" pitchFamily="49" charset="-122"/>
                  <a:cs typeface="Times New Roman" pitchFamily="18" charset="0"/>
                </a:rPr>
                <a:t>w</a:t>
              </a:r>
              <a:r>
                <a:rPr lang="en-US" altLang="zh-CN" sz="2000">
                  <a:solidFill>
                    <a:srgbClr val="0000FF"/>
                  </a:solidFill>
                  <a:latin typeface="Consolas" pitchFamily="49" charset="0"/>
                  <a:ea typeface="仿宋" pitchFamily="49" charset="-122"/>
                  <a:cs typeface="Times New Roman" pitchFamily="18" charset="0"/>
                </a:rPr>
                <a:t>[2]=40</a:t>
              </a:r>
              <a:endParaRPr lang="zh-CN" altLang="en-US" sz="2000">
                <a:solidFill>
                  <a:srgbClr val="0000FF"/>
                </a:solidFill>
                <a:latin typeface="Consolas" pitchFamily="49" charset="0"/>
                <a:ea typeface="仿宋" pitchFamily="49" charset="-122"/>
                <a:cs typeface="Times New Roman" pitchFamily="18" charset="0"/>
              </a:endParaRPr>
            </a:p>
          </p:txBody>
        </p:sp>
        <p:cxnSp>
          <p:nvCxnSpPr>
            <p:cNvPr id="45" name="直接箭头连接符 44"/>
            <p:cNvCxnSpPr/>
            <p:nvPr/>
          </p:nvCxnSpPr>
          <p:spPr>
            <a:xfrm rot="16200000" flipV="1">
              <a:off x="4643437" y="3857626"/>
              <a:ext cx="571504" cy="285755"/>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20" name="组合 19"/>
          <p:cNvGrpSpPr/>
          <p:nvPr/>
        </p:nvGrpSpPr>
        <p:grpSpPr>
          <a:xfrm>
            <a:off x="5643570" y="3786190"/>
            <a:ext cx="3286148" cy="1521093"/>
            <a:chOff x="5643570" y="3786190"/>
            <a:chExt cx="3286148" cy="1521093"/>
          </a:xfrm>
        </p:grpSpPr>
        <p:sp>
          <p:nvSpPr>
            <p:cNvPr id="39" name="TextBox 38"/>
            <p:cNvSpPr txBox="1"/>
            <p:nvPr/>
          </p:nvSpPr>
          <p:spPr>
            <a:xfrm>
              <a:off x="6500826" y="4291620"/>
              <a:ext cx="2428892" cy="1015663"/>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仿宋" pitchFamily="49" charset="-122"/>
                  <a:cs typeface="Times New Roman" pitchFamily="18" charset="0"/>
                </a:rPr>
                <a:t>x</a:t>
              </a:r>
              <a:r>
                <a:rPr lang="en-US" altLang="zh-CN" sz="2000">
                  <a:solidFill>
                    <a:srgbClr val="0000FF"/>
                  </a:solidFill>
                  <a:latin typeface="Consolas" pitchFamily="49" charset="0"/>
                  <a:ea typeface="仿宋" pitchFamily="49" charset="-122"/>
                  <a:cs typeface="Times New Roman" pitchFamily="18" charset="0"/>
                </a:rPr>
                <a:t>[3]=0.8</a:t>
              </a:r>
              <a:endParaRPr lang="zh-CN" altLang="en-US" sz="2000">
                <a:solidFill>
                  <a:srgbClr val="0000FF"/>
                </a:solidFill>
                <a:latin typeface="Consolas" pitchFamily="49" charset="0"/>
                <a:ea typeface="仿宋" pitchFamily="49" charset="-122"/>
                <a:cs typeface="Times New Roman" pitchFamily="18" charset="0"/>
              </a:endParaRPr>
            </a:p>
            <a:p>
              <a:pPr algn="l">
                <a:lnSpc>
                  <a:spcPct val="100000"/>
                </a:lnSpc>
                <a:spcBef>
                  <a:spcPts val="0"/>
                </a:spcBef>
              </a:pPr>
              <a:r>
                <a:rPr lang="en-US" altLang="zh-CN" sz="2000">
                  <a:solidFill>
                    <a:srgbClr val="0000FF"/>
                  </a:solidFill>
                  <a:latin typeface="Consolas" pitchFamily="49" charset="0"/>
                  <a:ea typeface="仿宋" pitchFamily="49" charset="-122"/>
                  <a:cs typeface="Times New Roman" pitchFamily="18" charset="0"/>
                </a:rPr>
                <a:t>bestv=116+0.8*60</a:t>
              </a:r>
            </a:p>
            <a:p>
              <a:pPr algn="l">
                <a:lnSpc>
                  <a:spcPct val="100000"/>
                </a:lnSpc>
                <a:spcBef>
                  <a:spcPts val="0"/>
                </a:spcBef>
              </a:pPr>
              <a:r>
                <a:rPr lang="en-US" altLang="zh-CN" sz="2000">
                  <a:solidFill>
                    <a:srgbClr val="0000FF"/>
                  </a:solidFill>
                  <a:latin typeface="Consolas" pitchFamily="49" charset="0"/>
                  <a:ea typeface="仿宋" pitchFamily="49" charset="-122"/>
                  <a:cs typeface="Times New Roman" pitchFamily="18" charset="0"/>
                </a:rPr>
                <a:t>=164</a:t>
              </a:r>
            </a:p>
          </p:txBody>
        </p:sp>
        <p:cxnSp>
          <p:nvCxnSpPr>
            <p:cNvPr id="49" name="直接箭头连接符 48"/>
            <p:cNvCxnSpPr/>
            <p:nvPr/>
          </p:nvCxnSpPr>
          <p:spPr>
            <a:xfrm rot="10800000">
              <a:off x="5643570" y="3786190"/>
              <a:ext cx="1428760" cy="57150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22" name="灯片编号占位符 21"/>
          <p:cNvSpPr>
            <a:spLocks noGrp="1"/>
          </p:cNvSpPr>
          <p:nvPr>
            <p:ph type="sldNum" sz="quarter" idx="12"/>
          </p:nvPr>
        </p:nvSpPr>
        <p:spPr/>
        <p:txBody>
          <a:bodyPr/>
          <a:lstStyle/>
          <a:p>
            <a:fld id="{7AF016A1-9F15-429F-9EFD-84004B73C732}" type="slidenum">
              <a:rPr lang="en-US" altLang="zh-CN" smtClean="0"/>
              <a:pPr/>
              <a:t>44</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nodeType="clickEffect">
                                  <p:stCondLst>
                                    <p:cond delay="0"/>
                                  </p:stCondLst>
                                  <p:childTnLst>
                                    <p:animEffect transition="out" filter="wipe(down)">
                                      <p:cBhvr>
                                        <p:cTn id="14" dur="500"/>
                                        <p:tgtEl>
                                          <p:spTgt spid="18"/>
                                        </p:tgtEl>
                                      </p:cBhvr>
                                    </p:animEffect>
                                    <p:set>
                                      <p:cBhvr>
                                        <p:cTn id="15" dur="1" fill="hold">
                                          <p:stCondLst>
                                            <p:cond delay="499"/>
                                          </p:stCondLst>
                                        </p:cTn>
                                        <p:tgtEl>
                                          <p:spTgt spid="18"/>
                                        </p:tgtEl>
                                        <p:attrNameLst>
                                          <p:attrName>style.visibility</p:attrName>
                                        </p:attrNameLst>
                                      </p:cBhvr>
                                      <p:to>
                                        <p:strVal val="hidden"/>
                                      </p:to>
                                    </p:se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xit" presetSubtype="4" fill="hold" nodeType="clickEffect">
                                  <p:stCondLst>
                                    <p:cond delay="0"/>
                                  </p:stCondLst>
                                  <p:childTnLst>
                                    <p:animEffect transition="out" filter="wipe(down)">
                                      <p:cBhvr>
                                        <p:cTn id="22" dur="500"/>
                                        <p:tgtEl>
                                          <p:spTgt spid="19"/>
                                        </p:tgtEl>
                                      </p:cBhvr>
                                    </p:animEffect>
                                    <p:set>
                                      <p:cBhvr>
                                        <p:cTn id="23" dur="1" fill="hold">
                                          <p:stCondLst>
                                            <p:cond delay="499"/>
                                          </p:stCondLst>
                                        </p:cTn>
                                        <p:tgtEl>
                                          <p:spTgt spid="19"/>
                                        </p:tgtEl>
                                        <p:attrNameLst>
                                          <p:attrName>style.visibility</p:attrName>
                                        </p:attrNameLst>
                                      </p:cBhvr>
                                      <p:to>
                                        <p:strVal val="hidden"/>
                                      </p:to>
                                    </p:set>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142844" y="496825"/>
            <a:ext cx="8786874" cy="47895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knap</a:t>
            </a:r>
            <a:r>
              <a:rPr lang="en-US" altLang="zh-CN" sz="2000">
                <a:solidFill>
                  <a:srgbClr val="0000FF"/>
                </a:solidFill>
                <a:latin typeface="Consolas" pitchFamily="49" charset="0"/>
                <a:ea typeface="仿宋" pitchFamily="49" charset="-122"/>
              </a:rPr>
              <a:t>(vector&lt;Goods&gt;&amp;g,int W)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求解背包问题</a:t>
            </a:r>
          </a:p>
          <a:p>
            <a:pPr algn="l" defTabSz="360000">
              <a:lnSpc>
                <a:spcPts val="2800"/>
              </a:lnSpc>
              <a:spcBef>
                <a:spcPts val="0"/>
              </a:spcBef>
            </a:pPr>
            <a:r>
              <a:rPr lang="en-US" altLang="zh-CN" sz="2000">
                <a:solidFill>
                  <a:srgbClr val="0000FF"/>
                </a:solidFill>
                <a:latin typeface="Consolas" pitchFamily="49" charset="0"/>
                <a:ea typeface="仿宋" pitchFamily="49" charset="-122"/>
              </a:rPr>
              <a:t>	sort(g.begin(),g.end());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v/w</a:t>
            </a:r>
            <a:r>
              <a:rPr lang="zh-CN" altLang="zh-CN" sz="2000">
                <a:solidFill>
                  <a:srgbClr val="00B0F0"/>
                </a:solidFill>
                <a:latin typeface="Consolas" pitchFamily="49" charset="0"/>
                <a:ea typeface="仿宋" pitchFamily="49" charset="-122"/>
              </a:rPr>
              <a:t>递减排序</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n=g.size();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vector&lt;double&gt; x(n,0.0);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存放最优解向量</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bestv=0;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存放最大价值</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double rw=W;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背包中能装入的余下重量</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i=0;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while (</a:t>
            </a:r>
            <a:r>
              <a:rPr lang="en-US" altLang="zh-CN" sz="2000">
                <a:solidFill>
                  <a:srgbClr val="FF00FF"/>
                </a:solidFill>
                <a:latin typeface="Consolas" pitchFamily="49" charset="0"/>
                <a:ea typeface="仿宋" pitchFamily="49" charset="-122"/>
              </a:rPr>
              <a:t>i&lt;n &amp;&amp; g[i].w&lt;rw</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物品</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能够全装入</a:t>
            </a:r>
          </a:p>
          <a:p>
            <a:pPr algn="l" defTabSz="360000">
              <a:lnSpc>
                <a:spcPts val="2800"/>
              </a:lnSpc>
              <a:spcBef>
                <a:spcPts val="0"/>
              </a:spcBef>
            </a:pPr>
            <a:r>
              <a:rPr lang="en-US" altLang="zh-CN" sz="2000">
                <a:solidFill>
                  <a:srgbClr val="0000FF"/>
                </a:solidFill>
                <a:latin typeface="Consolas" pitchFamily="49" charset="0"/>
                <a:ea typeface="仿宋" pitchFamily="49" charset="-122"/>
              </a:rPr>
              <a:t>  		x[i]=1;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装入物品</a:t>
            </a:r>
            <a:r>
              <a:rPr lang="en-US" altLang="zh-CN" sz="2000">
                <a:solidFill>
                  <a:srgbClr val="00B0F0"/>
                </a:solidFill>
                <a:latin typeface="Consolas" pitchFamily="49" charset="0"/>
                <a:ea typeface="仿宋" pitchFamily="49" charset="-122"/>
              </a:rPr>
              <a:t>i</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rw-=g[i].w;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减少背包的余下重量</a:t>
            </a:r>
          </a:p>
          <a:p>
            <a:pPr algn="l" defTabSz="360000">
              <a:lnSpc>
                <a:spcPts val="2800"/>
              </a:lnSpc>
              <a:spcBef>
                <a:spcPts val="0"/>
              </a:spcBef>
            </a:pPr>
            <a:r>
              <a:rPr lang="en-US" altLang="zh-CN" sz="2000">
                <a:solidFill>
                  <a:srgbClr val="0000FF"/>
                </a:solidFill>
                <a:latin typeface="Consolas" pitchFamily="49" charset="0"/>
                <a:ea typeface="仿宋" pitchFamily="49" charset="-122"/>
              </a:rPr>
              <a:t>   	bestv+=g[i].v;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累计总价值</a:t>
            </a:r>
          </a:p>
          <a:p>
            <a:pPr algn="l" defTabSz="360000">
              <a:lnSpc>
                <a:spcPts val="2800"/>
              </a:lnSpc>
              <a:spcBef>
                <a:spcPts val="0"/>
              </a:spcBef>
            </a:pPr>
            <a:r>
              <a:rPr lang="en-US" altLang="zh-CN" sz="2000">
                <a:solidFill>
                  <a:srgbClr val="0000FF"/>
                </a:solidFill>
                <a:latin typeface="Consolas" pitchFamily="49" charset="0"/>
                <a:ea typeface="仿宋" pitchFamily="49" charset="-122"/>
              </a:rPr>
              <a:t>   	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继续循环</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45</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214290"/>
            <a:ext cx="8643998" cy="51467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if (i&lt;n &amp;&amp; rw&gt;0)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当余下重量大于</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x[i]=rw/g[i].w;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将物品</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的一部分装入</a:t>
            </a:r>
          </a:p>
          <a:p>
            <a:pPr algn="l" defTabSz="360000">
              <a:lnSpc>
                <a:spcPts val="2600"/>
              </a:lnSpc>
              <a:spcBef>
                <a:spcPts val="0"/>
              </a:spcBef>
            </a:pPr>
            <a:r>
              <a:rPr lang="en-US" altLang="zh-CN" sz="2000">
                <a:solidFill>
                  <a:srgbClr val="0000FF"/>
                </a:solidFill>
                <a:latin typeface="Consolas" pitchFamily="49" charset="0"/>
                <a:ea typeface="仿宋" pitchFamily="49" charset="-122"/>
              </a:rPr>
              <a:t>   	bestv+=x[i]*g[i].v;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累计总价值</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最优解</a:t>
            </a:r>
            <a:r>
              <a:rPr lang="en-US" altLang="zh-CN" sz="2000">
                <a:solidFill>
                  <a:srgbClr val="0000FF"/>
                </a:solidFill>
                <a:latin typeface="Consolas" pitchFamily="49" charset="0"/>
                <a:ea typeface="仿宋" pitchFamily="49" charset="-122"/>
              </a:rPr>
              <a:t>\n");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输出结果</a:t>
            </a: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j=0;j&lt;n;j++)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if(x[j]==1)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选择物品</a:t>
            </a:r>
            <a:r>
              <a:rPr lang="en-US" altLang="zh-CN" sz="2000">
                <a:solidFill>
                  <a:srgbClr val="0000FF"/>
                </a:solidFill>
                <a:latin typeface="Consolas" pitchFamily="49" charset="0"/>
                <a:ea typeface="仿宋" pitchFamily="49" charset="-122"/>
              </a:rPr>
              <a:t>%d[%d,%d]</a:t>
            </a:r>
            <a:r>
              <a:rPr lang="zh-CN" altLang="zh-CN" sz="2000">
                <a:solidFill>
                  <a:srgbClr val="0000FF"/>
                </a:solidFill>
                <a:latin typeface="Consolas" pitchFamily="49" charset="0"/>
                <a:ea typeface="仿宋" pitchFamily="49" charset="-122"/>
              </a:rPr>
              <a:t>百分之百</a:t>
            </a:r>
            <a:r>
              <a:rPr lang="en-US" altLang="zh-CN" sz="2000">
                <a:solidFill>
                  <a:srgbClr val="0000FF"/>
                </a:solidFill>
                <a:latin typeface="Consolas" pitchFamily="49" charset="0"/>
                <a:ea typeface="仿宋" pitchFamily="49" charset="-122"/>
              </a:rPr>
              <a:t>\n",</a:t>
            </a:r>
          </a:p>
          <a:p>
            <a:pPr algn="l" defTabSz="360000">
              <a:lnSpc>
                <a:spcPts val="2600"/>
              </a:lnSpc>
              <a:spcBef>
                <a:spcPts val="0"/>
              </a:spcBef>
            </a:pPr>
            <a:r>
              <a:rPr lang="en-US" altLang="zh-CN" sz="2000">
                <a:solidFill>
                  <a:srgbClr val="0000FF"/>
                </a:solidFill>
                <a:latin typeface="Consolas" pitchFamily="49" charset="0"/>
                <a:ea typeface="仿宋" pitchFamily="49" charset="-122"/>
              </a:rPr>
              <a:t>					g[j].no,g[j].w,g[j].v);</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else if(x[j]&gt;0)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选择物品</a:t>
            </a:r>
            <a:r>
              <a:rPr lang="en-US" altLang="zh-CN" sz="2000">
                <a:solidFill>
                  <a:srgbClr val="0000FF"/>
                </a:solidFill>
                <a:latin typeface="Consolas" pitchFamily="49" charset="0"/>
                <a:ea typeface="仿宋" pitchFamily="49" charset="-122"/>
              </a:rPr>
              <a:t>%d[%d,%d]</a:t>
            </a:r>
            <a:r>
              <a:rPr lang="zh-CN" altLang="zh-CN" sz="2000">
                <a:solidFill>
                  <a:srgbClr val="0000FF"/>
                </a:solidFill>
                <a:latin typeface="Consolas" pitchFamily="49" charset="0"/>
                <a:ea typeface="仿宋" pitchFamily="49" charset="-122"/>
              </a:rPr>
              <a:t>为百分之</a:t>
            </a:r>
            <a:r>
              <a:rPr lang="en-US" altLang="zh-CN" sz="2000">
                <a:solidFill>
                  <a:srgbClr val="0000FF"/>
                </a:solidFill>
                <a:latin typeface="Consolas" pitchFamily="49" charset="0"/>
                <a:ea typeface="仿宋" pitchFamily="49" charset="-122"/>
              </a:rPr>
              <a:t>%.1f\n",</a:t>
            </a:r>
          </a:p>
          <a:p>
            <a:pPr algn="l" defTabSz="360000">
              <a:lnSpc>
                <a:spcPts val="2600"/>
              </a:lnSpc>
              <a:spcBef>
                <a:spcPts val="0"/>
              </a:spcBef>
            </a:pPr>
            <a:r>
              <a:rPr lang="en-US" altLang="zh-CN" sz="2000">
                <a:solidFill>
                  <a:srgbClr val="0000FF"/>
                </a:solidFill>
                <a:latin typeface="Consolas" pitchFamily="49" charset="0"/>
                <a:ea typeface="仿宋" pitchFamily="49" charset="-122"/>
              </a:rPr>
              <a:t>					g[j].no,g[j].w,g[j].v,x[j]*100);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总价值</a:t>
            </a:r>
            <a:r>
              <a:rPr lang="en-US" altLang="zh-CN" sz="2000">
                <a:solidFill>
                  <a:srgbClr val="0000FF"/>
                </a:solidFill>
                <a:latin typeface="Consolas" pitchFamily="49" charset="0"/>
                <a:ea typeface="仿宋" pitchFamily="49" charset="-122"/>
              </a:rPr>
              <a:t>=%d\n",bestv);</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b="0">
              <a:solidFill>
                <a:srgbClr val="0000FF"/>
              </a:solidFill>
              <a:latin typeface="Consolas" pitchFamily="49" charset="0"/>
              <a:ea typeface="仿宋" pitchFamily="49" charset="-122"/>
              <a:cs typeface="Consolas" pitchFamily="49" charset="0"/>
            </a:endParaRPr>
          </a:p>
        </p:txBody>
      </p:sp>
      <p:sp>
        <p:nvSpPr>
          <p:cNvPr id="20" name="TextBox 19"/>
          <p:cNvSpPr txBox="1"/>
          <p:nvPr/>
        </p:nvSpPr>
        <p:spPr>
          <a:xfrm>
            <a:off x="214282" y="5643578"/>
            <a:ext cx="8072494" cy="81047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spcBef>
                <a:spcPts val="0"/>
              </a:spcBef>
            </a:pPr>
            <a:r>
              <a:rPr lang="zh-CN" altLang="zh-CN" sz="2200">
                <a:solidFill>
                  <a:srgbClr val="FF0000"/>
                </a:solidFill>
                <a:latin typeface="楷体" pitchFamily="49" charset="-122"/>
                <a:ea typeface="楷体" pitchFamily="49" charset="-122"/>
                <a:cs typeface="Consolas" pitchFamily="49" charset="0"/>
              </a:rPr>
              <a:t>算法分析</a:t>
            </a:r>
            <a:r>
              <a:rPr lang="zh-CN" altLang="en-US" sz="2200">
                <a:solidFill>
                  <a:srgbClr val="FF0000"/>
                </a:solidFill>
                <a:latin typeface="楷体" pitchFamily="49" charset="-122"/>
                <a:ea typeface="楷体"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排序算法</a:t>
            </a:r>
            <a:r>
              <a:rPr lang="en-US" altLang="zh-CN" sz="2200">
                <a:solidFill>
                  <a:srgbClr val="0000FF"/>
                </a:solidFill>
                <a:latin typeface="Consolas" pitchFamily="49" charset="0"/>
                <a:ea typeface="仿宋" pitchFamily="49" charset="-122"/>
                <a:cs typeface="Consolas" pitchFamily="49" charset="0"/>
              </a:rPr>
              <a:t>sort()</a:t>
            </a:r>
            <a:r>
              <a:rPr lang="zh-CN" altLang="zh-CN" sz="2200">
                <a:solidFill>
                  <a:srgbClr val="0000FF"/>
                </a:solidFill>
                <a:latin typeface="Consolas" pitchFamily="49" charset="0"/>
                <a:ea typeface="仿宋" pitchFamily="49" charset="-122"/>
                <a:cs typeface="Consolas" pitchFamily="49" charset="0"/>
              </a:rPr>
              <a:t>的时间复杂性为</a:t>
            </a:r>
            <a:r>
              <a:rPr lang="en-US" altLang="zh-CN" sz="2200">
                <a:solidFill>
                  <a:srgbClr val="0000FF"/>
                </a:solidFill>
                <a:latin typeface="Consolas" pitchFamily="49" charset="0"/>
                <a:ea typeface="仿宋" pitchFamily="49" charset="-122"/>
                <a:cs typeface="Consolas" pitchFamily="49" charset="0"/>
              </a:rPr>
              <a:t>O(</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log</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while</a:t>
            </a:r>
            <a:r>
              <a:rPr lang="zh-CN" altLang="zh-CN" sz="2200">
                <a:solidFill>
                  <a:srgbClr val="0000FF"/>
                </a:solidFill>
                <a:latin typeface="Consolas" pitchFamily="49" charset="0"/>
                <a:ea typeface="仿宋" pitchFamily="49" charset="-122"/>
                <a:cs typeface="Consolas" pitchFamily="49" charset="0"/>
              </a:rPr>
              <a:t>循环的时间为</a:t>
            </a:r>
            <a:r>
              <a:rPr lang="en-US" altLang="zh-CN" sz="2200">
                <a:solidFill>
                  <a:srgbClr val="0000FF"/>
                </a:solidFill>
                <a:latin typeface="Consolas" pitchFamily="49" charset="0"/>
                <a:ea typeface="仿宋" pitchFamily="49" charset="-122"/>
                <a:cs typeface="Consolas" pitchFamily="49" charset="0"/>
              </a:rPr>
              <a:t>O(</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，所以算法的时间复杂度为</a:t>
            </a:r>
            <a:r>
              <a:rPr lang="en-US" altLang="zh-CN" sz="2200">
                <a:solidFill>
                  <a:srgbClr val="0000FF"/>
                </a:solidFill>
                <a:latin typeface="Consolas" pitchFamily="49" charset="0"/>
                <a:ea typeface="仿宋" pitchFamily="49" charset="-122"/>
                <a:cs typeface="Consolas" pitchFamily="49" charset="0"/>
              </a:rPr>
              <a:t>O(</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log</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46</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610302"/>
            <a:ext cx="8572560" cy="5247590"/>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en-US" altLang="zh-CN">
                <a:solidFill>
                  <a:srgbClr val="FF0000"/>
                </a:solidFill>
                <a:latin typeface="Consolas" pitchFamily="49" charset="0"/>
                <a:ea typeface="楷体" pitchFamily="49" charset="-122"/>
              </a:rPr>
              <a:t>         </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8.5</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分饼干（</a:t>
            </a:r>
            <a:r>
              <a:rPr lang="en-US" altLang="zh-CN">
                <a:solidFill>
                  <a:srgbClr val="0000FF"/>
                </a:solidFill>
                <a:latin typeface="Consolas" pitchFamily="49" charset="0"/>
                <a:ea typeface="仿宋" pitchFamily="49" charset="-122"/>
              </a:rPr>
              <a:t>LintCode1230</a:t>
            </a:r>
            <a:r>
              <a:rPr lang="zh-CN" altLang="zh-CN">
                <a:solidFill>
                  <a:srgbClr val="0000FF"/>
                </a:solidFill>
                <a:latin typeface="Consolas" pitchFamily="49" charset="0"/>
                <a:ea typeface="仿宋" pitchFamily="49" charset="-122"/>
              </a:rPr>
              <a:t>★）。有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n</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30000</a:t>
            </a:r>
            <a:r>
              <a:rPr lang="zh-CN" altLang="zh-CN">
                <a:solidFill>
                  <a:srgbClr val="0000FF"/>
                </a:solidFill>
                <a:latin typeface="Consolas" pitchFamily="49" charset="0"/>
                <a:ea typeface="仿宋" pitchFamily="49" charset="-122"/>
              </a:rPr>
              <a:t>）个孩子，现在给孩子们发一些小饼干，每个孩子最多只能给一块饼干。每个孩子</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有一个胃口值</a:t>
            </a:r>
            <a:r>
              <a:rPr lang="en-US" altLang="zh-CN">
                <a:solidFill>
                  <a:srgbClr val="0000FF"/>
                </a:solidFill>
                <a:latin typeface="Consolas" pitchFamily="49" charset="0"/>
                <a:ea typeface="仿宋" pitchFamily="49" charset="-122"/>
              </a:rPr>
              <a:t>g[</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a:solidFill>
                  <a:srgbClr val="0000FF"/>
                </a:solidFill>
                <a:latin typeface="Consolas" pitchFamily="49" charset="0"/>
                <a:ea typeface="仿宋" pitchFamily="49" charset="-122"/>
              </a:rPr>
              <a:t>g[</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mn-ea"/>
              </a:rPr>
              <a:t>≤</a:t>
            </a:r>
            <a:r>
              <a:rPr lang="en-US" altLang="zh-CN">
                <a:solidFill>
                  <a:srgbClr val="0000FF"/>
                </a:solidFill>
                <a:latin typeface="Consolas" pitchFamily="49" charset="0"/>
                <a:ea typeface="仿宋" pitchFamily="49" charset="-122"/>
              </a:rPr>
              <a:t>2^31-1</a:t>
            </a:r>
            <a:r>
              <a:rPr lang="zh-CN" altLang="zh-CN">
                <a:solidFill>
                  <a:srgbClr val="0000FF"/>
                </a:solidFill>
                <a:latin typeface="Consolas" pitchFamily="49" charset="0"/>
                <a:ea typeface="仿宋" pitchFamily="49" charset="-122"/>
              </a:rPr>
              <a:t>），这是能满足胃口的最小饼干尺寸，共有</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m</a:t>
            </a:r>
            <a:r>
              <a:rPr lang="zh-CN" altLang="zh-CN">
                <a:solidFill>
                  <a:srgbClr val="0000FF"/>
                </a:solidFill>
                <a:latin typeface="+mn-ea"/>
              </a:rPr>
              <a:t>≤</a:t>
            </a:r>
            <a:r>
              <a:rPr lang="en-US" altLang="zh-CN">
                <a:solidFill>
                  <a:srgbClr val="0000FF"/>
                </a:solidFill>
                <a:latin typeface="Consolas" pitchFamily="49" charset="0"/>
                <a:ea typeface="仿宋" pitchFamily="49" charset="-122"/>
              </a:rPr>
              <a:t>30000</a:t>
            </a:r>
            <a:r>
              <a:rPr lang="zh-CN" altLang="zh-CN">
                <a:solidFill>
                  <a:srgbClr val="0000FF"/>
                </a:solidFill>
                <a:latin typeface="Consolas" pitchFamily="49" charset="0"/>
                <a:ea typeface="仿宋" pitchFamily="49" charset="-122"/>
              </a:rPr>
              <a:t>）块饼干，每块饼干</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有一个尺寸</a:t>
            </a:r>
            <a:r>
              <a:rPr lang="en-US" altLang="zh-CN">
                <a:solidFill>
                  <a:srgbClr val="0000FF"/>
                </a:solidFill>
                <a:latin typeface="Consolas" pitchFamily="49" charset="0"/>
                <a:ea typeface="仿宋" pitchFamily="49" charset="-122"/>
              </a:rPr>
              <a:t> s[</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a:solidFill>
                  <a:srgbClr val="0000FF"/>
                </a:solidFill>
                <a:latin typeface="Consolas" pitchFamily="49" charset="0"/>
                <a:ea typeface="仿宋" pitchFamily="49" charset="-122"/>
              </a:rPr>
              <a:t>s[</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mn-ea"/>
              </a:rPr>
              <a:t>≤</a:t>
            </a:r>
            <a:r>
              <a:rPr lang="en-US" altLang="zh-CN">
                <a:solidFill>
                  <a:srgbClr val="0000FF"/>
                </a:solidFill>
                <a:latin typeface="Consolas" pitchFamily="49" charset="0"/>
                <a:ea typeface="仿宋" pitchFamily="49" charset="-122"/>
              </a:rPr>
              <a:t>2^31-1</a:t>
            </a:r>
            <a:r>
              <a:rPr lang="zh-CN" altLang="zh-CN">
                <a:solidFill>
                  <a:srgbClr val="0000FF"/>
                </a:solidFill>
                <a:latin typeface="Consolas" pitchFamily="49" charset="0"/>
                <a:ea typeface="仿宋" pitchFamily="49" charset="-122"/>
              </a:rPr>
              <a:t>）。如果</a:t>
            </a:r>
            <a:r>
              <a:rPr lang="en-US" altLang="zh-CN">
                <a:solidFill>
                  <a:srgbClr val="0000FF"/>
                </a:solidFill>
                <a:latin typeface="Consolas" pitchFamily="49" charset="0"/>
                <a:ea typeface="仿宋" pitchFamily="49" charset="-122"/>
              </a:rPr>
              <a:t>g[</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mn-ea"/>
              </a:rPr>
              <a:t>≤</a:t>
            </a:r>
            <a:r>
              <a:rPr lang="en-US" altLang="zh-CN">
                <a:solidFill>
                  <a:srgbClr val="0000FF"/>
                </a:solidFill>
                <a:latin typeface="Consolas" pitchFamily="49" charset="0"/>
                <a:ea typeface="仿宋" pitchFamily="49" charset="-122"/>
              </a:rPr>
              <a:t>s[</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，那么将饼干</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分发给孩子</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时该孩子会得到满足。分发的目标是尽可能满足越多数量的孩子，设计一个算法求这个最大数值。</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g={1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 s={1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，尽管有两块小饼干，由于尺寸都是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，只能让胃口值是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的孩子满足，所以结果是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defTabSz="360000">
              <a:lnSpc>
                <a:spcPts val="3200"/>
              </a:lnSpc>
              <a:spcBef>
                <a:spcPts val="600"/>
              </a:spcBef>
            </a:pPr>
            <a:r>
              <a:rPr lang="en-US" altLang="zh-CN" sz="2000">
                <a:solidFill>
                  <a:srgbClr val="006600"/>
                </a:solidFill>
                <a:latin typeface="Consolas" pitchFamily="49" charset="0"/>
                <a:ea typeface="仿宋" pitchFamily="49" charset="-122"/>
              </a:rPr>
              <a:t> int findContentChildren(vector&lt;int&gt; &amp;g, vector&lt;int&gt; &amp;s) {}</a:t>
            </a:r>
            <a:endParaRPr lang="zh-CN" altLang="en-US">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47</a:t>
            </a:fld>
            <a:r>
              <a:rPr lang="en-US" altLang="zh-CN"/>
              <a:t>/109</a:t>
            </a:r>
          </a:p>
        </p:txBody>
      </p:sp>
      <p:grpSp>
        <p:nvGrpSpPr>
          <p:cNvPr id="2" name="组合 4"/>
          <p:cNvGrpSpPr/>
          <p:nvPr/>
        </p:nvGrpSpPr>
        <p:grpSpPr>
          <a:xfrm>
            <a:off x="500034" y="0"/>
            <a:ext cx="1041400" cy="1044575"/>
            <a:chOff x="857224" y="1071546"/>
            <a:chExt cx="1041400" cy="1044575"/>
          </a:xfrm>
        </p:grpSpPr>
        <p:sp>
          <p:nvSpPr>
            <p:cNvPr id="6"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7"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7" name="Rectangle 2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TextBox 18"/>
          <p:cNvSpPr txBox="1"/>
          <p:nvPr/>
        </p:nvSpPr>
        <p:spPr>
          <a:xfrm>
            <a:off x="214282" y="1285860"/>
            <a:ext cx="642942"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20" name="TextBox 19"/>
          <p:cNvSpPr txBox="1"/>
          <p:nvPr/>
        </p:nvSpPr>
        <p:spPr>
          <a:xfrm>
            <a:off x="857224" y="642918"/>
            <a:ext cx="7572428" cy="295924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求得到满足的最多孩子数量，所以是一个求最优解问题。</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en-US">
                <a:solidFill>
                  <a:srgbClr val="FF0000"/>
                </a:solidFill>
                <a:latin typeface="楷体" pitchFamily="49" charset="-122"/>
                <a:ea typeface="楷体" pitchFamily="49" charset="-122"/>
                <a:cs typeface="Consolas" pitchFamily="49" charset="0"/>
              </a:rPr>
              <a:t>贪心策略</a:t>
            </a:r>
            <a:r>
              <a:rPr lang="zh-CN" altLang="en-US">
                <a:solidFill>
                  <a:srgbClr val="0000FF"/>
                </a:solidFill>
                <a:latin typeface="Consolas" pitchFamily="49" charset="0"/>
                <a:ea typeface="仿宋" pitchFamily="49" charset="-122"/>
                <a:cs typeface="Consolas" pitchFamily="49" charset="0"/>
              </a:rPr>
              <a:t>：</a:t>
            </a:r>
            <a:r>
              <a:rPr lang="zh-CN" altLang="zh-CN">
                <a:solidFill>
                  <a:srgbClr val="FF0000"/>
                </a:solidFill>
                <a:latin typeface="华文中宋" pitchFamily="2" charset="-122"/>
                <a:ea typeface="华文中宋" pitchFamily="2" charset="-122"/>
                <a:cs typeface="Consolas" pitchFamily="49" charset="0"/>
              </a:rPr>
              <a:t>胃口</a:t>
            </a:r>
            <a:r>
              <a:rPr lang="zh-CN" altLang="en-US">
                <a:solidFill>
                  <a:srgbClr val="FF0000"/>
                </a:solidFill>
                <a:latin typeface="华文中宋" pitchFamily="2" charset="-122"/>
                <a:ea typeface="华文中宋" pitchFamily="2" charset="-122"/>
                <a:cs typeface="Consolas" pitchFamily="49" charset="0"/>
              </a:rPr>
              <a:t>值越小越</a:t>
            </a:r>
            <a:r>
              <a:rPr lang="zh-CN" altLang="zh-CN">
                <a:solidFill>
                  <a:srgbClr val="FF0000"/>
                </a:solidFill>
                <a:latin typeface="华文中宋" pitchFamily="2" charset="-122"/>
                <a:ea typeface="华文中宋" pitchFamily="2" charset="-122"/>
                <a:cs typeface="Consolas" pitchFamily="49" charset="0"/>
              </a:rPr>
              <a:t>容易</a:t>
            </a:r>
            <a:r>
              <a:rPr lang="zh-CN" altLang="en-US">
                <a:solidFill>
                  <a:srgbClr val="FF0000"/>
                </a:solidFill>
                <a:latin typeface="华文中宋" pitchFamily="2" charset="-122"/>
                <a:ea typeface="华文中宋" pitchFamily="2" charset="-122"/>
                <a:cs typeface="Consolas" pitchFamily="49" charset="0"/>
              </a:rPr>
              <a:t>满足，优先</a:t>
            </a:r>
            <a:r>
              <a:rPr lang="zh-CN" altLang="zh-CN">
                <a:solidFill>
                  <a:srgbClr val="FF0000"/>
                </a:solidFill>
                <a:latin typeface="华文中宋" pitchFamily="2" charset="-122"/>
                <a:ea typeface="华文中宋" pitchFamily="2" charset="-122"/>
                <a:cs typeface="Consolas" pitchFamily="49" charset="0"/>
              </a:rPr>
              <a:t>分发</a:t>
            </a:r>
            <a:r>
              <a:rPr lang="zh-CN" altLang="en-US">
                <a:solidFill>
                  <a:srgbClr val="FF0000"/>
                </a:solidFill>
                <a:latin typeface="华文中宋" pitchFamily="2" charset="-122"/>
                <a:ea typeface="华文中宋" pitchFamily="2" charset="-122"/>
                <a:cs typeface="Consolas" pitchFamily="49" charset="0"/>
              </a:rPr>
              <a:t>给</a:t>
            </a:r>
            <a:r>
              <a:rPr lang="zh-CN" altLang="zh-CN">
                <a:solidFill>
                  <a:srgbClr val="FF0000"/>
                </a:solidFill>
                <a:latin typeface="华文中宋" pitchFamily="2" charset="-122"/>
                <a:ea typeface="华文中宋" pitchFamily="2" charset="-122"/>
                <a:cs typeface="Consolas" pitchFamily="49" charset="0"/>
              </a:rPr>
              <a:t>胃口</a:t>
            </a:r>
            <a:r>
              <a:rPr lang="zh-CN" altLang="en-US">
                <a:solidFill>
                  <a:srgbClr val="FF0000"/>
                </a:solidFill>
                <a:latin typeface="华文中宋" pitchFamily="2" charset="-122"/>
                <a:ea typeface="华文中宋" pitchFamily="2" charset="-122"/>
                <a:cs typeface="Consolas" pitchFamily="49" charset="0"/>
              </a:rPr>
              <a:t>值小的孩子</a:t>
            </a:r>
            <a:r>
              <a:rPr lang="zh-CN" altLang="en-US">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为此将</a:t>
            </a:r>
            <a:r>
              <a:rPr lang="en-US" altLang="zh-CN">
                <a:solidFill>
                  <a:srgbClr val="0000FF"/>
                </a:solidFill>
                <a:latin typeface="Consolas" pitchFamily="49" charset="0"/>
                <a:ea typeface="仿宋" pitchFamily="49" charset="-122"/>
                <a:cs typeface="Consolas" pitchFamily="49" charset="0"/>
              </a:rPr>
              <a:t>g</a:t>
            </a:r>
            <a:r>
              <a:rPr lang="zh-CN" altLang="zh-CN">
                <a:solidFill>
                  <a:srgbClr val="0000FF"/>
                </a:solidFill>
                <a:latin typeface="Consolas" pitchFamily="49" charset="0"/>
                <a:ea typeface="仿宋" pitchFamily="49" charset="-122"/>
                <a:cs typeface="Consolas" pitchFamily="49" charset="0"/>
              </a:rPr>
              <a:t>递增排序</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对于每个</a:t>
            </a:r>
            <a:r>
              <a:rPr lang="en-US" altLang="zh-CN">
                <a:solidFill>
                  <a:srgbClr val="0000FF"/>
                </a:solidFill>
                <a:latin typeface="Consolas" pitchFamily="49" charset="0"/>
                <a:ea typeface="仿宋" pitchFamily="49" charset="-122"/>
                <a:cs typeface="Consolas" pitchFamily="49" charset="0"/>
              </a:rPr>
              <a:t>g[</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，为其分发恰好满足的最小尺寸的饼干</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即</a:t>
            </a:r>
            <a:r>
              <a:rPr lang="en-US" altLang="zh-CN">
                <a:solidFill>
                  <a:srgbClr val="0000FF"/>
                </a:solidFill>
                <a:latin typeface="Consolas" pitchFamily="49" charset="0"/>
                <a:ea typeface="仿宋" pitchFamily="49" charset="-122"/>
                <a:cs typeface="Consolas" pitchFamily="49" charset="0"/>
              </a:rPr>
              <a:t>min{</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|g[</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cs typeface="Consolas" pitchFamily="49" charset="0"/>
              </a:rPr>
              <a:t>≤</a:t>
            </a:r>
            <a:r>
              <a:rPr lang="en-US" altLang="zh-CN">
                <a:solidFill>
                  <a:srgbClr val="0000FF"/>
                </a:solidFill>
                <a:latin typeface="Consolas" pitchFamily="49" charset="0"/>
                <a:ea typeface="仿宋" pitchFamily="49" charset="-122"/>
                <a:cs typeface="Consolas" pitchFamily="49" charset="0"/>
              </a:rPr>
              <a:t>s[</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。为此</a:t>
            </a:r>
            <a:r>
              <a:rPr lang="zh-CN" altLang="zh-CN">
                <a:solidFill>
                  <a:srgbClr val="0000FF"/>
                </a:solidFill>
                <a:latin typeface="Consolas" pitchFamily="49" charset="0"/>
                <a:ea typeface="仿宋" pitchFamily="49" charset="-122"/>
                <a:cs typeface="Consolas" pitchFamily="49" charset="0"/>
              </a:rPr>
              <a:t>将</a:t>
            </a:r>
            <a:r>
              <a:rPr lang="en-US" altLang="zh-CN">
                <a:solidFill>
                  <a:srgbClr val="FF00FF"/>
                </a:solidFill>
                <a:latin typeface="Consolas" pitchFamily="49" charset="0"/>
                <a:ea typeface="仿宋" pitchFamily="49" charset="-122"/>
                <a:cs typeface="Consolas" pitchFamily="49" charset="0"/>
              </a:rPr>
              <a:t>s</a:t>
            </a:r>
            <a:r>
              <a:rPr lang="zh-CN" altLang="zh-CN">
                <a:solidFill>
                  <a:srgbClr val="FF00FF"/>
                </a:solidFill>
                <a:latin typeface="Consolas" pitchFamily="49" charset="0"/>
                <a:ea typeface="仿宋" pitchFamily="49" charset="-122"/>
                <a:cs typeface="Consolas" pitchFamily="49" charset="0"/>
              </a:rPr>
              <a:t>也递增排序</a:t>
            </a:r>
            <a:r>
              <a:rPr lang="zh-CN" altLang="zh-CN">
                <a:solidFill>
                  <a:srgbClr val="0000FF"/>
                </a:solidFill>
                <a:latin typeface="Consolas" pitchFamily="49" charset="0"/>
                <a:ea typeface="仿宋" pitchFamily="49" charset="-122"/>
                <a:cs typeface="Consolas" pitchFamily="49" charset="0"/>
              </a:rPr>
              <a:t>。</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48</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7" name="Rectangle 2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3271" name="Rectangle 2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TextBox 26"/>
          <p:cNvSpPr txBox="1"/>
          <p:nvPr/>
        </p:nvSpPr>
        <p:spPr>
          <a:xfrm>
            <a:off x="642910" y="714356"/>
            <a:ext cx="8072494" cy="373189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用</a:t>
            </a:r>
            <a:r>
              <a:rPr lang="en-US" altLang="zh-CN">
                <a:solidFill>
                  <a:srgbClr val="0000FF"/>
                </a:solidFill>
                <a:latin typeface="Consolas" pitchFamily="49" charset="0"/>
                <a:ea typeface="仿宋" pitchFamily="49" charset="-122"/>
                <a:cs typeface="Consolas" pitchFamily="49" charset="0"/>
              </a:rPr>
              <a:t>ans</a:t>
            </a:r>
            <a:r>
              <a:rPr lang="zh-CN" altLang="zh-CN">
                <a:solidFill>
                  <a:srgbClr val="0000FF"/>
                </a:solidFill>
                <a:latin typeface="Consolas" pitchFamily="49" charset="0"/>
                <a:ea typeface="仿宋" pitchFamily="49" charset="-122"/>
                <a:cs typeface="Consolas" pitchFamily="49" charset="0"/>
              </a:rPr>
              <a:t>表示得到满足的最多孩子数量（初始为</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）即最优解，</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从</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开始遍历</a:t>
            </a:r>
            <a:r>
              <a:rPr lang="en-US" altLang="zh-CN">
                <a:solidFill>
                  <a:srgbClr val="0000FF"/>
                </a:solidFill>
                <a:latin typeface="Consolas" pitchFamily="49" charset="0"/>
                <a:ea typeface="仿宋" pitchFamily="49" charset="-122"/>
                <a:cs typeface="Consolas" pitchFamily="49" charset="0"/>
              </a:rPr>
              <a:t>g</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从</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开始在</a:t>
            </a:r>
            <a:r>
              <a:rPr lang="en-US" altLang="zh-CN">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中查找：</a:t>
            </a:r>
          </a:p>
          <a:p>
            <a:pPr marL="914400" lvl="1" indent="-457200" algn="l">
              <a:lnSpc>
                <a:spcPts val="3200"/>
              </a:lnSpc>
              <a:spcBef>
                <a:spcPts val="600"/>
              </a:spcBef>
              <a:buFont typeface="+mj-ea"/>
              <a:buAutoNum type="circleNumDbPlain"/>
            </a:pPr>
            <a:r>
              <a:rPr lang="en-US" altLang="zh-CN" sz="2200">
                <a:solidFill>
                  <a:srgbClr val="FF0000"/>
                </a:solidFill>
                <a:latin typeface="Consolas" pitchFamily="49" charset="0"/>
                <a:ea typeface="仿宋" pitchFamily="49" charset="-122"/>
                <a:cs typeface="Consolas" pitchFamily="49" charset="0"/>
              </a:rPr>
              <a:t>g[</a:t>
            </a:r>
            <a:r>
              <a:rPr lang="en-US" altLang="zh-CN" sz="2200" i="1">
                <a:solidFill>
                  <a:srgbClr val="FF0000"/>
                </a:solidFill>
                <a:latin typeface="Consolas" pitchFamily="49" charset="0"/>
                <a:ea typeface="仿宋" pitchFamily="49" charset="-122"/>
                <a:cs typeface="Consolas" pitchFamily="49" charset="0"/>
              </a:rPr>
              <a:t>i</a:t>
            </a:r>
            <a:r>
              <a:rPr lang="en-US" altLang="zh-CN" sz="2200">
                <a:solidFill>
                  <a:srgbClr val="FF0000"/>
                </a:solidFill>
                <a:latin typeface="Consolas" pitchFamily="49" charset="0"/>
                <a:ea typeface="仿宋" pitchFamily="49" charset="-122"/>
                <a:cs typeface="Consolas" pitchFamily="49" charset="0"/>
              </a:rPr>
              <a:t>]</a:t>
            </a:r>
            <a:r>
              <a:rPr lang="zh-CN" altLang="zh-CN" sz="2200">
                <a:solidFill>
                  <a:srgbClr val="FF0000"/>
                </a:solidFill>
                <a:latin typeface="+mj-ea"/>
                <a:ea typeface="+mj-ea"/>
                <a:cs typeface="Consolas" pitchFamily="49" charset="0"/>
              </a:rPr>
              <a:t>≤</a:t>
            </a:r>
            <a:r>
              <a:rPr lang="en-US" altLang="zh-CN" sz="2200">
                <a:solidFill>
                  <a:srgbClr val="FF0000"/>
                </a:solidFill>
                <a:latin typeface="Consolas" pitchFamily="49" charset="0"/>
                <a:ea typeface="仿宋" pitchFamily="49" charset="-122"/>
                <a:cs typeface="Consolas" pitchFamily="49" charset="0"/>
              </a:rPr>
              <a:t>s[</a:t>
            </a:r>
            <a:r>
              <a:rPr lang="en-US" altLang="zh-CN" sz="2200" i="1">
                <a:solidFill>
                  <a:srgbClr val="FF0000"/>
                </a:solidFill>
                <a:latin typeface="Consolas" pitchFamily="49" charset="0"/>
                <a:ea typeface="仿宋" pitchFamily="49" charset="-122"/>
                <a:cs typeface="Consolas" pitchFamily="49" charset="0"/>
              </a:rPr>
              <a:t>j</a:t>
            </a:r>
            <a:r>
              <a:rPr lang="en-US" altLang="zh-CN" sz="2200">
                <a:solidFill>
                  <a:srgbClr val="FF0000"/>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，说明为孩子</a:t>
            </a:r>
            <a:r>
              <a:rPr lang="en-US" altLang="zh-CN" sz="2200" i="1">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分发饼干</a:t>
            </a:r>
            <a:r>
              <a:rPr lang="en-US" altLang="zh-CN" sz="2200" i="1">
                <a:solidFill>
                  <a:srgbClr val="0000FF"/>
                </a:solidFill>
                <a:latin typeface="Consolas" pitchFamily="49" charset="0"/>
                <a:ea typeface="仿宋" pitchFamily="49" charset="-122"/>
                <a:cs typeface="Consolas" pitchFamily="49" charset="0"/>
              </a:rPr>
              <a:t>j</a:t>
            </a:r>
            <a:r>
              <a:rPr lang="zh-CN" altLang="zh-CN" sz="2200">
                <a:solidFill>
                  <a:srgbClr val="0000FF"/>
                </a:solidFill>
                <a:latin typeface="Consolas" pitchFamily="49" charset="0"/>
                <a:ea typeface="仿宋" pitchFamily="49" charset="-122"/>
                <a:cs typeface="Consolas" pitchFamily="49" charset="0"/>
              </a:rPr>
              <a:t>得到满足，则将饼干</a:t>
            </a:r>
            <a:r>
              <a:rPr lang="en-US" altLang="zh-CN" sz="2200" i="1">
                <a:solidFill>
                  <a:srgbClr val="0000FF"/>
                </a:solidFill>
                <a:latin typeface="Consolas" pitchFamily="49" charset="0"/>
                <a:ea typeface="仿宋" pitchFamily="49" charset="-122"/>
                <a:cs typeface="Consolas" pitchFamily="49" charset="0"/>
              </a:rPr>
              <a:t>j</a:t>
            </a:r>
            <a:r>
              <a:rPr lang="zh-CN" altLang="zh-CN" sz="2200">
                <a:solidFill>
                  <a:srgbClr val="0000FF"/>
                </a:solidFill>
                <a:latin typeface="Consolas" pitchFamily="49" charset="0"/>
                <a:ea typeface="仿宋" pitchFamily="49" charset="-122"/>
                <a:cs typeface="Consolas" pitchFamily="49" charset="0"/>
              </a:rPr>
              <a:t>分发给孩子</a:t>
            </a:r>
            <a:r>
              <a:rPr lang="en-US" altLang="zh-CN" sz="2200" i="1">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，执行</a:t>
            </a:r>
            <a:r>
              <a:rPr lang="en-US" altLang="zh-CN" sz="2200">
                <a:solidFill>
                  <a:srgbClr val="0000FF"/>
                </a:solidFill>
                <a:latin typeface="Consolas" pitchFamily="49" charset="0"/>
                <a:ea typeface="仿宋" pitchFamily="49" charset="-122"/>
                <a:cs typeface="Consolas" pitchFamily="49" charset="0"/>
              </a:rPr>
              <a:t>ans++</a:t>
            </a:r>
            <a:r>
              <a:rPr lang="zh-CN" altLang="zh-CN" sz="2200">
                <a:solidFill>
                  <a:srgbClr val="0000FF"/>
                </a:solidFill>
                <a:latin typeface="Consolas" pitchFamily="49" charset="0"/>
                <a:ea typeface="仿宋" pitchFamily="49" charset="-122"/>
                <a:cs typeface="Consolas" pitchFamily="49" charset="0"/>
              </a:rPr>
              <a:t>，同时执行</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j</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继续为下一个孩子分发合适的饼干。</a:t>
            </a:r>
          </a:p>
          <a:p>
            <a:pPr marL="914400" lvl="1" indent="-457200" algn="l">
              <a:lnSpc>
                <a:spcPts val="3200"/>
              </a:lnSpc>
              <a:spcBef>
                <a:spcPts val="600"/>
              </a:spcBef>
              <a:buFont typeface="+mj-ea"/>
              <a:buAutoNum type="circleNumDbPlain"/>
            </a:pPr>
            <a:r>
              <a:rPr lang="zh-CN" altLang="zh-CN" sz="2200">
                <a:solidFill>
                  <a:srgbClr val="FF0000"/>
                </a:solidFill>
                <a:latin typeface="Consolas" pitchFamily="49" charset="0"/>
                <a:ea typeface="仿宋" pitchFamily="49" charset="-122"/>
                <a:cs typeface="Consolas" pitchFamily="49" charset="0"/>
              </a:rPr>
              <a:t>否则</a:t>
            </a:r>
            <a:r>
              <a:rPr lang="zh-CN" altLang="zh-CN" sz="2200">
                <a:solidFill>
                  <a:srgbClr val="0000FF"/>
                </a:solidFill>
                <a:latin typeface="Consolas" pitchFamily="49" charset="0"/>
                <a:ea typeface="仿宋" pitchFamily="49" charset="-122"/>
                <a:cs typeface="Consolas" pitchFamily="49" charset="0"/>
              </a:rPr>
              <a:t>，孩子</a:t>
            </a:r>
            <a:r>
              <a:rPr lang="en-US" altLang="zh-CN" sz="2200" i="1">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得不到满足，执行</a:t>
            </a:r>
            <a:r>
              <a:rPr lang="en-US" altLang="zh-CN" sz="2200" i="1">
                <a:solidFill>
                  <a:srgbClr val="0000FF"/>
                </a:solidFill>
                <a:latin typeface="Consolas" pitchFamily="49" charset="0"/>
                <a:ea typeface="仿宋" pitchFamily="49" charset="-122"/>
                <a:cs typeface="Consolas" pitchFamily="49" charset="0"/>
              </a:rPr>
              <a:t>j</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继续为其查找更大尺寸的饼干。</a:t>
            </a:r>
          </a:p>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最后的</a:t>
            </a:r>
            <a:r>
              <a:rPr lang="en-US" altLang="zh-CN">
                <a:solidFill>
                  <a:srgbClr val="0000FF"/>
                </a:solidFill>
                <a:latin typeface="Consolas" pitchFamily="49" charset="0"/>
                <a:ea typeface="仿宋" pitchFamily="49" charset="-122"/>
                <a:cs typeface="Consolas" pitchFamily="49" charset="0"/>
              </a:rPr>
              <a:t>ans</a:t>
            </a:r>
            <a:r>
              <a:rPr lang="zh-CN" altLang="zh-CN">
                <a:solidFill>
                  <a:srgbClr val="0000FF"/>
                </a:solidFill>
                <a:latin typeface="Consolas" pitchFamily="49" charset="0"/>
                <a:ea typeface="仿宋" pitchFamily="49" charset="-122"/>
                <a:cs typeface="Consolas" pitchFamily="49" charset="0"/>
              </a:rPr>
              <a:t>就是答案。</a:t>
            </a:r>
            <a:endParaRPr lang="en-US" altLang="zh-CN">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49</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7" name="Rectangle 2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3271" name="Rectangle 2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TextBox 26"/>
          <p:cNvSpPr txBox="1"/>
          <p:nvPr/>
        </p:nvSpPr>
        <p:spPr>
          <a:xfrm>
            <a:off x="785786" y="500042"/>
            <a:ext cx="7572428" cy="137227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000"/>
              </a:lnSpc>
              <a:spcBef>
                <a:spcPts val="600"/>
              </a:spcBef>
            </a:pPr>
            <a:r>
              <a:rPr lang="zh-CN" altLang="zh-CN" sz="2200">
                <a:solidFill>
                  <a:srgbClr val="0000FF"/>
                </a:solidFill>
                <a:latin typeface="Consolas" pitchFamily="49" charset="0"/>
                <a:ea typeface="仿宋" pitchFamily="49" charset="-122"/>
                <a:cs typeface="Consolas" pitchFamily="49" charset="0"/>
              </a:rPr>
              <a:t>例如，</a:t>
            </a:r>
            <a:r>
              <a:rPr lang="en-US" altLang="zh-CN" sz="2200">
                <a:solidFill>
                  <a:srgbClr val="0000FF"/>
                </a:solidFill>
                <a:latin typeface="Consolas" pitchFamily="49" charset="0"/>
                <a:ea typeface="仿宋" pitchFamily="49" charset="-122"/>
                <a:cs typeface="Consolas" pitchFamily="49" charset="0"/>
              </a:rPr>
              <a:t>g={3</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5</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8}</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s={6</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2}</a:t>
            </a:r>
            <a:r>
              <a:rPr lang="zh-CN" altLang="zh-CN" sz="2200">
                <a:solidFill>
                  <a:srgbClr val="0000FF"/>
                </a:solidFill>
                <a:latin typeface="Consolas" pitchFamily="49" charset="0"/>
                <a:ea typeface="仿宋" pitchFamily="49" charset="-122"/>
                <a:cs typeface="Consolas" pitchFamily="49" charset="0"/>
              </a:rPr>
              <a:t>，排序后</a:t>
            </a:r>
            <a:r>
              <a:rPr lang="en-US" altLang="zh-CN" sz="2200">
                <a:solidFill>
                  <a:srgbClr val="0000FF"/>
                </a:solidFill>
                <a:latin typeface="Consolas" pitchFamily="49" charset="0"/>
                <a:ea typeface="仿宋" pitchFamily="49" charset="-122"/>
                <a:cs typeface="Consolas" pitchFamily="49" charset="0"/>
              </a:rPr>
              <a:t>g={1</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5</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8}</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s={1</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2</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6}</a:t>
            </a:r>
            <a:r>
              <a:rPr lang="zh-CN" altLang="zh-CN" sz="2200">
                <a:solidFill>
                  <a:srgbClr val="0000FF"/>
                </a:solidFill>
                <a:latin typeface="Consolas" pitchFamily="49" charset="0"/>
                <a:ea typeface="仿宋" pitchFamily="49" charset="-122"/>
                <a:cs typeface="Consolas" pitchFamily="49" charset="0"/>
              </a:rPr>
              <a:t>，分发饼干的过程如</a:t>
            </a:r>
            <a:r>
              <a:rPr lang="zh-CN" altLang="en-US" sz="2200">
                <a:solidFill>
                  <a:srgbClr val="0000FF"/>
                </a:solidFill>
                <a:latin typeface="Consolas" pitchFamily="49" charset="0"/>
                <a:ea typeface="仿宋" pitchFamily="49" charset="-122"/>
                <a:cs typeface="Consolas" pitchFamily="49" charset="0"/>
              </a:rPr>
              <a:t>下</a:t>
            </a:r>
            <a:r>
              <a:rPr lang="zh-CN" altLang="zh-CN" sz="2200">
                <a:solidFill>
                  <a:srgbClr val="0000FF"/>
                </a:solidFill>
                <a:latin typeface="Consolas" pitchFamily="49" charset="0"/>
                <a:ea typeface="仿宋" pitchFamily="49" charset="-122"/>
                <a:cs typeface="Consolas" pitchFamily="49" charset="0"/>
              </a:rPr>
              <a:t>图所示，结果</a:t>
            </a:r>
            <a:r>
              <a:rPr lang="en-US" altLang="zh-CN" sz="2200">
                <a:solidFill>
                  <a:srgbClr val="0000FF"/>
                </a:solidFill>
                <a:latin typeface="Consolas" pitchFamily="49" charset="0"/>
                <a:ea typeface="仿宋" pitchFamily="49" charset="-122"/>
                <a:cs typeface="Consolas" pitchFamily="49" charset="0"/>
              </a:rPr>
              <a:t>ans=3</a:t>
            </a:r>
            <a:r>
              <a:rPr lang="zh-CN" altLang="zh-CN" sz="2200">
                <a:solidFill>
                  <a:srgbClr val="0000FF"/>
                </a:solidFill>
                <a:latin typeface="Consolas" pitchFamily="49" charset="0"/>
                <a:ea typeface="仿宋" pitchFamily="49" charset="-122"/>
                <a:cs typeface="Consolas" pitchFamily="49" charset="0"/>
              </a:rPr>
              <a:t>。</a:t>
            </a:r>
          </a:p>
        </p:txBody>
      </p:sp>
      <p:sp>
        <p:nvSpPr>
          <p:cNvPr id="2065"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063" name="Rectangle 15"/>
          <p:cNvSpPr>
            <a:spLocks noChangeArrowheads="1"/>
          </p:cNvSpPr>
          <p:nvPr/>
        </p:nvSpPr>
        <p:spPr bwMode="auto">
          <a:xfrm>
            <a:off x="1785918" y="3935940"/>
            <a:ext cx="857256"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Consolas" pitchFamily="49" charset="0"/>
              </a:rPr>
              <a:t>饼干</a:t>
            </a:r>
            <a:r>
              <a:rPr kumimoji="0" lang="en-US" altLang="zh-CN" sz="2000" i="0" u="none" strike="noStrike" cap="none" normalizeH="0" baseline="0">
                <a:ln>
                  <a:noFill/>
                </a:ln>
                <a:solidFill>
                  <a:srgbClr val="0000FF"/>
                </a:solidFill>
                <a:effectLst/>
                <a:latin typeface="Consolas" pitchFamily="49" charset="0"/>
                <a:ea typeface="仿宋" pitchFamily="49" charset="-122"/>
                <a:cs typeface="Consolas" pitchFamily="49" charset="0"/>
              </a:rPr>
              <a:t>s</a:t>
            </a:r>
            <a:endParaRPr kumimoji="0" lang="zh-CN" sz="20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2062" name="Rectangle 14"/>
          <p:cNvSpPr>
            <a:spLocks noChangeArrowheads="1"/>
          </p:cNvSpPr>
          <p:nvPr/>
        </p:nvSpPr>
        <p:spPr bwMode="auto">
          <a:xfrm>
            <a:off x="1785918" y="3131106"/>
            <a:ext cx="785818"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Consolas" pitchFamily="49" charset="0"/>
              </a:rPr>
              <a:t>胃口</a:t>
            </a:r>
            <a:r>
              <a:rPr kumimoji="0" lang="en-US" altLang="zh-CN" sz="2000" i="0" u="none" strike="noStrike" cap="none" normalizeH="0" baseline="0">
                <a:ln>
                  <a:noFill/>
                </a:ln>
                <a:solidFill>
                  <a:srgbClr val="0000FF"/>
                </a:solidFill>
                <a:effectLst/>
                <a:latin typeface="Consolas" pitchFamily="49" charset="0"/>
                <a:ea typeface="仿宋" pitchFamily="49" charset="-122"/>
                <a:cs typeface="Consolas" pitchFamily="49" charset="0"/>
              </a:rPr>
              <a:t>g</a:t>
            </a:r>
            <a:endParaRPr kumimoji="0" lang="zh-CN" sz="20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2061" name="Rectangle 13"/>
          <p:cNvSpPr>
            <a:spLocks noChangeArrowheads="1"/>
          </p:cNvSpPr>
          <p:nvPr/>
        </p:nvSpPr>
        <p:spPr bwMode="auto">
          <a:xfrm>
            <a:off x="2721943" y="3131106"/>
            <a:ext cx="410369"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2060" name="Rectangle 12"/>
          <p:cNvSpPr>
            <a:spLocks noChangeArrowheads="1"/>
          </p:cNvSpPr>
          <p:nvPr/>
        </p:nvSpPr>
        <p:spPr bwMode="auto">
          <a:xfrm>
            <a:off x="3279166" y="3131106"/>
            <a:ext cx="410369"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2059" name="Rectangle 11"/>
          <p:cNvSpPr>
            <a:spLocks noChangeArrowheads="1"/>
          </p:cNvSpPr>
          <p:nvPr/>
        </p:nvSpPr>
        <p:spPr bwMode="auto">
          <a:xfrm>
            <a:off x="3909129" y="3131106"/>
            <a:ext cx="410369"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2058" name="Rectangle 10"/>
          <p:cNvSpPr>
            <a:spLocks noChangeArrowheads="1"/>
          </p:cNvSpPr>
          <p:nvPr/>
        </p:nvSpPr>
        <p:spPr bwMode="auto">
          <a:xfrm>
            <a:off x="4480077" y="3131106"/>
            <a:ext cx="410369"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2057" name="Rectangle 9"/>
          <p:cNvSpPr>
            <a:spLocks noChangeArrowheads="1"/>
          </p:cNvSpPr>
          <p:nvPr/>
        </p:nvSpPr>
        <p:spPr bwMode="auto">
          <a:xfrm>
            <a:off x="5062004" y="3131106"/>
            <a:ext cx="410369"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8</a:t>
            </a:r>
          </a:p>
        </p:txBody>
      </p:sp>
      <p:sp>
        <p:nvSpPr>
          <p:cNvPr id="2056" name="Rectangle 8"/>
          <p:cNvSpPr>
            <a:spLocks noChangeArrowheads="1"/>
          </p:cNvSpPr>
          <p:nvPr/>
        </p:nvSpPr>
        <p:spPr bwMode="auto">
          <a:xfrm>
            <a:off x="2721943" y="3958518"/>
            <a:ext cx="410369"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2055" name="Rectangle 7"/>
          <p:cNvSpPr>
            <a:spLocks noChangeArrowheads="1"/>
          </p:cNvSpPr>
          <p:nvPr/>
        </p:nvSpPr>
        <p:spPr bwMode="auto">
          <a:xfrm>
            <a:off x="3279166" y="3958518"/>
            <a:ext cx="410369"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2054" name="Rectangle 6"/>
          <p:cNvSpPr>
            <a:spLocks noChangeArrowheads="1"/>
          </p:cNvSpPr>
          <p:nvPr/>
        </p:nvSpPr>
        <p:spPr bwMode="auto">
          <a:xfrm>
            <a:off x="3909129" y="3958518"/>
            <a:ext cx="410369"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2053" name="Rectangle 5"/>
          <p:cNvSpPr>
            <a:spLocks noChangeArrowheads="1"/>
          </p:cNvSpPr>
          <p:nvPr/>
        </p:nvSpPr>
        <p:spPr bwMode="auto">
          <a:xfrm>
            <a:off x="4543211" y="3958518"/>
            <a:ext cx="410369" cy="31559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6</a:t>
            </a:r>
          </a:p>
        </p:txBody>
      </p:sp>
      <p:sp>
        <p:nvSpPr>
          <p:cNvPr id="2052" name="AutoShape 4"/>
          <p:cNvSpPr>
            <a:spLocks noChangeShapeType="1"/>
          </p:cNvSpPr>
          <p:nvPr/>
        </p:nvSpPr>
        <p:spPr bwMode="auto">
          <a:xfrm>
            <a:off x="2926441" y="3507077"/>
            <a:ext cx="1372" cy="388321"/>
          </a:xfrm>
          <a:prstGeom prst="straightConnector1">
            <a:avLst/>
          </a:prstGeom>
          <a:noFill/>
          <a:ln w="28575">
            <a:solidFill>
              <a:srgbClr val="FF00FF"/>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051" name="AutoShape 3"/>
          <p:cNvSpPr>
            <a:spLocks noChangeShapeType="1"/>
          </p:cNvSpPr>
          <p:nvPr/>
        </p:nvSpPr>
        <p:spPr bwMode="auto">
          <a:xfrm>
            <a:off x="3485036" y="3446702"/>
            <a:ext cx="629964" cy="511815"/>
          </a:xfrm>
          <a:prstGeom prst="straightConnector1">
            <a:avLst/>
          </a:prstGeom>
          <a:noFill/>
          <a:ln w="28575">
            <a:solidFill>
              <a:srgbClr val="FF00FF"/>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050" name="AutoShape 2"/>
          <p:cNvSpPr>
            <a:spLocks noChangeShapeType="1"/>
          </p:cNvSpPr>
          <p:nvPr/>
        </p:nvSpPr>
        <p:spPr bwMode="auto">
          <a:xfrm>
            <a:off x="4115000" y="3446702"/>
            <a:ext cx="634081" cy="511815"/>
          </a:xfrm>
          <a:prstGeom prst="straightConnector1">
            <a:avLst/>
          </a:prstGeom>
          <a:noFill/>
          <a:ln w="28575">
            <a:solidFill>
              <a:srgbClr val="FF00FF"/>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22" name="灯片编号占位符 21"/>
          <p:cNvSpPr>
            <a:spLocks noGrp="1"/>
          </p:cNvSpPr>
          <p:nvPr>
            <p:ph type="sldNum" sz="quarter" idx="12"/>
          </p:nvPr>
        </p:nvSpPr>
        <p:spPr/>
        <p:txBody>
          <a:bodyPr/>
          <a:lstStyle/>
          <a:p>
            <a:fld id="{7AF016A1-9F15-429F-9EFD-84004B73C732}" type="slidenum">
              <a:rPr lang="en-US" altLang="zh-CN" smtClean="0"/>
              <a:pPr/>
              <a:t>50</a:t>
            </a:fld>
            <a:r>
              <a:rPr lang="en-US" altLang="zh-CN"/>
              <a:t>/109</a:t>
            </a:r>
          </a:p>
        </p:txBody>
      </p:sp>
      <p:grpSp>
        <p:nvGrpSpPr>
          <p:cNvPr id="2" name="组合 28"/>
          <p:cNvGrpSpPr/>
          <p:nvPr/>
        </p:nvGrpSpPr>
        <p:grpSpPr>
          <a:xfrm>
            <a:off x="2737190" y="2462735"/>
            <a:ext cx="357190" cy="612117"/>
            <a:chOff x="2737190" y="2462735"/>
            <a:chExt cx="357190" cy="612117"/>
          </a:xfrm>
        </p:grpSpPr>
        <p:sp>
          <p:nvSpPr>
            <p:cNvPr id="21" name="TextBox 20"/>
            <p:cNvSpPr txBox="1"/>
            <p:nvPr/>
          </p:nvSpPr>
          <p:spPr>
            <a:xfrm>
              <a:off x="2737190" y="2462735"/>
              <a:ext cx="357190"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itchFamily="49" charset="0"/>
                  <a:ea typeface="楷体" pitchFamily="49" charset="-122"/>
                  <a:cs typeface="Consolas" pitchFamily="49" charset="0"/>
                </a:rPr>
                <a:t>i</a:t>
              </a:r>
              <a:endParaRPr lang="zh-CN" altLang="en-US" sz="1800" i="1">
                <a:solidFill>
                  <a:srgbClr val="0000FF"/>
                </a:solidFill>
                <a:latin typeface="Consolas" pitchFamily="49" charset="0"/>
                <a:ea typeface="楷体" pitchFamily="49" charset="-122"/>
                <a:cs typeface="Consolas" pitchFamily="49" charset="0"/>
              </a:endParaRPr>
            </a:p>
          </p:txBody>
        </p:sp>
        <p:cxnSp>
          <p:nvCxnSpPr>
            <p:cNvPr id="25" name="直接箭头连接符 24"/>
            <p:cNvCxnSpPr/>
            <p:nvPr/>
          </p:nvCxnSpPr>
          <p:spPr>
            <a:xfrm rot="5400000">
              <a:off x="2784926" y="2930058"/>
              <a:ext cx="288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3" name="组合 29"/>
          <p:cNvGrpSpPr/>
          <p:nvPr/>
        </p:nvGrpSpPr>
        <p:grpSpPr>
          <a:xfrm>
            <a:off x="2752183" y="4286256"/>
            <a:ext cx="357190" cy="605430"/>
            <a:chOff x="2752183" y="4358488"/>
            <a:chExt cx="357190" cy="605430"/>
          </a:xfrm>
        </p:grpSpPr>
        <p:sp>
          <p:nvSpPr>
            <p:cNvPr id="23" name="TextBox 22"/>
            <p:cNvSpPr txBox="1"/>
            <p:nvPr/>
          </p:nvSpPr>
          <p:spPr>
            <a:xfrm>
              <a:off x="2752183" y="4594586"/>
              <a:ext cx="357190"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itchFamily="49" charset="0"/>
                  <a:ea typeface="楷体" pitchFamily="49" charset="-122"/>
                  <a:cs typeface="Consolas" pitchFamily="49" charset="0"/>
                </a:rPr>
                <a:t>j</a:t>
              </a:r>
              <a:endParaRPr lang="zh-CN" altLang="en-US" sz="1800" i="1">
                <a:solidFill>
                  <a:srgbClr val="0000FF"/>
                </a:solidFill>
                <a:latin typeface="Consolas" pitchFamily="49" charset="0"/>
                <a:ea typeface="楷体" pitchFamily="49" charset="-122"/>
                <a:cs typeface="Consolas" pitchFamily="49" charset="0"/>
              </a:endParaRPr>
            </a:p>
          </p:txBody>
        </p:sp>
        <p:cxnSp>
          <p:nvCxnSpPr>
            <p:cNvPr id="28" name="直接箭头连接符 27"/>
            <p:cNvCxnSpPr/>
            <p:nvPr/>
          </p:nvCxnSpPr>
          <p:spPr>
            <a:xfrm rot="5400000" flipH="1" flipV="1">
              <a:off x="2784926" y="4501694"/>
              <a:ext cx="28800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31" name="TextBox 30"/>
          <p:cNvSpPr txBox="1"/>
          <p:nvPr/>
        </p:nvSpPr>
        <p:spPr>
          <a:xfrm>
            <a:off x="5786446" y="4143380"/>
            <a:ext cx="128588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楷体" pitchFamily="49" charset="-122"/>
                <a:ea typeface="楷体" pitchFamily="49" charset="-122"/>
                <a:cs typeface="Consolas" pitchFamily="49" charset="0"/>
              </a:rPr>
              <a:t>分发</a:t>
            </a:r>
            <a:r>
              <a:rPr lang="zh-CN" altLang="en-US" sz="2000">
                <a:solidFill>
                  <a:srgbClr val="0000FF"/>
                </a:solidFill>
                <a:latin typeface="楷体" pitchFamily="49" charset="-122"/>
                <a:ea typeface="楷体" pitchFamily="49" charset="-122"/>
                <a:cs typeface="Consolas" pitchFamily="49" charset="0"/>
              </a:rPr>
              <a:t>结束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grpId="1" nodeType="afterEffect">
                                  <p:stCondLst>
                                    <p:cond delay="0"/>
                                  </p:stCondLst>
                                  <p:childTnLst>
                                    <p:animEffect transition="out" filter="fade">
                                      <p:cBhvr>
                                        <p:cTn id="9" dur="500" tmFilter="0, 0; .2, .5; .8, .5; 1, 0"/>
                                        <p:tgtEl>
                                          <p:spTgt spid="2052"/>
                                        </p:tgtEl>
                                      </p:cBhvr>
                                    </p:animEffect>
                                    <p:animScale>
                                      <p:cBhvr>
                                        <p:cTn id="10" dur="250" autoRev="1" fill="hold"/>
                                        <p:tgtEl>
                                          <p:spTgt spid="2052"/>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0316 0.00185 L 0.06319 0.00185 " pathEditMode="relative" ptsTypes="AA">
                                      <p:cBhvr>
                                        <p:cTn id="14" dur="2000" fill="hold"/>
                                        <p:tgtEl>
                                          <p:spTgt spid="2"/>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02986 -2.6272E-6 L 0.06145 -2.6272E-6 " pathEditMode="relative" rAng="0" ptsTypes="AA">
                                      <p:cBhvr>
                                        <p:cTn id="18" dur="2000" fill="hold"/>
                                        <p:tgtEl>
                                          <p:spTgt spid="3"/>
                                        </p:tgtEl>
                                        <p:attrNameLst>
                                          <p:attrName>ppt_x</p:attrName>
                                          <p:attrName>ppt_y</p:attrName>
                                        </p:attrNameLst>
                                      </p:cBhvr>
                                      <p:rCtr x="16" y="0"/>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0.07118 -2.6272E-6 L 0.12621 -2.6272E-6 " pathEditMode="relative" rAng="0" ptsTypes="AA">
                                      <p:cBhvr>
                                        <p:cTn id="22" dur="2000" fill="hold"/>
                                        <p:tgtEl>
                                          <p:spTgt spid="3"/>
                                        </p:tgtEl>
                                        <p:attrNameLst>
                                          <p:attrName>ppt_x</p:attrName>
                                          <p:attrName>ppt_y</p:attrName>
                                        </p:attrNameLst>
                                      </p:cBhvr>
                                      <p:rCtr x="27" y="0"/>
                                    </p:animMotion>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51"/>
                                        </p:tgtEl>
                                        <p:attrNameLst>
                                          <p:attrName>style.visibility</p:attrName>
                                        </p:attrNameLst>
                                      </p:cBhvr>
                                      <p:to>
                                        <p:strVal val="visible"/>
                                      </p:to>
                                    </p:set>
                                  </p:childTnLst>
                                </p:cTn>
                              </p:par>
                            </p:childTnLst>
                          </p:cTn>
                        </p:par>
                        <p:par>
                          <p:cTn id="27" fill="hold">
                            <p:stCondLst>
                              <p:cond delay="0"/>
                            </p:stCondLst>
                            <p:childTnLst>
                              <p:par>
                                <p:cTn id="28" presetID="26" presetClass="emph" presetSubtype="0" fill="hold" grpId="1" nodeType="afterEffect">
                                  <p:stCondLst>
                                    <p:cond delay="0"/>
                                  </p:stCondLst>
                                  <p:childTnLst>
                                    <p:animEffect transition="out" filter="fade">
                                      <p:cBhvr>
                                        <p:cTn id="29" dur="500" tmFilter="0, 0; .2, .5; .8, .5; 1, 0"/>
                                        <p:tgtEl>
                                          <p:spTgt spid="2051"/>
                                        </p:tgtEl>
                                      </p:cBhvr>
                                    </p:animEffect>
                                    <p:animScale>
                                      <p:cBhvr>
                                        <p:cTn id="30" dur="250" autoRev="1" fill="hold"/>
                                        <p:tgtEl>
                                          <p:spTgt spid="2051"/>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nodeType="clickEffect">
                                  <p:stCondLst>
                                    <p:cond delay="0"/>
                                  </p:stCondLst>
                                  <p:childTnLst>
                                    <p:animMotion origin="layout" path="M 0.07049 0.00185 L 0.12552 0.00185 " pathEditMode="relative" rAng="0" ptsTypes="AA">
                                      <p:cBhvr>
                                        <p:cTn id="34" dur="2000" fill="hold"/>
                                        <p:tgtEl>
                                          <p:spTgt spid="2"/>
                                        </p:tgtEl>
                                        <p:attrNameLst>
                                          <p:attrName>ppt_x</p:attrName>
                                          <p:attrName>ppt_y</p:attrName>
                                        </p:attrNameLst>
                                      </p:cBhvr>
                                      <p:rCtr x="27" y="0"/>
                                    </p:animMotion>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animMotion origin="layout" path="M 0.12621 5.06938E-6 L 0.19722 5.06938E-6 " pathEditMode="relative" ptsTypes="AA">
                                      <p:cBhvr>
                                        <p:cTn id="38" dur="2000" fill="hold"/>
                                        <p:tgtEl>
                                          <p:spTgt spid="3"/>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50"/>
                                        </p:tgtEl>
                                        <p:attrNameLst>
                                          <p:attrName>style.visibility</p:attrName>
                                        </p:attrNameLst>
                                      </p:cBhvr>
                                      <p:to>
                                        <p:strVal val="visible"/>
                                      </p:to>
                                    </p:set>
                                  </p:childTnLst>
                                </p:cTn>
                              </p:par>
                            </p:childTnLst>
                          </p:cTn>
                        </p:par>
                        <p:par>
                          <p:cTn id="43" fill="hold">
                            <p:stCondLst>
                              <p:cond delay="0"/>
                            </p:stCondLst>
                            <p:childTnLst>
                              <p:par>
                                <p:cTn id="44" presetID="26" presetClass="emph" presetSubtype="0" fill="hold" grpId="1" nodeType="afterEffect">
                                  <p:stCondLst>
                                    <p:cond delay="0"/>
                                  </p:stCondLst>
                                  <p:childTnLst>
                                    <p:animEffect transition="out" filter="fade">
                                      <p:cBhvr>
                                        <p:cTn id="45" dur="500" tmFilter="0, 0; .2, .5; .8, .5; 1, 0"/>
                                        <p:tgtEl>
                                          <p:spTgt spid="2050"/>
                                        </p:tgtEl>
                                      </p:cBhvr>
                                    </p:animEffect>
                                    <p:animScale>
                                      <p:cBhvr>
                                        <p:cTn id="46" dur="250" autoRev="1" fill="hold"/>
                                        <p:tgtEl>
                                          <p:spTgt spid="2050"/>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nodeType="clickEffect">
                                  <p:stCondLst>
                                    <p:cond delay="0"/>
                                  </p:stCondLst>
                                  <p:childTnLst>
                                    <p:animMotion origin="layout" path="M 0.12552 0.00185 L 0.18854 0.00185 " pathEditMode="relative" ptsTypes="AA">
                                      <p:cBhvr>
                                        <p:cTn id="50" dur="2000" fill="hold"/>
                                        <p:tgtEl>
                                          <p:spTgt spid="2"/>
                                        </p:tgtEl>
                                        <p:attrNameLst>
                                          <p:attrName>ppt_x</p:attrName>
                                          <p:attrName>ppt_y</p:attrName>
                                        </p:attrNameLst>
                                      </p:cBhvr>
                                    </p:animMotion>
                                  </p:childTnLst>
                                </p:cTn>
                              </p:par>
                            </p:childTnLst>
                          </p:cTn>
                        </p:par>
                      </p:childTnLst>
                    </p:cTn>
                  </p:par>
                  <p:par>
                    <p:cTn id="51" fill="hold">
                      <p:stCondLst>
                        <p:cond delay="indefinite"/>
                      </p:stCondLst>
                      <p:childTnLst>
                        <p:par>
                          <p:cTn id="52" fill="hold">
                            <p:stCondLst>
                              <p:cond delay="0"/>
                            </p:stCondLst>
                            <p:childTnLst>
                              <p:par>
                                <p:cTn id="53" presetID="0" presetClass="path" presetSubtype="0" accel="50000" decel="50000" fill="hold" nodeType="clickEffect">
                                  <p:stCondLst>
                                    <p:cond delay="0"/>
                                  </p:stCondLst>
                                  <p:childTnLst>
                                    <p:animMotion origin="layout" path="M 0.19722 5.06938E-6 L 0.25243 5.06938E-6 " pathEditMode="relative" ptsTypes="AA">
                                      <p:cBhvr>
                                        <p:cTn id="54" dur="2000" fill="hold"/>
                                        <p:tgtEl>
                                          <p:spTgt spid="3"/>
                                        </p:tgtEl>
                                        <p:attrNameLst>
                                          <p:attrName>ppt_x</p:attrName>
                                          <p:attrName>ppt_y</p:attrName>
                                        </p:attrNameLst>
                                      </p:cBhvr>
                                    </p:animMotion>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animBg="1"/>
      <p:bldP spid="2052" grpId="1" animBg="1"/>
      <p:bldP spid="2051" grpId="0" animBg="1"/>
      <p:bldP spid="2051" grpId="1" animBg="1"/>
      <p:bldP spid="2050" grpId="0" animBg="1"/>
      <p:bldP spid="2050" grpId="1" animBg="1"/>
      <p:bldP spid="3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9113"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TextBox 9"/>
          <p:cNvSpPr txBox="1"/>
          <p:nvPr/>
        </p:nvSpPr>
        <p:spPr>
          <a:xfrm>
            <a:off x="214282" y="604441"/>
            <a:ext cx="8786874" cy="56682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0" bIns="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findContentChildren</a:t>
            </a:r>
            <a:r>
              <a:rPr lang="en-US" altLang="zh-CN" sz="2000">
                <a:solidFill>
                  <a:srgbClr val="0000FF"/>
                </a:solidFill>
                <a:latin typeface="Consolas" pitchFamily="49" charset="0"/>
                <a:ea typeface="仿宋" pitchFamily="49" charset="-122"/>
              </a:rPr>
              <a:t>(vector&lt;int&gt; &amp;g,vector&lt;int&gt; &amp;s)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m=g.size();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n=s.size();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(g.begin(),g.end());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默认为递增排序</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(s.begin(),s.end());</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ans=0;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i=0,j=0; i&lt;m &amp;&amp; j&lt;n;j++)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g[i]&lt;=s[j]</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51</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13" end="1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9113"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12"/>
          <p:cNvGrpSpPr/>
          <p:nvPr/>
        </p:nvGrpSpPr>
        <p:grpSpPr>
          <a:xfrm>
            <a:off x="500034" y="2428868"/>
            <a:ext cx="8143932" cy="1571636"/>
            <a:chOff x="500034" y="2428868"/>
            <a:chExt cx="8143932" cy="1571636"/>
          </a:xfrm>
        </p:grpSpPr>
        <p:sp>
          <p:nvSpPr>
            <p:cNvPr id="9" name="TextBox 8"/>
            <p:cNvSpPr txBox="1"/>
            <p:nvPr/>
          </p:nvSpPr>
          <p:spPr>
            <a:xfrm>
              <a:off x="2000232" y="2643182"/>
              <a:ext cx="6643734" cy="124649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zh-CN" altLang="zh-CN">
                  <a:solidFill>
                    <a:srgbClr val="0000FF"/>
                  </a:solidFill>
                  <a:latin typeface="Consolas" pitchFamily="49" charset="0"/>
                  <a:ea typeface="仿宋" pitchFamily="49" charset="-122"/>
                  <a:cs typeface="Consolas" pitchFamily="49" charset="0"/>
                </a:rPr>
                <a:t>如果将贪心选择策略改为每个孩子</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分发得到满足的饼干</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（不一定是最小尺寸的饼干），结果是否正确呢？</a:t>
              </a:r>
              <a:endParaRPr lang="zh-CN" altLang="en-US">
                <a:solidFill>
                  <a:srgbClr val="0000FF"/>
                </a:solidFill>
                <a:latin typeface="Consolas" pitchFamily="49" charset="0"/>
                <a:ea typeface="仿宋" pitchFamily="49" charset="-122"/>
                <a:cs typeface="Consolas" pitchFamily="49" charset="0"/>
              </a:endParaRPr>
            </a:p>
          </p:txBody>
        </p:sp>
        <p:pic>
          <p:nvPicPr>
            <p:cNvPr id="11" name="Picture 2"/>
            <p:cNvPicPr>
              <a:picLocks noChangeAspect="1" noChangeArrowheads="1"/>
            </p:cNvPicPr>
            <p:nvPr/>
          </p:nvPicPr>
          <p:blipFill>
            <a:blip r:embed="rId2" cstate="print"/>
            <a:srcRect/>
            <a:stretch>
              <a:fillRect/>
            </a:stretch>
          </p:blipFill>
          <p:spPr bwMode="auto">
            <a:xfrm>
              <a:off x="500034" y="2428868"/>
              <a:ext cx="1309696" cy="157163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pSp>
      <p:grpSp>
        <p:nvGrpSpPr>
          <p:cNvPr id="3" name="组合 9"/>
          <p:cNvGrpSpPr/>
          <p:nvPr/>
        </p:nvGrpSpPr>
        <p:grpSpPr>
          <a:xfrm>
            <a:off x="928662" y="1000108"/>
            <a:ext cx="7000924" cy="461665"/>
            <a:chOff x="1071538" y="6286520"/>
            <a:chExt cx="7000924" cy="461665"/>
          </a:xfrm>
        </p:grpSpPr>
        <p:sp>
          <p:nvSpPr>
            <p:cNvPr id="10" name="TextBox 9"/>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104ms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5.48MB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12" name="TextBox 11"/>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14" name="灯片编号占位符 13"/>
          <p:cNvSpPr>
            <a:spLocks noGrp="1"/>
          </p:cNvSpPr>
          <p:nvPr>
            <p:ph type="sldNum" sz="quarter" idx="12"/>
          </p:nvPr>
        </p:nvSpPr>
        <p:spPr/>
        <p:txBody>
          <a:bodyPr/>
          <a:lstStyle/>
          <a:p>
            <a:fld id="{7AF016A1-9F15-429F-9EFD-84004B73C732}" type="slidenum">
              <a:rPr lang="en-US" altLang="zh-CN" smtClean="0"/>
              <a:pPr/>
              <a:t>52</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2571736" y="343895"/>
            <a:ext cx="407196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8.4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田忌赛马问题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428596" y="1214422"/>
            <a:ext cx="8358246" cy="489364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600"/>
              </a:spcBef>
            </a:pPr>
            <a:r>
              <a:rPr lang="en-US" altLang="zh-CN">
                <a:solidFill>
                  <a:srgbClr val="FF0000"/>
                </a:solidFill>
                <a:latin typeface="楷体" pitchFamily="49" charset="-122"/>
                <a:ea typeface="楷体" pitchFamily="49" charset="-122"/>
                <a:sym typeface="Wingdings"/>
              </a:rPr>
              <a:t></a:t>
            </a:r>
            <a:r>
              <a:rPr lang="zh-CN" altLang="zh-CN">
                <a:solidFill>
                  <a:srgbClr val="FF0000"/>
                </a:solidFill>
                <a:latin typeface="楷体" pitchFamily="49" charset="-122"/>
                <a:ea typeface="楷体" pitchFamily="49" charset="-122"/>
              </a:rPr>
              <a:t>问题描述（</a:t>
            </a:r>
            <a:r>
              <a:rPr lang="en-US" altLang="zh-CN">
                <a:solidFill>
                  <a:srgbClr val="0000FF"/>
                </a:solidFill>
                <a:latin typeface="Consolas" pitchFamily="49" charset="0"/>
                <a:ea typeface="仿宋" pitchFamily="49" charset="-122"/>
              </a:rPr>
              <a:t>POJ2287</a:t>
            </a:r>
            <a:r>
              <a:rPr lang="zh-CN" altLang="zh-CN">
                <a:solidFill>
                  <a:srgbClr val="0000FF"/>
                </a:solidFill>
                <a:latin typeface="Consolas" pitchFamily="49" charset="0"/>
                <a:ea typeface="仿宋" pitchFamily="49" charset="-122"/>
              </a:rPr>
              <a:t>）：二千多年前的战国时期，齐威王与大将田忌赛马。双方约定每人各出</a:t>
            </a:r>
            <a:r>
              <a:rPr lang="en-US" altLang="zh-CN">
                <a:solidFill>
                  <a:srgbClr val="0000FF"/>
                </a:solidFill>
                <a:latin typeface="Consolas" pitchFamily="49" charset="0"/>
                <a:ea typeface="仿宋" pitchFamily="49" charset="-122"/>
              </a:rPr>
              <a:t>300</a:t>
            </a:r>
            <a:r>
              <a:rPr lang="zh-CN" altLang="zh-CN">
                <a:solidFill>
                  <a:srgbClr val="0000FF"/>
                </a:solidFill>
                <a:latin typeface="Consolas" pitchFamily="49" charset="0"/>
                <a:ea typeface="仿宋" pitchFamily="49" charset="-122"/>
              </a:rPr>
              <a:t>匹马，并且在上、中、下三个等级中各选一匹进行比赛，由于齐威王每个等级的马都比田忌的马略强，比赛的结果可想而知。现在双方各</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匹马，依次派出一匹马进行比赛，每一轮获胜的一方将从输的一方得到</a:t>
            </a:r>
            <a:r>
              <a:rPr lang="en-US" altLang="zh-CN">
                <a:solidFill>
                  <a:srgbClr val="0000FF"/>
                </a:solidFill>
                <a:latin typeface="Consolas" pitchFamily="49" charset="0"/>
                <a:ea typeface="仿宋" pitchFamily="49" charset="-122"/>
              </a:rPr>
              <a:t>200</a:t>
            </a:r>
            <a:r>
              <a:rPr lang="zh-CN" altLang="zh-CN">
                <a:solidFill>
                  <a:srgbClr val="0000FF"/>
                </a:solidFill>
                <a:latin typeface="Consolas" pitchFamily="49" charset="0"/>
                <a:ea typeface="仿宋" pitchFamily="49" charset="-122"/>
              </a:rPr>
              <a:t>银币，平局则不用出钱，田忌已知所有马的速度值并可以安排出场顺序，问他如何安排比赛获得的银币最多。</a:t>
            </a:r>
          </a:p>
          <a:p>
            <a:pPr algn="l" defTabSz="360000">
              <a:lnSpc>
                <a:spcPts val="3000"/>
              </a:lnSpc>
              <a:spcBef>
                <a:spcPts val="600"/>
              </a:spcBef>
            </a:pPr>
            <a:r>
              <a:rPr lang="zh-CN" altLang="zh-CN">
                <a:solidFill>
                  <a:srgbClr val="FF0000"/>
                </a:solidFill>
                <a:latin typeface="Consolas" pitchFamily="49" charset="0"/>
                <a:ea typeface="仿宋" pitchFamily="49" charset="-122"/>
              </a:rPr>
              <a:t>输入格式</a:t>
            </a:r>
            <a:r>
              <a:rPr lang="zh-CN" altLang="zh-CN">
                <a:solidFill>
                  <a:srgbClr val="0000FF"/>
                </a:solidFill>
                <a:latin typeface="Consolas" pitchFamily="49" charset="0"/>
                <a:ea typeface="仿宋" pitchFamily="49" charset="-122"/>
              </a:rPr>
              <a:t>：输入包含多个测试用例，每个测试用例的第一行正整数</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1000</a:t>
            </a:r>
            <a:r>
              <a:rPr lang="zh-CN" altLang="zh-CN">
                <a:solidFill>
                  <a:srgbClr val="0000FF"/>
                </a:solidFill>
                <a:latin typeface="Consolas" pitchFamily="49" charset="0"/>
                <a:ea typeface="仿宋" pitchFamily="49" charset="-122"/>
              </a:rPr>
              <a:t>）马的数量，后两行分别是</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个整数，表示田忌和齐威王的马的速度值。输入</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结束。</a:t>
            </a:r>
          </a:p>
          <a:p>
            <a:pPr algn="l" defTabSz="360000">
              <a:lnSpc>
                <a:spcPts val="3000"/>
              </a:lnSpc>
              <a:spcBef>
                <a:spcPts val="600"/>
              </a:spcBef>
            </a:pPr>
            <a:r>
              <a:rPr lang="zh-CN" altLang="zh-CN">
                <a:solidFill>
                  <a:srgbClr val="FF0000"/>
                </a:solidFill>
                <a:latin typeface="Consolas" pitchFamily="49" charset="0"/>
                <a:ea typeface="仿宋" pitchFamily="49" charset="-122"/>
              </a:rPr>
              <a:t>输出格式</a:t>
            </a:r>
            <a:r>
              <a:rPr lang="zh-CN" altLang="zh-CN">
                <a:solidFill>
                  <a:srgbClr val="0000FF"/>
                </a:solidFill>
                <a:latin typeface="Consolas" pitchFamily="49" charset="0"/>
                <a:ea typeface="仿宋" pitchFamily="49" charset="-122"/>
              </a:rPr>
              <a:t>：每个测试用例输出一行，表示田忌获得的最多银币数。</a:t>
            </a:r>
            <a:endParaRPr lang="zh-CN" altLang="en-US">
              <a:solidFill>
                <a:srgbClr val="0000FF"/>
              </a:solidFill>
              <a:latin typeface="Consolas" pitchFamily="49" charset="0"/>
              <a:ea typeface="仿宋" pitchFamily="49" charset="-122"/>
              <a:cs typeface="Consolas" pitchFamily="49" charset="0"/>
            </a:endParaRPr>
          </a:p>
        </p:txBody>
      </p:sp>
      <p:grpSp>
        <p:nvGrpSpPr>
          <p:cNvPr id="7" name="组合 6"/>
          <p:cNvGrpSpPr/>
          <p:nvPr/>
        </p:nvGrpSpPr>
        <p:grpSpPr>
          <a:xfrm>
            <a:off x="1357290" y="142852"/>
            <a:ext cx="1041400" cy="1044575"/>
            <a:chOff x="857224" y="1071546"/>
            <a:chExt cx="1041400" cy="1044575"/>
          </a:xfrm>
        </p:grpSpPr>
        <p:sp>
          <p:nvSpPr>
            <p:cNvPr id="8"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9"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10" name="灯片编号占位符 9"/>
          <p:cNvSpPr>
            <a:spLocks noGrp="1"/>
          </p:cNvSpPr>
          <p:nvPr>
            <p:ph type="sldNum" sz="quarter" idx="12"/>
          </p:nvPr>
        </p:nvSpPr>
        <p:spPr/>
        <p:txBody>
          <a:bodyPr/>
          <a:lstStyle/>
          <a:p>
            <a:fld id="{7AF016A1-9F15-429F-9EFD-84004B73C732}" type="slidenum">
              <a:rPr lang="en-US" altLang="zh-CN" smtClean="0"/>
              <a:pPr/>
              <a:t>53</a:t>
            </a:fld>
            <a:r>
              <a:rPr lang="en-US" altLang="zh-CN"/>
              <a:t>/109</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357166"/>
            <a:ext cx="8358246" cy="5846152"/>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rtlCol="0">
            <a:spAutoFit/>
          </a:bodyPr>
          <a:lstStyle/>
          <a:p>
            <a:pPr algn="l" defTabSz="360000">
              <a:lnSpc>
                <a:spcPts val="3000"/>
              </a:lnSpc>
              <a:spcBef>
                <a:spcPts val="0"/>
              </a:spcBef>
            </a:pPr>
            <a:r>
              <a:rPr lang="zh-CN" altLang="zh-CN">
                <a:solidFill>
                  <a:srgbClr val="FF0000"/>
                </a:solidFill>
                <a:latin typeface="Consolas" pitchFamily="49" charset="0"/>
                <a:ea typeface="仿宋" pitchFamily="49" charset="-122"/>
              </a:rPr>
              <a:t>输入样例：</a:t>
            </a:r>
          </a:p>
          <a:p>
            <a:pPr algn="l" defTabSz="360000">
              <a:lnSpc>
                <a:spcPts val="3000"/>
              </a:lnSpc>
              <a:spcBef>
                <a:spcPts val="0"/>
              </a:spcBef>
            </a:pPr>
            <a:r>
              <a:rPr lang="en-US" altLang="zh-CN" sz="2000">
                <a:solidFill>
                  <a:srgbClr val="0000FF"/>
                </a:solidFill>
                <a:latin typeface="Consolas" pitchFamily="49" charset="0"/>
                <a:ea typeface="仿宋" pitchFamily="49" charset="-122"/>
              </a:rPr>
              <a:t>3</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92 83 71</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95 87 74</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2</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20 20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20 20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2</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20 19</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22 18</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zh-CN" altLang="zh-CN">
                <a:solidFill>
                  <a:srgbClr val="FF0000"/>
                </a:solidFill>
                <a:latin typeface="Consolas" pitchFamily="49" charset="0"/>
                <a:ea typeface="仿宋" pitchFamily="49" charset="-122"/>
              </a:rPr>
              <a:t>样例输出：</a:t>
            </a:r>
          </a:p>
          <a:p>
            <a:pPr algn="l" defTabSz="360000">
              <a:lnSpc>
                <a:spcPts val="3000"/>
              </a:lnSpc>
              <a:spcBef>
                <a:spcPts val="0"/>
              </a:spcBef>
            </a:pPr>
            <a:r>
              <a:rPr lang="en-US" altLang="zh-CN" sz="2000">
                <a:solidFill>
                  <a:srgbClr val="0000FF"/>
                </a:solidFill>
                <a:latin typeface="Consolas" pitchFamily="49" charset="0"/>
                <a:ea typeface="仿宋" pitchFamily="49" charset="-122"/>
              </a:rPr>
              <a:t>200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0</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54</a:t>
            </a:fld>
            <a:r>
              <a:rPr lang="en-US" altLang="zh-CN"/>
              <a:t>/109</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785794"/>
            <a:ext cx="8572560" cy="255454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0"/>
              </a:spcBef>
            </a:pPr>
            <a:r>
              <a:rPr lang="zh-CN" altLang="en-US">
                <a:solidFill>
                  <a:srgbClr val="FF0000"/>
                </a:solidFill>
                <a:latin typeface="Consolas" pitchFamily="49" charset="0"/>
                <a:ea typeface="仿宋" pitchFamily="49" charset="-122"/>
                <a:cs typeface="Consolas" pitchFamily="49" charset="0"/>
                <a:sym typeface="Wingdings"/>
              </a:rPr>
              <a:t></a:t>
            </a:r>
            <a:r>
              <a:rPr lang="zh-CN" altLang="zh-CN">
                <a:solidFill>
                  <a:srgbClr val="0000FF"/>
                </a:solidFill>
                <a:latin typeface="Consolas" pitchFamily="49" charset="0"/>
                <a:ea typeface="仿宋" pitchFamily="49" charset="-122"/>
                <a:cs typeface="Consolas" pitchFamily="49" charset="0"/>
              </a:rPr>
              <a:t>田忌的马速度用数组</a:t>
            </a:r>
            <a:r>
              <a:rPr lang="en-US"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表示，齐威王的马速度用数组</a:t>
            </a:r>
            <a:r>
              <a:rPr lang="en-US"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表示，将</a:t>
            </a:r>
            <a:r>
              <a:rPr lang="en-US" altLang="zh-CN" i="1">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b</a:t>
            </a:r>
            <a:r>
              <a:rPr lang="zh-CN" altLang="zh-CN">
                <a:solidFill>
                  <a:srgbClr val="0000FF"/>
                </a:solidFill>
                <a:latin typeface="Consolas" pitchFamily="49" charset="0"/>
                <a:ea typeface="仿宋" pitchFamily="49" charset="-122"/>
                <a:cs typeface="Consolas" pitchFamily="49" charset="0"/>
              </a:rPr>
              <a:t>数组递增排序。采用常识性的贪心思路，分以下几种情况：</a:t>
            </a:r>
          </a:p>
          <a:p>
            <a:pPr algn="l" defTabSz="360000">
              <a:lnSpc>
                <a:spcPts val="3200"/>
              </a:lnSpc>
              <a:spcBef>
                <a:spcPts val="0"/>
              </a:spcBef>
            </a:pPr>
            <a:r>
              <a:rPr lang="en-US" altLang="zh-CN">
                <a:solidFill>
                  <a:srgbClr val="0000FF"/>
                </a:solidFill>
                <a:latin typeface="Consolas" pitchFamily="49" charset="0"/>
                <a:ea typeface="仿宋" pitchFamily="49" charset="-122"/>
                <a:cs typeface="Consolas" pitchFamily="49" charset="0"/>
              </a:rPr>
              <a:t>   </a:t>
            </a:r>
            <a:r>
              <a:rPr lang="zh-CN" altLang="zh-CN" sz="2200">
                <a:solidFill>
                  <a:srgbClr val="FF00FF"/>
                </a:solidFill>
                <a:latin typeface="Consolas" pitchFamily="49" charset="0"/>
                <a:ea typeface="仿宋" pitchFamily="49" charset="-122"/>
                <a:cs typeface="Consolas" pitchFamily="49" charset="0"/>
              </a:rPr>
              <a:t>（</a:t>
            </a:r>
            <a:r>
              <a:rPr lang="en-US" altLang="zh-CN" sz="2200">
                <a:solidFill>
                  <a:srgbClr val="FF00FF"/>
                </a:solidFill>
                <a:latin typeface="Consolas" pitchFamily="49" charset="0"/>
                <a:ea typeface="仿宋" pitchFamily="49" charset="-122"/>
                <a:cs typeface="Consolas" pitchFamily="49" charset="0"/>
              </a:rPr>
              <a:t>1</a:t>
            </a:r>
            <a:r>
              <a:rPr lang="zh-CN" altLang="zh-CN" sz="2200">
                <a:solidFill>
                  <a:srgbClr val="FF00FF"/>
                </a:solidFill>
                <a:latin typeface="Consolas" pitchFamily="49" charset="0"/>
                <a:ea typeface="仿宋" pitchFamily="49" charset="-122"/>
                <a:cs typeface="Consolas" pitchFamily="49" charset="0"/>
              </a:rPr>
              <a:t>）田忌最快马比齐威王最快马快</a:t>
            </a:r>
            <a:r>
              <a:rPr lang="zh-CN" altLang="zh-CN" sz="2200">
                <a:solidFill>
                  <a:srgbClr val="0000FF"/>
                </a:solidFill>
                <a:latin typeface="Consolas" pitchFamily="49" charset="0"/>
                <a:ea typeface="仿宋" pitchFamily="49" charset="-122"/>
                <a:cs typeface="Consolas" pitchFamily="49" charset="0"/>
              </a:rPr>
              <a:t>即</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[righta]&gt;</a:t>
            </a:r>
            <a:r>
              <a:rPr lang="en-US" altLang="zh-CN" sz="2200" i="1">
                <a:solidFill>
                  <a:srgbClr val="0000FF"/>
                </a:solidFill>
                <a:latin typeface="Consolas" pitchFamily="49" charset="0"/>
                <a:ea typeface="仿宋" pitchFamily="49" charset="-122"/>
                <a:cs typeface="Consolas" pitchFamily="49" charset="0"/>
              </a:rPr>
              <a:t>b</a:t>
            </a:r>
            <a:r>
              <a:rPr lang="en-US" altLang="zh-CN" sz="2200">
                <a:solidFill>
                  <a:srgbClr val="0000FF"/>
                </a:solidFill>
                <a:latin typeface="Consolas" pitchFamily="49" charset="0"/>
                <a:ea typeface="仿宋" pitchFamily="49" charset="-122"/>
                <a:cs typeface="Consolas" pitchFamily="49" charset="0"/>
              </a:rPr>
              <a:t>[rightb]</a:t>
            </a:r>
            <a:r>
              <a:rPr lang="zh-CN" altLang="zh-CN" sz="2200">
                <a:solidFill>
                  <a:srgbClr val="0000FF"/>
                </a:solidFill>
                <a:latin typeface="Consolas" pitchFamily="49" charset="0"/>
                <a:ea typeface="仿宋" pitchFamily="49" charset="-122"/>
                <a:cs typeface="Consolas" pitchFamily="49" charset="0"/>
              </a:rPr>
              <a:t>，则两者比赛（两个最快的马比赛），田忌赢。因为此时田忌最快的马一定赢，而选择与齐威王最快的马比赛对于田忌来说是最优的。</a:t>
            </a:r>
          </a:p>
        </p:txBody>
      </p:sp>
      <p:grpSp>
        <p:nvGrpSpPr>
          <p:cNvPr id="21" name="组合 20"/>
          <p:cNvGrpSpPr/>
          <p:nvPr/>
        </p:nvGrpSpPr>
        <p:grpSpPr>
          <a:xfrm>
            <a:off x="1357290" y="3643314"/>
            <a:ext cx="6143668" cy="2286016"/>
            <a:chOff x="1643042" y="4286256"/>
            <a:chExt cx="5500726" cy="1857388"/>
          </a:xfrm>
        </p:grpSpPr>
        <p:sp>
          <p:nvSpPr>
            <p:cNvPr id="280578" name="Rectangle 2"/>
            <p:cNvSpPr>
              <a:spLocks noChangeArrowheads="1"/>
            </p:cNvSpPr>
            <p:nvPr/>
          </p:nvSpPr>
          <p:spPr bwMode="auto">
            <a:xfrm>
              <a:off x="1957368" y="4613290"/>
              <a:ext cx="2162202" cy="3159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chemeClr val="tx1"/>
                  </a:solidFill>
                  <a:effectLst/>
                  <a:latin typeface="+mj-ea"/>
                  <a:ea typeface="+mj-ea"/>
                  <a:cs typeface="Times New Roman" pitchFamily="18" charset="0"/>
                </a:rPr>
                <a:t>…</a:t>
              </a:r>
              <a:r>
                <a:rPr kumimoji="0" lang="en-US" altLang="zh-CN" sz="1800" b="0" i="0" u="none" strike="noStrike" cap="none" normalizeH="0" baseline="0">
                  <a:ln>
                    <a:noFill/>
                  </a:ln>
                  <a:solidFill>
                    <a:schemeClr val="tx1"/>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chemeClr val="tx1"/>
                  </a:solidFill>
                  <a:effectLst/>
                  <a:latin typeface="+mj-ea"/>
                  <a:ea typeface="+mj-ea"/>
                  <a:cs typeface="Times New Roman" pitchFamily="18" charset="0"/>
                </a:rPr>
                <a:t>…</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80579" name="Rectangle 3"/>
            <p:cNvSpPr>
              <a:spLocks noChangeArrowheads="1"/>
            </p:cNvSpPr>
            <p:nvPr/>
          </p:nvSpPr>
          <p:spPr bwMode="auto">
            <a:xfrm>
              <a:off x="2008170" y="4286256"/>
              <a:ext cx="23495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latin typeface="Consolas" pitchFamily="49" charset="0"/>
                  <a:ea typeface="仿宋" pitchFamily="49" charset="-122"/>
                  <a:cs typeface="Times New Roman" pitchFamily="18" charset="0"/>
                </a:rPr>
                <a:t>慢</a:t>
              </a:r>
              <a:endParaRPr kumimoji="0" 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80580" name="Rectangle 4"/>
            <p:cNvSpPr>
              <a:spLocks noChangeArrowheads="1"/>
            </p:cNvSpPr>
            <p:nvPr/>
          </p:nvSpPr>
          <p:spPr bwMode="auto">
            <a:xfrm>
              <a:off x="3884620" y="4292606"/>
              <a:ext cx="1841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latin typeface="Consolas" pitchFamily="49" charset="0"/>
                  <a:ea typeface="仿宋" pitchFamily="49" charset="-122"/>
                  <a:cs typeface="Times New Roman" pitchFamily="18" charset="0"/>
                </a:rPr>
                <a:t>快</a:t>
              </a:r>
              <a:endParaRPr kumimoji="0" 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80581" name="Rectangle 5"/>
            <p:cNvSpPr>
              <a:spLocks noChangeArrowheads="1"/>
            </p:cNvSpPr>
            <p:nvPr/>
          </p:nvSpPr>
          <p:spPr bwMode="auto">
            <a:xfrm>
              <a:off x="1649392" y="4657740"/>
              <a:ext cx="16510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endParaRPr kumimoji="0" lang="zh-CN" altLang="zh-CN" sz="1800" i="0" u="none" strike="noStrike" cap="none" normalizeH="0" baseline="0">
                <a:ln>
                  <a:noFill/>
                </a:ln>
                <a:solidFill>
                  <a:srgbClr val="FF0000"/>
                </a:solidFill>
                <a:effectLst/>
                <a:latin typeface="Consolas" pitchFamily="49" charset="0"/>
                <a:ea typeface="仿宋" pitchFamily="49" charset="-122"/>
                <a:cs typeface="Times New Roman" pitchFamily="18" charset="0"/>
              </a:endParaRPr>
            </a:p>
          </p:txBody>
        </p:sp>
        <p:sp>
          <p:nvSpPr>
            <p:cNvPr id="280582" name="Rectangle 6"/>
            <p:cNvSpPr>
              <a:spLocks noChangeArrowheads="1"/>
            </p:cNvSpPr>
            <p:nvPr/>
          </p:nvSpPr>
          <p:spPr bwMode="auto">
            <a:xfrm>
              <a:off x="1957368" y="5349892"/>
              <a:ext cx="2143140" cy="29368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chemeClr val="tx1"/>
                  </a:solidFill>
                  <a:effectLst/>
                  <a:latin typeface="+mn-ea"/>
                  <a:ea typeface="+mn-ea"/>
                  <a:cs typeface="Times New Roman" pitchFamily="18" charset="0"/>
                </a:rPr>
                <a:t>…</a:t>
              </a:r>
              <a:r>
                <a:rPr kumimoji="0" lang="en-US" altLang="zh-CN" sz="1800" b="0" i="0" u="none" strike="noStrike" cap="none" normalizeH="0" baseline="0">
                  <a:ln>
                    <a:noFill/>
                  </a:ln>
                  <a:solidFill>
                    <a:schemeClr val="tx1"/>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chemeClr val="tx1"/>
                  </a:solidFill>
                  <a:effectLst/>
                  <a:latin typeface="+mj-ea"/>
                  <a:ea typeface="+mj-ea"/>
                  <a:cs typeface="Times New Roman" pitchFamily="18" charset="0"/>
                </a:rPr>
                <a:t>…</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80583" name="Rectangle 7"/>
            <p:cNvSpPr>
              <a:spLocks noChangeArrowheads="1"/>
            </p:cNvSpPr>
            <p:nvPr/>
          </p:nvSpPr>
          <p:spPr bwMode="auto">
            <a:xfrm>
              <a:off x="1643042" y="5394342"/>
              <a:ext cx="16510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endParaRPr kumimoji="0" lang="zh-CN"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80584" name="Rectangle 8"/>
            <p:cNvSpPr>
              <a:spLocks noChangeArrowheads="1"/>
            </p:cNvSpPr>
            <p:nvPr/>
          </p:nvSpPr>
          <p:spPr bwMode="auto">
            <a:xfrm>
              <a:off x="2786050" y="5857892"/>
              <a:ext cx="3786214" cy="2857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5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[righta]&gt;</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[rightb]</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ans+=200</a:t>
              </a:r>
              <a:endParaRPr kumimoji="0" lang="zh-CN"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280585" name="Rectangle 9"/>
            <p:cNvSpPr>
              <a:spLocks noChangeArrowheads="1"/>
            </p:cNvSpPr>
            <p:nvPr/>
          </p:nvSpPr>
          <p:spPr bwMode="auto">
            <a:xfrm>
              <a:off x="5054612" y="4613290"/>
              <a:ext cx="2089156" cy="3159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chemeClr val="tx1"/>
                  </a:solidFill>
                  <a:effectLst/>
                  <a:latin typeface="+mn-ea"/>
                  <a:ea typeface="+mn-ea"/>
                  <a:cs typeface="Times New Roman" pitchFamily="18" charset="0"/>
                </a:rPr>
                <a:t>…</a:t>
              </a:r>
              <a:r>
                <a:rPr kumimoji="0" lang="en-US" altLang="zh-CN" sz="1800" b="0" i="0" u="none" strike="noStrike" cap="none" normalizeH="0" baseline="0">
                  <a:ln>
                    <a:noFill/>
                  </a:ln>
                  <a:solidFill>
                    <a:schemeClr val="tx1"/>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rgbClr val="FF0000"/>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chemeClr val="tx1"/>
                  </a:solidFill>
                  <a:effectLst/>
                  <a:latin typeface="+mj-ea"/>
                  <a:ea typeface="+mj-ea"/>
                  <a:cs typeface="Times New Roman" pitchFamily="18" charset="0"/>
                </a:rPr>
                <a:t>…</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80586" name="Rectangle 10"/>
            <p:cNvSpPr>
              <a:spLocks noChangeArrowheads="1"/>
            </p:cNvSpPr>
            <p:nvPr/>
          </p:nvSpPr>
          <p:spPr bwMode="auto">
            <a:xfrm>
              <a:off x="5086362" y="4286256"/>
              <a:ext cx="23495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latin typeface="Consolas" pitchFamily="49" charset="0"/>
                  <a:ea typeface="仿宋" pitchFamily="49" charset="-122"/>
                  <a:cs typeface="Times New Roman" pitchFamily="18" charset="0"/>
                </a:rPr>
                <a:t>慢</a:t>
              </a:r>
              <a:endParaRPr kumimoji="0" 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80587" name="Rectangle 11"/>
            <p:cNvSpPr>
              <a:spLocks noChangeArrowheads="1"/>
            </p:cNvSpPr>
            <p:nvPr/>
          </p:nvSpPr>
          <p:spPr bwMode="auto">
            <a:xfrm>
              <a:off x="6858016" y="4292606"/>
              <a:ext cx="1841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latin typeface="Consolas" pitchFamily="49" charset="0"/>
                  <a:ea typeface="仿宋" pitchFamily="49" charset="-122"/>
                  <a:cs typeface="Times New Roman" pitchFamily="18" charset="0"/>
                </a:rPr>
                <a:t>快</a:t>
              </a:r>
              <a:endParaRPr kumimoji="0" 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80588" name="Rectangle 12"/>
            <p:cNvSpPr>
              <a:spLocks noChangeArrowheads="1"/>
            </p:cNvSpPr>
            <p:nvPr/>
          </p:nvSpPr>
          <p:spPr bwMode="auto">
            <a:xfrm>
              <a:off x="4835528" y="4657740"/>
              <a:ext cx="16510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endParaRPr kumimoji="0" lang="zh-CN" altLang="zh-CN" sz="1800" i="0" u="none" strike="noStrike" cap="none" normalizeH="0" baseline="0">
                <a:ln>
                  <a:noFill/>
                </a:ln>
                <a:solidFill>
                  <a:srgbClr val="FF0000"/>
                </a:solidFill>
                <a:effectLst/>
                <a:latin typeface="Consolas" pitchFamily="49" charset="0"/>
                <a:ea typeface="仿宋" pitchFamily="49" charset="-122"/>
                <a:cs typeface="Times New Roman" pitchFamily="18" charset="0"/>
              </a:endParaRPr>
            </a:p>
          </p:txBody>
        </p:sp>
        <p:sp>
          <p:nvSpPr>
            <p:cNvPr id="280589" name="Rectangle 13"/>
            <p:cNvSpPr>
              <a:spLocks noChangeArrowheads="1"/>
            </p:cNvSpPr>
            <p:nvPr/>
          </p:nvSpPr>
          <p:spPr bwMode="auto">
            <a:xfrm>
              <a:off x="5048262" y="5349892"/>
              <a:ext cx="2095506" cy="29368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chemeClr val="tx1"/>
                  </a:solidFill>
                  <a:effectLst/>
                  <a:latin typeface="+mj-ea"/>
                  <a:ea typeface="+mj-ea"/>
                  <a:cs typeface="Times New Roman" pitchFamily="18" charset="0"/>
                </a:rPr>
                <a:t>…</a:t>
              </a:r>
              <a:r>
                <a:rPr kumimoji="0" lang="en-US" altLang="zh-CN" sz="1800" b="0" i="0" u="none" strike="noStrike" cap="none" normalizeH="0" baseline="0">
                  <a:ln>
                    <a:noFill/>
                  </a:ln>
                  <a:solidFill>
                    <a:schemeClr val="tx1"/>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chemeClr val="bg1">
                      <a:lumMod val="50000"/>
                    </a:schemeClr>
                  </a:solidFill>
                  <a:effectLst/>
                  <a:latin typeface="Consolas" pitchFamily="49" charset="0"/>
                  <a:ea typeface="仿宋" pitchFamily="49" charset="-122"/>
                  <a:cs typeface="Times New Roman" pitchFamily="18" charset="0"/>
                </a:rPr>
                <a:t>■</a:t>
              </a:r>
              <a:r>
                <a:rPr kumimoji="0" lang="en-US" altLang="zh-CN" sz="1800" b="0" i="0" u="none" strike="noStrike" cap="none" normalizeH="0" baseline="0">
                  <a:ln>
                    <a:noFill/>
                  </a:ln>
                  <a:solidFill>
                    <a:schemeClr val="tx1"/>
                  </a:solidFill>
                  <a:effectLst/>
                  <a:latin typeface="+mj-ea"/>
                  <a:ea typeface="+mj-ea"/>
                  <a:cs typeface="Times New Roman" pitchFamily="18" charset="0"/>
                </a:rPr>
                <a:t>…</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endParaRPr kumimoji="0" lang="zh-CN"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280590" name="Rectangle 14"/>
            <p:cNvSpPr>
              <a:spLocks noChangeArrowheads="1"/>
            </p:cNvSpPr>
            <p:nvPr/>
          </p:nvSpPr>
          <p:spPr bwMode="auto">
            <a:xfrm>
              <a:off x="4829178" y="5394342"/>
              <a:ext cx="16510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5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b</a:t>
              </a:r>
              <a:endParaRPr kumimoji="0" lang="zh-CN"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cxnSp>
          <p:nvCxnSpPr>
            <p:cNvPr id="18" name="直接箭头连接符 17"/>
            <p:cNvCxnSpPr/>
            <p:nvPr/>
          </p:nvCxnSpPr>
          <p:spPr>
            <a:xfrm rot="5400000">
              <a:off x="6248042" y="5132672"/>
              <a:ext cx="432000" cy="1588"/>
            </a:xfrm>
            <a:prstGeom prst="straightConnector1">
              <a:avLst/>
            </a:prstGeom>
            <a:ln>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9" name="右箭头 18"/>
            <p:cNvSpPr/>
            <p:nvPr/>
          </p:nvSpPr>
          <p:spPr>
            <a:xfrm>
              <a:off x="4345160" y="4941724"/>
              <a:ext cx="357190" cy="2857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ts val="2500"/>
                </a:lnSpc>
              </a:pPr>
              <a:endParaRPr lang="zh-CN" altLang="en-US" sz="1800">
                <a:latin typeface="Consolas" pitchFamily="49" charset="0"/>
                <a:ea typeface="仿宋" pitchFamily="49" charset="-122"/>
              </a:endParaRPr>
            </a:p>
          </p:txBody>
        </p:sp>
      </p:grpSp>
      <p:sp>
        <p:nvSpPr>
          <p:cNvPr id="20" name="TextBox 19"/>
          <p:cNvSpPr txBox="1"/>
          <p:nvPr/>
        </p:nvSpPr>
        <p:spPr>
          <a:xfrm>
            <a:off x="285720" y="214290"/>
            <a:ext cx="642942"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23" name="灯片编号占位符 22"/>
          <p:cNvSpPr>
            <a:spLocks noGrp="1"/>
          </p:cNvSpPr>
          <p:nvPr>
            <p:ph type="sldNum" sz="quarter" idx="12"/>
          </p:nvPr>
        </p:nvSpPr>
        <p:spPr/>
        <p:txBody>
          <a:bodyPr/>
          <a:lstStyle/>
          <a:p>
            <a:fld id="{7AF016A1-9F15-429F-9EFD-84004B73C732}" type="slidenum">
              <a:rPr lang="en-US" altLang="zh-CN" smtClean="0"/>
              <a:pPr/>
              <a:t>55</a:t>
            </a:fld>
            <a:r>
              <a:rPr lang="en-US" altLang="zh-CN"/>
              <a:t>/109</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642918"/>
            <a:ext cx="8572560" cy="163121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en-US" altLang="zh-CN" sz="2200">
                <a:solidFill>
                  <a:srgbClr val="0000FF"/>
                </a:solidFill>
                <a:latin typeface="Consolas" pitchFamily="49" charset="0"/>
                <a:ea typeface="仿宋" pitchFamily="49" charset="-122"/>
                <a:cs typeface="Consolas" pitchFamily="49" charset="0"/>
              </a:rPr>
              <a:t>   </a:t>
            </a:r>
            <a:r>
              <a:rPr lang="zh-CN" altLang="zh-CN" sz="2200">
                <a:solidFill>
                  <a:srgbClr val="FF00FF"/>
                </a:solidFill>
                <a:latin typeface="Consolas" pitchFamily="49" charset="0"/>
                <a:ea typeface="仿宋" pitchFamily="49" charset="-122"/>
                <a:cs typeface="Consolas" pitchFamily="49" charset="0"/>
              </a:rPr>
              <a:t>（</a:t>
            </a:r>
            <a:r>
              <a:rPr lang="en-US" altLang="zh-CN" sz="2200">
                <a:solidFill>
                  <a:srgbClr val="FF00FF"/>
                </a:solidFill>
                <a:latin typeface="Consolas" pitchFamily="49" charset="0"/>
                <a:ea typeface="仿宋" pitchFamily="49" charset="-122"/>
                <a:cs typeface="Consolas" pitchFamily="49" charset="0"/>
              </a:rPr>
              <a:t>2</a:t>
            </a:r>
            <a:r>
              <a:rPr lang="zh-CN" altLang="zh-CN" sz="2200">
                <a:solidFill>
                  <a:srgbClr val="FF00FF"/>
                </a:solidFill>
                <a:latin typeface="Consolas" pitchFamily="49" charset="0"/>
                <a:ea typeface="仿宋" pitchFamily="49" charset="-122"/>
                <a:cs typeface="Consolas" pitchFamily="49" charset="0"/>
              </a:rPr>
              <a:t>）田忌最快马比齐威王最快马慢</a:t>
            </a:r>
            <a:r>
              <a:rPr lang="zh-CN" altLang="zh-CN" sz="2200">
                <a:solidFill>
                  <a:srgbClr val="0000FF"/>
                </a:solidFill>
                <a:latin typeface="Consolas" pitchFamily="49" charset="0"/>
                <a:ea typeface="仿宋" pitchFamily="49" charset="-122"/>
                <a:cs typeface="Consolas" pitchFamily="49" charset="0"/>
              </a:rPr>
              <a:t>即</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[righta]&lt;</a:t>
            </a:r>
            <a:r>
              <a:rPr lang="en-US" altLang="zh-CN" sz="2200" i="1">
                <a:solidFill>
                  <a:srgbClr val="0000FF"/>
                </a:solidFill>
                <a:latin typeface="Consolas" pitchFamily="49" charset="0"/>
                <a:ea typeface="仿宋" pitchFamily="49" charset="-122"/>
                <a:cs typeface="Consolas" pitchFamily="49" charset="0"/>
              </a:rPr>
              <a:t>b</a:t>
            </a:r>
            <a:r>
              <a:rPr lang="en-US" altLang="zh-CN" sz="2200">
                <a:solidFill>
                  <a:srgbClr val="0000FF"/>
                </a:solidFill>
                <a:latin typeface="Consolas" pitchFamily="49" charset="0"/>
                <a:ea typeface="仿宋" pitchFamily="49" charset="-122"/>
                <a:cs typeface="Consolas" pitchFamily="49" charset="0"/>
              </a:rPr>
              <a:t>[rightb]</a:t>
            </a:r>
            <a:r>
              <a:rPr lang="zh-CN" altLang="zh-CN" sz="2200">
                <a:solidFill>
                  <a:srgbClr val="0000FF"/>
                </a:solidFill>
                <a:latin typeface="Consolas" pitchFamily="49" charset="0"/>
                <a:ea typeface="仿宋" pitchFamily="49" charset="-122"/>
                <a:cs typeface="Consolas" pitchFamily="49" charset="0"/>
              </a:rPr>
              <a:t>，则选择田忌最慢的马与齐威王最快的马比赛，田忌输。因为齐威王最快的马一定赢，而选择与田忌最慢的马比赛对于田忌来说是最优的。</a:t>
            </a:r>
          </a:p>
        </p:txBody>
      </p:sp>
      <p:grpSp>
        <p:nvGrpSpPr>
          <p:cNvPr id="19" name="组合 18"/>
          <p:cNvGrpSpPr/>
          <p:nvPr/>
        </p:nvGrpSpPr>
        <p:grpSpPr>
          <a:xfrm>
            <a:off x="1357290" y="3000372"/>
            <a:ext cx="5892821" cy="2152664"/>
            <a:chOff x="1751013" y="2562220"/>
            <a:chExt cx="5892821" cy="2152664"/>
          </a:xfrm>
        </p:grpSpPr>
        <p:sp>
          <p:nvSpPr>
            <p:cNvPr id="281602" name="Rectangle 2"/>
            <p:cNvSpPr>
              <a:spLocks noChangeArrowheads="1"/>
            </p:cNvSpPr>
            <p:nvPr/>
          </p:nvSpPr>
          <p:spPr bwMode="auto">
            <a:xfrm>
              <a:off x="1941513" y="2873380"/>
              <a:ext cx="2416174" cy="34130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1603" name="Rectangle 3"/>
            <p:cNvSpPr>
              <a:spLocks noChangeArrowheads="1"/>
            </p:cNvSpPr>
            <p:nvPr/>
          </p:nvSpPr>
          <p:spPr bwMode="auto">
            <a:xfrm>
              <a:off x="1973263" y="2562220"/>
              <a:ext cx="23495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慢</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1604" name="Rectangle 4"/>
            <p:cNvSpPr>
              <a:spLocks noChangeArrowheads="1"/>
            </p:cNvSpPr>
            <p:nvPr/>
          </p:nvSpPr>
          <p:spPr bwMode="auto">
            <a:xfrm>
              <a:off x="4071934" y="2568570"/>
              <a:ext cx="1841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快</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1605" name="Rectangle 5"/>
            <p:cNvSpPr>
              <a:spLocks noChangeArrowheads="1"/>
            </p:cNvSpPr>
            <p:nvPr/>
          </p:nvSpPr>
          <p:spPr bwMode="auto">
            <a:xfrm>
              <a:off x="1757363" y="2917830"/>
              <a:ext cx="16510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Consolas" pitchFamily="49" charset="0"/>
                  <a:ea typeface="楷体" pitchFamily="49" charset="-122"/>
                  <a:cs typeface="Times New Roman" pitchFamily="18" charset="0"/>
                </a:rPr>
                <a:t>a</a:t>
              </a:r>
              <a:endParaRPr kumimoji="0" lang="zh-CN" altLang="zh-CN" sz="1800" i="0" u="none" strike="noStrike" cap="none" normalizeH="0" baseline="0">
                <a:ln>
                  <a:noFill/>
                </a:ln>
                <a:solidFill>
                  <a:srgbClr val="FF0000"/>
                </a:solidFill>
                <a:effectLst/>
                <a:latin typeface="Consolas" pitchFamily="49" charset="0"/>
                <a:ea typeface="楷体" pitchFamily="49" charset="-122"/>
                <a:cs typeface="Times New Roman" pitchFamily="18" charset="0"/>
              </a:endParaRPr>
            </a:p>
          </p:txBody>
        </p:sp>
        <p:sp>
          <p:nvSpPr>
            <p:cNvPr id="281606" name="Rectangle 6"/>
            <p:cNvSpPr>
              <a:spLocks noChangeArrowheads="1"/>
            </p:cNvSpPr>
            <p:nvPr/>
          </p:nvSpPr>
          <p:spPr bwMode="auto">
            <a:xfrm>
              <a:off x="1935163" y="3609982"/>
              <a:ext cx="2422524" cy="39052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1607" name="Rectangle 7"/>
            <p:cNvSpPr>
              <a:spLocks noChangeArrowheads="1"/>
            </p:cNvSpPr>
            <p:nvPr/>
          </p:nvSpPr>
          <p:spPr bwMode="auto">
            <a:xfrm>
              <a:off x="1751013" y="3654432"/>
              <a:ext cx="16510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楷体" pitchFamily="49" charset="-122"/>
                  <a:cs typeface="Times New Roman" pitchFamily="18" charset="0"/>
                </a:rPr>
                <a:t>b</a:t>
              </a:r>
              <a:endParaRPr kumimoji="0" lang="zh-CN" altLang="zh-CN" sz="1800" i="0" u="none" strike="noStrike" cap="none" normalizeH="0" baseline="0">
                <a:ln>
                  <a:noFill/>
                </a:ln>
                <a:solidFill>
                  <a:srgbClr val="0000FF"/>
                </a:solidFill>
                <a:effectLst/>
                <a:latin typeface="Consolas" pitchFamily="49" charset="0"/>
                <a:ea typeface="楷体" pitchFamily="49" charset="-122"/>
                <a:cs typeface="Times New Roman" pitchFamily="18" charset="0"/>
              </a:endParaRPr>
            </a:p>
          </p:txBody>
        </p:sp>
        <p:sp>
          <p:nvSpPr>
            <p:cNvPr id="281608" name="Rectangle 8"/>
            <p:cNvSpPr>
              <a:spLocks noChangeArrowheads="1"/>
            </p:cNvSpPr>
            <p:nvPr/>
          </p:nvSpPr>
          <p:spPr bwMode="auto">
            <a:xfrm>
              <a:off x="2786050" y="4414846"/>
              <a:ext cx="3857652" cy="3000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楷体" pitchFamily="49" charset="-122"/>
                  <a:cs typeface="Consolas" pitchFamily="49" charset="0"/>
                </a:rPr>
                <a:t>a</a:t>
              </a:r>
              <a:r>
                <a:rPr kumimoji="0" lang="en-US" altLang="zh-CN" sz="1800" i="0" u="none" strike="noStrike" cap="none" normalizeH="0" baseline="0">
                  <a:ln>
                    <a:noFill/>
                  </a:ln>
                  <a:solidFill>
                    <a:srgbClr val="0000FF"/>
                  </a:solidFill>
                  <a:effectLst/>
                  <a:latin typeface="Consolas" pitchFamily="49" charset="0"/>
                  <a:ea typeface="楷体" pitchFamily="49" charset="-122"/>
                  <a:cs typeface="Consolas" pitchFamily="49" charset="0"/>
                </a:rPr>
                <a:t>[righta]&lt;</a:t>
              </a:r>
              <a:r>
                <a:rPr kumimoji="0" lang="en-US" altLang="zh-CN" sz="1800" i="1" u="none" strike="noStrike" cap="none" normalizeH="0" baseline="0">
                  <a:ln>
                    <a:noFill/>
                  </a:ln>
                  <a:solidFill>
                    <a:srgbClr val="0000FF"/>
                  </a:solidFill>
                  <a:effectLst/>
                  <a:latin typeface="Consolas" pitchFamily="49" charset="0"/>
                  <a:ea typeface="楷体" pitchFamily="49" charset="-122"/>
                  <a:cs typeface="Consolas" pitchFamily="49" charset="0"/>
                </a:rPr>
                <a:t>b</a:t>
              </a:r>
              <a:r>
                <a:rPr kumimoji="0" lang="en-US" altLang="zh-CN" sz="1800" i="0" u="none" strike="noStrike" cap="none" normalizeH="0" baseline="0">
                  <a:ln>
                    <a:noFill/>
                  </a:ln>
                  <a:solidFill>
                    <a:srgbClr val="0000FF"/>
                  </a:solidFill>
                  <a:effectLst/>
                  <a:latin typeface="Consolas" pitchFamily="49" charset="0"/>
                  <a:ea typeface="楷体" pitchFamily="49" charset="-122"/>
                  <a:cs typeface="Consolas" pitchFamily="49" charset="0"/>
                </a:rPr>
                <a:t>[rightb]</a:t>
              </a:r>
              <a:r>
                <a:rPr kumimoji="0" lang="zh-CN" altLang="en-US" sz="1800" i="0" u="none" strike="noStrike" cap="none" normalizeH="0" baseline="0">
                  <a:ln>
                    <a:noFill/>
                  </a:ln>
                  <a:solidFill>
                    <a:srgbClr val="0000FF"/>
                  </a:solidFill>
                  <a:effectLst/>
                  <a:latin typeface="Consolas" pitchFamily="49" charset="0"/>
                  <a:ea typeface="楷体" pitchFamily="49"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楷体" pitchFamily="49" charset="-122"/>
                  <a:cs typeface="Consolas" pitchFamily="49" charset="0"/>
                </a:rPr>
                <a:t>ans-=200</a:t>
              </a:r>
              <a:endParaRPr kumimoji="0" lang="zh-CN" altLang="zh-CN" sz="1800" i="0" u="none" strike="noStrike" cap="none" normalizeH="0" baseline="0">
                <a:ln>
                  <a:noFill/>
                </a:ln>
                <a:solidFill>
                  <a:srgbClr val="0000FF"/>
                </a:solidFill>
                <a:effectLst/>
                <a:latin typeface="Consolas" pitchFamily="49" charset="0"/>
                <a:ea typeface="楷体" pitchFamily="49" charset="-122"/>
                <a:cs typeface="Consolas" pitchFamily="49" charset="0"/>
              </a:endParaRPr>
            </a:p>
          </p:txBody>
        </p:sp>
        <p:sp>
          <p:nvSpPr>
            <p:cNvPr id="281609" name="Rectangle 9"/>
            <p:cNvSpPr>
              <a:spLocks noChangeArrowheads="1"/>
            </p:cNvSpPr>
            <p:nvPr/>
          </p:nvSpPr>
          <p:spPr bwMode="auto">
            <a:xfrm>
              <a:off x="5240349" y="2562220"/>
              <a:ext cx="23495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慢</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1610" name="Rectangle 10"/>
            <p:cNvSpPr>
              <a:spLocks noChangeArrowheads="1"/>
            </p:cNvSpPr>
            <p:nvPr/>
          </p:nvSpPr>
          <p:spPr bwMode="auto">
            <a:xfrm>
              <a:off x="7316808" y="2568570"/>
              <a:ext cx="1841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快</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1611" name="Rectangle 11"/>
            <p:cNvSpPr>
              <a:spLocks noChangeArrowheads="1"/>
            </p:cNvSpPr>
            <p:nvPr/>
          </p:nvSpPr>
          <p:spPr bwMode="auto">
            <a:xfrm>
              <a:off x="5024449" y="2917830"/>
              <a:ext cx="16510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Consolas" pitchFamily="49" charset="0"/>
                  <a:ea typeface="楷体" pitchFamily="49" charset="-122"/>
                  <a:cs typeface="Times New Roman" pitchFamily="18" charset="0"/>
                </a:rPr>
                <a:t>a</a:t>
              </a:r>
              <a:endParaRPr kumimoji="0" lang="zh-CN" altLang="zh-CN" sz="1800" i="0" u="none" strike="noStrike" cap="none" normalizeH="0" baseline="0">
                <a:ln>
                  <a:noFill/>
                </a:ln>
                <a:solidFill>
                  <a:srgbClr val="FF0000"/>
                </a:solidFill>
                <a:effectLst/>
                <a:latin typeface="Consolas" pitchFamily="49" charset="0"/>
                <a:ea typeface="楷体" pitchFamily="49" charset="-122"/>
                <a:cs typeface="Times New Roman" pitchFamily="18" charset="0"/>
              </a:endParaRPr>
            </a:p>
          </p:txBody>
        </p:sp>
        <p:sp>
          <p:nvSpPr>
            <p:cNvPr id="281612" name="Rectangle 12"/>
            <p:cNvSpPr>
              <a:spLocks noChangeArrowheads="1"/>
            </p:cNvSpPr>
            <p:nvPr/>
          </p:nvSpPr>
          <p:spPr bwMode="auto">
            <a:xfrm>
              <a:off x="5202248" y="3609982"/>
              <a:ext cx="2441586" cy="39052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r>
                <a:rPr kumimoji="0" lang="en-US" altLang="zh-CN" sz="1800" i="0" u="none" strike="noStrike" cap="none" normalizeH="0" baseline="0">
                  <a:ln>
                    <a:noFill/>
                  </a:ln>
                  <a:solidFill>
                    <a:srgbClr val="FF0000"/>
                  </a:solidFill>
                  <a:effectLst/>
                  <a:ea typeface="楷体" pitchFamily="49" charset="-122"/>
                  <a:cs typeface="Times New Roman" pitchFamily="18" charset="0"/>
                </a:rPr>
                <a:t>■</a:t>
              </a: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1613" name="Rectangle 13"/>
            <p:cNvSpPr>
              <a:spLocks noChangeArrowheads="1"/>
            </p:cNvSpPr>
            <p:nvPr/>
          </p:nvSpPr>
          <p:spPr bwMode="auto">
            <a:xfrm>
              <a:off x="5018099" y="3654432"/>
              <a:ext cx="165100" cy="1476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楷体" pitchFamily="49" charset="-122"/>
                  <a:cs typeface="Times New Roman" pitchFamily="18" charset="0"/>
                </a:rPr>
                <a:t>b</a:t>
              </a:r>
              <a:endParaRPr kumimoji="0" lang="zh-CN" altLang="zh-CN" sz="1800" i="0" u="none" strike="noStrike" cap="none" normalizeH="0" baseline="0">
                <a:ln>
                  <a:noFill/>
                </a:ln>
                <a:solidFill>
                  <a:srgbClr val="0000FF"/>
                </a:solidFill>
                <a:effectLst/>
                <a:latin typeface="Consolas" pitchFamily="49" charset="0"/>
                <a:ea typeface="楷体" pitchFamily="49" charset="-122"/>
                <a:cs typeface="Times New Roman" pitchFamily="18" charset="0"/>
              </a:endParaRPr>
            </a:p>
          </p:txBody>
        </p:sp>
        <p:sp>
          <p:nvSpPr>
            <p:cNvPr id="281614" name="Rectangle 14"/>
            <p:cNvSpPr>
              <a:spLocks noChangeArrowheads="1"/>
            </p:cNvSpPr>
            <p:nvPr/>
          </p:nvSpPr>
          <p:spPr bwMode="auto">
            <a:xfrm>
              <a:off x="5208598" y="2873380"/>
              <a:ext cx="2435235" cy="3270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宋体" pitchFamily="2" charset="-122"/>
                  <a:ea typeface="宋体" pitchFamily="2" charset="-122"/>
                  <a:cs typeface="宋体" pitchFamily="2" charset="-122"/>
                </a:rPr>
                <a:t>■</a:t>
              </a:r>
              <a:r>
                <a:rPr kumimoji="0" lang="en-US" altLang="zh-CN" sz="1800" i="0" u="none" strike="noStrike" cap="none" normalizeH="0" baseline="0">
                  <a:ln>
                    <a:noFill/>
                  </a:ln>
                  <a:solidFill>
                    <a:srgbClr val="0000FF"/>
                  </a:solidFill>
                  <a:effectLst/>
                  <a:latin typeface="Arial"/>
                  <a:ea typeface="宋体" pitchFamily="2" charset="-122"/>
                  <a:cs typeface="宋体" pitchFamily="2" charset="-122"/>
                </a:rPr>
                <a:t>…</a:t>
              </a:r>
              <a:r>
                <a:rPr kumimoji="0" lang="en-US" altLang="zh-CN" sz="1800" i="0" u="none" strike="noStrike" cap="none" normalizeH="0" baseline="0">
                  <a:ln>
                    <a:noFill/>
                  </a:ln>
                  <a:solidFill>
                    <a:schemeClr val="bg1">
                      <a:lumMod val="50000"/>
                    </a:schemeClr>
                  </a:solidFill>
                  <a:effectLst/>
                  <a:latin typeface="宋体" pitchFamily="2" charset="-122"/>
                  <a:ea typeface="宋体" pitchFamily="2" charset="-122"/>
                  <a:cs typeface="宋体" pitchFamily="2" charset="-122"/>
                </a:rPr>
                <a:t>■</a:t>
              </a:r>
              <a:r>
                <a:rPr kumimoji="0" lang="en-US" altLang="zh-CN" sz="1800" i="0" u="none" strike="noStrike" cap="none" normalizeH="0" baseline="0">
                  <a:ln>
                    <a:noFill/>
                  </a:ln>
                  <a:solidFill>
                    <a:srgbClr val="0000FF"/>
                  </a:solidFill>
                  <a:effectLst/>
                  <a:latin typeface="宋体" pitchFamily="2" charset="-122"/>
                  <a:ea typeface="宋体" pitchFamily="2" charset="-122"/>
                  <a:cs typeface="宋体" pitchFamily="2" charset="-122"/>
                </a:rPr>
                <a:t>□□□□</a:t>
              </a:r>
              <a:r>
                <a:rPr kumimoji="0" lang="en-US" altLang="zh-CN" sz="1800" i="0" u="none" strike="noStrike" cap="none" normalizeH="0" baseline="0">
                  <a:ln>
                    <a:noFill/>
                  </a:ln>
                  <a:solidFill>
                    <a:srgbClr val="0000FF"/>
                  </a:solidFill>
                  <a:effectLst/>
                  <a:latin typeface="Arial"/>
                  <a:ea typeface="宋体" pitchFamily="2" charset="-122"/>
                  <a:cs typeface="宋体" pitchFamily="2" charset="-122"/>
                </a:rPr>
                <a:t>…</a:t>
              </a:r>
              <a:r>
                <a:rPr kumimoji="0" lang="en-US" altLang="zh-CN" sz="1800" i="0" u="none" strike="noStrike" cap="none" normalizeH="0" baseline="0">
                  <a:ln>
                    <a:noFill/>
                  </a:ln>
                  <a:solidFill>
                    <a:srgbClr val="0000FF"/>
                  </a:solidFill>
                  <a:effectLst/>
                  <a:latin typeface="宋体" pitchFamily="2" charset="-122"/>
                  <a:ea typeface="宋体" pitchFamily="2" charset="-122"/>
                  <a:cs typeface="宋体" pitchFamily="2" charset="-122"/>
                </a:rPr>
                <a:t>■</a:t>
              </a:r>
              <a:endParaRPr kumimoji="0" lang="zh-CN" altLang="zh-CN" sz="18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16" name="右箭头 15"/>
            <p:cNvSpPr/>
            <p:nvPr/>
          </p:nvSpPr>
          <p:spPr>
            <a:xfrm>
              <a:off x="4500562" y="3286124"/>
              <a:ext cx="357190" cy="2857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ts val="2000"/>
                </a:lnSpc>
              </a:pPr>
              <a:endParaRPr lang="zh-CN" altLang="en-US"/>
            </a:p>
          </p:txBody>
        </p:sp>
        <p:cxnSp>
          <p:nvCxnSpPr>
            <p:cNvPr id="18" name="直接箭头连接符 17"/>
            <p:cNvCxnSpPr/>
            <p:nvPr/>
          </p:nvCxnSpPr>
          <p:spPr>
            <a:xfrm>
              <a:off x="5929322" y="3214686"/>
              <a:ext cx="857256" cy="428628"/>
            </a:xfrm>
            <a:prstGeom prst="straightConnector1">
              <a:avLst/>
            </a:prstGeom>
            <a:ln>
              <a:solidFill>
                <a:srgbClr val="FF0000"/>
              </a:solidFill>
              <a:headEnd type="arrow"/>
              <a:tailEnd type="arrow"/>
            </a:ln>
          </p:spPr>
          <p:style>
            <a:lnRef idx="2">
              <a:schemeClr val="accent2"/>
            </a:lnRef>
            <a:fillRef idx="0">
              <a:schemeClr val="accent2"/>
            </a:fillRef>
            <a:effectRef idx="1">
              <a:schemeClr val="accent2"/>
            </a:effectRef>
            <a:fontRef idx="minor">
              <a:schemeClr val="tx1"/>
            </a:fontRef>
          </p:style>
        </p:cxnSp>
      </p:grpSp>
      <p:sp>
        <p:nvSpPr>
          <p:cNvPr id="21" name="灯片编号占位符 20"/>
          <p:cNvSpPr>
            <a:spLocks noGrp="1"/>
          </p:cNvSpPr>
          <p:nvPr>
            <p:ph type="sldNum" sz="quarter" idx="12"/>
          </p:nvPr>
        </p:nvSpPr>
        <p:spPr/>
        <p:txBody>
          <a:bodyPr/>
          <a:lstStyle/>
          <a:p>
            <a:fld id="{7AF016A1-9F15-429F-9EFD-84004B73C732}" type="slidenum">
              <a:rPr lang="en-US" altLang="zh-CN" smtClean="0"/>
              <a:pPr/>
              <a:t>56</a:t>
            </a:fld>
            <a:r>
              <a:rPr lang="en-US" altLang="zh-CN"/>
              <a:t>/109</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285728"/>
            <a:ext cx="8715436" cy="222112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sz="2200">
                <a:solidFill>
                  <a:srgbClr val="0000FF"/>
                </a:solidFill>
                <a:latin typeface="Consolas" pitchFamily="49" charset="0"/>
                <a:ea typeface="仿宋" pitchFamily="49" charset="-122"/>
                <a:cs typeface="Consolas" pitchFamily="49" charset="0"/>
              </a:rPr>
              <a:t> </a:t>
            </a:r>
            <a:r>
              <a:rPr lang="zh-CN" altLang="zh-CN" sz="2200">
                <a:solidFill>
                  <a:srgbClr val="FF00FF"/>
                </a:solidFill>
                <a:latin typeface="Consolas" pitchFamily="49" charset="0"/>
                <a:ea typeface="仿宋" pitchFamily="49" charset="-122"/>
                <a:cs typeface="Consolas" pitchFamily="49" charset="0"/>
              </a:rPr>
              <a:t>（</a:t>
            </a:r>
            <a:r>
              <a:rPr lang="en-US" altLang="zh-CN" sz="2200">
                <a:solidFill>
                  <a:srgbClr val="FF00FF"/>
                </a:solidFill>
                <a:latin typeface="Consolas" pitchFamily="49" charset="0"/>
                <a:ea typeface="仿宋" pitchFamily="49" charset="-122"/>
                <a:cs typeface="Consolas" pitchFamily="49" charset="0"/>
              </a:rPr>
              <a:t>3</a:t>
            </a:r>
            <a:r>
              <a:rPr lang="zh-CN" altLang="zh-CN" sz="2200">
                <a:solidFill>
                  <a:srgbClr val="FF00FF"/>
                </a:solidFill>
                <a:latin typeface="Consolas" pitchFamily="49" charset="0"/>
                <a:ea typeface="仿宋" pitchFamily="49" charset="-122"/>
                <a:cs typeface="Consolas" pitchFamily="49" charset="0"/>
              </a:rPr>
              <a:t>）田忌最快马与齐威王最快马速度相同</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[righta]=</a:t>
            </a:r>
            <a:r>
              <a:rPr lang="en-US" altLang="zh-CN" sz="2200" i="1">
                <a:solidFill>
                  <a:srgbClr val="0000FF"/>
                </a:solidFill>
                <a:latin typeface="Consolas" pitchFamily="49" charset="0"/>
                <a:ea typeface="仿宋" pitchFamily="49" charset="-122"/>
                <a:cs typeface="Consolas" pitchFamily="49" charset="0"/>
              </a:rPr>
              <a:t>b</a:t>
            </a:r>
            <a:r>
              <a:rPr lang="en-US" altLang="zh-CN" sz="2200">
                <a:solidFill>
                  <a:srgbClr val="0000FF"/>
                </a:solidFill>
                <a:latin typeface="Consolas" pitchFamily="49" charset="0"/>
                <a:ea typeface="仿宋" pitchFamily="49" charset="-122"/>
                <a:cs typeface="Consolas" pitchFamily="49" charset="0"/>
              </a:rPr>
              <a:t>[rightb]</a:t>
            </a:r>
            <a:r>
              <a:rPr lang="zh-CN" altLang="zh-CN" sz="2200">
                <a:solidFill>
                  <a:srgbClr val="0000FF"/>
                </a:solidFill>
                <a:latin typeface="Consolas" pitchFamily="49" charset="0"/>
                <a:ea typeface="仿宋" pitchFamily="49" charset="-122"/>
                <a:cs typeface="Consolas" pitchFamily="49" charset="0"/>
              </a:rPr>
              <a:t>，又分为以下</a:t>
            </a:r>
            <a:r>
              <a:rPr lang="en-US" altLang="zh-CN" sz="2200">
                <a:solidFill>
                  <a:srgbClr val="0000FF"/>
                </a:solidFill>
                <a:latin typeface="Consolas" pitchFamily="49" charset="0"/>
                <a:ea typeface="仿宋" pitchFamily="49" charset="-122"/>
                <a:cs typeface="Consolas" pitchFamily="49" charset="0"/>
              </a:rPr>
              <a:t>3</a:t>
            </a:r>
            <a:r>
              <a:rPr lang="zh-CN" altLang="zh-CN" sz="2200">
                <a:solidFill>
                  <a:srgbClr val="0000FF"/>
                </a:solidFill>
                <a:latin typeface="Consolas" pitchFamily="49" charset="0"/>
                <a:ea typeface="仿宋" pitchFamily="49" charset="-122"/>
                <a:cs typeface="Consolas" pitchFamily="49" charset="0"/>
              </a:rPr>
              <a:t>种情况：</a:t>
            </a:r>
          </a:p>
          <a:p>
            <a:pPr algn="l">
              <a:lnSpc>
                <a:spcPts val="3200"/>
              </a:lnSpc>
              <a:spcBef>
                <a:spcPts val="600"/>
              </a:spcBef>
            </a:pPr>
            <a:r>
              <a:rPr lang="en-US" altLang="zh-CN" sz="2200">
                <a:solidFill>
                  <a:srgbClr val="0000FF"/>
                </a:solidFill>
                <a:latin typeface="Consolas" pitchFamily="49" charset="0"/>
                <a:ea typeface="仿宋" pitchFamily="49" charset="-122"/>
                <a:cs typeface="Consolas" pitchFamily="49" charset="0"/>
              </a:rPr>
              <a:t>   </a:t>
            </a:r>
            <a:r>
              <a:rPr lang="zh-CN" altLang="zh-CN" sz="2200">
                <a:solidFill>
                  <a:srgbClr val="C00000"/>
                </a:solidFill>
                <a:latin typeface="Consolas" pitchFamily="49" charset="0"/>
                <a:ea typeface="仿宋" pitchFamily="49" charset="-122"/>
                <a:cs typeface="Consolas" pitchFamily="49" charset="0"/>
              </a:rPr>
              <a:t>① 田忌最慢的马比齐威王最慢的马快</a:t>
            </a:r>
            <a:r>
              <a:rPr lang="zh-CN" altLang="zh-CN" sz="2200">
                <a:solidFill>
                  <a:srgbClr val="0000FF"/>
                </a:solidFill>
                <a:latin typeface="Consolas" pitchFamily="49" charset="0"/>
                <a:ea typeface="仿宋" pitchFamily="49" charset="-122"/>
                <a:cs typeface="Consolas" pitchFamily="49" charset="0"/>
              </a:rPr>
              <a:t>即</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[lefta]&gt;</a:t>
            </a:r>
            <a:r>
              <a:rPr lang="en-US" altLang="zh-CN" sz="2200" i="1">
                <a:solidFill>
                  <a:srgbClr val="0000FF"/>
                </a:solidFill>
                <a:latin typeface="Consolas" pitchFamily="49" charset="0"/>
                <a:ea typeface="仿宋" pitchFamily="49" charset="-122"/>
                <a:cs typeface="Consolas" pitchFamily="49" charset="0"/>
              </a:rPr>
              <a:t>b</a:t>
            </a:r>
            <a:r>
              <a:rPr lang="en-US" altLang="zh-CN" sz="2200">
                <a:solidFill>
                  <a:srgbClr val="0000FF"/>
                </a:solidFill>
                <a:latin typeface="Consolas" pitchFamily="49" charset="0"/>
                <a:ea typeface="仿宋" pitchFamily="49" charset="-122"/>
                <a:cs typeface="Consolas" pitchFamily="49" charset="0"/>
              </a:rPr>
              <a:t>[leftb]</a:t>
            </a:r>
            <a:r>
              <a:rPr lang="zh-CN" altLang="zh-CN" sz="2200">
                <a:solidFill>
                  <a:srgbClr val="0000FF"/>
                </a:solidFill>
                <a:latin typeface="Consolas" pitchFamily="49" charset="0"/>
                <a:ea typeface="仿宋" pitchFamily="49" charset="-122"/>
                <a:cs typeface="Consolas" pitchFamily="49" charset="0"/>
              </a:rPr>
              <a:t>，则两者比赛（两个最慢的马比赛），田忌赢。因为此时齐威王最慢的马一定输，而选择与田忌最慢的马比赛对于田忌来说是最优的。</a:t>
            </a:r>
          </a:p>
        </p:txBody>
      </p:sp>
      <p:grpSp>
        <p:nvGrpSpPr>
          <p:cNvPr id="18" name="组合 17"/>
          <p:cNvGrpSpPr/>
          <p:nvPr/>
        </p:nvGrpSpPr>
        <p:grpSpPr>
          <a:xfrm>
            <a:off x="1214414" y="3286124"/>
            <a:ext cx="5857916" cy="1928826"/>
            <a:chOff x="1214414" y="3286124"/>
            <a:chExt cx="5857916" cy="1928826"/>
          </a:xfrm>
        </p:grpSpPr>
        <p:sp>
          <p:nvSpPr>
            <p:cNvPr id="282626" name="Rectangle 2"/>
            <p:cNvSpPr>
              <a:spLocks noChangeArrowheads="1"/>
            </p:cNvSpPr>
            <p:nvPr/>
          </p:nvSpPr>
          <p:spPr bwMode="auto">
            <a:xfrm>
              <a:off x="1404914" y="3619490"/>
              <a:ext cx="2347910" cy="30957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2627" name="Rectangle 3"/>
            <p:cNvSpPr>
              <a:spLocks noChangeArrowheads="1"/>
            </p:cNvSpPr>
            <p:nvPr/>
          </p:nvSpPr>
          <p:spPr bwMode="auto">
            <a:xfrm>
              <a:off x="1436664" y="3286124"/>
              <a:ext cx="2349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慢</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2628" name="Rectangle 4"/>
            <p:cNvSpPr>
              <a:spLocks noChangeArrowheads="1"/>
            </p:cNvSpPr>
            <p:nvPr/>
          </p:nvSpPr>
          <p:spPr bwMode="auto">
            <a:xfrm>
              <a:off x="3530594" y="3292474"/>
              <a:ext cx="1841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快</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2629" name="Rectangle 5"/>
            <p:cNvSpPr>
              <a:spLocks noChangeArrowheads="1"/>
            </p:cNvSpPr>
            <p:nvPr/>
          </p:nvSpPr>
          <p:spPr bwMode="auto">
            <a:xfrm>
              <a:off x="1220764" y="3663941"/>
              <a:ext cx="16510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Consolas" pitchFamily="49" charset="0"/>
                  <a:ea typeface="+mj-ea"/>
                  <a:cs typeface="Times New Roman" pitchFamily="18" charset="0"/>
                </a:rPr>
                <a:t>a</a:t>
              </a:r>
              <a:endParaRPr kumimoji="0" lang="zh-CN" altLang="zh-CN" sz="1800" i="0" u="none" strike="noStrike" cap="none" normalizeH="0" baseline="0">
                <a:ln>
                  <a:noFill/>
                </a:ln>
                <a:solidFill>
                  <a:srgbClr val="FF0000"/>
                </a:solidFill>
                <a:effectLst/>
                <a:latin typeface="Consolas" pitchFamily="49" charset="0"/>
                <a:ea typeface="+mj-ea"/>
                <a:cs typeface="Times New Roman" pitchFamily="18" charset="0"/>
              </a:endParaRPr>
            </a:p>
          </p:txBody>
        </p:sp>
        <p:sp>
          <p:nvSpPr>
            <p:cNvPr id="282630" name="Rectangle 6"/>
            <p:cNvSpPr>
              <a:spLocks noChangeArrowheads="1"/>
            </p:cNvSpPr>
            <p:nvPr/>
          </p:nvSpPr>
          <p:spPr bwMode="auto">
            <a:xfrm>
              <a:off x="1398564" y="4286256"/>
              <a:ext cx="2354260" cy="35719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2631" name="Rectangle 7"/>
            <p:cNvSpPr>
              <a:spLocks noChangeArrowheads="1"/>
            </p:cNvSpPr>
            <p:nvPr/>
          </p:nvSpPr>
          <p:spPr bwMode="auto">
            <a:xfrm>
              <a:off x="1214414" y="4330707"/>
              <a:ext cx="16510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mj-ea"/>
                  <a:cs typeface="Times New Roman" pitchFamily="18" charset="0"/>
                </a:rPr>
                <a:t>b</a:t>
              </a:r>
              <a:endParaRPr kumimoji="0" lang="zh-CN" altLang="zh-CN" sz="1800" i="0" u="none" strike="noStrike" cap="none" normalizeH="0" baseline="0">
                <a:ln>
                  <a:noFill/>
                </a:ln>
                <a:solidFill>
                  <a:srgbClr val="0000FF"/>
                </a:solidFill>
                <a:effectLst/>
                <a:latin typeface="Consolas" pitchFamily="49" charset="0"/>
                <a:ea typeface="+mj-ea"/>
                <a:cs typeface="Times New Roman" pitchFamily="18" charset="0"/>
              </a:endParaRPr>
            </a:p>
          </p:txBody>
        </p:sp>
        <p:sp>
          <p:nvSpPr>
            <p:cNvPr id="282632" name="Rectangle 8"/>
            <p:cNvSpPr>
              <a:spLocks noChangeArrowheads="1"/>
            </p:cNvSpPr>
            <p:nvPr/>
          </p:nvSpPr>
          <p:spPr bwMode="auto">
            <a:xfrm>
              <a:off x="4705358" y="3619490"/>
              <a:ext cx="2366972" cy="30957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r>
                <a:rPr kumimoji="0" lang="en-US" altLang="zh-CN" sz="1800" i="0" u="none" strike="noStrike" cap="none" normalizeH="0" baseline="0">
                  <a:ln>
                    <a:noFill/>
                  </a:ln>
                  <a:solidFill>
                    <a:srgbClr val="FF0000"/>
                  </a:solidFill>
                  <a:effectLst/>
                  <a:ea typeface="楷体" pitchFamily="49" charset="-122"/>
                  <a:cs typeface="Times New Roman" pitchFamily="18" charset="0"/>
                </a:rPr>
                <a:t>■</a:t>
              </a: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2633" name="Rectangle 9"/>
            <p:cNvSpPr>
              <a:spLocks noChangeArrowheads="1"/>
            </p:cNvSpPr>
            <p:nvPr/>
          </p:nvSpPr>
          <p:spPr bwMode="auto">
            <a:xfrm>
              <a:off x="4737108" y="3286124"/>
              <a:ext cx="2349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慢</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2634" name="Rectangle 10"/>
            <p:cNvSpPr>
              <a:spLocks noChangeArrowheads="1"/>
            </p:cNvSpPr>
            <p:nvPr/>
          </p:nvSpPr>
          <p:spPr bwMode="auto">
            <a:xfrm>
              <a:off x="6745304" y="3292474"/>
              <a:ext cx="1841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快</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2635" name="Rectangle 11"/>
            <p:cNvSpPr>
              <a:spLocks noChangeArrowheads="1"/>
            </p:cNvSpPr>
            <p:nvPr/>
          </p:nvSpPr>
          <p:spPr bwMode="auto">
            <a:xfrm>
              <a:off x="4521208" y="3663941"/>
              <a:ext cx="16510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Consolas" pitchFamily="49" charset="0"/>
                  <a:ea typeface="+mj-ea"/>
                  <a:cs typeface="Times New Roman" pitchFamily="18" charset="0"/>
                </a:rPr>
                <a:t>a</a:t>
              </a:r>
              <a:endParaRPr kumimoji="0" lang="zh-CN" altLang="zh-CN" sz="1800" i="0" u="none" strike="noStrike" cap="none" normalizeH="0" baseline="0">
                <a:ln>
                  <a:noFill/>
                </a:ln>
                <a:solidFill>
                  <a:srgbClr val="FF0000"/>
                </a:solidFill>
                <a:effectLst/>
                <a:latin typeface="Consolas" pitchFamily="49" charset="0"/>
                <a:ea typeface="+mj-ea"/>
                <a:cs typeface="Times New Roman" pitchFamily="18" charset="0"/>
              </a:endParaRPr>
            </a:p>
          </p:txBody>
        </p:sp>
        <p:sp>
          <p:nvSpPr>
            <p:cNvPr id="282636" name="Rectangle 12"/>
            <p:cNvSpPr>
              <a:spLocks noChangeArrowheads="1"/>
            </p:cNvSpPr>
            <p:nvPr/>
          </p:nvSpPr>
          <p:spPr bwMode="auto">
            <a:xfrm>
              <a:off x="4699008" y="4286256"/>
              <a:ext cx="2373322" cy="35879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r>
                <a:rPr kumimoji="0" lang="en-US" altLang="zh-CN" sz="1800" i="0" u="none" strike="noStrike" cap="none" normalizeH="0" baseline="0">
                  <a:ln>
                    <a:noFill/>
                  </a:ln>
                  <a:solidFill>
                    <a:schemeClr val="bg1">
                      <a:lumMod val="50000"/>
                    </a:schemeClr>
                  </a:solidFill>
                  <a:effectLst/>
                  <a:ea typeface="楷体" pitchFamily="49" charset="-122"/>
                  <a:cs typeface="Times New Roman" pitchFamily="18" charset="0"/>
                </a:rPr>
                <a:t>■</a:t>
              </a: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2637" name="Rectangle 13"/>
            <p:cNvSpPr>
              <a:spLocks noChangeArrowheads="1"/>
            </p:cNvSpPr>
            <p:nvPr/>
          </p:nvSpPr>
          <p:spPr bwMode="auto">
            <a:xfrm>
              <a:off x="4514858" y="4330707"/>
              <a:ext cx="16510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mj-ea"/>
                  <a:cs typeface="Times New Roman" pitchFamily="18" charset="0"/>
                </a:rPr>
                <a:t>b</a:t>
              </a:r>
              <a:endParaRPr kumimoji="0" lang="zh-CN" altLang="zh-CN" sz="1800" i="0" u="none" strike="noStrike" cap="none" normalizeH="0" baseline="0">
                <a:ln>
                  <a:noFill/>
                </a:ln>
                <a:solidFill>
                  <a:srgbClr val="0000FF"/>
                </a:solidFill>
                <a:effectLst/>
                <a:latin typeface="Consolas" pitchFamily="49" charset="0"/>
                <a:ea typeface="+mj-ea"/>
                <a:cs typeface="Times New Roman" pitchFamily="18" charset="0"/>
              </a:endParaRPr>
            </a:p>
          </p:txBody>
        </p:sp>
        <p:sp>
          <p:nvSpPr>
            <p:cNvPr id="15" name="右箭头 14"/>
            <p:cNvSpPr/>
            <p:nvPr/>
          </p:nvSpPr>
          <p:spPr>
            <a:xfrm>
              <a:off x="3987970" y="3929066"/>
              <a:ext cx="357190" cy="2857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ts val="2000"/>
                </a:lnSpc>
              </a:pPr>
              <a:endParaRPr lang="zh-CN" altLang="en-US"/>
            </a:p>
          </p:txBody>
        </p:sp>
        <p:cxnSp>
          <p:nvCxnSpPr>
            <p:cNvPr id="16" name="直接箭头连接符 15"/>
            <p:cNvCxnSpPr/>
            <p:nvPr/>
          </p:nvCxnSpPr>
          <p:spPr>
            <a:xfrm rot="5400000">
              <a:off x="5167664" y="4119220"/>
              <a:ext cx="432000" cy="1588"/>
            </a:xfrm>
            <a:prstGeom prst="straightConnector1">
              <a:avLst/>
            </a:prstGeom>
            <a:ln>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82638" name="Rectangle 14"/>
            <p:cNvSpPr>
              <a:spLocks noChangeArrowheads="1"/>
            </p:cNvSpPr>
            <p:nvPr/>
          </p:nvSpPr>
          <p:spPr bwMode="auto">
            <a:xfrm>
              <a:off x="2928926" y="4929198"/>
              <a:ext cx="3571900" cy="2857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a</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[lefta]&gt;</a:t>
              </a:r>
              <a:r>
                <a:rPr kumimoji="0" lang="en-US" altLang="zh-CN" sz="1800" i="1" u="none" strike="noStrike" cap="none" normalizeH="0" baseline="0">
                  <a:ln>
                    <a:noFill/>
                  </a:ln>
                  <a:solidFill>
                    <a:srgbClr val="0000FF"/>
                  </a:solidFill>
                  <a:effectLst/>
                  <a:latin typeface="Consolas" pitchFamily="49" charset="0"/>
                  <a:ea typeface="宋体" pitchFamily="2" charset="-122"/>
                  <a:cs typeface="Consolas" pitchFamily="49" charset="0"/>
                </a:rPr>
                <a:t>b</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[leftb]</a:t>
              </a:r>
              <a:r>
                <a:rPr kumimoji="0" lang="zh-CN" altLang="en-US" sz="18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ans+=200</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Consolas" pitchFamily="49" charset="0"/>
              </a:endParaRPr>
            </a:p>
          </p:txBody>
        </p:sp>
      </p:grpSp>
      <p:sp>
        <p:nvSpPr>
          <p:cNvPr id="20" name="灯片编号占位符 19"/>
          <p:cNvSpPr>
            <a:spLocks noGrp="1"/>
          </p:cNvSpPr>
          <p:nvPr>
            <p:ph type="sldNum" sz="quarter" idx="12"/>
          </p:nvPr>
        </p:nvSpPr>
        <p:spPr/>
        <p:txBody>
          <a:bodyPr/>
          <a:lstStyle/>
          <a:p>
            <a:fld id="{7AF016A1-9F15-429F-9EFD-84004B73C732}" type="slidenum">
              <a:rPr lang="en-US" altLang="zh-CN" smtClean="0"/>
              <a:pPr/>
              <a:t>57</a:t>
            </a:fld>
            <a:r>
              <a:rPr lang="en-US" altLang="zh-CN"/>
              <a:t>/109</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428604"/>
            <a:ext cx="8572560" cy="2144177"/>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sz="2200">
                <a:solidFill>
                  <a:srgbClr val="0000FF"/>
                </a:solidFill>
                <a:latin typeface="Consolas" pitchFamily="49" charset="0"/>
                <a:ea typeface="仿宋" pitchFamily="49" charset="-122"/>
                <a:cs typeface="Consolas" pitchFamily="49" charset="0"/>
              </a:rPr>
              <a:t>   </a:t>
            </a:r>
            <a:r>
              <a:rPr lang="zh-CN" altLang="zh-CN" sz="2200">
                <a:solidFill>
                  <a:srgbClr val="C00000"/>
                </a:solidFill>
                <a:latin typeface="Consolas" pitchFamily="49" charset="0"/>
                <a:ea typeface="仿宋" pitchFamily="49" charset="-122"/>
                <a:cs typeface="Consolas" pitchFamily="49" charset="0"/>
              </a:rPr>
              <a:t>② 田忌最慢的马比齐威王最慢的马慢，并且田忌最慢的马比齐威王最快的马慢</a:t>
            </a:r>
            <a:r>
              <a:rPr lang="zh-CN" altLang="zh-CN" sz="2200">
                <a:solidFill>
                  <a:srgbClr val="0000FF"/>
                </a:solidFill>
                <a:latin typeface="Consolas" pitchFamily="49" charset="0"/>
                <a:ea typeface="仿宋" pitchFamily="49" charset="-122"/>
                <a:cs typeface="Consolas" pitchFamily="49" charset="0"/>
              </a:rPr>
              <a:t>，即</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[lefta]</a:t>
            </a:r>
            <a:r>
              <a:rPr lang="zh-CN" altLang="zh-CN" sz="2200">
                <a:solidFill>
                  <a:srgbClr val="0000FF"/>
                </a:solidFill>
                <a:latin typeface="+mj-ea"/>
                <a:ea typeface="+mj-ea"/>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b</a:t>
            </a:r>
            <a:r>
              <a:rPr lang="en-US" altLang="zh-CN" sz="2200">
                <a:solidFill>
                  <a:srgbClr val="0000FF"/>
                </a:solidFill>
                <a:latin typeface="Consolas" pitchFamily="49" charset="0"/>
                <a:ea typeface="仿宋" pitchFamily="49" charset="-122"/>
                <a:cs typeface="Consolas" pitchFamily="49" charset="0"/>
              </a:rPr>
              <a:t>[leftb]</a:t>
            </a:r>
            <a:r>
              <a:rPr lang="zh-CN" altLang="zh-CN" sz="2200">
                <a:solidFill>
                  <a:srgbClr val="0000FF"/>
                </a:solidFill>
                <a:latin typeface="Consolas" pitchFamily="49" charset="0"/>
                <a:ea typeface="仿宋" pitchFamily="49" charset="-122"/>
                <a:cs typeface="Consolas" pitchFamily="49" charset="0"/>
              </a:rPr>
              <a:t>且</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[lefta]&lt;</a:t>
            </a:r>
            <a:r>
              <a:rPr lang="en-US" altLang="zh-CN" sz="2200" i="1">
                <a:solidFill>
                  <a:srgbClr val="0000FF"/>
                </a:solidFill>
                <a:latin typeface="Consolas" pitchFamily="49" charset="0"/>
                <a:ea typeface="仿宋" pitchFamily="49" charset="-122"/>
                <a:cs typeface="Consolas" pitchFamily="49" charset="0"/>
              </a:rPr>
              <a:t>b</a:t>
            </a:r>
            <a:r>
              <a:rPr lang="en-US" altLang="zh-CN" sz="2200">
                <a:solidFill>
                  <a:srgbClr val="0000FF"/>
                </a:solidFill>
                <a:latin typeface="Consolas" pitchFamily="49" charset="0"/>
                <a:ea typeface="仿宋" pitchFamily="49" charset="-122"/>
                <a:cs typeface="Consolas" pitchFamily="49" charset="0"/>
              </a:rPr>
              <a:t>[rightb]</a:t>
            </a:r>
            <a:r>
              <a:rPr lang="zh-CN" altLang="zh-CN" sz="2200">
                <a:solidFill>
                  <a:srgbClr val="0000FF"/>
                </a:solidFill>
                <a:latin typeface="Consolas" pitchFamily="49" charset="0"/>
                <a:ea typeface="仿宋" pitchFamily="49" charset="-122"/>
                <a:cs typeface="Consolas" pitchFamily="49" charset="0"/>
              </a:rPr>
              <a:t>，则选择田忌最慢的马与齐威王最快的马比赛，田忌输。因为此时田忌最慢的马一定输，而选择与齐威王最快的马比赛对于田忌来说是最优的。</a:t>
            </a:r>
          </a:p>
        </p:txBody>
      </p:sp>
      <p:grpSp>
        <p:nvGrpSpPr>
          <p:cNvPr id="18" name="组合 17"/>
          <p:cNvGrpSpPr/>
          <p:nvPr/>
        </p:nvGrpSpPr>
        <p:grpSpPr>
          <a:xfrm>
            <a:off x="1428728" y="2928934"/>
            <a:ext cx="6286544" cy="2071702"/>
            <a:chOff x="1428728" y="2928934"/>
            <a:chExt cx="6286544" cy="2071702"/>
          </a:xfrm>
        </p:grpSpPr>
        <p:sp>
          <p:nvSpPr>
            <p:cNvPr id="283650" name="Rectangle 2"/>
            <p:cNvSpPr>
              <a:spLocks noChangeArrowheads="1"/>
            </p:cNvSpPr>
            <p:nvPr/>
          </p:nvSpPr>
          <p:spPr bwMode="auto">
            <a:xfrm>
              <a:off x="1833516" y="3255968"/>
              <a:ext cx="2341586" cy="38734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16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3651" name="Rectangle 3"/>
            <p:cNvSpPr>
              <a:spLocks noChangeArrowheads="1"/>
            </p:cNvSpPr>
            <p:nvPr/>
          </p:nvSpPr>
          <p:spPr bwMode="auto">
            <a:xfrm>
              <a:off x="1793854" y="2928934"/>
              <a:ext cx="2349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80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慢</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3652" name="Rectangle 4"/>
            <p:cNvSpPr>
              <a:spLocks noChangeArrowheads="1"/>
            </p:cNvSpPr>
            <p:nvPr/>
          </p:nvSpPr>
          <p:spPr bwMode="auto">
            <a:xfrm>
              <a:off x="3848076" y="2935284"/>
              <a:ext cx="1841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80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快</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3653" name="Rectangle 5"/>
            <p:cNvSpPr>
              <a:spLocks noChangeArrowheads="1"/>
            </p:cNvSpPr>
            <p:nvPr/>
          </p:nvSpPr>
          <p:spPr bwMode="auto">
            <a:xfrm>
              <a:off x="1577954" y="3300418"/>
              <a:ext cx="16510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80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Consolas" pitchFamily="49" charset="0"/>
                  <a:ea typeface="+mj-ea"/>
                  <a:cs typeface="Times New Roman" pitchFamily="18" charset="0"/>
                </a:rPr>
                <a:t>a</a:t>
              </a:r>
              <a:endParaRPr kumimoji="0" lang="zh-CN" altLang="zh-CN" sz="1800" i="0" u="none" strike="noStrike" cap="none" normalizeH="0" baseline="0">
                <a:ln>
                  <a:noFill/>
                </a:ln>
                <a:solidFill>
                  <a:srgbClr val="FF0000"/>
                </a:solidFill>
                <a:effectLst/>
                <a:latin typeface="Consolas" pitchFamily="49" charset="0"/>
                <a:ea typeface="+mj-ea"/>
                <a:cs typeface="Times New Roman" pitchFamily="18" charset="0"/>
              </a:endParaRPr>
            </a:p>
          </p:txBody>
        </p:sp>
        <p:sp>
          <p:nvSpPr>
            <p:cNvPr id="283654" name="Rectangle 6"/>
            <p:cNvSpPr>
              <a:spLocks noChangeArrowheads="1"/>
            </p:cNvSpPr>
            <p:nvPr/>
          </p:nvSpPr>
          <p:spPr bwMode="auto">
            <a:xfrm>
              <a:off x="1827166" y="4000504"/>
              <a:ext cx="2347936" cy="36512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16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3655" name="Rectangle 7"/>
            <p:cNvSpPr>
              <a:spLocks noChangeArrowheads="1"/>
            </p:cNvSpPr>
            <p:nvPr/>
          </p:nvSpPr>
          <p:spPr bwMode="auto">
            <a:xfrm>
              <a:off x="1571604" y="4044954"/>
              <a:ext cx="16510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8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mj-ea"/>
                  <a:cs typeface="Times New Roman" pitchFamily="18" charset="0"/>
                </a:rPr>
                <a:t>b</a:t>
              </a:r>
              <a:endParaRPr kumimoji="0" lang="zh-CN" altLang="zh-CN" sz="1800" i="0" u="none" strike="noStrike" cap="none" normalizeH="0" baseline="0">
                <a:ln>
                  <a:noFill/>
                </a:ln>
                <a:solidFill>
                  <a:srgbClr val="0000FF"/>
                </a:solidFill>
                <a:effectLst/>
                <a:latin typeface="Consolas" pitchFamily="49" charset="0"/>
                <a:ea typeface="+mj-ea"/>
                <a:cs typeface="Times New Roman" pitchFamily="18" charset="0"/>
              </a:endParaRPr>
            </a:p>
          </p:txBody>
        </p:sp>
        <p:sp>
          <p:nvSpPr>
            <p:cNvPr id="283656" name="Rectangle 8"/>
            <p:cNvSpPr>
              <a:spLocks noChangeArrowheads="1"/>
            </p:cNvSpPr>
            <p:nvPr/>
          </p:nvSpPr>
          <p:spPr bwMode="auto">
            <a:xfrm>
              <a:off x="1428728" y="4643446"/>
              <a:ext cx="6286544" cy="35719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楷体" pitchFamily="49" charset="-122"/>
                  <a:cs typeface="Consolas" pitchFamily="49" charset="0"/>
                </a:rPr>
                <a:t>a</a:t>
              </a:r>
              <a:r>
                <a:rPr kumimoji="0" lang="en-US" altLang="zh-CN" sz="1800" i="0" u="none" strike="noStrike" cap="none" normalizeH="0" baseline="0">
                  <a:ln>
                    <a:noFill/>
                  </a:ln>
                  <a:solidFill>
                    <a:srgbClr val="0000FF"/>
                  </a:solidFill>
                  <a:effectLst/>
                  <a:latin typeface="Consolas" pitchFamily="49" charset="0"/>
                  <a:ea typeface="楷体" pitchFamily="49" charset="-122"/>
                  <a:cs typeface="Consolas" pitchFamily="49" charset="0"/>
                </a:rPr>
                <a:t>[lefta]</a:t>
              </a:r>
              <a:r>
                <a:rPr kumimoji="0" lang="en-US" altLang="zh-CN" sz="1800" i="0" u="none" strike="noStrike" cap="none" normalizeH="0" baseline="0">
                  <a:ln>
                    <a:noFill/>
                  </a:ln>
                  <a:solidFill>
                    <a:srgbClr val="0000FF"/>
                  </a:solidFill>
                  <a:effectLst/>
                  <a:latin typeface="+mj-ea"/>
                  <a:ea typeface="+mj-ea"/>
                  <a:cs typeface="Consolas" pitchFamily="49" charset="0"/>
                </a:rPr>
                <a:t>≥</a:t>
              </a:r>
              <a:r>
                <a:rPr kumimoji="0" lang="en-US" altLang="zh-CN" sz="1800" i="1" u="none" strike="noStrike" cap="none" normalizeH="0" baseline="0">
                  <a:ln>
                    <a:noFill/>
                  </a:ln>
                  <a:solidFill>
                    <a:srgbClr val="0000FF"/>
                  </a:solidFill>
                  <a:effectLst/>
                  <a:latin typeface="Consolas" pitchFamily="49" charset="0"/>
                  <a:ea typeface="楷体" pitchFamily="49" charset="-122"/>
                  <a:cs typeface="Consolas" pitchFamily="49" charset="0"/>
                </a:rPr>
                <a:t>b</a:t>
              </a:r>
              <a:r>
                <a:rPr kumimoji="0" lang="en-US" altLang="zh-CN" sz="1800" i="0" u="none" strike="noStrike" cap="none" normalizeH="0" baseline="0">
                  <a:ln>
                    <a:noFill/>
                  </a:ln>
                  <a:solidFill>
                    <a:srgbClr val="0000FF"/>
                  </a:solidFill>
                  <a:effectLst/>
                  <a:latin typeface="Consolas" pitchFamily="49" charset="0"/>
                  <a:ea typeface="楷体" pitchFamily="49" charset="-122"/>
                  <a:cs typeface="Consolas" pitchFamily="49" charset="0"/>
                </a:rPr>
                <a:t>[leftb]</a:t>
              </a:r>
              <a:r>
                <a:rPr kumimoji="0" lang="zh-CN" altLang="en-US" sz="1800" i="0" u="none" strike="noStrike" cap="none" normalizeH="0" baseline="0">
                  <a:ln>
                    <a:noFill/>
                  </a:ln>
                  <a:solidFill>
                    <a:srgbClr val="0000FF"/>
                  </a:solidFill>
                  <a:effectLst/>
                  <a:latin typeface="Consolas" pitchFamily="49" charset="0"/>
                  <a:ea typeface="楷体" pitchFamily="49" charset="-122"/>
                  <a:cs typeface="Consolas" pitchFamily="49" charset="0"/>
                </a:rPr>
                <a:t>且</a:t>
              </a:r>
              <a:r>
                <a:rPr kumimoji="0" lang="en-US" altLang="zh-CN" sz="1800" i="1" u="none" strike="noStrike" cap="none" normalizeH="0" baseline="0">
                  <a:ln>
                    <a:noFill/>
                  </a:ln>
                  <a:solidFill>
                    <a:srgbClr val="0000FF"/>
                  </a:solidFill>
                  <a:effectLst/>
                  <a:latin typeface="Consolas" pitchFamily="49" charset="0"/>
                  <a:ea typeface="楷体" pitchFamily="49" charset="-122"/>
                  <a:cs typeface="Consolas" pitchFamily="49" charset="0"/>
                </a:rPr>
                <a:t>a</a:t>
              </a:r>
              <a:r>
                <a:rPr kumimoji="0" lang="en-US" altLang="zh-CN" sz="1800" i="0" u="none" strike="noStrike" cap="none" normalizeH="0" baseline="0">
                  <a:ln>
                    <a:noFill/>
                  </a:ln>
                  <a:solidFill>
                    <a:srgbClr val="0000FF"/>
                  </a:solidFill>
                  <a:effectLst/>
                  <a:latin typeface="Consolas" pitchFamily="49" charset="0"/>
                  <a:ea typeface="楷体" pitchFamily="49" charset="-122"/>
                  <a:cs typeface="Consolas" pitchFamily="49" charset="0"/>
                </a:rPr>
                <a:t>[lefta]&lt;</a:t>
              </a:r>
              <a:r>
                <a:rPr kumimoji="0" lang="en-US" altLang="zh-CN" sz="1800" i="1" u="none" strike="noStrike" cap="none" normalizeH="0" baseline="0">
                  <a:ln>
                    <a:noFill/>
                  </a:ln>
                  <a:solidFill>
                    <a:srgbClr val="0000FF"/>
                  </a:solidFill>
                  <a:effectLst/>
                  <a:latin typeface="Consolas" pitchFamily="49" charset="0"/>
                  <a:ea typeface="楷体" pitchFamily="49" charset="-122"/>
                  <a:cs typeface="Consolas" pitchFamily="49" charset="0"/>
                </a:rPr>
                <a:t>b</a:t>
              </a:r>
              <a:r>
                <a:rPr kumimoji="0" lang="en-US" altLang="zh-CN" sz="1800" i="0" u="none" strike="noStrike" cap="none" normalizeH="0" baseline="0">
                  <a:ln>
                    <a:noFill/>
                  </a:ln>
                  <a:solidFill>
                    <a:srgbClr val="0000FF"/>
                  </a:solidFill>
                  <a:effectLst/>
                  <a:latin typeface="Consolas" pitchFamily="49" charset="0"/>
                  <a:ea typeface="楷体" pitchFamily="49" charset="-122"/>
                  <a:cs typeface="Consolas" pitchFamily="49" charset="0"/>
                </a:rPr>
                <a:t>[rightb]</a:t>
              </a:r>
              <a:r>
                <a:rPr kumimoji="0" lang="zh-CN" altLang="en-US" sz="1800" i="0" u="none" strike="noStrike" cap="none" normalizeH="0" baseline="0">
                  <a:ln>
                    <a:noFill/>
                  </a:ln>
                  <a:solidFill>
                    <a:srgbClr val="0000FF"/>
                  </a:solidFill>
                  <a:effectLst/>
                  <a:latin typeface="Consolas" pitchFamily="49" charset="0"/>
                  <a:ea typeface="楷体" pitchFamily="49"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楷体" pitchFamily="49" charset="-122"/>
                  <a:cs typeface="Consolas" pitchFamily="49" charset="0"/>
                </a:rPr>
                <a:t>ans-=200</a:t>
              </a:r>
              <a:endParaRPr kumimoji="0" lang="zh-CN" altLang="zh-CN" sz="1800" i="0" u="none" strike="noStrike" cap="none" normalizeH="0" baseline="0">
                <a:ln>
                  <a:noFill/>
                </a:ln>
                <a:solidFill>
                  <a:srgbClr val="0000FF"/>
                </a:solidFill>
                <a:effectLst/>
                <a:latin typeface="Consolas" pitchFamily="49" charset="0"/>
                <a:ea typeface="楷体" pitchFamily="49" charset="-122"/>
                <a:cs typeface="Consolas" pitchFamily="49" charset="0"/>
              </a:endParaRPr>
            </a:p>
          </p:txBody>
        </p:sp>
        <p:sp>
          <p:nvSpPr>
            <p:cNvPr id="283657" name="Rectangle 9"/>
            <p:cNvSpPr>
              <a:spLocks noChangeArrowheads="1"/>
            </p:cNvSpPr>
            <p:nvPr/>
          </p:nvSpPr>
          <p:spPr bwMode="auto">
            <a:xfrm>
              <a:off x="4967270" y="3255968"/>
              <a:ext cx="2422542" cy="38734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16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r>
                <a:rPr kumimoji="0" lang="en-US" altLang="zh-CN" sz="1800" i="0" u="none" strike="noStrike" cap="none" normalizeH="0" baseline="0">
                  <a:ln>
                    <a:noFill/>
                  </a:ln>
                  <a:solidFill>
                    <a:schemeClr val="bg1">
                      <a:lumMod val="50000"/>
                    </a:schemeClr>
                  </a:solidFill>
                  <a:effectLst/>
                  <a:ea typeface="楷体" pitchFamily="49" charset="-122"/>
                  <a:cs typeface="Times New Roman" pitchFamily="18" charset="0"/>
                </a:rPr>
                <a:t>■</a:t>
              </a: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3658" name="Rectangle 10"/>
            <p:cNvSpPr>
              <a:spLocks noChangeArrowheads="1"/>
            </p:cNvSpPr>
            <p:nvPr/>
          </p:nvSpPr>
          <p:spPr bwMode="auto">
            <a:xfrm>
              <a:off x="4989502" y="2928934"/>
              <a:ext cx="2349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80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慢</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3659" name="Rectangle 11"/>
            <p:cNvSpPr>
              <a:spLocks noChangeArrowheads="1"/>
            </p:cNvSpPr>
            <p:nvPr/>
          </p:nvSpPr>
          <p:spPr bwMode="auto">
            <a:xfrm>
              <a:off x="7205662" y="2935284"/>
              <a:ext cx="18415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80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ea typeface="楷体" pitchFamily="49" charset="-122"/>
                  <a:cs typeface="Times New Roman" pitchFamily="18" charset="0"/>
                </a:rPr>
                <a:t>快</a:t>
              </a:r>
              <a:endParaRPr kumimoji="0" 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3660" name="Rectangle 12"/>
            <p:cNvSpPr>
              <a:spLocks noChangeArrowheads="1"/>
            </p:cNvSpPr>
            <p:nvPr/>
          </p:nvSpPr>
          <p:spPr bwMode="auto">
            <a:xfrm>
              <a:off x="4773602" y="3300418"/>
              <a:ext cx="16510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80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Consolas" pitchFamily="49" charset="0"/>
                  <a:ea typeface="+mj-ea"/>
                  <a:cs typeface="Times New Roman" pitchFamily="18" charset="0"/>
                </a:rPr>
                <a:t>a</a:t>
              </a:r>
              <a:endParaRPr kumimoji="0" lang="zh-CN" altLang="zh-CN" sz="1800" i="0" u="none" strike="noStrike" cap="none" normalizeH="0" baseline="0">
                <a:ln>
                  <a:noFill/>
                </a:ln>
                <a:solidFill>
                  <a:srgbClr val="FF0000"/>
                </a:solidFill>
                <a:effectLst/>
                <a:latin typeface="Consolas" pitchFamily="49" charset="0"/>
                <a:ea typeface="+mj-ea"/>
                <a:cs typeface="Times New Roman" pitchFamily="18" charset="0"/>
              </a:endParaRPr>
            </a:p>
          </p:txBody>
        </p:sp>
        <p:sp>
          <p:nvSpPr>
            <p:cNvPr id="283661" name="Rectangle 13"/>
            <p:cNvSpPr>
              <a:spLocks noChangeArrowheads="1"/>
            </p:cNvSpPr>
            <p:nvPr/>
          </p:nvSpPr>
          <p:spPr bwMode="auto">
            <a:xfrm>
              <a:off x="4960920" y="4000504"/>
              <a:ext cx="2438410" cy="36512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ts val="216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楷体" pitchFamily="49" charset="-122"/>
                  <a:cs typeface="Times New Roman" pitchFamily="18" charset="0"/>
                </a:rPr>
                <a:t>■…□□□□</a:t>
              </a:r>
              <a:r>
                <a:rPr kumimoji="0" lang="en-US" altLang="zh-CN" sz="1800" i="0" u="none" strike="noStrike" cap="none" normalizeH="0" baseline="0">
                  <a:ln>
                    <a:noFill/>
                  </a:ln>
                  <a:solidFill>
                    <a:srgbClr val="FF0000"/>
                  </a:solidFill>
                  <a:effectLst/>
                  <a:ea typeface="楷体" pitchFamily="49" charset="-122"/>
                  <a:cs typeface="Times New Roman" pitchFamily="18" charset="0"/>
                </a:rPr>
                <a:t>■</a:t>
              </a:r>
              <a:r>
                <a:rPr kumimoji="0" lang="en-US" altLang="zh-CN" sz="1800" i="0" u="none" strike="noStrike" cap="none" normalizeH="0" baseline="0">
                  <a:ln>
                    <a:noFill/>
                  </a:ln>
                  <a:solidFill>
                    <a:srgbClr val="0000FF"/>
                  </a:solidFill>
                  <a:effectLst/>
                  <a:ea typeface="楷体" pitchFamily="49" charset="-122"/>
                  <a:cs typeface="Times New Roman" pitchFamily="18" charset="0"/>
                </a:rPr>
                <a:t>…■</a:t>
              </a:r>
              <a:endParaRPr kumimoji="0" lang="zh-CN" altLang="zh-CN" sz="1800" i="0" u="none" strike="noStrike" cap="none" normalizeH="0" baseline="0">
                <a:ln>
                  <a:noFill/>
                </a:ln>
                <a:solidFill>
                  <a:srgbClr val="0000FF"/>
                </a:solidFill>
                <a:effectLst/>
                <a:ea typeface="楷体" pitchFamily="49" charset="-122"/>
                <a:cs typeface="Times New Roman" pitchFamily="18" charset="0"/>
              </a:endParaRPr>
            </a:p>
          </p:txBody>
        </p:sp>
        <p:sp>
          <p:nvSpPr>
            <p:cNvPr id="283662" name="Rectangle 14"/>
            <p:cNvSpPr>
              <a:spLocks noChangeArrowheads="1"/>
            </p:cNvSpPr>
            <p:nvPr/>
          </p:nvSpPr>
          <p:spPr bwMode="auto">
            <a:xfrm>
              <a:off x="4767252" y="4044954"/>
              <a:ext cx="165100" cy="14605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8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mj-ea"/>
                  <a:cs typeface="Times New Roman" pitchFamily="18" charset="0"/>
                </a:rPr>
                <a:t>b</a:t>
              </a:r>
              <a:endParaRPr kumimoji="0" lang="zh-CN" altLang="zh-CN" sz="1800" i="0" u="none" strike="noStrike" cap="none" normalizeH="0" baseline="0">
                <a:ln>
                  <a:noFill/>
                </a:ln>
                <a:solidFill>
                  <a:srgbClr val="0000FF"/>
                </a:solidFill>
                <a:effectLst/>
                <a:latin typeface="Consolas" pitchFamily="49" charset="0"/>
                <a:ea typeface="+mj-ea"/>
                <a:cs typeface="Times New Roman" pitchFamily="18" charset="0"/>
              </a:endParaRPr>
            </a:p>
          </p:txBody>
        </p:sp>
        <p:cxnSp>
          <p:nvCxnSpPr>
            <p:cNvPr id="16" name="直接箭头连接符 15"/>
            <p:cNvCxnSpPr/>
            <p:nvPr/>
          </p:nvCxnSpPr>
          <p:spPr>
            <a:xfrm>
              <a:off x="5675300" y="3571876"/>
              <a:ext cx="857256" cy="428628"/>
            </a:xfrm>
            <a:prstGeom prst="straightConnector1">
              <a:avLst/>
            </a:prstGeom>
            <a:ln>
              <a:solidFill>
                <a:srgbClr val="FF0000"/>
              </a:solidFill>
              <a:headEnd type="arrow"/>
              <a:tailEnd type="arrow"/>
            </a:ln>
          </p:spPr>
          <p:style>
            <a:lnRef idx="2">
              <a:schemeClr val="accent2"/>
            </a:lnRef>
            <a:fillRef idx="0">
              <a:schemeClr val="accent2"/>
            </a:fillRef>
            <a:effectRef idx="1">
              <a:schemeClr val="accent2"/>
            </a:effectRef>
            <a:fontRef idx="minor">
              <a:schemeClr val="tx1"/>
            </a:fontRef>
          </p:style>
        </p:cxnSp>
        <p:sp>
          <p:nvSpPr>
            <p:cNvPr id="17" name="右箭头 16"/>
            <p:cNvSpPr/>
            <p:nvPr/>
          </p:nvSpPr>
          <p:spPr>
            <a:xfrm>
              <a:off x="4317978" y="3643314"/>
              <a:ext cx="357190" cy="2857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20" name="灯片编号占位符 19"/>
          <p:cNvSpPr>
            <a:spLocks noGrp="1"/>
          </p:cNvSpPr>
          <p:nvPr>
            <p:ph type="sldNum" sz="quarter" idx="12"/>
          </p:nvPr>
        </p:nvSpPr>
        <p:spPr/>
        <p:txBody>
          <a:bodyPr/>
          <a:lstStyle/>
          <a:p>
            <a:fld id="{7AF016A1-9F15-429F-9EFD-84004B73C732}" type="slidenum">
              <a:rPr lang="en-US" altLang="zh-CN" smtClean="0"/>
              <a:pPr/>
              <a:t>58</a:t>
            </a:fld>
            <a:r>
              <a:rPr lang="en-US" altLang="zh-CN"/>
              <a:t>/109</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857232"/>
            <a:ext cx="8358246" cy="128843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en-US" altLang="zh-CN" sz="2200">
                <a:solidFill>
                  <a:srgbClr val="0000FF"/>
                </a:solidFill>
                <a:latin typeface="Consolas" pitchFamily="49" charset="0"/>
                <a:ea typeface="仿宋" pitchFamily="49" charset="-122"/>
                <a:cs typeface="Consolas" pitchFamily="49" charset="0"/>
              </a:rPr>
              <a:t>  </a:t>
            </a:r>
            <a:r>
              <a:rPr lang="zh-CN" altLang="zh-CN" sz="2200">
                <a:solidFill>
                  <a:srgbClr val="C00000"/>
                </a:solidFill>
                <a:latin typeface="Consolas" pitchFamily="49" charset="0"/>
                <a:ea typeface="仿宋" pitchFamily="49" charset="-122"/>
                <a:cs typeface="Consolas" pitchFamily="49" charset="0"/>
              </a:rPr>
              <a:t>③ 其他情况</a:t>
            </a:r>
            <a:r>
              <a:rPr lang="zh-CN" altLang="en-US" sz="2200">
                <a:solidFill>
                  <a:srgbClr val="C00000"/>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[righta]=</a:t>
            </a:r>
            <a:r>
              <a:rPr lang="en-US" altLang="zh-CN" sz="2200" i="1">
                <a:solidFill>
                  <a:srgbClr val="0000FF"/>
                </a:solidFill>
                <a:latin typeface="Consolas" pitchFamily="49" charset="0"/>
                <a:ea typeface="仿宋" pitchFamily="49" charset="-122"/>
                <a:cs typeface="Consolas" pitchFamily="49" charset="0"/>
              </a:rPr>
              <a:t>b</a:t>
            </a:r>
            <a:r>
              <a:rPr lang="en-US" altLang="zh-CN" sz="2200">
                <a:solidFill>
                  <a:srgbClr val="0000FF"/>
                </a:solidFill>
                <a:latin typeface="Consolas" pitchFamily="49" charset="0"/>
                <a:ea typeface="仿宋" pitchFamily="49" charset="-122"/>
                <a:cs typeface="Consolas" pitchFamily="49" charset="0"/>
              </a:rPr>
              <a:t>[rightb]</a:t>
            </a:r>
            <a:r>
              <a:rPr lang="zh-CN" altLang="zh-CN" sz="2200">
                <a:solidFill>
                  <a:srgbClr val="0000FF"/>
                </a:solidFill>
                <a:latin typeface="Consolas" pitchFamily="49" charset="0"/>
                <a:ea typeface="仿宋" pitchFamily="49" charset="-122"/>
                <a:cs typeface="Consolas" pitchFamily="49" charset="0"/>
              </a:rPr>
              <a:t>且</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[lefta]</a:t>
            </a:r>
            <a:r>
              <a:rPr lang="zh-CN" altLang="zh-CN" sz="2200">
                <a:solidFill>
                  <a:srgbClr val="0000FF"/>
                </a:solidFill>
                <a:latin typeface="+mj-ea"/>
                <a:ea typeface="+mj-ea"/>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b</a:t>
            </a:r>
            <a:r>
              <a:rPr lang="en-US" altLang="zh-CN" sz="2200">
                <a:solidFill>
                  <a:srgbClr val="0000FF"/>
                </a:solidFill>
                <a:latin typeface="Consolas" pitchFamily="49" charset="0"/>
                <a:ea typeface="仿宋" pitchFamily="49" charset="-122"/>
                <a:cs typeface="Consolas" pitchFamily="49" charset="0"/>
              </a:rPr>
              <a:t>[leftb]</a:t>
            </a:r>
            <a:r>
              <a:rPr lang="zh-CN" altLang="zh-CN" sz="2200">
                <a:solidFill>
                  <a:srgbClr val="0000FF"/>
                </a:solidFill>
                <a:latin typeface="Consolas" pitchFamily="49" charset="0"/>
                <a:ea typeface="仿宋" pitchFamily="49" charset="-122"/>
                <a:cs typeface="Consolas" pitchFamily="49" charset="0"/>
              </a:rPr>
              <a:t>且</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[lefta]</a:t>
            </a:r>
            <a:r>
              <a:rPr lang="zh-CN" altLang="zh-CN" sz="2200">
                <a:solidFill>
                  <a:srgbClr val="0000FF"/>
                </a:solidFill>
                <a:latin typeface="+mj-ea"/>
                <a:ea typeface="+mj-ea"/>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b</a:t>
            </a:r>
            <a:r>
              <a:rPr lang="en-US" altLang="zh-CN" sz="2200">
                <a:solidFill>
                  <a:srgbClr val="0000FF"/>
                </a:solidFill>
                <a:latin typeface="Consolas" pitchFamily="49" charset="0"/>
                <a:ea typeface="仿宋" pitchFamily="49" charset="-122"/>
                <a:cs typeface="Consolas" pitchFamily="49" charset="0"/>
              </a:rPr>
              <a:t>[rightb]</a:t>
            </a:r>
            <a:r>
              <a:rPr lang="zh-CN" altLang="zh-CN" sz="2200">
                <a:solidFill>
                  <a:srgbClr val="0000FF"/>
                </a:solidFill>
                <a:latin typeface="Consolas" pitchFamily="49" charset="0"/>
                <a:ea typeface="仿宋" pitchFamily="49" charset="-122"/>
                <a:cs typeface="Consolas" pitchFamily="49" charset="0"/>
              </a:rPr>
              <a:t>，说明比赛区间的所以马的速度全部相同，任何两匹马比赛都没有输赢。</a:t>
            </a:r>
            <a:r>
              <a:rPr lang="en-US" altLang="zh-CN" sz="2200">
                <a:solidFill>
                  <a:srgbClr val="C00000"/>
                </a:solidFill>
                <a:latin typeface="Consolas" pitchFamily="49" charset="0"/>
                <a:ea typeface="仿宋" pitchFamily="49" charset="-122"/>
                <a:cs typeface="Consolas" pitchFamily="49" charset="0"/>
              </a:rPr>
              <a:t>        </a:t>
            </a:r>
            <a:endParaRPr lang="zh-CN" altLang="en-US" sz="2200">
              <a:solidFill>
                <a:srgbClr val="C00000"/>
              </a:solidFill>
              <a:latin typeface="Consolas" pitchFamily="49" charset="0"/>
              <a:ea typeface="仿宋" pitchFamily="49" charset="-122"/>
              <a:cs typeface="Consolas" pitchFamily="49" charset="0"/>
            </a:endParaRPr>
          </a:p>
        </p:txBody>
      </p:sp>
      <p:sp>
        <p:nvSpPr>
          <p:cNvPr id="3" name="TextBox 2"/>
          <p:cNvSpPr txBox="1"/>
          <p:nvPr/>
        </p:nvSpPr>
        <p:spPr>
          <a:xfrm>
            <a:off x="1142976" y="3071810"/>
            <a:ext cx="6715172" cy="830997"/>
          </a:xfrm>
          <a:prstGeom prst="rect">
            <a:avLst/>
          </a:prstGeom>
          <a:solidFill>
            <a:schemeClr val="accent6">
              <a:lumMod val="20000"/>
              <a:lumOff val="80000"/>
            </a:schemeClr>
          </a:solidFill>
          <a:ln w="28575">
            <a:solidFill>
              <a:schemeClr val="accent6">
                <a:lumMod val="60000"/>
                <a:lumOff val="40000"/>
              </a:schemeClr>
            </a:solidFill>
          </a:ln>
          <a:effectLst>
            <a:outerShdw blurRad="76200" dir="18900000" sy="23000" kx="-1200000" algn="bl" rotWithShape="0">
              <a:prstClr val="black">
                <a:alpha val="20000"/>
              </a:prstClr>
            </a:outerShdw>
          </a:effectLst>
        </p:spPr>
        <p:txBody>
          <a:bodyPr wrap="square" rtlCol="0">
            <a:spAutoFit/>
          </a:bodyPr>
          <a:lstStyle/>
          <a:p>
            <a:pPr algn="l">
              <a:lnSpc>
                <a:spcPct val="100000"/>
              </a:lnSpc>
            </a:pPr>
            <a:r>
              <a:rPr lang="en-US" altLang="zh-CN">
                <a:solidFill>
                  <a:srgbClr val="FF0000"/>
                </a:solidFill>
                <a:latin typeface="Consolas" pitchFamily="49" charset="0"/>
                <a:ea typeface="仿宋" pitchFamily="49" charset="-122"/>
                <a:cs typeface="Consolas" pitchFamily="49" charset="0"/>
              </a:rPr>
              <a:t>   </a:t>
            </a:r>
            <a:r>
              <a:rPr lang="zh-CN" altLang="zh-CN">
                <a:solidFill>
                  <a:srgbClr val="FF0000"/>
                </a:solidFill>
                <a:latin typeface="Consolas" pitchFamily="49" charset="0"/>
                <a:ea typeface="仿宋" pitchFamily="49" charset="-122"/>
                <a:cs typeface="Consolas" pitchFamily="49" charset="0"/>
              </a:rPr>
              <a:t>每种情况对于田忌来说都是最优的，因此最终获得的比赛方案也一定是最优的。</a:t>
            </a:r>
            <a:endParaRPr lang="zh-CN" altLang="en-US">
              <a:solidFill>
                <a:srgbClr val="FF0000"/>
              </a:solidFill>
              <a:latin typeface="Consolas" pitchFamily="49" charset="0"/>
              <a:ea typeface="仿宋" pitchFamily="49" charset="-122"/>
            </a:endParaRPr>
          </a:p>
        </p:txBody>
      </p:sp>
      <p:sp>
        <p:nvSpPr>
          <p:cNvPr id="4" name="下箭头 3"/>
          <p:cNvSpPr/>
          <p:nvPr/>
        </p:nvSpPr>
        <p:spPr>
          <a:xfrm>
            <a:off x="4000496" y="2357430"/>
            <a:ext cx="357190" cy="500066"/>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59</a:t>
            </a:fld>
            <a:r>
              <a:rPr lang="en-US" altLang="zh-CN"/>
              <a:t>/109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326509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r>
              <a:rPr lang="en-US" altLang="zh-CN" sz="2000">
                <a:solidFill>
                  <a:srgbClr val="0000FF"/>
                </a:solidFill>
                <a:latin typeface="Consolas" pitchFamily="49" charset="0"/>
                <a:ea typeface="仿宋" pitchFamily="49" charset="-122"/>
              </a:rPr>
              <a:t>#include&lt;stdio.h&gt;</a:t>
            </a:r>
            <a:endParaRPr lang="zh-CN" altLang="zh-CN" sz="2000">
              <a:solidFill>
                <a:srgbClr val="0000FF"/>
              </a:solidFill>
              <a:latin typeface="Consolas" pitchFamily="49" charset="0"/>
              <a:ea typeface="仿宋" pitchFamily="49" charset="-122"/>
            </a:endParaRPr>
          </a:p>
          <a:p>
            <a:pPr algn="l"/>
            <a:r>
              <a:rPr lang="en-US" altLang="zh-CN" sz="2000">
                <a:solidFill>
                  <a:srgbClr val="0000FF"/>
                </a:solidFill>
                <a:latin typeface="Consolas" pitchFamily="49" charset="0"/>
                <a:ea typeface="仿宋" pitchFamily="49" charset="-122"/>
              </a:rPr>
              <a:t>#include&lt;algorithm&gt;</a:t>
            </a:r>
            <a:endParaRPr lang="zh-CN" altLang="zh-CN" sz="2000">
              <a:solidFill>
                <a:srgbClr val="0000FF"/>
              </a:solidFill>
              <a:latin typeface="Consolas" pitchFamily="49" charset="0"/>
              <a:ea typeface="仿宋" pitchFamily="49" charset="-122"/>
            </a:endParaRPr>
          </a:p>
          <a:p>
            <a:pPr algn="l"/>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algn="l"/>
            <a:r>
              <a:rPr lang="en-US" altLang="zh-CN" sz="2000">
                <a:solidFill>
                  <a:srgbClr val="0000FF"/>
                </a:solidFill>
                <a:latin typeface="Consolas" pitchFamily="49" charset="0"/>
                <a:ea typeface="仿宋" pitchFamily="49" charset="-122"/>
              </a:rPr>
              <a:t>#define MAX 1001</a:t>
            </a:r>
            <a:endParaRPr lang="zh-CN" altLang="zh-CN" sz="2000">
              <a:solidFill>
                <a:srgbClr val="0000FF"/>
              </a:solidFill>
              <a:latin typeface="Consolas" pitchFamily="49" charset="0"/>
              <a:ea typeface="仿宋" pitchFamily="49" charset="-122"/>
            </a:endParaRPr>
          </a:p>
          <a:p>
            <a:pPr algn="l"/>
            <a:r>
              <a:rPr lang="en-US" altLang="zh-CN" sz="2000">
                <a:solidFill>
                  <a:srgbClr val="0000FF"/>
                </a:solidFill>
                <a:latin typeface="Consolas" pitchFamily="49" charset="0"/>
                <a:ea typeface="仿宋" pitchFamily="49" charset="-122"/>
              </a:rPr>
              <a:t>int n;</a:t>
            </a:r>
            <a:endParaRPr lang="zh-CN" altLang="zh-CN" sz="2000">
              <a:solidFill>
                <a:srgbClr val="0000FF"/>
              </a:solidFill>
              <a:latin typeface="Consolas" pitchFamily="49" charset="0"/>
              <a:ea typeface="仿宋" pitchFamily="49" charset="-122"/>
            </a:endParaRPr>
          </a:p>
          <a:p>
            <a:pPr algn="l"/>
            <a:r>
              <a:rPr lang="en-US" altLang="zh-CN" sz="2000">
                <a:solidFill>
                  <a:srgbClr val="0000FF"/>
                </a:solidFill>
                <a:latin typeface="Consolas" pitchFamily="49" charset="0"/>
                <a:ea typeface="仿宋" pitchFamily="49" charset="-122"/>
              </a:rPr>
              <a:t>int a[MAX];</a:t>
            </a:r>
            <a:endParaRPr lang="zh-CN" altLang="zh-CN" sz="2000">
              <a:solidFill>
                <a:srgbClr val="0000FF"/>
              </a:solidFill>
              <a:latin typeface="Consolas" pitchFamily="49" charset="0"/>
              <a:ea typeface="仿宋" pitchFamily="49" charset="-122"/>
            </a:endParaRPr>
          </a:p>
          <a:p>
            <a:pPr algn="l"/>
            <a:r>
              <a:rPr lang="en-US" altLang="zh-CN" sz="2000">
                <a:solidFill>
                  <a:srgbClr val="0000FF"/>
                </a:solidFill>
                <a:latin typeface="Consolas" pitchFamily="49" charset="0"/>
                <a:ea typeface="仿宋" pitchFamily="49" charset="-122"/>
              </a:rPr>
              <a:t>int b[MAX];</a:t>
            </a:r>
            <a:endParaRPr lang="zh-CN" altLang="zh-CN" sz="2000">
              <a:solidFill>
                <a:srgbClr val="0000FF"/>
              </a:solidFill>
              <a:latin typeface="Consolas" pitchFamily="49" charset="0"/>
              <a:ea typeface="仿宋" pitchFamily="49" charset="-122"/>
            </a:endParaRPr>
          </a:p>
          <a:p>
            <a:pPr algn="l"/>
            <a:r>
              <a:rPr lang="en-US" altLang="zh-CN" sz="2000">
                <a:solidFill>
                  <a:srgbClr val="0000FF"/>
                </a:solidFill>
                <a:latin typeface="Consolas" pitchFamily="49" charset="0"/>
                <a:ea typeface="仿宋" pitchFamily="49" charset="-122"/>
              </a:rPr>
              <a:t>int ans;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田忌获得的最多银币数</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60</a:t>
            </a:fld>
            <a:r>
              <a:rPr lang="en-US" altLang="zh-CN"/>
              <a:t>/109</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486226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求解算法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(a,a+n);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对</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递增排序</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(b,b+n);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对</a:t>
            </a:r>
            <a:r>
              <a:rPr lang="en-US" altLang="zh-CN" sz="2000">
                <a:solidFill>
                  <a:srgbClr val="00B0F0"/>
                </a:solidFill>
                <a:latin typeface="Consolas" pitchFamily="49" charset="0"/>
                <a:ea typeface="仿宋" pitchFamily="49" charset="-122"/>
              </a:rPr>
              <a:t>b</a:t>
            </a:r>
            <a:r>
              <a:rPr lang="zh-CN" altLang="zh-CN" sz="2000">
                <a:solidFill>
                  <a:srgbClr val="00B0F0"/>
                </a:solidFill>
                <a:latin typeface="Consolas" pitchFamily="49" charset="0"/>
                <a:ea typeface="仿宋" pitchFamily="49" charset="-122"/>
              </a:rPr>
              <a:t>递增排序</a:t>
            </a:r>
          </a:p>
          <a:p>
            <a:pPr algn="l" defTabSz="360000">
              <a:lnSpc>
                <a:spcPts val="2800"/>
              </a:lnSpc>
              <a:spcBef>
                <a:spcPts val="0"/>
              </a:spcBef>
            </a:pPr>
            <a:r>
              <a:rPr lang="en-US" altLang="zh-CN" sz="2000">
                <a:solidFill>
                  <a:srgbClr val="0000FF"/>
                </a:solidFill>
                <a:latin typeface="Consolas" pitchFamily="49" charset="0"/>
                <a:ea typeface="仿宋" pitchFamily="49" charset="-122"/>
              </a:rPr>
              <a:t>	ans=0;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lefta=0,leftb=0;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righta=n-1,rightb=n-1;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while (</a:t>
            </a:r>
            <a:r>
              <a:rPr lang="en-US" altLang="zh-CN" sz="2000">
                <a:solidFill>
                  <a:srgbClr val="FF00FF"/>
                </a:solidFill>
                <a:latin typeface="Consolas" pitchFamily="49" charset="0"/>
                <a:ea typeface="仿宋" pitchFamily="49" charset="-122"/>
              </a:rPr>
              <a:t>lefta&lt;=righta</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比赛直到结束</a:t>
            </a:r>
          </a:p>
          <a:p>
            <a:pPr algn="l" defTabSz="360000">
              <a:lnSpc>
                <a:spcPts val="2800"/>
              </a:lnSpc>
              <a:spcBef>
                <a:spcPts val="0"/>
              </a:spcBef>
            </a:pPr>
            <a:r>
              <a:rPr lang="en-US" altLang="zh-CN" sz="2000">
                <a:solidFill>
                  <a:srgbClr val="0000FF"/>
                </a:solidFill>
                <a:latin typeface="Consolas" pitchFamily="49" charset="0"/>
                <a:ea typeface="仿宋" pitchFamily="49" charset="-122"/>
              </a:rPr>
              <a:t>		if (a[righta]&gt;b[rightb]) {		</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田忌最快的马比齐威王最快的马快，两者比赛</a:t>
            </a:r>
          </a:p>
          <a:p>
            <a:pPr algn="l" defTabSz="360000">
              <a:lnSpc>
                <a:spcPts val="2800"/>
              </a:lnSpc>
              <a:spcBef>
                <a:spcPts val="0"/>
              </a:spcBef>
            </a:pPr>
            <a:r>
              <a:rPr lang="en-US" altLang="zh-CN" sz="2000">
                <a:solidFill>
                  <a:srgbClr val="0000FF"/>
                </a:solidFill>
                <a:latin typeface="Consolas" pitchFamily="49" charset="0"/>
                <a:ea typeface="仿宋" pitchFamily="49" charset="-122"/>
              </a:rPr>
              <a:t>			ans+=200;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righta--;</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rightb--;</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61</a:t>
            </a:fld>
            <a:r>
              <a:rPr lang="en-US" altLang="zh-CN"/>
              <a:t>/109</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572560"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else if (</a:t>
            </a:r>
            <a:r>
              <a:rPr lang="en-US" altLang="zh-CN" sz="2000">
                <a:solidFill>
                  <a:srgbClr val="FF00FF"/>
                </a:solidFill>
                <a:latin typeface="Consolas" pitchFamily="49" charset="0"/>
                <a:ea typeface="仿宋" pitchFamily="49" charset="-122"/>
              </a:rPr>
              <a:t>a[righta]&lt;b[rightb]</a:t>
            </a:r>
            <a:r>
              <a:rPr lang="en-US" altLang="zh-CN" sz="2000">
                <a:solidFill>
                  <a:srgbClr val="0000FF"/>
                </a:solidFill>
                <a:latin typeface="Consolas" pitchFamily="49" charset="0"/>
                <a:ea typeface="仿宋" pitchFamily="49" charset="-122"/>
              </a:rPr>
              <a:t>) {</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田忌最快的马比齐威王最快的马慢</a:t>
            </a:r>
          </a:p>
          <a:p>
            <a:pPr algn="l" defTabSz="360000">
              <a:lnSpc>
                <a:spcPts val="3000"/>
              </a:lnSpc>
              <a:spcBef>
                <a:spcPts val="0"/>
              </a:spcBef>
            </a:pPr>
            <a:r>
              <a:rPr lang="en-US" altLang="zh-CN" sz="2000">
                <a:solidFill>
                  <a:srgbClr val="0000FF"/>
                </a:solidFill>
                <a:latin typeface="Consolas" pitchFamily="49" charset="0"/>
                <a:ea typeface="仿宋" pitchFamily="49" charset="-122"/>
              </a:rPr>
              <a:t>	ans-=200;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选择田忌最慢的马与比齐威王最快的马比赛</a:t>
            </a:r>
          </a:p>
          <a:p>
            <a:pPr algn="l" defTabSz="360000">
              <a:lnSpc>
                <a:spcPts val="3000"/>
              </a:lnSpc>
              <a:spcBef>
                <a:spcPts val="0"/>
              </a:spcBef>
            </a:pPr>
            <a:r>
              <a:rPr lang="en-US" altLang="zh-CN" sz="2000">
                <a:solidFill>
                  <a:srgbClr val="0000FF"/>
                </a:solidFill>
                <a:latin typeface="Consolas" pitchFamily="49" charset="0"/>
                <a:ea typeface="仿宋" pitchFamily="49" charset="-122"/>
              </a:rPr>
              <a:t>	lefta++;</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rightb--;</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62</a:t>
            </a:fld>
            <a:r>
              <a:rPr lang="en-US" altLang="zh-CN"/>
              <a:t>/109</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8286808" cy="421920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while (true)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scanf("%d",&amp;n);</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 (n==0) break;</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 (int i=0;i&lt;n;i++)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scanf("%d",&amp;a[i]);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 (int j=0;j&lt;n;j++)</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scanf("%d",&amp;b[j]);</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solve</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printf("%d\n",ans);</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571472" y="5143512"/>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32ms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104KB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63</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643998" cy="57580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		else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田忌最快的马与齐威王最快的马的速度相同</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a[lefta]&gt;b[leftb]</a:t>
            </a:r>
            <a:r>
              <a:rPr lang="en-US" altLang="zh-CN" sz="2000">
                <a:solidFill>
                  <a:srgbClr val="0000FF"/>
                </a:solidFill>
                <a:latin typeface="Consolas" pitchFamily="49" charset="0"/>
                <a:ea typeface="仿宋" pitchFamily="49" charset="-122"/>
              </a:rPr>
              <a:t>)	{	</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田忌最慢的马比齐威王最慢的马快，两者比赛</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ans+=200;</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lefta++;</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leftb++;</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a[lefta]&lt;b[rightb]</a:t>
            </a:r>
            <a:r>
              <a:rPr lang="en-US" altLang="zh-CN" sz="2000">
                <a:solidFill>
                  <a:srgbClr val="0000FF"/>
                </a:solidFill>
                <a:latin typeface="Consolas" pitchFamily="49" charset="0"/>
                <a:ea typeface="仿宋" pitchFamily="49" charset="-122"/>
              </a:rPr>
              <a:t>)	</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否则，用田忌最慢的马与齐威王最快的马比赛</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ans-=200;</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endParaRPr lang="en-US"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lefta++;</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rightb--;</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64</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214546" y="357166"/>
            <a:ext cx="457203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8.5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零钱兑换问题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571472" y="1785926"/>
            <a:ext cx="7643866" cy="152191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3200"/>
              </a:lnSpc>
              <a:spcBef>
                <a:spcPts val="0"/>
              </a:spcBef>
            </a:pPr>
            <a:r>
              <a:rPr lang="en-US" altLang="zh-CN">
                <a:solidFill>
                  <a:srgbClr val="FF0000"/>
                </a:solidFill>
                <a:latin typeface="楷体" pitchFamily="49" charset="-122"/>
                <a:ea typeface="楷体" pitchFamily="49" charset="-122"/>
                <a:sym typeface="Wingdings"/>
              </a:rPr>
              <a:t></a:t>
            </a:r>
            <a:r>
              <a:rPr lang="zh-CN" altLang="zh-CN">
                <a:solidFill>
                  <a:srgbClr val="FF0000"/>
                </a:solidFill>
                <a:latin typeface="楷体" pitchFamily="49" charset="-122"/>
                <a:ea typeface="楷体" pitchFamily="49" charset="-122"/>
                <a:cs typeface="Consolas" pitchFamily="49" charset="0"/>
              </a:rPr>
              <a:t>问题描述：</a:t>
            </a:r>
            <a:r>
              <a:rPr lang="zh-CN" altLang="zh-CN">
                <a:solidFill>
                  <a:srgbClr val="0000FF"/>
                </a:solidFill>
                <a:latin typeface="Consolas" pitchFamily="49" charset="0"/>
                <a:ea typeface="仿宋" pitchFamily="49" charset="-122"/>
                <a:cs typeface="Consolas" pitchFamily="49" charset="0"/>
              </a:rPr>
              <a:t>有面额分别是</a:t>
            </a:r>
            <a:r>
              <a:rPr lang="en-US" altLang="zh-CN" i="1">
                <a:solidFill>
                  <a:srgbClr val="0000FF"/>
                </a:solidFill>
                <a:latin typeface="Consolas" pitchFamily="49" charset="0"/>
                <a:ea typeface="仿宋" pitchFamily="49" charset="-122"/>
                <a:cs typeface="Consolas" pitchFamily="49" charset="0"/>
              </a:rPr>
              <a:t>c</a:t>
            </a:r>
            <a:r>
              <a:rPr lang="en-US" altLang="zh-CN" baseline="30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c</a:t>
            </a:r>
            <a:r>
              <a:rPr lang="en-US" altLang="zh-CN" baseline="30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c</a:t>
            </a:r>
            <a:r>
              <a:rPr lang="en-US" altLang="zh-CN" i="1" baseline="30000">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c</a:t>
            </a:r>
            <a:r>
              <a:rPr lang="zh-CN" altLang="zh-CN">
                <a:solidFill>
                  <a:srgbClr val="0000FF"/>
                </a:solidFill>
                <a:latin typeface="+mj-ea"/>
                <a:ea typeface="+mj-ea"/>
                <a:cs typeface="Consolas" pitchFamily="49" charset="0"/>
              </a:rPr>
              <a:t>≥</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k</a:t>
            </a:r>
            <a:r>
              <a:rPr lang="zh-CN" altLang="zh-CN">
                <a:solidFill>
                  <a:srgbClr val="0000FF"/>
                </a:solidFill>
                <a:latin typeface="Consolas" pitchFamily="49" charset="0"/>
                <a:ea typeface="仿宋" pitchFamily="49" charset="-122"/>
                <a:cs typeface="Consolas" pitchFamily="49" charset="0"/>
              </a:rPr>
              <a:t>为非负整数）的</a:t>
            </a:r>
            <a:r>
              <a:rPr lang="en-US" altLang="zh-CN" i="1">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种硬币，每种硬币个数可以看成无限多，求兑换</a:t>
            </a:r>
            <a:r>
              <a:rPr lang="en-US" altLang="zh-CN">
                <a:solidFill>
                  <a:srgbClr val="0000FF"/>
                </a:solidFill>
                <a:latin typeface="Consolas" pitchFamily="49" charset="0"/>
                <a:ea typeface="仿宋" pitchFamily="49" charset="-122"/>
                <a:cs typeface="Consolas" pitchFamily="49" charset="0"/>
              </a:rPr>
              <a:t>A</a:t>
            </a:r>
            <a:r>
              <a:rPr lang="zh-CN" altLang="zh-CN">
                <a:solidFill>
                  <a:srgbClr val="0000FF"/>
                </a:solidFill>
                <a:latin typeface="Consolas" pitchFamily="49" charset="0"/>
                <a:ea typeface="仿宋" pitchFamily="49" charset="-122"/>
                <a:cs typeface="Consolas" pitchFamily="49" charset="0"/>
              </a:rPr>
              <a:t>金额的最少硬币个数。</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65</a:t>
            </a:fld>
            <a:r>
              <a:rPr lang="en-US" altLang="zh-CN"/>
              <a:t>/109</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060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3" name="TextBox 32"/>
          <p:cNvSpPr txBox="1"/>
          <p:nvPr/>
        </p:nvSpPr>
        <p:spPr>
          <a:xfrm>
            <a:off x="142844" y="1214422"/>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34" name="TextBox 33"/>
          <p:cNvSpPr txBox="1"/>
          <p:nvPr/>
        </p:nvSpPr>
        <p:spPr>
          <a:xfrm>
            <a:off x="1000100" y="500042"/>
            <a:ext cx="7858180" cy="473537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000"/>
              </a:lnSpc>
              <a:spcBef>
                <a:spcPts val="60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采用贪心法，贪心策略是尽可能选择面额大的硬币进行兑换，例如，</a:t>
            </a:r>
            <a:r>
              <a:rPr lang="en-US" altLang="zh-CN" i="1">
                <a:solidFill>
                  <a:srgbClr val="0000FF"/>
                </a:solidFill>
                <a:latin typeface="Consolas" pitchFamily="49" charset="0"/>
                <a:ea typeface="仿宋" pitchFamily="49" charset="-122"/>
                <a:cs typeface="Consolas" pitchFamily="49" charset="0"/>
              </a:rPr>
              <a:t>c</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k</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，面额分别是</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8</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A=23</a:t>
            </a:r>
            <a:r>
              <a:rPr lang="zh-CN" altLang="zh-CN">
                <a:solidFill>
                  <a:srgbClr val="0000FF"/>
                </a:solidFill>
                <a:latin typeface="Consolas" pitchFamily="49" charset="0"/>
                <a:ea typeface="仿宋" pitchFamily="49" charset="-122"/>
                <a:cs typeface="Consolas" pitchFamily="49" charset="0"/>
              </a:rPr>
              <a:t>的兑换过程如下：</a:t>
            </a:r>
          </a:p>
          <a:p>
            <a:pPr marL="914400" lvl="1" indent="-457200" algn="l">
              <a:lnSpc>
                <a:spcPts val="3000"/>
              </a:lnSpc>
              <a:spcBef>
                <a:spcPts val="6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选择面额为</a:t>
            </a:r>
            <a:r>
              <a:rPr lang="en-US" altLang="zh-CN">
                <a:solidFill>
                  <a:srgbClr val="0000FF"/>
                </a:solidFill>
                <a:latin typeface="Consolas" pitchFamily="49" charset="0"/>
                <a:ea typeface="仿宋" pitchFamily="49" charset="-122"/>
                <a:cs typeface="Consolas" pitchFamily="49" charset="0"/>
              </a:rPr>
              <a:t>8</a:t>
            </a:r>
            <a:r>
              <a:rPr lang="zh-CN" altLang="zh-CN">
                <a:solidFill>
                  <a:srgbClr val="0000FF"/>
                </a:solidFill>
                <a:latin typeface="Consolas" pitchFamily="49" charset="0"/>
                <a:ea typeface="仿宋" pitchFamily="49" charset="-122"/>
                <a:cs typeface="Consolas" pitchFamily="49" charset="0"/>
              </a:rPr>
              <a:t>的硬币，兑换的硬币个数</a:t>
            </a:r>
            <a:r>
              <a:rPr lang="en-US" altLang="zh-CN">
                <a:solidFill>
                  <a:srgbClr val="0000FF"/>
                </a:solidFill>
                <a:latin typeface="Consolas" pitchFamily="49" charset="0"/>
                <a:ea typeface="仿宋" pitchFamily="49" charset="-122"/>
                <a:cs typeface="Consolas" pitchFamily="49" charset="0"/>
              </a:rPr>
              <a:t>=A/8=2</a:t>
            </a:r>
            <a:r>
              <a:rPr lang="zh-CN" altLang="zh-CN">
                <a:solidFill>
                  <a:srgbClr val="0000FF"/>
                </a:solidFill>
                <a:latin typeface="Consolas" pitchFamily="49" charset="0"/>
                <a:ea typeface="仿宋" pitchFamily="49" charset="-122"/>
                <a:cs typeface="Consolas" pitchFamily="49" charset="0"/>
              </a:rPr>
              <a:t>，剩余金额</a:t>
            </a:r>
            <a:r>
              <a:rPr lang="en-US" altLang="zh-CN">
                <a:solidFill>
                  <a:srgbClr val="0000FF"/>
                </a:solidFill>
                <a:latin typeface="Consolas" pitchFamily="49" charset="0"/>
                <a:ea typeface="仿宋" pitchFamily="49" charset="-122"/>
                <a:cs typeface="Consolas" pitchFamily="49" charset="0"/>
              </a:rPr>
              <a:t>=23-2</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8=7</a:t>
            </a:r>
            <a:r>
              <a:rPr lang="zh-CN" altLang="zh-CN">
                <a:solidFill>
                  <a:srgbClr val="0000FF"/>
                </a:solidFill>
                <a:latin typeface="Consolas" pitchFamily="49" charset="0"/>
                <a:ea typeface="仿宋" pitchFamily="49" charset="-122"/>
                <a:cs typeface="Consolas" pitchFamily="49" charset="0"/>
              </a:rPr>
              <a:t>。</a:t>
            </a:r>
          </a:p>
          <a:p>
            <a:pPr marL="914400" lvl="1" indent="-457200" algn="l">
              <a:lnSpc>
                <a:spcPts val="3000"/>
              </a:lnSpc>
              <a:spcBef>
                <a:spcPts val="6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选择面额为</a:t>
            </a:r>
            <a:r>
              <a:rPr lang="en-US"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的硬币，兑换的硬币个数</a:t>
            </a:r>
            <a:r>
              <a:rPr lang="en-US" altLang="zh-CN">
                <a:solidFill>
                  <a:srgbClr val="0000FF"/>
                </a:solidFill>
                <a:latin typeface="Consolas" pitchFamily="49" charset="0"/>
                <a:ea typeface="仿宋" pitchFamily="49" charset="-122"/>
                <a:cs typeface="Consolas" pitchFamily="49" charset="0"/>
              </a:rPr>
              <a:t>=A/4=1</a:t>
            </a:r>
            <a:r>
              <a:rPr lang="zh-CN" altLang="zh-CN">
                <a:solidFill>
                  <a:srgbClr val="0000FF"/>
                </a:solidFill>
                <a:latin typeface="Consolas" pitchFamily="49" charset="0"/>
                <a:ea typeface="仿宋" pitchFamily="49" charset="-122"/>
                <a:cs typeface="Consolas" pitchFamily="49" charset="0"/>
              </a:rPr>
              <a:t>，剩余金额</a:t>
            </a:r>
            <a:r>
              <a:rPr lang="en-US" altLang="zh-CN">
                <a:solidFill>
                  <a:srgbClr val="0000FF"/>
                </a:solidFill>
                <a:latin typeface="Consolas" pitchFamily="49" charset="0"/>
                <a:ea typeface="仿宋" pitchFamily="49" charset="-122"/>
                <a:cs typeface="Consolas" pitchFamily="49" charset="0"/>
              </a:rPr>
              <a:t>=7-4</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1=3</a:t>
            </a:r>
            <a:r>
              <a:rPr lang="zh-CN" altLang="zh-CN">
                <a:solidFill>
                  <a:srgbClr val="0000FF"/>
                </a:solidFill>
                <a:latin typeface="Consolas" pitchFamily="49" charset="0"/>
                <a:ea typeface="仿宋" pitchFamily="49" charset="-122"/>
                <a:cs typeface="Consolas" pitchFamily="49" charset="0"/>
              </a:rPr>
              <a:t>。</a:t>
            </a:r>
          </a:p>
          <a:p>
            <a:pPr marL="914400" lvl="1" indent="-457200" algn="l">
              <a:lnSpc>
                <a:spcPts val="3000"/>
              </a:lnSpc>
              <a:spcBef>
                <a:spcPts val="6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选择面额为</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的硬币，兑换的硬币个数</a:t>
            </a:r>
            <a:r>
              <a:rPr lang="en-US" altLang="zh-CN">
                <a:solidFill>
                  <a:srgbClr val="0000FF"/>
                </a:solidFill>
                <a:latin typeface="Consolas" pitchFamily="49" charset="0"/>
                <a:ea typeface="仿宋" pitchFamily="49" charset="-122"/>
                <a:cs typeface="Consolas" pitchFamily="49" charset="0"/>
              </a:rPr>
              <a:t>=A/2=1</a:t>
            </a:r>
            <a:r>
              <a:rPr lang="zh-CN" altLang="zh-CN">
                <a:solidFill>
                  <a:srgbClr val="0000FF"/>
                </a:solidFill>
                <a:latin typeface="Consolas" pitchFamily="49" charset="0"/>
                <a:ea typeface="仿宋" pitchFamily="49" charset="-122"/>
                <a:cs typeface="Consolas" pitchFamily="49" charset="0"/>
              </a:rPr>
              <a:t>，剩余金额</a:t>
            </a:r>
            <a:r>
              <a:rPr lang="en-US" altLang="zh-CN">
                <a:solidFill>
                  <a:srgbClr val="0000FF"/>
                </a:solidFill>
                <a:latin typeface="Consolas" pitchFamily="49" charset="0"/>
                <a:ea typeface="仿宋" pitchFamily="49" charset="-122"/>
                <a:cs typeface="Consolas" pitchFamily="49" charset="0"/>
              </a:rPr>
              <a:t>=3-2</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1=1</a:t>
            </a:r>
            <a:r>
              <a:rPr lang="zh-CN" altLang="zh-CN">
                <a:solidFill>
                  <a:srgbClr val="0000FF"/>
                </a:solidFill>
                <a:latin typeface="Consolas" pitchFamily="49" charset="0"/>
                <a:ea typeface="仿宋" pitchFamily="49" charset="-122"/>
                <a:cs typeface="Consolas" pitchFamily="49" charset="0"/>
              </a:rPr>
              <a:t>。</a:t>
            </a:r>
          </a:p>
          <a:p>
            <a:pPr marL="914400" lvl="1" indent="-457200" algn="l">
              <a:lnSpc>
                <a:spcPts val="3000"/>
              </a:lnSpc>
              <a:spcBef>
                <a:spcPts val="6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选择面额为</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的硬币，兑换的硬币个数</a:t>
            </a:r>
            <a:r>
              <a:rPr lang="en-US" altLang="zh-CN">
                <a:solidFill>
                  <a:srgbClr val="0000FF"/>
                </a:solidFill>
                <a:latin typeface="Consolas" pitchFamily="49" charset="0"/>
                <a:ea typeface="仿宋" pitchFamily="49" charset="-122"/>
                <a:cs typeface="Consolas" pitchFamily="49" charset="0"/>
              </a:rPr>
              <a:t>=A/1=1</a:t>
            </a:r>
            <a:r>
              <a:rPr lang="zh-CN" altLang="zh-CN">
                <a:solidFill>
                  <a:srgbClr val="0000FF"/>
                </a:solidFill>
                <a:latin typeface="Consolas" pitchFamily="49" charset="0"/>
                <a:ea typeface="仿宋" pitchFamily="49" charset="-122"/>
                <a:cs typeface="Consolas" pitchFamily="49" charset="0"/>
              </a:rPr>
              <a:t>，剩余金额</a:t>
            </a:r>
            <a:r>
              <a:rPr lang="en-US" altLang="zh-CN">
                <a:solidFill>
                  <a:srgbClr val="0000FF"/>
                </a:solidFill>
                <a:latin typeface="Consolas" pitchFamily="49" charset="0"/>
                <a:ea typeface="仿宋" pitchFamily="49" charset="-122"/>
                <a:cs typeface="Consolas" pitchFamily="49" charset="0"/>
              </a:rPr>
              <a:t>=1-1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1=0</a:t>
            </a:r>
            <a:r>
              <a:rPr lang="zh-CN" altLang="zh-CN">
                <a:solidFill>
                  <a:srgbClr val="0000FF"/>
                </a:solidFill>
                <a:latin typeface="Consolas" pitchFamily="49" charset="0"/>
                <a:ea typeface="仿宋" pitchFamily="49" charset="-122"/>
                <a:cs typeface="Consolas" pitchFamily="49" charset="0"/>
              </a:rPr>
              <a:t>。</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66</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480426"/>
            <a:ext cx="8643998" cy="409520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greedy</a:t>
            </a:r>
            <a:r>
              <a:rPr lang="en-US" altLang="zh-CN" sz="2000">
                <a:solidFill>
                  <a:srgbClr val="0000FF"/>
                </a:solidFill>
                <a:latin typeface="Consolas" pitchFamily="49" charset="0"/>
                <a:ea typeface="仿宋" pitchFamily="49" charset="-122"/>
              </a:rPr>
              <a:t>(int c,int k,int A)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求解算法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ans=0;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curm=(int)Math.pow(c,k);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初始取最大面额的硬币</a:t>
            </a:r>
          </a:p>
          <a:p>
            <a:pPr algn="l" defTabSz="360000">
              <a:lnSpc>
                <a:spcPts val="2800"/>
              </a:lnSpc>
              <a:spcBef>
                <a:spcPts val="0"/>
              </a:spcBef>
            </a:pPr>
            <a:r>
              <a:rPr lang="en-US" altLang="zh-CN" sz="2000">
                <a:solidFill>
                  <a:srgbClr val="0000FF"/>
                </a:solidFill>
                <a:latin typeface="Consolas" pitchFamily="49" charset="0"/>
                <a:ea typeface="仿宋" pitchFamily="49" charset="-122"/>
              </a:rPr>
              <a:t>  	while(A&gt;0)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curs=A/curm;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求面额为</a:t>
            </a:r>
            <a:r>
              <a:rPr lang="en-US" altLang="zh-CN" sz="2000">
                <a:solidFill>
                  <a:srgbClr val="00B0F0"/>
                </a:solidFill>
                <a:latin typeface="Consolas" pitchFamily="49" charset="0"/>
                <a:ea typeface="仿宋" pitchFamily="49" charset="-122"/>
              </a:rPr>
              <a:t>curm</a:t>
            </a:r>
            <a:r>
              <a:rPr lang="zh-CN" altLang="zh-CN" sz="2000">
                <a:solidFill>
                  <a:srgbClr val="00B0F0"/>
                </a:solidFill>
                <a:latin typeface="Consolas" pitchFamily="49" charset="0"/>
                <a:ea typeface="仿宋" pitchFamily="49" charset="-122"/>
              </a:rPr>
              <a:t>的硬币个数</a:t>
            </a:r>
            <a:r>
              <a:rPr lang="en-US" altLang="zh-CN" sz="2000">
                <a:solidFill>
                  <a:srgbClr val="00B0F0"/>
                </a:solidFill>
                <a:latin typeface="Consolas" pitchFamily="49" charset="0"/>
                <a:ea typeface="仿宋" pitchFamily="49" charset="-122"/>
              </a:rPr>
              <a:t>curs</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ans+=curs;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累计硬币个数</a:t>
            </a:r>
          </a:p>
          <a:p>
            <a:pPr algn="l" defTabSz="360000">
              <a:lnSpc>
                <a:spcPts val="2800"/>
              </a:lnSpc>
              <a:spcBef>
                <a:spcPts val="0"/>
              </a:spcBef>
            </a:pPr>
            <a:r>
              <a:rPr lang="en-US" altLang="zh-CN" sz="2000">
                <a:solidFill>
                  <a:srgbClr val="0000FF"/>
                </a:solidFill>
                <a:latin typeface="Consolas" pitchFamily="49" charset="0"/>
                <a:ea typeface="仿宋" pitchFamily="49" charset="-122"/>
              </a:rPr>
              <a:t>    	A-=curs*curm;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剩余金额为</a:t>
            </a:r>
            <a:r>
              <a:rPr lang="en-US" altLang="zh-CN" sz="2000">
                <a:solidFill>
                  <a:srgbClr val="00B0F0"/>
                </a:solidFill>
                <a:latin typeface="Consolas" pitchFamily="49" charset="0"/>
                <a:ea typeface="仿宋" pitchFamily="49" charset="-122"/>
              </a:rPr>
              <a:t>A</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curm/=c;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试探其他硬币</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67</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1643042" y="1214422"/>
            <a:ext cx="6929486" cy="3065043"/>
          </a:xfrm>
          <a:prstGeom prst="rect">
            <a:avLst/>
          </a:prstGeom>
          <a:solidFill>
            <a:schemeClr val="accent5">
              <a:lumMod val="20000"/>
              <a:lumOff val="80000"/>
            </a:schemeClr>
          </a:solidFill>
          <a:ln w="57150">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并非任何面额的零钱兑换问题都可以用上述贪心法求最少的硬币个数</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例如，硬币面额分别为</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10</a:t>
            </a:r>
            <a:r>
              <a:rPr lang="zh-CN" altLang="zh-CN">
                <a:solidFill>
                  <a:srgbClr val="0000FF"/>
                </a:solidFill>
                <a:latin typeface="Consolas" pitchFamily="49" charset="0"/>
                <a:ea typeface="仿宋" pitchFamily="49" charset="-122"/>
                <a:cs typeface="Consolas" pitchFamily="49" charset="0"/>
              </a:rPr>
              <a:t>时，</a:t>
            </a:r>
            <a:r>
              <a:rPr lang="en-US" altLang="zh-CN">
                <a:solidFill>
                  <a:srgbClr val="0000FF"/>
                </a:solidFill>
                <a:latin typeface="Consolas" pitchFamily="49" charset="0"/>
                <a:ea typeface="仿宋" pitchFamily="49" charset="-122"/>
                <a:cs typeface="Consolas" pitchFamily="49" charset="0"/>
              </a:rPr>
              <a:t>A=18</a:t>
            </a:r>
            <a:r>
              <a:rPr lang="zh-CN" altLang="zh-CN">
                <a:solidFill>
                  <a:srgbClr val="0000FF"/>
                </a:solidFill>
                <a:latin typeface="Consolas" pitchFamily="49" charset="0"/>
                <a:ea typeface="仿宋" pitchFamily="49" charset="-122"/>
                <a:cs typeface="Consolas" pitchFamily="49" charset="0"/>
              </a:rPr>
              <a:t>，采用贪心法求出的兑换硬币个数为</a:t>
            </a:r>
            <a:r>
              <a:rPr lang="en-US"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个面额为</a:t>
            </a:r>
            <a:r>
              <a:rPr lang="en-US" altLang="zh-CN">
                <a:solidFill>
                  <a:srgbClr val="0000FF"/>
                </a:solidFill>
                <a:latin typeface="Consolas" pitchFamily="49" charset="0"/>
                <a:ea typeface="仿宋" pitchFamily="49" charset="-122"/>
                <a:cs typeface="Consolas" pitchFamily="49" charset="0"/>
              </a:rPr>
              <a:t>10</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个面额</a:t>
            </a:r>
            <a:r>
              <a:rPr lang="en-US"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个面额为</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的硬币），而实际最优解是</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个面额为</a:t>
            </a:r>
            <a:r>
              <a:rPr lang="en-US" altLang="zh-CN">
                <a:solidFill>
                  <a:srgbClr val="0000FF"/>
                </a:solidFill>
                <a:latin typeface="Consolas" pitchFamily="49" charset="0"/>
                <a:ea typeface="仿宋" pitchFamily="49" charset="-122"/>
                <a:cs typeface="Consolas" pitchFamily="49" charset="0"/>
              </a:rPr>
              <a:t>10</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个面额</a:t>
            </a:r>
            <a:r>
              <a:rPr lang="en-US"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的硬币）。</a:t>
            </a:r>
            <a:endParaRPr lang="zh-CN" altLang="en-US">
              <a:solidFill>
                <a:srgbClr val="0000FF"/>
              </a:solidFill>
              <a:latin typeface="Consolas" pitchFamily="49" charset="0"/>
              <a:ea typeface="仿宋" pitchFamily="49" charset="-122"/>
              <a:cs typeface="Consolas" pitchFamily="49" charset="0"/>
            </a:endParaRPr>
          </a:p>
        </p:txBody>
      </p:sp>
      <p:pic>
        <p:nvPicPr>
          <p:cNvPr id="7" name="Picture 2"/>
          <p:cNvPicPr>
            <a:picLocks noChangeAspect="1" noChangeArrowheads="1"/>
          </p:cNvPicPr>
          <p:nvPr/>
        </p:nvPicPr>
        <p:blipFill>
          <a:blip r:embed="rId3" cstate="print"/>
          <a:srcRect/>
          <a:stretch>
            <a:fillRect/>
          </a:stretch>
        </p:blipFill>
        <p:spPr bwMode="auto">
          <a:xfrm>
            <a:off x="285720" y="1643050"/>
            <a:ext cx="1309697" cy="1571636"/>
          </a:xfrm>
          <a:prstGeom prst="rect">
            <a:avLst/>
          </a:prstGeom>
          <a:noFill/>
          <a:ln w="9525">
            <a:noFill/>
            <a:miter lim="800000"/>
            <a:headEnd/>
            <a:tailEnd/>
          </a:ln>
        </p:spPr>
      </p:pic>
      <p:sp>
        <p:nvSpPr>
          <p:cNvPr id="8" name="灯片编号占位符 7"/>
          <p:cNvSpPr>
            <a:spLocks noGrp="1"/>
          </p:cNvSpPr>
          <p:nvPr>
            <p:ph type="sldNum" sz="quarter" idx="12"/>
          </p:nvPr>
        </p:nvSpPr>
        <p:spPr/>
        <p:txBody>
          <a:bodyPr/>
          <a:lstStyle/>
          <a:p>
            <a:fld id="{7AF016A1-9F15-429F-9EFD-84004B73C732}" type="slidenum">
              <a:rPr lang="en-US" altLang="zh-CN" smtClean="0"/>
              <a:pPr/>
              <a:t>68</a:t>
            </a:fld>
            <a:r>
              <a:rPr lang="en-US" altLang="zh-CN"/>
              <a:t>/109</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2357422" y="428604"/>
            <a:ext cx="4143404"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8.6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哈夫曼编码</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357158" y="1714488"/>
            <a:ext cx="8501122" cy="143885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0"/>
              </a:spcBef>
            </a:pPr>
            <a:r>
              <a:rPr lang="en-US" altLang="zh-CN">
                <a:solidFill>
                  <a:srgbClr val="FF0000"/>
                </a:solidFill>
                <a:latin typeface="楷体" pitchFamily="49" charset="-122"/>
                <a:ea typeface="楷体" pitchFamily="49" charset="-122"/>
                <a:sym typeface="Wingdings"/>
              </a:rPr>
              <a:t></a:t>
            </a:r>
            <a:r>
              <a:rPr lang="zh-CN" altLang="en-US">
                <a:solidFill>
                  <a:srgbClr val="FF0000"/>
                </a:solidFill>
                <a:latin typeface="楷体" pitchFamily="49" charset="-122"/>
                <a:ea typeface="楷体" pitchFamily="49" charset="-122"/>
                <a:cs typeface="Consolas" pitchFamily="49" charset="0"/>
              </a:rPr>
              <a:t>问题描述：</a:t>
            </a:r>
            <a:r>
              <a:rPr lang="zh-CN" altLang="zh-CN">
                <a:solidFill>
                  <a:srgbClr val="0000FF"/>
                </a:solidFill>
                <a:latin typeface="Consolas" pitchFamily="49" charset="0"/>
                <a:ea typeface="仿宋" pitchFamily="49" charset="-122"/>
                <a:cs typeface="Consolas" pitchFamily="49" charset="0"/>
              </a:rPr>
              <a:t>设需要编码的字符集为</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d</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d</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mn-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d</a:t>
            </a:r>
            <a:r>
              <a:rPr lang="en-US" altLang="zh-CN" i="1" baseline="-25000">
                <a:solidFill>
                  <a:srgbClr val="0000FF"/>
                </a:solidFill>
                <a:latin typeface="Consolas" pitchFamily="49" charset="0"/>
                <a:ea typeface="仿宋" pitchFamily="49" charset="-122"/>
                <a:cs typeface="Consolas" pitchFamily="49" charset="0"/>
              </a:rPr>
              <a:t>n</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，它们出现的频率为</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w</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w</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w</a:t>
            </a:r>
            <a:r>
              <a:rPr lang="en-US" altLang="zh-CN" i="1" baseline="-25000">
                <a:solidFill>
                  <a:srgbClr val="0000FF"/>
                </a:solidFill>
                <a:latin typeface="Consolas" pitchFamily="49" charset="0"/>
                <a:ea typeface="仿宋" pitchFamily="49" charset="-122"/>
                <a:cs typeface="Consolas" pitchFamily="49" charset="0"/>
              </a:rPr>
              <a:t>n</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，应用</a:t>
            </a:r>
            <a:r>
              <a:rPr lang="zh-CN" altLang="zh-CN">
                <a:solidFill>
                  <a:srgbClr val="FF0000"/>
                </a:solidFill>
                <a:latin typeface="Consolas" pitchFamily="49" charset="0"/>
                <a:ea typeface="仿宋" pitchFamily="49" charset="-122"/>
                <a:cs typeface="Consolas" pitchFamily="49" charset="0"/>
              </a:rPr>
              <a:t>哈夫曼树</a:t>
            </a:r>
            <a:r>
              <a:rPr lang="zh-CN" altLang="zh-CN">
                <a:solidFill>
                  <a:srgbClr val="0000FF"/>
                </a:solidFill>
                <a:latin typeface="Consolas" pitchFamily="49" charset="0"/>
                <a:ea typeface="仿宋" pitchFamily="49" charset="-122"/>
                <a:cs typeface="Consolas" pitchFamily="49" charset="0"/>
              </a:rPr>
              <a:t>构造最优的不等长的由</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构成的编码方案</a:t>
            </a:r>
            <a:r>
              <a:rPr lang="zh-CN" altLang="en-US">
                <a:solidFill>
                  <a:srgbClr val="0000FF"/>
                </a:solidFill>
                <a:latin typeface="Consolas" pitchFamily="49" charset="0"/>
                <a:ea typeface="仿宋" pitchFamily="49" charset="-122"/>
                <a:cs typeface="Consolas" pitchFamily="49" charset="0"/>
              </a:rPr>
              <a:t>（</a:t>
            </a:r>
            <a:r>
              <a:rPr lang="zh-CN" altLang="en-US">
                <a:solidFill>
                  <a:srgbClr val="FF0000"/>
                </a:solidFill>
                <a:latin typeface="Consolas" pitchFamily="49" charset="0"/>
                <a:ea typeface="仿宋" pitchFamily="49" charset="-122"/>
                <a:cs typeface="Consolas" pitchFamily="49" charset="0"/>
              </a:rPr>
              <a:t>哈夫曼编码</a:t>
            </a:r>
            <a:r>
              <a:rPr lang="zh-CN" altLang="en-US">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69</a:t>
            </a:fld>
            <a:r>
              <a:rPr lang="en-US" altLang="zh-CN"/>
              <a:t>/109</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71538" y="1285860"/>
            <a:ext cx="442915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楷体" pitchFamily="49" charset="-122"/>
                <a:ea typeface="楷体" pitchFamily="49" charset="-122"/>
              </a:rPr>
              <a:t>哈夫曼树</a:t>
            </a:r>
            <a:r>
              <a:rPr lang="en-US" altLang="zh-CN">
                <a:solidFill>
                  <a:srgbClr val="0000FF"/>
                </a:solidFill>
                <a:latin typeface="楷体" pitchFamily="49" charset="-122"/>
                <a:ea typeface="楷体" pitchFamily="49" charset="-122"/>
              </a:rPr>
              <a:t> </a:t>
            </a:r>
            <a:r>
              <a:rPr lang="en-US" altLang="zh-CN">
                <a:solidFill>
                  <a:srgbClr val="0000FF"/>
                </a:solidFill>
                <a:latin typeface="楷体" pitchFamily="49" charset="-122"/>
                <a:ea typeface="楷体" pitchFamily="49" charset="-122"/>
                <a:sym typeface="Wingdings"/>
              </a:rPr>
              <a:t> </a:t>
            </a:r>
            <a:r>
              <a:rPr lang="zh-CN" altLang="en-US">
                <a:solidFill>
                  <a:srgbClr val="0000FF"/>
                </a:solidFill>
                <a:latin typeface="楷体" pitchFamily="49" charset="-122"/>
                <a:ea typeface="楷体" pitchFamily="49" charset="-122"/>
                <a:sym typeface="Wingdings"/>
              </a:rPr>
              <a:t>哈夫曼编码</a:t>
            </a:r>
            <a:r>
              <a:rPr lang="en-US" altLang="zh-CN">
                <a:solidFill>
                  <a:srgbClr val="0000FF"/>
                </a:solidFill>
                <a:latin typeface="楷体" pitchFamily="49" charset="-122"/>
                <a:ea typeface="楷体" pitchFamily="49" charset="-122"/>
                <a:sym typeface="Wingdings"/>
              </a:rPr>
              <a:t> </a:t>
            </a:r>
            <a:endParaRPr lang="zh-CN" altLang="en-US">
              <a:solidFill>
                <a:srgbClr val="0000FF"/>
              </a:solidFill>
              <a:latin typeface="楷体" pitchFamily="49" charset="-122"/>
              <a:ea typeface="楷体" pitchFamily="49" charset="-122"/>
              <a:cs typeface="Consolas" pitchFamily="49" charset="0"/>
            </a:endParaRPr>
          </a:p>
        </p:txBody>
      </p:sp>
      <p:sp>
        <p:nvSpPr>
          <p:cNvPr id="4" name="TextBox 3"/>
          <p:cNvSpPr txBox="1"/>
          <p:nvPr/>
        </p:nvSpPr>
        <p:spPr>
          <a:xfrm>
            <a:off x="785786" y="2357430"/>
            <a:ext cx="8001056" cy="964367"/>
          </a:xfrm>
          <a:prstGeom prst="rect">
            <a:avLst/>
          </a:prstGeom>
          <a:ln/>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2800"/>
              </a:lnSpc>
              <a:spcBef>
                <a:spcPts val="1200"/>
              </a:spcBef>
            </a:pPr>
            <a:r>
              <a:rPr lang="zh-CN" altLang="en-US">
                <a:solidFill>
                  <a:srgbClr val="FF0000"/>
                </a:solidFill>
                <a:latin typeface="楷体" pitchFamily="49" charset="-122"/>
                <a:ea typeface="楷体" pitchFamily="49" charset="-122"/>
                <a:cs typeface="Consolas" pitchFamily="49" charset="0"/>
              </a:rPr>
              <a:t>贪心策略</a:t>
            </a:r>
            <a:r>
              <a:rPr lang="zh-CN" altLang="en-US">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频率</a:t>
            </a:r>
            <a:r>
              <a:rPr lang="zh-CN" altLang="en-US">
                <a:solidFill>
                  <a:srgbClr val="0000FF"/>
                </a:solidFill>
                <a:latin typeface="Consolas" pitchFamily="49" charset="0"/>
                <a:ea typeface="仿宋" pitchFamily="49" charset="-122"/>
                <a:cs typeface="Consolas" pitchFamily="49" charset="0"/>
              </a:rPr>
              <a:t>越低编码越长，</a:t>
            </a:r>
            <a:r>
              <a:rPr lang="zh-CN" altLang="zh-CN">
                <a:solidFill>
                  <a:srgbClr val="0000FF"/>
                </a:solidFill>
                <a:latin typeface="Consolas" pitchFamily="49" charset="0"/>
                <a:ea typeface="仿宋" pitchFamily="49" charset="-122"/>
                <a:cs typeface="Consolas" pitchFamily="49" charset="0"/>
              </a:rPr>
              <a:t>频率</a:t>
            </a:r>
            <a:r>
              <a:rPr lang="zh-CN" altLang="en-US">
                <a:solidFill>
                  <a:srgbClr val="0000FF"/>
                </a:solidFill>
                <a:latin typeface="Consolas" pitchFamily="49" charset="0"/>
                <a:ea typeface="仿宋" pitchFamily="49" charset="-122"/>
                <a:cs typeface="Consolas" pitchFamily="49" charset="0"/>
              </a:rPr>
              <a:t>越高编码越短。</a:t>
            </a:r>
            <a:endParaRPr lang="en-US" altLang="zh-CN">
              <a:solidFill>
                <a:srgbClr val="0000FF"/>
              </a:solidFill>
              <a:latin typeface="Consolas" pitchFamily="49" charset="0"/>
              <a:ea typeface="仿宋" pitchFamily="49" charset="-122"/>
              <a:cs typeface="Consolas" pitchFamily="49" charset="0"/>
            </a:endParaRPr>
          </a:p>
          <a:p>
            <a:pPr marL="342900" indent="-342900" algn="l">
              <a:lnSpc>
                <a:spcPts val="2800"/>
              </a:lnSpc>
              <a:spcBef>
                <a:spcPts val="1200"/>
              </a:spcBef>
            </a:pPr>
            <a:r>
              <a:rPr lang="en-US" altLang="zh-CN">
                <a:solidFill>
                  <a:srgbClr val="0000FF"/>
                </a:solidFill>
                <a:latin typeface="Consolas" pitchFamily="49" charset="0"/>
                <a:ea typeface="仿宋" pitchFamily="49" charset="-122"/>
                <a:cs typeface="Consolas" pitchFamily="49" charset="0"/>
              </a:rPr>
              <a:t>         </a:t>
            </a:r>
            <a:r>
              <a:rPr lang="zh-CN" altLang="en-US">
                <a:solidFill>
                  <a:srgbClr val="0000FF"/>
                </a:solidFill>
                <a:latin typeface="Consolas" pitchFamily="49" charset="0"/>
                <a:ea typeface="仿宋" pitchFamily="49" charset="-122"/>
                <a:cs typeface="Consolas" pitchFamily="49" charset="0"/>
              </a:rPr>
              <a:t>合并次数越多编码越长。</a:t>
            </a:r>
            <a:endParaRPr lang="zh-CN" altLang="zh-CN">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142844" y="1214422"/>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8" name="TextBox 7"/>
          <p:cNvSpPr txBox="1"/>
          <p:nvPr/>
        </p:nvSpPr>
        <p:spPr>
          <a:xfrm>
            <a:off x="928662" y="4572008"/>
            <a:ext cx="1214446"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仿宋" pitchFamily="49" charset="-122"/>
                <a:ea typeface="仿宋" pitchFamily="49" charset="-122"/>
                <a:cs typeface="Consolas" pitchFamily="49" charset="0"/>
              </a:rPr>
              <a:t>证明略</a:t>
            </a: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70</a:t>
            </a:fld>
            <a:r>
              <a:rPr lang="en-US" altLang="zh-CN"/>
              <a:t>/109</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642918"/>
            <a:ext cx="3000396" cy="461665"/>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nSpc>
                <a:spcPct val="100000"/>
              </a:lnSpc>
              <a:spcBef>
                <a:spcPts val="0"/>
              </a:spcBef>
            </a:pPr>
            <a:r>
              <a:rPr lang="zh-CN" altLang="zh-CN">
                <a:solidFill>
                  <a:schemeClr val="bg1"/>
                </a:solidFill>
                <a:latin typeface="微软雅黑" pitchFamily="34" charset="-122"/>
                <a:ea typeface="微软雅黑" pitchFamily="34" charset="-122"/>
              </a:rPr>
              <a:t>构造一棵哈夫曼树</a:t>
            </a:r>
            <a:endParaRPr lang="zh-CN" altLang="en-US">
              <a:solidFill>
                <a:schemeClr val="bg1"/>
              </a:solidFill>
              <a:latin typeface="微软雅黑" pitchFamily="34" charset="-122"/>
              <a:ea typeface="微软雅黑" pitchFamily="34" charset="-122"/>
              <a:cs typeface="Consolas" pitchFamily="49" charset="0"/>
            </a:endParaRPr>
          </a:p>
        </p:txBody>
      </p:sp>
      <p:sp>
        <p:nvSpPr>
          <p:cNvPr id="4" name="TextBox 3"/>
          <p:cNvSpPr txBox="1"/>
          <p:nvPr/>
        </p:nvSpPr>
        <p:spPr>
          <a:xfrm>
            <a:off x="357158" y="1428736"/>
            <a:ext cx="8143932" cy="365420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3200"/>
              </a:lnSpc>
              <a:spcBef>
                <a:spcPts val="12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由</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个权值</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w</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w</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w</a:t>
            </a:r>
            <a:r>
              <a:rPr lang="en-US" altLang="zh-CN" i="1" baseline="-25000">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构造</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棵只有一个叶子结点的二叉树，得到一个二叉树集合</a:t>
            </a:r>
            <a:r>
              <a:rPr lang="en-US" altLang="zh-CN">
                <a:solidFill>
                  <a:srgbClr val="0000FF"/>
                </a:solidFill>
                <a:latin typeface="Consolas" pitchFamily="49" charset="0"/>
                <a:ea typeface="仿宋" pitchFamily="49" charset="-122"/>
                <a:cs typeface="Consolas" pitchFamily="49" charset="0"/>
              </a:rPr>
              <a:t>F={</a:t>
            </a:r>
            <a:r>
              <a:rPr lang="en-US" altLang="zh-CN" i="1">
                <a:solidFill>
                  <a:srgbClr val="0000FF"/>
                </a:solidFill>
                <a:latin typeface="Consolas" pitchFamily="49" charset="0"/>
                <a:ea typeface="仿宋" pitchFamily="49" charset="-122"/>
                <a:cs typeface="Consolas" pitchFamily="49" charset="0"/>
              </a:rPr>
              <a:t>T</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T</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T</a:t>
            </a:r>
            <a:r>
              <a:rPr lang="en-US" altLang="zh-CN" i="1" baseline="-25000">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p>
          <a:p>
            <a:pPr marL="342900" indent="-342900" algn="l">
              <a:lnSpc>
                <a:spcPts val="3200"/>
              </a:lnSpc>
              <a:spcBef>
                <a:spcPts val="12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在</a:t>
            </a:r>
            <a:r>
              <a:rPr lang="en-US" altLang="zh-CN">
                <a:solidFill>
                  <a:srgbClr val="0000FF"/>
                </a:solidFill>
                <a:latin typeface="Consolas" pitchFamily="49" charset="0"/>
                <a:ea typeface="仿宋" pitchFamily="49" charset="-122"/>
                <a:cs typeface="Consolas" pitchFamily="49" charset="0"/>
              </a:rPr>
              <a:t>F</a:t>
            </a:r>
            <a:r>
              <a:rPr lang="zh-CN" altLang="zh-CN">
                <a:solidFill>
                  <a:srgbClr val="0000FF"/>
                </a:solidFill>
                <a:latin typeface="Consolas" pitchFamily="49" charset="0"/>
                <a:ea typeface="仿宋" pitchFamily="49" charset="-122"/>
                <a:cs typeface="Consolas" pitchFamily="49" charset="0"/>
              </a:rPr>
              <a:t>中选取根结点的权值最小和次小的两棵二叉树作为左、右子树构造一棵新的二叉树，这棵新的二叉树根结点的权值为其左、右子树根结点权值之和。即合并两棵二叉树为一棵二叉树。</a:t>
            </a:r>
          </a:p>
          <a:p>
            <a:pPr marL="342900" indent="-342900" algn="l">
              <a:lnSpc>
                <a:spcPts val="3200"/>
              </a:lnSpc>
              <a:spcBef>
                <a:spcPts val="12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重复步骤②，当</a:t>
            </a:r>
            <a:r>
              <a:rPr lang="en-US" altLang="zh-CN">
                <a:solidFill>
                  <a:srgbClr val="0000FF"/>
                </a:solidFill>
                <a:latin typeface="Consolas" pitchFamily="49" charset="0"/>
                <a:ea typeface="仿宋" pitchFamily="49" charset="-122"/>
                <a:cs typeface="Consolas" pitchFamily="49" charset="0"/>
              </a:rPr>
              <a:t>F</a:t>
            </a:r>
            <a:r>
              <a:rPr lang="zh-CN" altLang="zh-CN">
                <a:solidFill>
                  <a:srgbClr val="0000FF"/>
                </a:solidFill>
                <a:latin typeface="Consolas" pitchFamily="49" charset="0"/>
                <a:ea typeface="仿宋" pitchFamily="49" charset="-122"/>
                <a:cs typeface="Consolas" pitchFamily="49" charset="0"/>
              </a:rPr>
              <a:t>中只剩下一棵二叉树时，这棵二叉树便是所要建立的</a:t>
            </a:r>
            <a:r>
              <a:rPr lang="zh-CN" altLang="zh-CN">
                <a:solidFill>
                  <a:srgbClr val="FF0000"/>
                </a:solidFill>
                <a:latin typeface="Consolas" pitchFamily="49" charset="0"/>
                <a:ea typeface="仿宋" pitchFamily="49" charset="-122"/>
                <a:cs typeface="Consolas" pitchFamily="49" charset="0"/>
              </a:rPr>
              <a:t>哈夫曼树</a:t>
            </a:r>
            <a:r>
              <a:rPr lang="zh-CN" altLang="zh-CN">
                <a:solidFill>
                  <a:srgbClr val="0000FF"/>
                </a:solidFill>
                <a:latin typeface="Consolas" pitchFamily="49" charset="0"/>
                <a:ea typeface="仿宋" pitchFamily="49" charset="-122"/>
                <a:cs typeface="Consolas" pitchFamily="49" charset="0"/>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71</a:t>
            </a:fld>
            <a:r>
              <a:rPr lang="en-US" altLang="zh-CN"/>
              <a:t>/109</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428736"/>
            <a:ext cx="8286808"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利用哈夫曼树构造的用于通信的二进制编码称为</a:t>
            </a:r>
            <a:r>
              <a:rPr lang="zh-CN" altLang="zh-CN">
                <a:solidFill>
                  <a:srgbClr val="FF0000"/>
                </a:solidFill>
                <a:latin typeface="Consolas" pitchFamily="49" charset="0"/>
                <a:ea typeface="仿宋" pitchFamily="49" charset="-122"/>
                <a:cs typeface="Consolas" pitchFamily="49" charset="0"/>
              </a:rPr>
              <a:t>哈夫曼编码</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哈夫曼树中从根到每个叶子都有一条路径，对路径上的各分支约定指向左子树根的分支表示“</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”码，指向右子树的分支表示“</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”码，取每条路径上的“</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”或“</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”的序列作为和各个叶子对应的字符的哈夫曼编码。</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642910" y="714356"/>
            <a:ext cx="2786082" cy="461665"/>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nSpc>
                <a:spcPct val="100000"/>
              </a:lnSpc>
              <a:spcBef>
                <a:spcPts val="0"/>
              </a:spcBef>
            </a:pPr>
            <a:r>
              <a:rPr lang="zh-CN" altLang="zh-CN">
                <a:solidFill>
                  <a:schemeClr val="bg1"/>
                </a:solidFill>
                <a:latin typeface="微软雅黑" pitchFamily="34" charset="-122"/>
                <a:ea typeface="微软雅黑" pitchFamily="34" charset="-122"/>
              </a:rPr>
              <a:t>构造哈夫曼</a:t>
            </a:r>
            <a:r>
              <a:rPr lang="zh-CN" altLang="en-US">
                <a:solidFill>
                  <a:schemeClr val="bg1"/>
                </a:solidFill>
                <a:latin typeface="微软雅黑" pitchFamily="34" charset="-122"/>
                <a:ea typeface="微软雅黑" pitchFamily="34" charset="-122"/>
              </a:rPr>
              <a:t>编码</a:t>
            </a:r>
            <a:endParaRPr lang="zh-CN" altLang="en-US">
              <a:solidFill>
                <a:schemeClr val="bg1"/>
              </a:solidFill>
              <a:latin typeface="微软雅黑" pitchFamily="34" charset="-122"/>
              <a:ea typeface="微软雅黑" pitchFamily="34"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72</a:t>
            </a:fld>
            <a:r>
              <a:rPr lang="en-US" altLang="zh-CN"/>
              <a:t>/109</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98" name="Rectangle 8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91"/>
          <p:cNvGrpSpPr/>
          <p:nvPr/>
        </p:nvGrpSpPr>
        <p:grpSpPr>
          <a:xfrm>
            <a:off x="606640" y="1349448"/>
            <a:ext cx="3058981" cy="1007982"/>
            <a:chOff x="606640" y="1349448"/>
            <a:chExt cx="3058981" cy="1007982"/>
          </a:xfrm>
        </p:grpSpPr>
        <p:sp>
          <p:nvSpPr>
            <p:cNvPr id="13384" name="Text Box 72"/>
            <p:cNvSpPr txBox="1">
              <a:spLocks noChangeArrowheads="1"/>
            </p:cNvSpPr>
            <p:nvPr/>
          </p:nvSpPr>
          <p:spPr bwMode="auto">
            <a:xfrm>
              <a:off x="678100" y="1701596"/>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a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83" name="Text Box 71"/>
            <p:cNvSpPr txBox="1">
              <a:spLocks noChangeArrowheads="1"/>
            </p:cNvSpPr>
            <p:nvPr/>
          </p:nvSpPr>
          <p:spPr bwMode="auto">
            <a:xfrm>
              <a:off x="1301180" y="1706774"/>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b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82" name="Text Box 70"/>
            <p:cNvSpPr txBox="1">
              <a:spLocks noChangeArrowheads="1"/>
            </p:cNvSpPr>
            <p:nvPr/>
          </p:nvSpPr>
          <p:spPr bwMode="auto">
            <a:xfrm>
              <a:off x="1963123" y="1706774"/>
              <a:ext cx="283332"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c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81" name="Text Box 69"/>
            <p:cNvSpPr txBox="1">
              <a:spLocks noChangeArrowheads="1"/>
            </p:cNvSpPr>
            <p:nvPr/>
          </p:nvSpPr>
          <p:spPr bwMode="auto">
            <a:xfrm>
              <a:off x="2608769" y="1706774"/>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d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80" name="Text Box 68"/>
            <p:cNvSpPr txBox="1">
              <a:spLocks noChangeArrowheads="1"/>
            </p:cNvSpPr>
            <p:nvPr/>
          </p:nvSpPr>
          <p:spPr bwMode="auto">
            <a:xfrm>
              <a:off x="3292025" y="1706774"/>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e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76" name="Oval 64"/>
            <p:cNvSpPr>
              <a:spLocks noChangeArrowheads="1"/>
            </p:cNvSpPr>
            <p:nvPr/>
          </p:nvSpPr>
          <p:spPr bwMode="auto">
            <a:xfrm>
              <a:off x="2562382" y="1349448"/>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7</a:t>
              </a:r>
            </a:p>
          </p:txBody>
        </p:sp>
        <p:sp>
          <p:nvSpPr>
            <p:cNvPr id="13375" name="Oval 63"/>
            <p:cNvSpPr>
              <a:spLocks noChangeArrowheads="1"/>
            </p:cNvSpPr>
            <p:nvPr/>
          </p:nvSpPr>
          <p:spPr bwMode="auto">
            <a:xfrm>
              <a:off x="1910468" y="1349448"/>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13374" name="Oval 62"/>
            <p:cNvSpPr>
              <a:spLocks noChangeArrowheads="1"/>
            </p:cNvSpPr>
            <p:nvPr/>
          </p:nvSpPr>
          <p:spPr bwMode="auto">
            <a:xfrm>
              <a:off x="606640" y="1349448"/>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p>
          </p:txBody>
        </p:sp>
        <p:sp>
          <p:nvSpPr>
            <p:cNvPr id="13373" name="Oval 61"/>
            <p:cNvSpPr>
              <a:spLocks noChangeArrowheads="1"/>
            </p:cNvSpPr>
            <p:nvPr/>
          </p:nvSpPr>
          <p:spPr bwMode="auto">
            <a:xfrm>
              <a:off x="1233481" y="1349448"/>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13372" name="Oval 60"/>
            <p:cNvSpPr>
              <a:spLocks noChangeArrowheads="1"/>
            </p:cNvSpPr>
            <p:nvPr/>
          </p:nvSpPr>
          <p:spPr bwMode="auto">
            <a:xfrm>
              <a:off x="3239370" y="1349448"/>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p>
          </p:txBody>
        </p:sp>
        <p:sp>
          <p:nvSpPr>
            <p:cNvPr id="13371" name="Text Box 59"/>
            <p:cNvSpPr txBox="1">
              <a:spLocks noChangeArrowheads="1"/>
            </p:cNvSpPr>
            <p:nvPr/>
          </p:nvSpPr>
          <p:spPr bwMode="auto">
            <a:xfrm>
              <a:off x="1785918" y="2112998"/>
              <a:ext cx="1009213" cy="24443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(a) </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初始 </a:t>
              </a:r>
            </a:p>
          </p:txBody>
        </p:sp>
      </p:grpSp>
      <p:grpSp>
        <p:nvGrpSpPr>
          <p:cNvPr id="3" name="组合 90"/>
          <p:cNvGrpSpPr/>
          <p:nvPr/>
        </p:nvGrpSpPr>
        <p:grpSpPr>
          <a:xfrm>
            <a:off x="4071934" y="818119"/>
            <a:ext cx="1760974" cy="1610749"/>
            <a:chOff x="4071934" y="818119"/>
            <a:chExt cx="1760974" cy="1610749"/>
          </a:xfrm>
        </p:grpSpPr>
        <p:sp>
          <p:nvSpPr>
            <p:cNvPr id="13379" name="Text Box 67"/>
            <p:cNvSpPr txBox="1">
              <a:spLocks noChangeArrowheads="1"/>
            </p:cNvSpPr>
            <p:nvPr/>
          </p:nvSpPr>
          <p:spPr bwMode="auto">
            <a:xfrm>
              <a:off x="4440396" y="1710917"/>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c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78" name="Text Box 66"/>
            <p:cNvSpPr txBox="1">
              <a:spLocks noChangeArrowheads="1"/>
            </p:cNvSpPr>
            <p:nvPr/>
          </p:nvSpPr>
          <p:spPr bwMode="auto">
            <a:xfrm>
              <a:off x="5101086" y="1710917"/>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b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77" name="Oval 65"/>
            <p:cNvSpPr>
              <a:spLocks noChangeArrowheads="1"/>
            </p:cNvSpPr>
            <p:nvPr/>
          </p:nvSpPr>
          <p:spPr bwMode="auto">
            <a:xfrm>
              <a:off x="4693640" y="818119"/>
              <a:ext cx="426251" cy="352148"/>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p>
          </p:txBody>
        </p:sp>
        <p:sp>
          <p:nvSpPr>
            <p:cNvPr id="13370" name="Oval 58"/>
            <p:cNvSpPr>
              <a:spLocks noChangeArrowheads="1"/>
            </p:cNvSpPr>
            <p:nvPr/>
          </p:nvSpPr>
          <p:spPr bwMode="auto">
            <a:xfrm>
              <a:off x="5039656" y="1355662"/>
              <a:ext cx="424998"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13369" name="Oval 57"/>
            <p:cNvSpPr>
              <a:spLocks noChangeArrowheads="1"/>
            </p:cNvSpPr>
            <p:nvPr/>
          </p:nvSpPr>
          <p:spPr bwMode="auto">
            <a:xfrm>
              <a:off x="4362668" y="1355662"/>
              <a:ext cx="427505"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13368" name="Text Box 56"/>
            <p:cNvSpPr txBox="1">
              <a:spLocks noChangeArrowheads="1"/>
            </p:cNvSpPr>
            <p:nvPr/>
          </p:nvSpPr>
          <p:spPr bwMode="auto">
            <a:xfrm>
              <a:off x="4071934" y="2131368"/>
              <a:ext cx="1760974" cy="2975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(b) </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第</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次合并</a:t>
              </a:r>
            </a:p>
          </p:txBody>
        </p:sp>
        <p:sp>
          <p:nvSpPr>
            <p:cNvPr id="13344" name="AutoShape 32"/>
            <p:cNvSpPr>
              <a:spLocks noChangeShapeType="1"/>
            </p:cNvSpPr>
            <p:nvPr/>
          </p:nvSpPr>
          <p:spPr bwMode="auto">
            <a:xfrm flipH="1">
              <a:off x="4577047" y="1118481"/>
              <a:ext cx="179276" cy="237182"/>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43" name="AutoShape 31"/>
            <p:cNvSpPr>
              <a:spLocks noChangeShapeType="1"/>
            </p:cNvSpPr>
            <p:nvPr/>
          </p:nvSpPr>
          <p:spPr bwMode="auto">
            <a:xfrm>
              <a:off x="5057207" y="1118481"/>
              <a:ext cx="195574" cy="237182"/>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grpSp>
      <p:grpSp>
        <p:nvGrpSpPr>
          <p:cNvPr id="4" name="组合 89"/>
          <p:cNvGrpSpPr/>
          <p:nvPr/>
        </p:nvGrpSpPr>
        <p:grpSpPr>
          <a:xfrm>
            <a:off x="6359781" y="214290"/>
            <a:ext cx="1866175" cy="2143140"/>
            <a:chOff x="6359781" y="214290"/>
            <a:chExt cx="1866175" cy="2143140"/>
          </a:xfrm>
        </p:grpSpPr>
        <p:sp>
          <p:nvSpPr>
            <p:cNvPr id="13387" name="Text Box 75"/>
            <p:cNvSpPr txBox="1">
              <a:spLocks noChangeArrowheads="1"/>
            </p:cNvSpPr>
            <p:nvPr/>
          </p:nvSpPr>
          <p:spPr bwMode="auto">
            <a:xfrm>
              <a:off x="7012949" y="1622880"/>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c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86" name="Text Box 74"/>
            <p:cNvSpPr txBox="1">
              <a:spLocks noChangeArrowheads="1"/>
            </p:cNvSpPr>
            <p:nvPr/>
          </p:nvSpPr>
          <p:spPr bwMode="auto">
            <a:xfrm>
              <a:off x="7674893" y="1622880"/>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b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85" name="Text Box 73"/>
            <p:cNvSpPr txBox="1">
              <a:spLocks noChangeArrowheads="1"/>
            </p:cNvSpPr>
            <p:nvPr/>
          </p:nvSpPr>
          <p:spPr bwMode="auto">
            <a:xfrm>
              <a:off x="6359781" y="1149552"/>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e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67" name="Freeform 55"/>
            <p:cNvSpPr>
              <a:spLocks/>
            </p:cNvSpPr>
            <p:nvPr/>
          </p:nvSpPr>
          <p:spPr bwMode="auto">
            <a:xfrm>
              <a:off x="7134556" y="1094659"/>
              <a:ext cx="160471" cy="224753"/>
            </a:xfrm>
            <a:custGeom>
              <a:avLst/>
              <a:gdLst/>
              <a:ahLst/>
              <a:cxnLst>
                <a:cxn ang="0">
                  <a:pos x="128" y="0"/>
                </a:cxn>
                <a:cxn ang="0">
                  <a:pos x="0" y="217"/>
                </a:cxn>
              </a:cxnLst>
              <a:rect l="0" t="0" r="r" b="b"/>
              <a:pathLst>
                <a:path w="128" h="217">
                  <a:moveTo>
                    <a:pt x="128" y="0"/>
                  </a:moveTo>
                  <a:lnTo>
                    <a:pt x="0" y="217"/>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66" name="Freeform 54"/>
            <p:cNvSpPr>
              <a:spLocks/>
            </p:cNvSpPr>
            <p:nvPr/>
          </p:nvSpPr>
          <p:spPr bwMode="auto">
            <a:xfrm>
              <a:off x="7567076" y="1055301"/>
              <a:ext cx="273302" cy="287932"/>
            </a:xfrm>
            <a:custGeom>
              <a:avLst/>
              <a:gdLst/>
              <a:ahLst/>
              <a:cxnLst>
                <a:cxn ang="0">
                  <a:pos x="0" y="0"/>
                </a:cxn>
                <a:cxn ang="0">
                  <a:pos x="218" y="278"/>
                </a:cxn>
              </a:cxnLst>
              <a:rect l="0" t="0" r="r" b="b"/>
              <a:pathLst>
                <a:path w="218" h="278">
                  <a:moveTo>
                    <a:pt x="0" y="0"/>
                  </a:moveTo>
                  <a:lnTo>
                    <a:pt x="218" y="278"/>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65" name="Oval 53"/>
            <p:cNvSpPr>
              <a:spLocks noChangeArrowheads="1"/>
            </p:cNvSpPr>
            <p:nvPr/>
          </p:nvSpPr>
          <p:spPr bwMode="auto">
            <a:xfrm>
              <a:off x="7216045" y="793262"/>
              <a:ext cx="426251" cy="35214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p>
          </p:txBody>
        </p:sp>
        <p:sp>
          <p:nvSpPr>
            <p:cNvPr id="13364" name="Oval 52"/>
            <p:cNvSpPr>
              <a:spLocks noChangeArrowheads="1"/>
            </p:cNvSpPr>
            <p:nvPr/>
          </p:nvSpPr>
          <p:spPr bwMode="auto">
            <a:xfrm>
              <a:off x="7592150" y="1284197"/>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13363" name="Oval 51"/>
            <p:cNvSpPr>
              <a:spLocks noChangeArrowheads="1"/>
            </p:cNvSpPr>
            <p:nvPr/>
          </p:nvSpPr>
          <p:spPr bwMode="auto">
            <a:xfrm>
              <a:off x="6915162" y="1284197"/>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13362" name="Oval 50"/>
            <p:cNvSpPr>
              <a:spLocks noChangeArrowheads="1"/>
            </p:cNvSpPr>
            <p:nvPr/>
          </p:nvSpPr>
          <p:spPr bwMode="auto">
            <a:xfrm>
              <a:off x="6359781" y="793262"/>
              <a:ext cx="424998"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p>
          </p:txBody>
        </p:sp>
        <p:sp>
          <p:nvSpPr>
            <p:cNvPr id="13361" name="Oval 49"/>
            <p:cNvSpPr>
              <a:spLocks noChangeArrowheads="1"/>
            </p:cNvSpPr>
            <p:nvPr/>
          </p:nvSpPr>
          <p:spPr bwMode="auto">
            <a:xfrm>
              <a:off x="6789794" y="214290"/>
              <a:ext cx="426251" cy="353183"/>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p>
          </p:txBody>
        </p:sp>
        <p:sp>
          <p:nvSpPr>
            <p:cNvPr id="13359" name="AutoShape 47"/>
            <p:cNvSpPr>
              <a:spLocks noChangeShapeType="1"/>
            </p:cNvSpPr>
            <p:nvPr/>
          </p:nvSpPr>
          <p:spPr bwMode="auto">
            <a:xfrm flipH="1">
              <a:off x="6572907" y="515687"/>
              <a:ext cx="279571" cy="27757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58" name="AutoShape 46"/>
            <p:cNvSpPr>
              <a:spLocks noChangeShapeType="1"/>
            </p:cNvSpPr>
            <p:nvPr/>
          </p:nvSpPr>
          <p:spPr bwMode="auto">
            <a:xfrm>
              <a:off x="7153361" y="515687"/>
              <a:ext cx="275810" cy="27757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22" name="Text Box 10"/>
            <p:cNvSpPr txBox="1">
              <a:spLocks noChangeArrowheads="1"/>
            </p:cNvSpPr>
            <p:nvPr/>
          </p:nvSpPr>
          <p:spPr bwMode="auto">
            <a:xfrm>
              <a:off x="6429388" y="2059930"/>
              <a:ext cx="1796568" cy="2975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 </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第</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次合并</a:t>
              </a:r>
            </a:p>
          </p:txBody>
        </p:sp>
      </p:grpSp>
      <p:grpSp>
        <p:nvGrpSpPr>
          <p:cNvPr id="5" name="组合 88"/>
          <p:cNvGrpSpPr/>
          <p:nvPr/>
        </p:nvGrpSpPr>
        <p:grpSpPr>
          <a:xfrm>
            <a:off x="1438757" y="3157720"/>
            <a:ext cx="2204549" cy="2914486"/>
            <a:chOff x="367187" y="3157720"/>
            <a:chExt cx="2204549" cy="2914486"/>
          </a:xfrm>
        </p:grpSpPr>
        <p:sp>
          <p:nvSpPr>
            <p:cNvPr id="13388" name="Text Box 76"/>
            <p:cNvSpPr txBox="1">
              <a:spLocks noChangeArrowheads="1"/>
            </p:cNvSpPr>
            <p:nvPr/>
          </p:nvSpPr>
          <p:spPr bwMode="auto">
            <a:xfrm>
              <a:off x="458706" y="4042232"/>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a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60" name="Oval 48"/>
            <p:cNvSpPr>
              <a:spLocks noChangeArrowheads="1"/>
            </p:cNvSpPr>
            <p:nvPr/>
          </p:nvSpPr>
          <p:spPr bwMode="auto">
            <a:xfrm>
              <a:off x="367187" y="3706656"/>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p>
          </p:txBody>
        </p:sp>
        <p:sp>
          <p:nvSpPr>
            <p:cNvPr id="13357" name="Text Box 45"/>
            <p:cNvSpPr txBox="1">
              <a:spLocks noChangeArrowheads="1"/>
            </p:cNvSpPr>
            <p:nvPr/>
          </p:nvSpPr>
          <p:spPr bwMode="auto">
            <a:xfrm>
              <a:off x="1558184" y="5228140"/>
              <a:ext cx="285839" cy="23407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c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56" name="Text Box 44"/>
            <p:cNvSpPr txBox="1">
              <a:spLocks noChangeArrowheads="1"/>
            </p:cNvSpPr>
            <p:nvPr/>
          </p:nvSpPr>
          <p:spPr bwMode="auto">
            <a:xfrm>
              <a:off x="2228228" y="5228140"/>
              <a:ext cx="285839" cy="23407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b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55" name="Text Box 43"/>
            <p:cNvSpPr txBox="1">
              <a:spLocks noChangeArrowheads="1"/>
            </p:cNvSpPr>
            <p:nvPr/>
          </p:nvSpPr>
          <p:spPr bwMode="auto">
            <a:xfrm>
              <a:off x="917553" y="4651240"/>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e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54" name="Oval 42"/>
            <p:cNvSpPr>
              <a:spLocks noChangeArrowheads="1"/>
            </p:cNvSpPr>
            <p:nvPr/>
          </p:nvSpPr>
          <p:spPr bwMode="auto">
            <a:xfrm>
              <a:off x="1773817" y="4294949"/>
              <a:ext cx="426251" cy="35214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p>
          </p:txBody>
        </p:sp>
        <p:sp>
          <p:nvSpPr>
            <p:cNvPr id="13353" name="Oval 41"/>
            <p:cNvSpPr>
              <a:spLocks noChangeArrowheads="1"/>
            </p:cNvSpPr>
            <p:nvPr/>
          </p:nvSpPr>
          <p:spPr bwMode="auto">
            <a:xfrm>
              <a:off x="2145485" y="4888421"/>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13352" name="Oval 40"/>
            <p:cNvSpPr>
              <a:spLocks noChangeArrowheads="1"/>
            </p:cNvSpPr>
            <p:nvPr/>
          </p:nvSpPr>
          <p:spPr bwMode="auto">
            <a:xfrm>
              <a:off x="1461651" y="4888421"/>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13351" name="Oval 39"/>
            <p:cNvSpPr>
              <a:spLocks noChangeArrowheads="1"/>
            </p:cNvSpPr>
            <p:nvPr/>
          </p:nvSpPr>
          <p:spPr bwMode="auto">
            <a:xfrm>
              <a:off x="917553" y="4294949"/>
              <a:ext cx="424998"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p>
          </p:txBody>
        </p:sp>
        <p:sp>
          <p:nvSpPr>
            <p:cNvPr id="13350" name="Oval 38"/>
            <p:cNvSpPr>
              <a:spLocks noChangeArrowheads="1"/>
            </p:cNvSpPr>
            <p:nvPr/>
          </p:nvSpPr>
          <p:spPr bwMode="auto">
            <a:xfrm>
              <a:off x="1347566" y="3714941"/>
              <a:ext cx="426251" cy="3542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p>
          </p:txBody>
        </p:sp>
        <p:sp>
          <p:nvSpPr>
            <p:cNvPr id="13349" name="AutoShape 37"/>
            <p:cNvSpPr>
              <a:spLocks noChangeShapeType="1"/>
            </p:cNvSpPr>
            <p:nvPr/>
          </p:nvSpPr>
          <p:spPr bwMode="auto">
            <a:xfrm flipH="1">
              <a:off x="1130679" y="4017374"/>
              <a:ext cx="279571" cy="27757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48" name="AutoShape 36"/>
            <p:cNvSpPr>
              <a:spLocks noChangeShapeType="1"/>
            </p:cNvSpPr>
            <p:nvPr/>
          </p:nvSpPr>
          <p:spPr bwMode="auto">
            <a:xfrm>
              <a:off x="1711133" y="4017374"/>
              <a:ext cx="275810" cy="27757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47" name="Oval 35"/>
            <p:cNvSpPr>
              <a:spLocks noChangeArrowheads="1"/>
            </p:cNvSpPr>
            <p:nvPr/>
          </p:nvSpPr>
          <p:spPr bwMode="auto">
            <a:xfrm>
              <a:off x="844840" y="3157720"/>
              <a:ext cx="426251" cy="35421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10</a:t>
              </a:r>
            </a:p>
          </p:txBody>
        </p:sp>
        <p:sp>
          <p:nvSpPr>
            <p:cNvPr id="13346" name="AutoShape 34"/>
            <p:cNvSpPr>
              <a:spLocks noChangeShapeType="1"/>
            </p:cNvSpPr>
            <p:nvPr/>
          </p:nvSpPr>
          <p:spPr bwMode="auto">
            <a:xfrm flipH="1">
              <a:off x="580313" y="3460152"/>
              <a:ext cx="327211" cy="24650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45" name="AutoShape 33"/>
            <p:cNvSpPr>
              <a:spLocks noChangeShapeType="1"/>
            </p:cNvSpPr>
            <p:nvPr/>
          </p:nvSpPr>
          <p:spPr bwMode="auto">
            <a:xfrm>
              <a:off x="1208407" y="3460152"/>
              <a:ext cx="352284" cy="254789"/>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21" name="Text Box 9"/>
            <p:cNvSpPr txBox="1">
              <a:spLocks noChangeArrowheads="1"/>
            </p:cNvSpPr>
            <p:nvPr/>
          </p:nvSpPr>
          <p:spPr bwMode="auto">
            <a:xfrm>
              <a:off x="642910" y="5704575"/>
              <a:ext cx="1778297" cy="36763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(d) </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第</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次合并</a:t>
              </a:r>
            </a:p>
          </p:txBody>
        </p:sp>
        <p:sp>
          <p:nvSpPr>
            <p:cNvPr id="13318" name="AutoShape 6"/>
            <p:cNvSpPr>
              <a:spLocks noChangeShapeType="1"/>
            </p:cNvSpPr>
            <p:nvPr/>
          </p:nvSpPr>
          <p:spPr bwMode="auto">
            <a:xfrm flipH="1">
              <a:off x="1674776" y="4595310"/>
              <a:ext cx="161725" cy="29311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17" name="AutoShape 5"/>
            <p:cNvSpPr>
              <a:spLocks noChangeShapeType="1"/>
            </p:cNvSpPr>
            <p:nvPr/>
          </p:nvSpPr>
          <p:spPr bwMode="auto">
            <a:xfrm>
              <a:off x="2144232" y="4595310"/>
              <a:ext cx="214379" cy="29311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grpSp>
      <p:grpSp>
        <p:nvGrpSpPr>
          <p:cNvPr id="6" name="组合 92"/>
          <p:cNvGrpSpPr/>
          <p:nvPr/>
        </p:nvGrpSpPr>
        <p:grpSpPr>
          <a:xfrm>
            <a:off x="5019837" y="2791072"/>
            <a:ext cx="2766873" cy="3209696"/>
            <a:chOff x="5019837" y="2791072"/>
            <a:chExt cx="2766873" cy="3209696"/>
          </a:xfrm>
        </p:grpSpPr>
        <p:sp>
          <p:nvSpPr>
            <p:cNvPr id="13342" name="Text Box 30"/>
            <p:cNvSpPr txBox="1">
              <a:spLocks noChangeArrowheads="1"/>
            </p:cNvSpPr>
            <p:nvPr/>
          </p:nvSpPr>
          <p:spPr bwMode="auto">
            <a:xfrm>
              <a:off x="5691810" y="4216234"/>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a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41" name="Oval 29"/>
            <p:cNvSpPr>
              <a:spLocks noChangeArrowheads="1"/>
            </p:cNvSpPr>
            <p:nvPr/>
          </p:nvSpPr>
          <p:spPr bwMode="auto">
            <a:xfrm>
              <a:off x="5600291" y="3880658"/>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p>
          </p:txBody>
        </p:sp>
        <p:sp>
          <p:nvSpPr>
            <p:cNvPr id="13340" name="Text Box 28"/>
            <p:cNvSpPr txBox="1">
              <a:spLocks noChangeArrowheads="1"/>
            </p:cNvSpPr>
            <p:nvPr/>
          </p:nvSpPr>
          <p:spPr bwMode="auto">
            <a:xfrm>
              <a:off x="6780005" y="5402143"/>
              <a:ext cx="285839" cy="23407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c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39" name="Text Box 27"/>
            <p:cNvSpPr txBox="1">
              <a:spLocks noChangeArrowheads="1"/>
            </p:cNvSpPr>
            <p:nvPr/>
          </p:nvSpPr>
          <p:spPr bwMode="auto">
            <a:xfrm>
              <a:off x="7443202" y="5402143"/>
              <a:ext cx="285839" cy="23407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b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38" name="Text Box 26"/>
            <p:cNvSpPr txBox="1">
              <a:spLocks noChangeArrowheads="1"/>
            </p:cNvSpPr>
            <p:nvPr/>
          </p:nvSpPr>
          <p:spPr bwMode="auto">
            <a:xfrm>
              <a:off x="6207072" y="4806599"/>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e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37" name="Oval 25"/>
            <p:cNvSpPr>
              <a:spLocks noChangeArrowheads="1"/>
            </p:cNvSpPr>
            <p:nvPr/>
          </p:nvSpPr>
          <p:spPr bwMode="auto">
            <a:xfrm>
              <a:off x="7006921" y="4468952"/>
              <a:ext cx="426251" cy="35214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p>
          </p:txBody>
        </p:sp>
        <p:sp>
          <p:nvSpPr>
            <p:cNvPr id="13336" name="Oval 24"/>
            <p:cNvSpPr>
              <a:spLocks noChangeArrowheads="1"/>
            </p:cNvSpPr>
            <p:nvPr/>
          </p:nvSpPr>
          <p:spPr bwMode="auto">
            <a:xfrm>
              <a:off x="7360459" y="5062424"/>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13335" name="Oval 23"/>
            <p:cNvSpPr>
              <a:spLocks noChangeArrowheads="1"/>
            </p:cNvSpPr>
            <p:nvPr/>
          </p:nvSpPr>
          <p:spPr bwMode="auto">
            <a:xfrm>
              <a:off x="6683471" y="5062424"/>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13334" name="Oval 22"/>
            <p:cNvSpPr>
              <a:spLocks noChangeArrowheads="1"/>
            </p:cNvSpPr>
            <p:nvPr/>
          </p:nvSpPr>
          <p:spPr bwMode="auto">
            <a:xfrm>
              <a:off x="6150657" y="4468952"/>
              <a:ext cx="424998"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p>
          </p:txBody>
        </p:sp>
        <p:sp>
          <p:nvSpPr>
            <p:cNvPr id="13333" name="Oval 21"/>
            <p:cNvSpPr>
              <a:spLocks noChangeArrowheads="1"/>
            </p:cNvSpPr>
            <p:nvPr/>
          </p:nvSpPr>
          <p:spPr bwMode="auto">
            <a:xfrm>
              <a:off x="6580669" y="3888944"/>
              <a:ext cx="426251" cy="3542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p>
          </p:txBody>
        </p:sp>
        <p:sp>
          <p:nvSpPr>
            <p:cNvPr id="13332" name="AutoShape 20"/>
            <p:cNvSpPr>
              <a:spLocks noChangeShapeType="1"/>
            </p:cNvSpPr>
            <p:nvPr/>
          </p:nvSpPr>
          <p:spPr bwMode="auto">
            <a:xfrm flipH="1">
              <a:off x="6363782" y="4191376"/>
              <a:ext cx="279571" cy="27757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31" name="AutoShape 19"/>
            <p:cNvSpPr>
              <a:spLocks noChangeShapeType="1"/>
            </p:cNvSpPr>
            <p:nvPr/>
          </p:nvSpPr>
          <p:spPr bwMode="auto">
            <a:xfrm>
              <a:off x="6944237" y="4191376"/>
              <a:ext cx="275810" cy="27757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30" name="Oval 18"/>
            <p:cNvSpPr>
              <a:spLocks noChangeArrowheads="1"/>
            </p:cNvSpPr>
            <p:nvPr/>
          </p:nvSpPr>
          <p:spPr bwMode="auto">
            <a:xfrm>
              <a:off x="6077943" y="3331722"/>
              <a:ext cx="426251" cy="3542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10</a:t>
              </a:r>
            </a:p>
          </p:txBody>
        </p:sp>
        <p:sp>
          <p:nvSpPr>
            <p:cNvPr id="13329" name="AutoShape 17"/>
            <p:cNvSpPr>
              <a:spLocks noChangeShapeType="1"/>
            </p:cNvSpPr>
            <p:nvPr/>
          </p:nvSpPr>
          <p:spPr bwMode="auto">
            <a:xfrm flipH="1">
              <a:off x="5813417" y="3634155"/>
              <a:ext cx="327211" cy="24650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28" name="AutoShape 16"/>
            <p:cNvSpPr>
              <a:spLocks noChangeShapeType="1"/>
            </p:cNvSpPr>
            <p:nvPr/>
          </p:nvSpPr>
          <p:spPr bwMode="auto">
            <a:xfrm>
              <a:off x="6441511" y="3634155"/>
              <a:ext cx="352284" cy="254789"/>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27" name="Text Box 15"/>
            <p:cNvSpPr txBox="1">
              <a:spLocks noChangeArrowheads="1"/>
            </p:cNvSpPr>
            <p:nvPr/>
          </p:nvSpPr>
          <p:spPr bwMode="auto">
            <a:xfrm>
              <a:off x="5066223" y="3694227"/>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d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3326" name="Oval 14"/>
            <p:cNvSpPr>
              <a:spLocks noChangeArrowheads="1"/>
            </p:cNvSpPr>
            <p:nvPr/>
          </p:nvSpPr>
          <p:spPr bwMode="auto">
            <a:xfrm>
              <a:off x="5019837" y="3336901"/>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7</a:t>
              </a:r>
            </a:p>
          </p:txBody>
        </p:sp>
        <p:sp>
          <p:nvSpPr>
            <p:cNvPr id="13325" name="Oval 13"/>
            <p:cNvSpPr>
              <a:spLocks noChangeArrowheads="1"/>
            </p:cNvSpPr>
            <p:nvPr/>
          </p:nvSpPr>
          <p:spPr bwMode="auto">
            <a:xfrm>
              <a:off x="5550144" y="2791072"/>
              <a:ext cx="426251" cy="35421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17</a:t>
              </a:r>
            </a:p>
          </p:txBody>
        </p:sp>
        <p:sp>
          <p:nvSpPr>
            <p:cNvPr id="13324" name="AutoShape 12"/>
            <p:cNvSpPr>
              <a:spLocks noChangeShapeType="1"/>
            </p:cNvSpPr>
            <p:nvPr/>
          </p:nvSpPr>
          <p:spPr bwMode="auto">
            <a:xfrm flipH="1">
              <a:off x="5232962" y="3093504"/>
              <a:ext cx="379865" cy="24339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23" name="AutoShape 11"/>
            <p:cNvSpPr>
              <a:spLocks noChangeShapeType="1"/>
            </p:cNvSpPr>
            <p:nvPr/>
          </p:nvSpPr>
          <p:spPr bwMode="auto">
            <a:xfrm>
              <a:off x="5913711" y="3093504"/>
              <a:ext cx="377358" cy="238217"/>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20" name="Text Box 8"/>
            <p:cNvSpPr txBox="1">
              <a:spLocks noChangeArrowheads="1"/>
            </p:cNvSpPr>
            <p:nvPr/>
          </p:nvSpPr>
          <p:spPr bwMode="auto">
            <a:xfrm>
              <a:off x="5734217" y="5704575"/>
              <a:ext cx="1838179" cy="29619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(e) </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第</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次合并</a:t>
              </a:r>
            </a:p>
          </p:txBody>
        </p:sp>
        <p:sp>
          <p:nvSpPr>
            <p:cNvPr id="13316" name="AutoShape 4"/>
            <p:cNvSpPr>
              <a:spLocks noChangeShapeType="1"/>
            </p:cNvSpPr>
            <p:nvPr/>
          </p:nvSpPr>
          <p:spPr bwMode="auto">
            <a:xfrm flipH="1">
              <a:off x="6896597" y="4769313"/>
              <a:ext cx="173008" cy="29311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3315" name="AutoShape 3"/>
            <p:cNvSpPr>
              <a:spLocks noChangeShapeType="1"/>
            </p:cNvSpPr>
            <p:nvPr/>
          </p:nvSpPr>
          <p:spPr bwMode="auto">
            <a:xfrm>
              <a:off x="7370488" y="4769313"/>
              <a:ext cx="203096" cy="29311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grpSp>
      <p:sp>
        <p:nvSpPr>
          <p:cNvPr id="83" name="灯片编号占位符 82"/>
          <p:cNvSpPr>
            <a:spLocks noGrp="1"/>
          </p:cNvSpPr>
          <p:nvPr>
            <p:ph type="sldNum" sz="quarter" idx="12"/>
          </p:nvPr>
        </p:nvSpPr>
        <p:spPr/>
        <p:txBody>
          <a:bodyPr/>
          <a:lstStyle/>
          <a:p>
            <a:fld id="{7AF016A1-9F15-429F-9EFD-84004B73C732}" type="slidenum">
              <a:rPr lang="en-US" altLang="zh-CN" smtClean="0"/>
              <a:pPr/>
              <a:t>73</a:t>
            </a:fld>
            <a:r>
              <a:rPr lang="en-US" altLang="zh-CN"/>
              <a:t>/109</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98" name="Rectangle 8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3319" name="Text Box 7"/>
          <p:cNvSpPr txBox="1">
            <a:spLocks noChangeArrowheads="1"/>
          </p:cNvSpPr>
          <p:nvPr/>
        </p:nvSpPr>
        <p:spPr bwMode="auto">
          <a:xfrm>
            <a:off x="3357554" y="6072206"/>
            <a:ext cx="1571636" cy="2857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FF"/>
                </a:solidFill>
                <a:effectLst/>
                <a:ea typeface="仿宋" pitchFamily="49" charset="-122"/>
                <a:cs typeface="Times New Roman" pitchFamily="18" charset="0"/>
              </a:rPr>
              <a:t>哈夫曼编码</a:t>
            </a:r>
          </a:p>
        </p:txBody>
      </p:sp>
      <p:sp>
        <p:nvSpPr>
          <p:cNvPr id="13314" name="Text Box 2"/>
          <p:cNvSpPr txBox="1">
            <a:spLocks noChangeArrowheads="1"/>
          </p:cNvSpPr>
          <p:nvPr/>
        </p:nvSpPr>
        <p:spPr bwMode="auto">
          <a:xfrm>
            <a:off x="2143108" y="3857628"/>
            <a:ext cx="4214842" cy="2000264"/>
          </a:xfrm>
          <a:prstGeom prst="rect">
            <a:avLst/>
          </a:prstGeom>
          <a:ln>
            <a:solidFill>
              <a:schemeClr val="accent6">
                <a:lumMod val="20000"/>
                <a:lumOff val="80000"/>
              </a:schemeClr>
            </a:solid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vert="horz" wrap="square" lIns="180000" tIns="108000" rIns="72000" bIns="108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ea typeface="仿宋" pitchFamily="49" charset="-122"/>
                <a:cs typeface="Times New Roman" pitchFamily="18" charset="0"/>
              </a:rPr>
              <a:t>a: 10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ea typeface="仿宋" pitchFamily="49" charset="-122"/>
                <a:cs typeface="Times New Roman" pitchFamily="18" charset="0"/>
              </a:rPr>
              <a:t>b: 1111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ea typeface="仿宋" pitchFamily="49" charset="-122"/>
                <a:cs typeface="Times New Roman" pitchFamily="18" charset="0"/>
              </a:rPr>
              <a:t>c: 1110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ea typeface="仿宋" pitchFamily="49" charset="-122"/>
                <a:cs typeface="Times New Roman" pitchFamily="18" charset="0"/>
              </a:rPr>
              <a:t>d: 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ea typeface="仿宋" pitchFamily="49" charset="-122"/>
                <a:cs typeface="Times New Roman" pitchFamily="18" charset="0"/>
              </a:rPr>
              <a:t>e: 110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ea typeface="仿宋" pitchFamily="49" charset="-122"/>
                <a:cs typeface="Times New Roman" pitchFamily="18" charset="0"/>
              </a:rPr>
              <a:t>WPL=(1+2)×4+3×3+4×2+7×1=36</a:t>
            </a:r>
          </a:p>
        </p:txBody>
      </p:sp>
      <p:grpSp>
        <p:nvGrpSpPr>
          <p:cNvPr id="2" name="组合 86"/>
          <p:cNvGrpSpPr/>
          <p:nvPr/>
        </p:nvGrpSpPr>
        <p:grpSpPr>
          <a:xfrm>
            <a:off x="2643174" y="500042"/>
            <a:ext cx="3071834" cy="2845146"/>
            <a:chOff x="5019837" y="2791072"/>
            <a:chExt cx="2766873" cy="2845146"/>
          </a:xfrm>
        </p:grpSpPr>
        <p:sp>
          <p:nvSpPr>
            <p:cNvPr id="88" name="Text Box 84"/>
            <p:cNvSpPr txBox="1">
              <a:spLocks noChangeArrowheads="1"/>
            </p:cNvSpPr>
            <p:nvPr/>
          </p:nvSpPr>
          <p:spPr bwMode="auto">
            <a:xfrm>
              <a:off x="5232962" y="3010646"/>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Times New Roman" pitchFamily="18" charset="0"/>
                </a:rPr>
                <a:t>0 </a:t>
              </a:r>
            </a:p>
          </p:txBody>
        </p:sp>
        <p:sp>
          <p:nvSpPr>
            <p:cNvPr id="89" name="Text Box 83"/>
            <p:cNvSpPr txBox="1">
              <a:spLocks noChangeArrowheads="1"/>
            </p:cNvSpPr>
            <p:nvPr/>
          </p:nvSpPr>
          <p:spPr bwMode="auto">
            <a:xfrm>
              <a:off x="6721082" y="4769313"/>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Times New Roman" pitchFamily="18" charset="0"/>
                </a:rPr>
                <a:t>0 </a:t>
              </a:r>
            </a:p>
          </p:txBody>
        </p:sp>
        <p:sp>
          <p:nvSpPr>
            <p:cNvPr id="90" name="Text Box 82"/>
            <p:cNvSpPr txBox="1">
              <a:spLocks noChangeArrowheads="1"/>
            </p:cNvSpPr>
            <p:nvPr/>
          </p:nvSpPr>
          <p:spPr bwMode="auto">
            <a:xfrm>
              <a:off x="5778314" y="3526439"/>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Times New Roman" pitchFamily="18" charset="0"/>
                </a:rPr>
                <a:t>0 </a:t>
              </a:r>
            </a:p>
          </p:txBody>
        </p:sp>
        <p:sp>
          <p:nvSpPr>
            <p:cNvPr id="91" name="Text Box 81"/>
            <p:cNvSpPr txBox="1">
              <a:spLocks noChangeArrowheads="1"/>
            </p:cNvSpPr>
            <p:nvPr/>
          </p:nvSpPr>
          <p:spPr bwMode="auto">
            <a:xfrm>
              <a:off x="6282293" y="4144769"/>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Times New Roman" pitchFamily="18" charset="0"/>
                </a:rPr>
                <a:t>0 </a:t>
              </a:r>
            </a:p>
          </p:txBody>
        </p:sp>
        <p:sp>
          <p:nvSpPr>
            <p:cNvPr id="92" name="Text Box 80"/>
            <p:cNvSpPr txBox="1">
              <a:spLocks noChangeArrowheads="1"/>
            </p:cNvSpPr>
            <p:nvPr/>
          </p:nvSpPr>
          <p:spPr bwMode="auto">
            <a:xfrm>
              <a:off x="6120568" y="3024111"/>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Times New Roman" pitchFamily="18" charset="0"/>
                </a:rPr>
                <a:t>1 </a:t>
              </a:r>
            </a:p>
          </p:txBody>
        </p:sp>
        <p:sp>
          <p:nvSpPr>
            <p:cNvPr id="93" name="Text Box 79"/>
            <p:cNvSpPr txBox="1">
              <a:spLocks noChangeArrowheads="1"/>
            </p:cNvSpPr>
            <p:nvPr/>
          </p:nvSpPr>
          <p:spPr bwMode="auto">
            <a:xfrm>
              <a:off x="6568132" y="3549225"/>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Times New Roman" pitchFamily="18" charset="0"/>
                </a:rPr>
                <a:t>1 </a:t>
              </a:r>
            </a:p>
          </p:txBody>
        </p:sp>
        <p:sp>
          <p:nvSpPr>
            <p:cNvPr id="94" name="Text Box 78"/>
            <p:cNvSpPr txBox="1">
              <a:spLocks noChangeArrowheads="1"/>
            </p:cNvSpPr>
            <p:nvPr/>
          </p:nvSpPr>
          <p:spPr bwMode="auto">
            <a:xfrm>
              <a:off x="7030741" y="4154090"/>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Times New Roman" pitchFamily="18" charset="0"/>
                </a:rPr>
                <a:t>1 </a:t>
              </a:r>
            </a:p>
          </p:txBody>
        </p:sp>
        <p:sp>
          <p:nvSpPr>
            <p:cNvPr id="95" name="Text Box 77"/>
            <p:cNvSpPr txBox="1">
              <a:spLocks noChangeArrowheads="1"/>
            </p:cNvSpPr>
            <p:nvPr/>
          </p:nvSpPr>
          <p:spPr bwMode="auto">
            <a:xfrm>
              <a:off x="7443202" y="4769313"/>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仿宋" pitchFamily="49" charset="-122"/>
                  <a:cs typeface="Times New Roman" pitchFamily="18" charset="0"/>
                </a:rPr>
                <a:t>1 </a:t>
              </a:r>
            </a:p>
          </p:txBody>
        </p:sp>
        <p:sp>
          <p:nvSpPr>
            <p:cNvPr id="96" name="Text Box 30"/>
            <p:cNvSpPr txBox="1">
              <a:spLocks noChangeArrowheads="1"/>
            </p:cNvSpPr>
            <p:nvPr/>
          </p:nvSpPr>
          <p:spPr bwMode="auto">
            <a:xfrm>
              <a:off x="5691810" y="4216234"/>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a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97" name="Oval 29"/>
            <p:cNvSpPr>
              <a:spLocks noChangeArrowheads="1"/>
            </p:cNvSpPr>
            <p:nvPr/>
          </p:nvSpPr>
          <p:spPr bwMode="auto">
            <a:xfrm>
              <a:off x="5600291" y="3880658"/>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4</a:t>
              </a:r>
            </a:p>
          </p:txBody>
        </p:sp>
        <p:sp>
          <p:nvSpPr>
            <p:cNvPr id="98" name="Text Box 28"/>
            <p:cNvSpPr txBox="1">
              <a:spLocks noChangeArrowheads="1"/>
            </p:cNvSpPr>
            <p:nvPr/>
          </p:nvSpPr>
          <p:spPr bwMode="auto">
            <a:xfrm>
              <a:off x="6780005" y="5402143"/>
              <a:ext cx="285839" cy="23407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c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99" name="Text Box 27"/>
            <p:cNvSpPr txBox="1">
              <a:spLocks noChangeArrowheads="1"/>
            </p:cNvSpPr>
            <p:nvPr/>
          </p:nvSpPr>
          <p:spPr bwMode="auto">
            <a:xfrm>
              <a:off x="7443202" y="5402143"/>
              <a:ext cx="285839" cy="23407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b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00" name="Text Box 26"/>
            <p:cNvSpPr txBox="1">
              <a:spLocks noChangeArrowheads="1"/>
            </p:cNvSpPr>
            <p:nvPr/>
          </p:nvSpPr>
          <p:spPr bwMode="auto">
            <a:xfrm>
              <a:off x="6207072" y="4806599"/>
              <a:ext cx="284586"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e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01" name="Oval 25"/>
            <p:cNvSpPr>
              <a:spLocks noChangeArrowheads="1"/>
            </p:cNvSpPr>
            <p:nvPr/>
          </p:nvSpPr>
          <p:spPr bwMode="auto">
            <a:xfrm>
              <a:off x="7006921" y="4468952"/>
              <a:ext cx="426251" cy="35214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p>
          </p:txBody>
        </p:sp>
        <p:sp>
          <p:nvSpPr>
            <p:cNvPr id="102" name="Oval 24"/>
            <p:cNvSpPr>
              <a:spLocks noChangeArrowheads="1"/>
            </p:cNvSpPr>
            <p:nvPr/>
          </p:nvSpPr>
          <p:spPr bwMode="auto">
            <a:xfrm>
              <a:off x="7360459" y="5062424"/>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2</a:t>
              </a:r>
            </a:p>
          </p:txBody>
        </p:sp>
        <p:sp>
          <p:nvSpPr>
            <p:cNvPr id="103" name="Oval 23"/>
            <p:cNvSpPr>
              <a:spLocks noChangeArrowheads="1"/>
            </p:cNvSpPr>
            <p:nvPr/>
          </p:nvSpPr>
          <p:spPr bwMode="auto">
            <a:xfrm>
              <a:off x="6683471" y="5062424"/>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a:t>
              </a:r>
            </a:p>
          </p:txBody>
        </p:sp>
        <p:sp>
          <p:nvSpPr>
            <p:cNvPr id="104" name="Oval 22"/>
            <p:cNvSpPr>
              <a:spLocks noChangeArrowheads="1"/>
            </p:cNvSpPr>
            <p:nvPr/>
          </p:nvSpPr>
          <p:spPr bwMode="auto">
            <a:xfrm>
              <a:off x="6150657" y="4468952"/>
              <a:ext cx="424998"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3</a:t>
              </a:r>
            </a:p>
          </p:txBody>
        </p:sp>
        <p:sp>
          <p:nvSpPr>
            <p:cNvPr id="105" name="Oval 21"/>
            <p:cNvSpPr>
              <a:spLocks noChangeArrowheads="1"/>
            </p:cNvSpPr>
            <p:nvPr/>
          </p:nvSpPr>
          <p:spPr bwMode="auto">
            <a:xfrm>
              <a:off x="6580669" y="3888944"/>
              <a:ext cx="426251" cy="3542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6</a:t>
              </a:r>
            </a:p>
          </p:txBody>
        </p:sp>
        <p:sp>
          <p:nvSpPr>
            <p:cNvPr id="106" name="AutoShape 20"/>
            <p:cNvSpPr>
              <a:spLocks noChangeShapeType="1"/>
            </p:cNvSpPr>
            <p:nvPr/>
          </p:nvSpPr>
          <p:spPr bwMode="auto">
            <a:xfrm flipH="1">
              <a:off x="6363782" y="4191376"/>
              <a:ext cx="279571" cy="27757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07" name="AutoShape 19"/>
            <p:cNvSpPr>
              <a:spLocks noChangeShapeType="1"/>
            </p:cNvSpPr>
            <p:nvPr/>
          </p:nvSpPr>
          <p:spPr bwMode="auto">
            <a:xfrm>
              <a:off x="6944237" y="4191376"/>
              <a:ext cx="275810" cy="277575"/>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08" name="Oval 18"/>
            <p:cNvSpPr>
              <a:spLocks noChangeArrowheads="1"/>
            </p:cNvSpPr>
            <p:nvPr/>
          </p:nvSpPr>
          <p:spPr bwMode="auto">
            <a:xfrm>
              <a:off x="6077943" y="3331722"/>
              <a:ext cx="426251" cy="3542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10</a:t>
              </a:r>
            </a:p>
          </p:txBody>
        </p:sp>
        <p:sp>
          <p:nvSpPr>
            <p:cNvPr id="109" name="AutoShape 17"/>
            <p:cNvSpPr>
              <a:spLocks noChangeShapeType="1"/>
            </p:cNvSpPr>
            <p:nvPr/>
          </p:nvSpPr>
          <p:spPr bwMode="auto">
            <a:xfrm flipH="1">
              <a:off x="5813417" y="3634155"/>
              <a:ext cx="327211" cy="246503"/>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10" name="AutoShape 16"/>
            <p:cNvSpPr>
              <a:spLocks noChangeShapeType="1"/>
            </p:cNvSpPr>
            <p:nvPr/>
          </p:nvSpPr>
          <p:spPr bwMode="auto">
            <a:xfrm>
              <a:off x="6441511" y="3634155"/>
              <a:ext cx="352284" cy="254789"/>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600">
                <a:solidFill>
                  <a:srgbClr val="FF00FF"/>
                </a:solidFill>
                <a:latin typeface="Consolas" pitchFamily="49" charset="0"/>
                <a:ea typeface="仿宋" pitchFamily="49" charset="-122"/>
                <a:cs typeface="Times New Roman" pitchFamily="18" charset="0"/>
              </a:endParaRPr>
            </a:p>
          </p:txBody>
        </p:sp>
        <p:sp>
          <p:nvSpPr>
            <p:cNvPr id="111" name="Text Box 15"/>
            <p:cNvSpPr txBox="1">
              <a:spLocks noChangeArrowheads="1"/>
            </p:cNvSpPr>
            <p:nvPr/>
          </p:nvSpPr>
          <p:spPr bwMode="auto">
            <a:xfrm>
              <a:off x="5066223" y="3694227"/>
              <a:ext cx="285839" cy="235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0000FF"/>
                  </a:solidFill>
                  <a:effectLst/>
                  <a:latin typeface="Consolas" pitchFamily="49" charset="0"/>
                  <a:ea typeface="仿宋" pitchFamily="49" charset="-122"/>
                  <a:cs typeface="Times New Roman" pitchFamily="18" charset="0"/>
                </a:rPr>
                <a:t>d </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12" name="Oval 14"/>
            <p:cNvSpPr>
              <a:spLocks noChangeArrowheads="1"/>
            </p:cNvSpPr>
            <p:nvPr/>
          </p:nvSpPr>
          <p:spPr bwMode="auto">
            <a:xfrm>
              <a:off x="5019837" y="3336901"/>
              <a:ext cx="426251" cy="352148"/>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7</a:t>
              </a:r>
            </a:p>
          </p:txBody>
        </p:sp>
        <p:sp>
          <p:nvSpPr>
            <p:cNvPr id="113" name="Oval 13"/>
            <p:cNvSpPr>
              <a:spLocks noChangeArrowheads="1"/>
            </p:cNvSpPr>
            <p:nvPr/>
          </p:nvSpPr>
          <p:spPr bwMode="auto">
            <a:xfrm>
              <a:off x="5550144" y="2791072"/>
              <a:ext cx="426251" cy="35421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17</a:t>
              </a:r>
            </a:p>
          </p:txBody>
        </p:sp>
        <p:sp>
          <p:nvSpPr>
            <p:cNvPr id="114" name="AutoShape 12"/>
            <p:cNvSpPr>
              <a:spLocks noChangeShapeType="1"/>
            </p:cNvSpPr>
            <p:nvPr/>
          </p:nvSpPr>
          <p:spPr bwMode="auto">
            <a:xfrm flipH="1">
              <a:off x="5232962" y="3093504"/>
              <a:ext cx="379865" cy="243396"/>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15" name="AutoShape 11"/>
            <p:cNvSpPr>
              <a:spLocks noChangeShapeType="1"/>
            </p:cNvSpPr>
            <p:nvPr/>
          </p:nvSpPr>
          <p:spPr bwMode="auto">
            <a:xfrm>
              <a:off x="5913711" y="3093504"/>
              <a:ext cx="377358" cy="238217"/>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17" name="AutoShape 4"/>
            <p:cNvSpPr>
              <a:spLocks noChangeShapeType="1"/>
            </p:cNvSpPr>
            <p:nvPr/>
          </p:nvSpPr>
          <p:spPr bwMode="auto">
            <a:xfrm flipH="1">
              <a:off x="6896597" y="4769313"/>
              <a:ext cx="173008" cy="29311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sp>
          <p:nvSpPr>
            <p:cNvPr id="118" name="AutoShape 3"/>
            <p:cNvSpPr>
              <a:spLocks noChangeShapeType="1"/>
            </p:cNvSpPr>
            <p:nvPr/>
          </p:nvSpPr>
          <p:spPr bwMode="auto">
            <a:xfrm>
              <a:off x="7370488" y="4769313"/>
              <a:ext cx="203096" cy="293111"/>
            </a:xfrm>
            <a:prstGeom prst="straightConnector1">
              <a:avLst/>
            </a:pr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Times New Roman" pitchFamily="18" charset="0"/>
              </a:endParaRPr>
            </a:p>
          </p:txBody>
        </p:sp>
      </p:grpSp>
      <p:sp>
        <p:nvSpPr>
          <p:cNvPr id="119" name="下箭头 118"/>
          <p:cNvSpPr/>
          <p:nvPr/>
        </p:nvSpPr>
        <p:spPr>
          <a:xfrm>
            <a:off x="3929058" y="3286124"/>
            <a:ext cx="237935"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itchFamily="49" charset="0"/>
            </a:endParaRPr>
          </a:p>
        </p:txBody>
      </p:sp>
      <p:sp>
        <p:nvSpPr>
          <p:cNvPr id="39" name="灯片编号占位符 38"/>
          <p:cNvSpPr>
            <a:spLocks noGrp="1"/>
          </p:cNvSpPr>
          <p:nvPr>
            <p:ph type="sldNum" sz="quarter" idx="12"/>
          </p:nvPr>
        </p:nvSpPr>
        <p:spPr/>
        <p:txBody>
          <a:bodyPr/>
          <a:lstStyle/>
          <a:p>
            <a:fld id="{7AF016A1-9F15-429F-9EFD-84004B73C732}" type="slidenum">
              <a:rPr lang="en-US" altLang="zh-CN" smtClean="0"/>
              <a:pPr/>
              <a:t>74</a:t>
            </a:fld>
            <a:r>
              <a:rPr lang="en-US" altLang="zh-CN"/>
              <a:t>/109</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765569"/>
            <a:ext cx="8572560" cy="537807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a:solidFill>
                  <a:srgbClr val="FF0000"/>
                </a:solidFill>
                <a:latin typeface="Consolas" pitchFamily="49" charset="0"/>
                <a:ea typeface="楷体" pitchFamily="49" charset="-122"/>
              </a:rPr>
              <a:t>        </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8.6</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最后一块石头的重量（</a:t>
            </a:r>
            <a:r>
              <a:rPr lang="en-US" altLang="zh-CN">
                <a:solidFill>
                  <a:srgbClr val="0000FF"/>
                </a:solidFill>
                <a:latin typeface="Consolas" pitchFamily="49" charset="0"/>
                <a:ea typeface="仿宋" pitchFamily="49" charset="-122"/>
              </a:rPr>
              <a:t>LeetCode1046</a:t>
            </a:r>
            <a:r>
              <a:rPr lang="zh-CN"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cs typeface="Consolas" pitchFamily="49" charset="0"/>
              </a:rPr>
              <a:t>有</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mn-ea"/>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mn-ea"/>
                <a:cs typeface="Consolas" pitchFamily="49" charset="0"/>
              </a:rPr>
              <a:t>≤</a:t>
            </a:r>
            <a:r>
              <a:rPr lang="en-US" altLang="zh-CN">
                <a:solidFill>
                  <a:srgbClr val="0000FF"/>
                </a:solidFill>
                <a:latin typeface="Consolas" pitchFamily="49" charset="0"/>
                <a:ea typeface="仿宋" pitchFamily="49" charset="-122"/>
                <a:cs typeface="Consolas" pitchFamily="49" charset="0"/>
              </a:rPr>
              <a:t>30</a:t>
            </a:r>
            <a:r>
              <a:rPr lang="zh-CN" altLang="zh-CN">
                <a:solidFill>
                  <a:srgbClr val="0000FF"/>
                </a:solidFill>
                <a:latin typeface="Consolas" pitchFamily="49" charset="0"/>
                <a:ea typeface="仿宋" pitchFamily="49" charset="-122"/>
                <a:cs typeface="Consolas" pitchFamily="49" charset="0"/>
              </a:rPr>
              <a:t>）块石头，每块石头的重量都是正整数（重量为</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1000</a:t>
            </a:r>
            <a:r>
              <a:rPr lang="zh-CN" altLang="zh-CN">
                <a:solidFill>
                  <a:srgbClr val="0000FF"/>
                </a:solidFill>
                <a:latin typeface="Consolas" pitchFamily="49" charset="0"/>
                <a:ea typeface="仿宋" pitchFamily="49" charset="-122"/>
                <a:cs typeface="Consolas" pitchFamily="49" charset="0"/>
              </a:rPr>
              <a:t>）。每一回合从中选出两块最重的石头，然后将它们一起粉碎。假设石头的重量分别为</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和</a:t>
            </a:r>
            <a:r>
              <a:rPr lang="en-US" altLang="zh-CN" i="1">
                <a:solidFill>
                  <a:srgbClr val="0000FF"/>
                </a:solidFill>
                <a:latin typeface="Consolas" pitchFamily="49" charset="0"/>
                <a:ea typeface="仿宋" pitchFamily="49" charset="-122"/>
                <a:cs typeface="Consolas" pitchFamily="49" charset="0"/>
              </a:rPr>
              <a:t>y</a:t>
            </a:r>
            <a:r>
              <a:rPr lang="zh-CN" altLang="zh-CN">
                <a:solidFill>
                  <a:srgbClr val="0000FF"/>
                </a:solidFill>
                <a:latin typeface="Consolas" pitchFamily="49" charset="0"/>
                <a:ea typeface="仿宋" pitchFamily="49" charset="-122"/>
                <a:cs typeface="Consolas" pitchFamily="49" charset="0"/>
              </a:rPr>
              <a:t>，且</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mn-ea"/>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zh-CN" altLang="zh-CN">
                <a:solidFill>
                  <a:srgbClr val="0000FF"/>
                </a:solidFill>
                <a:latin typeface="Consolas" pitchFamily="49" charset="0"/>
                <a:ea typeface="仿宋" pitchFamily="49" charset="-122"/>
                <a:cs typeface="Consolas" pitchFamily="49" charset="0"/>
              </a:rPr>
              <a:t>。那么粉碎的可能结果如下：</a:t>
            </a:r>
          </a:p>
          <a:p>
            <a:pPr marL="914400" lvl="1" indent="-457200" algn="l">
              <a:lnSpc>
                <a:spcPts val="3200"/>
              </a:lnSpc>
              <a:spcBef>
                <a:spcPts val="6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如果</a:t>
            </a:r>
            <a:r>
              <a:rPr lang="en-US" altLang="zh-CN">
                <a:solidFill>
                  <a:srgbClr val="0000FF"/>
                </a:solidFill>
                <a:latin typeface="Consolas" pitchFamily="49" charset="0"/>
                <a:ea typeface="仿宋" pitchFamily="49" charset="-122"/>
                <a:cs typeface="Consolas" pitchFamily="49" charset="0"/>
              </a:rPr>
              <a:t> </a:t>
            </a:r>
            <a:r>
              <a:rPr lang="en-US" altLang="zh-CN" i="1">
                <a:solidFill>
                  <a:srgbClr val="0000FF"/>
                </a:solidFill>
                <a:latin typeface="Consolas" pitchFamily="49" charset="0"/>
                <a:ea typeface="仿宋" pitchFamily="49" charset="-122"/>
                <a:cs typeface="Consolas" pitchFamily="49" charset="0"/>
              </a:rPr>
              <a:t>x</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zh-CN" altLang="zh-CN">
                <a:solidFill>
                  <a:srgbClr val="0000FF"/>
                </a:solidFill>
                <a:latin typeface="Consolas" pitchFamily="49" charset="0"/>
                <a:ea typeface="仿宋" pitchFamily="49" charset="-122"/>
                <a:cs typeface="Consolas" pitchFamily="49" charset="0"/>
              </a:rPr>
              <a:t>，那么两块石头都会被完全粉碎。</a:t>
            </a:r>
          </a:p>
          <a:p>
            <a:pPr marL="914400" lvl="1" indent="-457200" algn="l">
              <a:lnSpc>
                <a:spcPts val="3200"/>
              </a:lnSpc>
              <a:spcBef>
                <a:spcPts val="600"/>
              </a:spcBef>
              <a:buFont typeface="+mj-ea"/>
              <a:buAutoNum type="circleNumDbPlain"/>
            </a:pPr>
            <a:r>
              <a:rPr lang="zh-CN" altLang="zh-CN">
                <a:solidFill>
                  <a:srgbClr val="0000FF"/>
                </a:solidFill>
                <a:latin typeface="Consolas" pitchFamily="49" charset="0"/>
                <a:ea typeface="仿宋" pitchFamily="49" charset="-122"/>
                <a:cs typeface="Consolas" pitchFamily="49" charset="0"/>
              </a:rPr>
              <a:t>如果</a:t>
            </a:r>
            <a:r>
              <a:rPr lang="en-US" altLang="zh-CN">
                <a:solidFill>
                  <a:srgbClr val="0000FF"/>
                </a:solidFill>
                <a:latin typeface="Consolas" pitchFamily="49" charset="0"/>
                <a:ea typeface="仿宋" pitchFamily="49" charset="-122"/>
                <a:cs typeface="Consolas" pitchFamily="49" charset="0"/>
              </a:rPr>
              <a:t> </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mn-ea"/>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zh-CN" altLang="zh-CN">
                <a:solidFill>
                  <a:srgbClr val="0000FF"/>
                </a:solidFill>
                <a:latin typeface="Consolas" pitchFamily="49" charset="0"/>
                <a:ea typeface="仿宋" pitchFamily="49" charset="-122"/>
                <a:cs typeface="Consolas" pitchFamily="49" charset="0"/>
              </a:rPr>
              <a:t>，那么重量为</a:t>
            </a:r>
            <a:r>
              <a:rPr lang="en-US" altLang="zh-CN">
                <a:solidFill>
                  <a:srgbClr val="0000FF"/>
                </a:solidFill>
                <a:latin typeface="Consolas" pitchFamily="49" charset="0"/>
                <a:ea typeface="仿宋" pitchFamily="49" charset="-122"/>
                <a:cs typeface="Consolas" pitchFamily="49" charset="0"/>
              </a:rPr>
              <a:t> </a:t>
            </a:r>
            <a:r>
              <a:rPr lang="en-US" altLang="zh-CN" i="1">
                <a:solidFill>
                  <a:srgbClr val="0000FF"/>
                </a:solidFill>
                <a:latin typeface="Consolas" pitchFamily="49" charset="0"/>
                <a:ea typeface="仿宋" pitchFamily="49" charset="-122"/>
                <a:cs typeface="Consolas" pitchFamily="49" charset="0"/>
              </a:rPr>
              <a:t>x</a:t>
            </a: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的石头将会完全粉碎，而重量为</a:t>
            </a:r>
            <a:r>
              <a:rPr lang="en-US" altLang="zh-CN">
                <a:solidFill>
                  <a:srgbClr val="0000FF"/>
                </a:solidFill>
                <a:latin typeface="Consolas" pitchFamily="49" charset="0"/>
                <a:ea typeface="仿宋" pitchFamily="49" charset="-122"/>
                <a:cs typeface="Consolas" pitchFamily="49" charset="0"/>
              </a:rPr>
              <a:t> </a:t>
            </a:r>
            <a:r>
              <a:rPr lang="en-US" altLang="zh-CN" i="1">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的石头新重量为</a:t>
            </a:r>
            <a:r>
              <a:rPr lang="en-US" altLang="zh-CN" i="1">
                <a:solidFill>
                  <a:srgbClr val="0000FF"/>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a:t>
            </a:r>
          </a:p>
          <a:p>
            <a:pPr algn="l">
              <a:lnSpc>
                <a:spcPts val="3200"/>
              </a:lnSpc>
              <a:spcBef>
                <a:spcPts val="600"/>
              </a:spcBef>
            </a:pPr>
            <a:r>
              <a:rPr lang="zh-CN" altLang="zh-CN">
                <a:solidFill>
                  <a:srgbClr val="0000FF"/>
                </a:solidFill>
                <a:latin typeface="Consolas" pitchFamily="49" charset="0"/>
                <a:ea typeface="仿宋" pitchFamily="49" charset="-122"/>
                <a:cs typeface="Consolas" pitchFamily="49" charset="0"/>
              </a:rPr>
              <a:t>最后最多只会剩下一块石头，求此石头的重量，如果没有石头剩下结果为</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algn="l">
              <a:lnSpc>
                <a:spcPts val="3200"/>
              </a:lnSpc>
              <a:spcBef>
                <a:spcPts val="60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要求设计如下</a:t>
            </a:r>
            <a:r>
              <a:rPr lang="zh-CN" altLang="en-US">
                <a:solidFill>
                  <a:srgbClr val="0000FF"/>
                </a:solidFill>
                <a:latin typeface="Consolas" pitchFamily="49" charset="0"/>
                <a:ea typeface="仿宋" pitchFamily="49" charset="-122"/>
                <a:cs typeface="Consolas" pitchFamily="49" charset="0"/>
              </a:rPr>
              <a:t>方法</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lvl="1" algn="l">
              <a:lnSpc>
                <a:spcPts val="3200"/>
              </a:lnSpc>
              <a:spcBef>
                <a:spcPts val="600"/>
              </a:spcBef>
            </a:pPr>
            <a:r>
              <a:rPr lang="en-US" altLang="zh-CN" sz="2000">
                <a:solidFill>
                  <a:srgbClr val="006600"/>
                </a:solidFill>
                <a:latin typeface="Consolas" pitchFamily="49" charset="0"/>
              </a:rPr>
              <a:t>int lastStoneWeight(vector&lt;int&gt;&amp; stones) {}</a:t>
            </a:r>
            <a:endParaRPr lang="zh-CN" altLang="zh-CN" sz="2000">
              <a:solidFill>
                <a:srgbClr val="006600"/>
              </a:solidFill>
              <a:latin typeface="Consolas" pitchFamily="49" charset="0"/>
              <a:ea typeface="仿宋" pitchFamily="49" charset="-122"/>
              <a:cs typeface="Consolas" pitchFamily="49" charset="0"/>
            </a:endParaRPr>
          </a:p>
        </p:txBody>
      </p:sp>
      <p:grpSp>
        <p:nvGrpSpPr>
          <p:cNvPr id="6" name="组合 5"/>
          <p:cNvGrpSpPr/>
          <p:nvPr/>
        </p:nvGrpSpPr>
        <p:grpSpPr>
          <a:xfrm>
            <a:off x="500034" y="214290"/>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9" name="灯片编号占位符 8"/>
          <p:cNvSpPr>
            <a:spLocks noGrp="1"/>
          </p:cNvSpPr>
          <p:nvPr>
            <p:ph type="sldNum" sz="quarter" idx="12"/>
          </p:nvPr>
        </p:nvSpPr>
        <p:spPr/>
        <p:txBody>
          <a:bodyPr/>
          <a:lstStyle/>
          <a:p>
            <a:fld id="{7AF016A1-9F15-429F-9EFD-84004B73C732}" type="slidenum">
              <a:rPr lang="en-US" altLang="zh-CN" smtClean="0"/>
              <a:pPr/>
              <a:t>75</a:t>
            </a:fld>
            <a:r>
              <a:rPr lang="en-US" altLang="zh-CN"/>
              <a:t>/109</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14414" y="714356"/>
            <a:ext cx="7286676" cy="226921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选石头的过程与构造哈夫曼树的过程类似，只是这里选的是两块最重的石头</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用优先队列（大根堆）求解，每次出队两块最重的石头</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和</a:t>
            </a:r>
            <a:r>
              <a:rPr lang="en-US" altLang="zh-CN" i="1">
                <a:solidFill>
                  <a:srgbClr val="0000FF"/>
                </a:solidFill>
                <a:latin typeface="Consolas" pitchFamily="49" charset="0"/>
                <a:ea typeface="仿宋" pitchFamily="49" charset="-122"/>
                <a:cs typeface="Consolas" pitchFamily="49" charset="0"/>
              </a:rPr>
              <a:t>y</a:t>
            </a:r>
            <a:r>
              <a:rPr lang="zh-CN" altLang="zh-CN">
                <a:solidFill>
                  <a:srgbClr val="0000FF"/>
                </a:solidFill>
                <a:latin typeface="Consolas" pitchFamily="49" charset="0"/>
                <a:ea typeface="仿宋" pitchFamily="49" charset="-122"/>
                <a:cs typeface="Consolas" pitchFamily="49" charset="0"/>
              </a:rPr>
              <a:t>，然后将</a:t>
            </a:r>
            <a:r>
              <a:rPr lang="en-US" altLang="zh-CN" i="1">
                <a:solidFill>
                  <a:srgbClr val="0000FF"/>
                </a:solidFill>
                <a:latin typeface="Consolas" pitchFamily="49" charset="0"/>
                <a:ea typeface="仿宋" pitchFamily="49" charset="-122"/>
                <a:cs typeface="Consolas" pitchFamily="49" charset="0"/>
              </a:rPr>
              <a:t>x</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zh-CN" altLang="zh-CN">
                <a:solidFill>
                  <a:srgbClr val="0000FF"/>
                </a:solidFill>
                <a:latin typeface="Consolas" pitchFamily="49" charset="0"/>
                <a:ea typeface="仿宋" pitchFamily="49" charset="-122"/>
                <a:cs typeface="Consolas" pitchFamily="49" charset="0"/>
              </a:rPr>
              <a:t>进队，直到仅有一块石头为止。</a:t>
            </a:r>
            <a:endParaRPr lang="en-US" altLang="zh-CN">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285720" y="1000108"/>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76</a:t>
            </a:fld>
            <a:r>
              <a:rPr lang="en-US" altLang="zh-CN"/>
              <a:t>/109</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142852"/>
            <a:ext cx="8643998" cy="623681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5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lastStoneWeight</a:t>
            </a:r>
            <a:r>
              <a:rPr lang="en-US" altLang="zh-CN" sz="2000">
                <a:solidFill>
                  <a:srgbClr val="0000FF"/>
                </a:solidFill>
                <a:latin typeface="Consolas" pitchFamily="49" charset="0"/>
                <a:ea typeface="仿宋" pitchFamily="49" charset="-122"/>
              </a:rPr>
              <a:t>(vector&lt;int&gt;&amp; stones)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int n=stones.size();</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if(n==1) return stones[0];</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priority_queue&lt;int&gt; </a:t>
            </a:r>
            <a:r>
              <a:rPr lang="en-US" altLang="zh-CN" sz="2000">
                <a:solidFill>
                  <a:srgbClr val="006600"/>
                </a:solidFill>
                <a:latin typeface="Consolas" pitchFamily="49" charset="0"/>
                <a:ea typeface="仿宋" pitchFamily="49" charset="-122"/>
              </a:rPr>
              <a:t>maxpq</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定义大根堆</a:t>
            </a:r>
            <a:r>
              <a:rPr lang="en-US" altLang="zh-CN" sz="2000">
                <a:solidFill>
                  <a:srgbClr val="00B0F0"/>
                </a:solidFill>
                <a:latin typeface="Consolas" pitchFamily="49" charset="0"/>
                <a:ea typeface="仿宋" pitchFamily="49" charset="-122"/>
              </a:rPr>
              <a:t>maxpq</a:t>
            </a:r>
            <a:endParaRPr lang="zh-CN" altLang="zh-CN" sz="2000">
              <a:solidFill>
                <a:srgbClr val="00B0F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for(int i=0;i&lt;n;i++)</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maxpq.push(stones[i]);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所有石头进队</a:t>
            </a:r>
          </a:p>
          <a:p>
            <a:pPr algn="l" defTabSz="360000">
              <a:lnSpc>
                <a:spcPts val="2500"/>
              </a:lnSpc>
              <a:spcBef>
                <a:spcPts val="0"/>
              </a:spcBef>
            </a:pPr>
            <a:r>
              <a:rPr lang="en-US" altLang="zh-CN" sz="2000">
                <a:solidFill>
                  <a:srgbClr val="0000FF"/>
                </a:solidFill>
                <a:latin typeface="Consolas" pitchFamily="49" charset="0"/>
                <a:ea typeface="仿宋" pitchFamily="49" charset="-122"/>
              </a:rPr>
              <a:t>    	int x=0,y=0;</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while(</a:t>
            </a:r>
            <a:r>
              <a:rPr lang="en-US" altLang="zh-CN" sz="2000">
                <a:solidFill>
                  <a:srgbClr val="FF00FF"/>
                </a:solidFill>
                <a:latin typeface="Consolas" pitchFamily="49" charset="0"/>
                <a:ea typeface="仿宋" pitchFamily="49" charset="-122"/>
              </a:rPr>
              <a:t>!maxpq.empty()</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x=maxpq.top(); maxpq.pop();</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if(maxpq.empty())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若</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是最后的石头</a:t>
            </a:r>
          </a:p>
          <a:p>
            <a:pPr algn="l" defTabSz="360000">
              <a:lnSpc>
                <a:spcPts val="2500"/>
              </a:lnSpc>
              <a:spcBef>
                <a:spcPts val="0"/>
              </a:spcBef>
            </a:pPr>
            <a:r>
              <a:rPr lang="en-US" altLang="zh-CN" sz="2000">
                <a:solidFill>
                  <a:srgbClr val="0000FF"/>
                </a:solidFill>
                <a:latin typeface="Consolas" pitchFamily="49" charset="0"/>
                <a:ea typeface="仿宋" pitchFamily="49" charset="-122"/>
              </a:rPr>
              <a:t>         	return x;</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y=maxpq.top(); maxpq.pop();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若</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不是最后石头</a:t>
            </a:r>
          </a:p>
          <a:p>
            <a:pPr algn="l" defTabSz="360000">
              <a:lnSpc>
                <a:spcPts val="2500"/>
              </a:lnSpc>
              <a:spcBef>
                <a:spcPts val="0"/>
              </a:spcBef>
            </a:pPr>
            <a:r>
              <a:rPr lang="en-US" altLang="zh-CN" sz="2000">
                <a:solidFill>
                  <a:srgbClr val="0000FF"/>
                </a:solidFill>
                <a:latin typeface="Consolas" pitchFamily="49" charset="0"/>
                <a:ea typeface="仿宋" pitchFamily="49" charset="-122"/>
              </a:rPr>
              <a:t>      	maxpq.push(x-y);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新重量为</a:t>
            </a:r>
            <a:r>
              <a:rPr lang="en-US" altLang="zh-CN" sz="2000">
                <a:solidFill>
                  <a:srgbClr val="00B0F0"/>
                </a:solidFill>
                <a:latin typeface="Consolas" pitchFamily="49" charset="0"/>
                <a:ea typeface="仿宋" pitchFamily="49" charset="-122"/>
              </a:rPr>
              <a:t> x-y(x</a:t>
            </a:r>
            <a:r>
              <a:rPr lang="en-US" altLang="zh-CN" sz="2000">
                <a:solidFill>
                  <a:srgbClr val="00B0F0"/>
                </a:solidFill>
                <a:latin typeface="+mn-ea"/>
              </a:rPr>
              <a:t>≥</a:t>
            </a:r>
            <a:r>
              <a:rPr lang="en-US" altLang="zh-CN" sz="2000">
                <a:solidFill>
                  <a:srgbClr val="00B0F0"/>
                </a:solidFill>
                <a:latin typeface="Consolas" pitchFamily="49" charset="0"/>
                <a:ea typeface="仿宋" pitchFamily="49" charset="-122"/>
              </a:rPr>
              <a:t>y)</a:t>
            </a:r>
            <a:endParaRPr lang="zh-CN" altLang="zh-CN" sz="2000">
              <a:solidFill>
                <a:srgbClr val="00B0F0"/>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return x;</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5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4" name="组合 9"/>
          <p:cNvGrpSpPr/>
          <p:nvPr/>
        </p:nvGrpSpPr>
        <p:grpSpPr>
          <a:xfrm>
            <a:off x="785786" y="6324921"/>
            <a:ext cx="7000924" cy="461665"/>
            <a:chOff x="1071538" y="6286520"/>
            <a:chExt cx="7000924" cy="461665"/>
          </a:xfrm>
        </p:grpSpPr>
        <p:sp>
          <p:nvSpPr>
            <p:cNvPr id="6" name="TextBox 5"/>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4ms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7.4MB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77</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7" end="1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hlinkClick r:id="" action="ppaction://noaction"/>
          </p:cNvPr>
          <p:cNvSpPr txBox="1"/>
          <p:nvPr/>
        </p:nvSpPr>
        <p:spPr>
          <a:xfrm>
            <a:off x="2714612" y="285728"/>
            <a:ext cx="3286148"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8.7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拟阵</a:t>
            </a: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428596" y="1285860"/>
            <a:ext cx="328614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Consolas" pitchFamily="49" charset="0"/>
                <a:ea typeface="微软雅黑" pitchFamily="34" charset="-122"/>
              </a:rPr>
              <a:t>8.7.1 </a:t>
            </a:r>
            <a:r>
              <a:rPr lang="zh-CN" altLang="zh-CN" sz="2800">
                <a:latin typeface="Consolas" pitchFamily="49" charset="0"/>
                <a:ea typeface="微软雅黑" pitchFamily="34" charset="-122"/>
              </a:rPr>
              <a:t>拟阵概述</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571472" y="2143116"/>
            <a:ext cx="8215370" cy="411907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2880"/>
              </a:lnSpc>
              <a:spcBef>
                <a:spcPts val="600"/>
              </a:spcBef>
            </a:pPr>
            <a:r>
              <a:rPr lang="zh-CN" altLang="zh-CN">
                <a:solidFill>
                  <a:srgbClr val="FF0000"/>
                </a:solidFill>
                <a:latin typeface="楷体" pitchFamily="49" charset="-122"/>
                <a:ea typeface="楷体" pitchFamily="49" charset="-122"/>
              </a:rPr>
              <a:t>拟阵</a:t>
            </a:r>
            <a:r>
              <a:rPr lang="en-US" altLang="zh-CN">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是一个满足如下条件的有序对</a:t>
            </a:r>
            <a:r>
              <a:rPr lang="en-US" altLang="zh-CN">
                <a:solidFill>
                  <a:srgbClr val="0000FF"/>
                </a:solidFill>
                <a:latin typeface="Consolas" pitchFamily="49" charset="0"/>
                <a:ea typeface="仿宋" pitchFamily="49" charset="-122"/>
              </a:rPr>
              <a:t>M=(S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p>
          <a:p>
            <a:pPr algn="l" defTabSz="360000">
              <a:lnSpc>
                <a:spcPts val="288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是一个有限集合。</a:t>
            </a:r>
          </a:p>
          <a:p>
            <a:pPr algn="l" defTabSz="360000">
              <a:lnSpc>
                <a:spcPts val="288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的一个具有遗传性质的</a:t>
            </a:r>
            <a:r>
              <a:rPr lang="zh-CN" altLang="zh-CN">
                <a:solidFill>
                  <a:srgbClr val="FF00FF"/>
                </a:solidFill>
                <a:latin typeface="Consolas" pitchFamily="49" charset="0"/>
                <a:ea typeface="仿宋" pitchFamily="49" charset="-122"/>
              </a:rPr>
              <a:t>非空子集族</a:t>
            </a:r>
            <a:r>
              <a:rPr lang="zh-CN" altLang="zh-CN">
                <a:solidFill>
                  <a:srgbClr val="0000FF"/>
                </a:solidFill>
                <a:latin typeface="Consolas" pitchFamily="49" charset="0"/>
                <a:ea typeface="仿宋" pitchFamily="49" charset="-122"/>
              </a:rPr>
              <a:t>（集合的集合）。</a:t>
            </a:r>
            <a:r>
              <a:rPr lang="zh-CN" altLang="zh-CN">
                <a:solidFill>
                  <a:srgbClr val="FF0000"/>
                </a:solidFill>
                <a:latin typeface="Consolas" pitchFamily="49" charset="0"/>
                <a:ea typeface="仿宋" pitchFamily="49" charset="-122"/>
              </a:rPr>
              <a:t>遗传性质</a:t>
            </a:r>
            <a:r>
              <a:rPr lang="zh-CN" altLang="zh-CN">
                <a:solidFill>
                  <a:srgbClr val="0000FF"/>
                </a:solidFill>
                <a:latin typeface="Consolas" pitchFamily="49" charset="0"/>
                <a:ea typeface="仿宋" pitchFamily="49" charset="-122"/>
              </a:rPr>
              <a:t>是指如果</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且</a:t>
            </a:r>
            <a:r>
              <a:rPr lang="en-US" altLang="zh-CN">
                <a:solidFill>
                  <a:srgbClr val="0000FF"/>
                </a:solidFill>
                <a:latin typeface="Consolas" pitchFamily="49" charset="0"/>
                <a:ea typeface="仿宋" pitchFamily="49" charset="-122"/>
              </a:rPr>
              <a:t>A⊆B</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，即若</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的独立子集，且</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是任意子集也是</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的独立子集。空集必是</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的成员。</a:t>
            </a:r>
          </a:p>
          <a:p>
            <a:pPr algn="l" defTabSz="360000">
              <a:lnSpc>
                <a:spcPts val="288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具有</a:t>
            </a:r>
            <a:r>
              <a:rPr lang="zh-CN" altLang="zh-CN">
                <a:solidFill>
                  <a:srgbClr val="FF0000"/>
                </a:solidFill>
                <a:latin typeface="Consolas" pitchFamily="49" charset="0"/>
                <a:ea typeface="仿宋" pitchFamily="49" charset="-122"/>
              </a:rPr>
              <a:t>交换性质</a:t>
            </a:r>
            <a:r>
              <a:rPr lang="zh-CN" altLang="zh-CN">
                <a:solidFill>
                  <a:srgbClr val="0000FF"/>
                </a:solidFill>
                <a:latin typeface="Consolas" pitchFamily="49" charset="0"/>
                <a:ea typeface="仿宋" pitchFamily="49" charset="-122"/>
              </a:rPr>
              <a:t>。交换性质是指如果</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且</a:t>
            </a:r>
            <a:r>
              <a:rPr lang="en-US" altLang="zh-CN">
                <a:solidFill>
                  <a:srgbClr val="0000FF"/>
                </a:solidFill>
                <a:latin typeface="Consolas" pitchFamily="49" charset="0"/>
                <a:ea typeface="仿宋" pitchFamily="49" charset="-122"/>
              </a:rPr>
              <a:t>|A|&lt;|B|</a:t>
            </a:r>
            <a:r>
              <a:rPr lang="zh-CN" altLang="zh-CN">
                <a:solidFill>
                  <a:srgbClr val="0000FF"/>
                </a:solidFill>
                <a:latin typeface="Consolas" pitchFamily="49" charset="0"/>
                <a:ea typeface="仿宋" pitchFamily="49" charset="-122"/>
              </a:rPr>
              <a:t>，则存在某个元素</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B-A</a:t>
            </a:r>
            <a:r>
              <a:rPr lang="zh-CN" altLang="zh-CN">
                <a:solidFill>
                  <a:srgbClr val="0000FF"/>
                </a:solidFill>
                <a:latin typeface="Consolas" pitchFamily="49" charset="0"/>
                <a:ea typeface="仿宋" pitchFamily="49" charset="-122"/>
              </a:rPr>
              <a:t>，使得</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p>
          <a:p>
            <a:pPr algn="l" defTabSz="360000">
              <a:lnSpc>
                <a:spcPts val="288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）提示了已知集合</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找到其子集的办法，（</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）提示了已知集合</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构造集合</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的办法。</a:t>
            </a: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78</a:t>
            </a:fld>
            <a:r>
              <a:rPr lang="en-US" altLang="zh-CN"/>
              <a:t>/109</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85794"/>
            <a:ext cx="8501122" cy="2349361"/>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6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8.7</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对于非空无向图</a:t>
            </a:r>
            <a:r>
              <a:rPr lang="en-US" altLang="zh-CN">
                <a:solidFill>
                  <a:srgbClr val="0000FF"/>
                </a:solidFill>
                <a:latin typeface="Consolas" pitchFamily="49" charset="0"/>
                <a:ea typeface="仿宋" pitchFamily="49" charset="-122"/>
              </a:rPr>
              <a:t>G=(V</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，定义</a:t>
            </a:r>
            <a:r>
              <a:rPr lang="en-US" altLang="zh-CN">
                <a:solidFill>
                  <a:srgbClr val="0000FF"/>
                </a:solidFill>
                <a:latin typeface="Consolas" pitchFamily="49" charset="0"/>
                <a:ea typeface="仿宋" pitchFamily="49" charset="-122"/>
              </a:rPr>
              <a:t>M[G]=(S[G]</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I[G])</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S[G]</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即</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的边集，如果</a:t>
            </a:r>
            <a:r>
              <a:rPr lang="en-US" altLang="zh-CN">
                <a:solidFill>
                  <a:srgbClr val="0000FF"/>
                </a:solidFill>
                <a:latin typeface="Consolas" pitchFamily="49" charset="0"/>
                <a:ea typeface="仿宋" pitchFamily="49" charset="-122"/>
              </a:rPr>
              <a:t>A⊆E</a:t>
            </a:r>
            <a:r>
              <a:rPr lang="zh-CN" altLang="zh-CN">
                <a:solidFill>
                  <a:srgbClr val="0000FF"/>
                </a:solidFill>
                <a:latin typeface="Consolas" pitchFamily="49" charset="0"/>
                <a:ea typeface="仿宋" pitchFamily="49" charset="-122"/>
              </a:rPr>
              <a:t>且</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是无环的，则</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I[G]</a:t>
            </a:r>
            <a:r>
              <a:rPr lang="zh-CN" altLang="zh-CN">
                <a:solidFill>
                  <a:srgbClr val="0000FF"/>
                </a:solidFill>
                <a:latin typeface="Consolas" pitchFamily="49" charset="0"/>
                <a:ea typeface="仿宋" pitchFamily="49" charset="-122"/>
              </a:rPr>
              <a:t>，也就是说一组边</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是独立的当并仅当子图</a:t>
            </a:r>
            <a:r>
              <a:rPr lang="en-US" altLang="zh-CN">
                <a:solidFill>
                  <a:srgbClr val="0000FF"/>
                </a:solidFill>
                <a:latin typeface="Consolas" pitchFamily="49" charset="0"/>
                <a:ea typeface="仿宋" pitchFamily="49" charset="-122"/>
              </a:rPr>
              <a:t>G[A]=(V</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构成一个森林。</a:t>
            </a:r>
            <a:endParaRPr lang="en-US" altLang="zh-CN">
              <a:solidFill>
                <a:srgbClr val="0000FF"/>
              </a:solidFill>
              <a:latin typeface="Consolas" pitchFamily="49" charset="0"/>
              <a:ea typeface="仿宋" pitchFamily="49" charset="-122"/>
            </a:endParaRPr>
          </a:p>
          <a:p>
            <a:pPr algn="l">
              <a:lnSpc>
                <a:spcPts val="34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证明</a:t>
            </a:r>
            <a:r>
              <a:rPr lang="en-US" altLang="zh-CN">
                <a:solidFill>
                  <a:srgbClr val="0000FF"/>
                </a:solidFill>
                <a:latin typeface="Consolas" pitchFamily="49" charset="0"/>
                <a:ea typeface="仿宋" pitchFamily="49" charset="-122"/>
              </a:rPr>
              <a:t>M[G]</a:t>
            </a:r>
            <a:r>
              <a:rPr lang="zh-CN" altLang="zh-CN">
                <a:solidFill>
                  <a:srgbClr val="0000FF"/>
                </a:solidFill>
                <a:latin typeface="Consolas" pitchFamily="49" charset="0"/>
                <a:ea typeface="仿宋" pitchFamily="49" charset="-122"/>
              </a:rPr>
              <a:t>是一个</a:t>
            </a:r>
            <a:r>
              <a:rPr lang="zh-CN" altLang="zh-CN">
                <a:solidFill>
                  <a:srgbClr val="FF0000"/>
                </a:solidFill>
                <a:latin typeface="楷体" pitchFamily="49" charset="-122"/>
                <a:ea typeface="楷体" pitchFamily="49" charset="-122"/>
              </a:rPr>
              <a:t>拟阵</a:t>
            </a:r>
            <a:r>
              <a:rPr lang="zh-CN" altLang="en-US">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79</a:t>
            </a:fld>
            <a:r>
              <a:rPr lang="en-US" altLang="zh-CN"/>
              <a:t>/109</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57290" y="2357430"/>
            <a:ext cx="7286676" cy="181075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）显然</a:t>
            </a:r>
            <a:r>
              <a:rPr lang="en-US" altLang="zh-CN">
                <a:solidFill>
                  <a:srgbClr val="0000FF"/>
                </a:solidFill>
                <a:latin typeface="Consolas" pitchFamily="49" charset="0"/>
                <a:ea typeface="仿宋" pitchFamily="49" charset="-122"/>
              </a:rPr>
              <a:t>S[G]=E</a:t>
            </a:r>
            <a:r>
              <a:rPr lang="zh-CN" altLang="zh-CN">
                <a:solidFill>
                  <a:srgbClr val="0000FF"/>
                </a:solidFill>
                <a:latin typeface="Consolas" pitchFamily="49" charset="0"/>
                <a:ea typeface="仿宋" pitchFamily="49" charset="-122"/>
              </a:rPr>
              <a:t>是一个有限集合。</a:t>
            </a:r>
          </a:p>
          <a:p>
            <a:pPr algn="l">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I[G]</a:t>
            </a:r>
            <a:r>
              <a:rPr lang="zh-CN" altLang="zh-CN">
                <a:solidFill>
                  <a:srgbClr val="0000FF"/>
                </a:solidFill>
                <a:latin typeface="Consolas" pitchFamily="49" charset="0"/>
                <a:ea typeface="仿宋" pitchFamily="49" charset="-122"/>
              </a:rPr>
              <a:t>具有</a:t>
            </a:r>
            <a:r>
              <a:rPr lang="zh-CN" altLang="zh-CN">
                <a:solidFill>
                  <a:srgbClr val="FF0000"/>
                </a:solidFill>
                <a:latin typeface="Consolas" pitchFamily="49" charset="0"/>
                <a:ea typeface="仿宋" pitchFamily="49" charset="-122"/>
              </a:rPr>
              <a:t>遗传性质</a:t>
            </a:r>
            <a:r>
              <a:rPr lang="zh-CN" altLang="zh-CN">
                <a:solidFill>
                  <a:srgbClr val="0000FF"/>
                </a:solidFill>
                <a:latin typeface="Consolas" pitchFamily="49" charset="0"/>
                <a:ea typeface="仿宋" pitchFamily="49" charset="-122"/>
              </a:rPr>
              <a:t>。对于任意</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I[G]</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A⊆B</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I[G]</a:t>
            </a:r>
            <a:r>
              <a:rPr lang="zh-CN" altLang="zh-CN">
                <a:solidFill>
                  <a:srgbClr val="0000FF"/>
                </a:solidFill>
                <a:latin typeface="Consolas" pitchFamily="49" charset="0"/>
                <a:ea typeface="仿宋" pitchFamily="49" charset="-122"/>
              </a:rPr>
              <a:t>，因为从一组无环的边中删除一些边不会出现新的环。</a:t>
            </a:r>
          </a:p>
        </p:txBody>
      </p:sp>
      <p:sp>
        <p:nvSpPr>
          <p:cNvPr id="4" name="TextBox 3"/>
          <p:cNvSpPr txBox="1"/>
          <p:nvPr/>
        </p:nvSpPr>
        <p:spPr>
          <a:xfrm>
            <a:off x="357158" y="2643182"/>
            <a:ext cx="928694"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证明</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5" name="TextBox 4"/>
          <p:cNvSpPr txBox="1"/>
          <p:nvPr/>
        </p:nvSpPr>
        <p:spPr>
          <a:xfrm>
            <a:off x="428596" y="285728"/>
            <a:ext cx="8358246" cy="183640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600"/>
              </a:spcBef>
            </a:pPr>
            <a:r>
              <a:rPr lang="zh-CN" altLang="zh-CN">
                <a:solidFill>
                  <a:srgbClr val="0000FF"/>
                </a:solidFill>
                <a:latin typeface="Consolas" pitchFamily="49" charset="0"/>
                <a:ea typeface="仿宋" pitchFamily="49" charset="-122"/>
              </a:rPr>
              <a:t>非空无向图</a:t>
            </a:r>
            <a:r>
              <a:rPr lang="en-US" altLang="zh-CN">
                <a:solidFill>
                  <a:srgbClr val="0000FF"/>
                </a:solidFill>
                <a:latin typeface="Consolas" pitchFamily="49" charset="0"/>
                <a:ea typeface="仿宋" pitchFamily="49" charset="-122"/>
              </a:rPr>
              <a:t>G=(V</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M[G]=(S[G]</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I[G])</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S[G]</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即</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的边集，如果</a:t>
            </a:r>
            <a:r>
              <a:rPr lang="en-US" altLang="zh-CN">
                <a:solidFill>
                  <a:srgbClr val="0000FF"/>
                </a:solidFill>
                <a:latin typeface="Consolas" pitchFamily="49" charset="0"/>
                <a:ea typeface="仿宋" pitchFamily="49" charset="-122"/>
              </a:rPr>
              <a:t>A⊆E</a:t>
            </a:r>
            <a:r>
              <a:rPr lang="zh-CN" altLang="zh-CN">
                <a:solidFill>
                  <a:srgbClr val="0000FF"/>
                </a:solidFill>
                <a:latin typeface="Consolas" pitchFamily="49" charset="0"/>
                <a:ea typeface="仿宋" pitchFamily="49" charset="-122"/>
              </a:rPr>
              <a:t>且</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是无环的，则</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I[G]</a:t>
            </a:r>
            <a:r>
              <a:rPr lang="zh-CN" altLang="zh-CN">
                <a:solidFill>
                  <a:srgbClr val="0000FF"/>
                </a:solidFill>
                <a:latin typeface="Consolas" pitchFamily="49" charset="0"/>
                <a:ea typeface="仿宋" pitchFamily="49" charset="-122"/>
              </a:rPr>
              <a:t>，也就是说一组边</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是独立的当并仅当子图</a:t>
            </a:r>
            <a:r>
              <a:rPr lang="en-US" altLang="zh-CN">
                <a:solidFill>
                  <a:srgbClr val="0000FF"/>
                </a:solidFill>
                <a:latin typeface="Consolas" pitchFamily="49" charset="0"/>
                <a:ea typeface="仿宋" pitchFamily="49" charset="-122"/>
              </a:rPr>
              <a:t>G[A]=(V</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a:t>
            </a:r>
            <a:r>
              <a:rPr lang="zh-CN" altLang="zh-CN">
                <a:solidFill>
                  <a:srgbClr val="FF0000"/>
                </a:solidFill>
                <a:latin typeface="Consolas" pitchFamily="49" charset="0"/>
                <a:ea typeface="仿宋" pitchFamily="49" charset="-122"/>
              </a:rPr>
              <a:t>构成一个森林</a:t>
            </a:r>
            <a:r>
              <a:rPr lang="zh-CN" altLang="zh-CN">
                <a:solidFill>
                  <a:srgbClr val="0000FF"/>
                </a:solidFill>
                <a:latin typeface="Consolas" pitchFamily="49" charset="0"/>
                <a:ea typeface="仿宋" pitchFamily="49" charset="-122"/>
              </a:rPr>
              <a:t>。证明</a:t>
            </a:r>
            <a:r>
              <a:rPr lang="en-US" altLang="zh-CN">
                <a:solidFill>
                  <a:srgbClr val="0000FF"/>
                </a:solidFill>
                <a:latin typeface="Consolas" pitchFamily="49" charset="0"/>
                <a:ea typeface="仿宋" pitchFamily="49" charset="-122"/>
              </a:rPr>
              <a:t>M[G]</a:t>
            </a:r>
            <a:r>
              <a:rPr lang="zh-CN" altLang="zh-CN">
                <a:solidFill>
                  <a:srgbClr val="0000FF"/>
                </a:solidFill>
                <a:latin typeface="Consolas" pitchFamily="49" charset="0"/>
                <a:ea typeface="仿宋" pitchFamily="49" charset="-122"/>
              </a:rPr>
              <a:t>是一个拟阵</a:t>
            </a:r>
            <a:r>
              <a:rPr lang="zh-CN" altLang="en-US">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80</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642918"/>
            <a:ext cx="8143932" cy="314445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I[G]</a:t>
            </a:r>
            <a:r>
              <a:rPr lang="zh-CN" altLang="zh-CN">
                <a:solidFill>
                  <a:srgbClr val="0000FF"/>
                </a:solidFill>
                <a:latin typeface="Consolas" pitchFamily="49" charset="0"/>
                <a:ea typeface="仿宋" pitchFamily="49" charset="-122"/>
              </a:rPr>
              <a:t>具有</a:t>
            </a:r>
            <a:r>
              <a:rPr lang="zh-CN" altLang="zh-CN">
                <a:solidFill>
                  <a:srgbClr val="FF0000"/>
                </a:solidFill>
                <a:latin typeface="Consolas" pitchFamily="49" charset="0"/>
                <a:ea typeface="仿宋" pitchFamily="49" charset="-122"/>
              </a:rPr>
              <a:t>交换性质</a:t>
            </a:r>
            <a:r>
              <a:rPr lang="zh-CN" altLang="zh-CN">
                <a:solidFill>
                  <a:srgbClr val="0000FF"/>
                </a:solidFill>
                <a:latin typeface="Consolas" pitchFamily="49" charset="0"/>
                <a:ea typeface="仿宋" pitchFamily="49" charset="-122"/>
              </a:rPr>
              <a:t>。有</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条边的森林恰好包含</a:t>
            </a:r>
            <a:r>
              <a:rPr lang="en-US" altLang="zh-CN">
                <a:solidFill>
                  <a:srgbClr val="0000FF"/>
                </a:solidFill>
                <a:latin typeface="Consolas" pitchFamily="49" charset="0"/>
                <a:ea typeface="仿宋" pitchFamily="49" charset="-122"/>
              </a:rPr>
              <a:t>|V|-</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棵树，若</a:t>
            </a:r>
            <a:r>
              <a:rPr lang="en-US" altLang="zh-CN">
                <a:solidFill>
                  <a:srgbClr val="0000FF"/>
                </a:solidFill>
                <a:latin typeface="Consolas" pitchFamily="49" charset="0"/>
                <a:ea typeface="仿宋" pitchFamily="49" charset="-122"/>
              </a:rPr>
              <a:t>G[A]=(V</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G[B]=(V</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的森林，且</a:t>
            </a:r>
            <a:r>
              <a:rPr lang="en-US" altLang="zh-CN">
                <a:solidFill>
                  <a:srgbClr val="0000FF"/>
                </a:solidFill>
                <a:latin typeface="Consolas" pitchFamily="49" charset="0"/>
                <a:ea typeface="仿宋" pitchFamily="49" charset="-122"/>
              </a:rPr>
              <a:t>|B|&gt;|A|</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G[A]</a:t>
            </a:r>
            <a:r>
              <a:rPr lang="zh-CN" altLang="zh-CN">
                <a:solidFill>
                  <a:srgbClr val="0000FF"/>
                </a:solidFill>
                <a:latin typeface="Consolas" pitchFamily="49" charset="0"/>
                <a:ea typeface="仿宋" pitchFamily="49" charset="-122"/>
              </a:rPr>
              <a:t>中有含</a:t>
            </a:r>
            <a:r>
              <a:rPr lang="en-US" altLang="zh-CN">
                <a:solidFill>
                  <a:srgbClr val="0000FF"/>
                </a:solidFill>
                <a:latin typeface="Consolas" pitchFamily="49" charset="0"/>
                <a:ea typeface="仿宋" pitchFamily="49" charset="-122"/>
              </a:rPr>
              <a:t>|V|-|A|</a:t>
            </a:r>
            <a:r>
              <a:rPr lang="zh-CN" altLang="zh-CN">
                <a:solidFill>
                  <a:srgbClr val="0000FF"/>
                </a:solidFill>
                <a:latin typeface="Consolas" pitchFamily="49" charset="0"/>
                <a:ea typeface="仿宋" pitchFamily="49" charset="-122"/>
              </a:rPr>
              <a:t>棵树，</a:t>
            </a:r>
            <a:r>
              <a:rPr lang="en-US" altLang="zh-CN">
                <a:solidFill>
                  <a:srgbClr val="0000FF"/>
                </a:solidFill>
                <a:latin typeface="Consolas" pitchFamily="49" charset="0"/>
                <a:ea typeface="仿宋" pitchFamily="49" charset="-122"/>
              </a:rPr>
              <a:t>G[B]</a:t>
            </a:r>
            <a:r>
              <a:rPr lang="zh-CN" altLang="zh-CN">
                <a:solidFill>
                  <a:srgbClr val="0000FF"/>
                </a:solidFill>
                <a:latin typeface="Consolas" pitchFamily="49" charset="0"/>
                <a:ea typeface="仿宋" pitchFamily="49" charset="-122"/>
              </a:rPr>
              <a:t>中有含</a:t>
            </a:r>
            <a:r>
              <a:rPr lang="en-US" altLang="zh-CN">
                <a:solidFill>
                  <a:srgbClr val="0000FF"/>
                </a:solidFill>
                <a:latin typeface="Consolas" pitchFamily="49" charset="0"/>
                <a:ea typeface="仿宋" pitchFamily="49" charset="-122"/>
              </a:rPr>
              <a:t>|V|-|B|</a:t>
            </a:r>
            <a:r>
              <a:rPr lang="zh-CN" altLang="zh-CN">
                <a:solidFill>
                  <a:srgbClr val="0000FF"/>
                </a:solidFill>
                <a:latin typeface="Consolas" pitchFamily="49" charset="0"/>
                <a:ea typeface="仿宋" pitchFamily="49" charset="-122"/>
              </a:rPr>
              <a:t>棵树。</a:t>
            </a:r>
            <a:endParaRPr lang="en-US" altLang="zh-CN">
              <a:solidFill>
                <a:srgbClr val="0000FF"/>
              </a:solidFill>
              <a:latin typeface="Consolas" pitchFamily="49" charset="0"/>
              <a:ea typeface="仿宋" pitchFamily="49" charset="-122"/>
            </a:endParaRPr>
          </a:p>
          <a:p>
            <a:pPr algn="l">
              <a:lnSpc>
                <a:spcPts val="3400"/>
              </a:lnSpc>
              <a:spcBef>
                <a:spcPts val="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由于</a:t>
            </a:r>
            <a:r>
              <a:rPr lang="en-US" altLang="zh-CN">
                <a:solidFill>
                  <a:srgbClr val="0000FF"/>
                </a:solidFill>
                <a:latin typeface="Consolas" pitchFamily="49" charset="0"/>
                <a:ea typeface="仿宋" pitchFamily="49" charset="-122"/>
              </a:rPr>
              <a:t>G[B]</a:t>
            </a:r>
            <a:r>
              <a:rPr lang="zh-CN" altLang="zh-CN">
                <a:solidFill>
                  <a:srgbClr val="0000FF"/>
                </a:solidFill>
                <a:latin typeface="Consolas" pitchFamily="49" charset="0"/>
                <a:ea typeface="仿宋" pitchFamily="49" charset="-122"/>
              </a:rPr>
              <a:t>中的树比</a:t>
            </a:r>
            <a:r>
              <a:rPr lang="en-US" altLang="zh-CN">
                <a:solidFill>
                  <a:srgbClr val="0000FF"/>
                </a:solidFill>
                <a:latin typeface="Consolas" pitchFamily="49" charset="0"/>
                <a:ea typeface="仿宋" pitchFamily="49" charset="-122"/>
              </a:rPr>
              <a:t>G[A]</a:t>
            </a:r>
            <a:r>
              <a:rPr lang="zh-CN" altLang="zh-CN">
                <a:solidFill>
                  <a:srgbClr val="0000FF"/>
                </a:solidFill>
                <a:latin typeface="Consolas" pitchFamily="49" charset="0"/>
                <a:ea typeface="仿宋" pitchFamily="49" charset="-122"/>
              </a:rPr>
              <a:t>中的树要少，必有边</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G[B]</a:t>
            </a:r>
            <a:r>
              <a:rPr lang="zh-CN" altLang="zh-CN">
                <a:solidFill>
                  <a:srgbClr val="0000FF"/>
                </a:solidFill>
                <a:latin typeface="Consolas" pitchFamily="49" charset="0"/>
                <a:ea typeface="仿宋" pitchFamily="49" charset="-122"/>
              </a:rPr>
              <a:t>而</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G[A]</a:t>
            </a:r>
            <a:r>
              <a:rPr lang="zh-CN" altLang="zh-CN">
                <a:solidFill>
                  <a:srgbClr val="0000FF"/>
                </a:solidFill>
                <a:latin typeface="Consolas" pitchFamily="49" charset="0"/>
                <a:ea typeface="仿宋" pitchFamily="49" charset="-122"/>
              </a:rPr>
              <a:t>，而且连接</a:t>
            </a:r>
            <a:r>
              <a:rPr lang="en-US" altLang="zh-CN">
                <a:solidFill>
                  <a:srgbClr val="0000FF"/>
                </a:solidFill>
                <a:latin typeface="Consolas" pitchFamily="49" charset="0"/>
                <a:ea typeface="仿宋" pitchFamily="49" charset="-122"/>
              </a:rPr>
              <a:t>G[A]</a:t>
            </a:r>
            <a:r>
              <a:rPr lang="zh-CN" altLang="zh-CN">
                <a:solidFill>
                  <a:srgbClr val="0000FF"/>
                </a:solidFill>
                <a:latin typeface="Consolas" pitchFamily="49" charset="0"/>
                <a:ea typeface="仿宋" pitchFamily="49" charset="-122"/>
              </a:rPr>
              <a:t>中的两棵树，将</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添加到</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中不会产生环，即</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I[G]</a:t>
            </a:r>
            <a:r>
              <a:rPr lang="zh-CN" altLang="zh-CN">
                <a:solidFill>
                  <a:srgbClr val="0000FF"/>
                </a:solidFill>
                <a:latin typeface="Consolas" pitchFamily="49" charset="0"/>
                <a:ea typeface="仿宋" pitchFamily="49" charset="-122"/>
              </a:rPr>
              <a:t>。</a:t>
            </a: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7" name="直接连接符 6"/>
          <p:cNvCxnSpPr/>
          <p:nvPr/>
        </p:nvCxnSpPr>
        <p:spPr>
          <a:xfrm rot="16200000" flipH="1">
            <a:off x="798927" y="2964653"/>
            <a:ext cx="285752" cy="214314"/>
          </a:xfrm>
          <a:prstGeom prst="line">
            <a:avLst/>
          </a:prstGeom>
          <a:ln w="19050">
            <a:solidFill>
              <a:srgbClr val="0000FF"/>
            </a:solidFill>
            <a:tailEnd type="none"/>
          </a:ln>
        </p:spPr>
        <p:style>
          <a:lnRef idx="2">
            <a:schemeClr val="dk1"/>
          </a:lnRef>
          <a:fillRef idx="0">
            <a:schemeClr val="dk1"/>
          </a:fillRef>
          <a:effectRef idx="1">
            <a:schemeClr val="dk1"/>
          </a:effectRef>
          <a:fontRef idx="minor">
            <a:schemeClr val="tx1"/>
          </a:fontRef>
        </p:style>
      </p:cxnSp>
      <p:sp>
        <p:nvSpPr>
          <p:cNvPr id="6" name="灯片编号占位符 5"/>
          <p:cNvSpPr>
            <a:spLocks noGrp="1"/>
          </p:cNvSpPr>
          <p:nvPr>
            <p:ph type="sldNum" sz="quarter" idx="12"/>
          </p:nvPr>
        </p:nvSpPr>
        <p:spPr/>
        <p:txBody>
          <a:bodyPr/>
          <a:lstStyle/>
          <a:p>
            <a:fld id="{7AF016A1-9F15-429F-9EFD-84004B73C732}" type="slidenum">
              <a:rPr lang="en-US" altLang="zh-CN" smtClean="0"/>
              <a:pPr/>
              <a:t>81</a:t>
            </a:fld>
            <a:r>
              <a:rPr lang="en-US" altLang="zh-CN"/>
              <a:t>/109</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714356"/>
            <a:ext cx="8143932" cy="88421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zh-CN" altLang="zh-CN">
                <a:solidFill>
                  <a:srgbClr val="FF0000"/>
                </a:solidFill>
                <a:latin typeface="Consolas" pitchFamily="49" charset="0"/>
                <a:ea typeface="楷体" pitchFamily="49" charset="-122"/>
              </a:rPr>
              <a:t>定理</a:t>
            </a:r>
            <a:r>
              <a:rPr lang="en-US" altLang="zh-CN">
                <a:solidFill>
                  <a:srgbClr val="FF0000"/>
                </a:solidFill>
                <a:latin typeface="Consolas" pitchFamily="49" charset="0"/>
                <a:ea typeface="楷体" pitchFamily="49" charset="-122"/>
              </a:rPr>
              <a:t>8.3 </a:t>
            </a:r>
            <a:r>
              <a:rPr lang="zh-CN" altLang="zh-CN">
                <a:solidFill>
                  <a:srgbClr val="0000FF"/>
                </a:solidFill>
                <a:latin typeface="Consolas" pitchFamily="49" charset="0"/>
                <a:ea typeface="仿宋" pitchFamily="49" charset="-122"/>
              </a:rPr>
              <a:t>一个拟阵</a:t>
            </a:r>
            <a:r>
              <a:rPr lang="en-US" altLang="zh-CN">
                <a:solidFill>
                  <a:srgbClr val="0000FF"/>
                </a:solidFill>
                <a:latin typeface="Consolas" pitchFamily="49" charset="0"/>
                <a:ea typeface="仿宋" pitchFamily="49" charset="-122"/>
              </a:rPr>
              <a:t>M=(S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中所有最大独立子集的大小都是相同的。</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714348" y="2571744"/>
            <a:ext cx="7929618" cy="132343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zh-CN" altLang="zh-CN">
                <a:solidFill>
                  <a:srgbClr val="0000FF"/>
                </a:solidFill>
                <a:latin typeface="Consolas" pitchFamily="49" charset="0"/>
                <a:ea typeface="仿宋" pitchFamily="49" charset="-122"/>
              </a:rPr>
              <a:t>对于拟阵</a:t>
            </a:r>
            <a:r>
              <a:rPr lang="en-US" altLang="zh-CN">
                <a:solidFill>
                  <a:srgbClr val="0000FF"/>
                </a:solidFill>
                <a:latin typeface="Consolas" pitchFamily="49" charset="0"/>
                <a:ea typeface="仿宋" pitchFamily="49" charset="-122"/>
              </a:rPr>
              <a:t>M=(S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中的每个元素</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都有一个权值</a:t>
            </a:r>
            <a:r>
              <a:rPr lang="en-US" altLang="zh-CN" i="1">
                <a:solidFill>
                  <a:srgbClr val="0000FF"/>
                </a:solidFill>
                <a:latin typeface="Consolas" pitchFamily="49" charset="0"/>
                <a:ea typeface="仿宋" pitchFamily="49" charset="-122"/>
              </a:rPr>
              <a:t>w</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（权函数为</a:t>
            </a:r>
            <a:r>
              <a:rPr lang="en-US"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），一个独立子集</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的权是它的所有元素的权之和，即，则称拟阵</a:t>
            </a:r>
            <a:r>
              <a:rPr lang="en-US" altLang="zh-CN">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为</a:t>
            </a:r>
            <a:r>
              <a:rPr lang="zh-CN" altLang="zh-CN">
                <a:solidFill>
                  <a:srgbClr val="FF0000"/>
                </a:solidFill>
                <a:latin typeface="楷体" pitchFamily="49" charset="-122"/>
                <a:ea typeface="楷体" pitchFamily="49" charset="-122"/>
              </a:rPr>
              <a:t>加权拟阵</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82</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428604"/>
            <a:ext cx="685804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Consolas" pitchFamily="49" charset="0"/>
                <a:ea typeface="微软雅黑" pitchFamily="34" charset="-122"/>
              </a:rPr>
              <a:t>8.7.2 </a:t>
            </a:r>
            <a:r>
              <a:rPr lang="zh-CN" altLang="zh-CN" sz="2800">
                <a:latin typeface="Consolas" pitchFamily="49" charset="0"/>
                <a:ea typeface="微软雅黑" pitchFamily="34" charset="-122"/>
              </a:rPr>
              <a:t>求加权拟阵最优子集的贪心算法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214282" y="1571612"/>
            <a:ext cx="871543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求加权（权值为</a:t>
            </a:r>
            <a:r>
              <a:rPr lang="en-US"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）拟阵</a:t>
            </a:r>
            <a:r>
              <a:rPr lang="en-US" altLang="zh-CN">
                <a:solidFill>
                  <a:srgbClr val="0000FF"/>
                </a:solidFill>
                <a:latin typeface="Consolas" pitchFamily="49" charset="0"/>
                <a:ea typeface="仿宋" pitchFamily="49" charset="-122"/>
              </a:rPr>
              <a:t>M=(S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的最优子集</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的贪心算法框架</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500002" y="2357430"/>
            <a:ext cx="7786774" cy="31288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Set </a:t>
            </a:r>
            <a:r>
              <a:rPr lang="en-US" altLang="zh-CN" sz="2000">
                <a:solidFill>
                  <a:srgbClr val="FF0000"/>
                </a:solidFill>
                <a:latin typeface="Consolas" pitchFamily="49" charset="0"/>
                <a:ea typeface="仿宋" pitchFamily="49" charset="-122"/>
              </a:rPr>
              <a:t>greedy</a:t>
            </a:r>
            <a:r>
              <a:rPr lang="en-US" altLang="zh-CN" sz="2000">
                <a:solidFill>
                  <a:srgbClr val="0000FF"/>
                </a:solidFill>
                <a:latin typeface="Consolas" pitchFamily="49" charset="0"/>
                <a:ea typeface="仿宋" pitchFamily="49" charset="-122"/>
              </a:rPr>
              <a:t>(M,w) {								</a:t>
            </a:r>
            <a:r>
              <a:rPr lang="en-US" altLang="zh-CN" sz="2000">
                <a:solidFill>
                  <a:srgbClr val="00B0F0"/>
                </a:solidFill>
                <a:latin typeface="Consolas" pitchFamily="49" charset="0"/>
                <a:ea typeface="仿宋" pitchFamily="49" charset="-122"/>
              </a:rPr>
              <a:t>//M=(S</a:t>
            </a:r>
            <a:r>
              <a:rPr lang="zh-CN" altLang="zh-CN" sz="2000">
                <a:solidFill>
                  <a:srgbClr val="00B0F0"/>
                </a:solidFill>
                <a:latin typeface="Consolas" pitchFamily="49" charset="0"/>
                <a:ea typeface="仿宋" pitchFamily="49" charset="-122"/>
              </a:rPr>
              <a:t>，</a:t>
            </a:r>
            <a:r>
              <a:rPr lang="en-US" altLang="zh-CN" sz="2000">
                <a:solidFill>
                  <a:srgbClr val="00B0F0"/>
                </a:solidFill>
                <a:latin typeface="Consolas" pitchFamily="49" charset="0"/>
                <a:ea typeface="仿宋" pitchFamily="49" charset="-122"/>
              </a:rPr>
              <a:t>I)</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a:t>
            </a:r>
            <a:r>
              <a:rPr lang="en-US" altLang="zh-CN" sz="2000">
                <a:solidFill>
                  <a:srgbClr val="0000FF"/>
                </a:solidFill>
                <a:latin typeface="Consolas" pitchFamily="49" charset="0"/>
                <a:ea typeface="仿宋" pitchFamily="49" charset="-122"/>
                <a:sym typeface="Symbol"/>
              </a:rPr>
              <a:t></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Φ表示空集</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将</a:t>
            </a:r>
            <a:r>
              <a:rPr lang="en-US" altLang="zh-CN" sz="2000">
                <a:solidFill>
                  <a:srgbClr val="0000FF"/>
                </a:solidFill>
                <a:latin typeface="Consolas" pitchFamily="49" charset="0"/>
                <a:ea typeface="仿宋" pitchFamily="49" charset="-122"/>
              </a:rPr>
              <a:t>S</a:t>
            </a:r>
            <a:r>
              <a:rPr lang="zh-CN" altLang="zh-CN" sz="2000">
                <a:solidFill>
                  <a:srgbClr val="0000FF"/>
                </a:solidFill>
                <a:latin typeface="Consolas" pitchFamily="49" charset="0"/>
                <a:ea typeface="仿宋" pitchFamily="49" charset="-122"/>
              </a:rPr>
              <a:t>中元素依权值</a:t>
            </a:r>
            <a:r>
              <a:rPr lang="en-US" altLang="zh-CN" sz="2000">
                <a:solidFill>
                  <a:srgbClr val="0000FF"/>
                </a:solidFill>
                <a:latin typeface="Consolas" pitchFamily="49" charset="0"/>
                <a:ea typeface="仿宋" pitchFamily="49" charset="-122"/>
              </a:rPr>
              <a:t>w</a:t>
            </a:r>
            <a:r>
              <a:rPr lang="zh-CN" altLang="zh-CN" sz="2000">
                <a:solidFill>
                  <a:srgbClr val="0000FF"/>
                </a:solidFill>
                <a:latin typeface="Consolas" pitchFamily="49" charset="0"/>
                <a:ea typeface="仿宋" pitchFamily="49" charset="-122"/>
              </a:rPr>
              <a:t>（大者优先）组成优先队列</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 (S!=</a:t>
            </a:r>
            <a:r>
              <a:rPr lang="en-US" altLang="zh-CN" sz="2000">
                <a:solidFill>
                  <a:srgbClr val="0000FF"/>
                </a:solidFill>
                <a:latin typeface="Consolas" pitchFamily="49" charset="0"/>
                <a:ea typeface="仿宋" pitchFamily="49" charset="-122"/>
                <a:sym typeface="Symbol"/>
              </a:rPr>
              <a:t></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S.</a:t>
            </a:r>
            <a:r>
              <a:rPr lang="en-US" altLang="zh-CN" sz="2000">
                <a:solidFill>
                  <a:srgbClr val="FF0000"/>
                </a:solidFill>
                <a:latin typeface="Consolas" pitchFamily="49" charset="0"/>
                <a:ea typeface="仿宋" pitchFamily="49" charset="-122"/>
              </a:rPr>
              <a:t>removeMax</a:t>
            </a:r>
            <a:r>
              <a:rPr lang="en-US" altLang="zh-CN" sz="2000">
                <a:solidFill>
                  <a:srgbClr val="0000FF"/>
                </a:solidFill>
                <a:latin typeface="Consolas" pitchFamily="49" charset="0"/>
                <a:ea typeface="仿宋" pitchFamily="49" charset="-122"/>
              </a:rPr>
              <a:t>(x);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a:t>
            </a:r>
            <a:r>
              <a:rPr lang="en-US" altLang="zh-CN" sz="2000">
                <a:solidFill>
                  <a:srgbClr val="00B0F0"/>
                </a:solidFill>
                <a:latin typeface="Consolas" pitchFamily="49" charset="0"/>
                <a:ea typeface="仿宋" pitchFamily="49" charset="-122"/>
              </a:rPr>
              <a:t>x</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{x}</a:t>
            </a:r>
            <a:r>
              <a:rPr lang="en-US" altLang="zh-CN" sz="2000">
                <a:solidFill>
                  <a:srgbClr val="0000FF"/>
                </a:solidFill>
                <a:latin typeface="Consolas" pitchFamily="49" charset="0"/>
                <a:ea typeface="仿宋" pitchFamily="49" charset="-122"/>
                <a:sym typeface="Symbol"/>
              </a:rPr>
              <a:t></a:t>
            </a:r>
            <a:r>
              <a:rPr lang="en-US" altLang="zh-CN" sz="2000">
                <a:solidFill>
                  <a:srgbClr val="0000FF"/>
                </a:solidFill>
                <a:latin typeface="Consolas" pitchFamily="49" charset="0"/>
                <a:ea typeface="仿宋" pitchFamily="49" charset="-122"/>
              </a:rPr>
              <a:t>I) A=A</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{x};</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83</a:t>
            </a:fld>
            <a:r>
              <a:rPr lang="en-US" altLang="zh-CN"/>
              <a:t>/109</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71480"/>
            <a:ext cx="8358246" cy="1631216"/>
          </a:xfrm>
          <a:prstGeom prst="rect">
            <a:avLst/>
          </a:prstGeom>
          <a:ln>
            <a:solidFill>
              <a:schemeClr val="accent3">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600"/>
              </a:spcBef>
            </a:pPr>
            <a:r>
              <a:rPr lang="zh-CN" altLang="zh-CN">
                <a:solidFill>
                  <a:srgbClr val="FF0000"/>
                </a:solidFill>
                <a:latin typeface="Consolas" pitchFamily="49" charset="0"/>
                <a:ea typeface="楷体" pitchFamily="49" charset="-122"/>
              </a:rPr>
              <a:t>引理</a:t>
            </a:r>
            <a:r>
              <a:rPr lang="en-US" altLang="zh-CN">
                <a:solidFill>
                  <a:srgbClr val="FF0000"/>
                </a:solidFill>
                <a:latin typeface="Consolas" pitchFamily="49" charset="0"/>
                <a:ea typeface="楷体" pitchFamily="49" charset="-122"/>
              </a:rPr>
              <a:t>8.4</a:t>
            </a:r>
            <a:r>
              <a:rPr lang="zh-CN" altLang="zh-CN">
                <a:solidFill>
                  <a:srgbClr val="0000FF"/>
                </a:solidFill>
                <a:latin typeface="Consolas" pitchFamily="49" charset="0"/>
                <a:ea typeface="仿宋" pitchFamily="49" charset="-122"/>
              </a:rPr>
              <a:t>（</a:t>
            </a:r>
            <a:r>
              <a:rPr lang="zh-CN" altLang="zh-CN">
                <a:solidFill>
                  <a:srgbClr val="FF0000"/>
                </a:solidFill>
                <a:latin typeface="Consolas" pitchFamily="49" charset="0"/>
                <a:ea typeface="仿宋" pitchFamily="49" charset="-122"/>
              </a:rPr>
              <a:t>拟阵具有贪心选择性质</a:t>
            </a:r>
            <a:r>
              <a:rPr lang="zh-CN" altLang="zh-CN">
                <a:solidFill>
                  <a:srgbClr val="0000FF"/>
                </a:solidFill>
                <a:latin typeface="Consolas" pitchFamily="49" charset="0"/>
                <a:ea typeface="仿宋" pitchFamily="49" charset="-122"/>
              </a:rPr>
              <a:t>）。假设</a:t>
            </a:r>
            <a:r>
              <a:rPr lang="en-US" altLang="zh-CN">
                <a:solidFill>
                  <a:srgbClr val="0000FF"/>
                </a:solidFill>
                <a:latin typeface="Consolas" pitchFamily="49" charset="0"/>
                <a:ea typeface="仿宋" pitchFamily="49" charset="-122"/>
              </a:rPr>
              <a:t>M=(S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l)</a:t>
            </a:r>
            <a:r>
              <a:rPr lang="zh-CN" altLang="zh-CN">
                <a:solidFill>
                  <a:srgbClr val="0000FF"/>
                </a:solidFill>
                <a:latin typeface="Consolas" pitchFamily="49" charset="0"/>
                <a:ea typeface="仿宋" pitchFamily="49" charset="-122"/>
              </a:rPr>
              <a:t>是一个具有权函数</a:t>
            </a:r>
            <a:r>
              <a:rPr lang="en-US"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的加权拟阵，且</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被按权值的单调减顺序排列。设</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的第一个使</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独立的元素。如果</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存在，则存在</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的一个包含</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的最优子集</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sp>
        <p:nvSpPr>
          <p:cNvPr id="4" name="TextBox 3"/>
          <p:cNvSpPr txBox="1"/>
          <p:nvPr/>
        </p:nvSpPr>
        <p:spPr>
          <a:xfrm>
            <a:off x="357158" y="2571744"/>
            <a:ext cx="8358246" cy="3323987"/>
          </a:xfrm>
          <a:prstGeom prst="rect">
            <a:avLst/>
          </a:prstGeom>
          <a:ln>
            <a:solidFill>
              <a:schemeClr val="accent3">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600"/>
              </a:spcBef>
            </a:pPr>
            <a:r>
              <a:rPr lang="zh-CN" altLang="zh-CN">
                <a:solidFill>
                  <a:srgbClr val="FF0000"/>
                </a:solidFill>
                <a:latin typeface="Consolas" pitchFamily="49" charset="0"/>
                <a:ea typeface="楷体" pitchFamily="49" charset="-122"/>
              </a:rPr>
              <a:t>引理</a:t>
            </a:r>
            <a:r>
              <a:rPr lang="en-US" altLang="zh-CN">
                <a:solidFill>
                  <a:srgbClr val="FF0000"/>
                </a:solidFill>
                <a:latin typeface="Consolas" pitchFamily="49" charset="0"/>
                <a:ea typeface="楷体" pitchFamily="49" charset="-122"/>
              </a:rPr>
              <a:t>8.6</a:t>
            </a:r>
            <a:r>
              <a:rPr lang="zh-CN" altLang="zh-CN">
                <a:solidFill>
                  <a:srgbClr val="0000FF"/>
                </a:solidFill>
                <a:latin typeface="Consolas" pitchFamily="49" charset="0"/>
                <a:ea typeface="仿宋" pitchFamily="49" charset="-122"/>
              </a:rPr>
              <a:t>（</a:t>
            </a:r>
            <a:r>
              <a:rPr lang="zh-CN" altLang="zh-CN">
                <a:solidFill>
                  <a:srgbClr val="FF0000"/>
                </a:solidFill>
                <a:latin typeface="Consolas" pitchFamily="49" charset="0"/>
                <a:ea typeface="仿宋" pitchFamily="49" charset="-122"/>
              </a:rPr>
              <a:t>拟阵具有最优子结构性质</a:t>
            </a:r>
            <a:r>
              <a:rPr lang="zh-CN" altLang="zh-CN">
                <a:solidFill>
                  <a:srgbClr val="0000FF"/>
                </a:solidFill>
                <a:latin typeface="Consolas" pitchFamily="49" charset="0"/>
                <a:ea typeface="仿宋" pitchFamily="49" charset="-122"/>
              </a:rPr>
              <a:t>）。设</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中被作用于加权拟阵</a:t>
            </a:r>
            <a:r>
              <a:rPr lang="en-US" altLang="zh-CN">
                <a:solidFill>
                  <a:srgbClr val="0000FF"/>
                </a:solidFill>
                <a:latin typeface="Consolas" pitchFamily="49" charset="0"/>
                <a:ea typeface="仿宋" pitchFamily="49" charset="-122"/>
              </a:rPr>
              <a:t>M=(S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a:t>
            </a:r>
            <a:r>
              <a:rPr lang="en-US" altLang="zh-CN">
                <a:solidFill>
                  <a:srgbClr val="0000FF"/>
                </a:solidFill>
                <a:latin typeface="Consolas" pitchFamily="49" charset="0"/>
                <a:ea typeface="仿宋" pitchFamily="49" charset="-122"/>
              </a:rPr>
              <a:t>greedy</a:t>
            </a:r>
            <a:r>
              <a:rPr lang="zh-CN" altLang="zh-CN">
                <a:solidFill>
                  <a:srgbClr val="0000FF"/>
                </a:solidFill>
                <a:latin typeface="Consolas" pitchFamily="49" charset="0"/>
                <a:ea typeface="仿宋" pitchFamily="49" charset="-122"/>
              </a:rPr>
              <a:t>算法第一个选择的元素。找一个包含</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的具有最大权值的独立子集的问题，可以归结为找出加权矩阵</a:t>
            </a:r>
            <a:r>
              <a:rPr lang="en-US" altLang="zh-CN">
                <a:solidFill>
                  <a:srgbClr val="0000FF"/>
                </a:solidFill>
                <a:latin typeface="Consolas" pitchFamily="49" charset="0"/>
                <a:ea typeface="仿宋" pitchFamily="49" charset="-122"/>
              </a:rPr>
              <a:t>M'=(S'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的一个具有最大权值的独立子集问题，此处</a:t>
            </a:r>
          </a:p>
          <a:p>
            <a:pPr algn="l" defTabSz="360000">
              <a:lnSpc>
                <a:spcPts val="3000"/>
              </a:lnSpc>
              <a:spcBef>
                <a:spcPts val="600"/>
              </a:spcBef>
            </a:pPr>
            <a:r>
              <a:rPr lang="en-US" altLang="zh-CN">
                <a:solidFill>
                  <a:srgbClr val="0000FF"/>
                </a:solidFill>
                <a:latin typeface="Consolas" pitchFamily="49" charset="0"/>
                <a:ea typeface="仿宋" pitchFamily="49" charset="-122"/>
              </a:rPr>
              <a:t>	 </a:t>
            </a:r>
            <a:r>
              <a:rPr lang="en-US" altLang="zh-CN">
                <a:solidFill>
                  <a:srgbClr val="006600"/>
                </a:solidFill>
                <a:latin typeface="Consolas" pitchFamily="49" charset="0"/>
                <a:ea typeface="仿宋" pitchFamily="49" charset="-122"/>
              </a:rPr>
              <a:t>S'={</a:t>
            </a:r>
            <a:r>
              <a:rPr lang="en-US" altLang="zh-CN" i="1">
                <a:solidFill>
                  <a:srgbClr val="006600"/>
                </a:solidFill>
                <a:latin typeface="Consolas" pitchFamily="49" charset="0"/>
                <a:ea typeface="仿宋" pitchFamily="49" charset="-122"/>
              </a:rPr>
              <a:t>y</a:t>
            </a:r>
            <a:r>
              <a:rPr lang="zh-CN" altLang="zh-CN">
                <a:solidFill>
                  <a:srgbClr val="006600"/>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S|{</a:t>
            </a:r>
            <a:r>
              <a:rPr lang="en-US" altLang="zh-CN" i="1">
                <a:solidFill>
                  <a:srgbClr val="006600"/>
                </a:solidFill>
                <a:latin typeface="Consolas" pitchFamily="49" charset="0"/>
                <a:ea typeface="仿宋" pitchFamily="49" charset="-122"/>
              </a:rPr>
              <a:t>x</a:t>
            </a:r>
            <a:r>
              <a:rPr lang="zh-CN"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y</a:t>
            </a:r>
            <a:r>
              <a:rPr lang="en-US" altLang="zh-CN">
                <a:solidFill>
                  <a:srgbClr val="006600"/>
                </a:solidFill>
                <a:latin typeface="Consolas" pitchFamily="49" charset="0"/>
                <a:ea typeface="仿宋" pitchFamily="49" charset="-122"/>
              </a:rPr>
              <a:t>}</a:t>
            </a:r>
            <a:r>
              <a:rPr lang="zh-CN" altLang="zh-CN">
                <a:solidFill>
                  <a:srgbClr val="006600"/>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I}</a:t>
            </a:r>
            <a:r>
              <a:rPr lang="zh-CN" altLang="zh-CN">
                <a:solidFill>
                  <a:srgbClr val="006600"/>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I'={B⊆S−{</a:t>
            </a:r>
            <a:r>
              <a:rPr lang="en-US" altLang="zh-CN" i="1">
                <a:solidFill>
                  <a:srgbClr val="006600"/>
                </a:solidFill>
                <a:latin typeface="Consolas" pitchFamily="49" charset="0"/>
                <a:ea typeface="仿宋" pitchFamily="49" charset="-122"/>
              </a:rPr>
              <a:t>x</a:t>
            </a:r>
            <a:r>
              <a:rPr lang="en-US" altLang="zh-CN">
                <a:solidFill>
                  <a:srgbClr val="006600"/>
                </a:solidFill>
                <a:latin typeface="Consolas" pitchFamily="49" charset="0"/>
                <a:ea typeface="仿宋" pitchFamily="49" charset="-122"/>
              </a:rPr>
              <a:t>}|B</a:t>
            </a:r>
            <a:r>
              <a:rPr lang="zh-CN" altLang="zh-CN">
                <a:solidFill>
                  <a:srgbClr val="006600"/>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x</a:t>
            </a:r>
            <a:r>
              <a:rPr lang="en-US" altLang="zh-CN">
                <a:solidFill>
                  <a:srgbClr val="006600"/>
                </a:solidFill>
                <a:latin typeface="Consolas" pitchFamily="49" charset="0"/>
                <a:ea typeface="仿宋" pitchFamily="49" charset="-122"/>
              </a:rPr>
              <a:t>}</a:t>
            </a:r>
            <a:r>
              <a:rPr lang="zh-CN" altLang="zh-CN">
                <a:solidFill>
                  <a:srgbClr val="006600"/>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I}</a:t>
            </a:r>
            <a:endParaRPr lang="zh-CN" altLang="zh-CN">
              <a:solidFill>
                <a:srgbClr val="006600"/>
              </a:solidFill>
              <a:latin typeface="Consolas" pitchFamily="49" charset="0"/>
              <a:ea typeface="仿宋" pitchFamily="49" charset="-122"/>
            </a:endParaRPr>
          </a:p>
          <a:p>
            <a:pPr algn="l" defTabSz="360000">
              <a:lnSpc>
                <a:spcPts val="3000"/>
              </a:lnSpc>
              <a:spcBef>
                <a:spcPts val="600"/>
              </a:spcBef>
            </a:pP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权函数为（受限于</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a:t>
            </a:r>
            <a:r>
              <a:rPr lang="en-US" altLang="zh-CN">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的权函数（称</a:t>
            </a:r>
            <a:r>
              <a:rPr lang="en-US" altLang="zh-CN">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的由</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引起的收缩）。</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84</a:t>
            </a:fld>
            <a:r>
              <a:rPr lang="en-US" altLang="zh-CN"/>
              <a:t>/109</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428604"/>
            <a:ext cx="650085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Consolas" pitchFamily="49" charset="0"/>
                <a:ea typeface="微软雅黑" pitchFamily="34" charset="-122"/>
              </a:rPr>
              <a:t>8.7.3 </a:t>
            </a:r>
            <a:r>
              <a:rPr lang="zh-CN" altLang="zh-CN" sz="2800">
                <a:latin typeface="Consolas" pitchFamily="49" charset="0"/>
                <a:ea typeface="微软雅黑" pitchFamily="34" charset="-122"/>
              </a:rPr>
              <a:t>带期限和惩罚的任务调度问题</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285720" y="1285860"/>
            <a:ext cx="8501122" cy="4503797"/>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zh-CN" altLang="zh-CN">
                <a:solidFill>
                  <a:srgbClr val="0000FF"/>
                </a:solidFill>
                <a:latin typeface="Consolas" pitchFamily="49" charset="0"/>
                <a:ea typeface="仿宋" pitchFamily="49" charset="-122"/>
              </a:rPr>
              <a:t>讨论单处理器上具有期限和惩罚的</a:t>
            </a:r>
            <a:r>
              <a:rPr lang="zh-CN" altLang="zh-CN">
                <a:solidFill>
                  <a:srgbClr val="FF0000"/>
                </a:solidFill>
                <a:latin typeface="楷体" pitchFamily="49" charset="-122"/>
                <a:ea typeface="楷体" pitchFamily="49" charset="-122"/>
              </a:rPr>
              <a:t>单位时间任务调度问题</a:t>
            </a:r>
            <a:r>
              <a:rPr lang="zh-CN" altLang="zh-CN">
                <a:solidFill>
                  <a:srgbClr val="0000FF"/>
                </a:solidFill>
                <a:latin typeface="Consolas" pitchFamily="49" charset="0"/>
                <a:ea typeface="仿宋" pitchFamily="49" charset="-122"/>
              </a:rPr>
              <a:t>，所谓单位时间任务是一个作业（如在计算机上执行的程序）恰好需要一个单位的时间来执行，为了简单，时间用</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开始的整数表示。该问题的描述如下：</a:t>
            </a: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个单位时间任务的集合</a:t>
            </a:r>
            <a:r>
              <a:rPr lang="en-US" altLang="zh-CN">
                <a:solidFill>
                  <a:srgbClr val="0000FF"/>
                </a:solidFill>
                <a:latin typeface="Consolas" pitchFamily="49" charset="0"/>
                <a:ea typeface="仿宋" pitchFamily="49" charset="-122"/>
              </a:rPr>
              <a:t>S={</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个整数值的期限集合</a:t>
            </a:r>
            <a:r>
              <a:rPr lang="en-US" altLang="zh-CN">
                <a:solidFill>
                  <a:srgbClr val="0000FF"/>
                </a:solidFill>
                <a:latin typeface="Consolas" pitchFamily="49" charset="0"/>
                <a:ea typeface="仿宋" pitchFamily="49" charset="-122"/>
              </a:rPr>
              <a:t>D={</a:t>
            </a:r>
            <a:r>
              <a:rPr lang="en-US" altLang="zh-CN" i="1">
                <a:solidFill>
                  <a:srgbClr val="0000FF"/>
                </a:solidFill>
                <a:latin typeface="Consolas" pitchFamily="49" charset="0"/>
                <a:ea typeface="仿宋" pitchFamily="49" charset="-122"/>
              </a:rPr>
              <a:t>d</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d</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zh-CN" altLang="zh-CN">
                <a:solidFill>
                  <a:srgbClr val="0000FF"/>
                </a:solidFill>
                <a:latin typeface="+mn-ea"/>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d</a:t>
            </a:r>
            <a:r>
              <a:rPr lang="en-US" altLang="zh-CN" i="1" baseline="-25000">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，即任务</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i</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）要求在</a:t>
            </a:r>
            <a:r>
              <a:rPr lang="en-US" altLang="zh-CN" i="1">
                <a:solidFill>
                  <a:srgbClr val="0000FF"/>
                </a:solidFill>
                <a:latin typeface="Consolas" pitchFamily="49" charset="0"/>
                <a:ea typeface="仿宋" pitchFamily="49" charset="-122"/>
              </a:rPr>
              <a:t>d</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之前完成。</a:t>
            </a: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个非负的权值（惩罚代价）集合</a:t>
            </a:r>
            <a:r>
              <a:rPr lang="en-US" altLang="zh-CN">
                <a:solidFill>
                  <a:srgbClr val="0000FF"/>
                </a:solidFill>
                <a:latin typeface="Consolas" pitchFamily="49" charset="0"/>
                <a:ea typeface="仿宋" pitchFamily="49" charset="-122"/>
              </a:rPr>
              <a:t>W={</a:t>
            </a:r>
            <a:r>
              <a:rPr lang="en-US" altLang="zh-CN" i="1">
                <a:solidFill>
                  <a:srgbClr val="0000FF"/>
                </a:solidFill>
                <a:latin typeface="Consolas" pitchFamily="49" charset="0"/>
                <a:ea typeface="仿宋" pitchFamily="49" charset="-122"/>
              </a:rPr>
              <a:t>w</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w</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w</a:t>
            </a:r>
            <a:r>
              <a:rPr lang="en-US" altLang="zh-CN" i="1" baseline="-25000">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。如果</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在</a:t>
            </a:r>
            <a:r>
              <a:rPr lang="en-US" altLang="zh-CN" i="1">
                <a:solidFill>
                  <a:srgbClr val="0000FF"/>
                </a:solidFill>
                <a:latin typeface="Consolas" pitchFamily="49" charset="0"/>
                <a:ea typeface="仿宋" pitchFamily="49" charset="-122"/>
              </a:rPr>
              <a:t>d</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之前没有完成，就会有惩罚</a:t>
            </a:r>
            <a:r>
              <a:rPr lang="en-US" altLang="zh-CN" i="1">
                <a:solidFill>
                  <a:srgbClr val="0000FF"/>
                </a:solidFill>
                <a:latin typeface="Consolas" pitchFamily="49" charset="0"/>
                <a:ea typeface="仿宋" pitchFamily="49" charset="-122"/>
              </a:rPr>
              <a:t>w</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；否则没有惩罚。</a:t>
            </a: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目标是找出一个</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的调度，使得</a:t>
            </a:r>
            <a:r>
              <a:rPr lang="zh-CN" altLang="zh-CN">
                <a:solidFill>
                  <a:srgbClr val="FF0000"/>
                </a:solidFill>
                <a:latin typeface="Consolas" pitchFamily="49" charset="0"/>
                <a:ea typeface="仿宋" pitchFamily="49" charset="-122"/>
              </a:rPr>
              <a:t>总的惩罚最小</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85</a:t>
            </a:fld>
            <a:r>
              <a:rPr lang="en-US" altLang="zh-CN"/>
              <a:t>/109</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71538" y="785794"/>
            <a:ext cx="7643866" cy="326307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1200"/>
              </a:spcBef>
              <a:buBlip>
                <a:blip r:embed="rId3"/>
              </a:buBlip>
            </a:pPr>
            <a:r>
              <a:rPr lang="zh-CN" altLang="zh-CN">
                <a:solidFill>
                  <a:srgbClr val="0000FF"/>
                </a:solidFill>
                <a:latin typeface="Consolas" pitchFamily="49" charset="0"/>
                <a:ea typeface="仿宋" pitchFamily="49" charset="-122"/>
              </a:rPr>
              <a:t>考虑一个给定的调度（即</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个任务的一种执行顺序），该调度中若一个任务在限期之后完成的称其为</a:t>
            </a:r>
            <a:r>
              <a:rPr lang="zh-CN" altLang="zh-CN">
                <a:solidFill>
                  <a:srgbClr val="FF0000"/>
                </a:solidFill>
                <a:latin typeface="Consolas" pitchFamily="49" charset="0"/>
                <a:ea typeface="仿宋" pitchFamily="49" charset="-122"/>
              </a:rPr>
              <a:t>迟任务</a:t>
            </a:r>
            <a:r>
              <a:rPr lang="zh-CN" altLang="zh-CN">
                <a:solidFill>
                  <a:srgbClr val="0000FF"/>
                </a:solidFill>
                <a:latin typeface="Consolas" pitchFamily="49" charset="0"/>
                <a:ea typeface="仿宋" pitchFamily="49" charset="-122"/>
              </a:rPr>
              <a:t>，一个任务在限期之前完成称其为</a:t>
            </a:r>
            <a:r>
              <a:rPr lang="zh-CN" altLang="zh-CN">
                <a:solidFill>
                  <a:srgbClr val="FF0000"/>
                </a:solidFill>
                <a:latin typeface="Consolas" pitchFamily="49" charset="0"/>
                <a:ea typeface="仿宋" pitchFamily="49" charset="-122"/>
              </a:rPr>
              <a:t>早任务</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400"/>
              </a:lnSpc>
              <a:spcBef>
                <a:spcPts val="1200"/>
              </a:spcBef>
              <a:buBlip>
                <a:blip r:embed="rId3"/>
              </a:buBlip>
            </a:pPr>
            <a:r>
              <a:rPr lang="zh-CN" altLang="zh-CN">
                <a:solidFill>
                  <a:srgbClr val="0000FF"/>
                </a:solidFill>
                <a:latin typeface="Consolas" pitchFamily="49" charset="0"/>
                <a:ea typeface="仿宋" pitchFamily="49" charset="-122"/>
              </a:rPr>
              <a:t>一个任意的任务调度总可以安排成早任务优先的形式，其中早任务总是在迟任务之前完成，如果某个早任务</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在迟任务之后</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 那么交换</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和</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的次序，并不会影响</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是早任务和</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是迟任务。</a:t>
            </a:r>
          </a:p>
        </p:txBody>
      </p:sp>
      <p:sp>
        <p:nvSpPr>
          <p:cNvPr id="4" name="TextBox 3"/>
          <p:cNvSpPr txBox="1"/>
          <p:nvPr/>
        </p:nvSpPr>
        <p:spPr>
          <a:xfrm>
            <a:off x="285720" y="1000108"/>
            <a:ext cx="71438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86</a:t>
            </a:fld>
            <a:r>
              <a:rPr lang="en-US" altLang="zh-CN"/>
              <a:t>/109</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85794"/>
            <a:ext cx="8286808"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en-US">
                <a:solidFill>
                  <a:srgbClr val="FF0000"/>
                </a:solidFill>
                <a:latin typeface="楷体" pitchFamily="49" charset="-122"/>
                <a:ea typeface="楷体" pitchFamily="49" charset="-122"/>
              </a:rPr>
              <a:t>最优调度方案</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早任务先于迟任务，并且按照期限的单调递增顺序对早任务进行调度。</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寻找最优调度问题变成了一个寻找一个由最优调度中的早任务构成的集合</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的问题，一旦</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被确定之后，就可以按照期限的单调递增顺序列出</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中的所有元素，从而得到实际的调度</a:t>
            </a:r>
            <a:r>
              <a:rPr lang="zh-CN" altLang="en-US">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87</a:t>
            </a:fld>
            <a:r>
              <a:rPr lang="en-US" altLang="zh-CN"/>
              <a:t>/109</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857232"/>
            <a:ext cx="8143932" cy="1400383"/>
          </a:xfrm>
          <a:prstGeom prst="rect">
            <a:avLst/>
          </a:prstGeom>
          <a:ln>
            <a:solidFill>
              <a:schemeClr val="accent1">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zh-CN" altLang="zh-CN">
                <a:solidFill>
                  <a:srgbClr val="FF0000"/>
                </a:solidFill>
                <a:latin typeface="Consolas" pitchFamily="49" charset="0"/>
                <a:ea typeface="楷体" pitchFamily="49" charset="-122"/>
              </a:rPr>
              <a:t>定理</a:t>
            </a:r>
            <a:r>
              <a:rPr lang="en-US" altLang="zh-CN">
                <a:solidFill>
                  <a:srgbClr val="FF0000"/>
                </a:solidFill>
                <a:latin typeface="Consolas" pitchFamily="49" charset="0"/>
                <a:ea typeface="楷体" pitchFamily="49" charset="-122"/>
              </a:rPr>
              <a:t>8.2 </a:t>
            </a:r>
            <a:r>
              <a:rPr lang="zh-CN" altLang="zh-CN">
                <a:solidFill>
                  <a:srgbClr val="0000FF"/>
                </a:solidFill>
                <a:latin typeface="Consolas" pitchFamily="49" charset="0"/>
                <a:ea typeface="仿宋" pitchFamily="49" charset="-122"/>
              </a:rPr>
              <a:t>如果</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是一个带期限的单位时间任务的集合，并且</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是所有独立的任务集构成的集合，则对应的系统</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是一个拟阵。</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928662" y="3214686"/>
            <a:ext cx="7000924"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itchFamily="49" charset="0"/>
                <a:ea typeface="楷体" pitchFamily="49" charset="-122"/>
                <a:cs typeface="Consolas" pitchFamily="49" charset="0"/>
              </a:rPr>
              <a:t>证明了</a:t>
            </a:r>
            <a:r>
              <a:rPr lang="zh-CN" altLang="zh-CN" sz="2200">
                <a:solidFill>
                  <a:srgbClr val="FF0000"/>
                </a:solidFill>
                <a:latin typeface="楷体" pitchFamily="49" charset="-122"/>
                <a:ea typeface="楷体" pitchFamily="49" charset="-122"/>
              </a:rPr>
              <a:t>单位时间任务调度问题</a:t>
            </a:r>
            <a:r>
              <a:rPr lang="zh-CN" altLang="en-US" sz="2200">
                <a:solidFill>
                  <a:srgbClr val="0000FF"/>
                </a:solidFill>
                <a:latin typeface="楷体" pitchFamily="49" charset="-122"/>
                <a:ea typeface="楷体" pitchFamily="49" charset="-122"/>
              </a:rPr>
              <a:t>采用上述贪心法是正确的！</a:t>
            </a:r>
            <a:endParaRPr lang="zh-CN" altLang="en-US" sz="2200">
              <a:solidFill>
                <a:srgbClr val="0000FF"/>
              </a:solidFill>
              <a:latin typeface="Consolas" pitchFamily="49" charset="0"/>
              <a:ea typeface="楷体" pitchFamily="49" charset="-122"/>
              <a:cs typeface="Consolas" pitchFamily="49" charset="0"/>
            </a:endParaRPr>
          </a:p>
        </p:txBody>
      </p:sp>
      <p:sp>
        <p:nvSpPr>
          <p:cNvPr id="6" name="上箭头 5"/>
          <p:cNvSpPr/>
          <p:nvPr/>
        </p:nvSpPr>
        <p:spPr>
          <a:xfrm>
            <a:off x="4357686" y="2500306"/>
            <a:ext cx="285752" cy="428628"/>
          </a:xfrm>
          <a:prstGeom prst="up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88</a:t>
            </a:fld>
            <a:r>
              <a:rPr lang="en-US" altLang="zh-CN"/>
              <a:t>/109</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642918"/>
            <a:ext cx="8143932" cy="913070"/>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8.9</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如表</a:t>
            </a:r>
            <a:r>
              <a:rPr lang="en-US" altLang="zh-CN">
                <a:solidFill>
                  <a:srgbClr val="0000FF"/>
                </a:solidFill>
                <a:latin typeface="Consolas" pitchFamily="49" charset="0"/>
                <a:ea typeface="仿宋" pitchFamily="49" charset="-122"/>
              </a:rPr>
              <a:t>8.4</a:t>
            </a:r>
            <a:r>
              <a:rPr lang="zh-CN" altLang="zh-CN">
                <a:solidFill>
                  <a:srgbClr val="0000FF"/>
                </a:solidFill>
                <a:latin typeface="Consolas" pitchFamily="49" charset="0"/>
                <a:ea typeface="仿宋" pitchFamily="49" charset="-122"/>
              </a:rPr>
              <a:t>所示的</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个作业，假设每个作业需要一个时间单位加工，采用贪心法求最小惩罚数。</a:t>
            </a:r>
          </a:p>
        </p:txBody>
      </p:sp>
      <p:graphicFrame>
        <p:nvGraphicFramePr>
          <p:cNvPr id="4" name="表格 3"/>
          <p:cNvGraphicFramePr>
            <a:graphicFrameLocks noGrp="1"/>
          </p:cNvGraphicFramePr>
          <p:nvPr/>
        </p:nvGraphicFramePr>
        <p:xfrm>
          <a:off x="1643042" y="2000240"/>
          <a:ext cx="5572163" cy="3078176"/>
        </p:xfrm>
        <a:graphic>
          <a:graphicData uri="http://schemas.openxmlformats.org/drawingml/2006/table">
            <a:tbl>
              <a:tblPr>
                <a:tableStyleId>{35758FB7-9AC5-4552-8A53-C91805E547FA}</a:tableStyleId>
              </a:tblPr>
              <a:tblGrid>
                <a:gridCol w="1952982">
                  <a:extLst>
                    <a:ext uri="{9D8B030D-6E8A-4147-A177-3AD203B41FA5}">
                      <a16:colId xmlns:a16="http://schemas.microsoft.com/office/drawing/2014/main" val="20000"/>
                    </a:ext>
                  </a:extLst>
                </a:gridCol>
                <a:gridCol w="1673369">
                  <a:extLst>
                    <a:ext uri="{9D8B030D-6E8A-4147-A177-3AD203B41FA5}">
                      <a16:colId xmlns:a16="http://schemas.microsoft.com/office/drawing/2014/main" val="20001"/>
                    </a:ext>
                  </a:extLst>
                </a:gridCol>
                <a:gridCol w="1945812">
                  <a:extLst>
                    <a:ext uri="{9D8B030D-6E8A-4147-A177-3AD203B41FA5}">
                      <a16:colId xmlns:a16="http://schemas.microsoft.com/office/drawing/2014/main" val="20002"/>
                    </a:ext>
                  </a:extLst>
                </a:gridCol>
              </a:tblGrid>
              <a:tr h="384772">
                <a:tc>
                  <a:txBody>
                    <a:bodyPr/>
                    <a:lstStyle/>
                    <a:p>
                      <a:pPr algn="ctr">
                        <a:lnSpc>
                          <a:spcPts val="2600"/>
                        </a:lnSpc>
                        <a:spcAft>
                          <a:spcPts val="0"/>
                        </a:spcAft>
                      </a:pPr>
                      <a:r>
                        <a:rPr lang="zh-CN" sz="2000" b="1" kern="100">
                          <a:solidFill>
                            <a:srgbClr val="FF0000"/>
                          </a:solidFill>
                          <a:latin typeface="Consolas" pitchFamily="49" charset="0"/>
                          <a:ea typeface="仿宋" pitchFamily="49" charset="-122"/>
                        </a:rPr>
                        <a:t>作业编号</a:t>
                      </a:r>
                      <a:r>
                        <a:rPr lang="en-US" sz="2000" b="1" kern="100">
                          <a:solidFill>
                            <a:srgbClr val="FF0000"/>
                          </a:solidFill>
                          <a:latin typeface="Consolas" pitchFamily="49" charset="0"/>
                          <a:ea typeface="仿宋" pitchFamily="49" charset="-122"/>
                        </a:rPr>
                        <a:t>a</a:t>
                      </a:r>
                      <a:r>
                        <a:rPr lang="en-US" sz="2000" b="1" kern="100" baseline="-25000">
                          <a:solidFill>
                            <a:srgbClr val="FF0000"/>
                          </a:solidFill>
                          <a:latin typeface="Consolas" pitchFamily="49" charset="0"/>
                          <a:ea typeface="仿宋" pitchFamily="49" charset="-122"/>
                        </a:rPr>
                        <a:t>i</a:t>
                      </a:r>
                      <a:endParaRPr lang="zh-CN" sz="20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zh-CN" sz="2000" b="1" kern="100">
                          <a:solidFill>
                            <a:srgbClr val="FF0000"/>
                          </a:solidFill>
                          <a:latin typeface="Consolas" pitchFamily="49" charset="0"/>
                          <a:ea typeface="仿宋" pitchFamily="49" charset="-122"/>
                        </a:rPr>
                        <a:t>截止时间</a:t>
                      </a:r>
                      <a:r>
                        <a:rPr lang="en-US" sz="2000" b="1" kern="100">
                          <a:solidFill>
                            <a:srgbClr val="FF0000"/>
                          </a:solidFill>
                          <a:latin typeface="Consolas" pitchFamily="49" charset="0"/>
                          <a:ea typeface="仿宋" pitchFamily="49" charset="-122"/>
                        </a:rPr>
                        <a:t>d</a:t>
                      </a:r>
                      <a:r>
                        <a:rPr lang="en-US" sz="2000" b="1" kern="100" baseline="-25000">
                          <a:solidFill>
                            <a:srgbClr val="FF0000"/>
                          </a:solidFill>
                          <a:latin typeface="Consolas" pitchFamily="49" charset="0"/>
                          <a:ea typeface="仿宋" pitchFamily="49" charset="-122"/>
                        </a:rPr>
                        <a:t>i</a:t>
                      </a:r>
                      <a:endParaRPr lang="zh-CN" sz="20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zh-CN" sz="2000" b="1" kern="100">
                          <a:solidFill>
                            <a:srgbClr val="FF0000"/>
                          </a:solidFill>
                          <a:latin typeface="Consolas" pitchFamily="49" charset="0"/>
                          <a:ea typeface="仿宋" pitchFamily="49" charset="-122"/>
                        </a:rPr>
                        <a:t>惩罚值</a:t>
                      </a:r>
                      <a:r>
                        <a:rPr lang="en-US" sz="2000" b="1" kern="100">
                          <a:solidFill>
                            <a:srgbClr val="FF0000"/>
                          </a:solidFill>
                          <a:latin typeface="Consolas" pitchFamily="49" charset="0"/>
                          <a:ea typeface="仿宋" pitchFamily="49" charset="-122"/>
                        </a:rPr>
                        <a:t>w</a:t>
                      </a:r>
                      <a:r>
                        <a:rPr lang="en-US" sz="2000" b="1" kern="100" baseline="-25000">
                          <a:solidFill>
                            <a:srgbClr val="FF0000"/>
                          </a:solidFill>
                          <a:latin typeface="Consolas" pitchFamily="49" charset="0"/>
                          <a:ea typeface="仿宋" pitchFamily="49" charset="-122"/>
                        </a:rPr>
                        <a:t>i</a:t>
                      </a:r>
                      <a:endParaRPr lang="zh-CN" sz="20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384772">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1</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4</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70</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384772">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2</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2</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60</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384772">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3</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4</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50</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384772">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4</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3</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40</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4"/>
                  </a:ext>
                </a:extLst>
              </a:tr>
              <a:tr h="384772">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5</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1</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30</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5"/>
                  </a:ext>
                </a:extLst>
              </a:tr>
              <a:tr h="384772">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6</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4</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20</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6"/>
                  </a:ext>
                </a:extLst>
              </a:tr>
              <a:tr h="384772">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7</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6</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en-US" sz="2000" kern="100">
                          <a:solidFill>
                            <a:srgbClr val="0000FF"/>
                          </a:solidFill>
                          <a:latin typeface="Consolas" pitchFamily="49" charset="0"/>
                          <a:ea typeface="仿宋" pitchFamily="49" charset="-122"/>
                        </a:rPr>
                        <a:t>10</a:t>
                      </a:r>
                      <a:endParaRPr lang="zh-CN" sz="2000"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7"/>
                  </a:ext>
                </a:extLst>
              </a:tr>
            </a:tbl>
          </a:graphicData>
        </a:graphic>
      </p:graphicFrame>
      <p:sp>
        <p:nvSpPr>
          <p:cNvPr id="6" name="灯片编号占位符 5"/>
          <p:cNvSpPr>
            <a:spLocks noGrp="1"/>
          </p:cNvSpPr>
          <p:nvPr>
            <p:ph type="sldNum" sz="quarter" idx="12"/>
          </p:nvPr>
        </p:nvSpPr>
        <p:spPr/>
        <p:txBody>
          <a:bodyPr/>
          <a:lstStyle/>
          <a:p>
            <a:fld id="{7AF016A1-9F15-429F-9EFD-84004B73C732}" type="slidenum">
              <a:rPr lang="en-US" altLang="zh-CN" smtClean="0"/>
              <a:pPr/>
              <a:t>89</a:t>
            </a:fld>
            <a:r>
              <a:rPr lang="en-US" altLang="zh-CN"/>
              <a:t>/7</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1071546"/>
            <a:ext cx="8215370" cy="40934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采用基于拟阵的贪心算法框架</a:t>
            </a:r>
            <a:r>
              <a:rPr lang="en-US" altLang="zh-CN">
                <a:solidFill>
                  <a:srgbClr val="FF0000"/>
                </a:solidFill>
                <a:latin typeface="Consolas" pitchFamily="49" charset="0"/>
                <a:ea typeface="仿宋" pitchFamily="49" charset="-122"/>
              </a:rPr>
              <a:t>greedy</a:t>
            </a:r>
            <a:r>
              <a:rPr lang="en-US" altLang="zh-CN">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求解，对应的加权拟阵</a:t>
            </a:r>
            <a:r>
              <a:rPr lang="en-US" altLang="zh-CN">
                <a:solidFill>
                  <a:srgbClr val="0000FF"/>
                </a:solidFill>
                <a:latin typeface="Consolas" pitchFamily="49" charset="0"/>
                <a:ea typeface="仿宋" pitchFamily="49" charset="-122"/>
              </a:rPr>
              <a:t>M=(S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是所有作业的集合，</a:t>
            </a:r>
            <a:r>
              <a:rPr lang="en-US" altLang="zh-CN">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是早作业集合的集合，权值</a:t>
            </a:r>
            <a:r>
              <a:rPr lang="en-US" altLang="zh-CN" i="1">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为作业的惩罚值，该问题是</a:t>
            </a:r>
            <a:r>
              <a:rPr lang="zh-CN" altLang="zh-CN">
                <a:solidFill>
                  <a:srgbClr val="FF0000"/>
                </a:solidFill>
                <a:latin typeface="华文中宋" pitchFamily="2" charset="-122"/>
                <a:ea typeface="华文中宋" pitchFamily="2" charset="-122"/>
              </a:rPr>
              <a:t>最小化迟作业的惩罚之和</a:t>
            </a:r>
            <a:r>
              <a:rPr lang="zh-CN" altLang="zh-CN">
                <a:solidFill>
                  <a:srgbClr val="0000FF"/>
                </a:solidFill>
                <a:latin typeface="Consolas" pitchFamily="49" charset="0"/>
                <a:ea typeface="仿宋" pitchFamily="49" charset="-122"/>
              </a:rPr>
              <a:t>问题（或者</a:t>
            </a:r>
            <a:r>
              <a:rPr lang="zh-CN" altLang="zh-CN">
                <a:solidFill>
                  <a:srgbClr val="FF0000"/>
                </a:solidFill>
                <a:latin typeface="华文中宋" pitchFamily="2" charset="-122"/>
                <a:ea typeface="华文中宋" pitchFamily="2" charset="-122"/>
              </a:rPr>
              <a:t>最大化早作业的</a:t>
            </a:r>
            <a:r>
              <a:rPr lang="zh-CN" altLang="en-US">
                <a:solidFill>
                  <a:srgbClr val="FF0000"/>
                </a:solidFill>
                <a:latin typeface="华文中宋" pitchFamily="2" charset="-122"/>
                <a:ea typeface="华文中宋" pitchFamily="2" charset="-122"/>
              </a:rPr>
              <a:t>奖励</a:t>
            </a:r>
            <a:r>
              <a:rPr lang="zh-CN" altLang="zh-CN">
                <a:solidFill>
                  <a:srgbClr val="FF0000"/>
                </a:solidFill>
                <a:latin typeface="华文中宋" pitchFamily="2" charset="-122"/>
                <a:ea typeface="华文中宋" pitchFamily="2" charset="-122"/>
              </a:rPr>
              <a:t>之和</a:t>
            </a:r>
            <a:r>
              <a:rPr lang="zh-CN" altLang="zh-CN">
                <a:solidFill>
                  <a:srgbClr val="0000FF"/>
                </a:solidFill>
                <a:latin typeface="Consolas" pitchFamily="49" charset="0"/>
                <a:ea typeface="仿宋" pitchFamily="49" charset="-122"/>
              </a:rPr>
              <a:t>问题）。</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en-US">
                <a:solidFill>
                  <a:srgbClr val="0000FF"/>
                </a:solidFill>
                <a:latin typeface="Consolas" pitchFamily="49" charset="0"/>
                <a:ea typeface="仿宋" pitchFamily="49" charset="-122"/>
              </a:rPr>
              <a:t>贪心策略：</a:t>
            </a:r>
            <a:r>
              <a:rPr lang="zh-CN" altLang="en-US">
                <a:solidFill>
                  <a:srgbClr val="FF0000"/>
                </a:solidFill>
                <a:latin typeface="华文中宋" pitchFamily="2" charset="-122"/>
                <a:ea typeface="华文中宋" pitchFamily="2" charset="-122"/>
              </a:rPr>
              <a:t>优先完成</a:t>
            </a:r>
            <a:r>
              <a:rPr lang="zh-CN" altLang="zh-CN">
                <a:solidFill>
                  <a:srgbClr val="FF0000"/>
                </a:solidFill>
                <a:latin typeface="华文中宋" pitchFamily="2" charset="-122"/>
                <a:ea typeface="华文中宋" pitchFamily="2" charset="-122"/>
              </a:rPr>
              <a:t>惩罚值</a:t>
            </a:r>
            <a:r>
              <a:rPr lang="zh-CN" altLang="en-US">
                <a:solidFill>
                  <a:srgbClr val="FF0000"/>
                </a:solidFill>
                <a:latin typeface="华文中宋" pitchFamily="2" charset="-122"/>
                <a:ea typeface="华文中宋" pitchFamily="2" charset="-122"/>
              </a:rPr>
              <a:t>大的作业</a:t>
            </a:r>
            <a:r>
              <a:rPr lang="zh-CN" altLang="en-US">
                <a:solidFill>
                  <a:srgbClr val="FF0000"/>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表示最小惩罚数（初始为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），按</a:t>
            </a:r>
            <a:r>
              <a:rPr lang="zh-CN" altLang="zh-CN">
                <a:solidFill>
                  <a:srgbClr val="FF0000"/>
                </a:solidFill>
                <a:latin typeface="Consolas" pitchFamily="49" charset="0"/>
                <a:ea typeface="仿宋" pitchFamily="49" charset="-122"/>
              </a:rPr>
              <a:t>惩罚值</a:t>
            </a:r>
            <a:r>
              <a:rPr lang="en-US" altLang="zh-CN" i="1">
                <a:solidFill>
                  <a:srgbClr val="FF0000"/>
                </a:solidFill>
                <a:latin typeface="Consolas" pitchFamily="49" charset="0"/>
                <a:ea typeface="仿宋" pitchFamily="49" charset="-122"/>
              </a:rPr>
              <a:t>w</a:t>
            </a:r>
            <a:r>
              <a:rPr lang="en-US" altLang="zh-CN" i="1" baseline="-25000">
                <a:solidFill>
                  <a:srgbClr val="FF0000"/>
                </a:solidFill>
                <a:latin typeface="Consolas" pitchFamily="49" charset="0"/>
                <a:ea typeface="仿宋" pitchFamily="49" charset="-122"/>
              </a:rPr>
              <a:t>i</a:t>
            </a:r>
            <a:r>
              <a:rPr lang="zh-CN" altLang="zh-CN">
                <a:solidFill>
                  <a:srgbClr val="FF0000"/>
                </a:solidFill>
                <a:latin typeface="Consolas" pitchFamily="49" charset="0"/>
                <a:ea typeface="仿宋" pitchFamily="49" charset="-122"/>
              </a:rPr>
              <a:t>递减排序</a:t>
            </a:r>
            <a:r>
              <a:rPr lang="zh-CN" altLang="zh-CN">
                <a:solidFill>
                  <a:srgbClr val="0000FF"/>
                </a:solidFill>
                <a:latin typeface="Consolas" pitchFamily="49" charset="0"/>
                <a:ea typeface="仿宋" pitchFamily="49" charset="-122"/>
              </a:rPr>
              <a:t>，排序结果为</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70]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60]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p>
        </p:txBody>
      </p:sp>
      <p:sp>
        <p:nvSpPr>
          <p:cNvPr id="4" name="TextBox 3"/>
          <p:cNvSpPr txBox="1"/>
          <p:nvPr/>
        </p:nvSpPr>
        <p:spPr>
          <a:xfrm>
            <a:off x="285720" y="428604"/>
            <a:ext cx="107157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cs typeface="Consolas" pitchFamily="49" charset="0"/>
              </a:rPr>
              <a:t>1</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90</a:t>
            </a:fld>
            <a:r>
              <a:rPr lang="en-US" altLang="zh-CN"/>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642918"/>
            <a:ext cx="7858180" cy="88575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排序结果为</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70]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60]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40]</a:t>
            </a:r>
            <a:r>
              <a:rPr lang="zh-CN" altLang="zh-CN">
                <a:solidFill>
                  <a:srgbClr val="0000FF"/>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[1</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30]</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[4</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20]</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[6</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p>
        </p:txBody>
      </p:sp>
      <p:sp>
        <p:nvSpPr>
          <p:cNvPr id="5" name="TextBox 4"/>
          <p:cNvSpPr txBox="1"/>
          <p:nvPr/>
        </p:nvSpPr>
        <p:spPr>
          <a:xfrm>
            <a:off x="500034" y="2000240"/>
            <a:ext cx="8215370" cy="340439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2800"/>
              </a:lnSpc>
              <a:spcBef>
                <a:spcPts val="12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，任务</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为</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70]</a:t>
            </a:r>
            <a:r>
              <a:rPr lang="zh-CN" altLang="zh-CN" sz="2200">
                <a:solidFill>
                  <a:srgbClr val="0000FF"/>
                </a:solidFill>
                <a:latin typeface="Consolas" pitchFamily="49" charset="0"/>
                <a:ea typeface="仿宋" pitchFamily="49" charset="-122"/>
              </a:rPr>
              <a:t>，其截止时间为</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，选择第</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天完成，</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添加到</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中。</a:t>
            </a:r>
          </a:p>
          <a:p>
            <a:pPr algn="l" defTabSz="360000">
              <a:lnSpc>
                <a:spcPts val="2800"/>
              </a:lnSpc>
              <a:spcBef>
                <a:spcPts val="12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，任务</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为</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60]</a:t>
            </a:r>
            <a:r>
              <a:rPr lang="zh-CN" altLang="zh-CN" sz="2200">
                <a:solidFill>
                  <a:srgbClr val="0000FF"/>
                </a:solidFill>
                <a:latin typeface="Consolas" pitchFamily="49" charset="0"/>
                <a:ea typeface="仿宋" pitchFamily="49" charset="-122"/>
              </a:rPr>
              <a:t>，其截止时间为</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，选择第</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天完成，</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添加到</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中。</a:t>
            </a:r>
          </a:p>
          <a:p>
            <a:pPr algn="l" defTabSz="360000">
              <a:lnSpc>
                <a:spcPts val="2800"/>
              </a:lnSpc>
              <a:spcBef>
                <a:spcPts val="12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，任务</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为</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50]</a:t>
            </a:r>
            <a:r>
              <a:rPr lang="zh-CN" altLang="zh-CN" sz="2200">
                <a:solidFill>
                  <a:srgbClr val="0000FF"/>
                </a:solidFill>
                <a:latin typeface="Consolas" pitchFamily="49" charset="0"/>
                <a:ea typeface="仿宋" pitchFamily="49" charset="-122"/>
              </a:rPr>
              <a:t>，其截止时间为</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，选择第</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天完成，</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添加到</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中。</a:t>
            </a:r>
          </a:p>
          <a:p>
            <a:pPr algn="l" defTabSz="360000">
              <a:lnSpc>
                <a:spcPts val="2800"/>
              </a:lnSpc>
              <a:spcBef>
                <a:spcPts val="12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，任务</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为</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40]</a:t>
            </a:r>
            <a:r>
              <a:rPr lang="zh-CN" altLang="zh-CN" sz="2200">
                <a:solidFill>
                  <a:srgbClr val="0000FF"/>
                </a:solidFill>
                <a:latin typeface="Consolas" pitchFamily="49" charset="0"/>
                <a:ea typeface="仿宋" pitchFamily="49" charset="-122"/>
              </a:rPr>
              <a:t>，其截止时间为</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，选择第</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天完成，</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添加到</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中。</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91</a:t>
            </a:fld>
            <a:r>
              <a:rPr lang="en-US" altLang="zh-CN"/>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642918"/>
            <a:ext cx="7858180"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排序结果为</a:t>
            </a:r>
            <a:r>
              <a:rPr lang="en-US" altLang="zh-CN">
                <a:solidFill>
                  <a:schemeClr val="bg1">
                    <a:lumMod val="50000"/>
                  </a:schemeClr>
                </a:solidFill>
                <a:latin typeface="Consolas" pitchFamily="49" charset="0"/>
                <a:ea typeface="仿宋" pitchFamily="49" charset="-122"/>
              </a:rPr>
              <a:t>[4</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70]</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[2</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60]</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[4</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50]</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[3</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40]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p>
        </p:txBody>
      </p:sp>
      <p:sp>
        <p:nvSpPr>
          <p:cNvPr id="5" name="TextBox 4"/>
          <p:cNvSpPr txBox="1"/>
          <p:nvPr/>
        </p:nvSpPr>
        <p:spPr>
          <a:xfrm>
            <a:off x="500034" y="2000240"/>
            <a:ext cx="8215370" cy="240065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28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，任务</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为</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30]</a:t>
            </a:r>
            <a:r>
              <a:rPr lang="zh-CN" altLang="zh-CN" sz="2200">
                <a:solidFill>
                  <a:srgbClr val="0000FF"/>
                </a:solidFill>
                <a:latin typeface="Consolas" pitchFamily="49" charset="0"/>
                <a:ea typeface="仿宋" pitchFamily="49" charset="-122"/>
              </a:rPr>
              <a:t>，其截止时间为</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，第</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天被占用，不能完成该任务，需要惩罚，</a:t>
            </a:r>
            <a:r>
              <a:rPr lang="en-US" altLang="zh-CN" sz="2200">
                <a:solidFill>
                  <a:srgbClr val="0000FF"/>
                </a:solidFill>
                <a:latin typeface="Consolas" pitchFamily="49" charset="0"/>
                <a:ea typeface="仿宋" pitchFamily="49" charset="-122"/>
              </a:rPr>
              <a:t>ans=30</a:t>
            </a:r>
            <a:r>
              <a:rPr lang="zh-CN" altLang="zh-CN" sz="2200">
                <a:solidFill>
                  <a:srgbClr val="0000FF"/>
                </a:solidFill>
                <a:latin typeface="Consolas" pitchFamily="49" charset="0"/>
                <a:ea typeface="仿宋" pitchFamily="49" charset="-122"/>
              </a:rPr>
              <a:t>。</a:t>
            </a:r>
          </a:p>
          <a:p>
            <a:pPr algn="l" defTabSz="360000">
              <a:lnSpc>
                <a:spcPts val="28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，任务</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为</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20]</a:t>
            </a:r>
            <a:r>
              <a:rPr lang="zh-CN" altLang="zh-CN" sz="2200">
                <a:solidFill>
                  <a:srgbClr val="0000FF"/>
                </a:solidFill>
                <a:latin typeface="Consolas" pitchFamily="49" charset="0"/>
                <a:ea typeface="仿宋" pitchFamily="49" charset="-122"/>
              </a:rPr>
              <a:t>，其截止时间为</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，第</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天均被占用，不能完成该任务，需要惩罚，</a:t>
            </a:r>
            <a:r>
              <a:rPr lang="en-US" altLang="zh-CN" sz="2200">
                <a:solidFill>
                  <a:srgbClr val="0000FF"/>
                </a:solidFill>
                <a:latin typeface="Consolas" pitchFamily="49" charset="0"/>
                <a:ea typeface="仿宋" pitchFamily="49" charset="-122"/>
              </a:rPr>
              <a:t>ans=30+20=50</a:t>
            </a:r>
            <a:r>
              <a:rPr lang="zh-CN" altLang="zh-CN" sz="2200">
                <a:solidFill>
                  <a:srgbClr val="0000FF"/>
                </a:solidFill>
                <a:latin typeface="Consolas" pitchFamily="49" charset="0"/>
                <a:ea typeface="仿宋" pitchFamily="49" charset="-122"/>
              </a:rPr>
              <a:t>。</a:t>
            </a:r>
          </a:p>
          <a:p>
            <a:pPr algn="l" defTabSz="360000">
              <a:lnSpc>
                <a:spcPts val="28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，任务</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为</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10]</a:t>
            </a:r>
            <a:r>
              <a:rPr lang="zh-CN" altLang="zh-CN" sz="2200">
                <a:solidFill>
                  <a:srgbClr val="0000FF"/>
                </a:solidFill>
                <a:latin typeface="Consolas" pitchFamily="49" charset="0"/>
                <a:ea typeface="仿宋" pitchFamily="49" charset="-122"/>
              </a:rPr>
              <a:t>，其截止时间为</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，选择第</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天完成，</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添加到</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中。</a:t>
            </a:r>
          </a:p>
        </p:txBody>
      </p:sp>
      <p:sp>
        <p:nvSpPr>
          <p:cNvPr id="6" name="TextBox 5"/>
          <p:cNvSpPr txBox="1"/>
          <p:nvPr/>
        </p:nvSpPr>
        <p:spPr>
          <a:xfrm>
            <a:off x="428596" y="4786322"/>
            <a:ext cx="8286808" cy="861774"/>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zh-CN" altLang="zh-CN" sz="2200">
                <a:solidFill>
                  <a:srgbClr val="FF0000"/>
                </a:solidFill>
                <a:latin typeface="Consolas" pitchFamily="49" charset="0"/>
                <a:ea typeface="仿宋" pitchFamily="49" charset="-122"/>
              </a:rPr>
              <a:t>最小惩罚数</a:t>
            </a:r>
            <a:r>
              <a:rPr lang="en-US" altLang="zh-CN" sz="2200">
                <a:solidFill>
                  <a:srgbClr val="0000FF"/>
                </a:solidFill>
                <a:latin typeface="Consolas" pitchFamily="49" charset="0"/>
                <a:ea typeface="仿宋" pitchFamily="49" charset="-122"/>
              </a:rPr>
              <a:t>ans=50</a:t>
            </a:r>
            <a:r>
              <a:rPr lang="zh-CN" altLang="zh-CN" sz="2200">
                <a:solidFill>
                  <a:srgbClr val="0000FF"/>
                </a:solidFill>
                <a:latin typeface="Consolas" pitchFamily="49" charset="0"/>
                <a:ea typeface="仿宋" pitchFamily="49" charset="-122"/>
              </a:rPr>
              <a:t>，对应的独立任务集</a:t>
            </a:r>
            <a:r>
              <a:rPr lang="en-US" altLang="zh-CN" sz="2200">
                <a:solidFill>
                  <a:srgbClr val="0000FF"/>
                </a:solidFill>
                <a:latin typeface="Consolas" pitchFamily="49" charset="0"/>
                <a:ea typeface="仿宋" pitchFamily="49" charset="-122"/>
              </a:rPr>
              <a:t>A={</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1</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2</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3</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4</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7</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，最终的一个最优调度是</a:t>
            </a:r>
            <a:r>
              <a:rPr lang="en-US" altLang="zh-CN" sz="2200">
                <a:solidFill>
                  <a:srgbClr val="0000FF"/>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1</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2</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3</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4</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6</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endParaRPr lang="zh-CN" altLang="en-US" sz="2200">
              <a:solidFill>
                <a:srgbClr val="0000FF"/>
              </a:solidFill>
              <a:latin typeface="Consolas" pitchFamily="49" charset="0"/>
              <a:ea typeface="仿宋" pitchFamily="49" charset="-122"/>
              <a:cs typeface="Consolas" pitchFamily="49" charset="0"/>
            </a:endParaRPr>
          </a:p>
        </p:txBody>
      </p:sp>
      <p:sp>
        <p:nvSpPr>
          <p:cNvPr id="7" name="下箭头 6"/>
          <p:cNvSpPr/>
          <p:nvPr/>
        </p:nvSpPr>
        <p:spPr>
          <a:xfrm>
            <a:off x="4143372" y="4429132"/>
            <a:ext cx="357190"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92</a:t>
            </a:fld>
            <a:r>
              <a:rPr lang="en-US" altLang="zh-CN"/>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434946"/>
            <a:ext cx="8143932" cy="2708434"/>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也可以将这样的贪心解法，将</a:t>
            </a:r>
            <a:r>
              <a:rPr lang="zh-CN" altLang="zh-CN">
                <a:solidFill>
                  <a:srgbClr val="FF0000"/>
                </a:solidFill>
                <a:latin typeface="Consolas" pitchFamily="49" charset="0"/>
                <a:ea typeface="仿宋" pitchFamily="49" charset="-122"/>
              </a:rPr>
              <a:t>全部作业按截止时间</a:t>
            </a:r>
            <a:r>
              <a:rPr lang="en-US" altLang="zh-CN" i="1">
                <a:solidFill>
                  <a:srgbClr val="FF0000"/>
                </a:solidFill>
                <a:latin typeface="Consolas" pitchFamily="49" charset="0"/>
                <a:ea typeface="仿宋" pitchFamily="49" charset="-122"/>
              </a:rPr>
              <a:t>d</a:t>
            </a:r>
            <a:r>
              <a:rPr lang="zh-CN" altLang="zh-CN">
                <a:solidFill>
                  <a:srgbClr val="FF0000"/>
                </a:solidFill>
                <a:latin typeface="Consolas" pitchFamily="49" charset="0"/>
                <a:ea typeface="仿宋" pitchFamily="49" charset="-122"/>
              </a:rPr>
              <a:t>递减排序</a:t>
            </a:r>
            <a:r>
              <a:rPr lang="zh-CN" altLang="zh-CN">
                <a:solidFill>
                  <a:srgbClr val="0000FF"/>
                </a:solidFill>
                <a:latin typeface="Consolas" pitchFamily="49" charset="0"/>
                <a:ea typeface="仿宋" pitchFamily="49" charset="-122"/>
              </a:rPr>
              <a:t>，排序结果为</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70]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60]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30]</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表示最小惩罚数（初始为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），最大的截止时间为</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day</a:t>
            </a:r>
            <a:r>
              <a:rPr lang="zh-CN" altLang="zh-CN">
                <a:solidFill>
                  <a:srgbClr val="0000FF"/>
                </a:solidFill>
                <a:latin typeface="Consolas" pitchFamily="49" charset="0"/>
                <a:ea typeface="仿宋" pitchFamily="49" charset="-122"/>
              </a:rPr>
              <a:t>从</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到</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循环，每一天选择早任务（截止时间</a:t>
            </a:r>
            <a:r>
              <a:rPr lang="zh-CN" altLang="zh-CN">
                <a:solidFill>
                  <a:srgbClr val="0000FF"/>
                </a:solidFill>
                <a:latin typeface="+mn-ea"/>
              </a:rPr>
              <a:t>≥</a:t>
            </a:r>
            <a:r>
              <a:rPr lang="en-US" altLang="zh-CN">
                <a:solidFill>
                  <a:srgbClr val="0000FF"/>
                </a:solidFill>
                <a:latin typeface="Consolas" pitchFamily="49" charset="0"/>
                <a:ea typeface="仿宋" pitchFamily="49" charset="-122"/>
              </a:rPr>
              <a:t>day</a:t>
            </a:r>
            <a:r>
              <a:rPr lang="zh-CN" altLang="zh-CN">
                <a:solidFill>
                  <a:srgbClr val="0000FF"/>
                </a:solidFill>
                <a:latin typeface="Consolas" pitchFamily="49" charset="0"/>
                <a:ea typeface="仿宋" pitchFamily="49" charset="-122"/>
              </a:rPr>
              <a:t>）中惩罚值最大的任务来完成</a:t>
            </a:r>
            <a:r>
              <a:rPr lang="zh-CN" altLang="en-US">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endParaRPr>
          </a:p>
        </p:txBody>
      </p:sp>
      <p:sp>
        <p:nvSpPr>
          <p:cNvPr id="4" name="TextBox 3"/>
          <p:cNvSpPr txBox="1"/>
          <p:nvPr/>
        </p:nvSpPr>
        <p:spPr>
          <a:xfrm>
            <a:off x="428596" y="571480"/>
            <a:ext cx="107157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2</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93</a:t>
            </a:fld>
            <a:r>
              <a:rPr lang="en-US" altLang="zh-CN"/>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1857364"/>
            <a:ext cx="8215370" cy="321844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12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day=6</a:t>
            </a:r>
            <a:r>
              <a:rPr lang="zh-CN" altLang="zh-CN" sz="2200">
                <a:solidFill>
                  <a:srgbClr val="0000FF"/>
                </a:solidFill>
                <a:latin typeface="Consolas" pitchFamily="49" charset="0"/>
                <a:ea typeface="仿宋" pitchFamily="49" charset="-122"/>
              </a:rPr>
              <a:t>：截止时间大于等于</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的任务为</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10]</a:t>
            </a:r>
            <a:r>
              <a:rPr lang="zh-CN" altLang="zh-CN" sz="2200">
                <a:solidFill>
                  <a:srgbClr val="0000FF"/>
                </a:solidFill>
                <a:latin typeface="Consolas" pitchFamily="49" charset="0"/>
                <a:ea typeface="仿宋" pitchFamily="49" charset="-122"/>
              </a:rPr>
              <a:t>，在第</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天完成作业</a:t>
            </a:r>
            <a:r>
              <a:rPr lang="en-US" altLang="zh-CN" sz="2200">
                <a:solidFill>
                  <a:srgbClr val="FF0000"/>
                </a:solidFill>
                <a:latin typeface="Consolas" pitchFamily="49" charset="0"/>
                <a:ea typeface="仿宋" pitchFamily="49" charset="-122"/>
              </a:rPr>
              <a:t>[6</a:t>
            </a:r>
            <a:r>
              <a:rPr lang="zh-CN" altLang="zh-CN" sz="2200">
                <a:solidFill>
                  <a:srgbClr val="FF0000"/>
                </a:solidFill>
                <a:latin typeface="Consolas" pitchFamily="49" charset="0"/>
                <a:ea typeface="仿宋" pitchFamily="49" charset="-122"/>
              </a:rPr>
              <a:t>，</a:t>
            </a:r>
            <a:r>
              <a:rPr lang="en-US" altLang="zh-CN" sz="2200">
                <a:solidFill>
                  <a:srgbClr val="FF0000"/>
                </a:solidFill>
                <a:latin typeface="Consolas" pitchFamily="49" charset="0"/>
                <a:ea typeface="仿宋" pitchFamily="49" charset="-122"/>
              </a:rPr>
              <a:t>10]</a:t>
            </a:r>
            <a:r>
              <a:rPr lang="zh-CN" altLang="zh-CN" sz="2200">
                <a:solidFill>
                  <a:srgbClr val="0000FF"/>
                </a:solidFill>
                <a:latin typeface="Consolas" pitchFamily="49" charset="0"/>
                <a:ea typeface="仿宋" pitchFamily="49" charset="-122"/>
              </a:rPr>
              <a:t>。</a:t>
            </a:r>
          </a:p>
          <a:p>
            <a:pPr algn="l" defTabSz="360000">
              <a:lnSpc>
                <a:spcPts val="3000"/>
              </a:lnSpc>
              <a:spcBef>
                <a:spcPts val="12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day=5</a:t>
            </a:r>
            <a:r>
              <a:rPr lang="zh-CN" altLang="zh-CN" sz="2200">
                <a:solidFill>
                  <a:srgbClr val="0000FF"/>
                </a:solidFill>
                <a:latin typeface="Consolas" pitchFamily="49" charset="0"/>
                <a:ea typeface="仿宋" pitchFamily="49" charset="-122"/>
              </a:rPr>
              <a:t>：截止时间大于等于</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的任务为空。</a:t>
            </a:r>
          </a:p>
          <a:p>
            <a:pPr algn="l" defTabSz="360000">
              <a:lnSpc>
                <a:spcPts val="3000"/>
              </a:lnSpc>
              <a:spcBef>
                <a:spcPts val="12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day=4</a:t>
            </a:r>
            <a:r>
              <a:rPr lang="zh-CN" altLang="zh-CN" sz="2200">
                <a:solidFill>
                  <a:srgbClr val="0000FF"/>
                </a:solidFill>
                <a:latin typeface="Consolas" pitchFamily="49" charset="0"/>
                <a:ea typeface="仿宋" pitchFamily="49" charset="-122"/>
              </a:rPr>
              <a:t>：截止时间大于等于</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的任务为</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70]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50]</a:t>
            </a:r>
            <a:r>
              <a:rPr lang="zh-CN" altLang="zh-CN" sz="2200">
                <a:solidFill>
                  <a:srgbClr val="0000FF"/>
                </a:solidFill>
                <a:latin typeface="Consolas" pitchFamily="49" charset="0"/>
                <a:ea typeface="仿宋" pitchFamily="49" charset="-122"/>
              </a:rPr>
              <a:t>和</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20]</a:t>
            </a:r>
            <a:r>
              <a:rPr lang="zh-CN" altLang="zh-CN" sz="2200">
                <a:solidFill>
                  <a:srgbClr val="0000FF"/>
                </a:solidFill>
                <a:latin typeface="Consolas" pitchFamily="49" charset="0"/>
                <a:ea typeface="仿宋" pitchFamily="49" charset="-122"/>
              </a:rPr>
              <a:t>，在第</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天完成惩罚值最大的作业</a:t>
            </a:r>
            <a:r>
              <a:rPr lang="en-US" altLang="zh-CN" sz="2200">
                <a:solidFill>
                  <a:srgbClr val="FF0000"/>
                </a:solidFill>
                <a:latin typeface="Consolas" pitchFamily="49" charset="0"/>
                <a:ea typeface="仿宋" pitchFamily="49" charset="-122"/>
              </a:rPr>
              <a:t>[4</a:t>
            </a:r>
            <a:r>
              <a:rPr lang="zh-CN" altLang="zh-CN" sz="2200">
                <a:solidFill>
                  <a:srgbClr val="FF0000"/>
                </a:solidFill>
                <a:latin typeface="Consolas" pitchFamily="49" charset="0"/>
                <a:ea typeface="仿宋" pitchFamily="49" charset="-122"/>
              </a:rPr>
              <a:t>，</a:t>
            </a:r>
            <a:r>
              <a:rPr lang="en-US" altLang="zh-CN" sz="2200">
                <a:solidFill>
                  <a:srgbClr val="FF0000"/>
                </a:solidFill>
                <a:latin typeface="Consolas" pitchFamily="49" charset="0"/>
                <a:ea typeface="仿宋" pitchFamily="49" charset="-122"/>
              </a:rPr>
              <a:t>70]</a:t>
            </a:r>
            <a:r>
              <a:rPr lang="zh-CN" altLang="zh-CN" sz="2200">
                <a:solidFill>
                  <a:srgbClr val="0000FF"/>
                </a:solidFill>
                <a:latin typeface="Consolas" pitchFamily="49" charset="0"/>
                <a:ea typeface="仿宋" pitchFamily="49" charset="-122"/>
              </a:rPr>
              <a:t>。</a:t>
            </a:r>
          </a:p>
          <a:p>
            <a:pPr algn="l" defTabSz="360000">
              <a:lnSpc>
                <a:spcPts val="3000"/>
              </a:lnSpc>
              <a:spcBef>
                <a:spcPts val="12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day=3</a:t>
            </a:r>
            <a:r>
              <a:rPr lang="zh-CN" altLang="zh-CN" sz="2200">
                <a:solidFill>
                  <a:srgbClr val="0000FF"/>
                </a:solidFill>
                <a:latin typeface="Consolas" pitchFamily="49" charset="0"/>
                <a:ea typeface="仿宋" pitchFamily="49" charset="-122"/>
              </a:rPr>
              <a:t>：截止时间大于等于</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的任务为</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20]</a:t>
            </a:r>
            <a:r>
              <a:rPr lang="zh-CN" altLang="zh-CN" sz="2200">
                <a:solidFill>
                  <a:srgbClr val="0000FF"/>
                </a:solidFill>
                <a:latin typeface="Consolas" pitchFamily="49" charset="0"/>
                <a:ea typeface="仿宋" pitchFamily="49" charset="-122"/>
              </a:rPr>
              <a:t>和</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40]</a:t>
            </a:r>
            <a:r>
              <a:rPr lang="zh-CN" altLang="zh-CN" sz="2200">
                <a:solidFill>
                  <a:srgbClr val="0000FF"/>
                </a:solidFill>
                <a:latin typeface="Consolas" pitchFamily="49" charset="0"/>
                <a:ea typeface="仿宋" pitchFamily="49" charset="-122"/>
              </a:rPr>
              <a:t>，在第</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天完成惩罚值最大的作业</a:t>
            </a:r>
            <a:r>
              <a:rPr lang="en-US" altLang="zh-CN" sz="2200">
                <a:solidFill>
                  <a:srgbClr val="FF0000"/>
                </a:solidFill>
                <a:latin typeface="Consolas" pitchFamily="49" charset="0"/>
                <a:ea typeface="仿宋" pitchFamily="49" charset="-122"/>
              </a:rPr>
              <a:t>[4</a:t>
            </a:r>
            <a:r>
              <a:rPr lang="zh-CN" altLang="zh-CN" sz="2200">
                <a:solidFill>
                  <a:srgbClr val="FF0000"/>
                </a:solidFill>
                <a:latin typeface="Consolas" pitchFamily="49" charset="0"/>
                <a:ea typeface="仿宋" pitchFamily="49" charset="-122"/>
              </a:rPr>
              <a:t>，</a:t>
            </a:r>
            <a:r>
              <a:rPr lang="en-US" altLang="zh-CN" sz="2200">
                <a:solidFill>
                  <a:srgbClr val="FF0000"/>
                </a:solidFill>
                <a:latin typeface="Consolas" pitchFamily="49" charset="0"/>
                <a:ea typeface="仿宋" pitchFamily="49" charset="-122"/>
              </a:rPr>
              <a:t>50]</a:t>
            </a:r>
            <a:r>
              <a:rPr lang="zh-CN" altLang="zh-CN" sz="2200">
                <a:solidFill>
                  <a:srgbClr val="0000FF"/>
                </a:solidFill>
                <a:latin typeface="Consolas" pitchFamily="49" charset="0"/>
                <a:ea typeface="仿宋" pitchFamily="49" charset="-122"/>
              </a:rPr>
              <a:t>。</a:t>
            </a:r>
          </a:p>
        </p:txBody>
      </p:sp>
      <p:sp>
        <p:nvSpPr>
          <p:cNvPr id="6" name="TextBox 5"/>
          <p:cNvSpPr txBox="1"/>
          <p:nvPr/>
        </p:nvSpPr>
        <p:spPr>
          <a:xfrm>
            <a:off x="428596" y="500042"/>
            <a:ext cx="7858180" cy="8617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000"/>
              </a:lnSpc>
              <a:spcBef>
                <a:spcPts val="600"/>
              </a:spcBef>
              <a:buBlip>
                <a:blip r:embed="rId3"/>
              </a:buBlip>
            </a:pPr>
            <a:r>
              <a:rPr lang="zh-CN" altLang="zh-CN">
                <a:solidFill>
                  <a:srgbClr val="0000FF"/>
                </a:solidFill>
                <a:latin typeface="Consolas" pitchFamily="49" charset="0"/>
                <a:ea typeface="仿宋" pitchFamily="49" charset="-122"/>
              </a:rPr>
              <a:t>按截止时间</a:t>
            </a:r>
            <a:r>
              <a:rPr lang="en-US" altLang="zh-CN" i="1">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递减排序</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 </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70]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50]</a:t>
            </a:r>
            <a:r>
              <a:rPr lang="zh-CN" altLang="zh-CN">
                <a:solidFill>
                  <a:srgbClr val="0000FF"/>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[4</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20]</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[3</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40]</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[2</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60]</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[1</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30]</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94</a:t>
            </a:fld>
            <a:r>
              <a:rPr lang="en-US" altLang="zh-CN"/>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2000240"/>
            <a:ext cx="8215370" cy="178510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12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day=2</a:t>
            </a:r>
            <a:r>
              <a:rPr lang="zh-CN" altLang="zh-CN" sz="2200">
                <a:solidFill>
                  <a:srgbClr val="0000FF"/>
                </a:solidFill>
                <a:latin typeface="Consolas" pitchFamily="49" charset="0"/>
                <a:ea typeface="仿宋" pitchFamily="49" charset="-122"/>
              </a:rPr>
              <a:t>：截止时间大于等于</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的任务为</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40]</a:t>
            </a:r>
            <a:r>
              <a:rPr lang="zh-CN" altLang="zh-CN" sz="2200">
                <a:solidFill>
                  <a:srgbClr val="0000FF"/>
                </a:solidFill>
                <a:latin typeface="Consolas" pitchFamily="49" charset="0"/>
                <a:ea typeface="仿宋" pitchFamily="49" charset="-122"/>
              </a:rPr>
              <a:t>和</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60]</a:t>
            </a:r>
            <a:r>
              <a:rPr lang="zh-CN" altLang="zh-CN" sz="2200">
                <a:solidFill>
                  <a:srgbClr val="0000FF"/>
                </a:solidFill>
                <a:latin typeface="Consolas" pitchFamily="49" charset="0"/>
                <a:ea typeface="仿宋" pitchFamily="49" charset="-122"/>
              </a:rPr>
              <a:t>，在第</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天完成惩罚值最大的作业</a:t>
            </a:r>
            <a:r>
              <a:rPr lang="en-US" altLang="zh-CN" sz="2200">
                <a:solidFill>
                  <a:srgbClr val="FF0000"/>
                </a:solidFill>
                <a:latin typeface="Consolas" pitchFamily="49" charset="0"/>
                <a:ea typeface="仿宋" pitchFamily="49" charset="-122"/>
              </a:rPr>
              <a:t>[2</a:t>
            </a:r>
            <a:r>
              <a:rPr lang="zh-CN" altLang="zh-CN" sz="2200">
                <a:solidFill>
                  <a:srgbClr val="FF0000"/>
                </a:solidFill>
                <a:latin typeface="Consolas" pitchFamily="49" charset="0"/>
                <a:ea typeface="仿宋" pitchFamily="49" charset="-122"/>
              </a:rPr>
              <a:t>，</a:t>
            </a:r>
            <a:r>
              <a:rPr lang="en-US" altLang="zh-CN" sz="2200">
                <a:solidFill>
                  <a:srgbClr val="FF0000"/>
                </a:solidFill>
                <a:latin typeface="Consolas" pitchFamily="49" charset="0"/>
                <a:ea typeface="仿宋" pitchFamily="49" charset="-122"/>
              </a:rPr>
              <a:t>60]</a:t>
            </a:r>
            <a:r>
              <a:rPr lang="zh-CN" altLang="zh-CN" sz="2200">
                <a:solidFill>
                  <a:srgbClr val="0000FF"/>
                </a:solidFill>
                <a:latin typeface="Consolas" pitchFamily="49" charset="0"/>
                <a:ea typeface="仿宋" pitchFamily="49" charset="-122"/>
              </a:rPr>
              <a:t>。</a:t>
            </a:r>
          </a:p>
          <a:p>
            <a:pPr algn="l" defTabSz="360000">
              <a:lnSpc>
                <a:spcPts val="3000"/>
              </a:lnSpc>
              <a:spcBef>
                <a:spcPts val="12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6</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day=1</a:t>
            </a:r>
            <a:r>
              <a:rPr lang="zh-CN" altLang="zh-CN" sz="2200">
                <a:solidFill>
                  <a:srgbClr val="0000FF"/>
                </a:solidFill>
                <a:latin typeface="Consolas" pitchFamily="49" charset="0"/>
                <a:ea typeface="仿宋" pitchFamily="49" charset="-122"/>
              </a:rPr>
              <a:t>：截止时间大于等于</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的任务为</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40]</a:t>
            </a:r>
            <a:r>
              <a:rPr lang="zh-CN" altLang="zh-CN" sz="2200">
                <a:solidFill>
                  <a:srgbClr val="0000FF"/>
                </a:solidFill>
                <a:latin typeface="Consolas" pitchFamily="49" charset="0"/>
                <a:ea typeface="仿宋" pitchFamily="49" charset="-122"/>
              </a:rPr>
              <a:t>和</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30]</a:t>
            </a:r>
            <a:r>
              <a:rPr lang="zh-CN" altLang="zh-CN" sz="2200">
                <a:solidFill>
                  <a:srgbClr val="0000FF"/>
                </a:solidFill>
                <a:latin typeface="Consolas" pitchFamily="49" charset="0"/>
                <a:ea typeface="仿宋" pitchFamily="49" charset="-122"/>
              </a:rPr>
              <a:t>，在第</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天完成惩罚值最大的作业</a:t>
            </a:r>
            <a:r>
              <a:rPr lang="en-US" altLang="zh-CN" sz="2200">
                <a:solidFill>
                  <a:srgbClr val="FF0000"/>
                </a:solidFill>
                <a:latin typeface="Consolas" pitchFamily="49" charset="0"/>
                <a:ea typeface="仿宋" pitchFamily="49" charset="-122"/>
              </a:rPr>
              <a:t>[3</a:t>
            </a:r>
            <a:r>
              <a:rPr lang="zh-CN" altLang="zh-CN" sz="2200">
                <a:solidFill>
                  <a:srgbClr val="FF0000"/>
                </a:solidFill>
                <a:latin typeface="Consolas" pitchFamily="49" charset="0"/>
                <a:ea typeface="仿宋" pitchFamily="49" charset="-122"/>
              </a:rPr>
              <a:t>，</a:t>
            </a:r>
            <a:r>
              <a:rPr lang="en-US" altLang="zh-CN" sz="2200">
                <a:solidFill>
                  <a:srgbClr val="FF0000"/>
                </a:solidFill>
                <a:latin typeface="Consolas" pitchFamily="49" charset="0"/>
                <a:ea typeface="仿宋" pitchFamily="49" charset="-122"/>
              </a:rPr>
              <a:t>40]</a:t>
            </a:r>
            <a:r>
              <a:rPr lang="zh-CN" altLang="zh-CN" sz="2200">
                <a:solidFill>
                  <a:srgbClr val="0000FF"/>
                </a:solidFill>
                <a:latin typeface="Consolas" pitchFamily="49" charset="0"/>
                <a:ea typeface="仿宋" pitchFamily="49" charset="-122"/>
              </a:rPr>
              <a:t>。</a:t>
            </a:r>
          </a:p>
        </p:txBody>
      </p:sp>
      <p:sp>
        <p:nvSpPr>
          <p:cNvPr id="6" name="TextBox 5"/>
          <p:cNvSpPr txBox="1"/>
          <p:nvPr/>
        </p:nvSpPr>
        <p:spPr>
          <a:xfrm>
            <a:off x="428596" y="4572008"/>
            <a:ext cx="8358246" cy="91307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zh-CN" altLang="zh-CN" sz="2200">
                <a:solidFill>
                  <a:srgbClr val="0000FF"/>
                </a:solidFill>
                <a:latin typeface="Consolas" pitchFamily="49" charset="0"/>
                <a:ea typeface="仿宋" pitchFamily="49" charset="-122"/>
              </a:rPr>
              <a:t>不能完成的任务是</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20]</a:t>
            </a:r>
            <a:r>
              <a:rPr lang="zh-CN" altLang="zh-CN" sz="2200">
                <a:solidFill>
                  <a:srgbClr val="0000FF"/>
                </a:solidFill>
                <a:latin typeface="Consolas" pitchFamily="49" charset="0"/>
                <a:ea typeface="仿宋" pitchFamily="49" charset="-122"/>
              </a:rPr>
              <a:t>和</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30]</a:t>
            </a:r>
            <a:r>
              <a:rPr lang="zh-CN" altLang="zh-CN" sz="2200">
                <a:solidFill>
                  <a:srgbClr val="0000FF"/>
                </a:solidFill>
                <a:latin typeface="Consolas" pitchFamily="49" charset="0"/>
                <a:ea typeface="仿宋" pitchFamily="49" charset="-122"/>
              </a:rPr>
              <a:t>，对应的</a:t>
            </a:r>
            <a:r>
              <a:rPr lang="zh-CN" altLang="zh-CN" sz="2200">
                <a:solidFill>
                  <a:srgbClr val="FF0000"/>
                </a:solidFill>
                <a:latin typeface="Consolas" pitchFamily="49" charset="0"/>
                <a:ea typeface="仿宋" pitchFamily="49" charset="-122"/>
              </a:rPr>
              <a:t>最小惩罚数</a:t>
            </a:r>
            <a:r>
              <a:rPr lang="en-US" altLang="zh-CN" sz="2200">
                <a:solidFill>
                  <a:srgbClr val="0000FF"/>
                </a:solidFill>
                <a:latin typeface="Consolas" pitchFamily="49" charset="0"/>
                <a:ea typeface="仿宋" pitchFamily="49" charset="-122"/>
              </a:rPr>
              <a:t>ans=20+30=50</a:t>
            </a:r>
            <a:r>
              <a:rPr lang="zh-CN" altLang="zh-CN" sz="2200">
                <a:solidFill>
                  <a:srgbClr val="0000FF"/>
                </a:solidFill>
                <a:latin typeface="Consolas" pitchFamily="49" charset="0"/>
                <a:ea typeface="仿宋" pitchFamily="49" charset="-122"/>
              </a:rPr>
              <a:t>，一个最优调度是</a:t>
            </a:r>
            <a:r>
              <a:rPr lang="en-US" altLang="zh-CN" sz="2200">
                <a:solidFill>
                  <a:srgbClr val="0000FF"/>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4</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2</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3</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1</a:t>
            </a:r>
            <a:r>
              <a:rPr lang="zh-CN" altLang="zh-CN" sz="2200">
                <a:solidFill>
                  <a:srgbClr val="006600"/>
                </a:solidFill>
                <a:latin typeface="Consolas" pitchFamily="49" charset="0"/>
                <a:ea typeface="仿宋" pitchFamily="49" charset="-122"/>
              </a:rPr>
              <a:t>，</a:t>
            </a:r>
            <a:r>
              <a:rPr lang="en-US" altLang="zh-CN" sz="2200" i="1">
                <a:solidFill>
                  <a:srgbClr val="006600"/>
                </a:solidFill>
                <a:latin typeface="Consolas" pitchFamily="49" charset="0"/>
                <a:ea typeface="仿宋" pitchFamily="49" charset="-122"/>
              </a:rPr>
              <a:t>a</a:t>
            </a:r>
            <a:r>
              <a:rPr lang="en-US" altLang="zh-CN" sz="2200" baseline="-25000">
                <a:solidFill>
                  <a:srgbClr val="006600"/>
                </a:solidFill>
                <a:latin typeface="Consolas" pitchFamily="49" charset="0"/>
                <a:ea typeface="仿宋" pitchFamily="49" charset="-122"/>
              </a:rPr>
              <a:t>7</a:t>
            </a:r>
            <a:r>
              <a:rPr lang="zh-CN" altLang="en-US"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5</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baseline="-25000">
                <a:solidFill>
                  <a:srgbClr val="0000FF"/>
                </a:solidFill>
                <a:latin typeface="Consolas" pitchFamily="49" charset="0"/>
                <a:ea typeface="仿宋" pitchFamily="49" charset="-122"/>
              </a:rPr>
              <a:t>6</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7" name="下箭头 6"/>
          <p:cNvSpPr/>
          <p:nvPr/>
        </p:nvSpPr>
        <p:spPr>
          <a:xfrm>
            <a:off x="4143372" y="4199194"/>
            <a:ext cx="357190"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TextBox 7"/>
          <p:cNvSpPr txBox="1"/>
          <p:nvPr/>
        </p:nvSpPr>
        <p:spPr>
          <a:xfrm>
            <a:off x="428596" y="500042"/>
            <a:ext cx="7858180" cy="8617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000"/>
              </a:lnSpc>
              <a:spcBef>
                <a:spcPts val="600"/>
              </a:spcBef>
              <a:buBlip>
                <a:blip r:embed="rId3"/>
              </a:buBlip>
            </a:pPr>
            <a:r>
              <a:rPr lang="zh-CN" altLang="zh-CN">
                <a:solidFill>
                  <a:srgbClr val="0000FF"/>
                </a:solidFill>
                <a:latin typeface="Consolas" pitchFamily="49" charset="0"/>
                <a:ea typeface="仿宋" pitchFamily="49" charset="-122"/>
              </a:rPr>
              <a:t>按截止时间</a:t>
            </a:r>
            <a:r>
              <a:rPr lang="en-US" altLang="zh-CN" i="1">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递减排序</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 </a:t>
            </a:r>
            <a:r>
              <a:rPr lang="en-US" altLang="zh-CN">
                <a:solidFill>
                  <a:schemeClr val="bg1">
                    <a:lumMod val="50000"/>
                  </a:schemeClr>
                </a:solidFill>
                <a:latin typeface="Consolas" pitchFamily="49" charset="0"/>
                <a:ea typeface="仿宋" pitchFamily="49" charset="-122"/>
              </a:rPr>
              <a:t>[6</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10]</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[4</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70]</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[4</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50]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20]</a:t>
            </a:r>
            <a:r>
              <a:rPr lang="zh-CN" altLang="zh-CN">
                <a:solidFill>
                  <a:srgbClr val="0000FF"/>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[3</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40]</a:t>
            </a:r>
            <a:r>
              <a:rPr lang="zh-CN" altLang="zh-CN">
                <a:solidFill>
                  <a:srgbClr val="0000FF"/>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[2</a:t>
            </a:r>
            <a:r>
              <a:rPr lang="zh-CN" altLang="zh-CN">
                <a:solidFill>
                  <a:schemeClr val="bg1">
                    <a:lumMod val="50000"/>
                  </a:schemeClr>
                </a:solidFill>
                <a:latin typeface="Consolas" pitchFamily="49" charset="0"/>
                <a:ea typeface="仿宋" pitchFamily="49" charset="-122"/>
              </a:rPr>
              <a:t>，</a:t>
            </a:r>
            <a:r>
              <a:rPr lang="en-US" altLang="zh-CN">
                <a:solidFill>
                  <a:schemeClr val="bg1">
                    <a:lumMod val="50000"/>
                  </a:schemeClr>
                </a:solidFill>
                <a:latin typeface="Consolas" pitchFamily="49" charset="0"/>
                <a:ea typeface="仿宋" pitchFamily="49" charset="-122"/>
              </a:rPr>
              <a:t>60]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30]</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95</a:t>
            </a:fld>
            <a:r>
              <a:rPr lang="en-US" altLang="zh-CN"/>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571612"/>
            <a:ext cx="8215370" cy="2964914"/>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8.10</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超市问题（</a:t>
            </a:r>
            <a:r>
              <a:rPr lang="en-US" altLang="zh-CN">
                <a:solidFill>
                  <a:srgbClr val="0000FF"/>
                </a:solidFill>
                <a:latin typeface="Consolas" pitchFamily="49" charset="0"/>
                <a:ea typeface="仿宋" pitchFamily="49" charset="-122"/>
              </a:rPr>
              <a:t>POJ1456</a:t>
            </a:r>
            <a:r>
              <a:rPr lang="zh-CN" altLang="zh-CN">
                <a:solidFill>
                  <a:srgbClr val="0000FF"/>
                </a:solidFill>
                <a:latin typeface="Consolas" pitchFamily="49" charset="0"/>
                <a:ea typeface="仿宋" pitchFamily="49" charset="-122"/>
              </a:rPr>
              <a:t>，时间限制为</a:t>
            </a:r>
            <a:r>
              <a:rPr lang="en-US" altLang="zh-CN">
                <a:solidFill>
                  <a:srgbClr val="0000FF"/>
                </a:solidFill>
                <a:latin typeface="Consolas" pitchFamily="49" charset="0"/>
                <a:ea typeface="仿宋" pitchFamily="49" charset="-122"/>
              </a:rPr>
              <a:t>2000ms</a:t>
            </a:r>
            <a:r>
              <a:rPr lang="zh-CN" altLang="zh-CN">
                <a:solidFill>
                  <a:srgbClr val="0000FF"/>
                </a:solidFill>
                <a:latin typeface="Consolas" pitchFamily="49" charset="0"/>
                <a:ea typeface="仿宋" pitchFamily="49" charset="-122"/>
              </a:rPr>
              <a:t>，空间限制为</a:t>
            </a:r>
            <a:r>
              <a:rPr lang="en-US" altLang="zh-CN">
                <a:solidFill>
                  <a:srgbClr val="0000FF"/>
                </a:solidFill>
                <a:latin typeface="Consolas" pitchFamily="49" charset="0"/>
                <a:ea typeface="仿宋" pitchFamily="49" charset="-122"/>
              </a:rPr>
              <a:t>65536KB</a:t>
            </a:r>
            <a:r>
              <a:rPr lang="zh-CN" altLang="zh-CN">
                <a:solidFill>
                  <a:srgbClr val="0000FF"/>
                </a:solidFill>
                <a:latin typeface="Consolas" pitchFamily="49" charset="0"/>
                <a:ea typeface="仿宋" pitchFamily="49" charset="-122"/>
              </a:rPr>
              <a:t>）。一家超市有一组商品</a:t>
            </a:r>
            <a:r>
              <a:rPr lang="en-US" altLang="zh-CN">
                <a:solidFill>
                  <a:srgbClr val="0000FF"/>
                </a:solidFill>
                <a:latin typeface="Consolas" pitchFamily="49" charset="0"/>
                <a:ea typeface="仿宋" pitchFamily="49" charset="-122"/>
              </a:rPr>
              <a:t>Prod</a:t>
            </a:r>
            <a:r>
              <a:rPr lang="zh-CN" altLang="zh-CN">
                <a:solidFill>
                  <a:srgbClr val="0000FF"/>
                </a:solidFill>
                <a:latin typeface="Consolas" pitchFamily="49" charset="0"/>
                <a:ea typeface="仿宋" pitchFamily="49" charset="-122"/>
              </a:rPr>
              <a:t>在售。每件商品有一个截止时间</a:t>
            </a:r>
            <a:r>
              <a:rPr lang="en-US" altLang="zh-CN">
                <a:solidFill>
                  <a:srgbClr val="0000FF"/>
                </a:solidFill>
                <a:latin typeface="Consolas" pitchFamily="49" charset="0"/>
                <a:ea typeface="仿宋" pitchFamily="49" charset="-122"/>
              </a:rPr>
              <a:t>dx</a:t>
            </a:r>
            <a:r>
              <a:rPr lang="zh-CN" altLang="zh-CN">
                <a:solidFill>
                  <a:srgbClr val="0000FF"/>
                </a:solidFill>
                <a:latin typeface="Consolas" pitchFamily="49" charset="0"/>
                <a:ea typeface="仿宋" pitchFamily="49" charset="-122"/>
              </a:rPr>
              <a:t>和销售利润</a:t>
            </a:r>
            <a:r>
              <a:rPr lang="en-US" altLang="zh-CN">
                <a:solidFill>
                  <a:srgbClr val="0000FF"/>
                </a:solidFill>
                <a:latin typeface="Consolas" pitchFamily="49" charset="0"/>
                <a:ea typeface="仿宋" pitchFamily="49" charset="-122"/>
              </a:rPr>
              <a:t>px</a:t>
            </a:r>
            <a:r>
              <a:rPr lang="zh-CN" altLang="zh-CN">
                <a:solidFill>
                  <a:srgbClr val="0000FF"/>
                </a:solidFill>
                <a:latin typeface="Consolas" pitchFamily="49" charset="0"/>
                <a:ea typeface="仿宋" pitchFamily="49" charset="-122"/>
              </a:rPr>
              <a:t>，该商品在截止时间</a:t>
            </a:r>
            <a:r>
              <a:rPr lang="en-US" altLang="zh-CN">
                <a:solidFill>
                  <a:srgbClr val="0000FF"/>
                </a:solidFill>
                <a:latin typeface="Consolas" pitchFamily="49" charset="0"/>
                <a:ea typeface="仿宋" pitchFamily="49" charset="-122"/>
              </a:rPr>
              <a:t>dx</a:t>
            </a:r>
            <a:r>
              <a:rPr lang="zh-CN" altLang="zh-CN">
                <a:solidFill>
                  <a:srgbClr val="0000FF"/>
                </a:solidFill>
                <a:latin typeface="Consolas" pitchFamily="49" charset="0"/>
                <a:ea typeface="仿宋" pitchFamily="49" charset="-122"/>
              </a:rPr>
              <a:t>之前售出时会获得利润</a:t>
            </a:r>
            <a:r>
              <a:rPr lang="en-US" altLang="zh-CN">
                <a:solidFill>
                  <a:srgbClr val="0000FF"/>
                </a:solidFill>
                <a:latin typeface="Consolas" pitchFamily="49" charset="0"/>
                <a:ea typeface="仿宋" pitchFamily="49" charset="-122"/>
              </a:rPr>
              <a:t>px</a:t>
            </a:r>
            <a:r>
              <a:rPr lang="zh-CN" altLang="zh-CN">
                <a:solidFill>
                  <a:srgbClr val="0000FF"/>
                </a:solidFill>
                <a:latin typeface="Consolas" pitchFamily="49" charset="0"/>
                <a:ea typeface="仿宋" pitchFamily="49" charset="-122"/>
              </a:rPr>
              <a:t>。每件商品的销售时间恰好是一个单位。销售的商品</a:t>
            </a:r>
            <a:r>
              <a:rPr lang="en-US" altLang="zh-CN">
                <a:solidFill>
                  <a:srgbClr val="0000FF"/>
                </a:solidFill>
                <a:latin typeface="Consolas" pitchFamily="49" charset="0"/>
                <a:ea typeface="仿宋" pitchFamily="49" charset="-122"/>
              </a:rPr>
              <a:t>Sell</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Prod </a:t>
            </a:r>
            <a:r>
              <a:rPr lang="zh-CN" altLang="zh-CN">
                <a:solidFill>
                  <a:srgbClr val="0000FF"/>
                </a:solidFill>
                <a:latin typeface="Consolas" pitchFamily="49" charset="0"/>
                <a:ea typeface="仿宋" pitchFamily="49" charset="-122"/>
              </a:rPr>
              <a:t>的有序子集，</a:t>
            </a:r>
            <a:r>
              <a:rPr lang="zh-CN" altLang="en-US">
                <a:solidFill>
                  <a:srgbClr val="0000FF"/>
                </a:solidFill>
                <a:latin typeface="Consolas" pitchFamily="49" charset="0"/>
                <a:ea typeface="仿宋" pitchFamily="49" charset="-122"/>
              </a:rPr>
              <a:t>其</a:t>
            </a:r>
            <a:r>
              <a:rPr lang="zh-CN" altLang="zh-CN">
                <a:solidFill>
                  <a:srgbClr val="0000FF"/>
                </a:solidFill>
                <a:latin typeface="Consolas" pitchFamily="49" charset="0"/>
                <a:ea typeface="仿宋" pitchFamily="49" charset="-122"/>
              </a:rPr>
              <a:t>销售利润是</a:t>
            </a:r>
            <a:r>
              <a:rPr lang="en-US" altLang="zh-CN">
                <a:solidFill>
                  <a:srgbClr val="0000FF"/>
                </a:solidFill>
                <a:latin typeface="Consolas" pitchFamily="49" charset="0"/>
                <a:ea typeface="仿宋" pitchFamily="49" charset="-122"/>
              </a:rPr>
              <a:t>Profit(Sell)=∑</a:t>
            </a:r>
            <a:r>
              <a:rPr lang="en-US" altLang="zh-CN" baseline="-25000">
                <a:solidFill>
                  <a:srgbClr val="0000FF"/>
                </a:solidFill>
                <a:latin typeface="Consolas" pitchFamily="49" charset="0"/>
                <a:ea typeface="仿宋" pitchFamily="49" charset="-122"/>
              </a:rPr>
              <a:t>x∈Sell</a:t>
            </a:r>
            <a:r>
              <a:rPr lang="en-US" altLang="zh-CN">
                <a:solidFill>
                  <a:srgbClr val="0000FF"/>
                </a:solidFill>
                <a:latin typeface="Consolas" pitchFamily="49" charset="0"/>
                <a:ea typeface="仿宋" pitchFamily="49" charset="-122"/>
              </a:rPr>
              <a:t>(px)</a:t>
            </a:r>
            <a:r>
              <a:rPr lang="zh-CN" altLang="zh-CN">
                <a:solidFill>
                  <a:srgbClr val="0000FF"/>
                </a:solidFill>
                <a:latin typeface="Consolas" pitchFamily="49" charset="0"/>
                <a:ea typeface="仿宋" pitchFamily="49" charset="-122"/>
              </a:rPr>
              <a:t>。最优销售调度是具有最大利润的调度。</a:t>
            </a:r>
            <a:endParaRPr lang="zh-CN" altLang="en-US">
              <a:solidFill>
                <a:srgbClr val="0000FF"/>
              </a:solidFill>
              <a:latin typeface="Consolas" pitchFamily="49" charset="0"/>
              <a:ea typeface="仿宋" pitchFamily="49" charset="-122"/>
              <a:cs typeface="Consolas" pitchFamily="49" charset="0"/>
            </a:endParaRPr>
          </a:p>
        </p:txBody>
      </p:sp>
      <p:grpSp>
        <p:nvGrpSpPr>
          <p:cNvPr id="6" name="组合 5"/>
          <p:cNvGrpSpPr/>
          <p:nvPr/>
        </p:nvGrpSpPr>
        <p:grpSpPr>
          <a:xfrm>
            <a:off x="785786" y="285728"/>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9" name="灯片编号占位符 8"/>
          <p:cNvSpPr>
            <a:spLocks noGrp="1"/>
          </p:cNvSpPr>
          <p:nvPr>
            <p:ph type="sldNum" sz="quarter" idx="12"/>
          </p:nvPr>
        </p:nvSpPr>
        <p:spPr/>
        <p:txBody>
          <a:bodyPr/>
          <a:lstStyle/>
          <a:p>
            <a:fld id="{7AF016A1-9F15-429F-9EFD-84004B73C732}" type="slidenum">
              <a:rPr lang="en-US" altLang="zh-CN" smtClean="0"/>
              <a:pPr/>
              <a:t>96</a:t>
            </a:fld>
            <a:r>
              <a:rPr lang="en-US" altLang="zh-CN"/>
              <a:t>/109</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28604"/>
            <a:ext cx="6072230" cy="5427127"/>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Prod={a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c</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a:t>
            </a:r>
          </a:p>
          <a:p>
            <a:pPr algn="l">
              <a:lnSpc>
                <a:spcPts val="3200"/>
              </a:lnSpc>
              <a:spcBef>
                <a:spcPts val="0"/>
              </a:spcBef>
            </a:pPr>
            <a:r>
              <a:rPr lang="en-US" altLang="zh-CN">
                <a:solidFill>
                  <a:srgbClr val="0000FF"/>
                </a:solidFill>
                <a:latin typeface="Consolas" pitchFamily="49" charset="0"/>
                <a:ea typeface="仿宋" pitchFamily="49" charset="-122"/>
              </a:rPr>
              <a:t>(pa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da)=(50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p>
          <a:p>
            <a:pPr algn="l">
              <a:lnSpc>
                <a:spcPts val="3200"/>
              </a:lnSpc>
              <a:spcBef>
                <a:spcPts val="0"/>
              </a:spcBef>
            </a:pPr>
            <a:r>
              <a:rPr lang="en-US" altLang="zh-CN">
                <a:solidFill>
                  <a:srgbClr val="0000FF"/>
                </a:solidFill>
                <a:latin typeface="Consolas" pitchFamily="49" charset="0"/>
                <a:ea typeface="仿宋" pitchFamily="49" charset="-122"/>
              </a:rPr>
              <a:t>(pb</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db)=(10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p>
          <a:p>
            <a:pPr algn="l">
              <a:lnSpc>
                <a:spcPts val="3200"/>
              </a:lnSpc>
              <a:spcBef>
                <a:spcPts val="0"/>
              </a:spcBef>
            </a:pPr>
            <a:r>
              <a:rPr lang="en-US" altLang="zh-CN">
                <a:solidFill>
                  <a:srgbClr val="0000FF"/>
                </a:solidFill>
                <a:latin typeface="Consolas" pitchFamily="49" charset="0"/>
                <a:ea typeface="仿宋" pitchFamily="49" charset="-122"/>
              </a:rPr>
              <a:t>(pc</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dc)=(20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p>
          <a:p>
            <a:pPr algn="l">
              <a:lnSpc>
                <a:spcPts val="3200"/>
              </a:lnSpc>
              <a:spcBef>
                <a:spcPts val="0"/>
              </a:spcBef>
            </a:pPr>
            <a:r>
              <a:rPr lang="en-US" altLang="zh-CN">
                <a:solidFill>
                  <a:srgbClr val="0000FF"/>
                </a:solidFill>
                <a:latin typeface="Consolas" pitchFamily="49" charset="0"/>
                <a:ea typeface="仿宋" pitchFamily="49" charset="-122"/>
              </a:rPr>
              <a:t>(pd</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dd)=(30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a:lnSpc>
                <a:spcPts val="3200"/>
              </a:lnSpc>
              <a:spcBef>
                <a:spcPts val="0"/>
              </a:spcBef>
            </a:pPr>
            <a:r>
              <a:rPr lang="zh-CN" altLang="zh-CN">
                <a:solidFill>
                  <a:srgbClr val="0000FF"/>
                </a:solidFill>
                <a:latin typeface="Consolas" pitchFamily="49" charset="0"/>
                <a:ea typeface="仿宋" pitchFamily="49" charset="-122"/>
              </a:rPr>
              <a:t>所有可能的销售调度如表所示，例如，</a:t>
            </a:r>
            <a:r>
              <a:rPr lang="en-US" altLang="zh-CN">
                <a:solidFill>
                  <a:srgbClr val="0000FF"/>
                </a:solidFill>
                <a:latin typeface="Consolas" pitchFamily="49" charset="0"/>
                <a:ea typeface="仿宋" pitchFamily="49" charset="-122"/>
              </a:rPr>
              <a:t>Sell={d</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表示商品</a:t>
            </a:r>
            <a:r>
              <a:rPr lang="en-US" altLang="zh-CN">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的销售从时间</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开始到时间</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结束（销售时间为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），商品</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的销售从时间</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开始到时间</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结束（销售时间为</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），每一个商品都在其截止时间前售出，是最优销售调度，其利润为</a:t>
            </a:r>
            <a:r>
              <a:rPr lang="en-US" altLang="zh-CN">
                <a:solidFill>
                  <a:srgbClr val="0000FF"/>
                </a:solidFill>
                <a:latin typeface="Consolas" pitchFamily="49" charset="0"/>
                <a:ea typeface="仿宋" pitchFamily="49" charset="-122"/>
              </a:rPr>
              <a:t>80</a:t>
            </a:r>
            <a:r>
              <a:rPr lang="zh-CN" altLang="zh-CN">
                <a:solidFill>
                  <a:srgbClr val="0000FF"/>
                </a:solidFill>
                <a:latin typeface="Consolas" pitchFamily="49" charset="0"/>
                <a:ea typeface="仿宋" pitchFamily="49" charset="-122"/>
              </a:rPr>
              <a:t>。请你编写一个程序，从输入文件中读取各组商品，并计算每组商品的最优销售利润。</a:t>
            </a:r>
          </a:p>
        </p:txBody>
      </p:sp>
      <p:graphicFrame>
        <p:nvGraphicFramePr>
          <p:cNvPr id="4" name="表格 3"/>
          <p:cNvGraphicFramePr>
            <a:graphicFrameLocks noGrp="1"/>
          </p:cNvGraphicFramePr>
          <p:nvPr/>
        </p:nvGraphicFramePr>
        <p:xfrm>
          <a:off x="6929454" y="642942"/>
          <a:ext cx="1857388" cy="4214818"/>
        </p:xfrm>
        <a:graphic>
          <a:graphicData uri="http://schemas.openxmlformats.org/drawingml/2006/table">
            <a:tbl>
              <a:tblPr>
                <a:tableStyleId>{35758FB7-9AC5-4552-8A53-C91805E547FA}</a:tableStyleId>
              </a:tblPr>
              <a:tblGrid>
                <a:gridCol w="1214446">
                  <a:extLst>
                    <a:ext uri="{9D8B030D-6E8A-4147-A177-3AD203B41FA5}">
                      <a16:colId xmlns:a16="http://schemas.microsoft.com/office/drawing/2014/main" val="20000"/>
                    </a:ext>
                  </a:extLst>
                </a:gridCol>
                <a:gridCol w="642942">
                  <a:extLst>
                    <a:ext uri="{9D8B030D-6E8A-4147-A177-3AD203B41FA5}">
                      <a16:colId xmlns:a16="http://schemas.microsoft.com/office/drawing/2014/main" val="20001"/>
                    </a:ext>
                  </a:extLst>
                </a:gridCol>
              </a:tblGrid>
              <a:tr h="383168">
                <a:tc>
                  <a:txBody>
                    <a:bodyPr/>
                    <a:lstStyle/>
                    <a:p>
                      <a:pPr indent="0" algn="just">
                        <a:lnSpc>
                          <a:spcPts val="2500"/>
                        </a:lnSpc>
                        <a:spcAft>
                          <a:spcPts val="0"/>
                        </a:spcAft>
                      </a:pPr>
                      <a:r>
                        <a:rPr lang="zh-CN" sz="1800" b="1">
                          <a:solidFill>
                            <a:srgbClr val="FF0000"/>
                          </a:solidFill>
                          <a:latin typeface="Consolas" pitchFamily="49" charset="0"/>
                          <a:ea typeface="仿宋" pitchFamily="49" charset="-122"/>
                        </a:rPr>
                        <a:t>销售调度</a:t>
                      </a:r>
                      <a:endParaRPr lang="zh-CN" sz="1800" b="1">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b="1">
                          <a:solidFill>
                            <a:srgbClr val="FF0000"/>
                          </a:solidFill>
                          <a:latin typeface="Consolas" pitchFamily="49" charset="0"/>
                          <a:ea typeface="仿宋" pitchFamily="49" charset="-122"/>
                        </a:rPr>
                        <a:t>利润</a:t>
                      </a:r>
                      <a:endParaRPr lang="zh-CN" sz="1800" b="1">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383165">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{a}</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50</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383165">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{b}</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10</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383165">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{c}</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20</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383165">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{d}</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30</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4"/>
                  </a:ext>
                </a:extLst>
              </a:tr>
              <a:tr h="383165">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{b</a:t>
                      </a:r>
                      <a:r>
                        <a:rPr lang="zh-CN" sz="1800">
                          <a:solidFill>
                            <a:srgbClr val="0000FF"/>
                          </a:solidFill>
                          <a:latin typeface="Consolas" pitchFamily="49" charset="0"/>
                          <a:ea typeface="仿宋" pitchFamily="49" charset="-122"/>
                        </a:rPr>
                        <a:t>，</a:t>
                      </a:r>
                      <a:r>
                        <a:rPr lang="en-US" sz="1800">
                          <a:solidFill>
                            <a:srgbClr val="0000FF"/>
                          </a:solidFill>
                          <a:latin typeface="Consolas" pitchFamily="49" charset="0"/>
                          <a:ea typeface="仿宋" pitchFamily="49" charset="-122"/>
                        </a:rPr>
                        <a:t>a}</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60</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5"/>
                  </a:ext>
                </a:extLst>
              </a:tr>
              <a:tr h="383165">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{a</a:t>
                      </a:r>
                      <a:r>
                        <a:rPr lang="zh-CN" sz="1800">
                          <a:solidFill>
                            <a:srgbClr val="0000FF"/>
                          </a:solidFill>
                          <a:latin typeface="Consolas" pitchFamily="49" charset="0"/>
                          <a:ea typeface="仿宋" pitchFamily="49" charset="-122"/>
                        </a:rPr>
                        <a:t>，</a:t>
                      </a:r>
                      <a:r>
                        <a:rPr lang="en-US" sz="1800">
                          <a:solidFill>
                            <a:srgbClr val="0000FF"/>
                          </a:solidFill>
                          <a:latin typeface="Consolas" pitchFamily="49" charset="0"/>
                          <a:ea typeface="仿宋" pitchFamily="49" charset="-122"/>
                        </a:rPr>
                        <a:t>c}</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70</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6"/>
                  </a:ext>
                </a:extLst>
              </a:tr>
              <a:tr h="383165">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{c</a:t>
                      </a:r>
                      <a:r>
                        <a:rPr lang="zh-CN" sz="1800">
                          <a:solidFill>
                            <a:srgbClr val="0000FF"/>
                          </a:solidFill>
                          <a:latin typeface="Consolas" pitchFamily="49" charset="0"/>
                          <a:ea typeface="仿宋" pitchFamily="49" charset="-122"/>
                        </a:rPr>
                        <a:t>，</a:t>
                      </a:r>
                      <a:r>
                        <a:rPr lang="en-US" sz="1800">
                          <a:solidFill>
                            <a:srgbClr val="0000FF"/>
                          </a:solidFill>
                          <a:latin typeface="Consolas" pitchFamily="49" charset="0"/>
                          <a:ea typeface="仿宋" pitchFamily="49" charset="-122"/>
                        </a:rPr>
                        <a:t>a}</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70</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7"/>
                  </a:ext>
                </a:extLst>
              </a:tr>
              <a:tr h="383165">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{b</a:t>
                      </a:r>
                      <a:r>
                        <a:rPr lang="zh-CN" sz="1800">
                          <a:solidFill>
                            <a:srgbClr val="0000FF"/>
                          </a:solidFill>
                          <a:latin typeface="Consolas" pitchFamily="49" charset="0"/>
                          <a:ea typeface="仿宋" pitchFamily="49" charset="-122"/>
                        </a:rPr>
                        <a:t>，</a:t>
                      </a:r>
                      <a:r>
                        <a:rPr lang="en-US" sz="1800">
                          <a:solidFill>
                            <a:srgbClr val="0000FF"/>
                          </a:solidFill>
                          <a:latin typeface="Consolas" pitchFamily="49" charset="0"/>
                          <a:ea typeface="仿宋" pitchFamily="49" charset="-122"/>
                        </a:rPr>
                        <a:t>c}</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30</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8"/>
                  </a:ext>
                </a:extLst>
              </a:tr>
              <a:tr h="383165">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{d</a:t>
                      </a:r>
                      <a:r>
                        <a:rPr lang="zh-CN" sz="1800">
                          <a:solidFill>
                            <a:srgbClr val="0000FF"/>
                          </a:solidFill>
                          <a:latin typeface="Consolas" pitchFamily="49" charset="0"/>
                          <a:ea typeface="仿宋" pitchFamily="49" charset="-122"/>
                        </a:rPr>
                        <a:t>，</a:t>
                      </a:r>
                      <a:r>
                        <a:rPr lang="en-US" sz="1800">
                          <a:solidFill>
                            <a:srgbClr val="0000FF"/>
                          </a:solidFill>
                          <a:latin typeface="Consolas" pitchFamily="49" charset="0"/>
                          <a:ea typeface="仿宋" pitchFamily="49" charset="-122"/>
                        </a:rPr>
                        <a:t>a}</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80</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9"/>
                  </a:ext>
                </a:extLst>
              </a:tr>
              <a:tr h="383165">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{d</a:t>
                      </a:r>
                      <a:r>
                        <a:rPr lang="zh-CN" sz="1800">
                          <a:solidFill>
                            <a:srgbClr val="0000FF"/>
                          </a:solidFill>
                          <a:latin typeface="Consolas" pitchFamily="49" charset="0"/>
                          <a:ea typeface="仿宋" pitchFamily="49" charset="-122"/>
                        </a:rPr>
                        <a:t>，</a:t>
                      </a:r>
                      <a:r>
                        <a:rPr lang="en-US" sz="1800">
                          <a:solidFill>
                            <a:srgbClr val="0000FF"/>
                          </a:solidFill>
                          <a:latin typeface="Consolas" pitchFamily="49" charset="0"/>
                          <a:ea typeface="仿宋" pitchFamily="49" charset="-122"/>
                        </a:rPr>
                        <a:t>c}</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indent="0" algn="just">
                        <a:lnSpc>
                          <a:spcPts val="2500"/>
                        </a:lnSpc>
                        <a:spcAft>
                          <a:spcPts val="0"/>
                        </a:spcAft>
                      </a:pPr>
                      <a:r>
                        <a:rPr lang="en-US" sz="1800">
                          <a:solidFill>
                            <a:srgbClr val="0000FF"/>
                          </a:solidFill>
                          <a:latin typeface="Consolas" pitchFamily="49" charset="0"/>
                          <a:ea typeface="仿宋" pitchFamily="49" charset="-122"/>
                        </a:rPr>
                        <a:t>50</a:t>
                      </a:r>
                      <a:endParaRPr lang="zh-CN" sz="18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10"/>
                  </a:ext>
                </a:extLst>
              </a:tr>
            </a:tbl>
          </a:graphicData>
        </a:graphic>
      </p:graphicFrame>
      <p:sp>
        <p:nvSpPr>
          <p:cNvPr id="6" name="灯片编号占位符 5"/>
          <p:cNvSpPr>
            <a:spLocks noGrp="1"/>
          </p:cNvSpPr>
          <p:nvPr>
            <p:ph type="sldNum" sz="quarter" idx="12"/>
          </p:nvPr>
        </p:nvSpPr>
        <p:spPr/>
        <p:txBody>
          <a:bodyPr/>
          <a:lstStyle/>
          <a:p>
            <a:fld id="{7AF016A1-9F15-429F-9EFD-84004B73C732}" type="slidenum">
              <a:rPr lang="en-US" altLang="zh-CN" smtClean="0"/>
              <a:pPr/>
              <a:t>97</a:t>
            </a:fld>
            <a:r>
              <a:rPr lang="en-US" altLang="zh-CN"/>
              <a:t>/109</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642918"/>
            <a:ext cx="8001056" cy="3118803"/>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1200"/>
              </a:spcBef>
            </a:pPr>
            <a:r>
              <a:rPr lang="zh-CN" altLang="zh-CN">
                <a:solidFill>
                  <a:srgbClr val="FF0000"/>
                </a:solidFill>
                <a:latin typeface="Consolas" pitchFamily="49" charset="0"/>
                <a:ea typeface="仿宋" pitchFamily="49" charset="-122"/>
              </a:rPr>
              <a:t>输入格式</a:t>
            </a:r>
            <a:r>
              <a:rPr lang="zh-CN" altLang="zh-CN">
                <a:solidFill>
                  <a:srgbClr val="0000FF"/>
                </a:solidFill>
                <a:latin typeface="Consolas" pitchFamily="49" charset="0"/>
                <a:ea typeface="仿宋" pitchFamily="49" charset="-122"/>
              </a:rPr>
              <a:t>：以整数</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10000</a:t>
            </a:r>
            <a:r>
              <a:rPr lang="zh-CN" altLang="zh-CN">
                <a:solidFill>
                  <a:srgbClr val="0000FF"/>
                </a:solidFill>
                <a:latin typeface="Consolas" pitchFamily="49" charset="0"/>
                <a:ea typeface="仿宋" pitchFamily="49" charset="-122"/>
              </a:rPr>
              <a:t>）开始，表示商品数量，接下来是</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a:t>
            </a:r>
            <a:r>
              <a:rPr lang="en-US" altLang="zh-CN">
                <a:solidFill>
                  <a:srgbClr val="0000FF"/>
                </a:solidFill>
                <a:latin typeface="Consolas" pitchFamily="49" charset="0"/>
                <a:ea typeface="仿宋" pitchFamily="49" charset="-122"/>
              </a:rPr>
              <a:t>pi di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pi</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10000 </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di</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10000</a:t>
            </a:r>
            <a:r>
              <a:rPr lang="zh-CN" altLang="zh-CN">
                <a:solidFill>
                  <a:srgbClr val="0000FF"/>
                </a:solidFill>
                <a:latin typeface="Consolas" pitchFamily="49" charset="0"/>
                <a:ea typeface="仿宋" pitchFamily="49" charset="-122"/>
              </a:rPr>
              <a:t>）整数对，每对表示第</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个商品的利润和销售期限，中间可能有一个或者多个空格。输入数据以文件结尾结束并保证正确。</a:t>
            </a:r>
          </a:p>
          <a:p>
            <a:pPr algn="l">
              <a:lnSpc>
                <a:spcPts val="3200"/>
              </a:lnSpc>
              <a:spcBef>
                <a:spcPts val="1200"/>
              </a:spcBef>
            </a:pPr>
            <a:r>
              <a:rPr lang="zh-CN" altLang="zh-CN">
                <a:solidFill>
                  <a:srgbClr val="FF0000"/>
                </a:solidFill>
                <a:latin typeface="Consolas" pitchFamily="49" charset="0"/>
                <a:ea typeface="仿宋" pitchFamily="49" charset="-122"/>
              </a:rPr>
              <a:t>输出格式</a:t>
            </a:r>
            <a:r>
              <a:rPr lang="zh-CN" altLang="zh-CN">
                <a:solidFill>
                  <a:srgbClr val="0000FF"/>
                </a:solidFill>
                <a:latin typeface="Consolas" pitchFamily="49" charset="0"/>
                <a:ea typeface="仿宋" pitchFamily="49" charset="-122"/>
              </a:rPr>
              <a:t>：对于每组商品，在一行中输出一个整数表示最优销售利润。</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98</a:t>
            </a:fld>
            <a:r>
              <a:rPr lang="en-US" altLang="zh-CN"/>
              <a:t>/109</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14356"/>
            <a:ext cx="8072494" cy="387507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200"/>
              </a:lnSpc>
              <a:spcBef>
                <a:spcPts val="0"/>
              </a:spcBef>
            </a:pPr>
            <a:r>
              <a:rPr lang="zh-CN" altLang="zh-CN">
                <a:solidFill>
                  <a:srgbClr val="FF0000"/>
                </a:solidFill>
                <a:latin typeface="Consolas" pitchFamily="49" charset="0"/>
                <a:ea typeface="仿宋" pitchFamily="49" charset="-122"/>
              </a:rPr>
              <a:t>输入样例：</a:t>
            </a:r>
          </a:p>
          <a:p>
            <a:pPr algn="l" defTabSz="360000">
              <a:lnSpc>
                <a:spcPts val="3200"/>
              </a:lnSpc>
              <a:spcBef>
                <a:spcPts val="0"/>
              </a:spcBef>
            </a:pPr>
            <a:r>
              <a:rPr lang="en-US" altLang="zh-CN" sz="2000">
                <a:solidFill>
                  <a:srgbClr val="0000FF"/>
                </a:solidFill>
                <a:latin typeface="Consolas" pitchFamily="49" charset="0"/>
                <a:ea typeface="仿宋" pitchFamily="49" charset="-122"/>
              </a:rPr>
              <a:t>4  50 2  10 1   20 2   30 1</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7  20 1   2 1   10 3  100 2   8 2</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   5 20  50 10</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zh-CN" altLang="zh-CN">
                <a:solidFill>
                  <a:srgbClr val="FF0000"/>
                </a:solidFill>
                <a:latin typeface="Consolas" pitchFamily="49" charset="0"/>
                <a:ea typeface="仿宋" pitchFamily="49" charset="-122"/>
              </a:rPr>
              <a:t>输出样例：</a:t>
            </a:r>
          </a:p>
          <a:p>
            <a:pPr algn="l" defTabSz="360000">
              <a:lnSpc>
                <a:spcPts val="3200"/>
              </a:lnSpc>
              <a:spcBef>
                <a:spcPts val="0"/>
              </a:spcBef>
            </a:pPr>
            <a:r>
              <a:rPr lang="en-US" altLang="zh-CN" sz="2000">
                <a:solidFill>
                  <a:srgbClr val="0000FF"/>
                </a:solidFill>
                <a:latin typeface="Consolas" pitchFamily="49" charset="0"/>
                <a:ea typeface="仿宋" pitchFamily="49" charset="-122"/>
              </a:rPr>
              <a:t>80</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r>
              <a:rPr lang="en-US" altLang="zh-CN" sz="2000">
                <a:solidFill>
                  <a:srgbClr val="0000FF"/>
                </a:solidFill>
                <a:latin typeface="Consolas" pitchFamily="49" charset="0"/>
                <a:ea typeface="仿宋" pitchFamily="49" charset="-122"/>
              </a:rPr>
              <a:t>185</a:t>
            </a:r>
            <a:endParaRPr lang="zh-CN" altLang="zh-CN" sz="2000">
              <a:solidFill>
                <a:srgbClr val="0000FF"/>
              </a:solidFill>
              <a:latin typeface="Consolas" pitchFamily="49" charset="0"/>
              <a:ea typeface="仿宋" pitchFamily="49" charset="-122"/>
            </a:endParaRPr>
          </a:p>
          <a:p>
            <a:pPr algn="l" defTabSz="360000">
              <a:lnSpc>
                <a:spcPts val="3200"/>
              </a:lnSpc>
              <a:spcBef>
                <a:spcPts val="0"/>
              </a:spcBef>
            </a:pP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99</a:t>
            </a:fld>
            <a:r>
              <a:rPr lang="en-US" altLang="zh-CN"/>
              <a:t>/109</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928670"/>
            <a:ext cx="8143932" cy="505523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300"/>
              </a:lnSpc>
              <a:spcBef>
                <a:spcPts val="1200"/>
              </a:spcBef>
              <a:buBlip>
                <a:blip r:embed="rId3"/>
              </a:buBlip>
            </a:pPr>
            <a:r>
              <a:rPr lang="zh-CN" altLang="zh-CN">
                <a:solidFill>
                  <a:srgbClr val="0000FF"/>
                </a:solidFill>
                <a:latin typeface="Consolas" pitchFamily="49" charset="0"/>
                <a:ea typeface="仿宋" pitchFamily="49" charset="-122"/>
              </a:rPr>
              <a:t>贪心策略</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优先选择</a:t>
            </a:r>
            <a:r>
              <a:rPr lang="zh-CN" altLang="zh-CN">
                <a:solidFill>
                  <a:srgbClr val="FF0000"/>
                </a:solidFill>
                <a:latin typeface="Consolas" pitchFamily="49" charset="0"/>
                <a:ea typeface="仿宋" pitchFamily="49" charset="-122"/>
              </a:rPr>
              <a:t>利润大</a:t>
            </a:r>
            <a:r>
              <a:rPr lang="zh-CN" altLang="zh-CN">
                <a:solidFill>
                  <a:srgbClr val="0000FF"/>
                </a:solidFill>
                <a:latin typeface="Consolas" pitchFamily="49" charset="0"/>
                <a:ea typeface="仿宋" pitchFamily="49" charset="-122"/>
              </a:rPr>
              <a:t>的商品，在空时间中选择尽</a:t>
            </a:r>
            <a:r>
              <a:rPr lang="zh-CN" altLang="zh-CN">
                <a:solidFill>
                  <a:srgbClr val="FF0000"/>
                </a:solidFill>
                <a:latin typeface="Consolas" pitchFamily="49" charset="0"/>
                <a:ea typeface="仿宋" pitchFamily="49" charset="-122"/>
              </a:rPr>
              <a:t>可能晚</a:t>
            </a:r>
            <a:r>
              <a:rPr lang="zh-CN" altLang="zh-CN">
                <a:solidFill>
                  <a:srgbClr val="0000FF"/>
                </a:solidFill>
                <a:latin typeface="Consolas" pitchFamily="49" charset="0"/>
                <a:ea typeface="仿宋" pitchFamily="49" charset="-122"/>
              </a:rPr>
              <a:t>的时间。</a:t>
            </a:r>
            <a:endParaRPr lang="en-US" altLang="zh-CN">
              <a:solidFill>
                <a:srgbClr val="0000FF"/>
              </a:solidFill>
              <a:latin typeface="Consolas" pitchFamily="49" charset="0"/>
              <a:ea typeface="仿宋" pitchFamily="49" charset="-122"/>
            </a:endParaRPr>
          </a:p>
          <a:p>
            <a:pPr marL="457200" indent="-457200" algn="l" defTabSz="360000">
              <a:lnSpc>
                <a:spcPts val="3300"/>
              </a:lnSpc>
              <a:spcBef>
                <a:spcPts val="1200"/>
              </a:spcBef>
              <a:buBlip>
                <a:blip r:embed="rId3"/>
              </a:buBlip>
            </a:pP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prod</a:t>
            </a:r>
            <a:r>
              <a:rPr lang="zh-CN" altLang="zh-CN">
                <a:solidFill>
                  <a:srgbClr val="0000FF"/>
                </a:solidFill>
                <a:latin typeface="Consolas" pitchFamily="49" charset="0"/>
                <a:ea typeface="仿宋" pitchFamily="49" charset="-122"/>
              </a:rPr>
              <a:t>数组存放全部商品的数据，将</a:t>
            </a:r>
            <a:r>
              <a:rPr lang="en-US" altLang="zh-CN">
                <a:solidFill>
                  <a:srgbClr val="0000FF"/>
                </a:solidFill>
                <a:latin typeface="Consolas" pitchFamily="49" charset="0"/>
                <a:ea typeface="仿宋" pitchFamily="49" charset="-122"/>
              </a:rPr>
              <a:t>prod</a:t>
            </a:r>
            <a:r>
              <a:rPr lang="zh-CN" altLang="zh-CN">
                <a:solidFill>
                  <a:srgbClr val="0000FF"/>
                </a:solidFill>
                <a:latin typeface="Consolas" pitchFamily="49" charset="0"/>
                <a:ea typeface="仿宋" pitchFamily="49" charset="-122"/>
              </a:rPr>
              <a:t>按</a:t>
            </a:r>
            <a:r>
              <a:rPr lang="zh-CN" altLang="zh-CN">
                <a:solidFill>
                  <a:srgbClr val="FF00FF"/>
                </a:solidFill>
                <a:latin typeface="Consolas" pitchFamily="49" charset="0"/>
                <a:ea typeface="仿宋" pitchFamily="49" charset="-122"/>
              </a:rPr>
              <a:t>利润递减排序</a:t>
            </a: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days[0..maxd]</a:t>
            </a:r>
            <a:r>
              <a:rPr lang="zh-CN" altLang="zh-CN">
                <a:solidFill>
                  <a:srgbClr val="0000FF"/>
                </a:solidFill>
                <a:latin typeface="Consolas" pitchFamily="49" charset="0"/>
                <a:ea typeface="仿宋" pitchFamily="49" charset="-122"/>
              </a:rPr>
              <a:t>数组标记</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maxd</a:t>
            </a:r>
            <a:r>
              <a:rPr lang="zh-CN" altLang="zh-CN">
                <a:solidFill>
                  <a:srgbClr val="0000FF"/>
                </a:solidFill>
                <a:latin typeface="Consolas" pitchFamily="49" charset="0"/>
                <a:ea typeface="仿宋" pitchFamily="49" charset="-122"/>
              </a:rPr>
              <a:t>时间的占用情况（销售商品的有效时间是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maxd</a:t>
            </a:r>
            <a:r>
              <a:rPr lang="zh-CN" altLang="zh-CN">
                <a:solidFill>
                  <a:srgbClr val="0000FF"/>
                </a:solidFill>
                <a:latin typeface="Consolas" pitchFamily="49" charset="0"/>
                <a:ea typeface="仿宋" pitchFamily="49" charset="-122"/>
              </a:rPr>
              <a:t>），初始时全部元素置为</a:t>
            </a:r>
            <a:r>
              <a:rPr lang="en-US" altLang="zh-CN">
                <a:solidFill>
                  <a:srgbClr val="0000FF"/>
                </a:solidFill>
                <a:latin typeface="Consolas" pitchFamily="49" charset="0"/>
                <a:ea typeface="仿宋" pitchFamily="49" charset="-122"/>
              </a:rPr>
              <a:t>false</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defTabSz="360000">
              <a:lnSpc>
                <a:spcPts val="3300"/>
              </a:lnSpc>
              <a:spcBef>
                <a:spcPts val="1200"/>
              </a:spcBef>
              <a:buBlip>
                <a:blip r:embed="rId3"/>
              </a:buBlip>
            </a:pP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从</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到</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遍历</a:t>
            </a:r>
            <a:r>
              <a:rPr lang="en-US" altLang="zh-CN">
                <a:solidFill>
                  <a:srgbClr val="0000FF"/>
                </a:solidFill>
                <a:latin typeface="Consolas" pitchFamily="49" charset="0"/>
                <a:ea typeface="仿宋" pitchFamily="49" charset="-122"/>
              </a:rPr>
              <a:t>prod</a:t>
            </a:r>
            <a:r>
              <a:rPr lang="zh-CN" altLang="zh-CN">
                <a:solidFill>
                  <a:srgbClr val="0000FF"/>
                </a:solidFill>
                <a:latin typeface="Consolas" pitchFamily="49" charset="0"/>
                <a:ea typeface="仿宋" pitchFamily="49" charset="-122"/>
              </a:rPr>
              <a:t>，对于商品</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从其</a:t>
            </a:r>
            <a:r>
              <a:rPr lang="zh-CN" altLang="zh-CN">
                <a:solidFill>
                  <a:srgbClr val="FF00FF"/>
                </a:solidFill>
                <a:latin typeface="Consolas" pitchFamily="49" charset="0"/>
                <a:ea typeface="仿宋" pitchFamily="49" charset="-122"/>
              </a:rPr>
              <a:t>最后截止时间</a:t>
            </a:r>
            <a:r>
              <a:rPr lang="en-US" altLang="zh-CN">
                <a:solidFill>
                  <a:srgbClr val="FF00FF"/>
                </a:solidFill>
                <a:latin typeface="Consolas" pitchFamily="49" charset="0"/>
                <a:ea typeface="仿宋" pitchFamily="49" charset="-122"/>
              </a:rPr>
              <a:t>prod[</a:t>
            </a:r>
            <a:r>
              <a:rPr lang="en-US" altLang="zh-CN" i="1">
                <a:solidFill>
                  <a:srgbClr val="FF00FF"/>
                </a:solidFill>
                <a:latin typeface="Consolas" pitchFamily="49" charset="0"/>
                <a:ea typeface="仿宋" pitchFamily="49" charset="-122"/>
              </a:rPr>
              <a:t>i</a:t>
            </a:r>
            <a:r>
              <a:rPr lang="en-US" altLang="zh-CN">
                <a:solidFill>
                  <a:srgbClr val="FF00FF"/>
                </a:solidFill>
                <a:latin typeface="Consolas" pitchFamily="49" charset="0"/>
                <a:ea typeface="仿宋" pitchFamily="49" charset="-122"/>
              </a:rPr>
              <a:t>].d</a:t>
            </a:r>
            <a:r>
              <a:rPr lang="zh-CN" altLang="zh-CN">
                <a:solidFill>
                  <a:srgbClr val="FF00FF"/>
                </a:solidFill>
                <a:latin typeface="Consolas" pitchFamily="49" charset="0"/>
                <a:ea typeface="仿宋" pitchFamily="49" charset="-122"/>
              </a:rPr>
              <a:t>到</a:t>
            </a:r>
            <a:r>
              <a:rPr lang="en-US" altLang="zh-CN">
                <a:solidFill>
                  <a:srgbClr val="FF00FF"/>
                </a:solidFill>
                <a:latin typeface="Consolas" pitchFamily="49" charset="0"/>
                <a:ea typeface="仿宋" pitchFamily="49" charset="-122"/>
              </a:rPr>
              <a:t>0</a:t>
            </a:r>
            <a:r>
              <a:rPr lang="zh-CN" altLang="zh-CN">
                <a:solidFill>
                  <a:srgbClr val="FF00FF"/>
                </a:solidFill>
                <a:latin typeface="Consolas" pitchFamily="49" charset="0"/>
                <a:ea typeface="仿宋" pitchFamily="49" charset="-122"/>
              </a:rPr>
              <a:t>的顺序找</a:t>
            </a:r>
            <a:r>
              <a:rPr lang="en-US" altLang="zh-CN">
                <a:solidFill>
                  <a:srgbClr val="FF00FF"/>
                </a:solidFill>
                <a:latin typeface="Consolas" pitchFamily="49" charset="0"/>
                <a:ea typeface="仿宋" pitchFamily="49" charset="-122"/>
              </a:rPr>
              <a:t>days[</a:t>
            </a:r>
            <a:r>
              <a:rPr lang="en-US" altLang="zh-CN" i="1">
                <a:solidFill>
                  <a:srgbClr val="FF00FF"/>
                </a:solidFill>
                <a:latin typeface="Consolas" pitchFamily="49" charset="0"/>
                <a:ea typeface="仿宋" pitchFamily="49" charset="-122"/>
              </a:rPr>
              <a:t>j</a:t>
            </a:r>
            <a:r>
              <a:rPr lang="en-US" altLang="zh-CN">
                <a:solidFill>
                  <a:srgbClr val="FF00FF"/>
                </a:solidFill>
                <a:latin typeface="Consolas" pitchFamily="49" charset="0"/>
                <a:ea typeface="仿宋" pitchFamily="49" charset="-122"/>
              </a:rPr>
              <a:t>]</a:t>
            </a:r>
            <a:r>
              <a:rPr lang="zh-CN" altLang="zh-CN">
                <a:solidFill>
                  <a:srgbClr val="FF00FF"/>
                </a:solidFill>
                <a:latin typeface="Consolas" pitchFamily="49" charset="0"/>
                <a:ea typeface="仿宋" pitchFamily="49" charset="-122"/>
              </a:rPr>
              <a:t>为</a:t>
            </a:r>
            <a:r>
              <a:rPr lang="en-US" altLang="zh-CN">
                <a:solidFill>
                  <a:srgbClr val="FF00FF"/>
                </a:solidFill>
                <a:latin typeface="Consolas" pitchFamily="49" charset="0"/>
                <a:ea typeface="仿宋" pitchFamily="49" charset="-122"/>
              </a:rPr>
              <a:t>false</a:t>
            </a:r>
            <a:r>
              <a:rPr lang="zh-CN" altLang="zh-CN">
                <a:solidFill>
                  <a:srgbClr val="FF00FF"/>
                </a:solidFill>
                <a:latin typeface="Consolas" pitchFamily="49" charset="0"/>
                <a:ea typeface="仿宋" pitchFamily="49" charset="-122"/>
              </a:rPr>
              <a:t>的空时</a:t>
            </a:r>
            <a:r>
              <a:rPr lang="zh-CN" altLang="zh-CN">
                <a:solidFill>
                  <a:srgbClr val="0000FF"/>
                </a:solidFill>
                <a:latin typeface="Consolas" pitchFamily="49" charset="0"/>
                <a:ea typeface="仿宋" pitchFamily="49" charset="-122"/>
              </a:rPr>
              <a:t>间，若找到了，则在时间</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销售商品</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，将其利润累计到</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中，同时置</a:t>
            </a:r>
            <a:r>
              <a:rPr lang="en-US" altLang="zh-CN">
                <a:solidFill>
                  <a:srgbClr val="0000FF"/>
                </a:solidFill>
                <a:latin typeface="Consolas" pitchFamily="49" charset="0"/>
                <a:ea typeface="仿宋" pitchFamily="49" charset="-122"/>
              </a:rPr>
              <a:t>days[</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true</a:t>
            </a:r>
            <a:r>
              <a:rPr lang="zh-CN" altLang="zh-CN">
                <a:solidFill>
                  <a:srgbClr val="0000FF"/>
                </a:solidFill>
                <a:latin typeface="Consolas" pitchFamily="49" charset="0"/>
                <a:ea typeface="仿宋" pitchFamily="49" charset="-122"/>
              </a:rPr>
              <a:t>（表示时间</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被占用）。最后返回</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即可。</a:t>
            </a:r>
          </a:p>
        </p:txBody>
      </p:sp>
      <p:sp>
        <p:nvSpPr>
          <p:cNvPr id="4" name="TextBox 3"/>
          <p:cNvSpPr txBox="1"/>
          <p:nvPr/>
        </p:nvSpPr>
        <p:spPr>
          <a:xfrm>
            <a:off x="428596" y="285728"/>
            <a:ext cx="107157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1</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100</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480426"/>
            <a:ext cx="8643998" cy="51467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#include&lt;iostream&gt;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#include&lt;queue&gt;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#include&lt;vector&gt;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#include&lt;algorithm&gt;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#define MAXN 10005</a:t>
            </a: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Products</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商品的类型</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截止时间</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利润</a:t>
            </a:r>
          </a:p>
          <a:p>
            <a:pPr algn="l" defTabSz="360000">
              <a:lnSpc>
                <a:spcPts val="26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operator&lt;</a:t>
            </a:r>
            <a:r>
              <a:rPr lang="en-US" altLang="zh-CN" sz="2000">
                <a:solidFill>
                  <a:srgbClr val="0000FF"/>
                </a:solidFill>
                <a:latin typeface="Consolas" pitchFamily="49" charset="0"/>
                <a:ea typeface="仿宋" pitchFamily="49" charset="-122"/>
              </a:rPr>
              <a:t>(const Products&amp;o) const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p&gt;o.p;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用于按</a:t>
            </a:r>
            <a:r>
              <a:rPr lang="en-US" altLang="zh-CN" sz="2000">
                <a:solidFill>
                  <a:srgbClr val="00B0F0"/>
                </a:solidFill>
                <a:latin typeface="Consolas" pitchFamily="49" charset="0"/>
                <a:ea typeface="仿宋" pitchFamily="49" charset="-122"/>
              </a:rPr>
              <a:t>p</a:t>
            </a:r>
            <a:r>
              <a:rPr lang="zh-CN" altLang="zh-CN" sz="2000">
                <a:solidFill>
                  <a:srgbClr val="00B0F0"/>
                </a:solidFill>
                <a:latin typeface="Consolas" pitchFamily="49" charset="0"/>
                <a:ea typeface="仿宋" pitchFamily="49" charset="-122"/>
              </a:rPr>
              <a:t>递减排序</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Products prod[MAXN];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存放全部商品</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101</a:t>
            </a:fld>
            <a:r>
              <a:rPr lang="en-US" altLang="zh-CN"/>
              <a:t>/109</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480426"/>
            <a:ext cx="8643998" cy="548020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schedule</a:t>
            </a:r>
            <a:r>
              <a:rPr lang="en-US" altLang="zh-CN" sz="2000">
                <a:solidFill>
                  <a:srgbClr val="0000FF"/>
                </a:solidFill>
                <a:latin typeface="Consolas" pitchFamily="49" charset="0"/>
                <a:ea typeface="仿宋" pitchFamily="49" charset="-122"/>
              </a:rPr>
              <a:t>(int n,int maxd)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贪心算法</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(prod,prod+n);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p</a:t>
            </a:r>
            <a:r>
              <a:rPr lang="zh-CN" altLang="zh-CN" sz="2000">
                <a:solidFill>
                  <a:srgbClr val="00B0F0"/>
                </a:solidFill>
                <a:latin typeface="Consolas" pitchFamily="49" charset="0"/>
                <a:ea typeface="仿宋" pitchFamily="49" charset="-122"/>
              </a:rPr>
              <a:t>递减排序</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ans=0;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答案</a:t>
            </a:r>
          </a:p>
          <a:p>
            <a:pPr algn="l" defTabSz="360000">
              <a:lnSpc>
                <a:spcPts val="2600"/>
              </a:lnSpc>
              <a:spcBef>
                <a:spcPts val="0"/>
              </a:spcBef>
            </a:pPr>
            <a:r>
              <a:rPr lang="en-US" altLang="zh-CN" sz="2000">
                <a:solidFill>
                  <a:srgbClr val="0000FF"/>
                </a:solidFill>
                <a:latin typeface="Consolas" pitchFamily="49" charset="0"/>
                <a:ea typeface="仿宋" pitchFamily="49" charset="-122"/>
              </a:rPr>
              <a:t> 	vector&lt;bool&gt; days(maxd+1,false);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标志时间是否已经占用</a:t>
            </a: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i=0;i&lt;n;i++)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遍历商品</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j=prod[i].d;</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a:t>
            </a:r>
            <a:r>
              <a:rPr lang="en-US" altLang="zh-CN" sz="2000">
                <a:solidFill>
                  <a:srgbClr val="FF0000"/>
                </a:solidFill>
                <a:latin typeface="Consolas" pitchFamily="49" charset="0"/>
                <a:ea typeface="仿宋" pitchFamily="49" charset="-122"/>
              </a:rPr>
              <a:t>j&gt;0</a:t>
            </a:r>
            <a:r>
              <a:rPr lang="en-US" altLang="zh-CN" sz="2000">
                <a:solidFill>
                  <a:srgbClr val="0000FF"/>
                </a:solidFill>
                <a:latin typeface="Consolas" pitchFamily="49" charset="0"/>
                <a:ea typeface="仿宋" pitchFamily="49" charset="-122"/>
              </a:rPr>
              <a:t>;j--)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查找截止时间之前的最晚空时间</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!days[j]</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找到空时间</a:t>
            </a:r>
          </a:p>
          <a:p>
            <a:pPr algn="l" defTabSz="360000">
              <a:lnSpc>
                <a:spcPts val="2600"/>
              </a:lnSpc>
              <a:spcBef>
                <a:spcPts val="0"/>
              </a:spcBef>
            </a:pPr>
            <a:r>
              <a:rPr lang="en-US" altLang="zh-CN" sz="2000">
                <a:solidFill>
                  <a:srgbClr val="0000FF"/>
                </a:solidFill>
                <a:latin typeface="Consolas" pitchFamily="49" charset="0"/>
                <a:ea typeface="仿宋" pitchFamily="49" charset="-122"/>
              </a:rPr>
              <a:t>       		days[j]=true;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在时间</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销售商品</a:t>
            </a:r>
            <a:r>
              <a:rPr lang="en-US" altLang="zh-CN" sz="2000">
                <a:solidFill>
                  <a:srgbClr val="00B0F0"/>
                </a:solidFill>
                <a:latin typeface="Consolas" pitchFamily="49" charset="0"/>
                <a:ea typeface="仿宋" pitchFamily="49" charset="-122"/>
              </a:rPr>
              <a:t>i</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ans+=prod[i].p;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累计利润</a:t>
            </a:r>
          </a:p>
          <a:p>
            <a:pPr algn="l" defTabSz="360000">
              <a:lnSpc>
                <a:spcPts val="2600"/>
              </a:lnSpc>
              <a:spcBef>
                <a:spcPts val="0"/>
              </a:spcBef>
            </a:pPr>
            <a:r>
              <a:rPr lang="en-US" altLang="zh-CN" sz="2000">
                <a:solidFill>
                  <a:srgbClr val="0000FF"/>
                </a:solidFill>
                <a:latin typeface="Consolas" pitchFamily="49" charset="0"/>
                <a:ea typeface="仿宋" pitchFamily="49" charset="-122"/>
              </a:rPr>
              <a:t>       	 	break;</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102</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9"/>
          <p:cNvGrpSpPr/>
          <p:nvPr/>
        </p:nvGrpSpPr>
        <p:grpSpPr>
          <a:xfrm>
            <a:off x="785786" y="5786454"/>
            <a:ext cx="7000924" cy="461665"/>
            <a:chOff x="1071538" y="6286520"/>
            <a:chExt cx="7000924" cy="461665"/>
          </a:xfrm>
        </p:grpSpPr>
        <p:sp>
          <p:nvSpPr>
            <p:cNvPr id="4" name="TextBox 3"/>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297ms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180KB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6" name="TextBox 5"/>
          <p:cNvSpPr txBox="1"/>
          <p:nvPr/>
        </p:nvSpPr>
        <p:spPr>
          <a:xfrm>
            <a:off x="214282" y="480426"/>
            <a:ext cx="8643998" cy="50698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n;</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while(~scanf("%d",&amp;n))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if(n==0)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printf("0\n");</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continue;</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maxd=0;</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for(int i=0;i&lt;n;i++)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scanf("%d%d",&amp;prod[i].p,&amp;prod[i].d);</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maxd=max(maxd,prod[i].d);</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printf("%d\n",</a:t>
            </a:r>
            <a:r>
              <a:rPr lang="en-US" altLang="zh-CN" sz="2000">
                <a:solidFill>
                  <a:srgbClr val="FF0000"/>
                </a:solidFill>
                <a:latin typeface="Consolas" pitchFamily="49" charset="0"/>
                <a:ea typeface="仿宋" pitchFamily="49" charset="-122"/>
              </a:rPr>
              <a:t>schedule</a:t>
            </a:r>
            <a:r>
              <a:rPr lang="en-US" altLang="zh-CN" sz="2000">
                <a:solidFill>
                  <a:srgbClr val="0000FF"/>
                </a:solidFill>
                <a:latin typeface="Consolas" pitchFamily="49" charset="0"/>
                <a:ea typeface="仿宋" pitchFamily="49" charset="-122"/>
              </a:rPr>
              <a:t>(n,maxd));</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103</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2" end="1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3" end="1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14" end="1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1214422"/>
            <a:ext cx="8358246" cy="193899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300"/>
              </a:lnSpc>
              <a:spcBef>
                <a:spcPts val="1200"/>
              </a:spcBef>
              <a:buBlip>
                <a:blip r:embed="rId3"/>
              </a:buBlip>
            </a:pPr>
            <a:r>
              <a:rPr lang="zh-CN" altLang="zh-CN">
                <a:solidFill>
                  <a:srgbClr val="0000FF"/>
                </a:solidFill>
                <a:latin typeface="Consolas" pitchFamily="49" charset="0"/>
                <a:ea typeface="仿宋" pitchFamily="49" charset="-122"/>
              </a:rPr>
              <a:t>可以采用并查集提高性能</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defTabSz="360000">
              <a:lnSpc>
                <a:spcPts val="3300"/>
              </a:lnSpc>
              <a:spcBef>
                <a:spcPts val="1200"/>
              </a:spcBef>
              <a:buBlip>
                <a:blip r:embed="rId3"/>
              </a:buBlip>
            </a:pPr>
            <a:r>
              <a:rPr lang="zh-CN" altLang="zh-CN">
                <a:solidFill>
                  <a:srgbClr val="0000FF"/>
                </a:solidFill>
                <a:latin typeface="Consolas" pitchFamily="49" charset="0"/>
                <a:ea typeface="仿宋" pitchFamily="49" charset="-122"/>
              </a:rPr>
              <a:t>设置并查集数组为</a:t>
            </a:r>
            <a:r>
              <a:rPr lang="en-US" altLang="zh-CN">
                <a:solidFill>
                  <a:srgbClr val="0000FF"/>
                </a:solidFill>
                <a:latin typeface="Consolas" pitchFamily="49" charset="0"/>
                <a:ea typeface="仿宋" pitchFamily="49" charset="-122"/>
              </a:rPr>
              <a:t>parent[0..maxd]</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parent[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表示截止时间</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前面最晚的空时间，初始时置</a:t>
            </a:r>
            <a:r>
              <a:rPr lang="en-US" altLang="zh-CN">
                <a:solidFill>
                  <a:srgbClr val="0000FF"/>
                </a:solidFill>
                <a:latin typeface="Consolas" pitchFamily="49" charset="0"/>
                <a:ea typeface="仿宋" pitchFamily="49" charset="-122"/>
              </a:rPr>
              <a:t>parent[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，当在时间</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销售一个商品时置</a:t>
            </a:r>
            <a:r>
              <a:rPr lang="en-US" altLang="zh-CN">
                <a:solidFill>
                  <a:srgbClr val="FF0000"/>
                </a:solidFill>
                <a:latin typeface="Consolas" pitchFamily="49" charset="0"/>
                <a:ea typeface="仿宋" pitchFamily="49" charset="-122"/>
              </a:rPr>
              <a:t>parent[</a:t>
            </a:r>
            <a:r>
              <a:rPr lang="en-US" altLang="zh-CN" i="1">
                <a:solidFill>
                  <a:srgbClr val="FF0000"/>
                </a:solidFill>
                <a:latin typeface="Consolas" pitchFamily="49" charset="0"/>
                <a:ea typeface="仿宋" pitchFamily="49" charset="-122"/>
              </a:rPr>
              <a:t>j</a:t>
            </a:r>
            <a:r>
              <a:rPr lang="en-US" altLang="zh-CN">
                <a:solidFill>
                  <a:srgbClr val="FF0000"/>
                </a:solidFill>
                <a:latin typeface="Consolas" pitchFamily="49" charset="0"/>
                <a:ea typeface="仿宋" pitchFamily="49" charset="-122"/>
              </a:rPr>
              <a:t>]=</a:t>
            </a:r>
            <a:r>
              <a:rPr lang="en-US" altLang="zh-CN" i="1">
                <a:solidFill>
                  <a:srgbClr val="FF0000"/>
                </a:solidFill>
                <a:latin typeface="Consolas" pitchFamily="49" charset="0"/>
                <a:ea typeface="仿宋" pitchFamily="49" charset="-122"/>
              </a:rPr>
              <a:t>j</a:t>
            </a:r>
            <a:r>
              <a:rPr lang="en-US" altLang="zh-CN">
                <a:solidFill>
                  <a:srgbClr val="FF0000"/>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p>
        </p:txBody>
      </p:sp>
      <p:sp>
        <p:nvSpPr>
          <p:cNvPr id="5" name="TextBox 4"/>
          <p:cNvSpPr txBox="1"/>
          <p:nvPr/>
        </p:nvSpPr>
        <p:spPr>
          <a:xfrm>
            <a:off x="642910" y="500042"/>
            <a:ext cx="1785950"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nSpc>
                <a:spcPct val="100000"/>
              </a:lnSpc>
              <a:spcBef>
                <a:spcPts val="0"/>
              </a:spcBef>
            </a:pPr>
            <a:r>
              <a:rPr lang="zh-CN" altLang="en-US">
                <a:solidFill>
                  <a:schemeClr val="bg1"/>
                </a:solidFill>
                <a:latin typeface="微软雅黑" pitchFamily="34" charset="-122"/>
                <a:ea typeface="微软雅黑" pitchFamily="34" charset="-122"/>
                <a:cs typeface="Consolas" pitchFamily="49" charset="0"/>
              </a:rPr>
              <a:t>算法改进</a:t>
            </a:r>
          </a:p>
        </p:txBody>
      </p:sp>
      <p:sp>
        <p:nvSpPr>
          <p:cNvPr id="7" name="TextBox 6"/>
          <p:cNvSpPr txBox="1"/>
          <p:nvPr/>
        </p:nvSpPr>
        <p:spPr>
          <a:xfrm>
            <a:off x="428596" y="3643314"/>
            <a:ext cx="2786082" cy="219725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3200"/>
              </a:lnSpc>
              <a:spcBef>
                <a:spcPts val="0"/>
              </a:spcBef>
            </a:pPr>
            <a:r>
              <a:rPr lang="en-US" altLang="zh-CN" sz="2000">
                <a:solidFill>
                  <a:srgbClr val="0000FF"/>
                </a:solidFill>
                <a:latin typeface="Consolas" pitchFamily="49" charset="0"/>
                <a:ea typeface="仿宋" pitchFamily="49" charset="-122"/>
              </a:rPr>
              <a:t>(pa</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da)=(50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2)</a:t>
            </a:r>
          </a:p>
          <a:p>
            <a:pPr algn="l">
              <a:lnSpc>
                <a:spcPts val="3200"/>
              </a:lnSpc>
              <a:spcBef>
                <a:spcPts val="0"/>
              </a:spcBef>
            </a:pPr>
            <a:r>
              <a:rPr lang="en-US" altLang="zh-CN" sz="2000">
                <a:solidFill>
                  <a:srgbClr val="0000FF"/>
                </a:solidFill>
                <a:latin typeface="Consolas" pitchFamily="49" charset="0"/>
                <a:ea typeface="仿宋" pitchFamily="49" charset="-122"/>
              </a:rPr>
              <a:t>(pb</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db)=(10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p>
          <a:p>
            <a:pPr algn="l">
              <a:lnSpc>
                <a:spcPts val="3200"/>
              </a:lnSpc>
              <a:spcBef>
                <a:spcPts val="0"/>
              </a:spcBef>
            </a:pPr>
            <a:r>
              <a:rPr lang="en-US" altLang="zh-CN" sz="2000">
                <a:solidFill>
                  <a:srgbClr val="0000FF"/>
                </a:solidFill>
                <a:latin typeface="Consolas" pitchFamily="49" charset="0"/>
                <a:ea typeface="仿宋" pitchFamily="49" charset="-122"/>
              </a:rPr>
              <a:t>(pc</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dc)=(20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2)</a:t>
            </a:r>
          </a:p>
          <a:p>
            <a:pPr algn="l">
              <a:lnSpc>
                <a:spcPts val="3200"/>
              </a:lnSpc>
              <a:spcBef>
                <a:spcPts val="0"/>
              </a:spcBef>
            </a:pPr>
            <a:r>
              <a:rPr lang="en-US" altLang="zh-CN" sz="2000">
                <a:solidFill>
                  <a:srgbClr val="0000FF"/>
                </a:solidFill>
                <a:latin typeface="Consolas" pitchFamily="49" charset="0"/>
                <a:ea typeface="仿宋" pitchFamily="49" charset="-122"/>
              </a:rPr>
              <a:t>(pd</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dd)=(30</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p>
          <a:p>
            <a:pPr algn="l">
              <a:lnSpc>
                <a:spcPts val="3200"/>
              </a:lnSpc>
              <a:spcBef>
                <a:spcPts val="0"/>
              </a:spcBef>
            </a:pPr>
            <a:r>
              <a:rPr lang="en-US" altLang="zh-CN" sz="2000">
                <a:solidFill>
                  <a:srgbClr val="0000FF"/>
                </a:solidFill>
                <a:latin typeface="Consolas" pitchFamily="49" charset="0"/>
                <a:ea typeface="仿宋" pitchFamily="49" charset="-122"/>
              </a:rPr>
              <a:t>maxd=2</a:t>
            </a:r>
          </a:p>
        </p:txBody>
      </p:sp>
      <p:grpSp>
        <p:nvGrpSpPr>
          <p:cNvPr id="24" name="组合 23"/>
          <p:cNvGrpSpPr/>
          <p:nvPr/>
        </p:nvGrpSpPr>
        <p:grpSpPr>
          <a:xfrm>
            <a:off x="4071934" y="3571044"/>
            <a:ext cx="3063009" cy="715212"/>
            <a:chOff x="4071934" y="3571044"/>
            <a:chExt cx="3063009" cy="715212"/>
          </a:xfrm>
        </p:grpSpPr>
        <p:sp>
          <p:nvSpPr>
            <p:cNvPr id="6" name="椭圆 5"/>
            <p:cNvSpPr/>
            <p:nvPr/>
          </p:nvSpPr>
          <p:spPr>
            <a:xfrm>
              <a:off x="4071934" y="3857212"/>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solidFill>
                    <a:schemeClr val="bg1">
                      <a:lumMod val="50000"/>
                    </a:schemeClr>
                  </a:solidFill>
                  <a:latin typeface="Consolas" pitchFamily="49" charset="0"/>
                </a:rPr>
                <a:t>0</a:t>
              </a:r>
              <a:endParaRPr lang="zh-CN" altLang="en-US" sz="2000">
                <a:solidFill>
                  <a:schemeClr val="bg1">
                    <a:lumMod val="50000"/>
                  </a:schemeClr>
                </a:solidFill>
                <a:latin typeface="Consolas" pitchFamily="49" charset="0"/>
              </a:endParaRPr>
            </a:p>
          </p:txBody>
        </p:sp>
        <p:sp>
          <p:nvSpPr>
            <p:cNvPr id="8" name="任意多边形 7"/>
            <p:cNvSpPr/>
            <p:nvPr/>
          </p:nvSpPr>
          <p:spPr>
            <a:xfrm>
              <a:off x="4380439" y="3571044"/>
              <a:ext cx="468488" cy="590785"/>
            </a:xfrm>
            <a:custGeom>
              <a:avLst/>
              <a:gdLst>
                <a:gd name="connsiteX0" fmla="*/ 135466 w 468488"/>
                <a:gd name="connsiteY0" fmla="*/ 500474 h 590785"/>
                <a:gd name="connsiteX1" fmla="*/ 383822 w 468488"/>
                <a:gd name="connsiteY1" fmla="*/ 534341 h 590785"/>
                <a:gd name="connsiteX2" fmla="*/ 428977 w 468488"/>
                <a:gd name="connsiteY2" fmla="*/ 161807 h 590785"/>
                <a:gd name="connsiteX3" fmla="*/ 146755 w 468488"/>
                <a:gd name="connsiteY3" fmla="*/ 15052 h 590785"/>
                <a:gd name="connsiteX4" fmla="*/ 0 w 468488"/>
                <a:gd name="connsiteY4" fmla="*/ 252118 h 590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88" h="590785">
                  <a:moveTo>
                    <a:pt x="135466" y="500474"/>
                  </a:moveTo>
                  <a:cubicBezTo>
                    <a:pt x="235185" y="545629"/>
                    <a:pt x="334904" y="590785"/>
                    <a:pt x="383822" y="534341"/>
                  </a:cubicBezTo>
                  <a:cubicBezTo>
                    <a:pt x="432740" y="477897"/>
                    <a:pt x="468488" y="248355"/>
                    <a:pt x="428977" y="161807"/>
                  </a:cubicBezTo>
                  <a:cubicBezTo>
                    <a:pt x="389466" y="75259"/>
                    <a:pt x="218251" y="0"/>
                    <a:pt x="146755" y="15052"/>
                  </a:cubicBezTo>
                  <a:cubicBezTo>
                    <a:pt x="75259" y="30104"/>
                    <a:pt x="37629" y="141111"/>
                    <a:pt x="0" y="252118"/>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9" name="椭圆 8"/>
            <p:cNvSpPr/>
            <p:nvPr/>
          </p:nvSpPr>
          <p:spPr>
            <a:xfrm>
              <a:off x="5223767" y="3857628"/>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1</a:t>
              </a:r>
              <a:endParaRPr lang="zh-CN" altLang="en-US" sz="2000">
                <a:latin typeface="Consolas" pitchFamily="49" charset="0"/>
              </a:endParaRPr>
            </a:p>
          </p:txBody>
        </p:sp>
        <p:sp>
          <p:nvSpPr>
            <p:cNvPr id="10" name="任意多边形 9"/>
            <p:cNvSpPr/>
            <p:nvPr/>
          </p:nvSpPr>
          <p:spPr>
            <a:xfrm>
              <a:off x="5532272" y="3571460"/>
              <a:ext cx="468488" cy="590785"/>
            </a:xfrm>
            <a:custGeom>
              <a:avLst/>
              <a:gdLst>
                <a:gd name="connsiteX0" fmla="*/ 135466 w 468488"/>
                <a:gd name="connsiteY0" fmla="*/ 500474 h 590785"/>
                <a:gd name="connsiteX1" fmla="*/ 383822 w 468488"/>
                <a:gd name="connsiteY1" fmla="*/ 534341 h 590785"/>
                <a:gd name="connsiteX2" fmla="*/ 428977 w 468488"/>
                <a:gd name="connsiteY2" fmla="*/ 161807 h 590785"/>
                <a:gd name="connsiteX3" fmla="*/ 146755 w 468488"/>
                <a:gd name="connsiteY3" fmla="*/ 15052 h 590785"/>
                <a:gd name="connsiteX4" fmla="*/ 0 w 468488"/>
                <a:gd name="connsiteY4" fmla="*/ 252118 h 590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88" h="590785">
                  <a:moveTo>
                    <a:pt x="135466" y="500474"/>
                  </a:moveTo>
                  <a:cubicBezTo>
                    <a:pt x="235185" y="545629"/>
                    <a:pt x="334904" y="590785"/>
                    <a:pt x="383822" y="534341"/>
                  </a:cubicBezTo>
                  <a:cubicBezTo>
                    <a:pt x="432740" y="477897"/>
                    <a:pt x="468488" y="248355"/>
                    <a:pt x="428977" y="161807"/>
                  </a:cubicBezTo>
                  <a:cubicBezTo>
                    <a:pt x="389466" y="75259"/>
                    <a:pt x="218251" y="0"/>
                    <a:pt x="146755" y="15052"/>
                  </a:cubicBezTo>
                  <a:cubicBezTo>
                    <a:pt x="75259" y="30104"/>
                    <a:pt x="37629" y="141111"/>
                    <a:pt x="0" y="252118"/>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1" name="椭圆 10"/>
            <p:cNvSpPr/>
            <p:nvPr/>
          </p:nvSpPr>
          <p:spPr>
            <a:xfrm>
              <a:off x="6357950" y="3857628"/>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2</a:t>
              </a:r>
              <a:endParaRPr lang="zh-CN" altLang="en-US" sz="2000">
                <a:latin typeface="Consolas" pitchFamily="49" charset="0"/>
              </a:endParaRPr>
            </a:p>
          </p:txBody>
        </p:sp>
        <p:sp>
          <p:nvSpPr>
            <p:cNvPr id="12" name="任意多边形 11"/>
            <p:cNvSpPr/>
            <p:nvPr/>
          </p:nvSpPr>
          <p:spPr>
            <a:xfrm>
              <a:off x="6666455" y="3571460"/>
              <a:ext cx="468488" cy="590785"/>
            </a:xfrm>
            <a:custGeom>
              <a:avLst/>
              <a:gdLst>
                <a:gd name="connsiteX0" fmla="*/ 135466 w 468488"/>
                <a:gd name="connsiteY0" fmla="*/ 500474 h 590785"/>
                <a:gd name="connsiteX1" fmla="*/ 383822 w 468488"/>
                <a:gd name="connsiteY1" fmla="*/ 534341 h 590785"/>
                <a:gd name="connsiteX2" fmla="*/ 428977 w 468488"/>
                <a:gd name="connsiteY2" fmla="*/ 161807 h 590785"/>
                <a:gd name="connsiteX3" fmla="*/ 146755 w 468488"/>
                <a:gd name="connsiteY3" fmla="*/ 15052 h 590785"/>
                <a:gd name="connsiteX4" fmla="*/ 0 w 468488"/>
                <a:gd name="connsiteY4" fmla="*/ 252118 h 590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88" h="590785">
                  <a:moveTo>
                    <a:pt x="135466" y="500474"/>
                  </a:moveTo>
                  <a:cubicBezTo>
                    <a:pt x="235185" y="545629"/>
                    <a:pt x="334904" y="590785"/>
                    <a:pt x="383822" y="534341"/>
                  </a:cubicBezTo>
                  <a:cubicBezTo>
                    <a:pt x="432740" y="477897"/>
                    <a:pt x="468488" y="248355"/>
                    <a:pt x="428977" y="161807"/>
                  </a:cubicBezTo>
                  <a:cubicBezTo>
                    <a:pt x="389466" y="75259"/>
                    <a:pt x="218251" y="0"/>
                    <a:pt x="146755" y="15052"/>
                  </a:cubicBezTo>
                  <a:cubicBezTo>
                    <a:pt x="75259" y="30104"/>
                    <a:pt x="37629" y="141111"/>
                    <a:pt x="0" y="252118"/>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grpSp>
        <p:nvGrpSpPr>
          <p:cNvPr id="25" name="组合 24"/>
          <p:cNvGrpSpPr/>
          <p:nvPr/>
        </p:nvGrpSpPr>
        <p:grpSpPr>
          <a:xfrm>
            <a:off x="4286248" y="4429132"/>
            <a:ext cx="3214710" cy="2071702"/>
            <a:chOff x="4286248" y="4429132"/>
            <a:chExt cx="3214710" cy="2071702"/>
          </a:xfrm>
        </p:grpSpPr>
        <p:sp>
          <p:nvSpPr>
            <p:cNvPr id="13" name="TextBox 12"/>
            <p:cNvSpPr txBox="1"/>
            <p:nvPr/>
          </p:nvSpPr>
          <p:spPr>
            <a:xfrm>
              <a:off x="5357818" y="4500570"/>
              <a:ext cx="2143140"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若</a:t>
              </a:r>
              <a:r>
                <a:rPr lang="en-US" altLang="zh-CN" sz="2000">
                  <a:solidFill>
                    <a:srgbClr val="0000FF"/>
                  </a:solidFill>
                  <a:latin typeface="Consolas" pitchFamily="49" charset="0"/>
                  <a:ea typeface="仿宋" pitchFamily="49" charset="-122"/>
                  <a:cs typeface="Consolas" pitchFamily="49" charset="0"/>
                </a:rPr>
                <a:t>days[1]=true</a:t>
              </a:r>
              <a:endParaRPr lang="zh-CN" altLang="en-US" sz="2000">
                <a:solidFill>
                  <a:srgbClr val="0000FF"/>
                </a:solidFill>
                <a:latin typeface="Consolas" pitchFamily="49" charset="0"/>
                <a:ea typeface="仿宋" pitchFamily="49" charset="-122"/>
                <a:cs typeface="Consolas" pitchFamily="49" charset="0"/>
              </a:endParaRPr>
            </a:p>
          </p:txBody>
        </p:sp>
        <p:sp>
          <p:nvSpPr>
            <p:cNvPr id="14" name="椭圆 13"/>
            <p:cNvSpPr/>
            <p:nvPr/>
          </p:nvSpPr>
          <p:spPr>
            <a:xfrm>
              <a:off x="4286248" y="5365827"/>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solidFill>
                    <a:schemeClr val="bg1">
                      <a:lumMod val="50000"/>
                    </a:schemeClr>
                  </a:solidFill>
                  <a:latin typeface="Consolas" pitchFamily="49" charset="0"/>
                </a:rPr>
                <a:t>0</a:t>
              </a:r>
              <a:endParaRPr lang="zh-CN" altLang="en-US" sz="2000">
                <a:solidFill>
                  <a:schemeClr val="bg1">
                    <a:lumMod val="50000"/>
                  </a:schemeClr>
                </a:solidFill>
                <a:latin typeface="Consolas" pitchFamily="49" charset="0"/>
              </a:endParaRPr>
            </a:p>
          </p:txBody>
        </p:sp>
        <p:sp>
          <p:nvSpPr>
            <p:cNvPr id="15" name="任意多边形 14"/>
            <p:cNvSpPr/>
            <p:nvPr/>
          </p:nvSpPr>
          <p:spPr>
            <a:xfrm>
              <a:off x="4594753" y="5079659"/>
              <a:ext cx="468488" cy="590785"/>
            </a:xfrm>
            <a:custGeom>
              <a:avLst/>
              <a:gdLst>
                <a:gd name="connsiteX0" fmla="*/ 135466 w 468488"/>
                <a:gd name="connsiteY0" fmla="*/ 500474 h 590785"/>
                <a:gd name="connsiteX1" fmla="*/ 383822 w 468488"/>
                <a:gd name="connsiteY1" fmla="*/ 534341 h 590785"/>
                <a:gd name="connsiteX2" fmla="*/ 428977 w 468488"/>
                <a:gd name="connsiteY2" fmla="*/ 161807 h 590785"/>
                <a:gd name="connsiteX3" fmla="*/ 146755 w 468488"/>
                <a:gd name="connsiteY3" fmla="*/ 15052 h 590785"/>
                <a:gd name="connsiteX4" fmla="*/ 0 w 468488"/>
                <a:gd name="connsiteY4" fmla="*/ 252118 h 590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88" h="590785">
                  <a:moveTo>
                    <a:pt x="135466" y="500474"/>
                  </a:moveTo>
                  <a:cubicBezTo>
                    <a:pt x="235185" y="545629"/>
                    <a:pt x="334904" y="590785"/>
                    <a:pt x="383822" y="534341"/>
                  </a:cubicBezTo>
                  <a:cubicBezTo>
                    <a:pt x="432740" y="477897"/>
                    <a:pt x="468488" y="248355"/>
                    <a:pt x="428977" y="161807"/>
                  </a:cubicBezTo>
                  <a:cubicBezTo>
                    <a:pt x="389466" y="75259"/>
                    <a:pt x="218251" y="0"/>
                    <a:pt x="146755" y="15052"/>
                  </a:cubicBezTo>
                  <a:cubicBezTo>
                    <a:pt x="75259" y="30104"/>
                    <a:pt x="37629" y="141111"/>
                    <a:pt x="0" y="252118"/>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6" name="椭圆 15"/>
            <p:cNvSpPr/>
            <p:nvPr/>
          </p:nvSpPr>
          <p:spPr>
            <a:xfrm>
              <a:off x="4286248" y="6072206"/>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1</a:t>
              </a:r>
              <a:endParaRPr lang="zh-CN" altLang="en-US" sz="2000">
                <a:latin typeface="Consolas" pitchFamily="49" charset="0"/>
              </a:endParaRPr>
            </a:p>
          </p:txBody>
        </p:sp>
        <p:sp>
          <p:nvSpPr>
            <p:cNvPr id="19" name="椭圆 18"/>
            <p:cNvSpPr/>
            <p:nvPr/>
          </p:nvSpPr>
          <p:spPr>
            <a:xfrm>
              <a:off x="5295205" y="5572972"/>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2</a:t>
              </a:r>
              <a:endParaRPr lang="zh-CN" altLang="en-US" sz="2000">
                <a:latin typeface="Consolas" pitchFamily="49" charset="0"/>
              </a:endParaRPr>
            </a:p>
          </p:txBody>
        </p:sp>
        <p:sp>
          <p:nvSpPr>
            <p:cNvPr id="20" name="任意多边形 19"/>
            <p:cNvSpPr/>
            <p:nvPr/>
          </p:nvSpPr>
          <p:spPr>
            <a:xfrm>
              <a:off x="5603710" y="5286804"/>
              <a:ext cx="468488" cy="590785"/>
            </a:xfrm>
            <a:custGeom>
              <a:avLst/>
              <a:gdLst>
                <a:gd name="connsiteX0" fmla="*/ 135466 w 468488"/>
                <a:gd name="connsiteY0" fmla="*/ 500474 h 590785"/>
                <a:gd name="connsiteX1" fmla="*/ 383822 w 468488"/>
                <a:gd name="connsiteY1" fmla="*/ 534341 h 590785"/>
                <a:gd name="connsiteX2" fmla="*/ 428977 w 468488"/>
                <a:gd name="connsiteY2" fmla="*/ 161807 h 590785"/>
                <a:gd name="connsiteX3" fmla="*/ 146755 w 468488"/>
                <a:gd name="connsiteY3" fmla="*/ 15052 h 590785"/>
                <a:gd name="connsiteX4" fmla="*/ 0 w 468488"/>
                <a:gd name="connsiteY4" fmla="*/ 252118 h 590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88" h="590785">
                  <a:moveTo>
                    <a:pt x="135466" y="500474"/>
                  </a:moveTo>
                  <a:cubicBezTo>
                    <a:pt x="235185" y="545629"/>
                    <a:pt x="334904" y="590785"/>
                    <a:pt x="383822" y="534341"/>
                  </a:cubicBezTo>
                  <a:cubicBezTo>
                    <a:pt x="432740" y="477897"/>
                    <a:pt x="468488" y="248355"/>
                    <a:pt x="428977" y="161807"/>
                  </a:cubicBezTo>
                  <a:cubicBezTo>
                    <a:pt x="389466" y="75259"/>
                    <a:pt x="218251" y="0"/>
                    <a:pt x="146755" y="15052"/>
                  </a:cubicBezTo>
                  <a:cubicBezTo>
                    <a:pt x="75259" y="30104"/>
                    <a:pt x="37629" y="141111"/>
                    <a:pt x="0" y="252118"/>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cxnSp>
          <p:nvCxnSpPr>
            <p:cNvPr id="22" name="直接箭头连接符 21"/>
            <p:cNvCxnSpPr>
              <a:stCxn id="16" idx="0"/>
              <a:endCxn id="14" idx="4"/>
            </p:cNvCxnSpPr>
            <p:nvPr/>
          </p:nvCxnSpPr>
          <p:spPr>
            <a:xfrm rot="5400000" flipH="1" flipV="1">
              <a:off x="4361687" y="5933331"/>
              <a:ext cx="277751"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3" name="下箭头 22"/>
            <p:cNvSpPr/>
            <p:nvPr/>
          </p:nvSpPr>
          <p:spPr>
            <a:xfrm>
              <a:off x="5214942" y="4429132"/>
              <a:ext cx="214314" cy="64294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27" name="灯片编号占位符 26"/>
          <p:cNvSpPr>
            <a:spLocks noGrp="1"/>
          </p:cNvSpPr>
          <p:nvPr>
            <p:ph type="sldNum" sz="quarter" idx="12"/>
          </p:nvPr>
        </p:nvSpPr>
        <p:spPr/>
        <p:txBody>
          <a:bodyPr/>
          <a:lstStyle/>
          <a:p>
            <a:fld id="{7AF016A1-9F15-429F-9EFD-84004B73C732}" type="slidenum">
              <a:rPr lang="en-US" altLang="zh-CN" smtClean="0"/>
              <a:pPr/>
              <a:t>104</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832394"/>
            <a:ext cx="8643998" cy="245373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int parent[MAXN];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并查集存储结构</a:t>
            </a:r>
          </a:p>
          <a:p>
            <a:pPr algn="l" defTabSz="360000">
              <a:lnSpc>
                <a:spcPts val="30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(int x)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并查集中查找</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结点的根结点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if (x!=parent[x])</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parent[x]=</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(parent[x]);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路径压缩</a:t>
            </a: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parent[x];</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105</a:t>
            </a:fld>
            <a:r>
              <a:rPr lang="en-US" altLang="zh-CN"/>
              <a:t>/109</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9"/>
          <p:cNvGrpSpPr/>
          <p:nvPr/>
        </p:nvGrpSpPr>
        <p:grpSpPr>
          <a:xfrm>
            <a:off x="785786" y="5786454"/>
            <a:ext cx="7000924" cy="461665"/>
            <a:chOff x="1071538" y="6286520"/>
            <a:chExt cx="7000924" cy="461665"/>
          </a:xfrm>
        </p:grpSpPr>
        <p:sp>
          <p:nvSpPr>
            <p:cNvPr id="4" name="TextBox 3"/>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63ms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212KB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6" name="TextBox 5"/>
          <p:cNvSpPr txBox="1"/>
          <p:nvPr/>
        </p:nvSpPr>
        <p:spPr>
          <a:xfrm>
            <a:off x="214282" y="480426"/>
            <a:ext cx="8643998" cy="497230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schedule</a:t>
            </a:r>
            <a:r>
              <a:rPr lang="en-US" altLang="zh-CN" sz="2000">
                <a:solidFill>
                  <a:srgbClr val="0000FF"/>
                </a:solidFill>
                <a:latin typeface="Consolas" pitchFamily="49" charset="0"/>
                <a:ea typeface="仿宋" pitchFamily="49" charset="-122"/>
              </a:rPr>
              <a:t>(int n,int maxd) {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贪心算法</a:t>
            </a: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i=0;i&lt;=maxd;i++)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初始化并查集</a:t>
            </a:r>
          </a:p>
          <a:p>
            <a:pPr algn="l" defTabSz="360000">
              <a:lnSpc>
                <a:spcPts val="2700"/>
              </a:lnSpc>
              <a:spcBef>
                <a:spcPts val="0"/>
              </a:spcBef>
            </a:pPr>
            <a:r>
              <a:rPr lang="en-US" altLang="zh-CN" sz="2000">
                <a:solidFill>
                  <a:srgbClr val="0000FF"/>
                </a:solidFill>
                <a:latin typeface="Consolas" pitchFamily="49" charset="0"/>
                <a:ea typeface="仿宋" pitchFamily="49" charset="-122"/>
              </a:rPr>
              <a:t>  		parent[i]=i;</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(prod,prod+n);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p</a:t>
            </a:r>
            <a:r>
              <a:rPr lang="zh-CN" altLang="zh-CN" sz="2000">
                <a:solidFill>
                  <a:srgbClr val="00B0F0"/>
                </a:solidFill>
                <a:latin typeface="Consolas" pitchFamily="49" charset="0"/>
                <a:ea typeface="仿宋" pitchFamily="49" charset="-122"/>
              </a:rPr>
              <a:t>递减排序</a:t>
            </a:r>
          </a:p>
          <a:p>
            <a:pPr algn="l" defTabSz="360000">
              <a:lnSpc>
                <a:spcPts val="2700"/>
              </a:lnSpc>
              <a:spcBef>
                <a:spcPts val="0"/>
              </a:spcBef>
            </a:pPr>
            <a:r>
              <a:rPr lang="en-US" altLang="zh-CN" sz="2000">
                <a:solidFill>
                  <a:srgbClr val="0000FF"/>
                </a:solidFill>
                <a:latin typeface="Consolas" pitchFamily="49" charset="0"/>
                <a:ea typeface="仿宋" pitchFamily="49" charset="-122"/>
              </a:rPr>
              <a:t>  	int ans=0;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存放答案</a:t>
            </a: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i=0;i&lt;n;i++)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di=</a:t>
            </a:r>
            <a:r>
              <a:rPr lang="en-US" altLang="zh-CN" sz="2000">
                <a:solidFill>
                  <a:srgbClr val="FF0000"/>
                </a:solidFill>
                <a:latin typeface="Consolas" pitchFamily="49" charset="0"/>
                <a:ea typeface="仿宋" pitchFamily="49" charset="-122"/>
              </a:rPr>
              <a:t>Find</a:t>
            </a:r>
            <a:r>
              <a:rPr lang="en-US" altLang="zh-CN" sz="2000">
                <a:solidFill>
                  <a:srgbClr val="0000FF"/>
                </a:solidFill>
                <a:latin typeface="Consolas" pitchFamily="49" charset="0"/>
                <a:ea typeface="仿宋" pitchFamily="49" charset="-122"/>
              </a:rPr>
              <a:t>(prod[i].d);</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di&gt;0</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能够销售</a:t>
            </a:r>
          </a:p>
          <a:p>
            <a:pPr algn="l" defTabSz="360000">
              <a:lnSpc>
                <a:spcPts val="2700"/>
              </a:lnSpc>
              <a:spcBef>
                <a:spcPts val="0"/>
              </a:spcBef>
            </a:pPr>
            <a:r>
              <a:rPr lang="en-US" altLang="zh-CN" sz="2000">
                <a:solidFill>
                  <a:srgbClr val="0000FF"/>
                </a:solidFill>
                <a:latin typeface="Consolas" pitchFamily="49" charset="0"/>
                <a:ea typeface="仿宋" pitchFamily="49" charset="-122"/>
              </a:rPr>
              <a:t>      	ans+=prod[i].p;</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parent[di]=di-1;</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合并</a:t>
            </a: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106</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175606"/>
            <a:ext cx="8143932" cy="375359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300"/>
              </a:lnSpc>
              <a:spcBef>
                <a:spcPts val="1200"/>
              </a:spcBef>
              <a:buBlip>
                <a:blip r:embed="rId3"/>
              </a:buBlip>
            </a:pPr>
            <a:r>
              <a:rPr lang="zh-CN" altLang="zh-CN">
                <a:solidFill>
                  <a:srgbClr val="FF0000"/>
                </a:solidFill>
                <a:latin typeface="楷体" pitchFamily="49" charset="-122"/>
                <a:ea typeface="楷体" pitchFamily="49" charset="-122"/>
              </a:rPr>
              <a:t>贪心策略</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优先考虑晚的截止时间，在所有能够销售的商品中选择利润最大的商品进行销售。</a:t>
            </a:r>
            <a:endParaRPr lang="en-US" altLang="zh-CN">
              <a:solidFill>
                <a:srgbClr val="0000FF"/>
              </a:solidFill>
              <a:latin typeface="Consolas" pitchFamily="49" charset="0"/>
              <a:ea typeface="仿宋" pitchFamily="49" charset="-122"/>
            </a:endParaRPr>
          </a:p>
          <a:p>
            <a:pPr marL="457200" indent="-457200" algn="l" defTabSz="360000">
              <a:lnSpc>
                <a:spcPts val="3300"/>
              </a:lnSpc>
              <a:spcBef>
                <a:spcPts val="1200"/>
              </a:spcBef>
              <a:buBlip>
                <a:blip r:embed="rId3"/>
              </a:buBlip>
            </a:pP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prod</a:t>
            </a:r>
            <a:r>
              <a:rPr lang="zh-CN" altLang="zh-CN">
                <a:solidFill>
                  <a:srgbClr val="0000FF"/>
                </a:solidFill>
                <a:latin typeface="Consolas" pitchFamily="49" charset="0"/>
                <a:ea typeface="仿宋" pitchFamily="49" charset="-122"/>
              </a:rPr>
              <a:t>数组存放全部商品的数据，将</a:t>
            </a:r>
            <a:r>
              <a:rPr lang="en-US" altLang="zh-CN">
                <a:solidFill>
                  <a:srgbClr val="0000FF"/>
                </a:solidFill>
                <a:latin typeface="Consolas" pitchFamily="49" charset="0"/>
                <a:ea typeface="仿宋" pitchFamily="49" charset="-122"/>
              </a:rPr>
              <a:t>prod</a:t>
            </a:r>
            <a:r>
              <a:rPr lang="zh-CN" altLang="zh-CN">
                <a:solidFill>
                  <a:srgbClr val="FF0000"/>
                </a:solidFill>
                <a:latin typeface="Consolas" pitchFamily="49" charset="0"/>
                <a:ea typeface="仿宋" pitchFamily="49" charset="-122"/>
              </a:rPr>
              <a:t>按截止日期递减排序</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defTabSz="360000">
              <a:lnSpc>
                <a:spcPts val="3300"/>
              </a:lnSpc>
              <a:spcBef>
                <a:spcPts val="1200"/>
              </a:spcBef>
              <a:buBlip>
                <a:blip r:embed="rId3"/>
              </a:buBlip>
            </a:pPr>
            <a:r>
              <a:rPr lang="en-US" altLang="zh-CN">
                <a:solidFill>
                  <a:srgbClr val="0000FF"/>
                </a:solidFill>
                <a:latin typeface="Consolas" pitchFamily="49" charset="0"/>
                <a:ea typeface="仿宋" pitchFamily="49" charset="-122"/>
              </a:rPr>
              <a:t>maxd</a:t>
            </a:r>
            <a:r>
              <a:rPr lang="zh-CN" altLang="zh-CN">
                <a:solidFill>
                  <a:srgbClr val="0000FF"/>
                </a:solidFill>
                <a:latin typeface="Consolas" pitchFamily="49" charset="0"/>
                <a:ea typeface="仿宋" pitchFamily="49" charset="-122"/>
              </a:rPr>
              <a:t>从最大截止日期</a:t>
            </a:r>
            <a:r>
              <a:rPr lang="en-US" altLang="zh-CN">
                <a:solidFill>
                  <a:srgbClr val="0000FF"/>
                </a:solidFill>
                <a:latin typeface="Consolas" pitchFamily="49" charset="0"/>
                <a:ea typeface="仿宋" pitchFamily="49" charset="-122"/>
              </a:rPr>
              <a:t>prod[0].d</a:t>
            </a:r>
            <a:r>
              <a:rPr lang="zh-CN" altLang="zh-CN">
                <a:solidFill>
                  <a:srgbClr val="0000FF"/>
                </a:solidFill>
                <a:latin typeface="Consolas" pitchFamily="49" charset="0"/>
                <a:ea typeface="仿宋" pitchFamily="49" charset="-122"/>
              </a:rPr>
              <a:t>到</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循环：将截止日期大于或者等于</a:t>
            </a:r>
            <a:r>
              <a:rPr lang="en-US" altLang="zh-CN">
                <a:solidFill>
                  <a:srgbClr val="0000FF"/>
                </a:solidFill>
                <a:latin typeface="Consolas" pitchFamily="49" charset="0"/>
                <a:ea typeface="仿宋" pitchFamily="49" charset="-122"/>
              </a:rPr>
              <a:t>maxd</a:t>
            </a:r>
            <a:r>
              <a:rPr lang="zh-CN" altLang="zh-CN">
                <a:solidFill>
                  <a:srgbClr val="0000FF"/>
                </a:solidFill>
                <a:latin typeface="Consolas" pitchFamily="49" charset="0"/>
                <a:ea typeface="仿宋" pitchFamily="49" charset="-122"/>
              </a:rPr>
              <a:t>的所有商品的利润值进入到大根堆</a:t>
            </a:r>
            <a:r>
              <a:rPr lang="en-US" altLang="zh-CN">
                <a:solidFill>
                  <a:srgbClr val="0000FF"/>
                </a:solidFill>
                <a:latin typeface="Consolas" pitchFamily="49" charset="0"/>
                <a:ea typeface="仿宋" pitchFamily="49" charset="-122"/>
              </a:rPr>
              <a:t>pq</a:t>
            </a:r>
            <a:r>
              <a:rPr lang="zh-CN" altLang="zh-CN">
                <a:solidFill>
                  <a:srgbClr val="0000FF"/>
                </a:solidFill>
                <a:latin typeface="Consolas" pitchFamily="49" charset="0"/>
                <a:ea typeface="仿宋" pitchFamily="49" charset="-122"/>
              </a:rPr>
              <a:t>中，然后出队最大利润值并累计到</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中，最后返回</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即可。</a:t>
            </a:r>
          </a:p>
        </p:txBody>
      </p:sp>
      <p:sp>
        <p:nvSpPr>
          <p:cNvPr id="4" name="TextBox 3"/>
          <p:cNvSpPr txBox="1"/>
          <p:nvPr/>
        </p:nvSpPr>
        <p:spPr>
          <a:xfrm>
            <a:off x="428596" y="500042"/>
            <a:ext cx="1071570"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2</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107</a:t>
            </a:fld>
            <a:r>
              <a:rPr lang="en-US" altLang="zh-CN"/>
              <a:t>/109</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480426"/>
            <a:ext cx="8643998" cy="517242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#include&lt;iostream&gt;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#include&lt;queue&gt;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#include&lt;algorithm&gt;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#define MAXN 10005</a:t>
            </a:r>
          </a:p>
          <a:p>
            <a:pPr algn="l" defTabSz="360000">
              <a:lnSpc>
                <a:spcPts val="2800"/>
              </a:lnSpc>
              <a:spcBef>
                <a:spcPts val="0"/>
              </a:spcBef>
            </a:pP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Products</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商品的类型</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截止时间</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利润</a:t>
            </a:r>
          </a:p>
          <a:p>
            <a:pPr algn="l" defTabSz="360000">
              <a:lnSpc>
                <a:spcPts val="28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operator&lt;</a:t>
            </a:r>
            <a:r>
              <a:rPr lang="en-US" altLang="zh-CN" sz="2000">
                <a:solidFill>
                  <a:srgbClr val="0000FF"/>
                </a:solidFill>
                <a:latin typeface="Consolas" pitchFamily="49" charset="0"/>
                <a:ea typeface="仿宋" pitchFamily="49" charset="-122"/>
              </a:rPr>
              <a:t>(const Products&amp;o)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d&gt;o.d;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按截止时间递减排序</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Products prod[MAXN];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存放全部商品</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108</a:t>
            </a:fld>
            <a:r>
              <a:rPr lang="en-US" altLang="zh-CN"/>
              <a:t>/109</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480426"/>
            <a:ext cx="8643998" cy="51293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schedule</a:t>
            </a:r>
            <a:r>
              <a:rPr lang="en-US" altLang="zh-CN" sz="2000">
                <a:solidFill>
                  <a:srgbClr val="0000FF"/>
                </a:solidFill>
                <a:latin typeface="Consolas" pitchFamily="49" charset="0"/>
                <a:ea typeface="仿宋" pitchFamily="49" charset="-122"/>
              </a:rPr>
              <a:t>(int 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贪心算法</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(prod,prod+n);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按截止时间递减排序</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ans=0;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答案</a:t>
            </a:r>
          </a:p>
          <a:p>
            <a:pPr algn="l" defTabSz="360000">
              <a:lnSpc>
                <a:spcPts val="2600"/>
              </a:lnSpc>
              <a:spcBef>
                <a:spcPts val="0"/>
              </a:spcBef>
            </a:pPr>
            <a:r>
              <a:rPr lang="en-US" altLang="zh-CN" sz="2000">
                <a:solidFill>
                  <a:srgbClr val="0000FF"/>
                </a:solidFill>
                <a:latin typeface="Consolas" pitchFamily="49" charset="0"/>
                <a:ea typeface="仿宋" pitchFamily="49" charset="-122"/>
              </a:rPr>
              <a:t>	priority_queue&lt;int&gt; </a:t>
            </a:r>
            <a:r>
              <a:rPr lang="en-US" altLang="zh-CN" sz="2000">
                <a:solidFill>
                  <a:srgbClr val="006600"/>
                </a:solidFill>
                <a:latin typeface="Consolas" pitchFamily="49" charset="0"/>
                <a:ea typeface="仿宋" pitchFamily="49" charset="-122"/>
              </a:rPr>
              <a:t>pq</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按利润越大越优先出队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i=0;										</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依次遍历</a:t>
            </a:r>
            <a:r>
              <a:rPr lang="en-US" altLang="zh-CN" sz="2000">
                <a:solidFill>
                  <a:srgbClr val="00B0F0"/>
                </a:solidFill>
                <a:latin typeface="Consolas" pitchFamily="49" charset="0"/>
                <a:ea typeface="仿宋" pitchFamily="49" charset="-122"/>
              </a:rPr>
              <a:t>prod</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day=prod[0].d;day&gt;0;day--)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for(;i&lt;n &amp;&amp; prod[i].d&gt;=day;i++)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pq.push(prod[i].p);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将截止时间</a:t>
            </a:r>
            <a:r>
              <a:rPr lang="zh-CN" altLang="en-US" sz="2000">
                <a:solidFill>
                  <a:srgbClr val="00B0F0"/>
                </a:solidFill>
                <a:latin typeface="+mn-ea"/>
              </a:rPr>
              <a:t>≥</a:t>
            </a:r>
            <a:r>
              <a:rPr lang="en-US" altLang="zh-CN" sz="2000">
                <a:solidFill>
                  <a:srgbClr val="00B0F0"/>
                </a:solidFill>
                <a:latin typeface="Consolas" pitchFamily="49" charset="0"/>
                <a:ea typeface="仿宋" pitchFamily="49" charset="-122"/>
              </a:rPr>
              <a:t>day</a:t>
            </a:r>
            <a:r>
              <a:rPr lang="zh-CN" altLang="zh-CN" sz="2000">
                <a:solidFill>
                  <a:srgbClr val="00B0F0"/>
                </a:solidFill>
                <a:latin typeface="Consolas" pitchFamily="49" charset="0"/>
                <a:ea typeface="仿宋" pitchFamily="49" charset="-122"/>
              </a:rPr>
              <a:t>的商品利润进队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if(!pq.empty())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p=pq.top(); pq.pop();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选择销售利润最大的商品</a:t>
            </a:r>
          </a:p>
          <a:p>
            <a:pPr algn="l" defTabSz="360000">
              <a:lnSpc>
                <a:spcPts val="2600"/>
              </a:lnSpc>
              <a:spcBef>
                <a:spcPts val="0"/>
              </a:spcBef>
            </a:pPr>
            <a:r>
              <a:rPr lang="en-US" altLang="zh-CN" sz="2000">
                <a:solidFill>
                  <a:srgbClr val="0000FF"/>
                </a:solidFill>
                <a:latin typeface="Consolas" pitchFamily="49" charset="0"/>
                <a:ea typeface="仿宋" pitchFamily="49" charset="-122"/>
              </a:rPr>
              <a:t>      	ans+=p;</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109</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9"/>
          <p:cNvGrpSpPr/>
          <p:nvPr/>
        </p:nvGrpSpPr>
        <p:grpSpPr>
          <a:xfrm>
            <a:off x="571472" y="5429264"/>
            <a:ext cx="7000924" cy="461665"/>
            <a:chOff x="1071538" y="6286520"/>
            <a:chExt cx="7000924" cy="461665"/>
          </a:xfrm>
        </p:grpSpPr>
        <p:sp>
          <p:nvSpPr>
            <p:cNvPr id="4" name="TextBox 3"/>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63ms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316KB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6" name="TextBox 5"/>
          <p:cNvSpPr txBox="1"/>
          <p:nvPr/>
        </p:nvSpPr>
        <p:spPr>
          <a:xfrm>
            <a:off x="214282" y="480426"/>
            <a:ext cx="8643998" cy="446255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main()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while(~scanf("%d",&amp;n))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if(n==0)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printf("0\n");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continue;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i=0;i&lt;n;i++)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输入数据</a:t>
            </a:r>
          </a:p>
          <a:p>
            <a:pPr algn="l" defTabSz="360000">
              <a:lnSpc>
                <a:spcPts val="2600"/>
              </a:lnSpc>
              <a:spcBef>
                <a:spcPts val="0"/>
              </a:spcBef>
            </a:pPr>
            <a:r>
              <a:rPr lang="en-US" altLang="zh-CN" sz="2000">
                <a:solidFill>
                  <a:srgbClr val="0000FF"/>
                </a:solidFill>
                <a:latin typeface="Consolas" pitchFamily="49" charset="0"/>
                <a:ea typeface="仿宋" pitchFamily="49" charset="-122"/>
              </a:rPr>
              <a:t>     		scanf("%d%d",&amp;prod[i].p,&amp;prod[i].d);</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printf("%d\n",</a:t>
            </a:r>
            <a:r>
              <a:rPr lang="en-US" altLang="zh-CN" sz="2000">
                <a:solidFill>
                  <a:srgbClr val="FF0000"/>
                </a:solidFill>
                <a:latin typeface="Consolas" pitchFamily="49" charset="0"/>
                <a:ea typeface="仿宋" pitchFamily="49" charset="-122"/>
              </a:rPr>
              <a:t>schedule</a:t>
            </a:r>
            <a:r>
              <a:rPr lang="en-US" altLang="zh-CN" sz="2000">
                <a:solidFill>
                  <a:srgbClr val="0000FF"/>
                </a:solidFill>
                <a:latin typeface="Consolas" pitchFamily="49" charset="0"/>
                <a:ea typeface="仿宋" pitchFamily="49" charset="-122"/>
              </a:rPr>
              <a:t>(n));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输出结果</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110</a:t>
            </a:fld>
            <a:r>
              <a:rPr lang="en-US" altLang="zh-CN"/>
              <a:t>/109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F86932D-BEDC-B82F-2020-C341DB9A60F1}"/>
              </a:ext>
            </a:extLst>
          </p:cNvPr>
          <p:cNvSpPr>
            <a:spLocks noGrp="1"/>
          </p:cNvSpPr>
          <p:nvPr>
            <p:ph type="sldNum" sz="quarter" idx="12"/>
          </p:nvPr>
        </p:nvSpPr>
        <p:spPr/>
        <p:txBody>
          <a:bodyPr/>
          <a:lstStyle/>
          <a:p>
            <a:fld id="{7AF016A1-9F15-429F-9EFD-84004B73C732}" type="slidenum">
              <a:rPr lang="en-US" altLang="zh-CN" smtClean="0"/>
              <a:pPr/>
              <a:t>111</a:t>
            </a:fld>
            <a:r>
              <a:rPr lang="en-US" altLang="zh-CN"/>
              <a:t>/109</a:t>
            </a:r>
          </a:p>
        </p:txBody>
      </p:sp>
      <p:pic>
        <p:nvPicPr>
          <p:cNvPr id="1026" name="Picture 2">
            <a:extLst>
              <a:ext uri="{FF2B5EF4-FFF2-40B4-BE49-F238E27FC236}">
                <a16:creationId xmlns:a16="http://schemas.microsoft.com/office/drawing/2014/main" id="{44AACFCC-7DE9-5E0E-E6D9-454937DC0B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286000"/>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0D469B9C-87FF-912A-08A1-53042E8674C6}"/>
              </a:ext>
            </a:extLst>
          </p:cNvPr>
          <p:cNvSpPr txBox="1"/>
          <p:nvPr/>
        </p:nvSpPr>
        <p:spPr>
          <a:xfrm>
            <a:off x="4283968" y="4869160"/>
            <a:ext cx="649537" cy="369332"/>
          </a:xfrm>
          <a:prstGeom prst="rect">
            <a:avLst/>
          </a:prstGeom>
          <a:noFill/>
        </p:spPr>
        <p:txBody>
          <a:bodyPr wrap="none" rtlCol="0">
            <a:spAutoFit/>
          </a:bodyPr>
          <a:lstStyle/>
          <a:p>
            <a:pPr algn="l">
              <a:lnSpc>
                <a:spcPct val="100000"/>
              </a:lnSpc>
              <a:spcBef>
                <a:spcPts val="0"/>
              </a:spcBef>
            </a:pPr>
            <a:r>
              <a:rPr lang="zh-CN" altLang="en-US" sz="1800">
                <a:solidFill>
                  <a:srgbClr val="0000FF"/>
                </a:solidFill>
                <a:latin typeface="Consolas" pitchFamily="49" charset="0"/>
                <a:ea typeface="楷体" pitchFamily="49" charset="-122"/>
                <a:cs typeface="Consolas" pitchFamily="49" charset="0"/>
              </a:rPr>
              <a:t>思政</a:t>
            </a:r>
          </a:p>
        </p:txBody>
      </p:sp>
    </p:spTree>
    <p:extLst>
      <p:ext uri="{BB962C8B-B14F-4D97-AF65-F5344CB8AC3E}">
        <p14:creationId xmlns:p14="http://schemas.microsoft.com/office/powerpoint/2010/main" val="203675698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itchFamily="49" charset="0"/>
            <a:ea typeface="楷体" pitchFamily="49" charset="-122"/>
            <a:cs typeface="Consolas" pitchFamily="49" charset="0"/>
          </a:defRPr>
        </a:defPPr>
      </a:lstStyle>
    </a:tx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4861</TotalTime>
  <Words>13272</Words>
  <Application>Microsoft Office PowerPoint</Application>
  <PresentationFormat>全屏显示(4:3)</PresentationFormat>
  <Paragraphs>1351</Paragraphs>
  <Slides>111</Slides>
  <Notes>79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111</vt:i4>
      </vt:variant>
    </vt:vector>
  </HeadingPairs>
  <TitlesOfParts>
    <vt:vector size="122" baseType="lpstr">
      <vt:lpstr>Estrangelo Edessa</vt:lpstr>
      <vt:lpstr>仿宋</vt:lpstr>
      <vt:lpstr>华文中宋</vt:lpstr>
      <vt:lpstr>楷体</vt:lpstr>
      <vt:lpstr>宋体</vt:lpstr>
      <vt:lpstr>微软雅黑</vt:lpstr>
      <vt:lpstr>Arial</vt:lpstr>
      <vt:lpstr>Calibri</vt:lpstr>
      <vt:lpstr>Consolas</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jj wei</cp:lastModifiedBy>
  <cp:revision>1885</cp:revision>
  <dcterms:created xsi:type="dcterms:W3CDTF">2004-03-31T23:50:14Z</dcterms:created>
  <dcterms:modified xsi:type="dcterms:W3CDTF">2024-01-28T08:42:49Z</dcterms:modified>
</cp:coreProperties>
</file>