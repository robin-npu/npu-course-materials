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95"/>
  </p:notesMasterIdLst>
  <p:handoutMasterIdLst>
    <p:handoutMasterId r:id="rId96"/>
  </p:handoutMasterIdLst>
  <p:sldIdLst>
    <p:sldId id="522" r:id="rId2"/>
    <p:sldId id="365" r:id="rId3"/>
    <p:sldId id="523" r:id="rId4"/>
    <p:sldId id="524" r:id="rId5"/>
    <p:sldId id="525" r:id="rId6"/>
    <p:sldId id="526" r:id="rId7"/>
    <p:sldId id="555" r:id="rId8"/>
    <p:sldId id="527" r:id="rId9"/>
    <p:sldId id="528" r:id="rId10"/>
    <p:sldId id="529" r:id="rId11"/>
    <p:sldId id="607" r:id="rId12"/>
    <p:sldId id="531" r:id="rId13"/>
    <p:sldId id="532" r:id="rId14"/>
    <p:sldId id="533" r:id="rId15"/>
    <p:sldId id="534" r:id="rId16"/>
    <p:sldId id="535" r:id="rId17"/>
    <p:sldId id="556" r:id="rId18"/>
    <p:sldId id="557" r:id="rId19"/>
    <p:sldId id="558" r:id="rId20"/>
    <p:sldId id="559" r:id="rId21"/>
    <p:sldId id="566" r:id="rId22"/>
    <p:sldId id="567" r:id="rId23"/>
    <p:sldId id="570" r:id="rId24"/>
    <p:sldId id="568" r:id="rId25"/>
    <p:sldId id="569" r:id="rId26"/>
    <p:sldId id="561" r:id="rId27"/>
    <p:sldId id="560" r:id="rId28"/>
    <p:sldId id="571" r:id="rId29"/>
    <p:sldId id="562" r:id="rId30"/>
    <p:sldId id="563" r:id="rId31"/>
    <p:sldId id="564" r:id="rId32"/>
    <p:sldId id="565" r:id="rId33"/>
    <p:sldId id="578" r:id="rId34"/>
    <p:sldId id="536" r:id="rId35"/>
    <p:sldId id="572" r:id="rId36"/>
    <p:sldId id="573" r:id="rId37"/>
    <p:sldId id="574" r:id="rId38"/>
    <p:sldId id="575" r:id="rId39"/>
    <p:sldId id="576" r:id="rId40"/>
    <p:sldId id="580" r:id="rId41"/>
    <p:sldId id="577" r:id="rId42"/>
    <p:sldId id="530" r:id="rId43"/>
    <p:sldId id="608" r:id="rId44"/>
    <p:sldId id="537" r:id="rId45"/>
    <p:sldId id="538" r:id="rId46"/>
    <p:sldId id="579" r:id="rId47"/>
    <p:sldId id="539" r:id="rId48"/>
    <p:sldId id="540" r:id="rId49"/>
    <p:sldId id="541" r:id="rId50"/>
    <p:sldId id="581" r:id="rId51"/>
    <p:sldId id="582" r:id="rId52"/>
    <p:sldId id="542" r:id="rId53"/>
    <p:sldId id="543" r:id="rId54"/>
    <p:sldId id="544" r:id="rId55"/>
    <p:sldId id="598" r:id="rId56"/>
    <p:sldId id="599" r:id="rId57"/>
    <p:sldId id="600" r:id="rId58"/>
    <p:sldId id="583" r:id="rId59"/>
    <p:sldId id="601" r:id="rId60"/>
    <p:sldId id="624" r:id="rId61"/>
    <p:sldId id="625" r:id="rId62"/>
    <p:sldId id="626" r:id="rId63"/>
    <p:sldId id="610" r:id="rId64"/>
    <p:sldId id="609" r:id="rId65"/>
    <p:sldId id="611" r:id="rId66"/>
    <p:sldId id="612" r:id="rId67"/>
    <p:sldId id="614" r:id="rId68"/>
    <p:sldId id="615" r:id="rId69"/>
    <p:sldId id="613" r:id="rId70"/>
    <p:sldId id="616" r:id="rId71"/>
    <p:sldId id="584" r:id="rId72"/>
    <p:sldId id="604" r:id="rId73"/>
    <p:sldId id="605" r:id="rId74"/>
    <p:sldId id="606" r:id="rId75"/>
    <p:sldId id="585" r:id="rId76"/>
    <p:sldId id="617" r:id="rId77"/>
    <p:sldId id="618" r:id="rId78"/>
    <p:sldId id="622" r:id="rId79"/>
    <p:sldId id="623" r:id="rId80"/>
    <p:sldId id="619" r:id="rId81"/>
    <p:sldId id="620" r:id="rId82"/>
    <p:sldId id="586" r:id="rId83"/>
    <p:sldId id="587" r:id="rId84"/>
    <p:sldId id="588" r:id="rId85"/>
    <p:sldId id="590" r:id="rId86"/>
    <p:sldId id="591" r:id="rId87"/>
    <p:sldId id="592" r:id="rId88"/>
    <p:sldId id="593" r:id="rId89"/>
    <p:sldId id="594" r:id="rId90"/>
    <p:sldId id="595" r:id="rId91"/>
    <p:sldId id="596" r:id="rId92"/>
    <p:sldId id="597" r:id="rId93"/>
    <p:sldId id="627" r:id="rId94"/>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00"/>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23</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24</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25</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26</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27</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28</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33</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34</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35</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36</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37</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38</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39</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40</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41</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42</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43</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44</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45</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46</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47</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48</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49</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50</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51</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52</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53</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54</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55</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56</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57</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58</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59</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60</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61</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62</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63</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64</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65</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66</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67</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68</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69</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70</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71</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72</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73</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74</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75</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76</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77</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78</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79</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80</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/91</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14414" y="500042"/>
            <a:ext cx="6643734"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2</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递归算法设计技术</a:t>
            </a:r>
          </a:p>
        </p:txBody>
      </p:sp>
      <p:sp>
        <p:nvSpPr>
          <p:cNvPr id="5" name="TextBox 4">
            <a:hlinkClick r:id="rId3" action="ppaction://hlinksldjump"/>
          </p:cNvPr>
          <p:cNvSpPr txBox="1"/>
          <p:nvPr/>
        </p:nvSpPr>
        <p:spPr>
          <a:xfrm>
            <a:off x="2961024" y="1785926"/>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递归概述</a:t>
            </a:r>
          </a:p>
        </p:txBody>
      </p:sp>
      <p:sp>
        <p:nvSpPr>
          <p:cNvPr id="9" name="TextBox 8">
            <a:hlinkClick r:id="" action="ppaction://noaction"/>
          </p:cNvPr>
          <p:cNvSpPr txBox="1"/>
          <p:nvPr/>
        </p:nvSpPr>
        <p:spPr>
          <a:xfrm>
            <a:off x="2961024" y="2558473"/>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递归算法设计方法</a:t>
            </a:r>
          </a:p>
        </p:txBody>
      </p:sp>
      <p:grpSp>
        <p:nvGrpSpPr>
          <p:cNvPr id="16" name="组合 79"/>
          <p:cNvGrpSpPr>
            <a:grpSpLocks/>
          </p:cNvGrpSpPr>
          <p:nvPr/>
        </p:nvGrpSpPr>
        <p:grpSpPr bwMode="auto">
          <a:xfrm>
            <a:off x="571472" y="2679762"/>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19" name="文本框 20"/>
          <p:cNvSpPr txBox="1">
            <a:spLocks noChangeArrowheads="1"/>
          </p:cNvSpPr>
          <p:nvPr/>
        </p:nvSpPr>
        <p:spPr bwMode="auto">
          <a:xfrm>
            <a:off x="822994" y="3789539"/>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967010" y="3109529"/>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2" name="TextBox 11">
            <a:hlinkClick r:id="" action="ppaction://noaction"/>
          </p:cNvPr>
          <p:cNvSpPr txBox="1"/>
          <p:nvPr/>
        </p:nvSpPr>
        <p:spPr>
          <a:xfrm>
            <a:off x="2961024" y="3344291"/>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直接插入排序</a:t>
            </a:r>
          </a:p>
        </p:txBody>
      </p:sp>
      <p:sp>
        <p:nvSpPr>
          <p:cNvPr id="14" name="TextBox 13">
            <a:hlinkClick r:id="" action="ppaction://noaction"/>
          </p:cNvPr>
          <p:cNvSpPr txBox="1"/>
          <p:nvPr/>
        </p:nvSpPr>
        <p:spPr>
          <a:xfrm>
            <a:off x="2961024" y="4143380"/>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2.4 0/1</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15" name="TextBox 14">
            <a:hlinkClick r:id="" action="ppaction://noaction"/>
          </p:cNvPr>
          <p:cNvSpPr txBox="1"/>
          <p:nvPr/>
        </p:nvSpPr>
        <p:spPr>
          <a:xfrm>
            <a:off x="2961024" y="4953498"/>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2.5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求表达式值</a:t>
            </a:r>
          </a:p>
        </p:txBody>
      </p:sp>
      <p:sp>
        <p:nvSpPr>
          <p:cNvPr id="21" name="TextBox 20">
            <a:hlinkClick r:id="" action="ppaction://noaction"/>
          </p:cNvPr>
          <p:cNvSpPr txBox="1"/>
          <p:nvPr/>
        </p:nvSpPr>
        <p:spPr>
          <a:xfrm>
            <a:off x="2961024" y="5752587"/>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2.6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计算递推式</a:t>
            </a:r>
          </a:p>
        </p:txBody>
      </p:sp>
      <p:sp>
        <p:nvSpPr>
          <p:cNvPr id="22" name="灯片编号占位符 21"/>
          <p:cNvSpPr>
            <a:spLocks noGrp="1"/>
          </p:cNvSpPr>
          <p:nvPr>
            <p:ph type="sldNum" sz="quarter" idx="12"/>
          </p:nvPr>
        </p:nvSpPr>
        <p:spPr/>
        <p:txBody>
          <a:bodyPr/>
          <a:lstStyle/>
          <a:p>
            <a:fld id="{7AF016A1-9F15-429F-9EFD-84004B73C732}" type="slidenum">
              <a:rPr lang="en-US" altLang="zh-CN" smtClean="0"/>
              <a:pPr/>
              <a:t>1</a:t>
            </a:fld>
            <a:r>
              <a:rPr lang="en-US" altLang="zh-CN"/>
              <a:t>/91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28596" y="1500174"/>
            <a:ext cx="378621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2.1.1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什么是递归</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5" name="TextBox 14">
            <a:hlinkClick r:id="rId3" action="ppaction://hlinksldjump"/>
          </p:cNvPr>
          <p:cNvSpPr txBox="1"/>
          <p:nvPr/>
        </p:nvSpPr>
        <p:spPr>
          <a:xfrm>
            <a:off x="2714612" y="500042"/>
            <a:ext cx="3429024" cy="584775"/>
          </a:xfrm>
          <a:prstGeom prst="rect">
            <a:avLst/>
          </a:prstGeom>
          <a:effectLst>
            <a:outerShdw blurRad="76200" dir="18900000" sy="23000" kx="-1200000" algn="bl" rotWithShape="0">
              <a:prstClr val="black">
                <a:alpha val="20000"/>
              </a:prstClr>
            </a:outerShdw>
          </a:effectLst>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a:solidFill>
                  <a:srgbClr val="FF0000"/>
                </a:solidFill>
                <a:latin typeface="微软雅黑" pitchFamily="34" charset="-122"/>
                <a:ea typeface="微软雅黑" pitchFamily="34" charset="-122"/>
              </a:rPr>
              <a:t>2.1  </a:t>
            </a:r>
            <a:r>
              <a:rPr lang="zh-CN" altLang="en-US" sz="3200">
                <a:solidFill>
                  <a:srgbClr val="FF0000"/>
                </a:solidFill>
                <a:latin typeface="微软雅黑" pitchFamily="34" charset="-122"/>
                <a:ea typeface="微软雅黑" pitchFamily="34" charset="-122"/>
              </a:rPr>
              <a:t>递归概述</a:t>
            </a:r>
            <a:endParaRPr lang="zh-CN" altLang="en-US" sz="3200"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pic>
        <p:nvPicPr>
          <p:cNvPr id="1026" name="Picture 2"/>
          <p:cNvPicPr>
            <a:picLocks noChangeAspect="1" noChangeArrowheads="1"/>
          </p:cNvPicPr>
          <p:nvPr/>
        </p:nvPicPr>
        <p:blipFill>
          <a:blip r:embed="rId4" cstate="print"/>
          <a:srcRect/>
          <a:stretch>
            <a:fillRect/>
          </a:stretch>
        </p:blipFill>
        <p:spPr bwMode="auto">
          <a:xfrm>
            <a:off x="2928926" y="4857760"/>
            <a:ext cx="3352800" cy="1428750"/>
          </a:xfrm>
          <a:prstGeom prst="rect">
            <a:avLst/>
          </a:prstGeom>
          <a:noFill/>
          <a:ln w="9525">
            <a:noFill/>
            <a:miter lim="800000"/>
            <a:headEnd/>
            <a:tailEnd/>
          </a:ln>
        </p:spPr>
      </p:pic>
      <p:sp>
        <p:nvSpPr>
          <p:cNvPr id="6" name="TextBox 5"/>
          <p:cNvSpPr txBox="1"/>
          <p:nvPr/>
        </p:nvSpPr>
        <p:spPr>
          <a:xfrm>
            <a:off x="785786" y="2357430"/>
            <a:ext cx="8001056" cy="2144177"/>
          </a:xfrm>
          <a:prstGeom prst="rect">
            <a:avLst/>
          </a:prstGeom>
          <a:solidFill>
            <a:schemeClr val="bg1"/>
          </a:solidFill>
          <a:ln>
            <a:solidFill>
              <a:schemeClr val="accent6">
                <a:lumMod val="40000"/>
                <a:lumOff val="60000"/>
              </a:schemeClr>
            </a:solidFill>
          </a:ln>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老和尚给小和尚讲故事</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“从前有座山，山上有座庙，庙里有个老和尚和一个小和尚，一天，老和尚给小和尚讲一个故事，故事是‘</a:t>
            </a:r>
            <a:r>
              <a:rPr lang="zh-CN" altLang="zh-CN">
                <a:solidFill>
                  <a:srgbClr val="FF00FF"/>
                </a:solidFill>
                <a:latin typeface="Consolas" pitchFamily="49" charset="0"/>
                <a:ea typeface="仿宋" pitchFamily="49" charset="-122"/>
              </a:rPr>
              <a:t>从前有座山，山上有座庙，庙里有个老和尚和一个小和尚，一天，老和尚给小和尚讲一个故</a:t>
            </a:r>
            <a:r>
              <a:rPr lang="zh-CN" altLang="zh-CN">
                <a:solidFill>
                  <a:srgbClr val="0000FF"/>
                </a:solidFill>
                <a:latin typeface="Consolas" pitchFamily="49" charset="0"/>
                <a:ea typeface="仿宋" pitchFamily="49" charset="-122"/>
              </a:rPr>
              <a:t>事，故事是</a:t>
            </a:r>
            <a:r>
              <a:rPr lang="zh-CN" altLang="zh-CN">
                <a:solidFill>
                  <a:srgbClr val="0000FF"/>
                </a:solidFill>
                <a:latin typeface="+mn-ea"/>
                <a:ea typeface="+mn-ea"/>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r>
              <a:rPr lang="en-US" altLang="zh-CN">
                <a:solidFill>
                  <a:srgbClr val="0000FF"/>
                </a:solidFill>
                <a:latin typeface="Consolas" pitchFamily="49" charset="0"/>
                <a:ea typeface="仿宋" pitchFamily="49" charset="-122"/>
                <a:sym typeface="Wingdings"/>
              </a:rPr>
              <a:t></a:t>
            </a:r>
            <a:r>
              <a:rPr lang="en-US" altLang="zh-CN">
                <a:solidFill>
                  <a:srgbClr val="0000FF"/>
                </a:solidFill>
                <a:latin typeface="Consolas" pitchFamily="49" charset="0"/>
                <a:ea typeface="仿宋" pitchFamily="49" charset="-122"/>
              </a:rPr>
              <a:t> </a:t>
            </a:r>
            <a:r>
              <a:rPr lang="zh-CN" altLang="zh-CN">
                <a:solidFill>
                  <a:srgbClr val="FF0000"/>
                </a:solidFill>
                <a:latin typeface="微软雅黑" pitchFamily="34" charset="-122"/>
                <a:ea typeface="微软雅黑" pitchFamily="34" charset="-122"/>
              </a:rPr>
              <a:t>递归</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2</a:t>
            </a:fld>
            <a:r>
              <a:rPr lang="en-US" altLang="zh-CN"/>
              <a:t>/91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8286808" cy="2426305"/>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1200"/>
              </a:spcBef>
              <a:buBlip>
                <a:blip r:embed="rId3"/>
              </a:buBlip>
            </a:pPr>
            <a:r>
              <a:rPr lang="zh-CN" altLang="zh-CN">
                <a:solidFill>
                  <a:srgbClr val="FF0000"/>
                </a:solidFill>
                <a:latin typeface="楷体" pitchFamily="49" charset="-122"/>
                <a:ea typeface="楷体" pitchFamily="49" charset="-122"/>
              </a:rPr>
              <a:t>递归</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recursion</a:t>
            </a:r>
            <a:r>
              <a:rPr lang="zh-CN" altLang="zh-CN">
                <a:solidFill>
                  <a:srgbClr val="0000FF"/>
                </a:solidFill>
                <a:latin typeface="Consolas" pitchFamily="49" charset="0"/>
                <a:ea typeface="仿宋" pitchFamily="49" charset="-122"/>
              </a:rPr>
              <a:t>）是一个过程或函数在其定义或说明中直接或间接调用自身的一种方法（摘自《百度百科》词条）。</a:t>
            </a:r>
            <a:endParaRPr lang="en-US" altLang="zh-CN">
              <a:solidFill>
                <a:srgbClr val="0000FF"/>
              </a:solidFill>
              <a:latin typeface="Consolas" pitchFamily="49" charset="0"/>
              <a:ea typeface="仿宋" pitchFamily="49" charset="-122"/>
            </a:endParaRPr>
          </a:p>
          <a:p>
            <a:pPr marL="457200" indent="-457200" algn="l">
              <a:lnSpc>
                <a:spcPts val="3400"/>
              </a:lnSpc>
              <a:spcBef>
                <a:spcPts val="1200"/>
              </a:spcBef>
              <a:buBlip>
                <a:blip r:embed="rId3"/>
              </a:buBlip>
            </a:pPr>
            <a:r>
              <a:rPr lang="zh-CN" altLang="zh-CN">
                <a:solidFill>
                  <a:srgbClr val="FF0000"/>
                </a:solidFill>
                <a:latin typeface="楷体" pitchFamily="49" charset="-122"/>
                <a:ea typeface="楷体" pitchFamily="49" charset="-122"/>
              </a:rPr>
              <a:t>递归</a:t>
            </a:r>
            <a:r>
              <a:rPr lang="zh-CN" altLang="zh-CN">
                <a:solidFill>
                  <a:srgbClr val="0000FF"/>
                </a:solidFill>
                <a:latin typeface="Consolas" pitchFamily="49" charset="0"/>
                <a:ea typeface="仿宋" pitchFamily="49" charset="-122"/>
              </a:rPr>
              <a:t>既是一种奇妙的现象，又是一种思考问题的方法，通过递归可简化问题的定义和求解过程。</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a:t>
            </a:fld>
            <a:r>
              <a:rPr lang="en-US" altLang="zh-CN"/>
              <a:t>/91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785926"/>
            <a:ext cx="7786742"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(int 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2</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3</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(n-1)*n;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4</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TextBox 6"/>
          <p:cNvSpPr txBox="1"/>
          <p:nvPr/>
        </p:nvSpPr>
        <p:spPr>
          <a:xfrm>
            <a:off x="500034" y="357166"/>
            <a:ext cx="8001056" cy="4616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2.1</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设计求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为正整数）的递归算法。</a:t>
            </a:r>
          </a:p>
        </p:txBody>
      </p:sp>
      <p:sp>
        <p:nvSpPr>
          <p:cNvPr id="8" name="下箭头 7"/>
          <p:cNvSpPr/>
          <p:nvPr/>
        </p:nvSpPr>
        <p:spPr>
          <a:xfrm>
            <a:off x="3214678" y="1071546"/>
            <a:ext cx="357190"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a:t>
            </a:fld>
            <a:r>
              <a:rPr lang="en-US" altLang="zh-CN"/>
              <a:t>/91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807249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一般来说，能够用递归解决的问题应该满足以下</a:t>
            </a:r>
            <a:r>
              <a:rPr lang="en-US" altLang="zh-CN">
                <a:solidFill>
                  <a:srgbClr val="0000FF"/>
                </a:solidFill>
                <a:latin typeface="Consolas" pitchFamily="49" charset="0"/>
                <a:ea typeface="楷体" pitchFamily="49" charset="-122"/>
              </a:rPr>
              <a:t>3</a:t>
            </a:r>
            <a:r>
              <a:rPr lang="zh-CN" altLang="zh-CN">
                <a:solidFill>
                  <a:srgbClr val="0000FF"/>
                </a:solidFill>
                <a:latin typeface="Consolas" pitchFamily="49" charset="0"/>
                <a:ea typeface="楷体" pitchFamily="49" charset="-122"/>
              </a:rPr>
              <a:t>个条件：</a:t>
            </a:r>
          </a:p>
        </p:txBody>
      </p:sp>
      <p:sp>
        <p:nvSpPr>
          <p:cNvPr id="4" name="TextBox 3"/>
          <p:cNvSpPr txBox="1"/>
          <p:nvPr/>
        </p:nvSpPr>
        <p:spPr>
          <a:xfrm>
            <a:off x="571472" y="1428736"/>
            <a:ext cx="8143932" cy="3541995"/>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500"/>
              </a:lnSpc>
              <a:spcBef>
                <a:spcPts val="1200"/>
              </a:spcBef>
              <a:buFont typeface="+mj-ea"/>
              <a:buAutoNum type="circleNumDbPlain"/>
            </a:pPr>
            <a:r>
              <a:rPr lang="zh-CN" altLang="zh-CN">
                <a:solidFill>
                  <a:srgbClr val="0000FF"/>
                </a:solidFill>
                <a:latin typeface="Consolas" pitchFamily="49" charset="0"/>
                <a:ea typeface="仿宋" pitchFamily="49" charset="-122"/>
              </a:rPr>
              <a:t>需要解决的问题</a:t>
            </a:r>
            <a:r>
              <a:rPr lang="zh-CN" altLang="zh-CN">
                <a:solidFill>
                  <a:srgbClr val="FF0000"/>
                </a:solidFill>
                <a:latin typeface="Consolas" pitchFamily="49" charset="0"/>
                <a:ea typeface="仿宋" pitchFamily="49" charset="-122"/>
              </a:rPr>
              <a:t>可以转化</a:t>
            </a:r>
            <a:r>
              <a:rPr lang="zh-CN" altLang="zh-CN">
                <a:solidFill>
                  <a:srgbClr val="0000FF"/>
                </a:solidFill>
                <a:latin typeface="Consolas" pitchFamily="49" charset="0"/>
                <a:ea typeface="仿宋" pitchFamily="49" charset="-122"/>
              </a:rPr>
              <a:t>为一个或多个子问题来求解，而这些子问题的求解方法与原问题完全相同，只是问题规模上不同。通过这样的转化过程使问题得到简化。</a:t>
            </a:r>
          </a:p>
          <a:p>
            <a:pPr marL="457200" indent="-457200" algn="l">
              <a:lnSpc>
                <a:spcPts val="3500"/>
              </a:lnSpc>
              <a:spcBef>
                <a:spcPts val="1200"/>
              </a:spcBef>
              <a:buFont typeface="+mj-ea"/>
              <a:buAutoNum type="circleNumDbPlain"/>
            </a:pPr>
            <a:r>
              <a:rPr lang="zh-CN" altLang="zh-CN">
                <a:solidFill>
                  <a:srgbClr val="0000FF"/>
                </a:solidFill>
                <a:latin typeface="Consolas" pitchFamily="49" charset="0"/>
                <a:ea typeface="仿宋" pitchFamily="49" charset="-122"/>
              </a:rPr>
              <a:t>递归调用的次数必须是</a:t>
            </a:r>
            <a:r>
              <a:rPr lang="zh-CN" altLang="zh-CN">
                <a:solidFill>
                  <a:srgbClr val="FF0000"/>
                </a:solidFill>
                <a:latin typeface="Consolas" pitchFamily="49" charset="0"/>
                <a:ea typeface="仿宋" pitchFamily="49" charset="-122"/>
              </a:rPr>
              <a:t>有限</a:t>
            </a:r>
            <a:r>
              <a:rPr lang="zh-CN" altLang="zh-CN">
                <a:solidFill>
                  <a:srgbClr val="0000FF"/>
                </a:solidFill>
                <a:latin typeface="Consolas" pitchFamily="49" charset="0"/>
                <a:ea typeface="仿宋" pitchFamily="49" charset="-122"/>
              </a:rPr>
              <a:t>的。</a:t>
            </a:r>
          </a:p>
          <a:p>
            <a:pPr marL="457200" indent="-457200" algn="l">
              <a:lnSpc>
                <a:spcPts val="3500"/>
              </a:lnSpc>
              <a:spcBef>
                <a:spcPts val="1200"/>
              </a:spcBef>
              <a:buFont typeface="+mj-ea"/>
              <a:buAutoNum type="circleNumDbPlain"/>
            </a:pPr>
            <a:r>
              <a:rPr lang="zh-CN" altLang="zh-CN">
                <a:solidFill>
                  <a:srgbClr val="0000FF"/>
                </a:solidFill>
                <a:latin typeface="Consolas" pitchFamily="49" charset="0"/>
                <a:ea typeface="仿宋" pitchFamily="49" charset="-122"/>
              </a:rPr>
              <a:t>必定有一个明确的</a:t>
            </a:r>
            <a:r>
              <a:rPr lang="zh-CN" altLang="zh-CN">
                <a:solidFill>
                  <a:srgbClr val="FF0000"/>
                </a:solidFill>
                <a:latin typeface="Consolas" pitchFamily="49" charset="0"/>
                <a:ea typeface="仿宋" pitchFamily="49" charset="-122"/>
              </a:rPr>
              <a:t>结束递归</a:t>
            </a:r>
            <a:r>
              <a:rPr lang="zh-CN" altLang="zh-CN">
                <a:solidFill>
                  <a:srgbClr val="0000FF"/>
                </a:solidFill>
                <a:latin typeface="Consolas" pitchFamily="49" charset="0"/>
                <a:ea typeface="仿宋" pitchFamily="49" charset="-122"/>
              </a:rPr>
              <a:t>的条件，否则递归将会无止境地进行下去，直到耗尽系统资源。也就是说必须要有某个终止递归的条件。</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a:t>
            </a:fld>
            <a:r>
              <a:rPr lang="en-US" altLang="zh-CN"/>
              <a:t>/91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400052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2.1.2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何时使用递归</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428596" y="1357298"/>
            <a:ext cx="342902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1.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定义是递归的</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5" name="TextBox 4"/>
          <p:cNvSpPr txBox="1"/>
          <p:nvPr/>
        </p:nvSpPr>
        <p:spPr>
          <a:xfrm>
            <a:off x="714348" y="2428868"/>
            <a:ext cx="7786742" cy="2051203"/>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600"/>
              </a:lnSpc>
              <a:spcBef>
                <a:spcPts val="1200"/>
              </a:spcBef>
              <a:buBlip>
                <a:blip r:embed="rId3"/>
              </a:buBlip>
            </a:pPr>
            <a:r>
              <a:rPr lang="zh-CN" altLang="zh-CN">
                <a:solidFill>
                  <a:srgbClr val="0000FF"/>
                </a:solidFill>
                <a:latin typeface="Consolas" pitchFamily="49" charset="0"/>
                <a:ea typeface="仿宋" pitchFamily="49" charset="-122"/>
              </a:rPr>
              <a:t>有许多数学公式、数列和概念的定义是递归的，例如，求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和斐波那契（</a:t>
            </a:r>
            <a:r>
              <a:rPr lang="en-US" altLang="zh-CN">
                <a:solidFill>
                  <a:srgbClr val="0000FF"/>
                </a:solidFill>
                <a:latin typeface="Consolas" pitchFamily="49" charset="0"/>
                <a:ea typeface="仿宋" pitchFamily="49" charset="-122"/>
              </a:rPr>
              <a:t>Fibonacci</a:t>
            </a:r>
            <a:r>
              <a:rPr lang="zh-CN" altLang="zh-CN">
                <a:solidFill>
                  <a:srgbClr val="0000FF"/>
                </a:solidFill>
                <a:latin typeface="Consolas" pitchFamily="49" charset="0"/>
                <a:ea typeface="仿宋" pitchFamily="49" charset="-122"/>
              </a:rPr>
              <a:t>）数列等。</a:t>
            </a:r>
            <a:endParaRPr lang="en-US" altLang="zh-CN">
              <a:solidFill>
                <a:srgbClr val="0000FF"/>
              </a:solidFill>
              <a:latin typeface="Consolas" pitchFamily="49" charset="0"/>
              <a:ea typeface="仿宋" pitchFamily="49" charset="-122"/>
            </a:endParaRPr>
          </a:p>
          <a:p>
            <a:pPr marL="457200" indent="-457200" algn="l">
              <a:lnSpc>
                <a:spcPts val="3600"/>
              </a:lnSpc>
              <a:spcBef>
                <a:spcPts val="1200"/>
              </a:spcBef>
              <a:buBlip>
                <a:blip r:embed="rId3"/>
              </a:buBlip>
            </a:pPr>
            <a:r>
              <a:rPr lang="zh-CN" altLang="zh-CN">
                <a:solidFill>
                  <a:srgbClr val="0000FF"/>
                </a:solidFill>
                <a:latin typeface="Consolas" pitchFamily="49" charset="0"/>
                <a:ea typeface="仿宋" pitchFamily="49" charset="-122"/>
              </a:rPr>
              <a:t>这些问题的求解过程可以将其递归定义直接转化为对应的递归算法</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a:t>
            </a:fld>
            <a:r>
              <a:rPr lang="en-US" altLang="zh-CN"/>
              <a:t>/91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71546"/>
            <a:ext cx="342902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2.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数据结构是递归的</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5" name="TextBox 4"/>
          <p:cNvSpPr txBox="1"/>
          <p:nvPr/>
        </p:nvSpPr>
        <p:spPr>
          <a:xfrm>
            <a:off x="642910" y="2143116"/>
            <a:ext cx="7786742" cy="2041585"/>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500"/>
              </a:lnSpc>
              <a:spcBef>
                <a:spcPts val="1200"/>
              </a:spcBef>
              <a:buBlip>
                <a:blip r:embed="rId3"/>
              </a:buBlip>
            </a:pPr>
            <a:r>
              <a:rPr lang="zh-CN" altLang="zh-CN">
                <a:solidFill>
                  <a:srgbClr val="0000FF"/>
                </a:solidFill>
                <a:latin typeface="Consolas" pitchFamily="49" charset="0"/>
                <a:ea typeface="仿宋" pitchFamily="49" charset="-122"/>
              </a:rPr>
              <a:t>算法是用于数据处理的，有些存储数据的数据结构是递归的</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500"/>
              </a:lnSpc>
              <a:spcBef>
                <a:spcPts val="1200"/>
              </a:spcBef>
              <a:buBlip>
                <a:blip r:embed="rId3"/>
              </a:buBlip>
            </a:pPr>
            <a:r>
              <a:rPr lang="zh-CN" altLang="zh-CN">
                <a:solidFill>
                  <a:srgbClr val="0000FF"/>
                </a:solidFill>
                <a:latin typeface="Consolas" pitchFamily="49" charset="0"/>
                <a:ea typeface="仿宋" pitchFamily="49" charset="-122"/>
              </a:rPr>
              <a:t>对于递归数据结构，采用递归的方法设计算法既方便又有效。</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a:t>
            </a:fld>
            <a:r>
              <a:rPr lang="en-US" altLang="zh-CN"/>
              <a:t>/91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285728"/>
            <a:ext cx="778674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单链表就是一种递归数据结构，其结点类型声明如下：</a:t>
            </a:r>
          </a:p>
        </p:txBody>
      </p:sp>
      <p:sp>
        <p:nvSpPr>
          <p:cNvPr id="4" name="TextBox 3"/>
          <p:cNvSpPr txBox="1"/>
          <p:nvPr/>
        </p:nvSpPr>
        <p:spPr>
          <a:xfrm>
            <a:off x="571472" y="857232"/>
            <a:ext cx="8143932" cy="28726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ListNode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单链表结点类型</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val;</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ListNode *next;</a:t>
            </a:r>
            <a:endParaRPr lang="zh-CN" altLang="zh-CN" sz="2000">
              <a:solidFill>
                <a:srgbClr val="0000FF"/>
              </a:solidFill>
              <a:latin typeface="Consolas" pitchFamily="49" charset="0"/>
              <a:ea typeface="仿宋" pitchFamily="49" charset="-122"/>
            </a:endParaRPr>
          </a:p>
          <a:p>
            <a:pPr algn="l" defTabSz="360000">
              <a:lnSpc>
                <a:spcPts val="2700"/>
              </a:lnSpc>
              <a:spcBef>
                <a:spcPts val="1800"/>
              </a:spcBef>
            </a:pPr>
            <a:r>
              <a:rPr lang="en-US" altLang="zh-CN" sz="2000">
                <a:solidFill>
                  <a:srgbClr val="0000FF"/>
                </a:solidFill>
                <a:latin typeface="Consolas" pitchFamily="49" charset="0"/>
                <a:ea typeface="仿宋" pitchFamily="49" charset="-122"/>
              </a:rPr>
              <a:t>	ListNode():val(0), next(NULL)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构造函数</a:t>
            </a:r>
          </a:p>
          <a:p>
            <a:pPr algn="l" defTabSz="360000">
              <a:lnSpc>
                <a:spcPts val="2700"/>
              </a:lnSpc>
              <a:spcBef>
                <a:spcPts val="0"/>
              </a:spcBef>
            </a:pPr>
            <a:r>
              <a:rPr lang="en-US" altLang="zh-CN" sz="2000">
                <a:solidFill>
                  <a:srgbClr val="0000FF"/>
                </a:solidFill>
                <a:latin typeface="Consolas" pitchFamily="49" charset="0"/>
                <a:ea typeface="仿宋" pitchFamily="49" charset="-122"/>
              </a:rPr>
              <a:t>	ListNode(int x):val(x),next(NULL)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ListNode(int x, ListNode *next):val(x),next(next)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14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6" name="组合 25"/>
          <p:cNvGrpSpPr/>
          <p:nvPr/>
        </p:nvGrpSpPr>
        <p:grpSpPr>
          <a:xfrm>
            <a:off x="785786" y="4071942"/>
            <a:ext cx="6846883" cy="1718291"/>
            <a:chOff x="785786" y="4357694"/>
            <a:chExt cx="6846883" cy="1718291"/>
          </a:xfrm>
        </p:grpSpPr>
        <p:sp>
          <p:nvSpPr>
            <p:cNvPr id="61459" name="Rectangle 19"/>
            <p:cNvSpPr>
              <a:spLocks noChangeArrowheads="1"/>
            </p:cNvSpPr>
            <p:nvPr/>
          </p:nvSpPr>
          <p:spPr bwMode="auto">
            <a:xfrm>
              <a:off x="3507234" y="4357694"/>
              <a:ext cx="2260895" cy="3784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pt-BR"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由</a:t>
              </a:r>
              <a:r>
                <a:rPr kumimoji="0" lang="pt-BR"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h</a:t>
              </a:r>
              <a:r>
                <a:rPr kumimoji="0" lang="zh-CN" altLang="pt-BR"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标识的单链表</a:t>
              </a:r>
              <a:endParaRPr kumimoji="0" lang="zh-CN" altLang="pt-BR"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58" name="Rectangle 18"/>
            <p:cNvSpPr>
              <a:spLocks noChangeArrowheads="1"/>
            </p:cNvSpPr>
            <p:nvPr/>
          </p:nvSpPr>
          <p:spPr bwMode="auto">
            <a:xfrm>
              <a:off x="1533835" y="4966116"/>
              <a:ext cx="753632" cy="418541"/>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57" name="Rectangle 17"/>
            <p:cNvSpPr>
              <a:spLocks noChangeArrowheads="1"/>
            </p:cNvSpPr>
            <p:nvPr/>
          </p:nvSpPr>
          <p:spPr bwMode="auto">
            <a:xfrm>
              <a:off x="2259555" y="4966116"/>
              <a:ext cx="502421" cy="418541"/>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56" name="Rectangle 16"/>
            <p:cNvSpPr>
              <a:spLocks noChangeArrowheads="1"/>
            </p:cNvSpPr>
            <p:nvPr/>
          </p:nvSpPr>
          <p:spPr bwMode="auto">
            <a:xfrm>
              <a:off x="3264397" y="4966116"/>
              <a:ext cx="753632" cy="418541"/>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55" name="Rectangle 15"/>
            <p:cNvSpPr>
              <a:spLocks noChangeArrowheads="1"/>
            </p:cNvSpPr>
            <p:nvPr/>
          </p:nvSpPr>
          <p:spPr bwMode="auto">
            <a:xfrm>
              <a:off x="3990116" y="4966116"/>
              <a:ext cx="502421" cy="418541"/>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54" name="Rectangle 14"/>
            <p:cNvSpPr>
              <a:spLocks noChangeArrowheads="1"/>
            </p:cNvSpPr>
            <p:nvPr/>
          </p:nvSpPr>
          <p:spPr bwMode="auto">
            <a:xfrm>
              <a:off x="5022871" y="4966116"/>
              <a:ext cx="753632" cy="4185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j-ea"/>
                  <a:ea typeface="+mj-ea"/>
                  <a:cs typeface="Times New Roman" pitchFamily="18" charset="0"/>
                </a:rPr>
                <a:t>…</a:t>
              </a:r>
              <a:endParaRPr kumimoji="0" lang="zh-CN" altLang="zh-CN" sz="2000" b="0" i="0" u="none" strike="noStrike" cap="none" normalizeH="0" baseline="0">
                <a:ln>
                  <a:noFill/>
                </a:ln>
                <a:solidFill>
                  <a:srgbClr val="0000FF"/>
                </a:solidFill>
                <a:effectLst/>
                <a:latin typeface="+mj-ea"/>
                <a:ea typeface="+mj-ea"/>
                <a:cs typeface="宋体" pitchFamily="2" charset="-122"/>
              </a:endParaRPr>
            </a:p>
          </p:txBody>
        </p:sp>
        <p:sp>
          <p:nvSpPr>
            <p:cNvPr id="61453" name="Line 13"/>
            <p:cNvSpPr>
              <a:spLocks noChangeShapeType="1"/>
            </p:cNvSpPr>
            <p:nvPr/>
          </p:nvSpPr>
          <p:spPr bwMode="auto">
            <a:xfrm>
              <a:off x="2510765" y="5178730"/>
              <a:ext cx="753632" cy="0"/>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52" name="Line 12"/>
            <p:cNvSpPr>
              <a:spLocks noChangeShapeType="1"/>
            </p:cNvSpPr>
            <p:nvPr/>
          </p:nvSpPr>
          <p:spPr bwMode="auto">
            <a:xfrm>
              <a:off x="4267843" y="5174718"/>
              <a:ext cx="755027" cy="0"/>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51" name="Line 11"/>
            <p:cNvSpPr>
              <a:spLocks noChangeShapeType="1"/>
            </p:cNvSpPr>
            <p:nvPr/>
          </p:nvSpPr>
          <p:spPr bwMode="auto">
            <a:xfrm>
              <a:off x="1003502" y="5174718"/>
              <a:ext cx="501025" cy="0"/>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50" name="Rectangle 10"/>
            <p:cNvSpPr>
              <a:spLocks noChangeArrowheads="1"/>
            </p:cNvSpPr>
            <p:nvPr/>
          </p:nvSpPr>
          <p:spPr bwMode="auto">
            <a:xfrm>
              <a:off x="785786" y="4966116"/>
              <a:ext cx="368442" cy="4185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FF0000"/>
                  </a:solidFill>
                  <a:effectLst/>
                  <a:latin typeface="Consolas" pitchFamily="49" charset="0"/>
                  <a:ea typeface="仿宋" pitchFamily="49" charset="-122"/>
                  <a:cs typeface="Times New Roman" pitchFamily="18" charset="0"/>
                </a:rPr>
                <a:t>h</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61449" name="Rectangle 9"/>
            <p:cNvSpPr>
              <a:spLocks noChangeArrowheads="1"/>
            </p:cNvSpPr>
            <p:nvPr/>
          </p:nvSpPr>
          <p:spPr bwMode="auto">
            <a:xfrm>
              <a:off x="6404529" y="4946058"/>
              <a:ext cx="753632" cy="41720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n-1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48" name="Rectangle 8"/>
            <p:cNvSpPr>
              <a:spLocks noChangeArrowheads="1"/>
            </p:cNvSpPr>
            <p:nvPr/>
          </p:nvSpPr>
          <p:spPr bwMode="auto">
            <a:xfrm>
              <a:off x="7130248" y="4946058"/>
              <a:ext cx="502421" cy="417204"/>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3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1447" name="Line 7"/>
            <p:cNvSpPr>
              <a:spLocks noChangeShapeType="1"/>
            </p:cNvSpPr>
            <p:nvPr/>
          </p:nvSpPr>
          <p:spPr bwMode="auto">
            <a:xfrm>
              <a:off x="5650897" y="5154660"/>
              <a:ext cx="753632" cy="0"/>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46" name="Line 6"/>
            <p:cNvSpPr>
              <a:spLocks noChangeShapeType="1"/>
            </p:cNvSpPr>
            <p:nvPr/>
          </p:nvSpPr>
          <p:spPr bwMode="auto">
            <a:xfrm flipV="1">
              <a:off x="3468156" y="5408418"/>
              <a:ext cx="0" cy="418541"/>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45" name="Rectangle 5"/>
            <p:cNvSpPr>
              <a:spLocks noChangeArrowheads="1"/>
            </p:cNvSpPr>
            <p:nvPr/>
          </p:nvSpPr>
          <p:spPr bwMode="auto">
            <a:xfrm>
              <a:off x="2942010" y="5685525"/>
              <a:ext cx="1006238" cy="37708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FF0000"/>
                  </a:solidFill>
                  <a:effectLst/>
                  <a:latin typeface="Consolas" pitchFamily="49" charset="0"/>
                  <a:ea typeface="仿宋" pitchFamily="49" charset="-122"/>
                  <a:cs typeface="Times New Roman" pitchFamily="18" charset="0"/>
                </a:rPr>
                <a:t>h-&gt;next</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61444" name="AutoShape 4"/>
            <p:cNvSpPr>
              <a:spLocks/>
            </p:cNvSpPr>
            <p:nvPr/>
          </p:nvSpPr>
          <p:spPr bwMode="auto">
            <a:xfrm rot="5400000">
              <a:off x="5673509" y="3908240"/>
              <a:ext cx="204590" cy="3265737"/>
            </a:xfrm>
            <a:prstGeom prst="rightBrace">
              <a:avLst>
                <a:gd name="adj1" fmla="val 127451"/>
                <a:gd name="adj2" fmla="val 50000"/>
              </a:avLst>
            </a:prstGeom>
            <a:noFill/>
            <a:ln w="9525">
              <a:solidFill>
                <a:srgbClr val="000000"/>
              </a:solidFill>
              <a:round/>
              <a:headEnd/>
              <a:tailEnd/>
            </a:ln>
          </p:spPr>
          <p:txBody>
            <a:bodyPr vert="horz" wrap="square" lIns="0" tIns="0" rIns="0" bIns="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43" name="AutoShape 3"/>
            <p:cNvSpPr>
              <a:spLocks/>
            </p:cNvSpPr>
            <p:nvPr/>
          </p:nvSpPr>
          <p:spPr bwMode="auto">
            <a:xfrm rot="16200000">
              <a:off x="4519658" y="2013153"/>
              <a:ext cx="219299" cy="5515467"/>
            </a:xfrm>
            <a:prstGeom prst="rightBrace">
              <a:avLst>
                <a:gd name="adj1" fmla="val 200813"/>
                <a:gd name="adj2" fmla="val 50000"/>
              </a:avLst>
            </a:prstGeom>
            <a:noFill/>
            <a:ln w="9525">
              <a:solidFill>
                <a:srgbClr val="000000"/>
              </a:solidFill>
              <a:round/>
              <a:headEnd/>
              <a:tailEnd/>
            </a:ln>
          </p:spPr>
          <p:txBody>
            <a:bodyPr vert="horz" wrap="square" lIns="0" tIns="0" rIns="0" bIns="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1442" name="Rectangle 2"/>
            <p:cNvSpPr>
              <a:spLocks noChangeArrowheads="1"/>
            </p:cNvSpPr>
            <p:nvPr/>
          </p:nvSpPr>
          <p:spPr bwMode="auto">
            <a:xfrm>
              <a:off x="4260865" y="5697560"/>
              <a:ext cx="3014527" cy="3784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pt-BR"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由</a:t>
              </a:r>
              <a:r>
                <a:rPr kumimoji="0" lang="pt-BR"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h-&gt;next</a:t>
              </a:r>
              <a:r>
                <a:rPr kumimoji="0" lang="zh-CN" altLang="pt-BR"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标识的单链表</a:t>
              </a:r>
              <a:endParaRPr kumimoji="0" lang="zh-CN" altLang="pt-BR"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5" name="灯片编号占位符 24"/>
          <p:cNvSpPr>
            <a:spLocks noGrp="1"/>
          </p:cNvSpPr>
          <p:nvPr>
            <p:ph type="sldNum" sz="quarter" idx="12"/>
          </p:nvPr>
        </p:nvSpPr>
        <p:spPr/>
        <p:txBody>
          <a:bodyPr/>
          <a:lstStyle/>
          <a:p>
            <a:fld id="{7AF016A1-9F15-429F-9EFD-84004B73C732}" type="slidenum">
              <a:rPr lang="en-US" altLang="zh-CN" smtClean="0"/>
              <a:pPr/>
              <a:t>8</a:t>
            </a:fld>
            <a:r>
              <a:rPr lang="en-US" altLang="zh-CN"/>
              <a:t>/91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57166"/>
            <a:ext cx="871540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求一个不带头结点的单链表</a:t>
            </a:r>
            <a:r>
              <a:rPr lang="en-US" altLang="zh-CN">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的所有</a:t>
            </a:r>
            <a:r>
              <a:rPr lang="en-US" altLang="zh-CN">
                <a:solidFill>
                  <a:srgbClr val="0000FF"/>
                </a:solidFill>
                <a:latin typeface="Consolas" pitchFamily="49" charset="0"/>
                <a:ea typeface="仿宋" pitchFamily="49" charset="-122"/>
              </a:rPr>
              <a:t>val</a:t>
            </a:r>
            <a:r>
              <a:rPr lang="zh-CN" altLang="zh-CN">
                <a:solidFill>
                  <a:srgbClr val="0000FF"/>
                </a:solidFill>
                <a:latin typeface="Consolas" pitchFamily="49" charset="0"/>
                <a:ea typeface="仿宋" pitchFamily="49" charset="-122"/>
              </a:rPr>
              <a:t>域之和的递归算法如下：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85720" y="1214422"/>
            <a:ext cx="8572560"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Sum</a:t>
            </a:r>
            <a:r>
              <a:rPr lang="en-US" altLang="zh-CN" sz="2000">
                <a:solidFill>
                  <a:srgbClr val="0000FF"/>
                </a:solidFill>
                <a:latin typeface="Consolas" pitchFamily="49" charset="0"/>
                <a:ea typeface="仿宋" pitchFamily="49" charset="-122"/>
              </a:rPr>
              <a:t>(ListNode *h)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求不带头结点单链表</a:t>
            </a:r>
            <a:r>
              <a:rPr lang="en-US" altLang="zh-CN" sz="2000">
                <a:solidFill>
                  <a:srgbClr val="00B0F0"/>
                </a:solidFill>
                <a:latin typeface="Consolas" pitchFamily="49" charset="0"/>
                <a:ea typeface="仿宋" pitchFamily="49" charset="-122"/>
              </a:rPr>
              <a:t>h</a:t>
            </a:r>
            <a:r>
              <a:rPr lang="zh-CN" altLang="zh-CN" sz="2000">
                <a:solidFill>
                  <a:srgbClr val="00B0F0"/>
                </a:solidFill>
                <a:latin typeface="Consolas" pitchFamily="49" charset="0"/>
                <a:ea typeface="仿宋" pitchFamily="49" charset="-122"/>
              </a:rPr>
              <a:t>中所有结点值之和</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h==NULL</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h-&gt;val+</a:t>
            </a:r>
            <a:r>
              <a:rPr lang="en-US" altLang="zh-CN" sz="2000">
                <a:solidFill>
                  <a:srgbClr val="FF0000"/>
                </a:solidFill>
                <a:latin typeface="Consolas" pitchFamily="49" charset="0"/>
                <a:ea typeface="仿宋" pitchFamily="49" charset="-122"/>
              </a:rPr>
              <a:t>Sum</a:t>
            </a:r>
            <a:r>
              <a:rPr lang="en-US" altLang="zh-CN" sz="2000">
                <a:solidFill>
                  <a:srgbClr val="0000FF"/>
                </a:solidFill>
                <a:latin typeface="Consolas" pitchFamily="49" charset="0"/>
                <a:ea typeface="仿宋" pitchFamily="49" charset="-122"/>
              </a:rPr>
              <a:t>(h-&gt;next);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a:t>
            </a:fld>
            <a:r>
              <a:rPr lang="en-US" altLang="zh-CN"/>
              <a:t>/91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997234"/>
            <a:ext cx="8286808" cy="9900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分析整数二叉树的二叉链存储结构的递归性，设计求非空二叉链</a:t>
            </a:r>
            <a:r>
              <a:rPr lang="en-US" altLang="zh-CN">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中所有结点值之和的递归算法。</a:t>
            </a:r>
            <a:endParaRPr lang="zh-CN" altLang="en-US">
              <a:solidFill>
                <a:srgbClr val="0000FF"/>
              </a:solidFill>
              <a:latin typeface="Consolas" pitchFamily="49" charset="0"/>
              <a:ea typeface="仿宋" pitchFamily="49" charset="-122"/>
              <a:cs typeface="Consolas" pitchFamily="49" charset="0"/>
            </a:endParaRPr>
          </a:p>
        </p:txBody>
      </p:sp>
      <p:sp>
        <p:nvSpPr>
          <p:cNvPr id="8" name="椭圆 7"/>
          <p:cNvSpPr/>
          <p:nvPr/>
        </p:nvSpPr>
        <p:spPr>
          <a:xfrm>
            <a:off x="3756196" y="228311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3</a:t>
            </a:r>
            <a:endParaRPr lang="zh-CN" altLang="en-US" sz="2000">
              <a:latin typeface="Consolas" pitchFamily="49" charset="0"/>
            </a:endParaRPr>
          </a:p>
        </p:txBody>
      </p:sp>
      <p:sp>
        <p:nvSpPr>
          <p:cNvPr id="9" name="椭圆 8"/>
          <p:cNvSpPr/>
          <p:nvPr/>
        </p:nvSpPr>
        <p:spPr>
          <a:xfrm>
            <a:off x="4857752" y="3896029"/>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4</a:t>
            </a:r>
            <a:endParaRPr lang="zh-CN" altLang="en-US" sz="2000">
              <a:latin typeface="Consolas" pitchFamily="49" charset="0"/>
            </a:endParaRPr>
          </a:p>
        </p:txBody>
      </p:sp>
      <p:sp>
        <p:nvSpPr>
          <p:cNvPr id="10" name="椭圆 9"/>
          <p:cNvSpPr/>
          <p:nvPr/>
        </p:nvSpPr>
        <p:spPr>
          <a:xfrm>
            <a:off x="3571868" y="3896029"/>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1</a:t>
            </a:r>
            <a:endParaRPr lang="zh-CN" altLang="en-US" sz="2000">
              <a:latin typeface="Consolas" pitchFamily="49" charset="0"/>
            </a:endParaRPr>
          </a:p>
        </p:txBody>
      </p:sp>
      <p:sp>
        <p:nvSpPr>
          <p:cNvPr id="11" name="椭圆 10"/>
          <p:cNvSpPr/>
          <p:nvPr/>
        </p:nvSpPr>
        <p:spPr>
          <a:xfrm>
            <a:off x="4357686" y="3068936"/>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2</a:t>
            </a:r>
            <a:endParaRPr lang="zh-CN" altLang="en-US" sz="2000">
              <a:latin typeface="Consolas" pitchFamily="49" charset="0"/>
            </a:endParaRPr>
          </a:p>
        </p:txBody>
      </p:sp>
      <p:sp>
        <p:nvSpPr>
          <p:cNvPr id="12" name="椭圆 11"/>
          <p:cNvSpPr/>
          <p:nvPr/>
        </p:nvSpPr>
        <p:spPr>
          <a:xfrm>
            <a:off x="3143240" y="3068936"/>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5</a:t>
            </a:r>
            <a:endParaRPr lang="zh-CN" altLang="en-US" sz="2000">
              <a:latin typeface="Consolas" pitchFamily="49" charset="0"/>
            </a:endParaRPr>
          </a:p>
        </p:txBody>
      </p:sp>
      <p:cxnSp>
        <p:nvCxnSpPr>
          <p:cNvPr id="14" name="直接连接符 13"/>
          <p:cNvCxnSpPr>
            <a:stCxn id="8" idx="3"/>
            <a:endCxn id="12" idx="0"/>
          </p:cNvCxnSpPr>
          <p:nvPr/>
        </p:nvCxnSpPr>
        <p:spPr>
          <a:xfrm rot="5400000">
            <a:off x="3378281" y="2628249"/>
            <a:ext cx="419961" cy="46141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6" name="直接连接符 15"/>
          <p:cNvCxnSpPr>
            <a:stCxn id="12" idx="5"/>
            <a:endCxn id="10" idx="0"/>
          </p:cNvCxnSpPr>
          <p:nvPr/>
        </p:nvCxnSpPr>
        <p:spPr>
          <a:xfrm rot="16200000" flipH="1">
            <a:off x="3417021" y="3526868"/>
            <a:ext cx="461236" cy="27708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9" name="直接连接符 18"/>
          <p:cNvCxnSpPr>
            <a:stCxn id="8" idx="5"/>
            <a:endCxn id="11" idx="1"/>
          </p:cNvCxnSpPr>
          <p:nvPr/>
        </p:nvCxnSpPr>
        <p:spPr>
          <a:xfrm rot="16200000" flipH="1">
            <a:off x="4029889" y="2741139"/>
            <a:ext cx="482732" cy="2984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1" name="直接连接符 20"/>
          <p:cNvCxnSpPr>
            <a:stCxn id="11" idx="5"/>
            <a:endCxn id="9" idx="0"/>
          </p:cNvCxnSpPr>
          <p:nvPr/>
        </p:nvCxnSpPr>
        <p:spPr>
          <a:xfrm rot="16200000" flipH="1">
            <a:off x="4667186" y="3491149"/>
            <a:ext cx="461236" cy="34852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4" name="TextBox 23"/>
          <p:cNvSpPr txBox="1"/>
          <p:nvPr/>
        </p:nvSpPr>
        <p:spPr>
          <a:xfrm>
            <a:off x="3357554" y="4681847"/>
            <a:ext cx="1643074"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Consolas" pitchFamily="49" charset="0"/>
              </a:rPr>
              <a:t>答案为</a:t>
            </a:r>
            <a:r>
              <a:rPr lang="en-US" altLang="zh-CN">
                <a:solidFill>
                  <a:srgbClr val="0000FF"/>
                </a:solidFill>
                <a:latin typeface="Consolas" pitchFamily="49" charset="0"/>
                <a:ea typeface="仿宋" pitchFamily="49" charset="-122"/>
                <a:cs typeface="Consolas" pitchFamily="49" charset="0"/>
              </a:rPr>
              <a:t>15</a:t>
            </a:r>
            <a:endParaRPr lang="zh-CN" altLang="en-US">
              <a:solidFill>
                <a:srgbClr val="0000FF"/>
              </a:solidFill>
              <a:latin typeface="Consolas" pitchFamily="49" charset="0"/>
              <a:ea typeface="仿宋" pitchFamily="49" charset="-122"/>
              <a:cs typeface="Consolas"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pPr/>
              <a:t>10</a:t>
            </a:fld>
            <a:r>
              <a:rPr lang="en-US" altLang="zh-CN"/>
              <a:t>/91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4414" y="454863"/>
            <a:ext cx="7572428"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假设整数二叉树采用二叉链存储结构，所有结点值为</a:t>
            </a:r>
            <a:r>
              <a:rPr lang="en-US" altLang="zh-CN">
                <a:solidFill>
                  <a:srgbClr val="0000FF"/>
                </a:solidFill>
                <a:latin typeface="Consolas" pitchFamily="49" charset="0"/>
                <a:ea typeface="仿宋" pitchFamily="49" charset="-122"/>
              </a:rPr>
              <a:t>int</a:t>
            </a:r>
            <a:r>
              <a:rPr lang="zh-CN" altLang="zh-CN">
                <a:solidFill>
                  <a:srgbClr val="0000FF"/>
                </a:solidFill>
                <a:latin typeface="Consolas" pitchFamily="49" charset="0"/>
                <a:ea typeface="仿宋" pitchFamily="49" charset="-122"/>
              </a:rPr>
              <a:t>类型。二叉链的结点类型声明如下：</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71472" y="1714488"/>
            <a:ext cx="8143932" cy="36036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TreeNode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二叉链结点类型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val;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结点值（为</a:t>
            </a:r>
            <a:r>
              <a:rPr lang="en-US" altLang="zh-CN" sz="2000">
                <a:solidFill>
                  <a:srgbClr val="00B0F0"/>
                </a:solidFill>
                <a:latin typeface="Consolas" pitchFamily="49" charset="0"/>
                <a:ea typeface="仿宋" pitchFamily="49" charset="-122"/>
              </a:rPr>
              <a:t>int</a:t>
            </a:r>
            <a:r>
              <a:rPr lang="zh-CN" altLang="zh-CN" sz="2000">
                <a:solidFill>
                  <a:srgbClr val="00B0F0"/>
                </a:solidFill>
                <a:latin typeface="Consolas" pitchFamily="49" charset="0"/>
                <a:ea typeface="仿宋" pitchFamily="49" charset="-122"/>
              </a:rPr>
              <a:t>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TreeNode *left;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左孩子结点指针</a:t>
            </a:r>
          </a:p>
          <a:p>
            <a:pPr algn="l" defTabSz="360000">
              <a:lnSpc>
                <a:spcPts val="2800"/>
              </a:lnSpc>
              <a:spcBef>
                <a:spcPts val="0"/>
              </a:spcBef>
            </a:pPr>
            <a:r>
              <a:rPr lang="en-US" altLang="zh-CN" sz="2000">
                <a:solidFill>
                  <a:srgbClr val="0000FF"/>
                </a:solidFill>
                <a:latin typeface="Consolas" pitchFamily="49" charset="0"/>
                <a:ea typeface="仿宋" pitchFamily="49" charset="-122"/>
              </a:rPr>
              <a:t>	TreeNode *right;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右孩子结点指针</a:t>
            </a:r>
          </a:p>
          <a:p>
            <a:pPr algn="l" defTabSz="360000">
              <a:lnSpc>
                <a:spcPts val="2800"/>
              </a:lnSpc>
              <a:spcBef>
                <a:spcPts val="1200"/>
              </a:spcBef>
            </a:pPr>
            <a:r>
              <a:rPr lang="en-US" altLang="zh-CN" sz="2000">
                <a:solidFill>
                  <a:srgbClr val="0000FF"/>
                </a:solidFill>
                <a:latin typeface="Consolas" pitchFamily="49" charset="0"/>
                <a:ea typeface="仿宋" pitchFamily="49" charset="-122"/>
              </a:rPr>
              <a:t>	TreeNode() : val(0), left(NULL), right(NULL)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TreeNode(int x) : val(x), left(NULL), right(NULL)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TreeNode(int x, TreeNode *left, TreeNode *right):</a:t>
            </a:r>
          </a:p>
          <a:p>
            <a:pPr algn="l" defTabSz="360000">
              <a:lnSpc>
                <a:spcPts val="2800"/>
              </a:lnSpc>
              <a:spcBef>
                <a:spcPts val="0"/>
              </a:spcBef>
            </a:pPr>
            <a:r>
              <a:rPr lang="en-US" altLang="zh-CN" sz="2000">
                <a:solidFill>
                  <a:srgbClr val="0000FF"/>
                </a:solidFill>
                <a:latin typeface="Consolas" pitchFamily="49" charset="0"/>
                <a:ea typeface="仿宋" pitchFamily="49" charset="-122"/>
              </a:rPr>
              <a:t>		 val(x), left(left), right(right)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285720" y="642918"/>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11</a:t>
            </a:fld>
            <a:r>
              <a:rPr lang="en-US" altLang="zh-CN"/>
              <a:t>/91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9" name="组合 18"/>
          <p:cNvGrpSpPr/>
          <p:nvPr/>
        </p:nvGrpSpPr>
        <p:grpSpPr>
          <a:xfrm>
            <a:off x="2143108" y="804131"/>
            <a:ext cx="3786214" cy="2053365"/>
            <a:chOff x="1000100" y="365822"/>
            <a:chExt cx="3786214" cy="2053365"/>
          </a:xfrm>
        </p:grpSpPr>
        <p:sp>
          <p:nvSpPr>
            <p:cNvPr id="52236" name="Text Box 12"/>
            <p:cNvSpPr txBox="1">
              <a:spLocks noChangeArrowheads="1"/>
            </p:cNvSpPr>
            <p:nvPr/>
          </p:nvSpPr>
          <p:spPr bwMode="auto">
            <a:xfrm>
              <a:off x="1000100" y="1140192"/>
              <a:ext cx="1185737" cy="28435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r-&gt;left</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235" name="Oval 11"/>
            <p:cNvSpPr>
              <a:spLocks noChangeArrowheads="1"/>
            </p:cNvSpPr>
            <p:nvPr/>
          </p:nvSpPr>
          <p:spPr bwMode="auto">
            <a:xfrm>
              <a:off x="2530341" y="740883"/>
              <a:ext cx="530110" cy="48038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34" name="AutoShape 10" descr="25%"/>
            <p:cNvSpPr>
              <a:spLocks noChangeArrowheads="1"/>
            </p:cNvSpPr>
            <p:nvPr/>
          </p:nvSpPr>
          <p:spPr bwMode="auto">
            <a:xfrm>
              <a:off x="3204663" y="1662922"/>
              <a:ext cx="984109" cy="756265"/>
            </a:xfrm>
            <a:prstGeom prst="triangle">
              <a:avLst>
                <a:gd name="adj" fmla="val 50000"/>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33" name="Text Box 9"/>
            <p:cNvSpPr txBox="1">
              <a:spLocks noChangeArrowheads="1"/>
            </p:cNvSpPr>
            <p:nvPr/>
          </p:nvSpPr>
          <p:spPr bwMode="auto">
            <a:xfrm>
              <a:off x="2000900" y="365822"/>
              <a:ext cx="356522" cy="26741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r</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232" name="Text Box 8"/>
            <p:cNvSpPr txBox="1">
              <a:spLocks noChangeArrowheads="1"/>
            </p:cNvSpPr>
            <p:nvPr/>
          </p:nvSpPr>
          <p:spPr bwMode="auto">
            <a:xfrm>
              <a:off x="3503768" y="1166812"/>
              <a:ext cx="1282546" cy="261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r-&gt;right</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231" name="AutoShape 7"/>
            <p:cNvSpPr>
              <a:spLocks noChangeShapeType="1"/>
            </p:cNvSpPr>
            <p:nvPr/>
          </p:nvSpPr>
          <p:spPr bwMode="auto">
            <a:xfrm>
              <a:off x="2419631" y="638059"/>
              <a:ext cx="225664" cy="13310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30" name="AutoShape 6" descr="25%"/>
            <p:cNvSpPr>
              <a:spLocks noChangeArrowheads="1"/>
            </p:cNvSpPr>
            <p:nvPr/>
          </p:nvSpPr>
          <p:spPr bwMode="auto">
            <a:xfrm>
              <a:off x="1547568" y="1662922"/>
              <a:ext cx="984109" cy="756265"/>
            </a:xfrm>
            <a:prstGeom prst="triangle">
              <a:avLst>
                <a:gd name="adj" fmla="val 50000"/>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29" name="AutoShape 5"/>
            <p:cNvSpPr>
              <a:spLocks noChangeShapeType="1"/>
            </p:cNvSpPr>
            <p:nvPr/>
          </p:nvSpPr>
          <p:spPr bwMode="auto">
            <a:xfrm flipH="1">
              <a:off x="2040290" y="1151082"/>
              <a:ext cx="567498" cy="51184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28" name="AutoShape 4"/>
            <p:cNvSpPr>
              <a:spLocks noChangeShapeType="1"/>
            </p:cNvSpPr>
            <p:nvPr/>
          </p:nvSpPr>
          <p:spPr bwMode="auto">
            <a:xfrm>
              <a:off x="2983005" y="1151082"/>
              <a:ext cx="714380" cy="51184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27" name="AutoShape 3"/>
            <p:cNvSpPr>
              <a:spLocks noChangeShapeType="1"/>
            </p:cNvSpPr>
            <p:nvPr/>
          </p:nvSpPr>
          <p:spPr bwMode="auto">
            <a:xfrm flipH="1">
              <a:off x="3697385" y="1424547"/>
              <a:ext cx="340499" cy="238375"/>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2226" name="AutoShape 2"/>
            <p:cNvSpPr>
              <a:spLocks noChangeShapeType="1"/>
            </p:cNvSpPr>
            <p:nvPr/>
          </p:nvSpPr>
          <p:spPr bwMode="auto">
            <a:xfrm>
              <a:off x="1735844" y="1424547"/>
              <a:ext cx="304446" cy="238375"/>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grpSp>
      <p:sp>
        <p:nvSpPr>
          <p:cNvPr id="18" name="TextBox 17"/>
          <p:cNvSpPr txBox="1"/>
          <p:nvPr/>
        </p:nvSpPr>
        <p:spPr>
          <a:xfrm>
            <a:off x="428596" y="3357562"/>
            <a:ext cx="8215370" cy="193899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3"/>
              </a:buBlip>
            </a:pPr>
            <a:r>
              <a:rPr lang="en-US" altLang="zh-CN">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指向根结点，用于标识整棵树</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en-US" altLang="zh-CN">
                <a:solidFill>
                  <a:srgbClr val="0000FF"/>
                </a:solidFill>
                <a:latin typeface="Consolas" pitchFamily="49" charset="0"/>
                <a:ea typeface="仿宋" pitchFamily="49" charset="-122"/>
              </a:rPr>
              <a:t>r-&gt;left</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r-&gt;right</a:t>
            </a:r>
            <a:r>
              <a:rPr lang="zh-CN" altLang="zh-CN">
                <a:solidFill>
                  <a:srgbClr val="0000FF"/>
                </a:solidFill>
                <a:latin typeface="Consolas" pitchFamily="49" charset="0"/>
                <a:ea typeface="仿宋" pitchFamily="49" charset="-122"/>
              </a:rPr>
              <a:t>分别指向左、右孩子结点，用于标识左、右子树，而左、右子树本身也都是二叉树</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是一种</a:t>
            </a:r>
            <a:r>
              <a:rPr lang="zh-CN" altLang="zh-CN">
                <a:solidFill>
                  <a:srgbClr val="FF0000"/>
                </a:solidFill>
                <a:latin typeface="楷体" pitchFamily="49" charset="-122"/>
                <a:ea typeface="楷体" pitchFamily="49" charset="-122"/>
              </a:rPr>
              <a:t>递归数据结构</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20" name="灯片编号占位符 19"/>
          <p:cNvSpPr>
            <a:spLocks noGrp="1"/>
          </p:cNvSpPr>
          <p:nvPr>
            <p:ph type="sldNum" sz="quarter" idx="12"/>
          </p:nvPr>
        </p:nvSpPr>
        <p:spPr/>
        <p:txBody>
          <a:bodyPr/>
          <a:lstStyle/>
          <a:p>
            <a:fld id="{7AF016A1-9F15-429F-9EFD-84004B73C732}" type="slidenum">
              <a:rPr lang="en-US" altLang="zh-CN" smtClean="0"/>
              <a:pPr/>
              <a:t>12</a:t>
            </a:fld>
            <a:r>
              <a:rPr lang="en-US" altLang="zh-CN"/>
              <a:t>/91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285860"/>
            <a:ext cx="8501122" cy="27572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3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Sumbt</a:t>
            </a:r>
            <a:r>
              <a:rPr lang="en-US" altLang="zh-CN" sz="2000">
                <a:solidFill>
                  <a:srgbClr val="0000FF"/>
                </a:solidFill>
                <a:latin typeface="Consolas" pitchFamily="49" charset="0"/>
                <a:ea typeface="仿宋" pitchFamily="49" charset="-122"/>
              </a:rPr>
              <a:t>(TreeNode *r)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求二叉树</a:t>
            </a:r>
            <a:r>
              <a:rPr lang="en-US" altLang="zh-CN" sz="2000">
                <a:solidFill>
                  <a:srgbClr val="00B0F0"/>
                </a:solidFill>
                <a:latin typeface="Consolas" pitchFamily="49" charset="0"/>
                <a:ea typeface="仿宋" pitchFamily="49" charset="-122"/>
              </a:rPr>
              <a:t>bt</a:t>
            </a:r>
            <a:r>
              <a:rPr lang="zh-CN" altLang="zh-CN" sz="2000">
                <a:solidFill>
                  <a:srgbClr val="00B0F0"/>
                </a:solidFill>
                <a:latin typeface="Consolas" pitchFamily="49" charset="0"/>
                <a:ea typeface="仿宋" pitchFamily="49" charset="-122"/>
              </a:rPr>
              <a:t>中所有结点值之和</a:t>
            </a:r>
          </a:p>
          <a:p>
            <a:pPr algn="l" defTabSz="360000">
              <a:lnSpc>
                <a:spcPts val="3300"/>
              </a:lnSpc>
              <a:spcBef>
                <a:spcPts val="0"/>
              </a:spcBef>
            </a:pPr>
            <a:r>
              <a:rPr lang="en-US" altLang="zh-CN" sz="2000">
                <a:solidFill>
                  <a:srgbClr val="0000FF"/>
                </a:solidFill>
                <a:latin typeface="Consolas" pitchFamily="49" charset="0"/>
                <a:ea typeface="仿宋" pitchFamily="49" charset="-122"/>
              </a:rPr>
              <a:t>	if (r==NULL)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空树返回</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return 0;	</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非空树返回左、右子树结点值之和加上根结点值</a:t>
            </a:r>
          </a:p>
          <a:p>
            <a:pPr algn="l" defTabSz="360000">
              <a:lnSpc>
                <a:spcPts val="33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Sumbt</a:t>
            </a:r>
            <a:r>
              <a:rPr lang="en-US" altLang="zh-CN" sz="2000">
                <a:solidFill>
                  <a:srgbClr val="0000FF"/>
                </a:solidFill>
                <a:latin typeface="Consolas" pitchFamily="49" charset="0"/>
                <a:ea typeface="仿宋" pitchFamily="49" charset="-122"/>
              </a:rPr>
              <a:t>(r-&gt;left)+</a:t>
            </a:r>
            <a:r>
              <a:rPr lang="en-US" altLang="zh-CN" sz="2000">
                <a:solidFill>
                  <a:srgbClr val="FF0000"/>
                </a:solidFill>
                <a:latin typeface="Consolas" pitchFamily="49" charset="0"/>
                <a:ea typeface="仿宋" pitchFamily="49" charset="-122"/>
              </a:rPr>
              <a:t>Sumbt</a:t>
            </a:r>
            <a:r>
              <a:rPr lang="en-US" altLang="zh-CN" sz="2000">
                <a:solidFill>
                  <a:srgbClr val="0000FF"/>
                </a:solidFill>
                <a:latin typeface="Consolas" pitchFamily="49" charset="0"/>
                <a:ea typeface="仿宋" pitchFamily="49" charset="-122"/>
              </a:rPr>
              <a:t>(r-&gt;right)+r-&gt;val;</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500034" y="571480"/>
            <a:ext cx="2071702"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仿宋" pitchFamily="49" charset="-122"/>
                <a:ea typeface="仿宋" pitchFamily="49" charset="-122"/>
                <a:cs typeface="Consolas" pitchFamily="49" charset="0"/>
              </a:rPr>
              <a:t>递归算法</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a:t>
            </a:fld>
            <a:r>
              <a:rPr lang="en-US" altLang="zh-CN"/>
              <a:t>/91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414340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3.</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问题的求解方法是递归的</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pic>
        <p:nvPicPr>
          <p:cNvPr id="48129" name="Picture 1"/>
          <p:cNvPicPr>
            <a:picLocks noChangeAspect="1" noChangeArrowheads="1"/>
          </p:cNvPicPr>
          <p:nvPr/>
        </p:nvPicPr>
        <p:blipFill>
          <a:blip r:embed="rId3" cstate="print"/>
          <a:srcRect/>
          <a:stretch>
            <a:fillRect/>
          </a:stretch>
        </p:blipFill>
        <p:spPr bwMode="auto">
          <a:xfrm>
            <a:off x="1785918" y="4357694"/>
            <a:ext cx="2505075" cy="1447800"/>
          </a:xfrm>
          <a:prstGeom prst="rect">
            <a:avLst/>
          </a:prstGeom>
          <a:noFill/>
          <a:ln w="9525">
            <a:noFill/>
            <a:miter lim="800000"/>
            <a:headEnd/>
            <a:tailEnd/>
          </a:ln>
        </p:spPr>
      </p:pic>
      <p:sp>
        <p:nvSpPr>
          <p:cNvPr id="5" name="TextBox 4"/>
          <p:cNvSpPr txBox="1"/>
          <p:nvPr/>
        </p:nvSpPr>
        <p:spPr>
          <a:xfrm>
            <a:off x="357158" y="1357298"/>
            <a:ext cx="8286808" cy="275331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4"/>
              </a:buBlip>
            </a:pP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个分别命名为</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的塔座，在塔座</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上有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个直径各不相同、从小到大依次编号为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的盘片，现要求将</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塔座上的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个盘片移到塔座</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上并仍按同样顺序叠放。</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4"/>
              </a:buBlip>
            </a:pPr>
            <a:r>
              <a:rPr lang="zh-CN" altLang="zh-CN">
                <a:solidFill>
                  <a:srgbClr val="0000FF"/>
                </a:solidFill>
                <a:latin typeface="Consolas" pitchFamily="49" charset="0"/>
                <a:ea typeface="仿宋" pitchFamily="49" charset="-122"/>
              </a:rPr>
              <a:t>盘片移动时必须遵守以下规则：每次只能移动一个盘片；盘片可以插在</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或</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中任一塔座；任何时候都不能将一个较大的盘片放在较小的盘片上。</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4857752" y="642918"/>
            <a:ext cx="2714644" cy="461665"/>
          </a:xfrm>
          <a:prstGeom prst="rect">
            <a:avLst/>
          </a:prstGeom>
          <a:noFill/>
        </p:spPr>
        <p:txBody>
          <a:bodyPr wrap="square" rtlCol="0">
            <a:spAutoFit/>
          </a:bodyPr>
          <a:lstStyle/>
          <a:p>
            <a:pPr algn="l">
              <a:lnSpc>
                <a:spcPct val="100000"/>
              </a:lnSpc>
              <a:spcBef>
                <a:spcPts val="0"/>
              </a:spcBef>
            </a:pPr>
            <a:r>
              <a:rPr lang="zh-CN" altLang="zh-CN">
                <a:solidFill>
                  <a:srgbClr val="006600"/>
                </a:solidFill>
                <a:latin typeface="Consolas" pitchFamily="49" charset="0"/>
                <a:ea typeface="楷体" pitchFamily="49" charset="-122"/>
              </a:rPr>
              <a:t>例如汉诺塔问题。</a:t>
            </a:r>
            <a:endParaRPr lang="zh-CN" altLang="en-US">
              <a:solidFill>
                <a:srgbClr val="006600"/>
              </a:solidFill>
              <a:latin typeface="Consolas" pitchFamily="49" charset="0"/>
              <a:ea typeface="楷体"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14</a:t>
            </a:fld>
            <a:r>
              <a:rPr lang="en-US" altLang="zh-CN"/>
              <a:t>/91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395567"/>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6081" name="Rectangle 1"/>
          <p:cNvSpPr>
            <a:spLocks noChangeArrowheads="1"/>
          </p:cNvSpPr>
          <p:nvPr/>
        </p:nvSpPr>
        <p:spPr bwMode="auto">
          <a:xfrm>
            <a:off x="3929058" y="1571612"/>
            <a:ext cx="4786346" cy="107157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Hanoi(</a:t>
            </a:r>
            <a:r>
              <a:rPr kumimoji="0" lang="en-US" altLang="zh-CN" sz="2000" i="1" u="none" strike="noStrike" cap="none" normalizeH="0" baseline="0">
                <a:ln>
                  <a:noFill/>
                </a:ln>
                <a:solidFill>
                  <a:schemeClr val="tx1"/>
                </a:solidFill>
                <a:effectLst/>
                <a:latin typeface="Consolas" pitchFamily="49" charset="0"/>
                <a:ea typeface="仿宋" pitchFamily="49" charset="-122"/>
                <a:cs typeface="宋体" pitchFamily="2" charset="-122"/>
              </a:rPr>
              <a:t>n</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-1</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x</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z</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y)</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move(</a:t>
            </a:r>
            <a:r>
              <a:rPr kumimoji="0" lang="en-US" altLang="zh-CN" sz="2000" i="1" u="none" strike="noStrike" cap="none" normalizeH="0" baseline="0">
                <a:ln>
                  <a:noFill/>
                </a:ln>
                <a:solidFill>
                  <a:schemeClr val="tx1"/>
                </a:solidFill>
                <a:effectLst/>
                <a:latin typeface="Consolas" pitchFamily="49" charset="0"/>
                <a:ea typeface="仿宋" pitchFamily="49" charset="-122"/>
                <a:cs typeface="宋体" pitchFamily="2" charset="-122"/>
              </a:rPr>
              <a:t>n</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x</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z)</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：将第</a:t>
            </a:r>
            <a:r>
              <a:rPr kumimoji="0" lang="en-US" altLang="zh-CN" sz="2000" i="1" u="none" strike="noStrike" cap="none" normalizeH="0" baseline="0">
                <a:ln>
                  <a:noFill/>
                </a:ln>
                <a:solidFill>
                  <a:schemeClr val="tx1"/>
                </a:solidFill>
                <a:effectLst/>
                <a:latin typeface="Consolas" pitchFamily="49" charset="0"/>
                <a:ea typeface="仿宋" pitchFamily="49" charset="-122"/>
                <a:cs typeface="宋体" pitchFamily="2" charset="-122"/>
              </a:rPr>
              <a:t>n</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个盘片从</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x</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移到</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z</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Hanoi(</a:t>
            </a:r>
            <a:r>
              <a:rPr kumimoji="0" lang="en-US" altLang="zh-CN" sz="2000" i="1" u="none" strike="noStrike" cap="none" normalizeH="0" baseline="0">
                <a:ln>
                  <a:noFill/>
                </a:ln>
                <a:solidFill>
                  <a:schemeClr val="tx1"/>
                </a:solidFill>
                <a:effectLst/>
                <a:latin typeface="Consolas" pitchFamily="49" charset="0"/>
                <a:ea typeface="仿宋" pitchFamily="49" charset="-122"/>
                <a:cs typeface="宋体" pitchFamily="2" charset="-122"/>
              </a:rPr>
              <a:t>n</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-1</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y</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x</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z)</a:t>
            </a:r>
            <a:endParaRPr kumimoji="0" lang="zh-CN" altLang="zh-CN" sz="2000" i="0" u="none" strike="noStrike" cap="none" normalizeH="0" baseline="0">
              <a:ln>
                <a:noFill/>
              </a:ln>
              <a:solidFill>
                <a:schemeClr val="tx1"/>
              </a:solidFill>
              <a:effectLst/>
              <a:latin typeface="Consolas" pitchFamily="49" charset="0"/>
              <a:ea typeface="仿宋" pitchFamily="49" charset="-122"/>
              <a:cs typeface="宋体" pitchFamily="2" charset="-122"/>
            </a:endParaRPr>
          </a:p>
        </p:txBody>
      </p:sp>
      <p:sp>
        <p:nvSpPr>
          <p:cNvPr id="46082" name="Rectangle 2"/>
          <p:cNvSpPr>
            <a:spLocks noChangeArrowheads="1"/>
          </p:cNvSpPr>
          <p:nvPr/>
        </p:nvSpPr>
        <p:spPr bwMode="auto">
          <a:xfrm>
            <a:off x="214282" y="1785926"/>
            <a:ext cx="2643206" cy="57150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ts val="3200"/>
              </a:lnSpc>
              <a:spcBef>
                <a:spcPct val="0"/>
              </a:spcBef>
              <a:spcAft>
                <a:spcPct val="0"/>
              </a:spcAft>
              <a:buClrTx/>
              <a:buSzTx/>
              <a:buFontTx/>
              <a:buNone/>
              <a:tabLst/>
            </a:pP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Hanoi(</a:t>
            </a:r>
            <a:r>
              <a:rPr kumimoji="0" lang="en-US" altLang="zh-CN" sz="2000" i="1" u="none" strike="noStrike" cap="none" normalizeH="0" baseline="0">
                <a:ln>
                  <a:noFill/>
                </a:ln>
                <a:solidFill>
                  <a:schemeClr val="tx1"/>
                </a:solidFill>
                <a:effectLst/>
                <a:latin typeface="Consolas" pitchFamily="49" charset="0"/>
                <a:ea typeface="仿宋" pitchFamily="49" charset="-122"/>
                <a:cs typeface="宋体" pitchFamily="2" charset="-122"/>
              </a:rPr>
              <a:t>n</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x</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y</a:t>
            </a:r>
            <a:r>
              <a:rPr kumimoji="0" lang="zh-CN" altLang="en-US" sz="2000" i="0" u="none" strike="noStrike" cap="none" normalizeH="0" baseline="0">
                <a:ln>
                  <a:noFill/>
                </a:ln>
                <a:solidFill>
                  <a:schemeClr val="tx1"/>
                </a:solidFill>
                <a:effectLst/>
                <a:latin typeface="Consolas" pitchFamily="49" charset="0"/>
                <a:ea typeface="仿宋" pitchFamily="49" charset="-122"/>
                <a:cs typeface="宋体" pitchFamily="2" charset="-122"/>
              </a:rPr>
              <a:t>，</a:t>
            </a:r>
            <a:r>
              <a:rPr kumimoji="0" lang="en-US" altLang="zh-CN" sz="2000" i="0" u="none" strike="noStrike" cap="none" normalizeH="0" baseline="0">
                <a:ln>
                  <a:noFill/>
                </a:ln>
                <a:solidFill>
                  <a:schemeClr val="tx1"/>
                </a:solidFill>
                <a:effectLst/>
                <a:latin typeface="Consolas" pitchFamily="49" charset="0"/>
                <a:ea typeface="仿宋" pitchFamily="49" charset="-122"/>
                <a:cs typeface="宋体" pitchFamily="2" charset="-122"/>
              </a:rPr>
              <a:t>z)</a:t>
            </a:r>
            <a:endParaRPr kumimoji="0" lang="zh-CN" altLang="zh-CN" sz="2000" i="0" u="none" strike="noStrike" cap="none" normalizeH="0" baseline="0">
              <a:ln>
                <a:noFill/>
              </a:ln>
              <a:solidFill>
                <a:schemeClr val="tx1"/>
              </a:solidFill>
              <a:effectLst/>
              <a:latin typeface="Consolas" pitchFamily="49" charset="0"/>
              <a:ea typeface="仿宋" pitchFamily="49" charset="-122"/>
              <a:cs typeface="宋体" pitchFamily="2" charset="-122"/>
            </a:endParaRPr>
          </a:p>
        </p:txBody>
      </p:sp>
      <p:sp>
        <p:nvSpPr>
          <p:cNvPr id="6" name="右箭头 5"/>
          <p:cNvSpPr/>
          <p:nvPr/>
        </p:nvSpPr>
        <p:spPr>
          <a:xfrm>
            <a:off x="3143240" y="1928802"/>
            <a:ext cx="571504"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15</a:t>
            </a:fld>
            <a:r>
              <a:rPr lang="en-US" altLang="zh-CN"/>
              <a:t>/91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42918"/>
            <a:ext cx="8143932" cy="36503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(int n,char x,char y,char z)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n==1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(n-1,x,z,y);</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(n-1,y,x,z);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a:t>
            </a:fld>
            <a:r>
              <a:rPr lang="en-US" altLang="zh-CN"/>
              <a:t>/91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335758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2.1.3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递归模型</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357298"/>
            <a:ext cx="8001056" cy="24519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500"/>
              </a:lnSpc>
              <a:spcBef>
                <a:spcPts val="1200"/>
              </a:spcBef>
              <a:buBlip>
                <a:blip r:embed="rId3"/>
              </a:buBlip>
            </a:pPr>
            <a:r>
              <a:rPr lang="zh-CN" altLang="zh-CN">
                <a:solidFill>
                  <a:srgbClr val="0000FF"/>
                </a:solidFill>
                <a:latin typeface="Consolas" pitchFamily="49" charset="0"/>
                <a:ea typeface="仿宋" pitchFamily="49" charset="-122"/>
              </a:rPr>
              <a:t>递归思想的核心可以用递归模型表示，递归模型是递归算法的抽象，它反映一个递归问题的递归结构。</a:t>
            </a:r>
            <a:endParaRPr lang="en-US" altLang="zh-CN">
              <a:solidFill>
                <a:srgbClr val="0000FF"/>
              </a:solidFill>
              <a:latin typeface="Consolas" pitchFamily="49" charset="0"/>
              <a:ea typeface="仿宋" pitchFamily="49" charset="-122"/>
            </a:endParaRPr>
          </a:p>
          <a:p>
            <a:pPr marL="457200" indent="-457200" algn="l" defTabSz="360000">
              <a:lnSpc>
                <a:spcPts val="3500"/>
              </a:lnSpc>
              <a:spcBef>
                <a:spcPts val="1200"/>
              </a:spcBef>
              <a:buBlip>
                <a:blip r:embed="rId3"/>
              </a:buBlip>
            </a:pPr>
            <a:r>
              <a:rPr lang="zh-CN" altLang="zh-CN">
                <a:solidFill>
                  <a:srgbClr val="0000FF"/>
                </a:solidFill>
                <a:latin typeface="Consolas" pitchFamily="49" charset="0"/>
                <a:ea typeface="仿宋" pitchFamily="49" charset="-122"/>
              </a:rPr>
              <a:t>一般地，一个递归模型是由</a:t>
            </a:r>
            <a:r>
              <a:rPr lang="zh-CN" altLang="zh-CN">
                <a:solidFill>
                  <a:srgbClr val="FF0000"/>
                </a:solidFill>
                <a:latin typeface="Consolas" pitchFamily="49" charset="0"/>
                <a:ea typeface="仿宋" pitchFamily="49" charset="-122"/>
              </a:rPr>
              <a:t>递归出口</a:t>
            </a:r>
            <a:r>
              <a:rPr lang="zh-CN" altLang="zh-CN">
                <a:solidFill>
                  <a:srgbClr val="0000FF"/>
                </a:solidFill>
                <a:latin typeface="Consolas" pitchFamily="49" charset="0"/>
                <a:ea typeface="仿宋" pitchFamily="49" charset="-122"/>
              </a:rPr>
              <a:t>和</a:t>
            </a:r>
            <a:r>
              <a:rPr lang="zh-CN" altLang="zh-CN">
                <a:solidFill>
                  <a:srgbClr val="FF0000"/>
                </a:solidFill>
                <a:latin typeface="Consolas" pitchFamily="49" charset="0"/>
                <a:ea typeface="仿宋" pitchFamily="49" charset="-122"/>
              </a:rPr>
              <a:t>递归体</a:t>
            </a:r>
            <a:r>
              <a:rPr lang="zh-CN" altLang="zh-CN">
                <a:solidFill>
                  <a:srgbClr val="0000FF"/>
                </a:solidFill>
                <a:latin typeface="Consolas" pitchFamily="49" charset="0"/>
                <a:ea typeface="仿宋" pitchFamily="49" charset="-122"/>
              </a:rPr>
              <a:t>两部分组成，递归出口确定递归到何时结束，即指出明确的递归结束条件</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17</a:t>
            </a:fld>
            <a:r>
              <a:rPr lang="en-US" altLang="zh-CN"/>
              <a:t>/91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25748"/>
            <a:ext cx="7786742"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(int 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2</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3</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(n-1)*n;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4</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2000232" y="3811896"/>
            <a:ext cx="5786478" cy="929073"/>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defTabSz="360000"/>
            <a:r>
              <a:rPr lang="en-US" altLang="zh-CN" sz="2200" i="1">
                <a:solidFill>
                  <a:srgbClr val="006600"/>
                </a:solidFill>
                <a:latin typeface="Consolas" pitchFamily="49" charset="0"/>
                <a:ea typeface="仿宋" pitchFamily="49" charset="-122"/>
              </a:rPr>
              <a:t>f</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)=1							</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=1</a:t>
            </a:r>
            <a:endParaRPr lang="zh-CN" altLang="zh-CN" sz="2200">
              <a:solidFill>
                <a:srgbClr val="006600"/>
              </a:solidFill>
              <a:latin typeface="Consolas" pitchFamily="49" charset="0"/>
              <a:ea typeface="仿宋" pitchFamily="49" charset="-122"/>
            </a:endParaRPr>
          </a:p>
          <a:p>
            <a:pPr algn="l" defTabSz="360000"/>
            <a:r>
              <a:rPr lang="en-US" altLang="zh-CN" sz="2200" i="1">
                <a:solidFill>
                  <a:srgbClr val="006600"/>
                </a:solidFill>
                <a:latin typeface="Consolas" pitchFamily="49" charset="0"/>
                <a:ea typeface="仿宋" pitchFamily="49" charset="-122"/>
              </a:rPr>
              <a:t>f</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f</a:t>
            </a:r>
            <a:r>
              <a:rPr lang="en-US"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-1)				</a:t>
            </a:r>
            <a:r>
              <a:rPr lang="en-US" altLang="zh-CN" sz="2200" i="1">
                <a:solidFill>
                  <a:srgbClr val="006600"/>
                </a:solidFill>
                <a:latin typeface="Consolas" pitchFamily="49" charset="0"/>
                <a:ea typeface="仿宋" pitchFamily="49" charset="-122"/>
              </a:rPr>
              <a:t>n</a:t>
            </a:r>
            <a:r>
              <a:rPr lang="en-US" altLang="zh-CN" sz="2200">
                <a:solidFill>
                  <a:srgbClr val="006600"/>
                </a:solidFill>
                <a:latin typeface="Consolas" pitchFamily="49" charset="0"/>
                <a:ea typeface="仿宋" pitchFamily="49" charset="-122"/>
              </a:rPr>
              <a:t>&gt;1</a:t>
            </a:r>
            <a:endParaRPr lang="zh-CN" altLang="zh-CN" sz="2200">
              <a:solidFill>
                <a:srgbClr val="006600"/>
              </a:solidFill>
              <a:latin typeface="Consolas" pitchFamily="49" charset="0"/>
              <a:ea typeface="仿宋" pitchFamily="49" charset="-122"/>
            </a:endParaRPr>
          </a:p>
        </p:txBody>
      </p:sp>
      <p:sp>
        <p:nvSpPr>
          <p:cNvPr id="5" name="下箭头 4"/>
          <p:cNvSpPr/>
          <p:nvPr/>
        </p:nvSpPr>
        <p:spPr>
          <a:xfrm>
            <a:off x="4214810" y="3026078"/>
            <a:ext cx="285752" cy="64294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TextBox 5"/>
          <p:cNvSpPr txBox="1"/>
          <p:nvPr/>
        </p:nvSpPr>
        <p:spPr>
          <a:xfrm>
            <a:off x="4572000" y="3097516"/>
            <a:ext cx="1000132"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仿宋" pitchFamily="49" charset="-122"/>
                <a:ea typeface="仿宋" pitchFamily="49" charset="-122"/>
                <a:cs typeface="Consolas" pitchFamily="49" charset="0"/>
              </a:rPr>
              <a:t>抽象</a:t>
            </a:r>
          </a:p>
        </p:txBody>
      </p:sp>
      <p:sp>
        <p:nvSpPr>
          <p:cNvPr id="7" name="TextBox 6"/>
          <p:cNvSpPr txBox="1"/>
          <p:nvPr/>
        </p:nvSpPr>
        <p:spPr>
          <a:xfrm>
            <a:off x="214282" y="3811896"/>
            <a:ext cx="1714512" cy="52322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递归出口 </a:t>
            </a:r>
            <a:r>
              <a:rPr lang="zh-CN" altLang="en-US" sz="2800">
                <a:solidFill>
                  <a:srgbClr val="FF00FF"/>
                </a:solidFill>
                <a:latin typeface="Consolas" pitchFamily="49" charset="0"/>
                <a:ea typeface="楷体" pitchFamily="49" charset="-122"/>
                <a:cs typeface="Consolas" pitchFamily="49" charset="0"/>
                <a:sym typeface="Wingdings"/>
              </a:rPr>
              <a:t></a:t>
            </a:r>
            <a:endParaRPr lang="zh-CN" altLang="en-US" sz="2800">
              <a:solidFill>
                <a:srgbClr val="FF00FF"/>
              </a:solidFill>
              <a:latin typeface="Consolas" pitchFamily="49" charset="0"/>
              <a:ea typeface="楷体" pitchFamily="49" charset="-122"/>
              <a:cs typeface="Consolas" pitchFamily="49" charset="0"/>
            </a:endParaRPr>
          </a:p>
        </p:txBody>
      </p:sp>
      <p:sp>
        <p:nvSpPr>
          <p:cNvPr id="8" name="TextBox 7"/>
          <p:cNvSpPr txBox="1"/>
          <p:nvPr/>
        </p:nvSpPr>
        <p:spPr>
          <a:xfrm>
            <a:off x="503738" y="4263102"/>
            <a:ext cx="1357322" cy="52322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递归体</a:t>
            </a:r>
            <a:r>
              <a:rPr lang="zh-CN" altLang="en-US" sz="2800">
                <a:solidFill>
                  <a:srgbClr val="FF00FF"/>
                </a:solidFill>
                <a:latin typeface="Consolas" pitchFamily="49" charset="0"/>
                <a:ea typeface="楷体" pitchFamily="49" charset="-122"/>
                <a:cs typeface="Consolas" pitchFamily="49" charset="0"/>
                <a:sym typeface="Wingdings"/>
              </a:rPr>
              <a:t></a:t>
            </a:r>
            <a:endParaRPr lang="zh-CN" altLang="en-US" sz="2800">
              <a:solidFill>
                <a:srgbClr val="0000FF"/>
              </a:solidFill>
              <a:latin typeface="Consolas" pitchFamily="49" charset="0"/>
              <a:ea typeface="楷体"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18</a:t>
            </a:fld>
            <a:r>
              <a:rPr lang="en-US" altLang="zh-CN"/>
              <a:t>/91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071546"/>
            <a:ext cx="7500990" cy="9371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52000" tIns="144000" bIns="144000" rtlCol="0">
            <a:spAutoFit/>
          </a:bodyPr>
          <a:lstStyle/>
          <a:p>
            <a:pPr algn="l"/>
            <a:r>
              <a:rPr lang="en-US" altLang="zh-CN" sz="2000" i="1">
                <a:solidFill>
                  <a:srgbClr val="FF0000"/>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(s</a:t>
            </a:r>
            <a:r>
              <a:rPr lang="en-US" altLang="zh-CN" sz="2000" baseline="-25000">
                <a:solidFill>
                  <a:srgbClr val="00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m</a:t>
            </a:r>
            <a:r>
              <a:rPr lang="en-US" altLang="zh-CN" sz="2000" baseline="-25000">
                <a:solidFill>
                  <a:srgbClr val="00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				</a:t>
            </a:r>
          </a:p>
          <a:p>
            <a:pPr algn="l"/>
            <a:r>
              <a:rPr lang="nb-NO" altLang="zh-CN" sz="2000" i="1">
                <a:solidFill>
                  <a:srgbClr val="FF0000"/>
                </a:solidFill>
                <a:latin typeface="Consolas" pitchFamily="49" charset="0"/>
                <a:ea typeface="仿宋" pitchFamily="49" charset="-122"/>
              </a:rPr>
              <a:t>f</a:t>
            </a:r>
            <a:r>
              <a:rPr lang="nb-NO"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s</a:t>
            </a:r>
            <a:r>
              <a:rPr lang="nb-NO" altLang="zh-CN" sz="2000" i="1" baseline="-25000">
                <a:solidFill>
                  <a:srgbClr val="0000FF"/>
                </a:solidFill>
                <a:latin typeface="Consolas" pitchFamily="49" charset="0"/>
                <a:ea typeface="仿宋" pitchFamily="49" charset="-122"/>
              </a:rPr>
              <a:t>n</a:t>
            </a:r>
            <a:r>
              <a:rPr lang="nb-NO"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g</a:t>
            </a:r>
            <a:r>
              <a:rPr lang="nb-NO" altLang="zh-CN" sz="2000">
                <a:solidFill>
                  <a:srgbClr val="0000FF"/>
                </a:solidFill>
                <a:latin typeface="Consolas" pitchFamily="49" charset="0"/>
                <a:ea typeface="仿宋" pitchFamily="49" charset="-122"/>
              </a:rPr>
              <a:t>(</a:t>
            </a:r>
            <a:r>
              <a:rPr lang="nb-NO" altLang="zh-CN" sz="2000" i="1">
                <a:solidFill>
                  <a:srgbClr val="FF0000"/>
                </a:solidFill>
                <a:latin typeface="Consolas" pitchFamily="49" charset="0"/>
                <a:ea typeface="仿宋" pitchFamily="49" charset="-122"/>
              </a:rPr>
              <a:t>f</a:t>
            </a:r>
            <a:r>
              <a:rPr lang="nb-NO"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s</a:t>
            </a:r>
            <a:r>
              <a:rPr lang="nb-NO" altLang="zh-CN" sz="2000" i="1" baseline="-25000">
                <a:solidFill>
                  <a:srgbClr val="0000FF"/>
                </a:solidFill>
                <a:latin typeface="Consolas" pitchFamily="49" charset="0"/>
                <a:ea typeface="仿宋" pitchFamily="49" charset="-122"/>
              </a:rPr>
              <a:t>i</a:t>
            </a:r>
            <a:r>
              <a:rPr lang="nb-NO"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nb-NO" altLang="zh-CN" sz="2000" i="1">
                <a:solidFill>
                  <a:srgbClr val="FF0000"/>
                </a:solidFill>
                <a:latin typeface="Consolas" pitchFamily="49" charset="0"/>
                <a:ea typeface="仿宋" pitchFamily="49" charset="-122"/>
              </a:rPr>
              <a:t>f</a:t>
            </a:r>
            <a:r>
              <a:rPr lang="nb-NO"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s</a:t>
            </a:r>
            <a:r>
              <a:rPr lang="nb-NO" altLang="zh-CN" sz="2000" i="1" baseline="-25000">
                <a:solidFill>
                  <a:srgbClr val="0000FF"/>
                </a:solidFill>
                <a:latin typeface="Consolas" pitchFamily="49" charset="0"/>
                <a:ea typeface="仿宋" pitchFamily="49" charset="-122"/>
              </a:rPr>
              <a:t>i</a:t>
            </a:r>
            <a:r>
              <a:rPr lang="nb-NO" altLang="zh-CN" sz="2000" baseline="-25000">
                <a:solidFill>
                  <a:srgbClr val="0000FF"/>
                </a:solidFill>
                <a:latin typeface="Consolas" pitchFamily="49" charset="0"/>
                <a:ea typeface="仿宋" pitchFamily="49" charset="-122"/>
              </a:rPr>
              <a:t>+1</a:t>
            </a:r>
            <a:r>
              <a:rPr lang="nb-NO"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nb-NO" altLang="zh-CN" sz="2000">
                <a:solidFill>
                  <a:srgbClr val="0000FF"/>
                </a:solidFill>
                <a:latin typeface="+mj-ea"/>
                <a:ea typeface="+mj-ea"/>
              </a:rPr>
              <a:t>…</a:t>
            </a:r>
            <a:r>
              <a:rPr lang="zh-CN" altLang="zh-CN" sz="2000">
                <a:solidFill>
                  <a:srgbClr val="0000FF"/>
                </a:solidFill>
                <a:latin typeface="Consolas" pitchFamily="49" charset="0"/>
                <a:ea typeface="仿宋" pitchFamily="49" charset="-122"/>
              </a:rPr>
              <a:t>，</a:t>
            </a:r>
            <a:r>
              <a:rPr lang="nb-NO" altLang="zh-CN" sz="2000" i="1">
                <a:solidFill>
                  <a:srgbClr val="FF0000"/>
                </a:solidFill>
                <a:latin typeface="Consolas" pitchFamily="49" charset="0"/>
                <a:ea typeface="仿宋" pitchFamily="49" charset="-122"/>
              </a:rPr>
              <a:t>f</a:t>
            </a:r>
            <a:r>
              <a:rPr lang="nb-NO"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s</a:t>
            </a:r>
            <a:r>
              <a:rPr lang="nb-NO" altLang="zh-CN" sz="2000" i="1" baseline="-25000">
                <a:solidFill>
                  <a:srgbClr val="0000FF"/>
                </a:solidFill>
                <a:latin typeface="Consolas" pitchFamily="49" charset="0"/>
                <a:ea typeface="仿宋" pitchFamily="49" charset="-122"/>
              </a:rPr>
              <a:t>n</a:t>
            </a:r>
            <a:r>
              <a:rPr lang="nb-NO" altLang="zh-CN" sz="2000" baseline="-25000">
                <a:solidFill>
                  <a:srgbClr val="0000FF"/>
                </a:solidFill>
                <a:latin typeface="Consolas" pitchFamily="49" charset="0"/>
                <a:ea typeface="仿宋" pitchFamily="49" charset="-122"/>
              </a:rPr>
              <a:t>-1</a:t>
            </a:r>
            <a:r>
              <a:rPr lang="nb-NO"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c</a:t>
            </a:r>
            <a:r>
              <a:rPr lang="nb-NO" altLang="zh-CN" sz="2000" i="1" baseline="-25000">
                <a:solidFill>
                  <a:srgbClr val="0000FF"/>
                </a:solidFill>
                <a:latin typeface="Consolas" pitchFamily="49" charset="0"/>
                <a:ea typeface="仿宋" pitchFamily="49" charset="-122"/>
              </a:rPr>
              <a:t>j</a:t>
            </a:r>
            <a:r>
              <a:rPr lang="zh-CN"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c</a:t>
            </a:r>
            <a:r>
              <a:rPr lang="nb-NO" altLang="zh-CN" sz="2000" i="1" baseline="-25000">
                <a:solidFill>
                  <a:srgbClr val="0000FF"/>
                </a:solidFill>
                <a:latin typeface="Consolas" pitchFamily="49" charset="0"/>
                <a:ea typeface="仿宋" pitchFamily="49" charset="-122"/>
              </a:rPr>
              <a:t>j</a:t>
            </a:r>
            <a:r>
              <a:rPr lang="nb-NO" altLang="zh-CN" sz="2000" baseline="-25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mn-ea"/>
              </a:rPr>
              <a:t>…</a:t>
            </a:r>
            <a:r>
              <a:rPr lang="zh-CN" altLang="zh-CN" sz="2000">
                <a:solidFill>
                  <a:srgbClr val="0000FF"/>
                </a:solidFill>
                <a:latin typeface="Consolas" pitchFamily="49" charset="0"/>
                <a:ea typeface="仿宋" pitchFamily="49" charset="-122"/>
              </a:rPr>
              <a:t>，</a:t>
            </a:r>
            <a:r>
              <a:rPr lang="nb-NO" altLang="zh-CN" sz="2000" i="1">
                <a:solidFill>
                  <a:srgbClr val="0000FF"/>
                </a:solidFill>
                <a:latin typeface="Consolas" pitchFamily="49" charset="0"/>
                <a:ea typeface="仿宋" pitchFamily="49" charset="-122"/>
              </a:rPr>
              <a:t>c</a:t>
            </a:r>
            <a:r>
              <a:rPr lang="nb-NO" altLang="zh-CN" sz="2000" i="1" baseline="-25000">
                <a:solidFill>
                  <a:srgbClr val="0000FF"/>
                </a:solidFill>
                <a:latin typeface="Consolas" pitchFamily="49" charset="0"/>
                <a:ea typeface="仿宋" pitchFamily="49" charset="-122"/>
              </a:rPr>
              <a:t>m</a:t>
            </a:r>
            <a:r>
              <a:rPr lang="nb-NO"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cs typeface="Times New Roman" pitchFamily="18" charset="0"/>
            </a:endParaRPr>
          </a:p>
        </p:txBody>
      </p:sp>
      <p:sp>
        <p:nvSpPr>
          <p:cNvPr id="4" name="TextBox 3"/>
          <p:cNvSpPr txBox="1"/>
          <p:nvPr/>
        </p:nvSpPr>
        <p:spPr>
          <a:xfrm>
            <a:off x="571472" y="357166"/>
            <a:ext cx="457203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ea typeface="仿宋" pitchFamily="49" charset="-122"/>
                <a:cs typeface="Times New Roman" pitchFamily="18" charset="0"/>
              </a:rPr>
              <a:t>递归模型</a:t>
            </a:r>
            <a:r>
              <a:rPr lang="zh-CN" altLang="en-US">
                <a:solidFill>
                  <a:srgbClr val="0000FF"/>
                </a:solidFill>
                <a:ea typeface="仿宋" pitchFamily="49" charset="-122"/>
                <a:cs typeface="Times New Roman" pitchFamily="18" charset="0"/>
              </a:rPr>
              <a:t>：</a:t>
            </a:r>
          </a:p>
        </p:txBody>
      </p:sp>
      <p:sp>
        <p:nvSpPr>
          <p:cNvPr id="594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0" name="组合 19"/>
          <p:cNvGrpSpPr/>
          <p:nvPr/>
        </p:nvGrpSpPr>
        <p:grpSpPr>
          <a:xfrm>
            <a:off x="1643042" y="3000372"/>
            <a:ext cx="3143272" cy="2071702"/>
            <a:chOff x="1643042" y="3000372"/>
            <a:chExt cx="3143272" cy="2071702"/>
          </a:xfrm>
        </p:grpSpPr>
        <p:sp>
          <p:nvSpPr>
            <p:cNvPr id="59405" name="Oval 13"/>
            <p:cNvSpPr>
              <a:spLocks noChangeArrowheads="1"/>
            </p:cNvSpPr>
            <p:nvPr/>
          </p:nvSpPr>
          <p:spPr bwMode="auto">
            <a:xfrm>
              <a:off x="2973863" y="3114372"/>
              <a:ext cx="609784" cy="55312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404" name="Oval 12"/>
            <p:cNvSpPr>
              <a:spLocks noChangeArrowheads="1"/>
            </p:cNvSpPr>
            <p:nvPr/>
          </p:nvSpPr>
          <p:spPr bwMode="auto">
            <a:xfrm>
              <a:off x="1669799" y="4114349"/>
              <a:ext cx="608375" cy="55312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403" name="Oval 11"/>
            <p:cNvSpPr>
              <a:spLocks noChangeArrowheads="1"/>
            </p:cNvSpPr>
            <p:nvPr/>
          </p:nvSpPr>
          <p:spPr bwMode="auto">
            <a:xfrm>
              <a:off x="2778112" y="4114349"/>
              <a:ext cx="609784" cy="55312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402" name="Oval 10"/>
            <p:cNvSpPr>
              <a:spLocks noChangeArrowheads="1"/>
            </p:cNvSpPr>
            <p:nvPr/>
          </p:nvSpPr>
          <p:spPr bwMode="auto">
            <a:xfrm>
              <a:off x="4044153" y="4115630"/>
              <a:ext cx="609784" cy="55184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401" name="Rectangle 9"/>
            <p:cNvSpPr>
              <a:spLocks noChangeArrowheads="1"/>
            </p:cNvSpPr>
            <p:nvPr/>
          </p:nvSpPr>
          <p:spPr bwMode="auto">
            <a:xfrm>
              <a:off x="3472393" y="4270556"/>
              <a:ext cx="483039" cy="2714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mj-ea"/>
                  <a:ea typeface="+mj-ea"/>
                  <a:cs typeface="Times New Roman" pitchFamily="18" charset="0"/>
                </a:rPr>
                <a:t>…</a:t>
              </a:r>
              <a:endParaRPr kumimoji="0" lang="en-US" altLang="zh-CN" sz="2000" i="0" u="none" strike="noStrike" cap="none" normalizeH="0" baseline="0">
                <a:ln>
                  <a:noFill/>
                </a:ln>
                <a:solidFill>
                  <a:srgbClr val="0000FF"/>
                </a:solidFill>
                <a:effectLst/>
                <a:latin typeface="+mj-ea"/>
                <a:ea typeface="+mj-ea"/>
                <a:cs typeface="宋体" pitchFamily="2" charset="-122"/>
              </a:endParaRPr>
            </a:p>
          </p:txBody>
        </p:sp>
        <p:sp>
          <p:nvSpPr>
            <p:cNvPr id="59400" name="AutoShape 8"/>
            <p:cNvSpPr>
              <a:spLocks noChangeShapeType="1"/>
            </p:cNvSpPr>
            <p:nvPr/>
          </p:nvSpPr>
          <p:spPr bwMode="auto">
            <a:xfrm flipH="1">
              <a:off x="2189453" y="3586832"/>
              <a:ext cx="873131" cy="60818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9399" name="AutoShape 7"/>
            <p:cNvSpPr>
              <a:spLocks noChangeShapeType="1"/>
            </p:cNvSpPr>
            <p:nvPr/>
          </p:nvSpPr>
          <p:spPr bwMode="auto">
            <a:xfrm flipH="1">
              <a:off x="3083708" y="3667496"/>
              <a:ext cx="195750" cy="44685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9398" name="AutoShape 6"/>
            <p:cNvSpPr>
              <a:spLocks noChangeShapeType="1"/>
            </p:cNvSpPr>
            <p:nvPr/>
          </p:nvSpPr>
          <p:spPr bwMode="auto">
            <a:xfrm>
              <a:off x="3494925" y="3586832"/>
              <a:ext cx="854824" cy="528797"/>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59397" name="Rectangle 5"/>
            <p:cNvSpPr>
              <a:spLocks noChangeArrowheads="1"/>
            </p:cNvSpPr>
            <p:nvPr/>
          </p:nvSpPr>
          <p:spPr bwMode="auto">
            <a:xfrm>
              <a:off x="3643306" y="3000372"/>
              <a:ext cx="651904" cy="33930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396" name="Rectangle 4"/>
            <p:cNvSpPr>
              <a:spLocks noChangeArrowheads="1"/>
            </p:cNvSpPr>
            <p:nvPr/>
          </p:nvSpPr>
          <p:spPr bwMode="auto">
            <a:xfrm>
              <a:off x="1643042" y="4732773"/>
              <a:ext cx="559086" cy="33930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395" name="Rectangle 3"/>
            <p:cNvSpPr>
              <a:spLocks noChangeArrowheads="1"/>
            </p:cNvSpPr>
            <p:nvPr/>
          </p:nvSpPr>
          <p:spPr bwMode="auto">
            <a:xfrm>
              <a:off x="2727415" y="4732773"/>
              <a:ext cx="742161" cy="33930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394" name="Rectangle 2"/>
            <p:cNvSpPr>
              <a:spLocks noChangeArrowheads="1"/>
            </p:cNvSpPr>
            <p:nvPr/>
          </p:nvSpPr>
          <p:spPr bwMode="auto">
            <a:xfrm>
              <a:off x="4015987" y="4732773"/>
              <a:ext cx="770327" cy="33930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21" name="下箭头 20"/>
          <p:cNvSpPr/>
          <p:nvPr/>
        </p:nvSpPr>
        <p:spPr>
          <a:xfrm>
            <a:off x="3143240" y="2285992"/>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2" name="灯片编号占位符 21"/>
          <p:cNvSpPr>
            <a:spLocks noGrp="1"/>
          </p:cNvSpPr>
          <p:nvPr>
            <p:ph type="sldNum" sz="quarter" idx="12"/>
          </p:nvPr>
        </p:nvSpPr>
        <p:spPr/>
        <p:txBody>
          <a:bodyPr/>
          <a:lstStyle/>
          <a:p>
            <a:fld id="{7AF016A1-9F15-429F-9EFD-84004B73C732}" type="slidenum">
              <a:rPr lang="en-US" altLang="zh-CN" smtClean="0"/>
              <a:pPr/>
              <a:t>19</a:t>
            </a:fld>
            <a:r>
              <a:rPr lang="en-US" altLang="zh-CN"/>
              <a:t>/91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2.1.4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递归算法的执行过程</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642910" y="1428736"/>
            <a:ext cx="8072494" cy="2939266"/>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）递归执行是通过系统栈实现的。</a:t>
            </a:r>
          </a:p>
          <a:p>
            <a:pPr algn="l">
              <a:lnSpc>
                <a:spcPts val="33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）每递归调用一次就需将参数、局部变量和返回地址等作为一个栈元素进栈一次，最多的进栈元素个数称为递归深度，当问题规模</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越大，递归深度越深。</a:t>
            </a:r>
          </a:p>
          <a:p>
            <a:pPr algn="l">
              <a:lnSpc>
                <a:spcPts val="33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）每当遇到递归出口或本次递归调用执行完毕，需退栈一次，并恢复参数值等，当全部执行完毕时，栈应为空。</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20</a:t>
            </a:fld>
            <a:r>
              <a:rPr lang="en-US" altLang="zh-CN"/>
              <a:t>/91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98" name="Rectangle 2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5496" name="Text Box 24"/>
          <p:cNvSpPr txBox="1">
            <a:spLocks noChangeArrowheads="1"/>
          </p:cNvSpPr>
          <p:nvPr/>
        </p:nvSpPr>
        <p:spPr bwMode="auto">
          <a:xfrm>
            <a:off x="3133720" y="6215083"/>
            <a:ext cx="949141" cy="224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返回</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95" name="Text Box 23"/>
          <p:cNvSpPr txBox="1">
            <a:spLocks noChangeArrowheads="1"/>
          </p:cNvSpPr>
          <p:nvPr/>
        </p:nvSpPr>
        <p:spPr bwMode="auto">
          <a:xfrm>
            <a:off x="1053702" y="2857496"/>
            <a:ext cx="875827" cy="3501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94" name="Text Box 22"/>
          <p:cNvSpPr txBox="1">
            <a:spLocks noChangeArrowheads="1"/>
          </p:cNvSpPr>
          <p:nvPr/>
        </p:nvSpPr>
        <p:spPr bwMode="auto">
          <a:xfrm>
            <a:off x="1305298" y="3503932"/>
            <a:ext cx="875827" cy="3514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93" name="Line 21"/>
          <p:cNvSpPr>
            <a:spLocks noChangeShapeType="1"/>
          </p:cNvSpPr>
          <p:nvPr/>
        </p:nvSpPr>
        <p:spPr bwMode="auto">
          <a:xfrm>
            <a:off x="1430416" y="3153779"/>
            <a:ext cx="250236" cy="350153"/>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92" name="Text Box 20"/>
          <p:cNvSpPr txBox="1">
            <a:spLocks noChangeArrowheads="1"/>
          </p:cNvSpPr>
          <p:nvPr/>
        </p:nvSpPr>
        <p:spPr bwMode="auto">
          <a:xfrm>
            <a:off x="1805770" y="4205521"/>
            <a:ext cx="875827" cy="3501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91" name="Line 19"/>
          <p:cNvSpPr>
            <a:spLocks noChangeShapeType="1"/>
          </p:cNvSpPr>
          <p:nvPr/>
        </p:nvSpPr>
        <p:spPr bwMode="auto">
          <a:xfrm>
            <a:off x="1930889" y="3855368"/>
            <a:ext cx="250236" cy="350153"/>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90" name="Text Box 18"/>
          <p:cNvSpPr txBox="1">
            <a:spLocks noChangeArrowheads="1"/>
          </p:cNvSpPr>
          <p:nvPr/>
        </p:nvSpPr>
        <p:spPr bwMode="auto">
          <a:xfrm>
            <a:off x="2306243" y="4905826"/>
            <a:ext cx="874467" cy="3514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89" name="Freeform 17"/>
          <p:cNvSpPr>
            <a:spLocks/>
          </p:cNvSpPr>
          <p:nvPr/>
        </p:nvSpPr>
        <p:spPr bwMode="auto">
          <a:xfrm>
            <a:off x="2306243" y="4555673"/>
            <a:ext cx="301915" cy="359131"/>
          </a:xfrm>
          <a:custGeom>
            <a:avLst/>
            <a:gdLst/>
            <a:ahLst/>
            <a:cxnLst>
              <a:cxn ang="0">
                <a:pos x="0" y="0"/>
              </a:cxn>
              <a:cxn ang="0">
                <a:pos x="254" y="320"/>
              </a:cxn>
            </a:cxnLst>
            <a:rect l="0" t="0" r="r" b="b"/>
            <a:pathLst>
              <a:path w="254" h="320">
                <a:moveTo>
                  <a:pt x="0" y="0"/>
                </a:moveTo>
                <a:lnTo>
                  <a:pt x="254" y="320"/>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88" name="Text Box 16"/>
          <p:cNvSpPr txBox="1">
            <a:spLocks noChangeArrowheads="1"/>
          </p:cNvSpPr>
          <p:nvPr/>
        </p:nvSpPr>
        <p:spPr bwMode="auto">
          <a:xfrm>
            <a:off x="3133720" y="5572141"/>
            <a:ext cx="1031380" cy="3501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87" name="Freeform 15"/>
          <p:cNvSpPr>
            <a:spLocks/>
          </p:cNvSpPr>
          <p:nvPr/>
        </p:nvSpPr>
        <p:spPr bwMode="auto">
          <a:xfrm>
            <a:off x="2806715" y="5257262"/>
            <a:ext cx="391674" cy="356566"/>
          </a:xfrm>
          <a:custGeom>
            <a:avLst/>
            <a:gdLst/>
            <a:ahLst/>
            <a:cxnLst>
              <a:cxn ang="0">
                <a:pos x="0" y="0"/>
              </a:cxn>
              <a:cxn ang="0">
                <a:pos x="329" y="318"/>
              </a:cxn>
            </a:cxnLst>
            <a:rect l="0" t="0" r="r" b="b"/>
            <a:pathLst>
              <a:path w="329" h="318">
                <a:moveTo>
                  <a:pt x="0" y="0"/>
                </a:moveTo>
                <a:lnTo>
                  <a:pt x="329" y="318"/>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85" name="Text Box 13"/>
          <p:cNvSpPr txBox="1">
            <a:spLocks noChangeArrowheads="1"/>
          </p:cNvSpPr>
          <p:nvPr/>
        </p:nvSpPr>
        <p:spPr bwMode="auto">
          <a:xfrm>
            <a:off x="3754621" y="4905826"/>
            <a:ext cx="2379495" cy="3514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fun(2)=fun(1)*2=2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84" name="Freeform 12"/>
          <p:cNvSpPr>
            <a:spLocks/>
          </p:cNvSpPr>
          <p:nvPr/>
        </p:nvSpPr>
        <p:spPr bwMode="auto">
          <a:xfrm>
            <a:off x="3966778" y="5257262"/>
            <a:ext cx="339995" cy="339892"/>
          </a:xfrm>
          <a:custGeom>
            <a:avLst/>
            <a:gdLst/>
            <a:ahLst/>
            <a:cxnLst>
              <a:cxn ang="0">
                <a:pos x="0" y="303"/>
              </a:cxn>
              <a:cxn ang="0">
                <a:pos x="286" y="0"/>
              </a:cxn>
            </a:cxnLst>
            <a:rect l="0" t="0" r="r" b="b"/>
            <a:pathLst>
              <a:path w="286" h="303">
                <a:moveTo>
                  <a:pt x="0" y="303"/>
                </a:moveTo>
                <a:lnTo>
                  <a:pt x="286" y="0"/>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83" name="Text Box 11"/>
          <p:cNvSpPr txBox="1">
            <a:spLocks noChangeArrowheads="1"/>
          </p:cNvSpPr>
          <p:nvPr/>
        </p:nvSpPr>
        <p:spPr bwMode="auto">
          <a:xfrm>
            <a:off x="4025257" y="4205521"/>
            <a:ext cx="2466049" cy="3501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fun(3)=fun(2)*3=6</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82" name="Freeform 10"/>
          <p:cNvSpPr>
            <a:spLocks/>
          </p:cNvSpPr>
          <p:nvPr/>
        </p:nvSpPr>
        <p:spPr bwMode="auto">
          <a:xfrm>
            <a:off x="4518929" y="4555673"/>
            <a:ext cx="269276" cy="350153"/>
          </a:xfrm>
          <a:custGeom>
            <a:avLst/>
            <a:gdLst/>
            <a:ahLst/>
            <a:cxnLst>
              <a:cxn ang="0">
                <a:pos x="0" y="312"/>
              </a:cxn>
              <a:cxn ang="0">
                <a:pos x="226" y="0"/>
              </a:cxn>
            </a:cxnLst>
            <a:rect l="0" t="0" r="r" b="b"/>
            <a:pathLst>
              <a:path w="226" h="312">
                <a:moveTo>
                  <a:pt x="0" y="312"/>
                </a:moveTo>
                <a:lnTo>
                  <a:pt x="226" y="0"/>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81" name="Text Box 9"/>
          <p:cNvSpPr txBox="1">
            <a:spLocks noChangeArrowheads="1"/>
          </p:cNvSpPr>
          <p:nvPr/>
        </p:nvSpPr>
        <p:spPr bwMode="auto">
          <a:xfrm>
            <a:off x="4440051" y="3503932"/>
            <a:ext cx="2622759" cy="3514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fun(4)=fun(3)*4=24</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80" name="Freeform 8"/>
          <p:cNvSpPr>
            <a:spLocks/>
          </p:cNvSpPr>
          <p:nvPr/>
        </p:nvSpPr>
        <p:spPr bwMode="auto">
          <a:xfrm>
            <a:off x="4963643" y="3837411"/>
            <a:ext cx="277436" cy="369392"/>
          </a:xfrm>
          <a:custGeom>
            <a:avLst/>
            <a:gdLst/>
            <a:ahLst/>
            <a:cxnLst>
              <a:cxn ang="0">
                <a:pos x="0" y="329"/>
              </a:cxn>
              <a:cxn ang="0">
                <a:pos x="233" y="0"/>
              </a:cxn>
            </a:cxnLst>
            <a:rect l="0" t="0" r="r" b="b"/>
            <a:pathLst>
              <a:path w="233" h="329">
                <a:moveTo>
                  <a:pt x="0" y="329"/>
                </a:moveTo>
                <a:lnTo>
                  <a:pt x="233" y="0"/>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79" name="Text Box 7"/>
          <p:cNvSpPr txBox="1">
            <a:spLocks noChangeArrowheads="1"/>
          </p:cNvSpPr>
          <p:nvPr/>
        </p:nvSpPr>
        <p:spPr bwMode="auto">
          <a:xfrm>
            <a:off x="4906524" y="2857496"/>
            <a:ext cx="3013542" cy="3501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fun(5)=fun(4)*5=120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5478" name="Freeform 6"/>
          <p:cNvSpPr>
            <a:spLocks/>
          </p:cNvSpPr>
          <p:nvPr/>
        </p:nvSpPr>
        <p:spPr bwMode="auto">
          <a:xfrm>
            <a:off x="5329477" y="3153779"/>
            <a:ext cx="277436" cy="346305"/>
          </a:xfrm>
          <a:custGeom>
            <a:avLst/>
            <a:gdLst/>
            <a:ahLst/>
            <a:cxnLst>
              <a:cxn ang="0">
                <a:pos x="0" y="308"/>
              </a:cxn>
              <a:cxn ang="0">
                <a:pos x="233" y="0"/>
              </a:cxn>
            </a:cxnLst>
            <a:rect l="0" t="0" r="r" b="b"/>
            <a:pathLst>
              <a:path w="233" h="308">
                <a:moveTo>
                  <a:pt x="0" y="308"/>
                </a:moveTo>
                <a:lnTo>
                  <a:pt x="233" y="0"/>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77" name="Freeform 5"/>
          <p:cNvSpPr>
            <a:spLocks/>
          </p:cNvSpPr>
          <p:nvPr/>
        </p:nvSpPr>
        <p:spPr bwMode="auto">
          <a:xfrm>
            <a:off x="785786" y="3675802"/>
            <a:ext cx="1732614" cy="2292026"/>
          </a:xfrm>
          <a:custGeom>
            <a:avLst/>
            <a:gdLst/>
            <a:ahLst/>
            <a:cxnLst>
              <a:cxn ang="0">
                <a:pos x="0" y="0"/>
              </a:cxn>
              <a:cxn ang="0">
                <a:pos x="1455" y="2040"/>
              </a:cxn>
            </a:cxnLst>
            <a:rect l="0" t="0" r="r" b="b"/>
            <a:pathLst>
              <a:path w="1455" h="2040">
                <a:moveTo>
                  <a:pt x="0" y="0"/>
                </a:moveTo>
                <a:lnTo>
                  <a:pt x="1455" y="2040"/>
                </a:lnTo>
              </a:path>
            </a:pathLst>
          </a:custGeom>
          <a:noFill/>
          <a:ln w="9525">
            <a:solidFill>
              <a:srgbClr val="000000"/>
            </a:solidFill>
            <a:round/>
            <a:headEnd/>
            <a:tailEnd type="arrow" w="sm" len="lg"/>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76" name="Freeform 4"/>
          <p:cNvSpPr>
            <a:spLocks/>
          </p:cNvSpPr>
          <p:nvPr/>
        </p:nvSpPr>
        <p:spPr bwMode="auto">
          <a:xfrm>
            <a:off x="5794184" y="3567149"/>
            <a:ext cx="1697254" cy="2290744"/>
          </a:xfrm>
          <a:custGeom>
            <a:avLst/>
            <a:gdLst/>
            <a:ahLst/>
            <a:cxnLst>
              <a:cxn ang="0">
                <a:pos x="0" y="2040"/>
              </a:cxn>
              <a:cxn ang="0">
                <a:pos x="1425" y="0"/>
              </a:cxn>
            </a:cxnLst>
            <a:rect l="0" t="0" r="r" b="b"/>
            <a:pathLst>
              <a:path w="1425" h="2040">
                <a:moveTo>
                  <a:pt x="0" y="2040"/>
                </a:moveTo>
                <a:lnTo>
                  <a:pt x="1425" y="0"/>
                </a:lnTo>
              </a:path>
            </a:pathLst>
          </a:custGeom>
          <a:noFill/>
          <a:ln w="9525">
            <a:solidFill>
              <a:srgbClr val="000000"/>
            </a:solidFill>
            <a:round/>
            <a:headEnd/>
            <a:tailEnd type="arrow" w="sm" len="lg"/>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5475" name="WordArt 3"/>
          <p:cNvSpPr>
            <a:spLocks noChangeArrowheads="1" noChangeShapeType="1" noTextEdit="1"/>
          </p:cNvSpPr>
          <p:nvPr/>
        </p:nvSpPr>
        <p:spPr bwMode="auto">
          <a:xfrm rot="3438153">
            <a:off x="783057" y="4847492"/>
            <a:ext cx="1230173" cy="279063"/>
          </a:xfrm>
          <a:prstGeom prst="rect">
            <a:avLst/>
          </a:prstGeom>
        </p:spPr>
        <p:txBody>
          <a:bodyPr vert="eaVert" wrap="none" fromWordArt="1">
            <a:prstTxWarp prst="textPlain">
              <a:avLst>
                <a:gd name="adj" fmla="val 50000"/>
              </a:avLst>
            </a:prstTxWarp>
          </a:bodyPr>
          <a:lstStyle/>
          <a:p>
            <a:pPr algn="ctr" rtl="0" fontAlgn="auto"/>
            <a:r>
              <a:rPr lang="zh-CN" altLang="en-US" sz="2000" b="0" kern="10" spc="0">
                <a:ln w="9525">
                  <a:solidFill>
                    <a:srgbClr val="000000"/>
                  </a:solidFill>
                  <a:round/>
                  <a:headEnd/>
                  <a:tailEnd type="none" w="sm" len="sm"/>
                </a:ln>
                <a:solidFill>
                  <a:srgbClr val="0000FF"/>
                </a:solidFill>
                <a:effectLst/>
                <a:latin typeface="Consolas" pitchFamily="49" charset="0"/>
                <a:ea typeface="仿宋" pitchFamily="49" charset="-122"/>
              </a:rPr>
              <a:t>分 解 过 程</a:t>
            </a:r>
          </a:p>
        </p:txBody>
      </p:sp>
      <p:sp>
        <p:nvSpPr>
          <p:cNvPr id="105474" name="WordArt 2"/>
          <p:cNvSpPr>
            <a:spLocks noChangeArrowheads="1" noChangeShapeType="1" noTextEdit="1"/>
          </p:cNvSpPr>
          <p:nvPr/>
        </p:nvSpPr>
        <p:spPr bwMode="auto">
          <a:xfrm rot="7491102">
            <a:off x="6239708" y="4859325"/>
            <a:ext cx="1289013" cy="234065"/>
          </a:xfrm>
          <a:prstGeom prst="rect">
            <a:avLst/>
          </a:prstGeom>
        </p:spPr>
        <p:txBody>
          <a:bodyPr vert="eaVert" wrap="none" fromWordArt="1">
            <a:prstTxWarp prst="textPlain">
              <a:avLst>
                <a:gd name="adj" fmla="val 50000"/>
              </a:avLst>
            </a:prstTxWarp>
          </a:bodyPr>
          <a:lstStyle/>
          <a:p>
            <a:pPr algn="ctr" rtl="0" fontAlgn="auto"/>
            <a:r>
              <a:rPr lang="zh-CN" altLang="en-US" sz="2000" b="0" kern="10" spc="0">
                <a:ln w="9525">
                  <a:solidFill>
                    <a:srgbClr val="000000"/>
                  </a:solidFill>
                  <a:round/>
                  <a:headEnd/>
                  <a:tailEnd type="none" w="sm" len="sm"/>
                </a:ln>
                <a:solidFill>
                  <a:srgbClr val="0000FF"/>
                </a:solidFill>
                <a:effectLst/>
                <a:latin typeface="Consolas" pitchFamily="49" charset="0"/>
                <a:ea typeface="仿宋" pitchFamily="49" charset="-122"/>
              </a:rPr>
              <a:t>求 值 过 程</a:t>
            </a:r>
          </a:p>
        </p:txBody>
      </p:sp>
      <p:sp>
        <p:nvSpPr>
          <p:cNvPr id="29" name="TextBox 28"/>
          <p:cNvSpPr txBox="1"/>
          <p:nvPr/>
        </p:nvSpPr>
        <p:spPr>
          <a:xfrm>
            <a:off x="428596" y="214290"/>
            <a:ext cx="7786742"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(int 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2</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3</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fun</a:t>
            </a:r>
            <a:r>
              <a:rPr lang="en-US" altLang="zh-CN" sz="2000">
                <a:solidFill>
                  <a:srgbClr val="0000FF"/>
                </a:solidFill>
                <a:latin typeface="Consolas" pitchFamily="49" charset="0"/>
                <a:ea typeface="仿宋" pitchFamily="49" charset="-122"/>
              </a:rPr>
              <a:t>(n-1)*n;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语句</a:t>
            </a:r>
            <a:r>
              <a:rPr lang="en-US" altLang="zh-CN" sz="2000">
                <a:solidFill>
                  <a:srgbClr val="00B0F0"/>
                </a:solidFill>
                <a:latin typeface="Consolas" pitchFamily="49" charset="0"/>
                <a:ea typeface="仿宋" pitchFamily="49" charset="-122"/>
              </a:rPr>
              <a:t>4</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30" name="下弧形箭头 29"/>
          <p:cNvSpPr/>
          <p:nvPr/>
        </p:nvSpPr>
        <p:spPr>
          <a:xfrm>
            <a:off x="3205158" y="5786455"/>
            <a:ext cx="857256" cy="428628"/>
          </a:xfrm>
          <a:prstGeom prst="curvedUpArrow">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solidFill>
                <a:schemeClr val="tx1"/>
              </a:solidFill>
            </a:endParaRP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pPr/>
              <a:t>21</a:t>
            </a:fld>
            <a:r>
              <a:rPr lang="en-US" altLang="zh-CN"/>
              <a:t>/91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428604"/>
            <a:ext cx="8286808" cy="532453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12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斐波那契数列定义为：</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a:t>
            </a:r>
            <a:r>
              <a:rPr lang="zh-CN" altLang="zh-CN" sz="2000">
                <a:solidFill>
                  <a:srgbClr val="006600"/>
                </a:solidFill>
                <a:latin typeface="Consolas" pitchFamily="49" charset="0"/>
                <a:ea typeface="仿宋" pitchFamily="49" charset="-122"/>
              </a:rPr>
              <a:t>时</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=2</a:t>
            </a:r>
            <a:r>
              <a:rPr lang="zh-CN" altLang="zh-CN" sz="2000">
                <a:solidFill>
                  <a:srgbClr val="006600"/>
                </a:solidFill>
                <a:latin typeface="Consolas" pitchFamily="49" charset="0"/>
                <a:ea typeface="仿宋" pitchFamily="49" charset="-122"/>
              </a:rPr>
              <a:t>时</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-2)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&gt;2</a:t>
            </a:r>
            <a:r>
              <a:rPr lang="zh-CN" altLang="zh-CN" sz="2000">
                <a:solidFill>
                  <a:srgbClr val="006600"/>
                </a:solidFill>
                <a:latin typeface="Consolas" pitchFamily="49" charset="0"/>
                <a:ea typeface="仿宋" pitchFamily="49" charset="-122"/>
              </a:rPr>
              <a:t>时</a:t>
            </a:r>
          </a:p>
          <a:p>
            <a:pPr algn="l" defTabSz="360000">
              <a:lnSpc>
                <a:spcPts val="3200"/>
              </a:lnSpc>
              <a:spcBef>
                <a:spcPts val="1200"/>
              </a:spcBef>
            </a:pPr>
            <a:r>
              <a:rPr lang="zh-CN" altLang="zh-CN">
                <a:solidFill>
                  <a:srgbClr val="0000FF"/>
                </a:solidFill>
                <a:latin typeface="Consolas" pitchFamily="49" charset="0"/>
                <a:ea typeface="仿宋" pitchFamily="49" charset="-122"/>
              </a:rPr>
              <a:t>对应的递归算法如下：</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int Fib(int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递归求</a:t>
            </a:r>
            <a:r>
              <a:rPr lang="en-US" altLang="zh-CN" sz="2000">
                <a:solidFill>
                  <a:srgbClr val="00B0F0"/>
                </a:solidFill>
                <a:latin typeface="Consolas" pitchFamily="49" charset="0"/>
                <a:ea typeface="仿宋" pitchFamily="49" charset="-122"/>
              </a:rPr>
              <a:t>Fibonacci</a:t>
            </a:r>
            <a:r>
              <a:rPr lang="zh-CN" altLang="zh-CN" sz="2000">
                <a:solidFill>
                  <a:srgbClr val="00B0F0"/>
                </a:solidFill>
                <a:latin typeface="Consolas" pitchFamily="49" charset="0"/>
                <a:ea typeface="仿宋" pitchFamily="49" charset="-122"/>
              </a:rPr>
              <a:t>数列</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	if (n==1 || n==2)</a:t>
            </a:r>
            <a:endParaRPr lang="zh-CN" altLang="zh-CN" sz="2000">
              <a:solidFill>
                <a:srgbClr val="006600"/>
              </a:solidFill>
              <a:latin typeface="Consolas" pitchFamily="49" charset="0"/>
              <a:ea typeface="仿宋" pitchFamily="49" charset="-122"/>
            </a:endParaRPr>
          </a:p>
          <a:p>
            <a:pPr lvl="1" algn="l" defTabSz="360000">
              <a:lnSpc>
                <a:spcPts val="3200"/>
              </a:lnSpc>
              <a:spcBef>
                <a:spcPts val="0"/>
              </a:spcBef>
            </a:pPr>
            <a:r>
              <a:rPr lang="en-US" altLang="zh-CN" sz="2000">
                <a:solidFill>
                  <a:srgbClr val="006600"/>
                </a:solidFill>
                <a:latin typeface="Consolas" pitchFamily="49" charset="0"/>
                <a:ea typeface="仿宋" pitchFamily="49" charset="-122"/>
              </a:rPr>
              <a:t>		return 1;</a:t>
            </a:r>
            <a:endParaRPr lang="zh-CN" altLang="zh-CN" sz="2000">
              <a:solidFill>
                <a:srgbClr val="006600"/>
              </a:solidFill>
              <a:latin typeface="Consolas" pitchFamily="49" charset="0"/>
              <a:ea typeface="仿宋" pitchFamily="49" charset="-122"/>
            </a:endParaRPr>
          </a:p>
          <a:p>
            <a:pPr lvl="1" algn="l" defTabSz="360000">
              <a:lnSpc>
                <a:spcPts val="3200"/>
              </a:lnSpc>
              <a:spcBef>
                <a:spcPts val="0"/>
              </a:spcBef>
            </a:pPr>
            <a:r>
              <a:rPr lang="en-US" altLang="zh-CN" sz="2000">
                <a:solidFill>
                  <a:srgbClr val="006600"/>
                </a:solidFill>
                <a:latin typeface="Consolas" pitchFamily="49" charset="0"/>
                <a:ea typeface="仿宋" pitchFamily="49" charset="-122"/>
              </a:rPr>
              <a:t>	else</a:t>
            </a:r>
            <a:endParaRPr lang="zh-CN" altLang="zh-CN" sz="2000">
              <a:solidFill>
                <a:srgbClr val="006600"/>
              </a:solidFill>
              <a:latin typeface="Consolas" pitchFamily="49" charset="0"/>
              <a:ea typeface="仿宋" pitchFamily="49" charset="-122"/>
            </a:endParaRPr>
          </a:p>
          <a:p>
            <a:pPr lvl="1" algn="l" defTabSz="360000">
              <a:lnSpc>
                <a:spcPts val="3200"/>
              </a:lnSpc>
              <a:spcBef>
                <a:spcPts val="0"/>
              </a:spcBef>
            </a:pPr>
            <a:r>
              <a:rPr lang="en-US" altLang="zh-CN" sz="2000">
                <a:solidFill>
                  <a:srgbClr val="006600"/>
                </a:solidFill>
                <a:latin typeface="Consolas" pitchFamily="49" charset="0"/>
                <a:ea typeface="仿宋" pitchFamily="49" charset="-122"/>
              </a:rPr>
              <a:t>		return Fib(n-1)+Fib(n-2);</a:t>
            </a:r>
            <a:endParaRPr lang="zh-CN" altLang="zh-CN" sz="2000">
              <a:solidFill>
                <a:srgbClr val="006600"/>
              </a:solidFill>
              <a:latin typeface="Consolas" pitchFamily="49" charset="0"/>
              <a:ea typeface="仿宋" pitchFamily="49" charset="-122"/>
            </a:endParaRPr>
          </a:p>
          <a:p>
            <a:pPr lvl="1" algn="l" defTabSz="360000">
              <a:lnSpc>
                <a:spcPts val="3200"/>
              </a:lnSpc>
              <a:spcBef>
                <a:spcPts val="0"/>
              </a:spcBef>
            </a:pPr>
            <a:r>
              <a:rPr lang="en-US" altLang="zh-CN" sz="2000">
                <a:solidFill>
                  <a:srgbClr val="006600"/>
                </a:solidFill>
                <a:latin typeface="Consolas" pitchFamily="49" charset="0"/>
                <a:ea typeface="仿宋" pitchFamily="49" charset="-122"/>
              </a:rPr>
              <a:t>}</a:t>
            </a:r>
            <a:endParaRPr lang="zh-CN" altLang="zh-CN" sz="2000">
              <a:solidFill>
                <a:srgbClr val="006600"/>
              </a:solidFill>
              <a:latin typeface="Consolas" pitchFamily="49" charset="0"/>
              <a:ea typeface="仿宋" pitchFamily="49" charset="-122"/>
            </a:endParaRPr>
          </a:p>
          <a:p>
            <a:pPr algn="l" defTabSz="360000">
              <a:lnSpc>
                <a:spcPts val="3200"/>
              </a:lnSpc>
              <a:spcBef>
                <a:spcPts val="1200"/>
              </a:spcBef>
            </a:pPr>
            <a:r>
              <a:rPr lang="zh-CN" altLang="zh-CN">
                <a:solidFill>
                  <a:srgbClr val="0000FF"/>
                </a:solidFill>
                <a:latin typeface="Consolas" pitchFamily="49" charset="0"/>
                <a:ea typeface="仿宋" pitchFamily="49" charset="-122"/>
              </a:rPr>
              <a:t>画出求</a:t>
            </a:r>
            <a:r>
              <a:rPr lang="en-US" altLang="zh-CN">
                <a:solidFill>
                  <a:srgbClr val="0000FF"/>
                </a:solidFill>
                <a:latin typeface="Consolas" pitchFamily="49" charset="0"/>
                <a:ea typeface="仿宋" pitchFamily="49" charset="-122"/>
              </a:rPr>
              <a:t>Fib(5)</a:t>
            </a:r>
            <a:r>
              <a:rPr lang="zh-CN" altLang="zh-CN">
                <a:solidFill>
                  <a:srgbClr val="0000FF"/>
                </a:solidFill>
                <a:latin typeface="Consolas" pitchFamily="49" charset="0"/>
                <a:ea typeface="仿宋" pitchFamily="49" charset="-122"/>
              </a:rPr>
              <a:t>的递归树。</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22</a:t>
            </a:fld>
            <a:r>
              <a:rPr lang="en-US" altLang="zh-CN"/>
              <a:t>/91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42976" y="285728"/>
            <a:ext cx="7572428" cy="12945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求</a:t>
            </a:r>
            <a:r>
              <a:rPr lang="en-US" altLang="zh-CN">
                <a:solidFill>
                  <a:srgbClr val="0000FF"/>
                </a:solidFill>
                <a:latin typeface="Consolas" pitchFamily="49" charset="0"/>
                <a:ea typeface="仿宋" pitchFamily="49" charset="-122"/>
              </a:rPr>
              <a:t>Fib(5)</a:t>
            </a:r>
            <a:r>
              <a:rPr lang="zh-CN" altLang="zh-CN">
                <a:solidFill>
                  <a:srgbClr val="0000FF"/>
                </a:solidFill>
                <a:latin typeface="Consolas" pitchFamily="49" charset="0"/>
                <a:ea typeface="仿宋" pitchFamily="49" charset="-122"/>
              </a:rPr>
              <a:t>的递归树如图所示。图中方框旁的数字表示递归调用的次序，实箭头线表示分解关系，虚箭头线表示求值关系，虚箭头线上的数字表示求值结果。</a:t>
            </a:r>
          </a:p>
        </p:txBody>
      </p:sp>
      <p:sp>
        <p:nvSpPr>
          <p:cNvPr id="7" name="TextBox 6"/>
          <p:cNvSpPr txBox="1"/>
          <p:nvPr/>
        </p:nvSpPr>
        <p:spPr>
          <a:xfrm>
            <a:off x="285720" y="512184"/>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107578" name="Rectangle 5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7576" name="Text Box 56"/>
          <p:cNvSpPr txBox="1">
            <a:spLocks noChangeArrowheads="1"/>
          </p:cNvSpPr>
          <p:nvPr/>
        </p:nvSpPr>
        <p:spPr bwMode="auto">
          <a:xfrm>
            <a:off x="5058267" y="2116343"/>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5" name="Text Box 55"/>
          <p:cNvSpPr txBox="1">
            <a:spLocks noChangeArrowheads="1"/>
          </p:cNvSpPr>
          <p:nvPr/>
        </p:nvSpPr>
        <p:spPr bwMode="auto">
          <a:xfrm>
            <a:off x="5582713" y="2741657"/>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4" name="Text Box 54"/>
          <p:cNvSpPr txBox="1">
            <a:spLocks noChangeArrowheads="1"/>
          </p:cNvSpPr>
          <p:nvPr/>
        </p:nvSpPr>
        <p:spPr bwMode="auto">
          <a:xfrm>
            <a:off x="4205522" y="2995544"/>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3" name="Text Box 53"/>
          <p:cNvSpPr txBox="1">
            <a:spLocks noChangeArrowheads="1"/>
          </p:cNvSpPr>
          <p:nvPr/>
        </p:nvSpPr>
        <p:spPr bwMode="auto">
          <a:xfrm>
            <a:off x="5859542" y="3743100"/>
            <a:ext cx="395073"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2" name="Text Box 52"/>
          <p:cNvSpPr txBox="1">
            <a:spLocks noChangeArrowheads="1"/>
          </p:cNvSpPr>
          <p:nvPr/>
        </p:nvSpPr>
        <p:spPr bwMode="auto">
          <a:xfrm>
            <a:off x="6961295" y="3612631"/>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1" name="Text Box 51"/>
          <p:cNvSpPr txBox="1">
            <a:spLocks noChangeArrowheads="1"/>
          </p:cNvSpPr>
          <p:nvPr/>
        </p:nvSpPr>
        <p:spPr bwMode="auto">
          <a:xfrm>
            <a:off x="2839460" y="3879447"/>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70" name="Text Box 50"/>
          <p:cNvSpPr txBox="1">
            <a:spLocks noChangeArrowheads="1"/>
          </p:cNvSpPr>
          <p:nvPr/>
        </p:nvSpPr>
        <p:spPr bwMode="auto">
          <a:xfrm>
            <a:off x="3914782" y="3685505"/>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9" name="Text Box 49"/>
          <p:cNvSpPr txBox="1">
            <a:spLocks noChangeArrowheads="1"/>
          </p:cNvSpPr>
          <p:nvPr/>
        </p:nvSpPr>
        <p:spPr bwMode="auto">
          <a:xfrm>
            <a:off x="1911595" y="4684597"/>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8" name="Text Box 48"/>
          <p:cNvSpPr txBox="1">
            <a:spLocks noChangeArrowheads="1"/>
          </p:cNvSpPr>
          <p:nvPr/>
        </p:nvSpPr>
        <p:spPr bwMode="auto">
          <a:xfrm>
            <a:off x="3014739" y="4555303"/>
            <a:ext cx="393682" cy="3314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7" name="Text Box 47"/>
          <p:cNvSpPr txBox="1">
            <a:spLocks noChangeArrowheads="1"/>
          </p:cNvSpPr>
          <p:nvPr/>
        </p:nvSpPr>
        <p:spPr bwMode="auto">
          <a:xfrm>
            <a:off x="3130200" y="5587307"/>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6" name="Text Box 46"/>
          <p:cNvSpPr txBox="1">
            <a:spLocks noChangeArrowheads="1"/>
          </p:cNvSpPr>
          <p:nvPr/>
        </p:nvSpPr>
        <p:spPr bwMode="auto">
          <a:xfrm>
            <a:off x="3437634" y="4012267"/>
            <a:ext cx="395073"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⑥</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5" name="Text Box 45"/>
          <p:cNvSpPr txBox="1">
            <a:spLocks noChangeArrowheads="1"/>
          </p:cNvSpPr>
          <p:nvPr/>
        </p:nvSpPr>
        <p:spPr bwMode="auto">
          <a:xfrm>
            <a:off x="3970426" y="2524208"/>
            <a:ext cx="388117" cy="27034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①</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4" name="Text Box 44"/>
          <p:cNvSpPr txBox="1">
            <a:spLocks noChangeArrowheads="1"/>
          </p:cNvSpPr>
          <p:nvPr/>
        </p:nvSpPr>
        <p:spPr bwMode="auto">
          <a:xfrm>
            <a:off x="2538982" y="3265887"/>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②</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3" name="Text Box 43"/>
          <p:cNvSpPr txBox="1">
            <a:spLocks noChangeArrowheads="1"/>
          </p:cNvSpPr>
          <p:nvPr/>
        </p:nvSpPr>
        <p:spPr bwMode="auto">
          <a:xfrm>
            <a:off x="1538780" y="4162719"/>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③</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2" name="Text Box 42"/>
          <p:cNvSpPr txBox="1">
            <a:spLocks noChangeArrowheads="1"/>
          </p:cNvSpPr>
          <p:nvPr/>
        </p:nvSpPr>
        <p:spPr bwMode="auto">
          <a:xfrm>
            <a:off x="642910" y="5061902"/>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④</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1" name="Text Box 41"/>
          <p:cNvSpPr txBox="1">
            <a:spLocks noChangeArrowheads="1"/>
          </p:cNvSpPr>
          <p:nvPr/>
        </p:nvSpPr>
        <p:spPr bwMode="auto">
          <a:xfrm>
            <a:off x="2417956" y="5052498"/>
            <a:ext cx="395073"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⑤</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60" name="Text Box 40"/>
          <p:cNvSpPr txBox="1">
            <a:spLocks noChangeArrowheads="1"/>
          </p:cNvSpPr>
          <p:nvPr/>
        </p:nvSpPr>
        <p:spPr bwMode="auto">
          <a:xfrm>
            <a:off x="5543762" y="3270588"/>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⑦</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59" name="Text Box 39"/>
          <p:cNvSpPr txBox="1">
            <a:spLocks noChangeArrowheads="1"/>
          </p:cNvSpPr>
          <p:nvPr/>
        </p:nvSpPr>
        <p:spPr bwMode="auto">
          <a:xfrm>
            <a:off x="5165382" y="3811274"/>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⑧</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58" name="Text Box 38"/>
          <p:cNvSpPr txBox="1">
            <a:spLocks noChangeArrowheads="1"/>
          </p:cNvSpPr>
          <p:nvPr/>
        </p:nvSpPr>
        <p:spPr bwMode="auto">
          <a:xfrm>
            <a:off x="6434067" y="3941743"/>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⑨</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57" name="Text Box 37"/>
          <p:cNvSpPr txBox="1">
            <a:spLocks noChangeArrowheads="1"/>
          </p:cNvSpPr>
          <p:nvPr/>
        </p:nvSpPr>
        <p:spPr bwMode="auto">
          <a:xfrm>
            <a:off x="4405841" y="2447807"/>
            <a:ext cx="866656" cy="399637"/>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Fib(5)</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6" name="Text Box 36"/>
          <p:cNvSpPr txBox="1">
            <a:spLocks noChangeArrowheads="1"/>
          </p:cNvSpPr>
          <p:nvPr/>
        </p:nvSpPr>
        <p:spPr bwMode="auto">
          <a:xfrm>
            <a:off x="2981352" y="3251782"/>
            <a:ext cx="866656" cy="399637"/>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Fib(4)</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5" name="Text Box 35"/>
          <p:cNvSpPr txBox="1">
            <a:spLocks noChangeArrowheads="1"/>
          </p:cNvSpPr>
          <p:nvPr/>
        </p:nvSpPr>
        <p:spPr bwMode="auto">
          <a:xfrm>
            <a:off x="1944981" y="4130983"/>
            <a:ext cx="869439" cy="399637"/>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Fib(3)</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4" name="Text Box 34"/>
          <p:cNvSpPr txBox="1">
            <a:spLocks noChangeArrowheads="1"/>
          </p:cNvSpPr>
          <p:nvPr/>
        </p:nvSpPr>
        <p:spPr bwMode="auto">
          <a:xfrm>
            <a:off x="3832707" y="4130983"/>
            <a:ext cx="866656" cy="399637"/>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Fib(2)</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3" name="Text Box 33"/>
          <p:cNvSpPr txBox="1">
            <a:spLocks noChangeArrowheads="1"/>
          </p:cNvSpPr>
          <p:nvPr/>
        </p:nvSpPr>
        <p:spPr bwMode="auto">
          <a:xfrm>
            <a:off x="1061632" y="5014886"/>
            <a:ext cx="869439" cy="400812"/>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Fib(2)</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2" name="Text Box 32"/>
          <p:cNvSpPr txBox="1">
            <a:spLocks noChangeArrowheads="1"/>
          </p:cNvSpPr>
          <p:nvPr/>
        </p:nvSpPr>
        <p:spPr bwMode="auto">
          <a:xfrm>
            <a:off x="2829722" y="5014886"/>
            <a:ext cx="869439" cy="400812"/>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Fib(1)</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51" name="Freeform 31"/>
          <p:cNvSpPr>
            <a:spLocks/>
          </p:cNvSpPr>
          <p:nvPr/>
        </p:nvSpPr>
        <p:spPr bwMode="auto">
          <a:xfrm>
            <a:off x="1577730" y="4529444"/>
            <a:ext cx="619040" cy="479564"/>
          </a:xfrm>
          <a:custGeom>
            <a:avLst/>
            <a:gdLst/>
            <a:ahLst/>
            <a:cxnLst>
              <a:cxn ang="0">
                <a:pos x="444" y="0"/>
              </a:cxn>
              <a:cxn ang="0">
                <a:pos x="0" y="408"/>
              </a:cxn>
            </a:cxnLst>
            <a:rect l="0" t="0" r="r" b="b"/>
            <a:pathLst>
              <a:path w="444" h="408">
                <a:moveTo>
                  <a:pt x="444" y="0"/>
                </a:moveTo>
                <a:lnTo>
                  <a:pt x="0" y="408"/>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50" name="Freeform 30"/>
          <p:cNvSpPr>
            <a:spLocks/>
          </p:cNvSpPr>
          <p:nvPr/>
        </p:nvSpPr>
        <p:spPr bwMode="auto">
          <a:xfrm>
            <a:off x="2640532" y="4538848"/>
            <a:ext cx="566178" cy="470161"/>
          </a:xfrm>
          <a:custGeom>
            <a:avLst/>
            <a:gdLst/>
            <a:ahLst/>
            <a:cxnLst>
              <a:cxn ang="0">
                <a:pos x="0" y="0"/>
              </a:cxn>
              <a:cxn ang="0">
                <a:pos x="406" y="400"/>
              </a:cxn>
            </a:cxnLst>
            <a:rect l="0" t="0" r="r" b="b"/>
            <a:pathLst>
              <a:path w="406" h="400">
                <a:moveTo>
                  <a:pt x="0" y="0"/>
                </a:moveTo>
                <a:lnTo>
                  <a:pt x="406" y="40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9" name="Freeform 29"/>
          <p:cNvSpPr>
            <a:spLocks/>
          </p:cNvSpPr>
          <p:nvPr/>
        </p:nvSpPr>
        <p:spPr bwMode="auto">
          <a:xfrm>
            <a:off x="2516724" y="3654945"/>
            <a:ext cx="638516" cy="468986"/>
          </a:xfrm>
          <a:custGeom>
            <a:avLst/>
            <a:gdLst/>
            <a:ahLst/>
            <a:cxnLst>
              <a:cxn ang="0">
                <a:pos x="459" y="0"/>
              </a:cxn>
              <a:cxn ang="0">
                <a:pos x="0" y="398"/>
              </a:cxn>
            </a:cxnLst>
            <a:rect l="0" t="0" r="r" b="b"/>
            <a:pathLst>
              <a:path w="459" h="398">
                <a:moveTo>
                  <a:pt x="459" y="0"/>
                </a:moveTo>
                <a:lnTo>
                  <a:pt x="0" y="398"/>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8" name="Freeform 28"/>
          <p:cNvSpPr>
            <a:spLocks/>
          </p:cNvSpPr>
          <p:nvPr/>
        </p:nvSpPr>
        <p:spPr bwMode="auto">
          <a:xfrm>
            <a:off x="3658819" y="3661997"/>
            <a:ext cx="499406" cy="461933"/>
          </a:xfrm>
          <a:custGeom>
            <a:avLst/>
            <a:gdLst/>
            <a:ahLst/>
            <a:cxnLst>
              <a:cxn ang="0">
                <a:pos x="0" y="0"/>
              </a:cxn>
              <a:cxn ang="0">
                <a:pos x="358" y="393"/>
              </a:cxn>
            </a:cxnLst>
            <a:rect l="0" t="0" r="r" b="b"/>
            <a:pathLst>
              <a:path w="358" h="393">
                <a:moveTo>
                  <a:pt x="0" y="0"/>
                </a:moveTo>
                <a:lnTo>
                  <a:pt x="358" y="393"/>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7" name="Text Box 27"/>
          <p:cNvSpPr txBox="1">
            <a:spLocks noChangeArrowheads="1"/>
          </p:cNvSpPr>
          <p:nvPr/>
        </p:nvSpPr>
        <p:spPr bwMode="auto">
          <a:xfrm>
            <a:off x="5951355" y="3242379"/>
            <a:ext cx="868048" cy="399637"/>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Fib(3)</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46" name="Text Box 26"/>
          <p:cNvSpPr txBox="1">
            <a:spLocks noChangeArrowheads="1"/>
          </p:cNvSpPr>
          <p:nvPr/>
        </p:nvSpPr>
        <p:spPr bwMode="auto">
          <a:xfrm>
            <a:off x="5038792" y="4126281"/>
            <a:ext cx="868048" cy="398461"/>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Fib(2)</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45" name="Text Box 25"/>
          <p:cNvSpPr txBox="1">
            <a:spLocks noChangeArrowheads="1"/>
          </p:cNvSpPr>
          <p:nvPr/>
        </p:nvSpPr>
        <p:spPr bwMode="auto">
          <a:xfrm>
            <a:off x="6834705" y="4126281"/>
            <a:ext cx="869439" cy="398461"/>
          </a:xfrm>
          <a:prstGeom prst="rect">
            <a:avLst/>
          </a:prstGeom>
          <a:solidFill>
            <a:schemeClr val="tx1"/>
          </a:solidFill>
          <a:ln>
            <a:headEnd/>
            <a:tailEnd/>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chemeClr val="bg1"/>
                </a:solidFill>
                <a:effectLst/>
                <a:latin typeface="Consolas" pitchFamily="49" charset="0"/>
                <a:ea typeface="仿宋" pitchFamily="49" charset="-122"/>
                <a:cs typeface="Times New Roman" pitchFamily="18" charset="0"/>
              </a:rPr>
              <a:t>Fib(1)</a:t>
            </a:r>
            <a:endParaRPr kumimoji="0" lang="en-US" altLang="zh-CN" sz="200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107544" name="Freeform 24"/>
          <p:cNvSpPr>
            <a:spLocks/>
          </p:cNvSpPr>
          <p:nvPr/>
        </p:nvSpPr>
        <p:spPr bwMode="auto">
          <a:xfrm>
            <a:off x="5538198" y="3636139"/>
            <a:ext cx="605129" cy="484266"/>
          </a:xfrm>
          <a:custGeom>
            <a:avLst/>
            <a:gdLst/>
            <a:ahLst/>
            <a:cxnLst>
              <a:cxn ang="0">
                <a:pos x="435" y="0"/>
              </a:cxn>
              <a:cxn ang="0">
                <a:pos x="0" y="411"/>
              </a:cxn>
            </a:cxnLst>
            <a:rect l="0" t="0" r="r" b="b"/>
            <a:pathLst>
              <a:path w="435" h="411">
                <a:moveTo>
                  <a:pt x="435" y="0"/>
                </a:moveTo>
                <a:lnTo>
                  <a:pt x="0" y="411"/>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3" name="Freeform 23"/>
          <p:cNvSpPr>
            <a:spLocks/>
          </p:cNvSpPr>
          <p:nvPr/>
        </p:nvSpPr>
        <p:spPr bwMode="auto">
          <a:xfrm>
            <a:off x="6617693" y="3650243"/>
            <a:ext cx="581481" cy="477213"/>
          </a:xfrm>
          <a:custGeom>
            <a:avLst/>
            <a:gdLst/>
            <a:ahLst/>
            <a:cxnLst>
              <a:cxn ang="0">
                <a:pos x="0" y="0"/>
              </a:cxn>
              <a:cxn ang="0">
                <a:pos x="418" y="406"/>
              </a:cxn>
            </a:cxnLst>
            <a:rect l="0" t="0" r="r" b="b"/>
            <a:pathLst>
              <a:path w="418" h="406">
                <a:moveTo>
                  <a:pt x="0" y="0"/>
                </a:moveTo>
                <a:lnTo>
                  <a:pt x="418" y="40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2" name="Freeform 22"/>
          <p:cNvSpPr>
            <a:spLocks/>
          </p:cNvSpPr>
          <p:nvPr/>
        </p:nvSpPr>
        <p:spPr bwMode="auto">
          <a:xfrm>
            <a:off x="3722810" y="2843917"/>
            <a:ext cx="840226" cy="391409"/>
          </a:xfrm>
          <a:custGeom>
            <a:avLst/>
            <a:gdLst/>
            <a:ahLst/>
            <a:cxnLst>
              <a:cxn ang="0">
                <a:pos x="603" y="0"/>
              </a:cxn>
              <a:cxn ang="0">
                <a:pos x="0" y="333"/>
              </a:cxn>
            </a:cxnLst>
            <a:rect l="0" t="0" r="r" b="b"/>
            <a:pathLst>
              <a:path w="603" h="333">
                <a:moveTo>
                  <a:pt x="603" y="0"/>
                </a:moveTo>
                <a:lnTo>
                  <a:pt x="0" y="333"/>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1" name="Freeform 21"/>
          <p:cNvSpPr>
            <a:spLocks/>
          </p:cNvSpPr>
          <p:nvPr/>
        </p:nvSpPr>
        <p:spPr bwMode="auto">
          <a:xfrm>
            <a:off x="5108347" y="2847444"/>
            <a:ext cx="880567" cy="380830"/>
          </a:xfrm>
          <a:custGeom>
            <a:avLst/>
            <a:gdLst/>
            <a:ahLst/>
            <a:cxnLst>
              <a:cxn ang="0">
                <a:pos x="0" y="0"/>
              </a:cxn>
              <a:cxn ang="0">
                <a:pos x="633" y="324"/>
              </a:cxn>
            </a:cxnLst>
            <a:rect l="0" t="0" r="r" b="b"/>
            <a:pathLst>
              <a:path w="633" h="324">
                <a:moveTo>
                  <a:pt x="0" y="0"/>
                </a:moveTo>
                <a:lnTo>
                  <a:pt x="633" y="324"/>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40" name="Freeform 20"/>
          <p:cNvSpPr>
            <a:spLocks/>
          </p:cNvSpPr>
          <p:nvPr/>
        </p:nvSpPr>
        <p:spPr bwMode="auto">
          <a:xfrm>
            <a:off x="3063427" y="5421575"/>
            <a:ext cx="450717" cy="188064"/>
          </a:xfrm>
          <a:custGeom>
            <a:avLst/>
            <a:gdLst/>
            <a:ahLst/>
            <a:cxnLst>
              <a:cxn ang="0">
                <a:pos x="0" y="0"/>
              </a:cxn>
              <a:cxn ang="0">
                <a:pos x="39" y="105"/>
              </a:cxn>
              <a:cxn ang="0">
                <a:pos x="153" y="159"/>
              </a:cxn>
              <a:cxn ang="0">
                <a:pos x="261" y="135"/>
              </a:cxn>
              <a:cxn ang="0">
                <a:pos x="324" y="3"/>
              </a:cxn>
            </a:cxnLst>
            <a:rect l="0" t="0" r="r" b="b"/>
            <a:pathLst>
              <a:path w="324" h="160">
                <a:moveTo>
                  <a:pt x="0" y="0"/>
                </a:moveTo>
                <a:cubicBezTo>
                  <a:pt x="6" y="17"/>
                  <a:pt x="14" y="79"/>
                  <a:pt x="39" y="105"/>
                </a:cubicBezTo>
                <a:cubicBezTo>
                  <a:pt x="64" y="131"/>
                  <a:pt x="116" y="154"/>
                  <a:pt x="153" y="159"/>
                </a:cubicBezTo>
                <a:cubicBezTo>
                  <a:pt x="186" y="160"/>
                  <a:pt x="230" y="159"/>
                  <a:pt x="261" y="135"/>
                </a:cubicBezTo>
                <a:cubicBezTo>
                  <a:pt x="289" y="109"/>
                  <a:pt x="311" y="30"/>
                  <a:pt x="324" y="3"/>
                </a:cubicBez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9" name="Text Box 19"/>
          <p:cNvSpPr txBox="1">
            <a:spLocks noChangeArrowheads="1"/>
          </p:cNvSpPr>
          <p:nvPr/>
        </p:nvSpPr>
        <p:spPr bwMode="auto">
          <a:xfrm>
            <a:off x="1364892" y="5597885"/>
            <a:ext cx="395073"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38" name="Freeform 18"/>
          <p:cNvSpPr>
            <a:spLocks/>
          </p:cNvSpPr>
          <p:nvPr/>
        </p:nvSpPr>
        <p:spPr bwMode="auto">
          <a:xfrm>
            <a:off x="1299510" y="5432153"/>
            <a:ext cx="450717" cy="188064"/>
          </a:xfrm>
          <a:custGeom>
            <a:avLst/>
            <a:gdLst/>
            <a:ahLst/>
            <a:cxnLst>
              <a:cxn ang="0">
                <a:pos x="0" y="0"/>
              </a:cxn>
              <a:cxn ang="0">
                <a:pos x="39" y="105"/>
              </a:cxn>
              <a:cxn ang="0">
                <a:pos x="153" y="159"/>
              </a:cxn>
              <a:cxn ang="0">
                <a:pos x="261" y="135"/>
              </a:cxn>
              <a:cxn ang="0">
                <a:pos x="324" y="3"/>
              </a:cxn>
            </a:cxnLst>
            <a:rect l="0" t="0" r="r" b="b"/>
            <a:pathLst>
              <a:path w="324" h="160">
                <a:moveTo>
                  <a:pt x="0" y="0"/>
                </a:moveTo>
                <a:cubicBezTo>
                  <a:pt x="6" y="17"/>
                  <a:pt x="14" y="79"/>
                  <a:pt x="39" y="105"/>
                </a:cubicBezTo>
                <a:cubicBezTo>
                  <a:pt x="64" y="131"/>
                  <a:pt x="116" y="154"/>
                  <a:pt x="153" y="159"/>
                </a:cubicBezTo>
                <a:cubicBezTo>
                  <a:pt x="186" y="160"/>
                  <a:pt x="230" y="159"/>
                  <a:pt x="261" y="135"/>
                </a:cubicBezTo>
                <a:cubicBezTo>
                  <a:pt x="289" y="109"/>
                  <a:pt x="311" y="30"/>
                  <a:pt x="324" y="3"/>
                </a:cubicBez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7" name="Text Box 17"/>
          <p:cNvSpPr txBox="1">
            <a:spLocks noChangeArrowheads="1"/>
          </p:cNvSpPr>
          <p:nvPr/>
        </p:nvSpPr>
        <p:spPr bwMode="auto">
          <a:xfrm>
            <a:off x="4148487" y="4690474"/>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36" name="Freeform 16"/>
          <p:cNvSpPr>
            <a:spLocks/>
          </p:cNvSpPr>
          <p:nvPr/>
        </p:nvSpPr>
        <p:spPr bwMode="auto">
          <a:xfrm>
            <a:off x="4081714" y="4524743"/>
            <a:ext cx="450717" cy="188064"/>
          </a:xfrm>
          <a:custGeom>
            <a:avLst/>
            <a:gdLst/>
            <a:ahLst/>
            <a:cxnLst>
              <a:cxn ang="0">
                <a:pos x="0" y="0"/>
              </a:cxn>
              <a:cxn ang="0">
                <a:pos x="39" y="105"/>
              </a:cxn>
              <a:cxn ang="0">
                <a:pos x="153" y="159"/>
              </a:cxn>
              <a:cxn ang="0">
                <a:pos x="261" y="135"/>
              </a:cxn>
              <a:cxn ang="0">
                <a:pos x="324" y="3"/>
              </a:cxn>
            </a:cxnLst>
            <a:rect l="0" t="0" r="r" b="b"/>
            <a:pathLst>
              <a:path w="324" h="160">
                <a:moveTo>
                  <a:pt x="0" y="0"/>
                </a:moveTo>
                <a:cubicBezTo>
                  <a:pt x="6" y="17"/>
                  <a:pt x="14" y="79"/>
                  <a:pt x="39" y="105"/>
                </a:cubicBezTo>
                <a:cubicBezTo>
                  <a:pt x="64" y="131"/>
                  <a:pt x="116" y="154"/>
                  <a:pt x="153" y="159"/>
                </a:cubicBezTo>
                <a:cubicBezTo>
                  <a:pt x="186" y="160"/>
                  <a:pt x="230" y="159"/>
                  <a:pt x="261" y="135"/>
                </a:cubicBezTo>
                <a:cubicBezTo>
                  <a:pt x="289" y="109"/>
                  <a:pt x="311" y="30"/>
                  <a:pt x="324" y="3"/>
                </a:cubicBez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5" name="Text Box 15"/>
          <p:cNvSpPr txBox="1">
            <a:spLocks noChangeArrowheads="1"/>
          </p:cNvSpPr>
          <p:nvPr/>
        </p:nvSpPr>
        <p:spPr bwMode="auto">
          <a:xfrm>
            <a:off x="5337879" y="4690474"/>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34" name="Freeform 14"/>
          <p:cNvSpPr>
            <a:spLocks/>
          </p:cNvSpPr>
          <p:nvPr/>
        </p:nvSpPr>
        <p:spPr bwMode="auto">
          <a:xfrm>
            <a:off x="5271106" y="4524743"/>
            <a:ext cx="450717" cy="188064"/>
          </a:xfrm>
          <a:custGeom>
            <a:avLst/>
            <a:gdLst/>
            <a:ahLst/>
            <a:cxnLst>
              <a:cxn ang="0">
                <a:pos x="0" y="0"/>
              </a:cxn>
              <a:cxn ang="0">
                <a:pos x="39" y="105"/>
              </a:cxn>
              <a:cxn ang="0">
                <a:pos x="153" y="159"/>
              </a:cxn>
              <a:cxn ang="0">
                <a:pos x="261" y="135"/>
              </a:cxn>
              <a:cxn ang="0">
                <a:pos x="324" y="3"/>
              </a:cxn>
            </a:cxnLst>
            <a:rect l="0" t="0" r="r" b="b"/>
            <a:pathLst>
              <a:path w="324" h="160">
                <a:moveTo>
                  <a:pt x="0" y="0"/>
                </a:moveTo>
                <a:cubicBezTo>
                  <a:pt x="6" y="17"/>
                  <a:pt x="14" y="79"/>
                  <a:pt x="39" y="105"/>
                </a:cubicBezTo>
                <a:cubicBezTo>
                  <a:pt x="64" y="131"/>
                  <a:pt x="116" y="154"/>
                  <a:pt x="153" y="159"/>
                </a:cubicBezTo>
                <a:cubicBezTo>
                  <a:pt x="186" y="160"/>
                  <a:pt x="230" y="159"/>
                  <a:pt x="261" y="135"/>
                </a:cubicBezTo>
                <a:cubicBezTo>
                  <a:pt x="289" y="109"/>
                  <a:pt x="311" y="30"/>
                  <a:pt x="324" y="3"/>
                </a:cubicBez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3" name="Text Box 13"/>
          <p:cNvSpPr txBox="1">
            <a:spLocks noChangeArrowheads="1"/>
          </p:cNvSpPr>
          <p:nvPr/>
        </p:nvSpPr>
        <p:spPr bwMode="auto">
          <a:xfrm>
            <a:off x="7164396" y="4681071"/>
            <a:ext cx="393682" cy="3326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7532" name="Freeform 12"/>
          <p:cNvSpPr>
            <a:spLocks/>
          </p:cNvSpPr>
          <p:nvPr/>
        </p:nvSpPr>
        <p:spPr bwMode="auto">
          <a:xfrm>
            <a:off x="7097623" y="4515340"/>
            <a:ext cx="450717" cy="188064"/>
          </a:xfrm>
          <a:custGeom>
            <a:avLst/>
            <a:gdLst/>
            <a:ahLst/>
            <a:cxnLst>
              <a:cxn ang="0">
                <a:pos x="0" y="0"/>
              </a:cxn>
              <a:cxn ang="0">
                <a:pos x="39" y="105"/>
              </a:cxn>
              <a:cxn ang="0">
                <a:pos x="153" y="159"/>
              </a:cxn>
              <a:cxn ang="0">
                <a:pos x="261" y="135"/>
              </a:cxn>
              <a:cxn ang="0">
                <a:pos x="324" y="3"/>
              </a:cxn>
            </a:cxnLst>
            <a:rect l="0" t="0" r="r" b="b"/>
            <a:pathLst>
              <a:path w="324" h="160">
                <a:moveTo>
                  <a:pt x="0" y="0"/>
                </a:moveTo>
                <a:cubicBezTo>
                  <a:pt x="6" y="17"/>
                  <a:pt x="14" y="79"/>
                  <a:pt x="39" y="105"/>
                </a:cubicBezTo>
                <a:cubicBezTo>
                  <a:pt x="64" y="131"/>
                  <a:pt x="116" y="154"/>
                  <a:pt x="153" y="159"/>
                </a:cubicBezTo>
                <a:cubicBezTo>
                  <a:pt x="186" y="160"/>
                  <a:pt x="230" y="159"/>
                  <a:pt x="261" y="135"/>
                </a:cubicBezTo>
                <a:cubicBezTo>
                  <a:pt x="289" y="109"/>
                  <a:pt x="311" y="30"/>
                  <a:pt x="324" y="3"/>
                </a:cubicBez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1" name="Freeform 11"/>
          <p:cNvSpPr>
            <a:spLocks/>
          </p:cNvSpPr>
          <p:nvPr/>
        </p:nvSpPr>
        <p:spPr bwMode="auto">
          <a:xfrm>
            <a:off x="1676499" y="4551777"/>
            <a:ext cx="617649" cy="479564"/>
          </a:xfrm>
          <a:custGeom>
            <a:avLst/>
            <a:gdLst/>
            <a:ahLst/>
            <a:cxnLst>
              <a:cxn ang="0">
                <a:pos x="444" y="0"/>
              </a:cxn>
              <a:cxn ang="0">
                <a:pos x="0" y="408"/>
              </a:cxn>
            </a:cxnLst>
            <a:rect l="0" t="0" r="r" b="b"/>
            <a:pathLst>
              <a:path w="444" h="408">
                <a:moveTo>
                  <a:pt x="444" y="0"/>
                </a:moveTo>
                <a:lnTo>
                  <a:pt x="0" y="408"/>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30" name="Freeform 10"/>
          <p:cNvSpPr>
            <a:spLocks/>
          </p:cNvSpPr>
          <p:nvPr/>
        </p:nvSpPr>
        <p:spPr bwMode="auto">
          <a:xfrm>
            <a:off x="2762949" y="4554128"/>
            <a:ext cx="564787" cy="470161"/>
          </a:xfrm>
          <a:custGeom>
            <a:avLst/>
            <a:gdLst/>
            <a:ahLst/>
            <a:cxnLst>
              <a:cxn ang="0">
                <a:pos x="0" y="0"/>
              </a:cxn>
              <a:cxn ang="0">
                <a:pos x="406" y="400"/>
              </a:cxn>
            </a:cxnLst>
            <a:rect l="0" t="0" r="r" b="b"/>
            <a:pathLst>
              <a:path w="406" h="400">
                <a:moveTo>
                  <a:pt x="0" y="0"/>
                </a:moveTo>
                <a:lnTo>
                  <a:pt x="406" y="400"/>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9" name="Freeform 9"/>
          <p:cNvSpPr>
            <a:spLocks/>
          </p:cNvSpPr>
          <p:nvPr/>
        </p:nvSpPr>
        <p:spPr bwMode="auto">
          <a:xfrm>
            <a:off x="2601581" y="3684330"/>
            <a:ext cx="638516" cy="467810"/>
          </a:xfrm>
          <a:custGeom>
            <a:avLst/>
            <a:gdLst/>
            <a:ahLst/>
            <a:cxnLst>
              <a:cxn ang="0">
                <a:pos x="459" y="0"/>
              </a:cxn>
              <a:cxn ang="0">
                <a:pos x="0" y="398"/>
              </a:cxn>
            </a:cxnLst>
            <a:rect l="0" t="0" r="r" b="b"/>
            <a:pathLst>
              <a:path w="459" h="398">
                <a:moveTo>
                  <a:pt x="459" y="0"/>
                </a:moveTo>
                <a:lnTo>
                  <a:pt x="0" y="398"/>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8" name="Freeform 8"/>
          <p:cNvSpPr>
            <a:spLocks/>
          </p:cNvSpPr>
          <p:nvPr/>
        </p:nvSpPr>
        <p:spPr bwMode="auto">
          <a:xfrm>
            <a:off x="3810449" y="3679628"/>
            <a:ext cx="496623" cy="461933"/>
          </a:xfrm>
          <a:custGeom>
            <a:avLst/>
            <a:gdLst/>
            <a:ahLst/>
            <a:cxnLst>
              <a:cxn ang="0">
                <a:pos x="0" y="0"/>
              </a:cxn>
              <a:cxn ang="0">
                <a:pos x="358" y="393"/>
              </a:cxn>
            </a:cxnLst>
            <a:rect l="0" t="0" r="r" b="b"/>
            <a:pathLst>
              <a:path w="358" h="393">
                <a:moveTo>
                  <a:pt x="0" y="0"/>
                </a:moveTo>
                <a:lnTo>
                  <a:pt x="358" y="393"/>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7" name="Freeform 7"/>
          <p:cNvSpPr>
            <a:spLocks/>
          </p:cNvSpPr>
          <p:nvPr/>
        </p:nvSpPr>
        <p:spPr bwMode="auto">
          <a:xfrm>
            <a:off x="3824360" y="2860373"/>
            <a:ext cx="838834" cy="385532"/>
          </a:xfrm>
          <a:custGeom>
            <a:avLst/>
            <a:gdLst/>
            <a:ahLst/>
            <a:cxnLst>
              <a:cxn ang="0">
                <a:pos x="603" y="0"/>
              </a:cxn>
              <a:cxn ang="0">
                <a:pos x="0" y="327"/>
              </a:cxn>
            </a:cxnLst>
            <a:rect l="0" t="0" r="r" b="b"/>
            <a:pathLst>
              <a:path w="603" h="327">
                <a:moveTo>
                  <a:pt x="603" y="0"/>
                </a:moveTo>
                <a:lnTo>
                  <a:pt x="0" y="327"/>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6" name="Freeform 6"/>
          <p:cNvSpPr>
            <a:spLocks/>
          </p:cNvSpPr>
          <p:nvPr/>
        </p:nvSpPr>
        <p:spPr bwMode="auto">
          <a:xfrm>
            <a:off x="5241893" y="2828637"/>
            <a:ext cx="877785" cy="374953"/>
          </a:xfrm>
          <a:custGeom>
            <a:avLst/>
            <a:gdLst/>
            <a:ahLst/>
            <a:cxnLst>
              <a:cxn ang="0">
                <a:pos x="0" y="0"/>
              </a:cxn>
              <a:cxn ang="0">
                <a:pos x="630" y="318"/>
              </a:cxn>
            </a:cxnLst>
            <a:rect l="0" t="0" r="r" b="b"/>
            <a:pathLst>
              <a:path w="630" h="318">
                <a:moveTo>
                  <a:pt x="0" y="0"/>
                </a:moveTo>
                <a:lnTo>
                  <a:pt x="630" y="318"/>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5" name="Freeform 5"/>
          <p:cNvSpPr>
            <a:spLocks/>
          </p:cNvSpPr>
          <p:nvPr/>
        </p:nvSpPr>
        <p:spPr bwMode="auto">
          <a:xfrm>
            <a:off x="5617490" y="3667874"/>
            <a:ext cx="605129" cy="484266"/>
          </a:xfrm>
          <a:custGeom>
            <a:avLst/>
            <a:gdLst/>
            <a:ahLst/>
            <a:cxnLst>
              <a:cxn ang="0">
                <a:pos x="435" y="0"/>
              </a:cxn>
              <a:cxn ang="0">
                <a:pos x="0" y="411"/>
              </a:cxn>
            </a:cxnLst>
            <a:rect l="0" t="0" r="r" b="b"/>
            <a:pathLst>
              <a:path w="435" h="411">
                <a:moveTo>
                  <a:pt x="435" y="0"/>
                </a:moveTo>
                <a:lnTo>
                  <a:pt x="0" y="411"/>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4" name="Freeform 4"/>
          <p:cNvSpPr>
            <a:spLocks/>
          </p:cNvSpPr>
          <p:nvPr/>
        </p:nvSpPr>
        <p:spPr bwMode="auto">
          <a:xfrm>
            <a:off x="6747065" y="3645542"/>
            <a:ext cx="581481" cy="478389"/>
          </a:xfrm>
          <a:custGeom>
            <a:avLst/>
            <a:gdLst/>
            <a:ahLst/>
            <a:cxnLst>
              <a:cxn ang="0">
                <a:pos x="0" y="0"/>
              </a:cxn>
              <a:cxn ang="0">
                <a:pos x="418" y="406"/>
              </a:cxn>
            </a:cxnLst>
            <a:rect l="0" t="0" r="r" b="b"/>
            <a:pathLst>
              <a:path w="418" h="406">
                <a:moveTo>
                  <a:pt x="0" y="0"/>
                </a:moveTo>
                <a:lnTo>
                  <a:pt x="418" y="406"/>
                </a:lnTo>
              </a:path>
            </a:pathLst>
          </a:custGeom>
          <a:noFill/>
          <a:ln w="19050">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3" name="Freeform 3"/>
          <p:cNvSpPr>
            <a:spLocks/>
          </p:cNvSpPr>
          <p:nvPr/>
        </p:nvSpPr>
        <p:spPr bwMode="auto">
          <a:xfrm>
            <a:off x="4553297" y="2092835"/>
            <a:ext cx="1391" cy="359673"/>
          </a:xfrm>
          <a:custGeom>
            <a:avLst/>
            <a:gdLst/>
            <a:ahLst/>
            <a:cxnLst>
              <a:cxn ang="0">
                <a:pos x="0" y="0"/>
              </a:cxn>
              <a:cxn ang="0">
                <a:pos x="1" y="306"/>
              </a:cxn>
            </a:cxnLst>
            <a:rect l="0" t="0" r="r" b="b"/>
            <a:pathLst>
              <a:path w="1" h="306">
                <a:moveTo>
                  <a:pt x="0" y="0"/>
                </a:moveTo>
                <a:lnTo>
                  <a:pt x="1" y="306"/>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107522" name="Freeform 2"/>
          <p:cNvSpPr>
            <a:spLocks/>
          </p:cNvSpPr>
          <p:nvPr/>
        </p:nvSpPr>
        <p:spPr bwMode="auto">
          <a:xfrm>
            <a:off x="5054094" y="2082257"/>
            <a:ext cx="1391" cy="359673"/>
          </a:xfrm>
          <a:custGeom>
            <a:avLst/>
            <a:gdLst/>
            <a:ahLst/>
            <a:cxnLst>
              <a:cxn ang="0">
                <a:pos x="0" y="0"/>
              </a:cxn>
              <a:cxn ang="0">
                <a:pos x="1" y="306"/>
              </a:cxn>
            </a:cxnLst>
            <a:rect l="0" t="0" r="r" b="b"/>
            <a:pathLst>
              <a:path w="1" h="306">
                <a:moveTo>
                  <a:pt x="0" y="0"/>
                </a:moveTo>
                <a:lnTo>
                  <a:pt x="1" y="306"/>
                </a:lnTo>
              </a:path>
            </a:pathLst>
          </a:custGeom>
          <a:noFill/>
          <a:ln w="28575">
            <a:solidFill>
              <a:srgbClr val="FF00FF"/>
            </a:solidFill>
            <a:prstDash val="dash"/>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61" name="灯片编号占位符 60"/>
          <p:cNvSpPr>
            <a:spLocks noGrp="1"/>
          </p:cNvSpPr>
          <p:nvPr>
            <p:ph type="sldNum" sz="quarter" idx="12"/>
          </p:nvPr>
        </p:nvSpPr>
        <p:spPr/>
        <p:txBody>
          <a:bodyPr/>
          <a:lstStyle/>
          <a:p>
            <a:fld id="{7AF016A1-9F15-429F-9EFD-84004B73C732}" type="slidenum">
              <a:rPr lang="en-US" altLang="zh-CN" smtClean="0"/>
              <a:pPr/>
              <a:t>23</a:t>
            </a:fld>
            <a:r>
              <a:rPr lang="en-US" altLang="zh-CN"/>
              <a:t>/91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628654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2.1.4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递归算法的时间和空间分析</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357158" y="1214422"/>
            <a:ext cx="450059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rPr>
              <a:t>1. </a:t>
            </a:r>
            <a:r>
              <a:rPr lang="zh-CN" altLang="en-US"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rPr>
              <a:t>递归算法的时间复杂度分析</a:t>
            </a:r>
            <a:endParaRPr lang="zh-CN" altLang="en-US"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5" name="圆角矩形 4"/>
          <p:cNvSpPr/>
          <p:nvPr/>
        </p:nvSpPr>
        <p:spPr>
          <a:xfrm>
            <a:off x="2071670" y="2428868"/>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en-US">
                <a:solidFill>
                  <a:srgbClr val="0000FF"/>
                </a:solidFill>
                <a:latin typeface="Consolas" pitchFamily="49" charset="0"/>
                <a:ea typeface="仿宋" pitchFamily="49" charset="-122"/>
              </a:rPr>
              <a:t>时间</a:t>
            </a:r>
            <a:r>
              <a:rPr lang="zh-CN" altLang="zh-CN">
                <a:solidFill>
                  <a:srgbClr val="0000FF"/>
                </a:solidFill>
                <a:latin typeface="Consolas" pitchFamily="49" charset="0"/>
                <a:ea typeface="仿宋" pitchFamily="49" charset="-122"/>
              </a:rPr>
              <a:t>递推式</a:t>
            </a:r>
            <a:endParaRPr lang="zh-CN" altLang="en-US">
              <a:solidFill>
                <a:srgbClr val="0000FF"/>
              </a:solidFill>
              <a:latin typeface="Consolas" pitchFamily="49" charset="0"/>
              <a:ea typeface="仿宋" pitchFamily="49" charset="-122"/>
            </a:endParaRPr>
          </a:p>
        </p:txBody>
      </p:sp>
      <p:sp>
        <p:nvSpPr>
          <p:cNvPr id="6" name="圆角矩形 5"/>
          <p:cNvSpPr/>
          <p:nvPr/>
        </p:nvSpPr>
        <p:spPr>
          <a:xfrm>
            <a:off x="2071670" y="3500438"/>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zh-CN">
                <a:solidFill>
                  <a:srgbClr val="0000FF"/>
                </a:solidFill>
                <a:latin typeface="Consolas" pitchFamily="49" charset="0"/>
                <a:ea typeface="仿宋" pitchFamily="49" charset="-122"/>
              </a:rPr>
              <a:t>求解递推式</a:t>
            </a:r>
            <a:endParaRPr lang="zh-CN" altLang="en-US">
              <a:solidFill>
                <a:srgbClr val="0000FF"/>
              </a:solidFill>
              <a:latin typeface="Consolas" pitchFamily="49" charset="0"/>
              <a:ea typeface="仿宋" pitchFamily="49" charset="-122"/>
            </a:endParaRPr>
          </a:p>
        </p:txBody>
      </p:sp>
      <p:sp>
        <p:nvSpPr>
          <p:cNvPr id="7" name="圆角矩形 6"/>
          <p:cNvSpPr/>
          <p:nvPr/>
        </p:nvSpPr>
        <p:spPr>
          <a:xfrm>
            <a:off x="2071670" y="4643446"/>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en-US">
                <a:solidFill>
                  <a:srgbClr val="0000FF"/>
                </a:solidFill>
                <a:latin typeface="Consolas" pitchFamily="49" charset="0"/>
                <a:ea typeface="仿宋" pitchFamily="49" charset="-122"/>
              </a:rPr>
              <a:t>复杂度符号表示</a:t>
            </a:r>
          </a:p>
        </p:txBody>
      </p:sp>
      <p:cxnSp>
        <p:nvCxnSpPr>
          <p:cNvPr id="9" name="直接箭头连接符 8"/>
          <p:cNvCxnSpPr>
            <a:stCxn id="5" idx="2"/>
            <a:endCxn id="6" idx="0"/>
          </p:cNvCxnSpPr>
          <p:nvPr/>
        </p:nvCxnSpPr>
        <p:spPr>
          <a:xfrm rot="5400000">
            <a:off x="3250397" y="3321843"/>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a:stCxn id="6" idx="2"/>
            <a:endCxn id="7" idx="0"/>
          </p:cNvCxnSpPr>
          <p:nvPr/>
        </p:nvCxnSpPr>
        <p:spPr>
          <a:xfrm rot="5400000">
            <a:off x="3214678" y="4429132"/>
            <a:ext cx="428628"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0" name="灯片编号占位符 9"/>
          <p:cNvSpPr>
            <a:spLocks noGrp="1"/>
          </p:cNvSpPr>
          <p:nvPr>
            <p:ph type="sldNum" sz="quarter" idx="12"/>
          </p:nvPr>
        </p:nvSpPr>
        <p:spPr/>
        <p:txBody>
          <a:bodyPr/>
          <a:lstStyle/>
          <a:p>
            <a:fld id="{7AF016A1-9F15-429F-9EFD-84004B73C732}" type="slidenum">
              <a:rPr lang="en-US" altLang="zh-CN" smtClean="0"/>
              <a:pPr/>
              <a:t>24</a:t>
            </a:fld>
            <a:r>
              <a:rPr lang="en-US" altLang="zh-CN"/>
              <a:t>/91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000504"/>
            <a:ext cx="8429684"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Hanoi(n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的执行时间为</a:t>
            </a:r>
            <a:r>
              <a:rPr lang="en-US" altLang="zh-CN">
                <a:solidFill>
                  <a:srgbClr val="0000FF"/>
                </a:solidFill>
                <a:latin typeface="Consolas" pitchFamily="49" charset="0"/>
                <a:ea typeface="仿宋" pitchFamily="49" charset="-122"/>
              </a:rPr>
              <a:t>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，则两个问题规模为</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的子问题的执行时间均为</a:t>
            </a:r>
            <a:r>
              <a:rPr lang="en-US" altLang="zh-CN">
                <a:solidFill>
                  <a:srgbClr val="0000FF"/>
                </a:solidFill>
                <a:latin typeface="Consolas" pitchFamily="49" charset="0"/>
                <a:ea typeface="仿宋" pitchFamily="49" charset="-122"/>
              </a:rPr>
              <a:t>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，总时间是</a:t>
            </a:r>
            <a:r>
              <a:rPr lang="zh-CN" altLang="zh-CN">
                <a:solidFill>
                  <a:srgbClr val="FF0000"/>
                </a:solidFill>
                <a:latin typeface="Consolas" pitchFamily="49" charset="0"/>
                <a:ea typeface="仿宋" pitchFamily="49" charset="-122"/>
              </a:rPr>
              <a:t>累加</a:t>
            </a:r>
            <a:r>
              <a:rPr lang="zh-CN" altLang="zh-CN">
                <a:solidFill>
                  <a:srgbClr val="0000FF"/>
                </a:solidFill>
                <a:latin typeface="Consolas" pitchFamily="49" charset="0"/>
                <a:ea typeface="仿宋" pitchFamily="49" charset="-122"/>
              </a:rPr>
              <a:t>关系。</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785918" y="5214950"/>
            <a:ext cx="6143668" cy="1038847"/>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							</a:t>
            </a:r>
            <a:r>
              <a:rPr lang="zh-CN" altLang="zh-CN" sz="2000">
                <a:solidFill>
                  <a:srgbClr val="0000FF"/>
                </a:solidFill>
                <a:latin typeface="Consolas" pitchFamily="49" charset="0"/>
                <a:ea typeface="仿宋" pitchFamily="49" charset="-122"/>
              </a:rPr>
              <a:t>当</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时</a:t>
            </a:r>
          </a:p>
          <a:p>
            <a:pPr algn="l" defTabSz="360000">
              <a:lnSpc>
                <a:spcPts val="3200"/>
              </a:lnSpc>
              <a:spcBef>
                <a:spcPts val="0"/>
              </a:spcBef>
            </a:pPr>
            <a:r>
              <a:rPr lang="en-US" altLang="zh-CN" sz="2000">
                <a:solidFill>
                  <a:srgbClr val="0000FF"/>
                </a:solidFill>
                <a:latin typeface="Consolas" pitchFamily="49" charset="0"/>
                <a:ea typeface="仿宋" pitchFamily="49" charset="-122"/>
              </a:rPr>
              <a:t>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)=2T(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-1)+1				</a:t>
            </a:r>
            <a:r>
              <a:rPr lang="zh-CN" altLang="zh-CN" sz="2000">
                <a:solidFill>
                  <a:srgbClr val="0000FF"/>
                </a:solidFill>
                <a:latin typeface="Consolas" pitchFamily="49" charset="0"/>
                <a:ea typeface="仿宋" pitchFamily="49" charset="-122"/>
              </a:rPr>
              <a:t>当</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&gt;1</a:t>
            </a:r>
            <a:r>
              <a:rPr lang="zh-CN" altLang="zh-CN" sz="2000">
                <a:solidFill>
                  <a:srgbClr val="0000FF"/>
                </a:solidFill>
                <a:latin typeface="Consolas" pitchFamily="49" charset="0"/>
                <a:ea typeface="仿宋" pitchFamily="49" charset="-122"/>
              </a:rPr>
              <a:t>时</a:t>
            </a:r>
          </a:p>
        </p:txBody>
      </p:sp>
      <p:sp>
        <p:nvSpPr>
          <p:cNvPr id="5" name="TextBox 4"/>
          <p:cNvSpPr txBox="1"/>
          <p:nvPr/>
        </p:nvSpPr>
        <p:spPr>
          <a:xfrm>
            <a:off x="1357290" y="214290"/>
            <a:ext cx="7215238" cy="36503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(int n,char x,char y,char z)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n==1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(n-1,x,z,y);</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(n-1,y,x,z);</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6" name="组合 5"/>
          <p:cNvGrpSpPr/>
          <p:nvPr/>
        </p:nvGrpSpPr>
        <p:grpSpPr>
          <a:xfrm>
            <a:off x="0" y="1142984"/>
            <a:ext cx="785818" cy="714379"/>
            <a:chOff x="214282" y="142852"/>
            <a:chExt cx="1000100" cy="1071569"/>
          </a:xfrm>
        </p:grpSpPr>
        <p:sp>
          <p:nvSpPr>
            <p:cNvPr id="7"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headEnd/>
              <a:tailEnd/>
            </a:ln>
          </p:spPr>
          <p:txBody>
            <a:bodyPr wrap="none" anchor="ctr"/>
            <a:lstStyle/>
            <a:p>
              <a:endParaRPr lang="zh-CN" altLang="zh-CN">
                <a:latin typeface="Calibri" pitchFamily="34" charset="0"/>
                <a:cs typeface="Arial" pitchFamily="34" charset="0"/>
              </a:endParaRPr>
            </a:p>
          </p:txBody>
        </p:sp>
        <p:sp>
          <p:nvSpPr>
            <p:cNvPr id="8"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headEnd/>
              <a:tailEnd/>
            </a:ln>
          </p:spPr>
          <p:txBody>
            <a:bodyPr wrap="none" anchor="ctr"/>
            <a:lstStyle/>
            <a:p>
              <a:endParaRPr lang="zh-CN" altLang="zh-CN">
                <a:latin typeface="Calibri" pitchFamily="34" charset="0"/>
                <a:cs typeface="Arial" pitchFamily="34" charset="0"/>
              </a:endParaRPr>
            </a:p>
          </p:txBody>
        </p:sp>
        <p:sp>
          <p:nvSpPr>
            <p:cNvPr id="9" name="Oval 22"/>
            <p:cNvSpPr>
              <a:spLocks noChangeArrowheads="1"/>
            </p:cNvSpPr>
            <p:nvPr/>
          </p:nvSpPr>
          <p:spPr bwMode="gray">
            <a:xfrm>
              <a:off x="296515" y="233663"/>
              <a:ext cx="834424" cy="895136"/>
            </a:xfrm>
            <a:prstGeom prst="ellipse">
              <a:avLst/>
            </a:prstGeom>
            <a:noFill/>
            <a:ln w="38100">
              <a:solidFill>
                <a:srgbClr val="FF0000">
                  <a:alpha val="30196"/>
                </a:srgbClr>
              </a:solidFill>
              <a:round/>
              <a:headEnd/>
              <a:tailEnd/>
            </a:ln>
          </p:spPr>
          <p:txBody>
            <a:bodyPr wrap="none" anchor="ctr"/>
            <a:lstStyle/>
            <a:p>
              <a:endParaRPr lang="zh-CN" altLang="zh-CN">
                <a:latin typeface="Calibri" pitchFamily="34" charset="0"/>
                <a:cs typeface="Arial" pitchFamily="34" charset="0"/>
              </a:endParaRPr>
            </a:p>
          </p:txBody>
        </p:sp>
        <p:sp>
          <p:nvSpPr>
            <p:cNvPr id="10" name="Text Box 23"/>
            <p:cNvSpPr txBox="1">
              <a:spLocks noChangeArrowheads="1"/>
            </p:cNvSpPr>
            <p:nvPr/>
          </p:nvSpPr>
          <p:spPr bwMode="gray">
            <a:xfrm>
              <a:off x="317323" y="535760"/>
              <a:ext cx="850370" cy="361638"/>
            </a:xfrm>
            <a:prstGeom prst="rect">
              <a:avLst/>
            </a:prstGeom>
            <a:noFill/>
            <a:ln w="9525" algn="ctr">
              <a:noFill/>
              <a:miter lim="800000"/>
              <a:headEnd/>
              <a:tailEnd/>
            </a:ln>
          </p:spPr>
          <p:txBody>
            <a:bodyPr wrap="square">
              <a:spAutoFit/>
            </a:bodyPr>
            <a:lstStyle/>
            <a:p>
              <a:pPr algn="ctr">
                <a:spcBef>
                  <a:spcPct val="50000"/>
                </a:spcBef>
              </a:pPr>
              <a:r>
                <a:rPr lang="zh-CN" altLang="en-US" sz="1600" b="1">
                  <a:solidFill>
                    <a:srgbClr val="FF0000"/>
                  </a:solidFill>
                  <a:latin typeface="微软雅黑" pitchFamily="34" charset="-122"/>
                  <a:ea typeface="微软雅黑" pitchFamily="34" charset="-122"/>
                  <a:cs typeface="Consolas" pitchFamily="49" charset="0"/>
                </a:rPr>
                <a:t>示例</a:t>
              </a:r>
            </a:p>
          </p:txBody>
        </p:sp>
      </p:grpSp>
      <p:sp>
        <p:nvSpPr>
          <p:cNvPr id="11" name="灯片编号占位符 10"/>
          <p:cNvSpPr>
            <a:spLocks noGrp="1"/>
          </p:cNvSpPr>
          <p:nvPr>
            <p:ph type="sldNum" sz="quarter" idx="12"/>
          </p:nvPr>
        </p:nvSpPr>
        <p:spPr/>
        <p:txBody>
          <a:bodyPr/>
          <a:lstStyle/>
          <a:p>
            <a:fld id="{7AF016A1-9F15-429F-9EFD-84004B73C732}" type="slidenum">
              <a:rPr lang="en-US" altLang="zh-CN" smtClean="0"/>
              <a:pPr/>
              <a:t>25</a:t>
            </a:fld>
            <a:r>
              <a:rPr lang="en-US" altLang="zh-CN"/>
              <a:t>/91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6143668" cy="1038847"/>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时</a:t>
            </a:r>
          </a:p>
          <a:p>
            <a:pPr algn="l" defTabSz="360000">
              <a:lnSpc>
                <a:spcPts val="3200"/>
              </a:lnSpc>
              <a:spcBef>
                <a:spcPts val="0"/>
              </a:spcBef>
            </a:pPr>
            <a:r>
              <a:rPr lang="en-US" altLang="zh-CN" sz="2000">
                <a:solidFill>
                  <a:srgbClr val="0000FF"/>
                </a:solidFill>
                <a:latin typeface="Consolas" pitchFamily="49" charset="0"/>
                <a:ea typeface="仿宋" pitchFamily="49" charset="-122"/>
              </a:rPr>
              <a:t>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)=2T(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&gt;1</a:t>
            </a:r>
            <a:r>
              <a:rPr lang="zh-CN" altLang="zh-CN" sz="2000">
                <a:solidFill>
                  <a:srgbClr val="00B0F0"/>
                </a:solidFill>
                <a:latin typeface="Consolas" pitchFamily="49" charset="0"/>
                <a:ea typeface="仿宋" pitchFamily="49" charset="-122"/>
              </a:rPr>
              <a:t>时</a:t>
            </a:r>
          </a:p>
        </p:txBody>
      </p:sp>
      <p:sp>
        <p:nvSpPr>
          <p:cNvPr id="4" name="TextBox 3"/>
          <p:cNvSpPr txBox="1"/>
          <p:nvPr/>
        </p:nvSpPr>
        <p:spPr>
          <a:xfrm>
            <a:off x="500034" y="2357430"/>
            <a:ext cx="8072494" cy="3268587"/>
          </a:xfrm>
          <a:prstGeom prst="rect">
            <a:avLst/>
          </a:prstGeom>
          <a:noFill/>
        </p:spPr>
        <p:txBody>
          <a:bodyPr wrap="square" rtlCol="0">
            <a:spAutoFit/>
          </a:bodyPr>
          <a:lstStyle/>
          <a:p>
            <a:pPr algn="l"/>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-1)+1=2(2</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-2)+1)+1</a:t>
            </a:r>
            <a:endParaRPr lang="zh-CN" altLang="zh-CN">
              <a:solidFill>
                <a:srgbClr val="0000FF"/>
              </a:solidFill>
              <a:latin typeface="Consolas" pitchFamily="49" charset="0"/>
              <a:ea typeface="仿宋" pitchFamily="49" charset="-122"/>
            </a:endParaRPr>
          </a:p>
          <a:p>
            <a:pPr algn="l"/>
            <a:r>
              <a:rPr lang="en-US" altLang="zh-CN">
                <a:solidFill>
                  <a:srgbClr val="0000FF"/>
                </a:solidFill>
                <a:latin typeface="Consolas" pitchFamily="49" charset="0"/>
                <a:ea typeface="仿宋" pitchFamily="49" charset="-122"/>
              </a:rPr>
              <a:t>    =2</a:t>
            </a:r>
            <a:r>
              <a:rPr lang="en-US" altLang="zh-CN" baseline="30000">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2)+2+1=2</a:t>
            </a:r>
            <a:r>
              <a:rPr lang="en-US" altLang="zh-CN" baseline="30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-3)+1)+2+1</a:t>
            </a:r>
            <a:endParaRPr lang="zh-CN" altLang="zh-CN">
              <a:solidFill>
                <a:srgbClr val="0000FF"/>
              </a:solidFill>
              <a:latin typeface="Consolas" pitchFamily="49" charset="0"/>
              <a:ea typeface="仿宋" pitchFamily="49" charset="-122"/>
            </a:endParaRPr>
          </a:p>
          <a:p>
            <a:pPr algn="l"/>
            <a:r>
              <a:rPr lang="en-US" altLang="zh-CN">
                <a:solidFill>
                  <a:srgbClr val="0000FF"/>
                </a:solidFill>
                <a:latin typeface="Consolas" pitchFamily="49" charset="0"/>
                <a:ea typeface="仿宋" pitchFamily="49" charset="-122"/>
              </a:rPr>
              <a:t>    =2</a:t>
            </a:r>
            <a:r>
              <a:rPr lang="en-US" altLang="zh-CN" baseline="30000">
                <a:solidFill>
                  <a:srgbClr val="0000FF"/>
                </a:solidFill>
                <a:latin typeface="Consolas" pitchFamily="49" charset="0"/>
                <a:ea typeface="仿宋" pitchFamily="49" charset="-122"/>
              </a:rPr>
              <a:t>3</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-3)+2</a:t>
            </a:r>
            <a:r>
              <a:rPr lang="en-US" altLang="zh-CN" baseline="30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+2+1</a:t>
            </a:r>
            <a:endParaRPr lang="zh-CN" altLang="zh-CN">
              <a:solidFill>
                <a:srgbClr val="0000FF"/>
              </a:solidFill>
              <a:latin typeface="Consolas" pitchFamily="49" charset="0"/>
              <a:ea typeface="仿宋" pitchFamily="49" charset="-122"/>
            </a:endParaRPr>
          </a:p>
          <a:p>
            <a:pPr algn="l"/>
            <a:r>
              <a:rPr lang="en-US" altLang="zh-CN">
                <a:solidFill>
                  <a:srgbClr val="0000FF"/>
                </a:solidFill>
                <a:latin typeface="Consolas" pitchFamily="49" charset="0"/>
                <a:ea typeface="仿宋" pitchFamily="49" charset="-122"/>
              </a:rPr>
              <a:t>    = </a:t>
            </a:r>
            <a:r>
              <a:rPr lang="zh-CN" altLang="zh-CN">
                <a:solidFill>
                  <a:srgbClr val="0000FF"/>
                </a:solidFill>
                <a:latin typeface="+mn-ea"/>
                <a:ea typeface="+mn-ea"/>
              </a:rPr>
              <a:t>…</a:t>
            </a:r>
          </a:p>
          <a:p>
            <a:pPr algn="l"/>
            <a:r>
              <a:rPr lang="en-US" altLang="zh-CN">
                <a:solidFill>
                  <a:srgbClr val="0000FF"/>
                </a:solidFill>
                <a:latin typeface="Consolas" pitchFamily="49" charset="0"/>
                <a:ea typeface="仿宋" pitchFamily="49" charset="-122"/>
              </a:rPr>
              <a:t>    =2</a:t>
            </a:r>
            <a:r>
              <a:rPr lang="en-US" altLang="zh-CN" i="1" baseline="30000">
                <a:solidFill>
                  <a:srgbClr val="0000FF"/>
                </a:solidFill>
                <a:latin typeface="Consolas" pitchFamily="49" charset="0"/>
                <a:ea typeface="仿宋" pitchFamily="49" charset="-122"/>
              </a:rPr>
              <a:t>n</a:t>
            </a:r>
            <a:r>
              <a:rPr lang="en-US" altLang="zh-CN" baseline="30000">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(1)+2</a:t>
            </a:r>
            <a:r>
              <a:rPr lang="en-US" altLang="zh-CN" i="1" baseline="30000">
                <a:solidFill>
                  <a:srgbClr val="0000FF"/>
                </a:solidFill>
                <a:latin typeface="Consolas" pitchFamily="49" charset="0"/>
                <a:ea typeface="仿宋" pitchFamily="49" charset="-122"/>
              </a:rPr>
              <a:t>n</a:t>
            </a:r>
            <a:r>
              <a:rPr lang="en-US" altLang="zh-CN" baseline="30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+2</a:t>
            </a:r>
            <a:r>
              <a:rPr lang="en-US" altLang="zh-CN" baseline="30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+2+1</a:t>
            </a:r>
            <a:endParaRPr lang="zh-CN" altLang="zh-CN">
              <a:solidFill>
                <a:srgbClr val="0000FF"/>
              </a:solidFill>
              <a:latin typeface="Consolas" pitchFamily="49" charset="0"/>
              <a:ea typeface="仿宋" pitchFamily="49" charset="-122"/>
            </a:endParaRPr>
          </a:p>
          <a:p>
            <a:pPr algn="l"/>
            <a:r>
              <a:rPr lang="en-US" altLang="zh-CN">
                <a:solidFill>
                  <a:srgbClr val="0000FF"/>
                </a:solidFill>
                <a:latin typeface="Consolas" pitchFamily="49" charset="0"/>
                <a:ea typeface="仿宋" pitchFamily="49" charset="-122"/>
              </a:rPr>
              <a:t>    =2</a:t>
            </a:r>
            <a:r>
              <a:rPr lang="en-US" altLang="zh-CN" i="1" baseline="30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p>
          <a:p>
            <a:pPr algn="l"/>
            <a:r>
              <a:rPr lang="en-US" altLang="zh-CN">
                <a:solidFill>
                  <a:srgbClr val="0000FF"/>
                </a:solidFill>
                <a:latin typeface="Consolas" pitchFamily="49" charset="0"/>
                <a:ea typeface="仿宋" pitchFamily="49" charset="-122"/>
              </a:rPr>
              <a:t>    =O(2</a:t>
            </a:r>
            <a:r>
              <a:rPr lang="en-US" altLang="zh-CN" i="1" baseline="30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p:txBody>
      </p:sp>
      <p:sp>
        <p:nvSpPr>
          <p:cNvPr id="5" name="下箭头 4"/>
          <p:cNvSpPr/>
          <p:nvPr/>
        </p:nvSpPr>
        <p:spPr>
          <a:xfrm>
            <a:off x="2857488" y="1857364"/>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26</a:t>
            </a:fld>
            <a:r>
              <a:rPr lang="en-US" altLang="zh-CN"/>
              <a:t>/91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714356"/>
            <a:ext cx="450059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rPr>
              <a:t>2. </a:t>
            </a:r>
            <a:r>
              <a:rPr lang="zh-CN" altLang="en-US"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rPr>
              <a:t>递归算法的空间复杂度分析</a:t>
            </a:r>
            <a:endParaRPr lang="zh-CN" altLang="en-US"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6" name="圆角矩形 5"/>
          <p:cNvSpPr/>
          <p:nvPr/>
        </p:nvSpPr>
        <p:spPr>
          <a:xfrm>
            <a:off x="2071670" y="1928802"/>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en-US">
                <a:solidFill>
                  <a:srgbClr val="0000FF"/>
                </a:solidFill>
                <a:latin typeface="Consolas" pitchFamily="49" charset="0"/>
                <a:ea typeface="仿宋" pitchFamily="49" charset="-122"/>
              </a:rPr>
              <a:t>空间</a:t>
            </a:r>
            <a:r>
              <a:rPr lang="zh-CN" altLang="zh-CN">
                <a:solidFill>
                  <a:srgbClr val="0000FF"/>
                </a:solidFill>
                <a:latin typeface="Consolas" pitchFamily="49" charset="0"/>
                <a:ea typeface="仿宋" pitchFamily="49" charset="-122"/>
              </a:rPr>
              <a:t>递推式</a:t>
            </a:r>
            <a:endParaRPr lang="zh-CN" altLang="en-US">
              <a:solidFill>
                <a:srgbClr val="0000FF"/>
              </a:solidFill>
              <a:latin typeface="Consolas" pitchFamily="49" charset="0"/>
              <a:ea typeface="仿宋" pitchFamily="49" charset="-122"/>
            </a:endParaRPr>
          </a:p>
        </p:txBody>
      </p:sp>
      <p:sp>
        <p:nvSpPr>
          <p:cNvPr id="7" name="圆角矩形 6"/>
          <p:cNvSpPr/>
          <p:nvPr/>
        </p:nvSpPr>
        <p:spPr>
          <a:xfrm>
            <a:off x="2071670" y="3000372"/>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zh-CN">
                <a:solidFill>
                  <a:srgbClr val="0000FF"/>
                </a:solidFill>
                <a:latin typeface="Consolas" pitchFamily="49" charset="0"/>
                <a:ea typeface="仿宋" pitchFamily="49" charset="-122"/>
              </a:rPr>
              <a:t>求解递推式</a:t>
            </a:r>
            <a:endParaRPr lang="zh-CN" altLang="en-US">
              <a:solidFill>
                <a:srgbClr val="0000FF"/>
              </a:solidFill>
              <a:latin typeface="Consolas" pitchFamily="49" charset="0"/>
              <a:ea typeface="仿宋" pitchFamily="49" charset="-122"/>
            </a:endParaRPr>
          </a:p>
        </p:txBody>
      </p:sp>
      <p:sp>
        <p:nvSpPr>
          <p:cNvPr id="8" name="圆角矩形 7"/>
          <p:cNvSpPr/>
          <p:nvPr/>
        </p:nvSpPr>
        <p:spPr>
          <a:xfrm>
            <a:off x="2071670" y="4143380"/>
            <a:ext cx="2714644" cy="714380"/>
          </a:xfrm>
          <a:prstGeom prst="round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zh-CN" altLang="en-US">
                <a:solidFill>
                  <a:srgbClr val="0000FF"/>
                </a:solidFill>
                <a:latin typeface="Consolas" pitchFamily="49" charset="0"/>
                <a:ea typeface="仿宋" pitchFamily="49" charset="-122"/>
              </a:rPr>
              <a:t>复杂度符号表示</a:t>
            </a:r>
          </a:p>
        </p:txBody>
      </p:sp>
      <p:cxnSp>
        <p:nvCxnSpPr>
          <p:cNvPr id="9" name="直接箭头连接符 8"/>
          <p:cNvCxnSpPr>
            <a:stCxn id="6" idx="2"/>
            <a:endCxn id="7" idx="0"/>
          </p:cNvCxnSpPr>
          <p:nvPr/>
        </p:nvCxnSpPr>
        <p:spPr>
          <a:xfrm rot="5400000">
            <a:off x="3250397" y="2821777"/>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0" name="直接箭头连接符 9"/>
          <p:cNvCxnSpPr>
            <a:stCxn id="7" idx="2"/>
            <a:endCxn id="8" idx="0"/>
          </p:cNvCxnSpPr>
          <p:nvPr/>
        </p:nvCxnSpPr>
        <p:spPr>
          <a:xfrm rot="5400000">
            <a:off x="3214678" y="3929066"/>
            <a:ext cx="428628"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1" name="灯片编号占位符 10"/>
          <p:cNvSpPr>
            <a:spLocks noGrp="1"/>
          </p:cNvSpPr>
          <p:nvPr>
            <p:ph type="sldNum" sz="quarter" idx="12"/>
          </p:nvPr>
        </p:nvSpPr>
        <p:spPr/>
        <p:txBody>
          <a:bodyPr/>
          <a:lstStyle/>
          <a:p>
            <a:fld id="{7AF016A1-9F15-429F-9EFD-84004B73C732}" type="slidenum">
              <a:rPr lang="en-US" altLang="zh-CN" smtClean="0"/>
              <a:pPr/>
              <a:t>27</a:t>
            </a:fld>
            <a:r>
              <a:rPr lang="en-US" altLang="zh-CN"/>
              <a:t>/91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643314"/>
            <a:ext cx="8429684" cy="1569660"/>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Hanoi(n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的临时空间为</a:t>
            </a:r>
            <a:r>
              <a:rPr lang="en-US" altLang="zh-CN">
                <a:solidFill>
                  <a:srgbClr val="0000FF"/>
                </a:solidFill>
                <a:latin typeface="Consolas" pitchFamily="49" charset="0"/>
                <a:ea typeface="仿宋" pitchFamily="49" charset="-122"/>
              </a:rPr>
              <a:t>S(</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，两个问题规模为</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的子问题的临时空间均为</a:t>
            </a:r>
            <a:r>
              <a:rPr lang="en-US" altLang="zh-CN">
                <a:solidFill>
                  <a:srgbClr val="0000FF"/>
                </a:solidFill>
                <a:latin typeface="Consolas" pitchFamily="49" charset="0"/>
                <a:ea typeface="仿宋" pitchFamily="49" charset="-122"/>
              </a:rPr>
              <a:t>S(</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，总空间是</a:t>
            </a:r>
            <a:r>
              <a:rPr lang="zh-CN" altLang="zh-CN">
                <a:solidFill>
                  <a:srgbClr val="FF0000"/>
                </a:solidFill>
                <a:latin typeface="Consolas" pitchFamily="49" charset="0"/>
                <a:ea typeface="仿宋" pitchFamily="49" charset="-122"/>
              </a:rPr>
              <a:t>最大值</a:t>
            </a:r>
            <a:r>
              <a:rPr lang="zh-CN" altLang="zh-CN">
                <a:solidFill>
                  <a:srgbClr val="0000FF"/>
                </a:solidFill>
                <a:latin typeface="Consolas" pitchFamily="49" charset="0"/>
                <a:ea typeface="仿宋" pitchFamily="49" charset="-122"/>
              </a:rPr>
              <a:t>关系，因为前一个子问题执行完毕其空间被释放，释放的空间被后一个子问题重复使用。</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571604" y="5286388"/>
            <a:ext cx="6143668" cy="103884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								</a:t>
            </a:r>
            <a:r>
              <a:rPr lang="zh-CN" altLang="zh-CN" sz="2000">
                <a:solidFill>
                  <a:srgbClr val="0000FF"/>
                </a:solidFill>
                <a:latin typeface="Consolas" pitchFamily="49" charset="0"/>
                <a:ea typeface="仿宋" pitchFamily="49" charset="-122"/>
              </a:rPr>
              <a:t>当</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时</a:t>
            </a:r>
          </a:p>
          <a:p>
            <a:pPr algn="l" defTabSz="360000">
              <a:lnSpc>
                <a:spcPts val="3200"/>
              </a:lnSpc>
              <a:spcBef>
                <a:spcPts val="0"/>
              </a:spcBef>
            </a:pP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-1)+1					</a:t>
            </a:r>
            <a:r>
              <a:rPr lang="zh-CN" altLang="zh-CN" sz="2000">
                <a:solidFill>
                  <a:srgbClr val="0000FF"/>
                </a:solidFill>
                <a:latin typeface="Consolas" pitchFamily="49" charset="0"/>
                <a:ea typeface="仿宋" pitchFamily="49" charset="-122"/>
              </a:rPr>
              <a:t>当</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&gt;1</a:t>
            </a:r>
            <a:r>
              <a:rPr lang="zh-CN" altLang="zh-CN" sz="2000">
                <a:solidFill>
                  <a:srgbClr val="0000FF"/>
                </a:solidFill>
                <a:latin typeface="Consolas" pitchFamily="49" charset="0"/>
                <a:ea typeface="仿宋" pitchFamily="49" charset="-122"/>
              </a:rPr>
              <a:t>时</a:t>
            </a:r>
          </a:p>
        </p:txBody>
      </p:sp>
      <p:sp>
        <p:nvSpPr>
          <p:cNvPr id="5" name="TextBox 4"/>
          <p:cNvSpPr txBox="1"/>
          <p:nvPr/>
        </p:nvSpPr>
        <p:spPr>
          <a:xfrm>
            <a:off x="1357290" y="214290"/>
            <a:ext cx="7215238" cy="32015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(int n,char x,char y,char z)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n==1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(n-1,x,z,y);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将盘片</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%c</a:t>
            </a:r>
            <a:r>
              <a:rPr lang="zh-CN" altLang="zh-CN" sz="2000">
                <a:solidFill>
                  <a:srgbClr val="0000FF"/>
                </a:solidFill>
                <a:latin typeface="Consolas" pitchFamily="49" charset="0"/>
                <a:ea typeface="仿宋" pitchFamily="49" charset="-122"/>
              </a:rPr>
              <a:t>搬到</a:t>
            </a:r>
            <a:r>
              <a:rPr lang="en-US" altLang="zh-CN" sz="2000">
                <a:solidFill>
                  <a:srgbClr val="0000FF"/>
                </a:solidFill>
                <a:latin typeface="Consolas" pitchFamily="49" charset="0"/>
                <a:ea typeface="仿宋" pitchFamily="49" charset="-122"/>
              </a:rPr>
              <a:t>%c\n",n,x,z);</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Hanoi</a:t>
            </a:r>
            <a:r>
              <a:rPr lang="en-US" altLang="zh-CN" sz="2000">
                <a:solidFill>
                  <a:srgbClr val="0000FF"/>
                </a:solidFill>
                <a:latin typeface="Consolas" pitchFamily="49" charset="0"/>
                <a:ea typeface="仿宋" pitchFamily="49" charset="-122"/>
              </a:rPr>
              <a:t>(n-1,y,x,z);</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5"/>
          <p:cNvGrpSpPr/>
          <p:nvPr/>
        </p:nvGrpSpPr>
        <p:grpSpPr>
          <a:xfrm>
            <a:off x="0" y="1142984"/>
            <a:ext cx="785818" cy="714379"/>
            <a:chOff x="214282" y="142852"/>
            <a:chExt cx="1000100" cy="1071569"/>
          </a:xfrm>
        </p:grpSpPr>
        <p:sp>
          <p:nvSpPr>
            <p:cNvPr id="7"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headEnd/>
              <a:tailEnd/>
            </a:ln>
          </p:spPr>
          <p:txBody>
            <a:bodyPr wrap="none" anchor="ctr"/>
            <a:lstStyle/>
            <a:p>
              <a:endParaRPr lang="zh-CN" altLang="zh-CN">
                <a:latin typeface="Calibri" pitchFamily="34" charset="0"/>
                <a:cs typeface="Arial" pitchFamily="34" charset="0"/>
              </a:endParaRPr>
            </a:p>
          </p:txBody>
        </p:sp>
        <p:sp>
          <p:nvSpPr>
            <p:cNvPr id="8"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headEnd/>
              <a:tailEnd/>
            </a:ln>
          </p:spPr>
          <p:txBody>
            <a:bodyPr wrap="none" anchor="ctr"/>
            <a:lstStyle/>
            <a:p>
              <a:endParaRPr lang="zh-CN" altLang="zh-CN">
                <a:latin typeface="Calibri" pitchFamily="34" charset="0"/>
                <a:cs typeface="Arial" pitchFamily="34" charset="0"/>
              </a:endParaRPr>
            </a:p>
          </p:txBody>
        </p:sp>
        <p:sp>
          <p:nvSpPr>
            <p:cNvPr id="9" name="Oval 22"/>
            <p:cNvSpPr>
              <a:spLocks noChangeArrowheads="1"/>
            </p:cNvSpPr>
            <p:nvPr/>
          </p:nvSpPr>
          <p:spPr bwMode="gray">
            <a:xfrm>
              <a:off x="296515" y="233663"/>
              <a:ext cx="834424" cy="895136"/>
            </a:xfrm>
            <a:prstGeom prst="ellipse">
              <a:avLst/>
            </a:prstGeom>
            <a:noFill/>
            <a:ln w="38100">
              <a:solidFill>
                <a:srgbClr val="FF0000">
                  <a:alpha val="30196"/>
                </a:srgbClr>
              </a:solidFill>
              <a:round/>
              <a:headEnd/>
              <a:tailEnd/>
            </a:ln>
          </p:spPr>
          <p:txBody>
            <a:bodyPr wrap="none" anchor="ctr"/>
            <a:lstStyle/>
            <a:p>
              <a:endParaRPr lang="zh-CN" altLang="zh-CN">
                <a:latin typeface="Calibri" pitchFamily="34" charset="0"/>
                <a:cs typeface="Arial" pitchFamily="34" charset="0"/>
              </a:endParaRPr>
            </a:p>
          </p:txBody>
        </p:sp>
        <p:sp>
          <p:nvSpPr>
            <p:cNvPr id="10" name="Text Box 23"/>
            <p:cNvSpPr txBox="1">
              <a:spLocks noChangeArrowheads="1"/>
            </p:cNvSpPr>
            <p:nvPr/>
          </p:nvSpPr>
          <p:spPr bwMode="gray">
            <a:xfrm>
              <a:off x="317323" y="535760"/>
              <a:ext cx="850370" cy="361638"/>
            </a:xfrm>
            <a:prstGeom prst="rect">
              <a:avLst/>
            </a:prstGeom>
            <a:noFill/>
            <a:ln w="9525" algn="ctr">
              <a:noFill/>
              <a:miter lim="800000"/>
              <a:headEnd/>
              <a:tailEnd/>
            </a:ln>
          </p:spPr>
          <p:txBody>
            <a:bodyPr wrap="square">
              <a:spAutoFit/>
            </a:bodyPr>
            <a:lstStyle/>
            <a:p>
              <a:pPr algn="ctr">
                <a:spcBef>
                  <a:spcPct val="50000"/>
                </a:spcBef>
              </a:pPr>
              <a:r>
                <a:rPr lang="zh-CN" altLang="en-US" sz="1600" b="1">
                  <a:solidFill>
                    <a:srgbClr val="FF0000"/>
                  </a:solidFill>
                  <a:latin typeface="微软雅黑" pitchFamily="34" charset="-122"/>
                  <a:ea typeface="微软雅黑" pitchFamily="34" charset="-122"/>
                  <a:cs typeface="Consolas" pitchFamily="49" charset="0"/>
                </a:rPr>
                <a:t>示例</a:t>
              </a:r>
            </a:p>
          </p:txBody>
        </p:sp>
      </p:grpSp>
      <p:sp>
        <p:nvSpPr>
          <p:cNvPr id="11" name="灯片编号占位符 10"/>
          <p:cNvSpPr>
            <a:spLocks noGrp="1"/>
          </p:cNvSpPr>
          <p:nvPr>
            <p:ph type="sldNum" sz="quarter" idx="12"/>
          </p:nvPr>
        </p:nvSpPr>
        <p:spPr/>
        <p:txBody>
          <a:bodyPr/>
          <a:lstStyle/>
          <a:p>
            <a:fld id="{7AF016A1-9F15-429F-9EFD-84004B73C732}" type="slidenum">
              <a:rPr lang="en-US" altLang="zh-CN" smtClean="0"/>
              <a:pPr/>
              <a:t>28</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571480"/>
            <a:ext cx="6143668" cy="103884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时</a:t>
            </a:r>
          </a:p>
          <a:p>
            <a:pPr algn="l" defTabSz="360000">
              <a:lnSpc>
                <a:spcPts val="3200"/>
              </a:lnSpc>
              <a:spcBef>
                <a:spcPts val="0"/>
              </a:spcBef>
            </a:pP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)=S(</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&gt;1</a:t>
            </a:r>
            <a:r>
              <a:rPr lang="zh-CN" altLang="zh-CN" sz="2000">
                <a:solidFill>
                  <a:srgbClr val="00B0F0"/>
                </a:solidFill>
                <a:latin typeface="Consolas" pitchFamily="49" charset="0"/>
                <a:ea typeface="仿宋" pitchFamily="49" charset="-122"/>
              </a:rPr>
              <a:t>时</a:t>
            </a:r>
          </a:p>
        </p:txBody>
      </p:sp>
      <p:sp>
        <p:nvSpPr>
          <p:cNvPr id="4" name="TextBox 3"/>
          <p:cNvSpPr txBox="1"/>
          <p:nvPr/>
        </p:nvSpPr>
        <p:spPr>
          <a:xfrm>
            <a:off x="714348" y="2428868"/>
            <a:ext cx="7500990" cy="2313647"/>
          </a:xfrm>
          <a:prstGeom prst="rect">
            <a:avLst/>
          </a:prstGeom>
          <a:noFill/>
        </p:spPr>
        <p:txBody>
          <a:bodyPr wrap="square" rtlCol="0">
            <a:spAutoFit/>
          </a:bodyPr>
          <a:lstStyle/>
          <a:p>
            <a:pPr algn="l" defTabSz="360000"/>
            <a:r>
              <a:rPr lang="en-US" altLang="zh-CN" i="1">
                <a:solidFill>
                  <a:srgbClr val="0000FF"/>
                </a:solidFill>
                <a:latin typeface="Consolas" pitchFamily="49" charset="0"/>
              </a:rPr>
              <a:t>S</a:t>
            </a:r>
            <a:r>
              <a:rPr lang="en-US" altLang="zh-CN">
                <a:solidFill>
                  <a:srgbClr val="0000FF"/>
                </a:solidFill>
                <a:latin typeface="Consolas" pitchFamily="49" charset="0"/>
              </a:rPr>
              <a:t>(</a:t>
            </a:r>
            <a:r>
              <a:rPr lang="en-US" altLang="zh-CN" i="1">
                <a:solidFill>
                  <a:srgbClr val="0000FF"/>
                </a:solidFill>
                <a:latin typeface="Consolas" pitchFamily="49" charset="0"/>
              </a:rPr>
              <a:t>n</a:t>
            </a:r>
            <a:r>
              <a:rPr lang="en-US" altLang="zh-CN">
                <a:solidFill>
                  <a:srgbClr val="0000FF"/>
                </a:solidFill>
                <a:latin typeface="Consolas" pitchFamily="49" charset="0"/>
              </a:rPr>
              <a:t>)=S(</a:t>
            </a:r>
            <a:r>
              <a:rPr lang="en-US" altLang="zh-CN" i="1">
                <a:solidFill>
                  <a:srgbClr val="0000FF"/>
                </a:solidFill>
                <a:latin typeface="Consolas" pitchFamily="49" charset="0"/>
              </a:rPr>
              <a:t>n</a:t>
            </a:r>
            <a:r>
              <a:rPr lang="en-US" altLang="zh-CN">
                <a:solidFill>
                  <a:srgbClr val="0000FF"/>
                </a:solidFill>
                <a:latin typeface="Consolas" pitchFamily="49" charset="0"/>
              </a:rPr>
              <a:t>-1)+1=(</a:t>
            </a:r>
            <a:r>
              <a:rPr lang="en-US" altLang="zh-CN" i="1">
                <a:solidFill>
                  <a:srgbClr val="0000FF"/>
                </a:solidFill>
                <a:latin typeface="Consolas" pitchFamily="49" charset="0"/>
              </a:rPr>
              <a:t>S</a:t>
            </a:r>
            <a:r>
              <a:rPr lang="en-US" altLang="zh-CN">
                <a:solidFill>
                  <a:srgbClr val="0000FF"/>
                </a:solidFill>
                <a:latin typeface="Consolas" pitchFamily="49" charset="0"/>
              </a:rPr>
              <a:t>(</a:t>
            </a:r>
            <a:r>
              <a:rPr lang="en-US" altLang="zh-CN" i="1">
                <a:solidFill>
                  <a:srgbClr val="0000FF"/>
                </a:solidFill>
                <a:latin typeface="Consolas" pitchFamily="49" charset="0"/>
              </a:rPr>
              <a:t>n</a:t>
            </a:r>
            <a:r>
              <a:rPr lang="en-US" altLang="zh-CN">
                <a:solidFill>
                  <a:srgbClr val="0000FF"/>
                </a:solidFill>
                <a:latin typeface="Consolas" pitchFamily="49" charset="0"/>
              </a:rPr>
              <a:t>-2)+1)+1</a:t>
            </a:r>
            <a:endParaRPr lang="zh-CN" altLang="zh-CN">
              <a:solidFill>
                <a:srgbClr val="0000FF"/>
              </a:solidFill>
              <a:latin typeface="Consolas" pitchFamily="49" charset="0"/>
            </a:endParaRPr>
          </a:p>
          <a:p>
            <a:pPr algn="l" defTabSz="360000"/>
            <a:r>
              <a:rPr lang="en-US" altLang="zh-CN">
                <a:solidFill>
                  <a:srgbClr val="0000FF"/>
                </a:solidFill>
                <a:latin typeface="Consolas" pitchFamily="49" charset="0"/>
              </a:rPr>
              <a:t>		=</a:t>
            </a:r>
            <a:r>
              <a:rPr lang="zh-CN" altLang="zh-CN">
                <a:solidFill>
                  <a:srgbClr val="0000FF"/>
                </a:solidFill>
                <a:latin typeface="+mn-ea"/>
                <a:ea typeface="+mn-ea"/>
              </a:rPr>
              <a:t>…</a:t>
            </a:r>
          </a:p>
          <a:p>
            <a:pPr algn="l" defTabSz="360000"/>
            <a:r>
              <a:rPr lang="en-US" altLang="zh-CN">
                <a:solidFill>
                  <a:srgbClr val="0000FF"/>
                </a:solidFill>
                <a:latin typeface="Consolas" pitchFamily="49" charset="0"/>
              </a:rPr>
              <a:t>	 	=</a:t>
            </a:r>
            <a:r>
              <a:rPr lang="en-US" altLang="zh-CN" i="1">
                <a:solidFill>
                  <a:srgbClr val="0000FF"/>
                </a:solidFill>
                <a:latin typeface="Consolas" pitchFamily="49" charset="0"/>
              </a:rPr>
              <a:t>S</a:t>
            </a:r>
            <a:r>
              <a:rPr lang="en-US" altLang="zh-CN">
                <a:solidFill>
                  <a:srgbClr val="0000FF"/>
                </a:solidFill>
                <a:latin typeface="Consolas" pitchFamily="49" charset="0"/>
              </a:rPr>
              <a:t>(1)+1+</a:t>
            </a:r>
            <a:r>
              <a:rPr lang="zh-CN" altLang="zh-CN">
                <a:solidFill>
                  <a:srgbClr val="0000FF"/>
                </a:solidFill>
                <a:latin typeface="+mj-ea"/>
                <a:ea typeface="+mj-ea"/>
              </a:rPr>
              <a:t>…</a:t>
            </a:r>
            <a:r>
              <a:rPr lang="en-US" altLang="zh-CN">
                <a:solidFill>
                  <a:srgbClr val="0000FF"/>
                </a:solidFill>
                <a:latin typeface="Consolas" pitchFamily="49" charset="0"/>
              </a:rPr>
              <a:t>+1</a:t>
            </a:r>
            <a:endParaRPr lang="zh-CN" altLang="zh-CN">
              <a:solidFill>
                <a:srgbClr val="0000FF"/>
              </a:solidFill>
              <a:latin typeface="Consolas" pitchFamily="49" charset="0"/>
            </a:endParaRPr>
          </a:p>
          <a:p>
            <a:pPr algn="l" defTabSz="360000"/>
            <a:r>
              <a:rPr lang="en-US" altLang="zh-CN">
                <a:solidFill>
                  <a:srgbClr val="0000FF"/>
                </a:solidFill>
                <a:latin typeface="Consolas" pitchFamily="49" charset="0"/>
              </a:rPr>
              <a:t>	 	=1+1+</a:t>
            </a:r>
            <a:r>
              <a:rPr lang="zh-CN" altLang="zh-CN">
                <a:solidFill>
                  <a:srgbClr val="0000FF"/>
                </a:solidFill>
                <a:latin typeface="+mj-ea"/>
                <a:ea typeface="+mj-ea"/>
              </a:rPr>
              <a:t>…</a:t>
            </a:r>
            <a:r>
              <a:rPr lang="en-US" altLang="zh-CN">
                <a:solidFill>
                  <a:srgbClr val="0000FF"/>
                </a:solidFill>
                <a:latin typeface="Consolas" pitchFamily="49" charset="0"/>
              </a:rPr>
              <a:t>+1</a:t>
            </a:r>
          </a:p>
          <a:p>
            <a:pPr algn="l" defTabSz="360000"/>
            <a:r>
              <a:rPr lang="en-US" altLang="zh-CN">
                <a:solidFill>
                  <a:srgbClr val="0000FF"/>
                </a:solidFill>
                <a:latin typeface="Consolas" pitchFamily="49" charset="0"/>
              </a:rPr>
              <a:t>    =O(</a:t>
            </a:r>
            <a:r>
              <a:rPr lang="en-US" altLang="zh-CN" i="1">
                <a:solidFill>
                  <a:srgbClr val="0000FF"/>
                </a:solidFill>
                <a:latin typeface="Consolas" pitchFamily="49" charset="0"/>
              </a:rPr>
              <a:t>n</a:t>
            </a:r>
            <a:r>
              <a:rPr lang="en-US" altLang="zh-CN">
                <a:solidFill>
                  <a:srgbClr val="0000FF"/>
                </a:solidFill>
                <a:latin typeface="Consolas" pitchFamily="49" charset="0"/>
              </a:rPr>
              <a:t>)</a:t>
            </a:r>
            <a:endParaRPr lang="zh-CN" altLang="zh-CN">
              <a:solidFill>
                <a:srgbClr val="0000FF"/>
              </a:solidFill>
              <a:latin typeface="Consolas" pitchFamily="49" charset="0"/>
            </a:endParaRPr>
          </a:p>
        </p:txBody>
      </p:sp>
      <p:sp>
        <p:nvSpPr>
          <p:cNvPr id="5" name="下箭头 4"/>
          <p:cNvSpPr/>
          <p:nvPr/>
        </p:nvSpPr>
        <p:spPr>
          <a:xfrm>
            <a:off x="3357554" y="1714488"/>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29</a:t>
            </a:fld>
            <a:r>
              <a:rPr lang="en-US" altLang="zh-CN"/>
              <a:t>/91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000232" y="500042"/>
            <a:ext cx="5040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递归算法设计方法</a:t>
            </a:r>
          </a:p>
        </p:txBody>
      </p:sp>
      <p:sp>
        <p:nvSpPr>
          <p:cNvPr id="4" name="TextBox 3"/>
          <p:cNvSpPr txBox="1"/>
          <p:nvPr/>
        </p:nvSpPr>
        <p:spPr>
          <a:xfrm>
            <a:off x="357158" y="1643050"/>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2.2.1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递归和数学归纳法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00034" y="2714620"/>
            <a:ext cx="8001056"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微软雅黑" pitchFamily="34" charset="-122"/>
                <a:ea typeface="微软雅黑" pitchFamily="34" charset="-122"/>
              </a:rPr>
              <a:t>第一数学归纳法原理</a:t>
            </a: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是命题序列且满足以下两个性质，则所有命题均为真：</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归纳基础</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为真。</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归纳步骤</a:t>
            </a:r>
            <a:r>
              <a:rPr lang="zh-CN" altLang="zh-CN">
                <a:solidFill>
                  <a:srgbClr val="0000FF"/>
                </a:solidFill>
                <a:latin typeface="Consolas" pitchFamily="49" charset="0"/>
                <a:ea typeface="仿宋" pitchFamily="49" charset="-122"/>
              </a:rPr>
              <a:t>：任何命题均可以从它的前一个命题推导得出。</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30</a:t>
            </a:fld>
            <a:r>
              <a:rPr lang="en-US" altLang="zh-CN"/>
              <a:t>/91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001056" cy="360611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微软雅黑" pitchFamily="34" charset="-122"/>
                <a:ea typeface="微软雅黑" pitchFamily="34" charset="-122"/>
              </a:rPr>
              <a:t>第二数学归纳法原理</a:t>
            </a: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是满足以下两个性质的命题序列，则对于其他自然数，该命题序列均为真：</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归纳基础</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为真。</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归纳步骤</a:t>
            </a:r>
            <a:r>
              <a:rPr lang="zh-CN" altLang="zh-CN">
                <a:solidFill>
                  <a:srgbClr val="0000FF"/>
                </a:solidFill>
                <a:latin typeface="Consolas" pitchFamily="49" charset="0"/>
                <a:ea typeface="仿宋" pitchFamily="49" charset="-122"/>
              </a:rPr>
              <a:t>：任何命题均可以从它的前面所有命题推导得出。</a:t>
            </a:r>
          </a:p>
          <a:p>
            <a:pPr algn="l" defTabSz="360000">
              <a:lnSpc>
                <a:spcPts val="3200"/>
              </a:lnSpc>
              <a:spcBef>
                <a:spcPts val="600"/>
              </a:spcBef>
            </a:pPr>
            <a:r>
              <a:rPr lang="zh-CN" altLang="zh-CN">
                <a:solidFill>
                  <a:srgbClr val="0000FF"/>
                </a:solidFill>
                <a:latin typeface="Consolas" pitchFamily="49" charset="0"/>
                <a:ea typeface="仿宋" pitchFamily="49" charset="-122"/>
              </a:rPr>
              <a:t>其中归纳步骤的意思是</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可以从前面所有命题假设</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推导得出。</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31</a:t>
            </a:fld>
            <a:r>
              <a:rPr lang="en-US" altLang="zh-CN"/>
              <a:t>/91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32893"/>
            <a:ext cx="8858280" cy="938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采用第二数学归纳法证明，任何含有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）个不同结点值的二又树，都可由它的中序序列和先序序列唯一地确定。</a:t>
            </a:r>
          </a:p>
        </p:txBody>
      </p:sp>
      <p:sp>
        <p:nvSpPr>
          <p:cNvPr id="5" name="TextBox 4"/>
          <p:cNvSpPr txBox="1"/>
          <p:nvPr/>
        </p:nvSpPr>
        <p:spPr>
          <a:xfrm>
            <a:off x="928662" y="2928934"/>
            <a:ext cx="7143800" cy="1438855"/>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zh-CN" altLang="en-US">
                <a:solidFill>
                  <a:srgbClr val="0000FF"/>
                </a:solidFill>
                <a:latin typeface="Consolas" pitchFamily="49" charset="0"/>
                <a:ea typeface="仿宋" pitchFamily="49" charset="-122"/>
              </a:rPr>
              <a:t>采用第二数学归纳法。</a:t>
            </a:r>
            <a:r>
              <a:rPr lang="en-US" altLang="zh-CN" i="1">
                <a:solidFill>
                  <a:srgbClr val="0000FF"/>
                </a:solidFill>
                <a:latin typeface="Consolas" pitchFamily="49" charset="0"/>
                <a:ea typeface="仿宋" pitchFamily="49" charset="-122"/>
              </a:rPr>
              <a:t>k</a:t>
            </a:r>
            <a:r>
              <a:rPr lang="zh-CN" altLang="en-US">
                <a:solidFill>
                  <a:srgbClr val="0000FF"/>
                </a:solidFill>
                <a:latin typeface="Consolas" pitchFamily="49" charset="0"/>
                <a:ea typeface="仿宋" pitchFamily="49" charset="-122"/>
              </a:rPr>
              <a:t>表示二叉树中结点个数。</a:t>
            </a:r>
            <a:endParaRPr lang="en-US" altLang="zh-CN">
              <a:solidFill>
                <a:srgbClr val="0000FF"/>
              </a:solidFill>
              <a:latin typeface="Consolas" pitchFamily="49" charset="0"/>
              <a:ea typeface="仿宋" pitchFamily="49" charset="-122"/>
            </a:endParaRPr>
          </a:p>
          <a:p>
            <a:pPr algn="l">
              <a:lnSpc>
                <a:spcPts val="3500"/>
              </a:lnSpc>
              <a:spcBef>
                <a:spcPts val="0"/>
              </a:spcBef>
            </a:pP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k=0</a:t>
            </a:r>
            <a:r>
              <a:rPr lang="zh-CN" altLang="en-US">
                <a:solidFill>
                  <a:srgbClr val="0000FF"/>
                </a:solidFill>
                <a:latin typeface="Consolas" pitchFamily="49" charset="0"/>
                <a:ea typeface="仿宋" pitchFamily="49" charset="-122"/>
              </a:rPr>
              <a:t>时成立。</a:t>
            </a:r>
            <a:endParaRPr lang="en-US" altLang="zh-CN">
              <a:solidFill>
                <a:srgbClr val="0000FF"/>
              </a:solidFill>
              <a:latin typeface="Consolas" pitchFamily="49" charset="0"/>
              <a:ea typeface="仿宋" pitchFamily="49" charset="-122"/>
            </a:endParaRPr>
          </a:p>
          <a:p>
            <a:pPr algn="l">
              <a:lnSpc>
                <a:spcPts val="3500"/>
              </a:lnSpc>
              <a:spcBef>
                <a:spcPts val="0"/>
              </a:spcBef>
            </a:pP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en-US">
                <a:solidFill>
                  <a:srgbClr val="0000FF"/>
                </a:solidFill>
                <a:latin typeface="Consolas" pitchFamily="49" charset="0"/>
                <a:ea typeface="仿宋" pitchFamily="49" charset="-122"/>
              </a:rPr>
              <a:t>）假设</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n</a:t>
            </a:r>
            <a:r>
              <a:rPr lang="zh-CN" altLang="en-US">
                <a:solidFill>
                  <a:srgbClr val="0000FF"/>
                </a:solidFill>
                <a:latin typeface="Consolas" pitchFamily="49" charset="0"/>
                <a:ea typeface="仿宋" pitchFamily="49" charset="-122"/>
              </a:rPr>
              <a:t>时均成立</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785786" y="221455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证明</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5077"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32</a:t>
            </a:fld>
            <a:r>
              <a:rPr lang="en-US" altLang="zh-CN"/>
              <a:t>/91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7" name="Rectangle 21"/>
          <p:cNvSpPr>
            <a:spLocks noChangeArrowheads="1"/>
          </p:cNvSpPr>
          <p:nvPr/>
        </p:nvSpPr>
        <p:spPr bwMode="auto">
          <a:xfrm>
            <a:off x="0" y="0"/>
            <a:ext cx="9144000" cy="0"/>
          </a:xfrm>
          <a:prstGeom prst="rect">
            <a:avLst/>
          </a:prstGeom>
          <a:solidFill>
            <a:schemeClr val="bg1"/>
          </a:solidFill>
          <a:ln w="9525">
            <a:solidFill>
              <a:schemeClr val="accent6">
                <a:lumMod val="20000"/>
                <a:lumOff val="80000"/>
              </a:schemeClr>
            </a:solid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5075" name="Text Box 19"/>
          <p:cNvSpPr txBox="1">
            <a:spLocks noChangeArrowheads="1"/>
          </p:cNvSpPr>
          <p:nvPr/>
        </p:nvSpPr>
        <p:spPr bwMode="auto">
          <a:xfrm>
            <a:off x="1385146" y="1399731"/>
            <a:ext cx="2788841" cy="344524"/>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Times New Roman" pitchFamily="18" charset="0"/>
              </a:rPr>
              <a:t>0</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a</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6600"/>
                </a:solidFill>
                <a:effectLst/>
                <a:latin typeface="+mj-ea"/>
                <a:ea typeface="+mj-ea"/>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k</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6600"/>
                </a:solidFill>
                <a:effectLst/>
                <a:latin typeface="+mj-ea"/>
                <a:ea typeface="+mj-ea"/>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n</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endParaRPr kumimoji="0" lang="en-US" altLang="zh-CN" sz="200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5074" name="Line 18"/>
          <p:cNvSpPr>
            <a:spLocks noChangeShapeType="1"/>
          </p:cNvSpPr>
          <p:nvPr/>
        </p:nvSpPr>
        <p:spPr bwMode="auto">
          <a:xfrm>
            <a:off x="1688142" y="1107914"/>
            <a:ext cx="1409" cy="252000"/>
          </a:xfrm>
          <a:prstGeom prst="line">
            <a:avLst/>
          </a:prstGeom>
          <a:solidFill>
            <a:schemeClr val="bg1"/>
          </a:solidFill>
          <a:ln w="28575">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73" name="Text Box 17"/>
          <p:cNvSpPr txBox="1">
            <a:spLocks noChangeArrowheads="1"/>
          </p:cNvSpPr>
          <p:nvPr/>
        </p:nvSpPr>
        <p:spPr bwMode="auto">
          <a:xfrm>
            <a:off x="1173870" y="738169"/>
            <a:ext cx="842286" cy="271059"/>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根结点</a:t>
            </a:r>
            <a:endParaRPr kumimoji="0" 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70" name="Text Box 14"/>
          <p:cNvSpPr txBox="1">
            <a:spLocks noChangeArrowheads="1"/>
          </p:cNvSpPr>
          <p:nvPr/>
        </p:nvSpPr>
        <p:spPr bwMode="auto">
          <a:xfrm>
            <a:off x="1500166" y="1973515"/>
            <a:ext cx="1267655" cy="902855"/>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左子树先序序列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有</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个结点</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69" name="Text Box 13"/>
          <p:cNvSpPr txBox="1">
            <a:spLocks noChangeArrowheads="1"/>
          </p:cNvSpPr>
          <p:nvPr/>
        </p:nvSpPr>
        <p:spPr bwMode="auto">
          <a:xfrm>
            <a:off x="2771115" y="1973515"/>
            <a:ext cx="1597245" cy="902855"/>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右子树先序序列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有</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个结点</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68" name="Text Box 12"/>
          <p:cNvSpPr txBox="1">
            <a:spLocks noChangeArrowheads="1"/>
          </p:cNvSpPr>
          <p:nvPr/>
        </p:nvSpPr>
        <p:spPr bwMode="auto">
          <a:xfrm>
            <a:off x="5586718" y="1399731"/>
            <a:ext cx="3186039" cy="344524"/>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b</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0</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b</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6600"/>
                </a:solidFill>
                <a:effectLst/>
                <a:latin typeface="+mj-ea"/>
                <a:ea typeface="+mj-ea"/>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b</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k</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b</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b</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k</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6600"/>
                </a:solidFill>
                <a:effectLst/>
                <a:latin typeface="+mj-ea"/>
                <a:ea typeface="+mj-ea"/>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b</a:t>
            </a:r>
            <a:r>
              <a:rPr kumimoji="0" lang="en-US" altLang="zh-CN" sz="2000" i="1" u="none" strike="noStrike" cap="none" normalizeH="0" baseline="-30000">
                <a:ln>
                  <a:noFill/>
                </a:ln>
                <a:solidFill>
                  <a:srgbClr val="006600"/>
                </a:solidFill>
                <a:effectLst/>
                <a:latin typeface="Consolas" pitchFamily="49" charset="0"/>
                <a:ea typeface="仿宋" pitchFamily="49" charset="-122"/>
                <a:cs typeface="Times New Roman" pitchFamily="18" charset="0"/>
              </a:rPr>
              <a:t>n</a:t>
            </a:r>
            <a:r>
              <a:rPr kumimoji="0" lang="en-US" altLang="zh-CN" sz="2000" i="0" u="none" strike="noStrike" cap="none" normalizeH="0" baseline="-30000">
                <a:ln>
                  <a:noFill/>
                </a:ln>
                <a:solidFill>
                  <a:srgbClr val="006600"/>
                </a:solidFill>
                <a:effectLst/>
                <a:latin typeface="Consolas" pitchFamily="49" charset="0"/>
                <a:ea typeface="仿宋" pitchFamily="49" charset="-122"/>
                <a:cs typeface="Times New Roman" pitchFamily="18" charset="0"/>
              </a:rPr>
              <a:t>-1</a:t>
            </a:r>
            <a:endParaRPr kumimoji="0" lang="en-US" altLang="zh-CN" sz="200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5067" name="Line 11"/>
          <p:cNvSpPr>
            <a:spLocks noChangeShapeType="1"/>
          </p:cNvSpPr>
          <p:nvPr/>
        </p:nvSpPr>
        <p:spPr bwMode="auto">
          <a:xfrm>
            <a:off x="7199435" y="1107914"/>
            <a:ext cx="1409" cy="252000"/>
          </a:xfrm>
          <a:prstGeom prst="line">
            <a:avLst/>
          </a:prstGeom>
          <a:solidFill>
            <a:schemeClr val="bg1"/>
          </a:solidFill>
          <a:ln w="28575">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66" name="Text Box 10"/>
          <p:cNvSpPr txBox="1">
            <a:spLocks noChangeArrowheads="1"/>
          </p:cNvSpPr>
          <p:nvPr/>
        </p:nvSpPr>
        <p:spPr bwMode="auto">
          <a:xfrm>
            <a:off x="6786764" y="738169"/>
            <a:ext cx="842286" cy="271059"/>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根结点</a:t>
            </a:r>
            <a:endParaRPr kumimoji="0" 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65" name="AutoShape 9"/>
          <p:cNvSpPr>
            <a:spLocks/>
          </p:cNvSpPr>
          <p:nvPr/>
        </p:nvSpPr>
        <p:spPr bwMode="auto">
          <a:xfrm rot="16200000">
            <a:off x="6208166" y="1293040"/>
            <a:ext cx="179862" cy="1101451"/>
          </a:xfrm>
          <a:prstGeom prst="leftBrace">
            <a:avLst>
              <a:gd name="adj1" fmla="val 45892"/>
              <a:gd name="adj2" fmla="val 50894"/>
            </a:avLst>
          </a:prstGeom>
          <a:solidFill>
            <a:schemeClr val="bg1"/>
          </a:solid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64" name="Text Box 8"/>
          <p:cNvSpPr txBox="1">
            <a:spLocks noChangeArrowheads="1"/>
          </p:cNvSpPr>
          <p:nvPr/>
        </p:nvSpPr>
        <p:spPr bwMode="auto">
          <a:xfrm>
            <a:off x="5628973" y="1973515"/>
            <a:ext cx="1267655" cy="902855"/>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左子树中序序列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有</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个结点</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63" name="Freeform 7"/>
          <p:cNvSpPr>
            <a:spLocks/>
          </p:cNvSpPr>
          <p:nvPr/>
        </p:nvSpPr>
        <p:spPr bwMode="auto">
          <a:xfrm>
            <a:off x="2062637" y="868632"/>
            <a:ext cx="4722719" cy="1267"/>
          </a:xfrm>
          <a:custGeom>
            <a:avLst/>
            <a:gdLst/>
            <a:ahLst/>
            <a:cxnLst>
              <a:cxn ang="0">
                <a:pos x="0" y="0"/>
              </a:cxn>
              <a:cxn ang="0">
                <a:pos x="3353" y="0"/>
              </a:cxn>
            </a:cxnLst>
            <a:rect l="0" t="0" r="r" b="b"/>
            <a:pathLst>
              <a:path w="3353" h="1">
                <a:moveTo>
                  <a:pt x="0" y="0"/>
                </a:moveTo>
                <a:lnTo>
                  <a:pt x="3353" y="0"/>
                </a:lnTo>
              </a:path>
            </a:pathLst>
          </a:custGeom>
          <a:solidFill>
            <a:schemeClr val="bg1"/>
          </a:solidFill>
          <a:ln w="28575">
            <a:solidFill>
              <a:schemeClr val="tx1"/>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62" name="Text Box 6"/>
          <p:cNvSpPr txBox="1">
            <a:spLocks noChangeArrowheads="1"/>
          </p:cNvSpPr>
          <p:nvPr/>
        </p:nvSpPr>
        <p:spPr bwMode="auto">
          <a:xfrm>
            <a:off x="2696464" y="500042"/>
            <a:ext cx="3422668" cy="272326"/>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通过</a:t>
            </a: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Times New Roman" pitchFamily="18" charset="0"/>
              </a:rPr>
              <a:t>0</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在中序序列中找到</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61" name="AutoShape 5"/>
          <p:cNvSpPr>
            <a:spLocks/>
          </p:cNvSpPr>
          <p:nvPr/>
        </p:nvSpPr>
        <p:spPr bwMode="auto">
          <a:xfrm rot="16200000">
            <a:off x="8001459" y="1337453"/>
            <a:ext cx="179862" cy="1008000"/>
          </a:xfrm>
          <a:prstGeom prst="leftBrace">
            <a:avLst>
              <a:gd name="adj1" fmla="val 45892"/>
              <a:gd name="adj2" fmla="val 50894"/>
            </a:avLst>
          </a:prstGeom>
          <a:solidFill>
            <a:schemeClr val="bg1"/>
          </a:solid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60" name="Text Box 4"/>
          <p:cNvSpPr txBox="1">
            <a:spLocks noChangeArrowheads="1"/>
          </p:cNvSpPr>
          <p:nvPr/>
        </p:nvSpPr>
        <p:spPr bwMode="auto">
          <a:xfrm>
            <a:off x="7188188" y="1993781"/>
            <a:ext cx="1598654" cy="882589"/>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右子树中序序列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有</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个结点</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59" name="Text Box 3"/>
          <p:cNvSpPr txBox="1">
            <a:spLocks noChangeArrowheads="1"/>
          </p:cNvSpPr>
          <p:nvPr/>
        </p:nvSpPr>
        <p:spPr bwMode="auto">
          <a:xfrm>
            <a:off x="142844" y="1417464"/>
            <a:ext cx="1145115" cy="272326"/>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先序序列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058" name="Text Box 2"/>
          <p:cNvSpPr txBox="1">
            <a:spLocks noChangeArrowheads="1"/>
          </p:cNvSpPr>
          <p:nvPr/>
        </p:nvSpPr>
        <p:spPr bwMode="auto">
          <a:xfrm>
            <a:off x="4319063" y="1418731"/>
            <a:ext cx="1145115" cy="272326"/>
          </a:xfrm>
          <a:prstGeom prst="rect">
            <a:avLst/>
          </a:prstGeom>
          <a:solidFill>
            <a:schemeClr val="bg1"/>
          </a:solidFill>
          <a:ln w="9525">
            <a:solidFill>
              <a:schemeClr val="accent6">
                <a:lumMod val="20000"/>
                <a:lumOff val="80000"/>
              </a:schemeClr>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中序序列</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TextBox 25"/>
          <p:cNvSpPr txBox="1"/>
          <p:nvPr/>
        </p:nvSpPr>
        <p:spPr>
          <a:xfrm>
            <a:off x="714348" y="3714752"/>
            <a:ext cx="7000924" cy="461665"/>
          </a:xfrm>
          <a:prstGeom prst="rect">
            <a:avLst/>
          </a:prstGeom>
          <a:solidFill>
            <a:schemeClr val="bg1"/>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Consolas" pitchFamily="49" charset="0"/>
              </a:rPr>
              <a:t>二叉树的</a:t>
            </a:r>
            <a:r>
              <a:rPr lang="en-US" altLang="zh-CN">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个部分均可以唯一确定 </a:t>
            </a:r>
            <a:r>
              <a:rPr lang="zh-CN" altLang="en-US">
                <a:solidFill>
                  <a:srgbClr val="0000FF"/>
                </a:solidFill>
                <a:latin typeface="Consolas" pitchFamily="49" charset="0"/>
                <a:ea typeface="仿宋" pitchFamily="49" charset="-122"/>
                <a:cs typeface="Consolas" pitchFamily="49" charset="0"/>
                <a:sym typeface="Wingdings"/>
              </a:rPr>
              <a:t> </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时成立！</a:t>
            </a:r>
          </a:p>
        </p:txBody>
      </p:sp>
      <p:sp>
        <p:nvSpPr>
          <p:cNvPr id="45072" name="AutoShape 16"/>
          <p:cNvSpPr>
            <a:spLocks/>
          </p:cNvSpPr>
          <p:nvPr/>
        </p:nvSpPr>
        <p:spPr bwMode="auto">
          <a:xfrm rot="16200000">
            <a:off x="2217105" y="1465098"/>
            <a:ext cx="181128" cy="720000"/>
          </a:xfrm>
          <a:prstGeom prst="leftBrace">
            <a:avLst>
              <a:gd name="adj1" fmla="val 32401"/>
              <a:gd name="adj2" fmla="val 50894"/>
            </a:avLst>
          </a:prstGeom>
          <a:solidFill>
            <a:schemeClr val="bg1"/>
          </a:solid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071" name="AutoShape 15"/>
          <p:cNvSpPr>
            <a:spLocks/>
          </p:cNvSpPr>
          <p:nvPr/>
        </p:nvSpPr>
        <p:spPr bwMode="auto">
          <a:xfrm rot="16200000">
            <a:off x="3370446" y="1439796"/>
            <a:ext cx="179862" cy="784538"/>
          </a:xfrm>
          <a:prstGeom prst="leftBrace">
            <a:avLst>
              <a:gd name="adj1" fmla="val 32688"/>
              <a:gd name="adj2" fmla="val 50894"/>
            </a:avLst>
          </a:prstGeom>
          <a:solidFill>
            <a:schemeClr val="bg1"/>
          </a:solid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pPr/>
              <a:t>33</a:t>
            </a:fld>
            <a:r>
              <a:rPr lang="en-US" altLang="zh-CN"/>
              <a:t>/91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1604" y="1000108"/>
            <a:ext cx="6786610" cy="209288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1200"/>
              </a:spcBef>
              <a:buBlip>
                <a:blip r:embed="rId3"/>
              </a:buBlip>
            </a:pPr>
            <a:r>
              <a:rPr lang="zh-CN" altLang="zh-CN">
                <a:solidFill>
                  <a:srgbClr val="0000FF"/>
                </a:solidFill>
                <a:latin typeface="楷体" pitchFamily="49" charset="-122"/>
                <a:ea typeface="楷体" pitchFamily="49" charset="-122"/>
              </a:rPr>
              <a:t>递归与数学归纳法本质是相同的。</a:t>
            </a:r>
            <a:endParaRPr lang="en-US" altLang="zh-CN">
              <a:solidFill>
                <a:srgbClr val="0000FF"/>
              </a:solidFill>
              <a:latin typeface="楷体" pitchFamily="49" charset="-122"/>
              <a:ea typeface="楷体" pitchFamily="49" charset="-122"/>
            </a:endParaRPr>
          </a:p>
          <a:p>
            <a:pPr marL="457200" indent="-457200" algn="l">
              <a:lnSpc>
                <a:spcPct val="100000"/>
              </a:lnSpc>
              <a:spcBef>
                <a:spcPts val="1200"/>
              </a:spcBef>
              <a:buBlip>
                <a:blip r:embed="rId3"/>
              </a:buBlip>
            </a:pPr>
            <a:r>
              <a:rPr lang="zh-CN" altLang="zh-CN">
                <a:solidFill>
                  <a:srgbClr val="0000FF"/>
                </a:solidFill>
                <a:latin typeface="楷体" pitchFamily="49" charset="-122"/>
                <a:ea typeface="楷体" pitchFamily="49" charset="-122"/>
              </a:rPr>
              <a:t>数学归纳法是一种证明方法，而递归是一种算法设计或者编程技术，数学归纳法是递归的理论基础，所以实际中往往利用数学归纳法思路来设计递归算法。</a:t>
            </a:r>
            <a:endParaRPr lang="zh-CN" altLang="en-US">
              <a:solidFill>
                <a:srgbClr val="0000FF"/>
              </a:solidFill>
              <a:latin typeface="楷体" pitchFamily="49" charset="-122"/>
              <a:ea typeface="楷体" pitchFamily="49" charset="-122"/>
              <a:cs typeface="Consolas" pitchFamily="49" charset="0"/>
            </a:endParaRPr>
          </a:p>
        </p:txBody>
      </p:sp>
      <p:pic>
        <p:nvPicPr>
          <p:cNvPr id="4" name="Picture 2"/>
          <p:cNvPicPr>
            <a:picLocks noChangeAspect="1" noChangeArrowheads="1"/>
          </p:cNvPicPr>
          <p:nvPr/>
        </p:nvPicPr>
        <p:blipFill>
          <a:blip r:embed="rId4" cstate="print"/>
          <a:srcRect/>
          <a:stretch>
            <a:fillRect/>
          </a:stretch>
        </p:blipFill>
        <p:spPr bwMode="auto">
          <a:xfrm>
            <a:off x="285720" y="1357298"/>
            <a:ext cx="1276350" cy="1181100"/>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fld id="{7AF016A1-9F15-429F-9EFD-84004B73C732}" type="slidenum">
              <a:rPr lang="en-US" altLang="zh-CN" smtClean="0"/>
              <a:pPr/>
              <a:t>34</a:t>
            </a:fld>
            <a:r>
              <a:rPr lang="en-US" altLang="zh-CN"/>
              <a:t>/91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600079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2.2.2 </a:t>
            </a:r>
            <a:r>
              <a:rPr lang="zh-CN" altLang="zh-CN" sz="2800">
                <a:latin typeface="Consolas" pitchFamily="49" charset="0"/>
                <a:ea typeface="微软雅黑" pitchFamily="34" charset="-122"/>
              </a:rPr>
              <a:t>递归算法设计的一般步骤</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642910" y="1928802"/>
            <a:ext cx="7572428" cy="961161"/>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楷体" pitchFamily="49" charset="-122"/>
              </a:rPr>
              <a:t>递归算法设计的关键是提取求解问题的递归模型</a:t>
            </a:r>
            <a:r>
              <a:rPr lang="zh-CN" altLang="en-US">
                <a:solidFill>
                  <a:srgbClr val="0000FF"/>
                </a:solidFill>
                <a:latin typeface="Consolas" pitchFamily="49" charset="0"/>
                <a:ea typeface="楷体" pitchFamily="49" charset="-122"/>
              </a:rPr>
              <a:t>。</a:t>
            </a:r>
            <a:endParaRPr lang="en-US" altLang="zh-CN">
              <a:solidFill>
                <a:srgbClr val="0000FF"/>
              </a:solidFill>
              <a:latin typeface="Consolas" pitchFamily="49" charset="0"/>
              <a:ea typeface="楷体"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楷体" pitchFamily="49" charset="-122"/>
              </a:rPr>
              <a:t>在此基础上转换成对应的递归算法。</a:t>
            </a:r>
            <a:endParaRPr lang="zh-CN" altLang="en-US">
              <a:solidFill>
                <a:srgbClr val="0000FF"/>
              </a:solidFill>
              <a:latin typeface="Consolas" pitchFamily="49" charset="0"/>
              <a:ea typeface="楷体"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35</a:t>
            </a:fld>
            <a:r>
              <a:rPr lang="en-US" altLang="zh-CN"/>
              <a:t>/91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542928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提取求解问题的递归模型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85720" y="1428736"/>
            <a:ext cx="8286808" cy="2108911"/>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400"/>
              </a:lnSpc>
              <a:spcBef>
                <a:spcPts val="12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）对原问题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进行分析，找出合理的小问题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 。</a:t>
            </a:r>
          </a:p>
          <a:p>
            <a:pPr algn="l" defTabSz="360000">
              <a:lnSpc>
                <a:spcPts val="3400"/>
              </a:lnSpc>
              <a:spcBef>
                <a:spcPts val="12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）假设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是可解的，在此基础上确定</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的解，即给出</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与</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之间的关系</a:t>
            </a:r>
            <a:r>
              <a:rPr lang="zh-CN" altLang="en-US">
                <a:solidFill>
                  <a:srgbClr val="0000FF"/>
                </a:solidFill>
                <a:latin typeface="Consolas" pitchFamily="49" charset="0"/>
                <a:ea typeface="仿宋" pitchFamily="49" charset="-122"/>
                <a:sym typeface="Wingdings"/>
              </a:rPr>
              <a:t></a:t>
            </a:r>
            <a:r>
              <a:rPr lang="zh-CN" altLang="zh-CN">
                <a:solidFill>
                  <a:srgbClr val="0000FF"/>
                </a:solidFill>
                <a:latin typeface="Consolas" pitchFamily="49" charset="0"/>
                <a:ea typeface="仿宋" pitchFamily="49" charset="-122"/>
              </a:rPr>
              <a:t>递归体。</a:t>
            </a:r>
          </a:p>
          <a:p>
            <a:pPr algn="l" defTabSz="360000">
              <a:lnSpc>
                <a:spcPts val="3400"/>
              </a:lnSpc>
              <a:spcBef>
                <a:spcPts val="12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）找到一个特定的可以直接求解的情况</a:t>
            </a:r>
            <a:r>
              <a:rPr lang="zh-CN" altLang="en-US">
                <a:solidFill>
                  <a:srgbClr val="0000FF"/>
                </a:solidFill>
                <a:latin typeface="Consolas" pitchFamily="49" charset="0"/>
                <a:ea typeface="仿宋" pitchFamily="49" charset="-122"/>
                <a:sym typeface="Wingdings"/>
              </a:rPr>
              <a:t></a:t>
            </a:r>
            <a:r>
              <a:rPr lang="zh-CN" altLang="zh-CN">
                <a:solidFill>
                  <a:srgbClr val="0000FF"/>
                </a:solidFill>
                <a:latin typeface="Consolas" pitchFamily="49" charset="0"/>
                <a:ea typeface="仿宋" pitchFamily="49" charset="-122"/>
              </a:rPr>
              <a:t>递归出口。</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36</a:t>
            </a:fld>
            <a:r>
              <a:rPr lang="en-US" altLang="zh-CN"/>
              <a:t>/91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643998" cy="9900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2.6</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给定一个含</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&gt;2</a:t>
            </a:r>
            <a:r>
              <a:rPr lang="zh-CN" altLang="zh-CN">
                <a:solidFill>
                  <a:srgbClr val="0000FF"/>
                </a:solidFill>
                <a:latin typeface="Consolas" pitchFamily="49" charset="0"/>
                <a:ea typeface="仿宋" pitchFamily="49" charset="-122"/>
              </a:rPr>
              <a:t>）个整数的数组</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，设计一个递归算法求其中最大元素。</a:t>
            </a:r>
          </a:p>
        </p:txBody>
      </p:sp>
      <p:sp>
        <p:nvSpPr>
          <p:cNvPr id="4" name="TextBox 3"/>
          <p:cNvSpPr txBox="1"/>
          <p:nvPr/>
        </p:nvSpPr>
        <p:spPr>
          <a:xfrm>
            <a:off x="285720" y="185736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00034" y="2500306"/>
            <a:ext cx="842968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low</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high)</a:t>
            </a:r>
            <a:r>
              <a:rPr lang="zh-CN" altLang="zh-CN">
                <a:solidFill>
                  <a:srgbClr val="0000FF"/>
                </a:solidFill>
                <a:latin typeface="Consolas" pitchFamily="49" charset="0"/>
                <a:ea typeface="仿宋" pitchFamily="49" charset="-122"/>
              </a:rPr>
              <a:t>求</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[low..high]</a:t>
            </a:r>
            <a:r>
              <a:rPr lang="zh-CN" altLang="zh-CN">
                <a:solidFill>
                  <a:srgbClr val="0000FF"/>
                </a:solidFill>
                <a:latin typeface="Consolas" pitchFamily="49" charset="0"/>
                <a:ea typeface="仿宋" pitchFamily="49" charset="-122"/>
              </a:rPr>
              <a:t>中的最大元素。</a:t>
            </a:r>
          </a:p>
        </p:txBody>
      </p:sp>
      <p:sp>
        <p:nvSpPr>
          <p:cNvPr id="6" name="TextBox 5"/>
          <p:cNvSpPr txBox="1"/>
          <p:nvPr/>
        </p:nvSpPr>
        <p:spPr>
          <a:xfrm>
            <a:off x="571472" y="3500438"/>
            <a:ext cx="7929618" cy="1788823"/>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4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low</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high)=</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[low]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low=high</a:t>
            </a:r>
            <a:r>
              <a:rPr lang="zh-CN" altLang="zh-CN" sz="2000">
                <a:solidFill>
                  <a:srgbClr val="00B0F0"/>
                </a:solidFill>
                <a:latin typeface="Consolas" pitchFamily="49" charset="0"/>
                <a:ea typeface="仿宋" pitchFamily="49" charset="-122"/>
              </a:rPr>
              <a:t>时</a:t>
            </a:r>
          </a:p>
          <a:p>
            <a:pPr algn="l" defTabSz="360000">
              <a:lnSpc>
                <a:spcPts val="34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low</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high)=MAX{lmaxe</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rmaxe}				</a:t>
            </a:r>
            <a:r>
              <a:rPr lang="zh-CN" altLang="zh-CN" sz="2000">
                <a:solidFill>
                  <a:srgbClr val="00B0F0"/>
                </a:solidFill>
                <a:latin typeface="Consolas" pitchFamily="49" charset="0"/>
                <a:ea typeface="仿宋" pitchFamily="49" charset="-122"/>
              </a:rPr>
              <a:t>其他情况</a:t>
            </a:r>
          </a:p>
          <a:p>
            <a:pPr algn="l" defTabSz="360000">
              <a:lnSpc>
                <a:spcPts val="34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其中</a:t>
            </a:r>
            <a:r>
              <a:rPr lang="en-US" altLang="zh-CN" sz="2000">
                <a:solidFill>
                  <a:srgbClr val="0000FF"/>
                </a:solidFill>
                <a:latin typeface="Consolas" pitchFamily="49" charset="0"/>
                <a:ea typeface="仿宋" pitchFamily="49" charset="-122"/>
              </a:rPr>
              <a:t>lmaxe=</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low</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mid)</a:t>
            </a:r>
            <a:endParaRPr lang="zh-CN" altLang="zh-CN" sz="2000">
              <a:solidFill>
                <a:srgbClr val="0000FF"/>
              </a:solidFill>
              <a:latin typeface="Consolas" pitchFamily="49" charset="0"/>
              <a:ea typeface="仿宋" pitchFamily="49" charset="-122"/>
            </a:endParaRPr>
          </a:p>
          <a:p>
            <a:pPr algn="l" defTabSz="360000">
              <a:lnSpc>
                <a:spcPts val="3400"/>
              </a:lnSpc>
              <a:spcBef>
                <a:spcPts val="0"/>
              </a:spcBef>
            </a:pPr>
            <a:r>
              <a:rPr lang="en-US" altLang="zh-CN" sz="2000" i="1">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rmaxe</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mid+1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high)</a:t>
            </a:r>
            <a:endParaRPr lang="zh-CN" altLang="en-US" sz="200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37</a:t>
            </a:fld>
            <a:r>
              <a:rPr lang="en-US" altLang="zh-CN"/>
              <a:t>/91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14290"/>
            <a:ext cx="8358246" cy="44102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3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maxe</a:t>
            </a:r>
            <a:r>
              <a:rPr lang="en-US" altLang="zh-CN" sz="2000">
                <a:solidFill>
                  <a:srgbClr val="0000FF"/>
                </a:solidFill>
                <a:latin typeface="Consolas" pitchFamily="49" charset="0"/>
                <a:ea typeface="仿宋" pitchFamily="49" charset="-122"/>
              </a:rPr>
              <a:t>(int a[],int low,int high)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递归算法</a:t>
            </a:r>
          </a:p>
          <a:p>
            <a:pPr algn="l" defTabSz="360000">
              <a:lnSpc>
                <a:spcPts val="3300"/>
              </a:lnSpc>
              <a:spcBef>
                <a:spcPts val="0"/>
              </a:spcBef>
            </a:pPr>
            <a:r>
              <a:rPr lang="en-US" altLang="zh-CN" sz="2000">
                <a:solidFill>
                  <a:srgbClr val="0000FF"/>
                </a:solidFill>
                <a:latin typeface="Consolas" pitchFamily="49" charset="0"/>
                <a:ea typeface="仿宋" pitchFamily="49" charset="-122"/>
              </a:rPr>
              <a:t>	if (low==high)</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return a[low];</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int mid=(low+high)/2;</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lmaxe</a:t>
            </a:r>
            <a:r>
              <a:rPr lang="en-US" altLang="zh-CN" sz="2000">
                <a:solidFill>
                  <a:srgbClr val="0000FF"/>
                </a:solidFill>
                <a:latin typeface="Consolas" pitchFamily="49" charset="0"/>
                <a:ea typeface="仿宋" pitchFamily="49" charset="-122"/>
              </a:rPr>
              <a:t>=maxe(a,low,mid);</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rmaxe</a:t>
            </a:r>
            <a:r>
              <a:rPr lang="en-US" altLang="zh-CN" sz="2000">
                <a:solidFill>
                  <a:srgbClr val="0000FF"/>
                </a:solidFill>
                <a:latin typeface="Consolas" pitchFamily="49" charset="0"/>
                <a:ea typeface="仿宋" pitchFamily="49" charset="-122"/>
              </a:rPr>
              <a:t>=maxe(a,mid+1,high);</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return max(lmaxe,rmaxe);</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38</a:t>
            </a:fld>
            <a:r>
              <a:rPr lang="en-US" altLang="zh-CN"/>
              <a:t>/91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685804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2.2.3 </a:t>
            </a:r>
            <a:r>
              <a:rPr lang="zh-CN" altLang="zh-CN" sz="2800">
                <a:latin typeface="Consolas" pitchFamily="49" charset="0"/>
                <a:ea typeface="微软雅黑" pitchFamily="34" charset="-122"/>
              </a:rPr>
              <a:t>基于递归数据结构的递归算法设计</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428596" y="1785926"/>
            <a:ext cx="7929618" cy="2785378"/>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600"/>
              </a:spcBef>
              <a:buBlip>
                <a:blip r:embed="rId3"/>
              </a:buBlip>
            </a:pPr>
            <a:r>
              <a:rPr lang="zh-CN" altLang="zh-CN">
                <a:solidFill>
                  <a:srgbClr val="0000FF"/>
                </a:solidFill>
                <a:latin typeface="Consolas" pitchFamily="49" charset="0"/>
                <a:ea typeface="仿宋" pitchFamily="49" charset="-122"/>
              </a:rPr>
              <a:t>像单链表、二叉树等都是递归数据结构</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600"/>
              </a:spcBef>
              <a:buBlip>
                <a:blip r:embed="rId3"/>
              </a:buBlip>
            </a:pPr>
            <a:r>
              <a:rPr lang="zh-CN" altLang="zh-CN">
                <a:solidFill>
                  <a:srgbClr val="0000FF"/>
                </a:solidFill>
                <a:latin typeface="Consolas" pitchFamily="49" charset="0"/>
                <a:ea typeface="仿宋" pitchFamily="49" charset="-122"/>
              </a:rPr>
              <a:t>递归数据结构中很容易找到其中的基本递归运算，例如二叉树中取一个结点（</a:t>
            </a:r>
            <a:r>
              <a:rPr lang="en-US" altLang="zh-CN">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）的左右子树即</a:t>
            </a:r>
            <a:r>
              <a:rPr lang="en-US" altLang="zh-CN">
                <a:solidFill>
                  <a:srgbClr val="FF00FF"/>
                </a:solidFill>
                <a:latin typeface="Consolas" pitchFamily="49" charset="0"/>
                <a:ea typeface="仿宋" pitchFamily="49" charset="-122"/>
              </a:rPr>
              <a:t>r-&gt;left</a:t>
            </a:r>
            <a:r>
              <a:rPr lang="zh-CN" altLang="zh-CN">
                <a:solidFill>
                  <a:srgbClr val="0000FF"/>
                </a:solidFill>
                <a:latin typeface="Consolas" pitchFamily="49" charset="0"/>
                <a:ea typeface="仿宋" pitchFamily="49" charset="-122"/>
              </a:rPr>
              <a:t>和</a:t>
            </a:r>
            <a:r>
              <a:rPr lang="en-US" altLang="zh-CN">
                <a:solidFill>
                  <a:srgbClr val="FF00FF"/>
                </a:solidFill>
                <a:latin typeface="Consolas" pitchFamily="49" charset="0"/>
                <a:ea typeface="仿宋" pitchFamily="49" charset="-122"/>
              </a:rPr>
              <a:t>r-&gt;right</a:t>
            </a:r>
            <a:r>
              <a:rPr lang="zh-CN" altLang="zh-CN">
                <a:solidFill>
                  <a:srgbClr val="0000FF"/>
                </a:solidFill>
                <a:latin typeface="Consolas" pitchFamily="49" charset="0"/>
                <a:ea typeface="仿宋" pitchFamily="49" charset="-122"/>
              </a:rPr>
              <a:t>就是基本递归运算，因为取出的子树也一定是二叉树。</a:t>
            </a:r>
            <a:endParaRPr lang="en-US" altLang="zh-CN">
              <a:solidFill>
                <a:srgbClr val="0000FF"/>
              </a:solidFill>
              <a:latin typeface="Consolas" pitchFamily="49" charset="0"/>
              <a:ea typeface="仿宋" pitchFamily="49" charset="-122"/>
            </a:endParaRPr>
          </a:p>
          <a:p>
            <a:pPr marL="457200" indent="-457200" algn="l">
              <a:lnSpc>
                <a:spcPts val="3300"/>
              </a:lnSpc>
              <a:spcBef>
                <a:spcPts val="600"/>
              </a:spcBef>
              <a:buBlip>
                <a:blip r:embed="rId3"/>
              </a:buBlip>
            </a:pPr>
            <a:r>
              <a:rPr lang="zh-CN" altLang="zh-CN">
                <a:solidFill>
                  <a:srgbClr val="0000FF"/>
                </a:solidFill>
                <a:latin typeface="Consolas" pitchFamily="49" charset="0"/>
                <a:ea typeface="仿宋" pitchFamily="49" charset="-122"/>
              </a:rPr>
              <a:t>递归数据结构特别适合采用递归法求解。</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39</a:t>
            </a:fld>
            <a:r>
              <a:rPr lang="en-US" altLang="zh-CN"/>
              <a:t>/91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642918"/>
            <a:ext cx="8643998" cy="104131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7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2.7</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给定一个不带头结点的单链表</a:t>
            </a:r>
            <a:r>
              <a:rPr lang="en-US" altLang="zh-CN" i="1">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，设计一个递归算法删除其中所有结点值为</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的结点。</a:t>
            </a:r>
          </a:p>
        </p:txBody>
      </p:sp>
      <p:sp>
        <p:nvSpPr>
          <p:cNvPr id="5" name="TextBox 4"/>
          <p:cNvSpPr txBox="1"/>
          <p:nvPr/>
        </p:nvSpPr>
        <p:spPr>
          <a:xfrm>
            <a:off x="357158" y="2285992"/>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1428728" y="2071678"/>
            <a:ext cx="7286676"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的功能是删除以</a:t>
            </a:r>
            <a:r>
              <a:rPr lang="en-US" altLang="zh-CN" i="1">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为首结点的单链表中所有结点值为</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的结点</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500034" y="3214686"/>
            <a:ext cx="8215370" cy="1733808"/>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 不做任何事件</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h=NULL</a:t>
            </a:r>
            <a:r>
              <a:rPr lang="zh-CN" altLang="zh-CN" sz="2000">
                <a:solidFill>
                  <a:srgbClr val="00B0F0"/>
                </a:solidFill>
                <a:latin typeface="Consolas" pitchFamily="49" charset="0"/>
                <a:ea typeface="仿宋" pitchFamily="49" charset="-122"/>
              </a:rPr>
              <a:t>时</a:t>
            </a:r>
          </a:p>
          <a:p>
            <a:pPr algn="l" defTabSz="360000">
              <a:lnSpc>
                <a:spcPts val="32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删除</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结点；</a:t>
            </a: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让</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指向原后继结点；</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h-&gt;val=x</a:t>
            </a:r>
            <a:r>
              <a:rPr lang="zh-CN" altLang="zh-CN" sz="2000">
                <a:solidFill>
                  <a:srgbClr val="00B0F0"/>
                </a:solidFill>
                <a:latin typeface="Consolas" pitchFamily="49" charset="0"/>
                <a:ea typeface="仿宋" pitchFamily="49" charset="-122"/>
              </a:rPr>
              <a:t>时</a:t>
            </a:r>
          </a:p>
          <a:p>
            <a:pPr algn="l" defTabSz="360000">
              <a:lnSpc>
                <a:spcPts val="32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h</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(h-&gt;next</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h-&gt;val</a:t>
            </a:r>
            <a:r>
              <a:rPr lang="zh-CN" altLang="zh-CN" sz="2000">
                <a:solidFill>
                  <a:srgbClr val="00B0F0"/>
                </a:solidFill>
                <a:latin typeface="+mj-ea"/>
                <a:ea typeface="+mj-ea"/>
              </a:rPr>
              <a:t>≠</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40</a:t>
            </a:fld>
            <a:r>
              <a:rPr lang="en-US" altLang="zh-CN"/>
              <a:t>/91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14290"/>
            <a:ext cx="8429684" cy="41679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Delallx</a:t>
            </a:r>
            <a:r>
              <a:rPr lang="en-US" altLang="zh-CN" sz="2000">
                <a:solidFill>
                  <a:srgbClr val="0000FF"/>
                </a:solidFill>
                <a:latin typeface="Consolas" pitchFamily="49" charset="0"/>
                <a:ea typeface="仿宋" pitchFamily="49" charset="-122"/>
              </a:rPr>
              <a:t>(ListNode *&amp;h,int x)	{</a:t>
            </a:r>
          </a:p>
          <a:p>
            <a:pPr algn="l" defTabSz="360000">
              <a:lnSpc>
                <a:spcPts val="28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删除</a:t>
            </a:r>
            <a:r>
              <a:rPr lang="en-US" altLang="zh-CN" sz="2000">
                <a:solidFill>
                  <a:srgbClr val="00B050"/>
                </a:solidFill>
                <a:latin typeface="Consolas" pitchFamily="49" charset="0"/>
                <a:ea typeface="仿宋" pitchFamily="49" charset="-122"/>
              </a:rPr>
              <a:t>L</a:t>
            </a:r>
            <a:r>
              <a:rPr lang="zh-CN" altLang="zh-CN" sz="2000">
                <a:solidFill>
                  <a:srgbClr val="00B050"/>
                </a:solidFill>
                <a:latin typeface="Consolas" pitchFamily="49" charset="0"/>
                <a:ea typeface="仿宋" pitchFamily="49" charset="-122"/>
              </a:rPr>
              <a:t>中所有结点值为</a:t>
            </a:r>
            <a:r>
              <a:rPr lang="en-US" altLang="zh-CN" sz="2000">
                <a:solidFill>
                  <a:srgbClr val="00B050"/>
                </a:solidFill>
                <a:latin typeface="Consolas" pitchFamily="49" charset="0"/>
                <a:ea typeface="仿宋" pitchFamily="49" charset="-122"/>
              </a:rPr>
              <a:t>x</a:t>
            </a:r>
            <a:r>
              <a:rPr lang="zh-CN" altLang="zh-CN" sz="2000">
                <a:solidFill>
                  <a:srgbClr val="00B050"/>
                </a:solidFill>
                <a:latin typeface="Consolas" pitchFamily="49" charset="0"/>
                <a:ea typeface="仿宋" pitchFamily="49" charset="-122"/>
              </a:rPr>
              <a:t>的结点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ListNode *p;</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(h==NULL) return;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(h-&gt;val==x)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p=h; h=h-&gt;next;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delete 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删除结点值为</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的结点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Delallx</a:t>
            </a:r>
            <a:r>
              <a:rPr lang="en-US" altLang="zh-CN" sz="2000">
                <a:solidFill>
                  <a:srgbClr val="0000FF"/>
                </a:solidFill>
                <a:latin typeface="Consolas" pitchFamily="49" charset="0"/>
                <a:ea typeface="仿宋" pitchFamily="49" charset="-122"/>
              </a:rPr>
              <a:t>(h,x);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此时减少了一个结点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FF0000"/>
                </a:solidFill>
                <a:latin typeface="Consolas" pitchFamily="49" charset="0"/>
                <a:ea typeface="仿宋" pitchFamily="49" charset="-122"/>
              </a:rPr>
              <a:t>Delallx</a:t>
            </a:r>
            <a:r>
              <a:rPr lang="en-US" altLang="zh-CN" sz="2000">
                <a:solidFill>
                  <a:srgbClr val="0000FF"/>
                </a:solidFill>
                <a:latin typeface="Consolas" pitchFamily="49" charset="0"/>
                <a:ea typeface="仿宋" pitchFamily="49" charset="-122"/>
              </a:rPr>
              <a:t>(h-&gt;next,x);</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41</a:t>
            </a:fld>
            <a:r>
              <a:rPr lang="en-US" altLang="zh-CN"/>
              <a:t>/91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1285860"/>
            <a:ext cx="8643998" cy="173380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2.8</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克隆二叉树（</a:t>
            </a:r>
            <a:r>
              <a:rPr lang="en-US" altLang="zh-CN">
                <a:solidFill>
                  <a:srgbClr val="0000FF"/>
                </a:solidFill>
                <a:latin typeface="Consolas" pitchFamily="49" charset="0"/>
                <a:ea typeface="仿宋" pitchFamily="49" charset="-122"/>
              </a:rPr>
              <a:t>LintCode375</a:t>
            </a:r>
            <a:r>
              <a:rPr lang="zh-CN" altLang="zh-CN">
                <a:solidFill>
                  <a:srgbClr val="0000FF"/>
                </a:solidFill>
                <a:latin typeface="Consolas" pitchFamily="49" charset="0"/>
                <a:ea typeface="仿宋" pitchFamily="49" charset="-122"/>
              </a:rPr>
              <a:t>★★）。给定一棵二叉树，设计一个递归算法返回一个它的深度拷贝</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lvl="1" algn="l" defTabSz="360000">
              <a:lnSpc>
                <a:spcPts val="3200"/>
              </a:lnSpc>
              <a:spcBef>
                <a:spcPts val="0"/>
              </a:spcBef>
            </a:pPr>
            <a:r>
              <a:rPr lang="en-US" altLang="zh-CN" sz="2000">
                <a:solidFill>
                  <a:srgbClr val="006600"/>
                </a:solidFill>
                <a:latin typeface="Consolas" pitchFamily="49" charset="0"/>
                <a:ea typeface="仿宋" pitchFamily="49" charset="-122"/>
              </a:rPr>
              <a:t>TreeNode * cloneTree(TreeNode* r) { }</a:t>
            </a:r>
            <a:endParaRPr lang="zh-CN" altLang="zh-CN" sz="2000">
              <a:solidFill>
                <a:srgbClr val="006600"/>
              </a:solidFill>
              <a:latin typeface="Consolas" pitchFamily="49" charset="0"/>
              <a:ea typeface="仿宋" pitchFamily="49" charset="-122"/>
            </a:endParaRPr>
          </a:p>
        </p:txBody>
      </p:sp>
      <p:sp>
        <p:nvSpPr>
          <p:cNvPr id="43042"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0" name="组合 49"/>
          <p:cNvGrpSpPr/>
          <p:nvPr/>
        </p:nvGrpSpPr>
        <p:grpSpPr>
          <a:xfrm>
            <a:off x="1285852" y="3571876"/>
            <a:ext cx="2143140" cy="2500330"/>
            <a:chOff x="1214414" y="2500306"/>
            <a:chExt cx="2143140" cy="2500330"/>
          </a:xfrm>
        </p:grpSpPr>
        <p:sp>
          <p:nvSpPr>
            <p:cNvPr id="38" name="椭圆 37"/>
            <p:cNvSpPr/>
            <p:nvPr/>
          </p:nvSpPr>
          <p:spPr>
            <a:xfrm>
              <a:off x="1827370" y="2959097"/>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3</a:t>
              </a:r>
              <a:endParaRPr lang="zh-CN" altLang="en-US" sz="2000">
                <a:latin typeface="Consolas" pitchFamily="49" charset="0"/>
              </a:endParaRPr>
            </a:p>
          </p:txBody>
        </p:sp>
        <p:sp>
          <p:nvSpPr>
            <p:cNvPr id="39" name="椭圆 38"/>
            <p:cNvSpPr/>
            <p:nvPr/>
          </p:nvSpPr>
          <p:spPr>
            <a:xfrm>
              <a:off x="2928926" y="457200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4</a:t>
              </a:r>
              <a:endParaRPr lang="zh-CN" altLang="en-US" sz="2000">
                <a:latin typeface="Consolas" pitchFamily="49" charset="0"/>
              </a:endParaRPr>
            </a:p>
          </p:txBody>
        </p:sp>
        <p:sp>
          <p:nvSpPr>
            <p:cNvPr id="40" name="椭圆 39"/>
            <p:cNvSpPr/>
            <p:nvPr/>
          </p:nvSpPr>
          <p:spPr>
            <a:xfrm>
              <a:off x="1643042" y="457200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1</a:t>
              </a:r>
              <a:endParaRPr lang="zh-CN" altLang="en-US" sz="2000">
                <a:latin typeface="Consolas" pitchFamily="49" charset="0"/>
              </a:endParaRPr>
            </a:p>
          </p:txBody>
        </p:sp>
        <p:sp>
          <p:nvSpPr>
            <p:cNvPr id="41" name="椭圆 40"/>
            <p:cNvSpPr/>
            <p:nvPr/>
          </p:nvSpPr>
          <p:spPr>
            <a:xfrm>
              <a:off x="2428860" y="3744915"/>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2</a:t>
              </a:r>
              <a:endParaRPr lang="zh-CN" altLang="en-US" sz="2000">
                <a:latin typeface="Consolas" pitchFamily="49" charset="0"/>
              </a:endParaRPr>
            </a:p>
          </p:txBody>
        </p:sp>
        <p:sp>
          <p:nvSpPr>
            <p:cNvPr id="42" name="椭圆 41"/>
            <p:cNvSpPr/>
            <p:nvPr/>
          </p:nvSpPr>
          <p:spPr>
            <a:xfrm>
              <a:off x="1214414" y="3744915"/>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5</a:t>
              </a:r>
              <a:endParaRPr lang="zh-CN" altLang="en-US" sz="2000">
                <a:latin typeface="Consolas" pitchFamily="49" charset="0"/>
              </a:endParaRPr>
            </a:p>
          </p:txBody>
        </p:sp>
        <p:cxnSp>
          <p:nvCxnSpPr>
            <p:cNvPr id="43" name="直接连接符 42"/>
            <p:cNvCxnSpPr>
              <a:stCxn id="38" idx="3"/>
              <a:endCxn id="42" idx="0"/>
            </p:cNvCxnSpPr>
            <p:nvPr/>
          </p:nvCxnSpPr>
          <p:spPr>
            <a:xfrm rot="5400000">
              <a:off x="1449455" y="3304228"/>
              <a:ext cx="419961" cy="46141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4" name="直接连接符 43"/>
            <p:cNvCxnSpPr>
              <a:stCxn id="42" idx="5"/>
              <a:endCxn id="40" idx="0"/>
            </p:cNvCxnSpPr>
            <p:nvPr/>
          </p:nvCxnSpPr>
          <p:spPr>
            <a:xfrm rot="16200000" flipH="1">
              <a:off x="1488195" y="4202847"/>
              <a:ext cx="461236" cy="27708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5" name="直接连接符 44"/>
            <p:cNvCxnSpPr>
              <a:stCxn id="38" idx="5"/>
              <a:endCxn id="41" idx="1"/>
            </p:cNvCxnSpPr>
            <p:nvPr/>
          </p:nvCxnSpPr>
          <p:spPr>
            <a:xfrm rot="16200000" flipH="1">
              <a:off x="2101063" y="3417118"/>
              <a:ext cx="482732" cy="2984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6" name="直接连接符 45"/>
            <p:cNvCxnSpPr>
              <a:stCxn id="41" idx="5"/>
              <a:endCxn id="39" idx="0"/>
            </p:cNvCxnSpPr>
            <p:nvPr/>
          </p:nvCxnSpPr>
          <p:spPr>
            <a:xfrm rot="16200000" flipH="1">
              <a:off x="2738360" y="4167128"/>
              <a:ext cx="461236" cy="34852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357290" y="2500306"/>
              <a:ext cx="428628"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r</a:t>
              </a:r>
              <a:endParaRPr lang="zh-CN" altLang="en-US" sz="2000">
                <a:solidFill>
                  <a:srgbClr val="0000FF"/>
                </a:solidFill>
                <a:latin typeface="Consolas" pitchFamily="49" charset="0"/>
                <a:ea typeface="楷体" pitchFamily="49" charset="-122"/>
                <a:cs typeface="Consolas" pitchFamily="49" charset="0"/>
              </a:endParaRPr>
            </a:p>
          </p:txBody>
        </p:sp>
        <p:cxnSp>
          <p:nvCxnSpPr>
            <p:cNvPr id="49" name="直接箭头连接符 48"/>
            <p:cNvCxnSpPr>
              <a:endCxn id="38" idx="0"/>
            </p:cNvCxnSpPr>
            <p:nvPr/>
          </p:nvCxnSpPr>
          <p:spPr>
            <a:xfrm>
              <a:off x="1714480" y="2714620"/>
              <a:ext cx="327204" cy="2444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51" name="组合 50"/>
          <p:cNvGrpSpPr/>
          <p:nvPr/>
        </p:nvGrpSpPr>
        <p:grpSpPr>
          <a:xfrm>
            <a:off x="5286380" y="3571876"/>
            <a:ext cx="2143140" cy="2500330"/>
            <a:chOff x="1214414" y="2500306"/>
            <a:chExt cx="2143140" cy="2500330"/>
          </a:xfrm>
        </p:grpSpPr>
        <p:sp>
          <p:nvSpPr>
            <p:cNvPr id="52" name="椭圆 51"/>
            <p:cNvSpPr/>
            <p:nvPr/>
          </p:nvSpPr>
          <p:spPr>
            <a:xfrm>
              <a:off x="1827370" y="2959097"/>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3</a:t>
              </a:r>
              <a:endParaRPr lang="zh-CN" altLang="en-US" sz="2000">
                <a:latin typeface="Consolas" pitchFamily="49" charset="0"/>
              </a:endParaRPr>
            </a:p>
          </p:txBody>
        </p:sp>
        <p:sp>
          <p:nvSpPr>
            <p:cNvPr id="53" name="椭圆 52"/>
            <p:cNvSpPr/>
            <p:nvPr/>
          </p:nvSpPr>
          <p:spPr>
            <a:xfrm>
              <a:off x="2928926" y="457200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4</a:t>
              </a:r>
              <a:endParaRPr lang="zh-CN" altLang="en-US" sz="2000">
                <a:latin typeface="Consolas" pitchFamily="49" charset="0"/>
              </a:endParaRPr>
            </a:p>
          </p:txBody>
        </p:sp>
        <p:sp>
          <p:nvSpPr>
            <p:cNvPr id="54" name="椭圆 53"/>
            <p:cNvSpPr/>
            <p:nvPr/>
          </p:nvSpPr>
          <p:spPr>
            <a:xfrm>
              <a:off x="1643042" y="457200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1</a:t>
              </a:r>
              <a:endParaRPr lang="zh-CN" altLang="en-US" sz="2000">
                <a:latin typeface="Consolas" pitchFamily="49" charset="0"/>
              </a:endParaRPr>
            </a:p>
          </p:txBody>
        </p:sp>
        <p:sp>
          <p:nvSpPr>
            <p:cNvPr id="55" name="椭圆 54"/>
            <p:cNvSpPr/>
            <p:nvPr/>
          </p:nvSpPr>
          <p:spPr>
            <a:xfrm>
              <a:off x="2428860" y="3744915"/>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2</a:t>
              </a:r>
              <a:endParaRPr lang="zh-CN" altLang="en-US" sz="2000">
                <a:latin typeface="Consolas" pitchFamily="49" charset="0"/>
              </a:endParaRPr>
            </a:p>
          </p:txBody>
        </p:sp>
        <p:sp>
          <p:nvSpPr>
            <p:cNvPr id="56" name="椭圆 55"/>
            <p:cNvSpPr/>
            <p:nvPr/>
          </p:nvSpPr>
          <p:spPr>
            <a:xfrm>
              <a:off x="1214414" y="3744915"/>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5</a:t>
              </a:r>
              <a:endParaRPr lang="zh-CN" altLang="en-US" sz="2000">
                <a:latin typeface="Consolas" pitchFamily="49" charset="0"/>
              </a:endParaRPr>
            </a:p>
          </p:txBody>
        </p:sp>
        <p:cxnSp>
          <p:nvCxnSpPr>
            <p:cNvPr id="57" name="直接连接符 56"/>
            <p:cNvCxnSpPr>
              <a:stCxn id="52" idx="3"/>
              <a:endCxn id="56" idx="0"/>
            </p:cNvCxnSpPr>
            <p:nvPr/>
          </p:nvCxnSpPr>
          <p:spPr>
            <a:xfrm rot="5400000">
              <a:off x="1449455" y="3304228"/>
              <a:ext cx="419961" cy="46141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8" name="直接连接符 57"/>
            <p:cNvCxnSpPr>
              <a:stCxn id="56" idx="5"/>
              <a:endCxn id="54" idx="0"/>
            </p:cNvCxnSpPr>
            <p:nvPr/>
          </p:nvCxnSpPr>
          <p:spPr>
            <a:xfrm rot="16200000" flipH="1">
              <a:off x="1488195" y="4202847"/>
              <a:ext cx="461236" cy="27708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9" name="直接连接符 58"/>
            <p:cNvCxnSpPr>
              <a:stCxn id="52" idx="5"/>
              <a:endCxn id="55" idx="1"/>
            </p:cNvCxnSpPr>
            <p:nvPr/>
          </p:nvCxnSpPr>
          <p:spPr>
            <a:xfrm rot="16200000" flipH="1">
              <a:off x="2101063" y="3417118"/>
              <a:ext cx="482732" cy="2984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0" name="直接连接符 59"/>
            <p:cNvCxnSpPr>
              <a:stCxn id="55" idx="5"/>
              <a:endCxn id="53" idx="0"/>
            </p:cNvCxnSpPr>
            <p:nvPr/>
          </p:nvCxnSpPr>
          <p:spPr>
            <a:xfrm rot="16200000" flipH="1">
              <a:off x="2738360" y="4167128"/>
              <a:ext cx="461236" cy="34852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61" name="TextBox 60"/>
            <p:cNvSpPr txBox="1"/>
            <p:nvPr/>
          </p:nvSpPr>
          <p:spPr>
            <a:xfrm>
              <a:off x="1214414" y="2500306"/>
              <a:ext cx="571504"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r1</a:t>
              </a:r>
              <a:endParaRPr lang="zh-CN" altLang="en-US" sz="2000">
                <a:solidFill>
                  <a:srgbClr val="0000FF"/>
                </a:solidFill>
                <a:latin typeface="Consolas" pitchFamily="49" charset="0"/>
                <a:ea typeface="楷体" pitchFamily="49" charset="-122"/>
                <a:cs typeface="Consolas" pitchFamily="49" charset="0"/>
              </a:endParaRPr>
            </a:p>
          </p:txBody>
        </p:sp>
        <p:cxnSp>
          <p:nvCxnSpPr>
            <p:cNvPr id="62" name="直接箭头连接符 61"/>
            <p:cNvCxnSpPr>
              <a:endCxn id="52" idx="0"/>
            </p:cNvCxnSpPr>
            <p:nvPr/>
          </p:nvCxnSpPr>
          <p:spPr>
            <a:xfrm>
              <a:off x="1714480" y="2714620"/>
              <a:ext cx="327204" cy="24447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63" name="右箭头 62"/>
          <p:cNvSpPr/>
          <p:nvPr/>
        </p:nvSpPr>
        <p:spPr>
          <a:xfrm>
            <a:off x="3857620" y="4643446"/>
            <a:ext cx="714380"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30" name="组合 29"/>
          <p:cNvGrpSpPr/>
          <p:nvPr/>
        </p:nvGrpSpPr>
        <p:grpSpPr>
          <a:xfrm>
            <a:off x="571472" y="142852"/>
            <a:ext cx="1041400" cy="1044575"/>
            <a:chOff x="857224" y="1071546"/>
            <a:chExt cx="1041400" cy="1044575"/>
          </a:xfrm>
        </p:grpSpPr>
        <p:sp>
          <p:nvSpPr>
            <p:cNvPr id="31"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32"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33" name="灯片编号占位符 32"/>
          <p:cNvSpPr>
            <a:spLocks noGrp="1"/>
          </p:cNvSpPr>
          <p:nvPr>
            <p:ph type="sldNum" sz="quarter" idx="12"/>
          </p:nvPr>
        </p:nvSpPr>
        <p:spPr/>
        <p:txBody>
          <a:bodyPr/>
          <a:lstStyle/>
          <a:p>
            <a:fld id="{7AF016A1-9F15-429F-9EFD-84004B73C732}" type="slidenum">
              <a:rPr lang="en-US" altLang="zh-CN" smtClean="0"/>
              <a:pPr/>
              <a:t>42</a:t>
            </a:fld>
            <a:r>
              <a:rPr lang="en-US" altLang="zh-CN"/>
              <a:t>/91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00034" y="454863"/>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8" name="TextBox 7"/>
          <p:cNvSpPr txBox="1"/>
          <p:nvPr/>
        </p:nvSpPr>
        <p:spPr>
          <a:xfrm>
            <a:off x="1428728" y="454863"/>
            <a:ext cx="7072362"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的功能是由二叉树</a:t>
            </a:r>
            <a:r>
              <a:rPr lang="en-US" altLang="zh-CN">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复制产生另一棵二叉树</a:t>
            </a:r>
            <a:r>
              <a:rPr lang="en-US" altLang="zh-CN">
                <a:solidFill>
                  <a:srgbClr val="0000FF"/>
                </a:solidFill>
                <a:latin typeface="Consolas" pitchFamily="49" charset="0"/>
                <a:ea typeface="仿宋" pitchFamily="49" charset="-122"/>
              </a:rPr>
              <a:t>r1</a:t>
            </a:r>
            <a:r>
              <a:rPr lang="zh-CN" altLang="zh-CN">
                <a:solidFill>
                  <a:srgbClr val="0000FF"/>
                </a:solidFill>
                <a:latin typeface="Consolas" pitchFamily="49" charset="0"/>
                <a:ea typeface="仿宋" pitchFamily="49" charset="-122"/>
              </a:rPr>
              <a:t>并返回</a:t>
            </a:r>
            <a:r>
              <a:rPr lang="en-US" altLang="zh-CN">
                <a:solidFill>
                  <a:srgbClr val="0000FF"/>
                </a:solidFill>
                <a:latin typeface="Consolas" pitchFamily="49" charset="0"/>
                <a:ea typeface="仿宋" pitchFamily="49" charset="-122"/>
              </a:rPr>
              <a:t>r1</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3042"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040" name="Text Box 32"/>
          <p:cNvSpPr txBox="1">
            <a:spLocks noChangeArrowheads="1"/>
          </p:cNvSpPr>
          <p:nvPr/>
        </p:nvSpPr>
        <p:spPr bwMode="auto">
          <a:xfrm>
            <a:off x="4429125" y="2523437"/>
            <a:ext cx="1166540" cy="3308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r1-&gt;left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39" name="Oval 31"/>
          <p:cNvSpPr>
            <a:spLocks noChangeArrowheads="1"/>
          </p:cNvSpPr>
          <p:nvPr/>
        </p:nvSpPr>
        <p:spPr bwMode="auto">
          <a:xfrm>
            <a:off x="2029777" y="2353373"/>
            <a:ext cx="452041" cy="423664"/>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8" name="AutoShape 30" descr="25%"/>
          <p:cNvSpPr>
            <a:spLocks noChangeArrowheads="1"/>
          </p:cNvSpPr>
          <p:nvPr/>
        </p:nvSpPr>
        <p:spPr bwMode="auto">
          <a:xfrm>
            <a:off x="956037" y="2952052"/>
            <a:ext cx="967847" cy="847329"/>
          </a:xfrm>
          <a:prstGeom prst="triangle">
            <a:avLst>
              <a:gd name="adj" fmla="val 50000"/>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7" name="Freeform 29"/>
          <p:cNvSpPr>
            <a:spLocks/>
          </p:cNvSpPr>
          <p:nvPr/>
        </p:nvSpPr>
        <p:spPr bwMode="auto">
          <a:xfrm>
            <a:off x="1437683" y="2599888"/>
            <a:ext cx="586401" cy="352164"/>
          </a:xfrm>
          <a:custGeom>
            <a:avLst/>
            <a:gdLst/>
            <a:ahLst/>
            <a:cxnLst>
              <a:cxn ang="0">
                <a:pos x="515" y="0"/>
              </a:cxn>
              <a:cxn ang="0">
                <a:pos x="0" y="330"/>
              </a:cxn>
            </a:cxnLst>
            <a:rect l="0" t="0" r="r" b="b"/>
            <a:pathLst>
              <a:path w="515" h="330">
                <a:moveTo>
                  <a:pt x="515" y="0"/>
                </a:moveTo>
                <a:lnTo>
                  <a:pt x="0" y="330"/>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6" name="Freeform 28"/>
          <p:cNvSpPr>
            <a:spLocks/>
          </p:cNvSpPr>
          <p:nvPr/>
        </p:nvSpPr>
        <p:spPr bwMode="auto">
          <a:xfrm>
            <a:off x="2474987" y="2615895"/>
            <a:ext cx="488478" cy="325485"/>
          </a:xfrm>
          <a:custGeom>
            <a:avLst/>
            <a:gdLst/>
            <a:ahLst/>
            <a:cxnLst>
              <a:cxn ang="0">
                <a:pos x="0" y="0"/>
              </a:cxn>
              <a:cxn ang="0">
                <a:pos x="429" y="305"/>
              </a:cxn>
            </a:cxnLst>
            <a:rect l="0" t="0" r="r" b="b"/>
            <a:pathLst>
              <a:path w="429" h="305">
                <a:moveTo>
                  <a:pt x="0" y="0"/>
                </a:moveTo>
                <a:lnTo>
                  <a:pt x="429" y="305"/>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5" name="Line 27"/>
          <p:cNvSpPr>
            <a:spLocks noChangeShapeType="1"/>
          </p:cNvSpPr>
          <p:nvPr/>
        </p:nvSpPr>
        <p:spPr bwMode="auto">
          <a:xfrm>
            <a:off x="2238149" y="2010813"/>
            <a:ext cx="1139" cy="334022"/>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4" name="Text Box 26"/>
          <p:cNvSpPr txBox="1">
            <a:spLocks noChangeArrowheads="1"/>
          </p:cNvSpPr>
          <p:nvPr/>
        </p:nvSpPr>
        <p:spPr bwMode="auto">
          <a:xfrm>
            <a:off x="2192603" y="1737619"/>
            <a:ext cx="408773" cy="30200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33" name="Freeform 25"/>
          <p:cNvSpPr>
            <a:spLocks/>
          </p:cNvSpPr>
          <p:nvPr/>
        </p:nvSpPr>
        <p:spPr bwMode="auto">
          <a:xfrm>
            <a:off x="2974851" y="2791978"/>
            <a:ext cx="56932" cy="153672"/>
          </a:xfrm>
          <a:custGeom>
            <a:avLst/>
            <a:gdLst/>
            <a:ahLst/>
            <a:cxnLst>
              <a:cxn ang="0">
                <a:pos x="50" y="0"/>
              </a:cxn>
              <a:cxn ang="0">
                <a:pos x="0" y="144"/>
              </a:cxn>
            </a:cxnLst>
            <a:rect l="0" t="0" r="r" b="b"/>
            <a:pathLst>
              <a:path w="50" h="144">
                <a:moveTo>
                  <a:pt x="50" y="0"/>
                </a:moveTo>
                <a:lnTo>
                  <a:pt x="0" y="144"/>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2" name="Text Box 24"/>
          <p:cNvSpPr txBox="1">
            <a:spLocks noChangeArrowheads="1"/>
          </p:cNvSpPr>
          <p:nvPr/>
        </p:nvSpPr>
        <p:spPr bwMode="auto">
          <a:xfrm>
            <a:off x="3071802" y="2594875"/>
            <a:ext cx="1242533" cy="3308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r-&gt;right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31" name="Freeform 23"/>
          <p:cNvSpPr>
            <a:spLocks/>
          </p:cNvSpPr>
          <p:nvPr/>
        </p:nvSpPr>
        <p:spPr bwMode="auto">
          <a:xfrm>
            <a:off x="1335205" y="2770634"/>
            <a:ext cx="102478" cy="181418"/>
          </a:xfrm>
          <a:custGeom>
            <a:avLst/>
            <a:gdLst/>
            <a:ahLst/>
            <a:cxnLst>
              <a:cxn ang="0">
                <a:pos x="0" y="0"/>
              </a:cxn>
              <a:cxn ang="0">
                <a:pos x="90" y="170"/>
              </a:cxn>
            </a:cxnLst>
            <a:rect l="0" t="0" r="r" b="b"/>
            <a:pathLst>
              <a:path w="90" h="170">
                <a:moveTo>
                  <a:pt x="0" y="0"/>
                </a:moveTo>
                <a:lnTo>
                  <a:pt x="90" y="17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30" name="Text Box 22"/>
          <p:cNvSpPr txBox="1">
            <a:spLocks noChangeArrowheads="1"/>
          </p:cNvSpPr>
          <p:nvPr/>
        </p:nvSpPr>
        <p:spPr bwMode="auto">
          <a:xfrm>
            <a:off x="214283" y="2501709"/>
            <a:ext cx="1071569" cy="30748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r-&gt;left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29" name="Text Box 21"/>
          <p:cNvSpPr txBox="1">
            <a:spLocks noChangeArrowheads="1"/>
          </p:cNvSpPr>
          <p:nvPr/>
        </p:nvSpPr>
        <p:spPr bwMode="auto">
          <a:xfrm>
            <a:off x="5286380" y="4154747"/>
            <a:ext cx="3429024" cy="302008"/>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r1-&gt;right=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f</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(r-&gt;right)</a:t>
            </a:r>
            <a:endParaRPr kumimoji="0" lang="en-US" altLang="zh-CN" sz="200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3028" name="Text Box 20"/>
          <p:cNvSpPr txBox="1">
            <a:spLocks noChangeArrowheads="1"/>
          </p:cNvSpPr>
          <p:nvPr/>
        </p:nvSpPr>
        <p:spPr bwMode="auto">
          <a:xfrm>
            <a:off x="2686229" y="2075935"/>
            <a:ext cx="3100217" cy="302008"/>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由结点</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复制产生结点</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27" name="AutoShape 19" descr="25%"/>
          <p:cNvSpPr>
            <a:spLocks noChangeArrowheads="1"/>
          </p:cNvSpPr>
          <p:nvPr/>
        </p:nvSpPr>
        <p:spPr bwMode="auto">
          <a:xfrm>
            <a:off x="2493205" y="2952052"/>
            <a:ext cx="967847" cy="847329"/>
          </a:xfrm>
          <a:prstGeom prst="triangle">
            <a:avLst>
              <a:gd name="adj" fmla="val 50000"/>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6" name="Oval 18"/>
          <p:cNvSpPr>
            <a:spLocks noChangeArrowheads="1"/>
          </p:cNvSpPr>
          <p:nvPr/>
        </p:nvSpPr>
        <p:spPr bwMode="auto">
          <a:xfrm>
            <a:off x="6207661" y="2353373"/>
            <a:ext cx="452041" cy="423664"/>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5" name="AutoShape 17" descr="25%"/>
          <p:cNvSpPr>
            <a:spLocks noChangeArrowheads="1"/>
          </p:cNvSpPr>
          <p:nvPr/>
        </p:nvSpPr>
        <p:spPr bwMode="auto">
          <a:xfrm>
            <a:off x="5133920" y="2952052"/>
            <a:ext cx="967847" cy="847329"/>
          </a:xfrm>
          <a:prstGeom prst="triangle">
            <a:avLst>
              <a:gd name="adj" fmla="val 50000"/>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4" name="Freeform 16"/>
          <p:cNvSpPr>
            <a:spLocks/>
          </p:cNvSpPr>
          <p:nvPr/>
        </p:nvSpPr>
        <p:spPr bwMode="auto">
          <a:xfrm>
            <a:off x="5615566" y="2599888"/>
            <a:ext cx="586401" cy="352164"/>
          </a:xfrm>
          <a:custGeom>
            <a:avLst/>
            <a:gdLst/>
            <a:ahLst/>
            <a:cxnLst>
              <a:cxn ang="0">
                <a:pos x="515" y="0"/>
              </a:cxn>
              <a:cxn ang="0">
                <a:pos x="0" y="330"/>
              </a:cxn>
            </a:cxnLst>
            <a:rect l="0" t="0" r="r" b="b"/>
            <a:pathLst>
              <a:path w="515" h="330">
                <a:moveTo>
                  <a:pt x="515" y="0"/>
                </a:moveTo>
                <a:lnTo>
                  <a:pt x="0" y="330"/>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3" name="Freeform 15"/>
          <p:cNvSpPr>
            <a:spLocks/>
          </p:cNvSpPr>
          <p:nvPr/>
        </p:nvSpPr>
        <p:spPr bwMode="auto">
          <a:xfrm>
            <a:off x="6652870" y="2615895"/>
            <a:ext cx="488478" cy="325485"/>
          </a:xfrm>
          <a:custGeom>
            <a:avLst/>
            <a:gdLst/>
            <a:ahLst/>
            <a:cxnLst>
              <a:cxn ang="0">
                <a:pos x="0" y="0"/>
              </a:cxn>
              <a:cxn ang="0">
                <a:pos x="429" y="305"/>
              </a:cxn>
            </a:cxnLst>
            <a:rect l="0" t="0" r="r" b="b"/>
            <a:pathLst>
              <a:path w="429" h="305">
                <a:moveTo>
                  <a:pt x="0" y="0"/>
                </a:moveTo>
                <a:lnTo>
                  <a:pt x="429" y="305"/>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2" name="Line 14"/>
          <p:cNvSpPr>
            <a:spLocks noChangeShapeType="1"/>
          </p:cNvSpPr>
          <p:nvPr/>
        </p:nvSpPr>
        <p:spPr bwMode="auto">
          <a:xfrm>
            <a:off x="6416033" y="2010813"/>
            <a:ext cx="1139" cy="334022"/>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21" name="Text Box 13"/>
          <p:cNvSpPr txBox="1">
            <a:spLocks noChangeArrowheads="1"/>
          </p:cNvSpPr>
          <p:nvPr/>
        </p:nvSpPr>
        <p:spPr bwMode="auto">
          <a:xfrm>
            <a:off x="6370487" y="1737619"/>
            <a:ext cx="408773" cy="30200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20" name="Freeform 12"/>
          <p:cNvSpPr>
            <a:spLocks/>
          </p:cNvSpPr>
          <p:nvPr/>
        </p:nvSpPr>
        <p:spPr bwMode="auto">
          <a:xfrm>
            <a:off x="7152735" y="2791978"/>
            <a:ext cx="56932" cy="153672"/>
          </a:xfrm>
          <a:custGeom>
            <a:avLst/>
            <a:gdLst/>
            <a:ahLst/>
            <a:cxnLst>
              <a:cxn ang="0">
                <a:pos x="50" y="0"/>
              </a:cxn>
              <a:cxn ang="0">
                <a:pos x="0" y="144"/>
              </a:cxn>
            </a:cxnLst>
            <a:rect l="0" t="0" r="r" b="b"/>
            <a:pathLst>
              <a:path w="50" h="144">
                <a:moveTo>
                  <a:pt x="50" y="0"/>
                </a:moveTo>
                <a:lnTo>
                  <a:pt x="0" y="144"/>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9" name="Text Box 11"/>
          <p:cNvSpPr txBox="1">
            <a:spLocks noChangeArrowheads="1"/>
          </p:cNvSpPr>
          <p:nvPr/>
        </p:nvSpPr>
        <p:spPr bwMode="auto">
          <a:xfrm>
            <a:off x="7271948" y="2501709"/>
            <a:ext cx="1443456" cy="30748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r1-&gt;right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018" name="Freeform 10"/>
          <p:cNvSpPr>
            <a:spLocks/>
          </p:cNvSpPr>
          <p:nvPr/>
        </p:nvSpPr>
        <p:spPr bwMode="auto">
          <a:xfrm>
            <a:off x="5513089" y="2770634"/>
            <a:ext cx="102478" cy="181418"/>
          </a:xfrm>
          <a:custGeom>
            <a:avLst/>
            <a:gdLst/>
            <a:ahLst/>
            <a:cxnLst>
              <a:cxn ang="0">
                <a:pos x="0" y="0"/>
              </a:cxn>
              <a:cxn ang="0">
                <a:pos x="90" y="170"/>
              </a:cxn>
            </a:cxnLst>
            <a:rect l="0" t="0" r="r" b="b"/>
            <a:pathLst>
              <a:path w="90" h="170">
                <a:moveTo>
                  <a:pt x="0" y="0"/>
                </a:moveTo>
                <a:lnTo>
                  <a:pt x="90" y="17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7" name="AutoShape 9" descr="25%"/>
          <p:cNvSpPr>
            <a:spLocks noChangeArrowheads="1"/>
          </p:cNvSpPr>
          <p:nvPr/>
        </p:nvSpPr>
        <p:spPr bwMode="auto">
          <a:xfrm>
            <a:off x="6671089" y="2952052"/>
            <a:ext cx="967847" cy="847329"/>
          </a:xfrm>
          <a:prstGeom prst="triangle">
            <a:avLst>
              <a:gd name="adj" fmla="val 50000"/>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6" name="AutoShape 8"/>
          <p:cNvSpPr>
            <a:spLocks noChangeShapeType="1"/>
          </p:cNvSpPr>
          <p:nvPr/>
        </p:nvSpPr>
        <p:spPr bwMode="auto">
          <a:xfrm flipV="1">
            <a:off x="2542167" y="2433693"/>
            <a:ext cx="3672908" cy="0"/>
          </a:xfrm>
          <a:prstGeom prst="straightConnector1">
            <a:avLst/>
          </a:prstGeom>
          <a:noFill/>
          <a:ln w="28575">
            <a:solidFill>
              <a:srgbClr val="FF00FF"/>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5" name="Freeform 7"/>
          <p:cNvSpPr>
            <a:spLocks/>
          </p:cNvSpPr>
          <p:nvPr/>
        </p:nvSpPr>
        <p:spPr bwMode="auto">
          <a:xfrm>
            <a:off x="1378474" y="3799381"/>
            <a:ext cx="3765047" cy="429131"/>
          </a:xfrm>
          <a:custGeom>
            <a:avLst/>
            <a:gdLst>
              <a:gd name="connsiteX0" fmla="*/ 182 w 11594"/>
              <a:gd name="connsiteY0" fmla="*/ 0 h 10028"/>
              <a:gd name="connsiteX1" fmla="*/ 989 w 11594"/>
              <a:gd name="connsiteY1" fmla="*/ 5636 h 10028"/>
              <a:gd name="connsiteX2" fmla="*/ 6108 w 11594"/>
              <a:gd name="connsiteY2" fmla="*/ 9127 h 10028"/>
              <a:gd name="connsiteX3" fmla="*/ 11594 w 11594"/>
              <a:gd name="connsiteY3" fmla="*/ 232 h 10028"/>
            </a:gdLst>
            <a:ahLst/>
            <a:cxnLst>
              <a:cxn ang="0">
                <a:pos x="connsiteX0" y="connsiteY0"/>
              </a:cxn>
              <a:cxn ang="0">
                <a:pos x="connsiteX1" y="connsiteY1"/>
              </a:cxn>
              <a:cxn ang="0">
                <a:pos x="connsiteX2" y="connsiteY2"/>
              </a:cxn>
              <a:cxn ang="0">
                <a:pos x="connsiteX3" y="connsiteY3"/>
              </a:cxn>
            </a:cxnLst>
            <a:rect l="l" t="t" r="r" b="b"/>
            <a:pathLst>
              <a:path w="11594" h="10028">
                <a:moveTo>
                  <a:pt x="182" y="0"/>
                </a:moveTo>
                <a:cubicBezTo>
                  <a:pt x="91" y="2045"/>
                  <a:pt x="0" y="4115"/>
                  <a:pt x="989" y="5636"/>
                </a:cubicBezTo>
                <a:cubicBezTo>
                  <a:pt x="1978" y="7157"/>
                  <a:pt x="4341" y="10028"/>
                  <a:pt x="6108" y="9127"/>
                </a:cubicBezTo>
                <a:cubicBezTo>
                  <a:pt x="7875" y="8226"/>
                  <a:pt x="10784" y="2052"/>
                  <a:pt x="11594" y="232"/>
                </a:cubicBezTo>
              </a:path>
            </a:pathLst>
          </a:custGeom>
          <a:noFill/>
          <a:ln w="28575">
            <a:solidFill>
              <a:srgbClr val="FF00FF"/>
            </a:solidFill>
            <a:prstDash val="solid"/>
            <a:round/>
            <a:headEn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4" name="Freeform 6"/>
          <p:cNvSpPr>
            <a:spLocks/>
          </p:cNvSpPr>
          <p:nvPr/>
        </p:nvSpPr>
        <p:spPr bwMode="auto">
          <a:xfrm>
            <a:off x="2972574" y="3788709"/>
            <a:ext cx="3671197" cy="427334"/>
          </a:xfrm>
          <a:custGeom>
            <a:avLst/>
            <a:gdLst>
              <a:gd name="connsiteX0" fmla="*/ 182 w 11305"/>
              <a:gd name="connsiteY0" fmla="*/ 0 h 9986"/>
              <a:gd name="connsiteX1" fmla="*/ 989 w 11305"/>
              <a:gd name="connsiteY1" fmla="*/ 5636 h 9986"/>
              <a:gd name="connsiteX2" fmla="*/ 6108 w 11305"/>
              <a:gd name="connsiteY2" fmla="*/ 9127 h 9986"/>
              <a:gd name="connsiteX3" fmla="*/ 11305 w 11305"/>
              <a:gd name="connsiteY3" fmla="*/ 482 h 9986"/>
            </a:gdLst>
            <a:ahLst/>
            <a:cxnLst>
              <a:cxn ang="0">
                <a:pos x="connsiteX0" y="connsiteY0"/>
              </a:cxn>
              <a:cxn ang="0">
                <a:pos x="connsiteX1" y="connsiteY1"/>
              </a:cxn>
              <a:cxn ang="0">
                <a:pos x="connsiteX2" y="connsiteY2"/>
              </a:cxn>
              <a:cxn ang="0">
                <a:pos x="connsiteX3" y="connsiteY3"/>
              </a:cxn>
            </a:cxnLst>
            <a:rect l="l" t="t" r="r" b="b"/>
            <a:pathLst>
              <a:path w="11305" h="9986">
                <a:moveTo>
                  <a:pt x="182" y="0"/>
                </a:moveTo>
                <a:cubicBezTo>
                  <a:pt x="91" y="2045"/>
                  <a:pt x="0" y="4115"/>
                  <a:pt x="989" y="5636"/>
                </a:cubicBezTo>
                <a:cubicBezTo>
                  <a:pt x="1978" y="7157"/>
                  <a:pt x="4389" y="9986"/>
                  <a:pt x="6108" y="9127"/>
                </a:cubicBezTo>
                <a:cubicBezTo>
                  <a:pt x="7827" y="8268"/>
                  <a:pt x="10495" y="2302"/>
                  <a:pt x="11305" y="482"/>
                </a:cubicBezTo>
              </a:path>
            </a:pathLst>
          </a:custGeom>
          <a:noFill/>
          <a:ln w="28575">
            <a:solidFill>
              <a:srgbClr val="FF00FF"/>
            </a:solidFill>
            <a:prstDash val="solid"/>
            <a:round/>
            <a:headEn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3" name="Text Box 5"/>
          <p:cNvSpPr txBox="1">
            <a:spLocks noChangeArrowheads="1"/>
          </p:cNvSpPr>
          <p:nvPr/>
        </p:nvSpPr>
        <p:spPr bwMode="auto">
          <a:xfrm>
            <a:off x="642910" y="4270000"/>
            <a:ext cx="3357586" cy="302008"/>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r1-&gt;left=</a:t>
            </a: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f</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(r-&gt;left)</a:t>
            </a:r>
            <a:endParaRPr kumimoji="0" lang="en-US" altLang="zh-CN" sz="200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43012" name="AutoShape 4"/>
          <p:cNvSpPr>
            <a:spLocks noChangeShapeType="1"/>
          </p:cNvSpPr>
          <p:nvPr/>
        </p:nvSpPr>
        <p:spPr bwMode="auto">
          <a:xfrm flipH="1">
            <a:off x="1506002" y="4040560"/>
            <a:ext cx="193569" cy="2294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1" name="AutoShape 3"/>
          <p:cNvSpPr>
            <a:spLocks noChangeShapeType="1"/>
          </p:cNvSpPr>
          <p:nvPr/>
        </p:nvSpPr>
        <p:spPr bwMode="auto">
          <a:xfrm>
            <a:off x="6230629" y="3953952"/>
            <a:ext cx="286938" cy="20276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010" name="Text Box 2"/>
          <p:cNvSpPr txBox="1">
            <a:spLocks noChangeArrowheads="1"/>
          </p:cNvSpPr>
          <p:nvPr/>
        </p:nvSpPr>
        <p:spPr bwMode="auto">
          <a:xfrm>
            <a:off x="3782149" y="1726277"/>
            <a:ext cx="718414" cy="302008"/>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6600"/>
                </a:solidFill>
                <a:effectLst/>
                <a:latin typeface="Consolas" pitchFamily="49" charset="0"/>
                <a:ea typeface="仿宋" pitchFamily="49" charset="-122"/>
                <a:cs typeface="Times New Roman" pitchFamily="18" charset="0"/>
              </a:rPr>
              <a:t>f</a:t>
            </a:r>
            <a:r>
              <a:rPr kumimoji="0" lang="en-US" altLang="zh-CN" sz="2000" i="0" u="none" strike="noStrike" cap="none" normalizeH="0" baseline="0">
                <a:ln>
                  <a:noFill/>
                </a:ln>
                <a:solidFill>
                  <a:srgbClr val="006600"/>
                </a:solidFill>
                <a:effectLst/>
                <a:latin typeface="Consolas" pitchFamily="49" charset="0"/>
                <a:ea typeface="仿宋" pitchFamily="49" charset="-122"/>
                <a:cs typeface="Times New Roman" pitchFamily="18" charset="0"/>
              </a:rPr>
              <a:t>(r)</a:t>
            </a:r>
            <a:endParaRPr kumimoji="0" lang="en-US" altLang="zh-CN" sz="2000" i="0" u="none" strike="noStrike" cap="none" normalizeH="0" baseline="0">
              <a:ln>
                <a:noFill/>
              </a:ln>
              <a:solidFill>
                <a:srgbClr val="006600"/>
              </a:solidFill>
              <a:effectLst/>
              <a:latin typeface="Consolas" pitchFamily="49" charset="0"/>
              <a:ea typeface="仿宋" pitchFamily="49" charset="-122"/>
              <a:cs typeface="宋体" pitchFamily="2" charset="-122"/>
            </a:endParaRPr>
          </a:p>
        </p:txBody>
      </p:sp>
      <p:sp>
        <p:nvSpPr>
          <p:cNvPr id="37" name="灯片编号占位符 36"/>
          <p:cNvSpPr>
            <a:spLocks noGrp="1"/>
          </p:cNvSpPr>
          <p:nvPr>
            <p:ph type="sldNum" sz="quarter" idx="12"/>
          </p:nvPr>
        </p:nvSpPr>
        <p:spPr/>
        <p:txBody>
          <a:bodyPr/>
          <a:lstStyle/>
          <a:p>
            <a:fld id="{7AF016A1-9F15-429F-9EFD-84004B73C732}" type="slidenum">
              <a:rPr lang="en-US" altLang="zh-CN" smtClean="0"/>
              <a:pPr/>
              <a:t>43</a:t>
            </a:fld>
            <a:r>
              <a:rPr lang="en-US" altLang="zh-CN"/>
              <a:t>/91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14290"/>
            <a:ext cx="7786742" cy="480455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TreeNode* </a:t>
            </a:r>
            <a:r>
              <a:rPr lang="en-US" altLang="zh-CN" sz="2000">
                <a:solidFill>
                  <a:srgbClr val="FF0000"/>
                </a:solidFill>
                <a:latin typeface="Consolas" pitchFamily="49" charset="0"/>
                <a:ea typeface="仿宋" pitchFamily="49" charset="-122"/>
              </a:rPr>
              <a:t>cloneTree</a:t>
            </a:r>
            <a:r>
              <a:rPr lang="en-US" altLang="zh-CN" sz="2000">
                <a:solidFill>
                  <a:srgbClr val="0000FF"/>
                </a:solidFill>
                <a:latin typeface="Consolas" pitchFamily="49" charset="0"/>
                <a:ea typeface="仿宋" pitchFamily="49" charset="-122"/>
              </a:rPr>
              <a:t>(TreeNode* r)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 (r==NULL) return NULL;</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TreeNode* r1=new TreeNode(r-&gt;val);</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r1-&gt;left=</a:t>
            </a:r>
            <a:r>
              <a:rPr lang="en-US" altLang="zh-CN" sz="2000">
                <a:solidFill>
                  <a:srgbClr val="FF0000"/>
                </a:solidFill>
                <a:latin typeface="Consolas" pitchFamily="49" charset="0"/>
                <a:ea typeface="仿宋" pitchFamily="49" charset="-122"/>
              </a:rPr>
              <a:t>cloneTree</a:t>
            </a:r>
            <a:r>
              <a:rPr lang="en-US" altLang="zh-CN" sz="2000">
                <a:solidFill>
                  <a:srgbClr val="0000FF"/>
                </a:solidFill>
                <a:latin typeface="Consolas" pitchFamily="49" charset="0"/>
                <a:ea typeface="仿宋" pitchFamily="49" charset="-122"/>
              </a:rPr>
              <a:t>(r-&gt;left);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r1-&gt;right=</a:t>
            </a:r>
            <a:r>
              <a:rPr lang="en-US" altLang="zh-CN" sz="2000">
                <a:solidFill>
                  <a:srgbClr val="FF0000"/>
                </a:solidFill>
                <a:latin typeface="Consolas" pitchFamily="49" charset="0"/>
                <a:ea typeface="仿宋" pitchFamily="49" charset="-122"/>
              </a:rPr>
              <a:t>cloneTree</a:t>
            </a:r>
            <a:r>
              <a:rPr lang="en-US" altLang="zh-CN" sz="2000">
                <a:solidFill>
                  <a:srgbClr val="0000FF"/>
                </a:solidFill>
                <a:latin typeface="Consolas" pitchFamily="49" charset="0"/>
                <a:ea typeface="仿宋" pitchFamily="49" charset="-122"/>
              </a:rPr>
              <a:t>(r-&gt;right);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r1;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428596" y="5500702"/>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5.37MB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44</a:t>
            </a:fld>
            <a:r>
              <a:rPr lang="en-US" altLang="zh-CN"/>
              <a:t>/91</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642918"/>
            <a:ext cx="664373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2.2.4 </a:t>
            </a:r>
            <a:r>
              <a:rPr lang="zh-CN" altLang="zh-CN" sz="2800">
                <a:latin typeface="Consolas" pitchFamily="49" charset="0"/>
                <a:ea typeface="微软雅黑" pitchFamily="34" charset="-122"/>
              </a:rPr>
              <a:t>基于归纳思想的递归算法设计</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9" name="TextBox 8"/>
          <p:cNvSpPr txBox="1"/>
          <p:nvPr/>
        </p:nvSpPr>
        <p:spPr>
          <a:xfrm>
            <a:off x="428596" y="1714488"/>
            <a:ext cx="8143932" cy="2939266"/>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rPr>
              <a:t>基于归纳思想的递归算法设计通常不像基于递归数据结构的递归算法设计那样直观，需要通过对求解问题的深入分析，提炼出求解过程中的相似性而不是数据结构的相似性</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rPr>
              <a:t>例如设大问题为</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，小问题为</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或者</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等</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rPr>
              <a:t>然后归纳出大小问题之间隐含的递推关系。</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45</a:t>
            </a:fld>
            <a:r>
              <a:rPr lang="en-US" altLang="zh-CN"/>
              <a:t>/91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5720" y="1285860"/>
            <a:ext cx="8643998" cy="1836400"/>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2.10</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骨牌铺方格（</a:t>
            </a:r>
            <a:r>
              <a:rPr lang="en-US" altLang="zh-CN">
                <a:solidFill>
                  <a:srgbClr val="0000FF"/>
                </a:solidFill>
                <a:latin typeface="Consolas" pitchFamily="49" charset="0"/>
                <a:ea typeface="仿宋" pitchFamily="49" charset="-122"/>
              </a:rPr>
              <a:t>HDU2046</a:t>
            </a:r>
            <a:r>
              <a:rPr lang="zh-CN" altLang="zh-CN">
                <a:solidFill>
                  <a:srgbClr val="0000FF"/>
                </a:solidFill>
                <a:latin typeface="Consolas" pitchFamily="49" charset="0"/>
                <a:ea typeface="仿宋" pitchFamily="49" charset="-122"/>
              </a:rPr>
              <a:t>）。在</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的一个长方形方格中，用</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的骨牌铺满方格。输入</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，输出铺放方案的总数。</a:t>
            </a:r>
            <a:endParaRPr lang="en-US" altLang="zh-CN">
              <a:solidFill>
                <a:srgbClr val="0000FF"/>
              </a:solidFill>
              <a:latin typeface="Consolas" pitchFamily="49" charset="0"/>
              <a:ea typeface="仿宋" pitchFamily="49" charset="-122"/>
            </a:endParaRPr>
          </a:p>
          <a:p>
            <a:pPr algn="l">
              <a:lnSpc>
                <a:spcPts val="34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时，为</a:t>
            </a:r>
            <a:r>
              <a:rPr lang="en-US" altLang="zh-CN">
                <a:solidFill>
                  <a:srgbClr val="0000FF"/>
                </a:solidFill>
                <a:latin typeface="Consolas" pitchFamily="49" charset="0"/>
                <a:ea typeface="仿宋" pitchFamily="49" charset="-122"/>
              </a:rPr>
              <a:t>2×3</a:t>
            </a:r>
            <a:r>
              <a:rPr lang="zh-CN" altLang="zh-CN">
                <a:solidFill>
                  <a:srgbClr val="0000FF"/>
                </a:solidFill>
                <a:latin typeface="Consolas" pitchFamily="49" charset="0"/>
                <a:ea typeface="仿宋" pitchFamily="49" charset="-122"/>
              </a:rPr>
              <a:t>方格，骨牌的铺放方案有如图所示的</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种。</a:t>
            </a:r>
          </a:p>
        </p:txBody>
      </p:sp>
      <p:sp>
        <p:nvSpPr>
          <p:cNvPr id="1280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p:cNvGrpSpPr/>
          <p:nvPr/>
        </p:nvGrpSpPr>
        <p:grpSpPr>
          <a:xfrm>
            <a:off x="1571604" y="4296999"/>
            <a:ext cx="6240931" cy="1418017"/>
            <a:chOff x="1571604" y="3439743"/>
            <a:chExt cx="6240931" cy="1418017"/>
          </a:xfrm>
        </p:grpSpPr>
        <p:sp>
          <p:nvSpPr>
            <p:cNvPr id="128013" name="Rectangle 13" descr="浅色上对角线"/>
            <p:cNvSpPr>
              <a:spLocks noChangeArrowheads="1"/>
            </p:cNvSpPr>
            <p:nvPr/>
          </p:nvSpPr>
          <p:spPr bwMode="auto">
            <a:xfrm>
              <a:off x="1571604" y="3441085"/>
              <a:ext cx="456130" cy="913117"/>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12" name="Rectangle 12" descr="浅色上对角线"/>
            <p:cNvSpPr>
              <a:spLocks noChangeArrowheads="1"/>
            </p:cNvSpPr>
            <p:nvPr/>
          </p:nvSpPr>
          <p:spPr bwMode="auto">
            <a:xfrm>
              <a:off x="2026393" y="3439743"/>
              <a:ext cx="456130" cy="914460"/>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11" name="Rectangle 11" descr="浅色上对角线"/>
            <p:cNvSpPr>
              <a:spLocks noChangeArrowheads="1"/>
            </p:cNvSpPr>
            <p:nvPr/>
          </p:nvSpPr>
          <p:spPr bwMode="auto">
            <a:xfrm>
              <a:off x="2481181" y="3439743"/>
              <a:ext cx="456130" cy="914460"/>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10" name="Rectangle 10"/>
            <p:cNvSpPr>
              <a:spLocks noChangeArrowheads="1"/>
            </p:cNvSpPr>
            <p:nvPr/>
          </p:nvSpPr>
          <p:spPr bwMode="auto">
            <a:xfrm>
              <a:off x="1571604" y="4440143"/>
              <a:ext cx="1467665" cy="40150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方案</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8009" name="Rectangle 9" descr="浅色上对角线"/>
            <p:cNvSpPr>
              <a:spLocks noChangeArrowheads="1"/>
            </p:cNvSpPr>
            <p:nvPr/>
          </p:nvSpPr>
          <p:spPr bwMode="auto">
            <a:xfrm>
              <a:off x="3813349" y="3449142"/>
              <a:ext cx="456130" cy="913117"/>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08" name="Rectangle 8" descr="浅色下对角线"/>
            <p:cNvSpPr>
              <a:spLocks noChangeArrowheads="1"/>
            </p:cNvSpPr>
            <p:nvPr/>
          </p:nvSpPr>
          <p:spPr bwMode="auto">
            <a:xfrm>
              <a:off x="4268137" y="3447799"/>
              <a:ext cx="912260" cy="456559"/>
            </a:xfrm>
            <a:prstGeom prst="rect">
              <a:avLst/>
            </a:prstGeom>
            <a:pattFill prst="ltDn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07" name="Rectangle 7"/>
            <p:cNvSpPr>
              <a:spLocks noChangeArrowheads="1"/>
            </p:cNvSpPr>
            <p:nvPr/>
          </p:nvSpPr>
          <p:spPr bwMode="auto">
            <a:xfrm>
              <a:off x="3813349" y="4448200"/>
              <a:ext cx="1467665" cy="40150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方案</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8006" name="Rectangle 6" descr="浅色下对角线"/>
            <p:cNvSpPr>
              <a:spLocks noChangeArrowheads="1"/>
            </p:cNvSpPr>
            <p:nvPr/>
          </p:nvSpPr>
          <p:spPr bwMode="auto">
            <a:xfrm>
              <a:off x="4268137" y="3903015"/>
              <a:ext cx="912260" cy="456559"/>
            </a:xfrm>
            <a:prstGeom prst="rect">
              <a:avLst/>
            </a:prstGeom>
            <a:pattFill prst="ltDn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05" name="Rectangle 5" descr="浅色上对角线"/>
            <p:cNvSpPr>
              <a:spLocks noChangeArrowheads="1"/>
            </p:cNvSpPr>
            <p:nvPr/>
          </p:nvSpPr>
          <p:spPr bwMode="auto">
            <a:xfrm>
              <a:off x="7262496" y="3457199"/>
              <a:ext cx="456130" cy="913117"/>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04" name="Rectangle 4" descr="浅色下对角线"/>
            <p:cNvSpPr>
              <a:spLocks noChangeArrowheads="1"/>
            </p:cNvSpPr>
            <p:nvPr/>
          </p:nvSpPr>
          <p:spPr bwMode="auto">
            <a:xfrm>
              <a:off x="6377067" y="3455856"/>
              <a:ext cx="912260" cy="456559"/>
            </a:xfrm>
            <a:prstGeom prst="rect">
              <a:avLst/>
            </a:prstGeom>
            <a:pattFill prst="ltDn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8003" name="Rectangle 3"/>
            <p:cNvSpPr>
              <a:spLocks noChangeArrowheads="1"/>
            </p:cNvSpPr>
            <p:nvPr/>
          </p:nvSpPr>
          <p:spPr bwMode="auto">
            <a:xfrm>
              <a:off x="6344870" y="4456257"/>
              <a:ext cx="1467665" cy="401503"/>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方案</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8002" name="Rectangle 2" descr="浅色下对角线"/>
            <p:cNvSpPr>
              <a:spLocks noChangeArrowheads="1"/>
            </p:cNvSpPr>
            <p:nvPr/>
          </p:nvSpPr>
          <p:spPr bwMode="auto">
            <a:xfrm>
              <a:off x="6377067" y="3911072"/>
              <a:ext cx="912260" cy="456559"/>
            </a:xfrm>
            <a:prstGeom prst="rect">
              <a:avLst/>
            </a:prstGeom>
            <a:pattFill prst="ltDn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grpSp>
      <p:grpSp>
        <p:nvGrpSpPr>
          <p:cNvPr id="19" name="组合 18"/>
          <p:cNvGrpSpPr/>
          <p:nvPr/>
        </p:nvGrpSpPr>
        <p:grpSpPr>
          <a:xfrm>
            <a:off x="571472" y="142852"/>
            <a:ext cx="1041400" cy="1044575"/>
            <a:chOff x="857224" y="1071546"/>
            <a:chExt cx="1041400" cy="1044575"/>
          </a:xfrm>
        </p:grpSpPr>
        <p:sp>
          <p:nvSpPr>
            <p:cNvPr id="20"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21"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pPr/>
              <a:t>46</a:t>
            </a:fld>
            <a:r>
              <a:rPr lang="en-US" altLang="zh-CN"/>
              <a:t>/91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001056" cy="5567848"/>
          </a:xfrm>
          <a:prstGeom prst="rect">
            <a:avLst/>
          </a:prstGeom>
          <a:solidFill>
            <a:schemeClr val="bg1"/>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500"/>
              </a:lnSpc>
              <a:spcBef>
                <a:spcPts val="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：输入数据由多行组成，每行包含一个整数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，表示该测试实例的长方形方格的规格是</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0&lt;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p>
          <a:p>
            <a:pPr algn="l">
              <a:lnSpc>
                <a:spcPts val="3500"/>
              </a:lnSpc>
              <a:spcBef>
                <a:spcPts val="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：对于每个测试实例，请输出铺放方案的总数，每个实例的输出占一行。</a:t>
            </a:r>
          </a:p>
          <a:p>
            <a:pPr algn="l">
              <a:lnSpc>
                <a:spcPts val="3500"/>
              </a:lnSpc>
              <a:spcBef>
                <a:spcPts val="0"/>
              </a:spcBef>
            </a:pPr>
            <a:r>
              <a:rPr lang="zh-CN" altLang="zh-CN">
                <a:solidFill>
                  <a:srgbClr val="FF0000"/>
                </a:solidFill>
                <a:latin typeface="Consolas" pitchFamily="49" charset="0"/>
                <a:ea typeface="仿宋" pitchFamily="49" charset="-122"/>
              </a:rPr>
              <a:t>输入样例</a:t>
            </a:r>
            <a:r>
              <a:rPr lang="zh-CN" altLang="zh-CN">
                <a:solidFill>
                  <a:srgbClr val="0000FF"/>
                </a:solidFill>
                <a:latin typeface="Consolas" pitchFamily="49" charset="0"/>
                <a:ea typeface="仿宋" pitchFamily="49" charset="-122"/>
              </a:rPr>
              <a:t>：</a:t>
            </a:r>
          </a:p>
          <a:p>
            <a:pPr algn="l">
              <a:lnSpc>
                <a:spcPts val="3500"/>
              </a:lnSpc>
              <a:spcBef>
                <a:spcPts val="0"/>
              </a:spcBef>
            </a:pP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zh-CN" altLang="zh-CN">
                <a:solidFill>
                  <a:srgbClr val="FF0000"/>
                </a:solidFill>
                <a:latin typeface="Consolas" pitchFamily="49" charset="0"/>
                <a:ea typeface="仿宋" pitchFamily="49" charset="-122"/>
              </a:rPr>
              <a:t>输出样例</a:t>
            </a:r>
            <a:r>
              <a:rPr lang="zh-CN" altLang="zh-CN">
                <a:solidFill>
                  <a:srgbClr val="0000FF"/>
                </a:solidFill>
                <a:latin typeface="Consolas" pitchFamily="49" charset="0"/>
                <a:ea typeface="仿宋" pitchFamily="49" charset="-122"/>
              </a:rPr>
              <a:t>：</a:t>
            </a:r>
          </a:p>
          <a:p>
            <a:pPr algn="l">
              <a:lnSpc>
                <a:spcPts val="3500"/>
              </a:lnSpc>
              <a:spcBef>
                <a:spcPts val="0"/>
              </a:spcBef>
            </a:pP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47</a:t>
            </a:fld>
            <a:r>
              <a:rPr lang="en-US" altLang="zh-CN"/>
              <a:t>/91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8579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785786" y="1571612"/>
            <a:ext cx="8001056" cy="2644314"/>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1200"/>
              </a:spcBef>
            </a:pP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表示用</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的骨牌铺满</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的一个长方形方格的铺放方案总数。</a:t>
            </a:r>
          </a:p>
          <a:p>
            <a:pPr algn="l">
              <a:lnSpc>
                <a:spcPts val="35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时，用一块</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的骨牌铺满，即</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(1)=1</a:t>
            </a:r>
            <a:r>
              <a:rPr lang="zh-CN" altLang="zh-CN">
                <a:solidFill>
                  <a:srgbClr val="0000FF"/>
                </a:solidFill>
                <a:latin typeface="Consolas" pitchFamily="49" charset="0"/>
                <a:ea typeface="仿宋" pitchFamily="49" charset="-122"/>
              </a:rPr>
              <a:t>。</a:t>
            </a:r>
          </a:p>
          <a:p>
            <a:pPr algn="l">
              <a:lnSpc>
                <a:spcPts val="35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时，用两块</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的骨牌横向或者纵向铺满，即</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(2)=2</a:t>
            </a:r>
            <a:r>
              <a:rPr lang="zh-CN" altLang="zh-CN">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48</a:t>
            </a:fld>
            <a:r>
              <a:rPr lang="en-US" altLang="zh-CN"/>
              <a:t>/91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8215370" cy="2336537"/>
          </a:xfrm>
          <a:prstGeom prst="rect">
            <a:avLst/>
          </a:prstGeom>
          <a:noFill/>
          <a:ln>
            <a:solidFill>
              <a:schemeClr val="accent6">
                <a:lumMod val="40000"/>
                <a:lumOff val="60000"/>
              </a:schemeClr>
            </a:solidFill>
          </a:ln>
        </p:spPr>
        <p:txBody>
          <a:bodyPr wrap="square" rtlCol="0">
            <a:spAutoFit/>
          </a:bodyPr>
          <a:lstStyle/>
          <a:p>
            <a:pPr algn="l">
              <a:lnSpc>
                <a:spcPts val="35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&gt;2</a:t>
            </a:r>
            <a:r>
              <a:rPr lang="zh-CN" altLang="zh-CN">
                <a:solidFill>
                  <a:srgbClr val="0000FF"/>
                </a:solidFill>
                <a:latin typeface="Consolas" pitchFamily="49" charset="0"/>
                <a:ea typeface="仿宋" pitchFamily="49" charset="-122"/>
              </a:rPr>
              <a:t>时，</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的一个长方形方格看成是高度为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个方格组成，编号依次是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，铺放分为如下情况：</a:t>
            </a:r>
            <a:endParaRPr lang="en-US" altLang="zh-CN">
              <a:solidFill>
                <a:srgbClr val="0000FF"/>
              </a:solidFill>
              <a:latin typeface="Consolas" pitchFamily="49" charset="0"/>
              <a:ea typeface="仿宋" pitchFamily="49" charset="-122"/>
            </a:endParaRPr>
          </a:p>
          <a:p>
            <a:pPr algn="l">
              <a:lnSpc>
                <a:spcPts val="35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先铺好方格</a:t>
            </a:r>
            <a:r>
              <a:rPr lang="en-US" altLang="zh-CN">
                <a:solidFill>
                  <a:srgbClr val="FF0000"/>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，剩下</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个方格有</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种铺放方案，如图</a:t>
            </a:r>
            <a:r>
              <a:rPr lang="en-US" altLang="zh-CN">
                <a:solidFill>
                  <a:srgbClr val="0000FF"/>
                </a:solidFill>
                <a:latin typeface="Consolas" pitchFamily="49" charset="0"/>
                <a:ea typeface="仿宋" pitchFamily="49" charset="-122"/>
              </a:rPr>
              <a:t> (a)</a:t>
            </a:r>
            <a:r>
              <a:rPr lang="zh-CN" altLang="zh-CN">
                <a:solidFill>
                  <a:srgbClr val="0000FF"/>
                </a:solidFill>
                <a:latin typeface="Consolas" pitchFamily="49" charset="0"/>
                <a:ea typeface="仿宋" pitchFamily="49" charset="-122"/>
              </a:rPr>
              <a:t>所示，采用乘法原理，情况</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的铺放方案总数</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p:txBody>
      </p:sp>
      <p:sp>
        <p:nvSpPr>
          <p:cNvPr id="30757" name="Rectangle 3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1" name="组合 40"/>
          <p:cNvGrpSpPr/>
          <p:nvPr/>
        </p:nvGrpSpPr>
        <p:grpSpPr>
          <a:xfrm>
            <a:off x="3286116" y="3071810"/>
            <a:ext cx="1921451" cy="2085747"/>
            <a:chOff x="3214678" y="2395093"/>
            <a:chExt cx="1921451" cy="2085747"/>
          </a:xfrm>
        </p:grpSpPr>
        <p:sp>
          <p:nvSpPr>
            <p:cNvPr id="30755" name="Rectangle 35"/>
            <p:cNvSpPr>
              <a:spLocks noChangeArrowheads="1"/>
            </p:cNvSpPr>
            <p:nvPr/>
          </p:nvSpPr>
          <p:spPr bwMode="auto">
            <a:xfrm>
              <a:off x="3316389" y="3688501"/>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54" name="Rectangle 34"/>
            <p:cNvSpPr>
              <a:spLocks noChangeArrowheads="1"/>
            </p:cNvSpPr>
            <p:nvPr/>
          </p:nvSpPr>
          <p:spPr bwMode="auto">
            <a:xfrm>
              <a:off x="3637906" y="3688501"/>
              <a:ext cx="31362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53" name="Rectangle 33"/>
            <p:cNvSpPr>
              <a:spLocks noChangeArrowheads="1"/>
            </p:cNvSpPr>
            <p:nvPr/>
          </p:nvSpPr>
          <p:spPr bwMode="auto">
            <a:xfrm>
              <a:off x="4629535" y="3688501"/>
              <a:ext cx="251574"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4" name="Rectangle 24"/>
            <p:cNvSpPr>
              <a:spLocks noChangeArrowheads="1"/>
            </p:cNvSpPr>
            <p:nvPr/>
          </p:nvSpPr>
          <p:spPr bwMode="auto">
            <a:xfrm>
              <a:off x="4011318" y="2928934"/>
              <a:ext cx="561810"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mj-ea"/>
                  <a:ea typeface="+mj-ea"/>
                  <a:cs typeface="Times New Roman" pitchFamily="18" charset="0"/>
                </a:rPr>
                <a:t>…</a:t>
              </a:r>
              <a:endParaRPr kumimoji="0" lang="en-US" altLang="zh-CN" sz="2000" b="0" i="0" u="none" strike="noStrike" cap="none" normalizeH="0" baseline="0">
                <a:ln>
                  <a:noFill/>
                </a:ln>
                <a:solidFill>
                  <a:srgbClr val="0000FF"/>
                </a:solidFill>
                <a:effectLst/>
                <a:latin typeface="+mj-ea"/>
                <a:ea typeface="+mj-ea"/>
                <a:cs typeface="宋体" pitchFamily="2" charset="-122"/>
              </a:endParaRPr>
            </a:p>
          </p:txBody>
        </p:sp>
        <p:sp>
          <p:nvSpPr>
            <p:cNvPr id="30743" name="Rectangle 23"/>
            <p:cNvSpPr>
              <a:spLocks noChangeArrowheads="1"/>
            </p:cNvSpPr>
            <p:nvPr/>
          </p:nvSpPr>
          <p:spPr bwMode="auto">
            <a:xfrm>
              <a:off x="4572000" y="2928934"/>
              <a:ext cx="383565" cy="768596"/>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42" name="Rectangle 22" descr="浅色上对角线"/>
            <p:cNvSpPr>
              <a:spLocks noChangeArrowheads="1"/>
            </p:cNvSpPr>
            <p:nvPr/>
          </p:nvSpPr>
          <p:spPr bwMode="auto">
            <a:xfrm>
              <a:off x="3244188" y="2928934"/>
              <a:ext cx="383565" cy="768596"/>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41" name="Rectangle 21"/>
            <p:cNvSpPr>
              <a:spLocks noChangeArrowheads="1"/>
            </p:cNvSpPr>
            <p:nvPr/>
          </p:nvSpPr>
          <p:spPr bwMode="auto">
            <a:xfrm>
              <a:off x="3214678" y="4143380"/>
              <a:ext cx="192145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情况（</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0" name="Rectangle 20"/>
            <p:cNvSpPr>
              <a:spLocks noChangeArrowheads="1"/>
            </p:cNvSpPr>
            <p:nvPr/>
          </p:nvSpPr>
          <p:spPr bwMode="auto">
            <a:xfrm>
              <a:off x="3627753" y="2928934"/>
              <a:ext cx="383565"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39" name="Rectangle 19"/>
            <p:cNvSpPr>
              <a:spLocks noChangeArrowheads="1"/>
            </p:cNvSpPr>
            <p:nvPr/>
          </p:nvSpPr>
          <p:spPr bwMode="auto">
            <a:xfrm>
              <a:off x="3883839" y="2395093"/>
              <a:ext cx="850612"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38" name="AutoShape 18"/>
            <p:cNvSpPr>
              <a:spLocks/>
            </p:cNvSpPr>
            <p:nvPr/>
          </p:nvSpPr>
          <p:spPr bwMode="auto">
            <a:xfrm rot="16200000">
              <a:off x="4169217" y="2144811"/>
              <a:ext cx="179452" cy="1243202"/>
            </a:xfrm>
            <a:prstGeom prst="rightBrace">
              <a:avLst>
                <a:gd name="adj1" fmla="val 57757"/>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49</a:t>
            </a:fld>
            <a:r>
              <a:rPr lang="en-US" altLang="zh-CN"/>
              <a:t>/91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71414"/>
            <a:ext cx="8643998" cy="163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先铺好方格</a:t>
            </a:r>
            <a:r>
              <a:rPr lang="en-US" altLang="zh-CN">
                <a:solidFill>
                  <a:srgbClr val="FF0000"/>
                </a:solidFill>
                <a:latin typeface="Consolas" pitchFamily="49" charset="0"/>
                <a:ea typeface="仿宋" pitchFamily="49" charset="-122"/>
              </a:rPr>
              <a:t>1</a:t>
            </a:r>
            <a:r>
              <a:rPr lang="zh-CN" altLang="zh-CN">
                <a:solidFill>
                  <a:srgbClr val="FF0000"/>
                </a:solidFill>
                <a:latin typeface="Consolas" pitchFamily="49" charset="0"/>
                <a:ea typeface="仿宋" pitchFamily="49" charset="-122"/>
              </a:rPr>
              <a:t>和方格</a:t>
            </a:r>
            <a:r>
              <a:rPr lang="en-US" altLang="zh-CN">
                <a:solidFill>
                  <a:srgbClr val="FF0000"/>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，剩下</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个方格有</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种铺放方案。前面两个方格对应两种铺放方案：</a:t>
            </a:r>
          </a:p>
          <a:p>
            <a:pPr algn="l" defTabSz="360000">
              <a:lnSpc>
                <a:spcPts val="3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①一种</a:t>
            </a:r>
            <a:r>
              <a:rPr lang="zh-CN" altLang="en-US">
                <a:solidFill>
                  <a:srgbClr val="0000FF"/>
                </a:solidFill>
                <a:latin typeface="Consolas" pitchFamily="49" charset="0"/>
                <a:ea typeface="仿宋" pitchFamily="49" charset="-122"/>
              </a:rPr>
              <a:t>见</a:t>
            </a:r>
            <a:r>
              <a:rPr lang="zh-CN" altLang="zh-CN">
                <a:solidFill>
                  <a:srgbClr val="0000FF"/>
                </a:solidFill>
                <a:latin typeface="Consolas" pitchFamily="49" charset="0"/>
                <a:ea typeface="仿宋" pitchFamily="49" charset="-122"/>
              </a:rPr>
              <a:t>图</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，铺放方案总数</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，但该铺放方案包含在情况</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中。</a:t>
            </a:r>
          </a:p>
        </p:txBody>
      </p:sp>
      <p:sp>
        <p:nvSpPr>
          <p:cNvPr id="30757" name="Rectangle 3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0" name="组合 39"/>
          <p:cNvGrpSpPr/>
          <p:nvPr/>
        </p:nvGrpSpPr>
        <p:grpSpPr>
          <a:xfrm>
            <a:off x="3579243" y="1571612"/>
            <a:ext cx="2087046" cy="2023655"/>
            <a:chOff x="1714480" y="3691361"/>
            <a:chExt cx="2087046" cy="2023655"/>
          </a:xfrm>
        </p:grpSpPr>
        <p:sp>
          <p:nvSpPr>
            <p:cNvPr id="30752" name="Rectangle 32"/>
            <p:cNvSpPr>
              <a:spLocks noChangeArrowheads="1"/>
            </p:cNvSpPr>
            <p:nvPr/>
          </p:nvSpPr>
          <p:spPr bwMode="auto">
            <a:xfrm>
              <a:off x="1786681" y="4977997"/>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51" name="Rectangle 31"/>
            <p:cNvSpPr>
              <a:spLocks noChangeArrowheads="1"/>
            </p:cNvSpPr>
            <p:nvPr/>
          </p:nvSpPr>
          <p:spPr bwMode="auto">
            <a:xfrm>
              <a:off x="2483867" y="4977997"/>
              <a:ext cx="31362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50" name="Rectangle 30"/>
            <p:cNvSpPr>
              <a:spLocks noChangeArrowheads="1"/>
            </p:cNvSpPr>
            <p:nvPr/>
          </p:nvSpPr>
          <p:spPr bwMode="auto">
            <a:xfrm>
              <a:off x="3475496" y="4977997"/>
              <a:ext cx="251574"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6" name="Rectangle 26"/>
            <p:cNvSpPr>
              <a:spLocks noChangeArrowheads="1"/>
            </p:cNvSpPr>
            <p:nvPr/>
          </p:nvSpPr>
          <p:spPr bwMode="auto">
            <a:xfrm>
              <a:off x="2148812" y="4977997"/>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37" name="Rectangle 17"/>
            <p:cNvSpPr>
              <a:spLocks noChangeArrowheads="1"/>
            </p:cNvSpPr>
            <p:nvPr/>
          </p:nvSpPr>
          <p:spPr bwMode="auto">
            <a:xfrm>
              <a:off x="2857279" y="4225202"/>
              <a:ext cx="561810"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mj-ea"/>
                  <a:ea typeface="+mj-ea"/>
                  <a:cs typeface="Times New Roman" pitchFamily="18" charset="0"/>
                </a:rPr>
                <a:t>…</a:t>
              </a:r>
              <a:endParaRPr kumimoji="0" lang="en-US" altLang="zh-CN" sz="2000" b="0" i="0" u="none" strike="noStrike" cap="none" normalizeH="0" baseline="0">
                <a:ln>
                  <a:noFill/>
                </a:ln>
                <a:solidFill>
                  <a:srgbClr val="0000FF"/>
                </a:solidFill>
                <a:effectLst/>
                <a:latin typeface="+mj-ea"/>
                <a:ea typeface="+mj-ea"/>
                <a:cs typeface="宋体" pitchFamily="2" charset="-122"/>
              </a:endParaRPr>
            </a:p>
          </p:txBody>
        </p:sp>
        <p:sp>
          <p:nvSpPr>
            <p:cNvPr id="30736" name="Rectangle 16"/>
            <p:cNvSpPr>
              <a:spLocks noChangeArrowheads="1"/>
            </p:cNvSpPr>
            <p:nvPr/>
          </p:nvSpPr>
          <p:spPr bwMode="auto">
            <a:xfrm>
              <a:off x="3417961" y="4225202"/>
              <a:ext cx="383565" cy="768596"/>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35" name="Rectangle 15" descr="浅色上对角线"/>
            <p:cNvSpPr>
              <a:spLocks noChangeArrowheads="1"/>
            </p:cNvSpPr>
            <p:nvPr/>
          </p:nvSpPr>
          <p:spPr bwMode="auto">
            <a:xfrm>
              <a:off x="1714480" y="4225202"/>
              <a:ext cx="383565" cy="768596"/>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34" name="Rectangle 14"/>
            <p:cNvSpPr>
              <a:spLocks noChangeArrowheads="1"/>
            </p:cNvSpPr>
            <p:nvPr/>
          </p:nvSpPr>
          <p:spPr bwMode="auto">
            <a:xfrm>
              <a:off x="2110018" y="5377556"/>
              <a:ext cx="1602390"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情况①</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33" name="Rectangle 13"/>
            <p:cNvSpPr>
              <a:spLocks noChangeArrowheads="1"/>
            </p:cNvSpPr>
            <p:nvPr/>
          </p:nvSpPr>
          <p:spPr bwMode="auto">
            <a:xfrm>
              <a:off x="2473714" y="4225202"/>
              <a:ext cx="383565"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32" name="Rectangle 12"/>
            <p:cNvSpPr>
              <a:spLocks noChangeArrowheads="1"/>
            </p:cNvSpPr>
            <p:nvPr/>
          </p:nvSpPr>
          <p:spPr bwMode="auto">
            <a:xfrm>
              <a:off x="2729800" y="3691361"/>
              <a:ext cx="850612"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31" name="AutoShape 11"/>
            <p:cNvSpPr>
              <a:spLocks/>
            </p:cNvSpPr>
            <p:nvPr/>
          </p:nvSpPr>
          <p:spPr bwMode="auto">
            <a:xfrm rot="16200000">
              <a:off x="3015178" y="3441078"/>
              <a:ext cx="179452" cy="1243202"/>
            </a:xfrm>
            <a:prstGeom prst="rightBrace">
              <a:avLst>
                <a:gd name="adj1" fmla="val 57757"/>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30" name="Rectangle 10" descr="浅色上对角线"/>
            <p:cNvSpPr>
              <a:spLocks noChangeArrowheads="1"/>
            </p:cNvSpPr>
            <p:nvPr/>
          </p:nvSpPr>
          <p:spPr bwMode="auto">
            <a:xfrm>
              <a:off x="2096917" y="4221816"/>
              <a:ext cx="383565" cy="768596"/>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grpSp>
        <p:nvGrpSpPr>
          <p:cNvPr id="42" name="组合 41"/>
          <p:cNvGrpSpPr/>
          <p:nvPr/>
        </p:nvGrpSpPr>
        <p:grpSpPr>
          <a:xfrm>
            <a:off x="6508201" y="1571612"/>
            <a:ext cx="1921451" cy="1950279"/>
            <a:chOff x="3214678" y="2395093"/>
            <a:chExt cx="1921451" cy="1950279"/>
          </a:xfrm>
        </p:grpSpPr>
        <p:sp>
          <p:nvSpPr>
            <p:cNvPr id="43" name="Rectangle 35"/>
            <p:cNvSpPr>
              <a:spLocks noChangeArrowheads="1"/>
            </p:cNvSpPr>
            <p:nvPr/>
          </p:nvSpPr>
          <p:spPr bwMode="auto">
            <a:xfrm>
              <a:off x="3316389" y="3688501"/>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4" name="Rectangle 34"/>
            <p:cNvSpPr>
              <a:spLocks noChangeArrowheads="1"/>
            </p:cNvSpPr>
            <p:nvPr/>
          </p:nvSpPr>
          <p:spPr bwMode="auto">
            <a:xfrm>
              <a:off x="3637906" y="3688501"/>
              <a:ext cx="31362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Rectangle 33"/>
            <p:cNvSpPr>
              <a:spLocks noChangeArrowheads="1"/>
            </p:cNvSpPr>
            <p:nvPr/>
          </p:nvSpPr>
          <p:spPr bwMode="auto">
            <a:xfrm>
              <a:off x="4629535" y="3688501"/>
              <a:ext cx="251574"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Rectangle 24"/>
            <p:cNvSpPr>
              <a:spLocks noChangeArrowheads="1"/>
            </p:cNvSpPr>
            <p:nvPr/>
          </p:nvSpPr>
          <p:spPr bwMode="auto">
            <a:xfrm>
              <a:off x="4011318" y="2928934"/>
              <a:ext cx="561810"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mj-ea"/>
                  <a:ea typeface="+mj-ea"/>
                  <a:cs typeface="Times New Roman" pitchFamily="18" charset="0"/>
                </a:rPr>
                <a:t>…</a:t>
              </a:r>
              <a:endParaRPr kumimoji="0" lang="en-US" altLang="zh-CN" sz="2000" b="0" i="0" u="none" strike="noStrike" cap="none" normalizeH="0" baseline="0">
                <a:ln>
                  <a:noFill/>
                </a:ln>
                <a:solidFill>
                  <a:srgbClr val="0000FF"/>
                </a:solidFill>
                <a:effectLst/>
                <a:latin typeface="+mj-ea"/>
                <a:ea typeface="+mj-ea"/>
                <a:cs typeface="宋体" pitchFamily="2" charset="-122"/>
              </a:endParaRPr>
            </a:p>
          </p:txBody>
        </p:sp>
        <p:sp>
          <p:nvSpPr>
            <p:cNvPr id="47" name="Rectangle 23"/>
            <p:cNvSpPr>
              <a:spLocks noChangeArrowheads="1"/>
            </p:cNvSpPr>
            <p:nvPr/>
          </p:nvSpPr>
          <p:spPr bwMode="auto">
            <a:xfrm>
              <a:off x="4572000" y="2928934"/>
              <a:ext cx="383565" cy="768596"/>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48" name="Rectangle 22" descr="浅色上对角线"/>
            <p:cNvSpPr>
              <a:spLocks noChangeArrowheads="1"/>
            </p:cNvSpPr>
            <p:nvPr/>
          </p:nvSpPr>
          <p:spPr bwMode="auto">
            <a:xfrm>
              <a:off x="3244188" y="2928934"/>
              <a:ext cx="383565" cy="768596"/>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49" name="Rectangle 21"/>
            <p:cNvSpPr>
              <a:spLocks noChangeArrowheads="1"/>
            </p:cNvSpPr>
            <p:nvPr/>
          </p:nvSpPr>
          <p:spPr bwMode="auto">
            <a:xfrm>
              <a:off x="3214678" y="4007912"/>
              <a:ext cx="192145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情况（</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0" name="Rectangle 20"/>
            <p:cNvSpPr>
              <a:spLocks noChangeArrowheads="1"/>
            </p:cNvSpPr>
            <p:nvPr/>
          </p:nvSpPr>
          <p:spPr bwMode="auto">
            <a:xfrm>
              <a:off x="3627753" y="2928934"/>
              <a:ext cx="383565"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51" name="Rectangle 19"/>
            <p:cNvSpPr>
              <a:spLocks noChangeArrowheads="1"/>
            </p:cNvSpPr>
            <p:nvPr/>
          </p:nvSpPr>
          <p:spPr bwMode="auto">
            <a:xfrm>
              <a:off x="3883839" y="2395093"/>
              <a:ext cx="850612"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2" name="AutoShape 18"/>
            <p:cNvSpPr>
              <a:spLocks/>
            </p:cNvSpPr>
            <p:nvPr/>
          </p:nvSpPr>
          <p:spPr bwMode="auto">
            <a:xfrm rot="16200000">
              <a:off x="4169217" y="2144811"/>
              <a:ext cx="179452" cy="1243202"/>
            </a:xfrm>
            <a:prstGeom prst="rightBrace">
              <a:avLst>
                <a:gd name="adj1" fmla="val 57757"/>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sp>
        <p:nvSpPr>
          <p:cNvPr id="53" name="TextBox 52"/>
          <p:cNvSpPr txBox="1"/>
          <p:nvPr/>
        </p:nvSpPr>
        <p:spPr>
          <a:xfrm>
            <a:off x="5857884" y="2201283"/>
            <a:ext cx="357190" cy="584775"/>
          </a:xfrm>
          <a:prstGeom prst="rect">
            <a:avLst/>
          </a:prstGeom>
          <a:noFill/>
        </p:spPr>
        <p:txBody>
          <a:bodyPr wrap="square" rtlCol="0">
            <a:spAutoFit/>
          </a:bodyPr>
          <a:lstStyle/>
          <a:p>
            <a:pPr algn="l">
              <a:lnSpc>
                <a:spcPct val="100000"/>
              </a:lnSpc>
              <a:spcBef>
                <a:spcPts val="0"/>
              </a:spcBef>
            </a:pPr>
            <a:r>
              <a:rPr lang="zh-CN" altLang="en-US" sz="3200">
                <a:solidFill>
                  <a:srgbClr val="FF00FF"/>
                </a:solidFill>
                <a:latin typeface="Consolas" pitchFamily="49" charset="0"/>
                <a:ea typeface="楷体" pitchFamily="49" charset="-122"/>
                <a:cs typeface="Consolas" pitchFamily="49" charset="0"/>
                <a:sym typeface="Symbol"/>
              </a:rPr>
              <a:t></a:t>
            </a:r>
            <a:endParaRPr lang="zh-CN" altLang="en-US" sz="3200">
              <a:solidFill>
                <a:srgbClr val="FF00FF"/>
              </a:solidFill>
              <a:latin typeface="Consolas" pitchFamily="49" charset="0"/>
              <a:ea typeface="楷体" pitchFamily="49" charset="-122"/>
              <a:cs typeface="Consolas" pitchFamily="49" charset="0"/>
            </a:endParaRPr>
          </a:p>
        </p:txBody>
      </p:sp>
      <p:grpSp>
        <p:nvGrpSpPr>
          <p:cNvPr id="69" name="组合 68"/>
          <p:cNvGrpSpPr/>
          <p:nvPr/>
        </p:nvGrpSpPr>
        <p:grpSpPr>
          <a:xfrm>
            <a:off x="214282" y="3724869"/>
            <a:ext cx="8786874" cy="2918841"/>
            <a:chOff x="214282" y="3724869"/>
            <a:chExt cx="8786874" cy="2918841"/>
          </a:xfrm>
        </p:grpSpPr>
        <p:grpSp>
          <p:nvGrpSpPr>
            <p:cNvPr id="41" name="组合 40"/>
            <p:cNvGrpSpPr/>
            <p:nvPr/>
          </p:nvGrpSpPr>
          <p:grpSpPr>
            <a:xfrm>
              <a:off x="3760685" y="4616669"/>
              <a:ext cx="2097199" cy="2027041"/>
              <a:chOff x="4746901" y="3687975"/>
              <a:chExt cx="2097199" cy="2027041"/>
            </a:xfrm>
          </p:grpSpPr>
          <p:sp>
            <p:nvSpPr>
              <p:cNvPr id="30749" name="Rectangle 29"/>
              <p:cNvSpPr>
                <a:spLocks noChangeArrowheads="1"/>
              </p:cNvSpPr>
              <p:nvPr/>
            </p:nvSpPr>
            <p:spPr bwMode="auto">
              <a:xfrm>
                <a:off x="4829255" y="4977997"/>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8" name="Rectangle 28"/>
              <p:cNvSpPr>
                <a:spLocks noChangeArrowheads="1"/>
              </p:cNvSpPr>
              <p:nvPr/>
            </p:nvSpPr>
            <p:spPr bwMode="auto">
              <a:xfrm>
                <a:off x="5526441" y="4977997"/>
                <a:ext cx="31362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7" name="Rectangle 27"/>
              <p:cNvSpPr>
                <a:spLocks noChangeArrowheads="1"/>
              </p:cNvSpPr>
              <p:nvPr/>
            </p:nvSpPr>
            <p:spPr bwMode="auto">
              <a:xfrm>
                <a:off x="6518070" y="4977997"/>
                <a:ext cx="251574"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45" name="Rectangle 25"/>
              <p:cNvSpPr>
                <a:spLocks noChangeArrowheads="1"/>
              </p:cNvSpPr>
              <p:nvPr/>
            </p:nvSpPr>
            <p:spPr bwMode="auto">
              <a:xfrm>
                <a:off x="5201539" y="4977997"/>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29" name="Rectangle 9"/>
              <p:cNvSpPr>
                <a:spLocks noChangeArrowheads="1"/>
              </p:cNvSpPr>
              <p:nvPr/>
            </p:nvSpPr>
            <p:spPr bwMode="auto">
              <a:xfrm>
                <a:off x="5899853" y="4221816"/>
                <a:ext cx="561810"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mj-ea"/>
                    <a:ea typeface="+mj-ea"/>
                    <a:cs typeface="Times New Roman" pitchFamily="18" charset="0"/>
                  </a:rPr>
                  <a:t>…</a:t>
                </a:r>
                <a:endParaRPr kumimoji="0" lang="en-US" altLang="zh-CN" sz="2000" b="0" i="0" u="none" strike="noStrike" cap="none" normalizeH="0" baseline="0">
                  <a:ln>
                    <a:noFill/>
                  </a:ln>
                  <a:solidFill>
                    <a:srgbClr val="0000FF"/>
                  </a:solidFill>
                  <a:effectLst/>
                  <a:latin typeface="+mj-ea"/>
                  <a:ea typeface="+mj-ea"/>
                  <a:cs typeface="宋体" pitchFamily="2" charset="-122"/>
                </a:endParaRPr>
              </a:p>
            </p:txBody>
          </p:sp>
          <p:sp>
            <p:nvSpPr>
              <p:cNvPr id="30728" name="Rectangle 8"/>
              <p:cNvSpPr>
                <a:spLocks noChangeArrowheads="1"/>
              </p:cNvSpPr>
              <p:nvPr/>
            </p:nvSpPr>
            <p:spPr bwMode="auto">
              <a:xfrm>
                <a:off x="6460535" y="4221816"/>
                <a:ext cx="383565" cy="768596"/>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27" name="Rectangle 7" descr="浅色上对角线"/>
              <p:cNvSpPr>
                <a:spLocks noChangeArrowheads="1"/>
              </p:cNvSpPr>
              <p:nvPr/>
            </p:nvSpPr>
            <p:spPr bwMode="auto">
              <a:xfrm>
                <a:off x="4746901" y="4221816"/>
                <a:ext cx="767130" cy="383734"/>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26" name="Rectangle 6"/>
              <p:cNvSpPr>
                <a:spLocks noChangeArrowheads="1"/>
              </p:cNvSpPr>
              <p:nvPr/>
            </p:nvSpPr>
            <p:spPr bwMode="auto">
              <a:xfrm>
                <a:off x="5110414" y="5377556"/>
                <a:ext cx="1631650"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情况②</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25" name="Rectangle 5"/>
              <p:cNvSpPr>
                <a:spLocks noChangeArrowheads="1"/>
              </p:cNvSpPr>
              <p:nvPr/>
            </p:nvSpPr>
            <p:spPr bwMode="auto">
              <a:xfrm>
                <a:off x="5516288" y="4221816"/>
                <a:ext cx="383565"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24" name="Rectangle 4"/>
              <p:cNvSpPr>
                <a:spLocks noChangeArrowheads="1"/>
              </p:cNvSpPr>
              <p:nvPr/>
            </p:nvSpPr>
            <p:spPr bwMode="auto">
              <a:xfrm>
                <a:off x="5772374" y="3687975"/>
                <a:ext cx="850612"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723" name="AutoShape 3"/>
              <p:cNvSpPr>
                <a:spLocks/>
              </p:cNvSpPr>
              <p:nvPr/>
            </p:nvSpPr>
            <p:spPr bwMode="auto">
              <a:xfrm rot="16200000">
                <a:off x="6057752" y="3437693"/>
                <a:ext cx="179452" cy="1243202"/>
              </a:xfrm>
              <a:prstGeom prst="rightBrace">
                <a:avLst>
                  <a:gd name="adj1" fmla="val 57757"/>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722" name="Rectangle 2" descr="浅色上对角线"/>
              <p:cNvSpPr>
                <a:spLocks noChangeArrowheads="1"/>
              </p:cNvSpPr>
              <p:nvPr/>
            </p:nvSpPr>
            <p:spPr bwMode="auto">
              <a:xfrm>
                <a:off x="4746901" y="4602164"/>
                <a:ext cx="767130" cy="383734"/>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sp>
          <p:nvSpPr>
            <p:cNvPr id="54" name="TextBox 53"/>
            <p:cNvSpPr txBox="1"/>
            <p:nvPr/>
          </p:nvSpPr>
          <p:spPr>
            <a:xfrm>
              <a:off x="214282" y="3724869"/>
              <a:ext cx="8786874" cy="83933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②另一种</a:t>
              </a:r>
              <a:r>
                <a:rPr lang="zh-CN" altLang="en-US">
                  <a:solidFill>
                    <a:srgbClr val="0000FF"/>
                  </a:solidFill>
                  <a:latin typeface="Consolas" pitchFamily="49" charset="0"/>
                  <a:ea typeface="仿宋" pitchFamily="49" charset="-122"/>
                </a:rPr>
                <a:t>见</a:t>
              </a:r>
              <a:r>
                <a:rPr lang="zh-CN" altLang="zh-CN">
                  <a:solidFill>
                    <a:srgbClr val="0000FF"/>
                  </a:solidFill>
                  <a:latin typeface="Consolas" pitchFamily="49" charset="0"/>
                  <a:ea typeface="仿宋" pitchFamily="49" charset="-122"/>
                </a:rPr>
                <a:t>图</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，铺放方案总数</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，该铺放方案没有包含在情况</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中。</a:t>
              </a:r>
              <a:endParaRPr lang="zh-CN" altLang="en-US">
                <a:solidFill>
                  <a:srgbClr val="0000FF"/>
                </a:solidFill>
                <a:latin typeface="Consolas" pitchFamily="49" charset="0"/>
                <a:ea typeface="仿宋" pitchFamily="49" charset="-122"/>
                <a:cs typeface="Consolas" pitchFamily="49" charset="0"/>
              </a:endParaRPr>
            </a:p>
          </p:txBody>
        </p:sp>
        <p:grpSp>
          <p:nvGrpSpPr>
            <p:cNvPr id="55" name="组合 54"/>
            <p:cNvGrpSpPr/>
            <p:nvPr/>
          </p:nvGrpSpPr>
          <p:grpSpPr>
            <a:xfrm>
              <a:off x="6572264" y="4572008"/>
              <a:ext cx="1921451" cy="1950279"/>
              <a:chOff x="3214678" y="2395093"/>
              <a:chExt cx="1921451" cy="1950279"/>
            </a:xfrm>
          </p:grpSpPr>
          <p:sp>
            <p:nvSpPr>
              <p:cNvPr id="56" name="Rectangle 35"/>
              <p:cNvSpPr>
                <a:spLocks noChangeArrowheads="1"/>
              </p:cNvSpPr>
              <p:nvPr/>
            </p:nvSpPr>
            <p:spPr bwMode="auto">
              <a:xfrm>
                <a:off x="3316389" y="3688501"/>
                <a:ext cx="262855"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7" name="Rectangle 34"/>
              <p:cNvSpPr>
                <a:spLocks noChangeArrowheads="1"/>
              </p:cNvSpPr>
              <p:nvPr/>
            </p:nvSpPr>
            <p:spPr bwMode="auto">
              <a:xfrm>
                <a:off x="3637906" y="3688501"/>
                <a:ext cx="31362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8" name="Rectangle 33"/>
              <p:cNvSpPr>
                <a:spLocks noChangeArrowheads="1"/>
              </p:cNvSpPr>
              <p:nvPr/>
            </p:nvSpPr>
            <p:spPr bwMode="auto">
              <a:xfrm>
                <a:off x="4629535" y="3688501"/>
                <a:ext cx="251574"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9" name="Rectangle 24"/>
              <p:cNvSpPr>
                <a:spLocks noChangeArrowheads="1"/>
              </p:cNvSpPr>
              <p:nvPr/>
            </p:nvSpPr>
            <p:spPr bwMode="auto">
              <a:xfrm>
                <a:off x="4011318" y="2928934"/>
                <a:ext cx="561810"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mj-ea"/>
                    <a:ea typeface="+mj-ea"/>
                    <a:cs typeface="Times New Roman" pitchFamily="18" charset="0"/>
                  </a:rPr>
                  <a:t>…</a:t>
                </a:r>
                <a:endParaRPr kumimoji="0" lang="en-US" altLang="zh-CN" sz="2000" b="0" i="0" u="none" strike="noStrike" cap="none" normalizeH="0" baseline="0">
                  <a:ln>
                    <a:noFill/>
                  </a:ln>
                  <a:solidFill>
                    <a:srgbClr val="0000FF"/>
                  </a:solidFill>
                  <a:effectLst/>
                  <a:latin typeface="+mj-ea"/>
                  <a:ea typeface="+mj-ea"/>
                  <a:cs typeface="宋体" pitchFamily="2" charset="-122"/>
                </a:endParaRPr>
              </a:p>
            </p:txBody>
          </p:sp>
          <p:sp>
            <p:nvSpPr>
              <p:cNvPr id="60" name="Rectangle 23"/>
              <p:cNvSpPr>
                <a:spLocks noChangeArrowheads="1"/>
              </p:cNvSpPr>
              <p:nvPr/>
            </p:nvSpPr>
            <p:spPr bwMode="auto">
              <a:xfrm>
                <a:off x="4572000" y="2928934"/>
                <a:ext cx="383565" cy="768596"/>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61" name="Rectangle 22" descr="浅色上对角线"/>
              <p:cNvSpPr>
                <a:spLocks noChangeArrowheads="1"/>
              </p:cNvSpPr>
              <p:nvPr/>
            </p:nvSpPr>
            <p:spPr bwMode="auto">
              <a:xfrm>
                <a:off x="3244188" y="2928934"/>
                <a:ext cx="383565" cy="768596"/>
              </a:xfrm>
              <a:prstGeom prst="rect">
                <a:avLst/>
              </a:prstGeom>
              <a:pattFill prst="ltUpDiag">
                <a:fgClr>
                  <a:srgbClr val="000000"/>
                </a:fgClr>
                <a:bgClr>
                  <a:srgbClr val="FFFFFF"/>
                </a:bgClr>
              </a:patt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62" name="Rectangle 21"/>
              <p:cNvSpPr>
                <a:spLocks noChangeArrowheads="1"/>
              </p:cNvSpPr>
              <p:nvPr/>
            </p:nvSpPr>
            <p:spPr bwMode="auto">
              <a:xfrm>
                <a:off x="3214678" y="4007912"/>
                <a:ext cx="1921451"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情况（</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3" name="Rectangle 20"/>
              <p:cNvSpPr>
                <a:spLocks noChangeArrowheads="1"/>
              </p:cNvSpPr>
              <p:nvPr/>
            </p:nvSpPr>
            <p:spPr bwMode="auto">
              <a:xfrm>
                <a:off x="3627753" y="2928934"/>
                <a:ext cx="383565" cy="767467"/>
              </a:xfrm>
              <a:prstGeom prst="rect">
                <a:avLst/>
              </a:prstGeom>
              <a:solidFill>
                <a:srgbClr val="F2F2F2"/>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64" name="Rectangle 19"/>
              <p:cNvSpPr>
                <a:spLocks noChangeArrowheads="1"/>
              </p:cNvSpPr>
              <p:nvPr/>
            </p:nvSpPr>
            <p:spPr bwMode="auto">
              <a:xfrm>
                <a:off x="3883839" y="2395093"/>
                <a:ext cx="850612" cy="3374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5" name="AutoShape 18"/>
              <p:cNvSpPr>
                <a:spLocks/>
              </p:cNvSpPr>
              <p:nvPr/>
            </p:nvSpPr>
            <p:spPr bwMode="auto">
              <a:xfrm rot="16200000">
                <a:off x="4169217" y="2144811"/>
                <a:ext cx="179452" cy="1243202"/>
              </a:xfrm>
              <a:prstGeom prst="rightBrace">
                <a:avLst>
                  <a:gd name="adj1" fmla="val 57757"/>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sp>
          <p:nvSpPr>
            <p:cNvPr id="66" name="TextBox 65"/>
            <p:cNvSpPr txBox="1"/>
            <p:nvPr/>
          </p:nvSpPr>
          <p:spPr>
            <a:xfrm>
              <a:off x="6010284" y="5143512"/>
              <a:ext cx="357190" cy="584775"/>
            </a:xfrm>
            <a:prstGeom prst="rect">
              <a:avLst/>
            </a:prstGeom>
            <a:noFill/>
          </p:spPr>
          <p:txBody>
            <a:bodyPr wrap="square" rtlCol="0">
              <a:spAutoFit/>
            </a:bodyPr>
            <a:lstStyle/>
            <a:p>
              <a:pPr algn="l">
                <a:lnSpc>
                  <a:spcPct val="100000"/>
                </a:lnSpc>
                <a:spcBef>
                  <a:spcPts val="0"/>
                </a:spcBef>
              </a:pPr>
              <a:r>
                <a:rPr lang="zh-CN" altLang="en-US" sz="3200">
                  <a:solidFill>
                    <a:srgbClr val="FF00FF"/>
                  </a:solidFill>
                  <a:latin typeface="Consolas" pitchFamily="49" charset="0"/>
                  <a:ea typeface="楷体" pitchFamily="49" charset="-122"/>
                  <a:cs typeface="Consolas" pitchFamily="49" charset="0"/>
                  <a:sym typeface="Symbol"/>
                </a:rPr>
                <a:t></a:t>
              </a:r>
              <a:endParaRPr lang="zh-CN" altLang="en-US" sz="3200">
                <a:solidFill>
                  <a:srgbClr val="FF00FF"/>
                </a:solidFill>
                <a:latin typeface="Consolas" pitchFamily="49" charset="0"/>
                <a:ea typeface="楷体" pitchFamily="49" charset="-122"/>
                <a:cs typeface="Consolas" pitchFamily="49" charset="0"/>
              </a:endParaRPr>
            </a:p>
          </p:txBody>
        </p:sp>
        <p:cxnSp>
          <p:nvCxnSpPr>
            <p:cNvPr id="68" name="直接连接符 67"/>
            <p:cNvCxnSpPr/>
            <p:nvPr/>
          </p:nvCxnSpPr>
          <p:spPr>
            <a:xfrm rot="16200000" flipH="1">
              <a:off x="6128643" y="5384108"/>
              <a:ext cx="357190" cy="214314"/>
            </a:xfrm>
            <a:prstGeom prst="lin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cxnSp>
      </p:grpSp>
      <p:sp>
        <p:nvSpPr>
          <p:cNvPr id="67" name="灯片编号占位符 66"/>
          <p:cNvSpPr>
            <a:spLocks noGrp="1"/>
          </p:cNvSpPr>
          <p:nvPr>
            <p:ph type="sldNum" sz="quarter" idx="12"/>
          </p:nvPr>
        </p:nvSpPr>
        <p:spPr/>
        <p:txBody>
          <a:bodyPr/>
          <a:lstStyle/>
          <a:p>
            <a:fld id="{7AF016A1-9F15-429F-9EFD-84004B73C732}" type="slidenum">
              <a:rPr lang="en-US" altLang="zh-CN" smtClean="0"/>
              <a:pPr/>
              <a:t>50</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95453"/>
            <a:ext cx="8643998" cy="502702"/>
          </a:xfrm>
          <a:prstGeom prst="rect">
            <a:avLst/>
          </a:prstGeom>
          <a:noFill/>
        </p:spPr>
        <p:txBody>
          <a:bodyPr wrap="square" rtlCol="0">
            <a:spAutoFit/>
          </a:bodyPr>
          <a:lstStyle/>
          <a:p>
            <a:pPr algn="l" defTabSz="360000">
              <a:lnSpc>
                <a:spcPts val="3500"/>
              </a:lnSpc>
              <a:spcBef>
                <a:spcPts val="0"/>
              </a:spcBef>
            </a:pPr>
            <a:r>
              <a:rPr lang="zh-CN" altLang="zh-CN">
                <a:solidFill>
                  <a:srgbClr val="0000FF"/>
                </a:solidFill>
                <a:latin typeface="Consolas" pitchFamily="49" charset="0"/>
                <a:ea typeface="仿宋" pitchFamily="49" charset="-122"/>
              </a:rPr>
              <a:t>采用加法原理，铺放方案总数</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p>
        </p:txBody>
      </p:sp>
      <p:sp>
        <p:nvSpPr>
          <p:cNvPr id="30757" name="Rectangle 3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TextBox 29"/>
          <p:cNvSpPr txBox="1"/>
          <p:nvPr/>
        </p:nvSpPr>
        <p:spPr>
          <a:xfrm>
            <a:off x="571472" y="1852775"/>
            <a:ext cx="7500990" cy="1487688"/>
          </a:xfrm>
          <a:prstGeom prst="rect">
            <a:avLst/>
          </a:prstGeom>
          <a:solidFill>
            <a:schemeClr val="bg1"/>
          </a:solidFill>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88000" tIns="108000" bIns="108000" rtlCol="0">
            <a:spAutoFit/>
          </a:bodyPr>
          <a:lstStyle/>
          <a:p>
            <a:pPr algn="l" defTabSz="360000">
              <a:lnSpc>
                <a:spcPts val="33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(1)=1</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(2)=2</a:t>
            </a:r>
            <a:endParaRPr lang="zh-CN" altLang="zh-CN" sz="2000">
              <a:solidFill>
                <a:srgbClr val="0000FF"/>
              </a:solidFill>
              <a:latin typeface="Consolas" pitchFamily="49" charset="0"/>
              <a:ea typeface="仿宋" pitchFamily="49" charset="-122"/>
            </a:endParaRPr>
          </a:p>
          <a:p>
            <a:pPr algn="l" defTabSz="360000">
              <a:lnSpc>
                <a:spcPts val="33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-2)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&gt;2</a:t>
            </a:r>
            <a:endParaRPr lang="zh-CN" altLang="en-US" sz="2000">
              <a:solidFill>
                <a:srgbClr val="00B0F0"/>
              </a:solidFill>
              <a:latin typeface="Consolas" pitchFamily="49" charset="0"/>
              <a:ea typeface="仿宋" pitchFamily="49" charset="-122"/>
              <a:cs typeface="Consolas" pitchFamily="49" charset="0"/>
            </a:endParaRPr>
          </a:p>
        </p:txBody>
      </p:sp>
      <p:sp>
        <p:nvSpPr>
          <p:cNvPr id="31" name="下箭头 30"/>
          <p:cNvSpPr/>
          <p:nvPr/>
        </p:nvSpPr>
        <p:spPr>
          <a:xfrm>
            <a:off x="3428992" y="1281271"/>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51</a:t>
            </a:fld>
            <a:r>
              <a:rPr lang="en-US" altLang="zh-CN"/>
              <a:t>/91</a:t>
            </a:r>
          </a:p>
        </p:txBody>
      </p:sp>
      <p:sp>
        <p:nvSpPr>
          <p:cNvPr id="8" name="TextBox 7"/>
          <p:cNvSpPr txBox="1"/>
          <p:nvPr/>
        </p:nvSpPr>
        <p:spPr>
          <a:xfrm>
            <a:off x="428596" y="4071942"/>
            <a:ext cx="8215370"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华文中宋" pitchFamily="2" charset="-122"/>
                <a:ea typeface="华文中宋" pitchFamily="2" charset="-122"/>
              </a:rPr>
              <a:t>如果直接采用递归算法求解会超时，可以采用如下迭代算法求解</a:t>
            </a:r>
            <a:r>
              <a:rPr lang="zh-CN" altLang="en-US" sz="2200">
                <a:solidFill>
                  <a:srgbClr val="0000FF"/>
                </a:solidFill>
                <a:latin typeface="华文中宋" pitchFamily="2" charset="-122"/>
                <a:ea typeface="华文中宋" pitchFamily="2" charset="-122"/>
              </a:rPr>
              <a:t>！</a:t>
            </a:r>
            <a:endParaRPr lang="zh-CN" altLang="en-US" sz="2200">
              <a:solidFill>
                <a:srgbClr val="0000FF"/>
              </a:solidFill>
              <a:latin typeface="华文中宋" pitchFamily="2" charset="-122"/>
              <a:ea typeface="华文中宋" pitchFamily="2" charset="-122"/>
              <a:cs typeface="Consolas"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06" y="142852"/>
            <a:ext cx="8858312" cy="63223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long long </a:t>
            </a:r>
            <a:r>
              <a:rPr lang="en-US" altLang="zh-CN" sz="2000">
                <a:solidFill>
                  <a:srgbClr val="FF0000"/>
                </a:solidFill>
                <a:latin typeface="Consolas" pitchFamily="49" charset="0"/>
                <a:ea typeface="仿宋" pitchFamily="49" charset="-122"/>
              </a:rPr>
              <a:t>Count</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求铺放方案的总数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long long a=1,b=2,c;			</a:t>
            </a:r>
            <a:r>
              <a:rPr lang="en-US" altLang="zh-CN" sz="2000">
                <a:solidFill>
                  <a:srgbClr val="00B0F0"/>
                </a:solidFill>
                <a:latin typeface="Consolas" pitchFamily="49" charset="0"/>
                <a:ea typeface="仿宋" pitchFamily="49" charset="-122"/>
              </a:rPr>
              <a:t>//a,b,c</a:t>
            </a:r>
            <a:r>
              <a:rPr lang="zh-CN" altLang="zh-CN" sz="2000">
                <a:solidFill>
                  <a:srgbClr val="00B0F0"/>
                </a:solidFill>
                <a:latin typeface="Consolas" pitchFamily="49" charset="0"/>
                <a:ea typeface="仿宋" pitchFamily="49" charset="-122"/>
              </a:rPr>
              <a:t>分别对应</a:t>
            </a:r>
            <a:r>
              <a:rPr lang="en-US" altLang="zh-CN" sz="2000">
                <a:solidFill>
                  <a:srgbClr val="00B0F0"/>
                </a:solidFill>
                <a:latin typeface="Consolas" pitchFamily="49" charset="0"/>
                <a:ea typeface="仿宋" pitchFamily="49" charset="-122"/>
              </a:rPr>
              <a:t>f(n-2),f(n-1),f(n)</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if(n==1)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if(n==2)</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b;</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i=3;i&lt;=n;i++)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c=a+b;</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a=b;</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6" name="组合 5"/>
          <p:cNvGrpSpPr/>
          <p:nvPr/>
        </p:nvGrpSpPr>
        <p:grpSpPr>
          <a:xfrm>
            <a:off x="4786314" y="3714752"/>
            <a:ext cx="3071834" cy="1785950"/>
            <a:chOff x="4786314" y="3714752"/>
            <a:chExt cx="3071834" cy="1785950"/>
          </a:xfrm>
        </p:grpSpPr>
        <p:sp>
          <p:nvSpPr>
            <p:cNvPr id="4" name="TextBox 3"/>
            <p:cNvSpPr txBox="1"/>
            <p:nvPr/>
          </p:nvSpPr>
          <p:spPr>
            <a:xfrm>
              <a:off x="5072066" y="4357694"/>
              <a:ext cx="2786082" cy="400110"/>
            </a:xfrm>
            <a:prstGeom prst="rect">
              <a:avLst/>
            </a:prstGeom>
            <a:noFill/>
          </p:spPr>
          <p:txBody>
            <a:bodyPr wrap="square" rtlCol="0">
              <a:spAutoFit/>
            </a:bodyPr>
            <a:lstStyle/>
            <a:p>
              <a:pPr algn="l">
                <a:lnSpc>
                  <a:spcPct val="100000"/>
                </a:lnSpc>
                <a:spcBef>
                  <a:spcPts val="0"/>
                </a:spcBef>
              </a:pPr>
              <a:r>
                <a:rPr lang="en-US" altLang="zh-CN" sz="2000" i="1">
                  <a:solidFill>
                    <a:srgbClr val="006600"/>
                  </a:solidFill>
                  <a:latin typeface="Consolas" pitchFamily="49" charset="0"/>
                  <a:ea typeface="仿宋" pitchFamily="49" charset="-122"/>
                </a:rPr>
                <a:t>f</a:t>
              </a:r>
              <a:r>
                <a:rPr lang="en-US" altLang="zh-CN" sz="2000">
                  <a:solidFill>
                    <a:srgbClr val="006600"/>
                  </a:solidFill>
                  <a:latin typeface="Consolas" pitchFamily="49" charset="0"/>
                  <a:ea typeface="仿宋" pitchFamily="49" charset="-122"/>
                </a:rPr>
                <a:t>(</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a:t>
              </a:r>
              <a:r>
                <a:rPr lang="en-US" altLang="zh-CN" sz="2000" i="1">
                  <a:solidFill>
                    <a:srgbClr val="006600"/>
                  </a:solidFill>
                  <a:latin typeface="Consolas" pitchFamily="49" charset="0"/>
                  <a:ea typeface="仿宋" pitchFamily="49" charset="-122"/>
                </a:rPr>
                <a:t>f</a:t>
              </a:r>
              <a:r>
                <a:rPr lang="en-US" altLang="zh-CN" sz="2000">
                  <a:solidFill>
                    <a:srgbClr val="006600"/>
                  </a:solidFill>
                  <a:latin typeface="Consolas" pitchFamily="49" charset="0"/>
                  <a:ea typeface="仿宋" pitchFamily="49" charset="-122"/>
                </a:rPr>
                <a:t>(</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a:t>
              </a:r>
              <a:r>
                <a:rPr lang="en-US" altLang="zh-CN" sz="2000" i="1">
                  <a:solidFill>
                    <a:srgbClr val="006600"/>
                  </a:solidFill>
                  <a:latin typeface="Consolas" pitchFamily="49" charset="0"/>
                  <a:ea typeface="仿宋" pitchFamily="49" charset="-122"/>
                </a:rPr>
                <a:t>f</a:t>
              </a:r>
              <a:r>
                <a:rPr lang="en-US" altLang="zh-CN" sz="2000">
                  <a:solidFill>
                    <a:srgbClr val="006600"/>
                  </a:solidFill>
                  <a:latin typeface="Consolas" pitchFamily="49" charset="0"/>
                  <a:ea typeface="仿宋" pitchFamily="49" charset="-122"/>
                </a:rPr>
                <a:t>(</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-2)</a:t>
              </a:r>
              <a:endParaRPr lang="zh-CN" altLang="en-US" sz="2000">
                <a:solidFill>
                  <a:srgbClr val="006600"/>
                </a:solidFill>
                <a:latin typeface="Consolas" pitchFamily="49" charset="0"/>
                <a:ea typeface="楷体" pitchFamily="49" charset="-122"/>
                <a:cs typeface="Consolas" pitchFamily="49" charset="0"/>
              </a:endParaRPr>
            </a:p>
          </p:txBody>
        </p:sp>
        <p:sp>
          <p:nvSpPr>
            <p:cNvPr id="5" name="右大括号 4"/>
            <p:cNvSpPr/>
            <p:nvPr/>
          </p:nvSpPr>
          <p:spPr>
            <a:xfrm>
              <a:off x="4786314" y="3714752"/>
              <a:ext cx="214314" cy="1785950"/>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52</a:t>
            </a:fld>
            <a:r>
              <a:rPr lang="en-US" altLang="zh-CN"/>
              <a:t>/91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289824"/>
            <a:ext cx="7786742"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main ()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while (~scanf("%d", &amp;n))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 ("%lld\n",</a:t>
            </a:r>
            <a:r>
              <a:rPr lang="en-US" altLang="zh-CN" sz="2000">
                <a:solidFill>
                  <a:srgbClr val="FF0000"/>
                </a:solidFill>
                <a:latin typeface="Consolas" pitchFamily="49" charset="0"/>
                <a:ea typeface="仿宋" pitchFamily="49" charset="-122"/>
              </a:rPr>
              <a:t>Count</a:t>
            </a:r>
            <a:r>
              <a:rPr lang="en-US" altLang="zh-CN" sz="2000">
                <a:solidFill>
                  <a:srgbClr val="0000FF"/>
                </a:solidFill>
                <a:latin typeface="Consolas" pitchFamily="49" charset="0"/>
                <a:ea typeface="仿宋" pitchFamily="49" charset="-122"/>
              </a:rPr>
              <a:t>(n));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857224" y="3000372"/>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31ms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1732KB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9" name="组合 8"/>
          <p:cNvGrpSpPr/>
          <p:nvPr/>
        </p:nvGrpSpPr>
        <p:grpSpPr>
          <a:xfrm>
            <a:off x="928662" y="3857628"/>
            <a:ext cx="6215106" cy="2514604"/>
            <a:chOff x="928662" y="3857628"/>
            <a:chExt cx="6215106" cy="2514604"/>
          </a:xfrm>
        </p:grpSpPr>
        <p:pic>
          <p:nvPicPr>
            <p:cNvPr id="7" name="Picture 2"/>
            <p:cNvPicPr>
              <a:picLocks noChangeAspect="1" noChangeArrowheads="1"/>
            </p:cNvPicPr>
            <p:nvPr/>
          </p:nvPicPr>
          <p:blipFill>
            <a:blip r:embed="rId3" cstate="print"/>
            <a:srcRect/>
            <a:stretch>
              <a:fillRect/>
            </a:stretch>
          </p:blipFill>
          <p:spPr bwMode="auto">
            <a:xfrm>
              <a:off x="928662" y="3857628"/>
              <a:ext cx="2095503" cy="2514604"/>
            </a:xfrm>
            <a:prstGeom prst="rect">
              <a:avLst/>
            </a:prstGeom>
            <a:noFill/>
            <a:ln w="9525">
              <a:noFill/>
              <a:miter lim="800000"/>
              <a:headEnd/>
              <a:tailEnd/>
            </a:ln>
          </p:spPr>
        </p:pic>
        <p:sp>
          <p:nvSpPr>
            <p:cNvPr id="8" name="TextBox 7"/>
            <p:cNvSpPr txBox="1"/>
            <p:nvPr/>
          </p:nvSpPr>
          <p:spPr>
            <a:xfrm>
              <a:off x="3143240" y="4714884"/>
              <a:ext cx="4000528"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itchFamily="49" charset="0"/>
                  <a:ea typeface="楷体" pitchFamily="49" charset="-122"/>
                  <a:cs typeface="Consolas" pitchFamily="49" charset="0"/>
                </a:rPr>
                <a:t>如何进一步改进时间性能？</a:t>
              </a:r>
            </a:p>
          </p:txBody>
        </p:sp>
      </p:grpSp>
      <p:sp>
        <p:nvSpPr>
          <p:cNvPr id="10" name="灯片编号占位符 9"/>
          <p:cNvSpPr>
            <a:spLocks noGrp="1"/>
          </p:cNvSpPr>
          <p:nvPr>
            <p:ph type="sldNum" sz="quarter" idx="12"/>
          </p:nvPr>
        </p:nvSpPr>
        <p:spPr/>
        <p:txBody>
          <a:bodyPr/>
          <a:lstStyle/>
          <a:p>
            <a:fld id="{7AF016A1-9F15-429F-9EFD-84004B73C732}" type="slidenum">
              <a:rPr lang="en-US" altLang="zh-CN" smtClean="0"/>
              <a:pPr/>
              <a:t>53</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143108" y="428604"/>
            <a:ext cx="464347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直接插入排序</a:t>
            </a:r>
          </a:p>
        </p:txBody>
      </p:sp>
      <p:sp>
        <p:nvSpPr>
          <p:cNvPr id="7" name="TextBox 6"/>
          <p:cNvSpPr txBox="1"/>
          <p:nvPr/>
        </p:nvSpPr>
        <p:spPr>
          <a:xfrm>
            <a:off x="357158" y="1357298"/>
            <a:ext cx="8572560" cy="9900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楷体" pitchFamily="49" charset="-122"/>
                <a:ea typeface="楷体" pitchFamily="49" charset="-122"/>
              </a:rPr>
              <a:t>：</a:t>
            </a:r>
            <a:r>
              <a:rPr lang="zh-CN" altLang="zh-CN">
                <a:solidFill>
                  <a:srgbClr val="0000FF"/>
                </a:solidFill>
                <a:latin typeface="Consolas" pitchFamily="49" charset="0"/>
                <a:ea typeface="楷体" pitchFamily="49" charset="-122"/>
              </a:rPr>
              <a:t>对于给定的含有</a:t>
            </a:r>
            <a:r>
              <a:rPr lang="pt-BR" altLang="zh-CN" i="1">
                <a:solidFill>
                  <a:srgbClr val="0000FF"/>
                </a:solidFill>
                <a:latin typeface="Consolas" pitchFamily="49" charset="0"/>
                <a:ea typeface="楷体" pitchFamily="49" charset="-122"/>
              </a:rPr>
              <a:t>n</a:t>
            </a:r>
            <a:r>
              <a:rPr lang="zh-CN" altLang="zh-CN">
                <a:solidFill>
                  <a:srgbClr val="0000FF"/>
                </a:solidFill>
                <a:latin typeface="Consolas" pitchFamily="49" charset="0"/>
                <a:ea typeface="楷体" pitchFamily="49" charset="-122"/>
              </a:rPr>
              <a:t>个整数元素的数组</a:t>
            </a:r>
            <a:r>
              <a:rPr lang="pt-BR" altLang="zh-CN" i="1">
                <a:solidFill>
                  <a:srgbClr val="0000FF"/>
                </a:solidFill>
                <a:latin typeface="Consolas" pitchFamily="49" charset="0"/>
                <a:ea typeface="楷体" pitchFamily="49" charset="-122"/>
              </a:rPr>
              <a:t>a</a:t>
            </a:r>
            <a:r>
              <a:rPr lang="zh-CN" altLang="zh-CN">
                <a:solidFill>
                  <a:srgbClr val="0000FF"/>
                </a:solidFill>
                <a:latin typeface="Consolas" pitchFamily="49" charset="0"/>
                <a:ea typeface="楷体" pitchFamily="49" charset="-122"/>
              </a:rPr>
              <a:t>，采用直接插入排序法对其按元素递增排序，设计相应的递归排序算法。</a:t>
            </a:r>
            <a:endParaRPr lang="zh-CN" altLang="en-US">
              <a:solidFill>
                <a:srgbClr val="0000FF"/>
              </a:solidFill>
              <a:latin typeface="Consolas" pitchFamily="49" charset="0"/>
              <a:ea typeface="楷体" pitchFamily="49" charset="-122"/>
              <a:cs typeface="Consolas" pitchFamily="49" charset="0"/>
            </a:endParaRPr>
          </a:p>
        </p:txBody>
      </p:sp>
      <p:sp>
        <p:nvSpPr>
          <p:cNvPr id="8" name="TextBox 7"/>
          <p:cNvSpPr txBox="1"/>
          <p:nvPr/>
        </p:nvSpPr>
        <p:spPr>
          <a:xfrm>
            <a:off x="571472" y="257174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9" name="TextBox 8"/>
          <p:cNvSpPr txBox="1"/>
          <p:nvPr/>
        </p:nvSpPr>
        <p:spPr>
          <a:xfrm>
            <a:off x="500034" y="3214686"/>
            <a:ext cx="8358246" cy="2298065"/>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1200"/>
              </a:spcBef>
            </a:pPr>
            <a:r>
              <a:rPr lang="zh-CN" altLang="zh-CN">
                <a:solidFill>
                  <a:srgbClr val="0000FF"/>
                </a:solidFill>
                <a:latin typeface="Consolas" pitchFamily="49" charset="0"/>
                <a:ea typeface="仿宋" pitchFamily="49" charset="-122"/>
              </a:rPr>
              <a:t>设大问题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用于实现</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个元素）的递增排序，则小问题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用于实现</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个元素）的递增排序。大问题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的操作如下：</a:t>
            </a:r>
          </a:p>
          <a:p>
            <a:pPr algn="l" defTabSz="360000">
              <a:lnSpc>
                <a:spcPts val="32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时，排序区间为</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[0..0]</a:t>
            </a:r>
            <a:r>
              <a:rPr lang="zh-CN" altLang="zh-CN">
                <a:solidFill>
                  <a:srgbClr val="0000FF"/>
                </a:solidFill>
                <a:latin typeface="Consolas" pitchFamily="49" charset="0"/>
                <a:ea typeface="仿宋" pitchFamily="49" charset="-122"/>
              </a:rPr>
              <a:t>，其中只有一个元素</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，显然是有序的，不需要做任何操作。</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54</a:t>
            </a:fld>
            <a:r>
              <a:rPr lang="en-US" altLang="zh-CN"/>
              <a:t>/91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00042"/>
            <a:ext cx="8072494" cy="990015"/>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&gt;0</a:t>
            </a:r>
            <a:r>
              <a:rPr lang="zh-CN" altLang="zh-CN">
                <a:solidFill>
                  <a:srgbClr val="0000FF"/>
                </a:solidFill>
                <a:latin typeface="Consolas" pitchFamily="49" charset="0"/>
                <a:ea typeface="仿宋" pitchFamily="49" charset="-122"/>
              </a:rPr>
              <a:t>时，先调用</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实现</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的递增排序，然后将</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有序插入到有序区</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中</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14644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6440" name="Rectangle 8"/>
          <p:cNvSpPr>
            <a:spLocks noChangeArrowheads="1"/>
          </p:cNvSpPr>
          <p:nvPr/>
        </p:nvSpPr>
        <p:spPr bwMode="auto">
          <a:xfrm>
            <a:off x="2097100" y="3447023"/>
            <a:ext cx="2677308" cy="352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找到第一个</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i="0" u="none" strike="noStrike" cap="none" normalizeH="0" baseline="0">
                <a:ln>
                  <a:noFill/>
                </a:ln>
                <a:solidFill>
                  <a:srgbClr val="0000FF"/>
                </a:solidFill>
                <a:effectLst/>
                <a:latin typeface="+mj-ea"/>
                <a:ea typeface="+mj-ea"/>
                <a:cs typeface="Times New Roman" pitchFamily="18" charset="0"/>
              </a:rPr>
              <a:t>≥</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tmp</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6439" name="Rectangle 7"/>
          <p:cNvSpPr>
            <a:spLocks noChangeArrowheads="1"/>
          </p:cNvSpPr>
          <p:nvPr/>
        </p:nvSpPr>
        <p:spPr bwMode="auto">
          <a:xfrm>
            <a:off x="1500166" y="2571744"/>
            <a:ext cx="4857784" cy="546577"/>
          </a:xfrm>
          <a:prstGeom prst="rect">
            <a:avLst/>
          </a:prstGeom>
          <a:solidFill>
            <a:schemeClr val="accent6">
              <a:lumMod val="20000"/>
              <a:lumOff val="80000"/>
            </a:schemeClr>
          </a:solidFill>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0" u="none" strike="noStrike" cap="none" normalizeH="0" baseline="0">
                <a:ln>
                  <a:noFill/>
                </a:ln>
                <a:solidFill>
                  <a:srgbClr val="0000FF"/>
                </a:solidFill>
                <a:effectLst/>
                <a:latin typeface="+mj-ea"/>
                <a:ea typeface="+mj-ea"/>
                <a:cs typeface="Times New Roman" pitchFamily="18" charset="0"/>
              </a:rPr>
              <a:t>…</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0" u="none" strike="noStrike" cap="none" normalizeH="0" baseline="0">
                <a:ln>
                  <a:noFill/>
                </a:ln>
                <a:solidFill>
                  <a:srgbClr val="0000FF"/>
                </a:solidFill>
                <a:effectLst/>
                <a:latin typeface="+mj-ea"/>
                <a:ea typeface="+mj-ea"/>
                <a:cs typeface="Times New Roman" pitchFamily="18" charset="0"/>
              </a:rPr>
              <a:t>…</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0" u="none" strike="noStrike" cap="none" normalizeH="0" baseline="0">
                <a:ln>
                  <a:noFill/>
                </a:ln>
                <a:solidFill>
                  <a:srgbClr val="0000FF"/>
                </a:solidFill>
                <a:effectLst/>
                <a:latin typeface="+mj-ea"/>
                <a:ea typeface="+mj-ea"/>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6438" name="AutoShape 6"/>
          <p:cNvSpPr>
            <a:spLocks/>
          </p:cNvSpPr>
          <p:nvPr/>
        </p:nvSpPr>
        <p:spPr bwMode="auto">
          <a:xfrm rot="16200000">
            <a:off x="3248070" y="643082"/>
            <a:ext cx="255657" cy="3484544"/>
          </a:xfrm>
          <a:prstGeom prst="rightBrace">
            <a:avLst>
              <a:gd name="adj1" fmla="val 88424"/>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6437" name="Rectangle 5"/>
          <p:cNvSpPr>
            <a:spLocks noChangeArrowheads="1"/>
          </p:cNvSpPr>
          <p:nvPr/>
        </p:nvSpPr>
        <p:spPr bwMode="auto">
          <a:xfrm>
            <a:off x="2923749" y="1904266"/>
            <a:ext cx="1054746" cy="35263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有序区</a:t>
            </a:r>
            <a:endParaRPr kumimoji="0" 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6436" name="Rectangle 4"/>
          <p:cNvSpPr>
            <a:spLocks noChangeArrowheads="1"/>
          </p:cNvSpPr>
          <p:nvPr/>
        </p:nvSpPr>
        <p:spPr bwMode="auto">
          <a:xfrm>
            <a:off x="5273439" y="3622078"/>
            <a:ext cx="677820" cy="35389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tmp</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6435" name="AutoShape 3"/>
          <p:cNvSpPr>
            <a:spLocks noChangeShapeType="1"/>
          </p:cNvSpPr>
          <p:nvPr/>
        </p:nvSpPr>
        <p:spPr bwMode="auto">
          <a:xfrm>
            <a:off x="5602675" y="3050314"/>
            <a:ext cx="3235" cy="571765"/>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6434" name="AutoShape 2"/>
          <p:cNvSpPr>
            <a:spLocks noChangeShapeType="1"/>
          </p:cNvSpPr>
          <p:nvPr/>
        </p:nvSpPr>
        <p:spPr bwMode="auto">
          <a:xfrm>
            <a:off x="3344613" y="2993641"/>
            <a:ext cx="1700212" cy="80601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TextBox 13"/>
          <p:cNvSpPr txBox="1"/>
          <p:nvPr/>
        </p:nvSpPr>
        <p:spPr>
          <a:xfrm>
            <a:off x="428596" y="4429132"/>
            <a:ext cx="8358246" cy="1246495"/>
          </a:xfrm>
          <a:prstGeom prst="rect">
            <a:avLst/>
          </a:prstGeom>
          <a:solidFill>
            <a:schemeClr val="bg1">
              <a:lumMod val="95000"/>
            </a:schemeClr>
          </a:solidFill>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 不做任何事情，算法结束</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时</a:t>
            </a:r>
          </a:p>
          <a:p>
            <a:pPr algn="l" defTabSz="360000">
              <a:lnSpc>
                <a:spcPts val="3000"/>
              </a:lnSpc>
              <a:spcBef>
                <a:spcPts val="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zh-CN" altLang="zh-CN" sz="2000">
                <a:solidFill>
                  <a:srgbClr val="00B0F0"/>
                </a:solidFill>
                <a:latin typeface="Consolas" pitchFamily="49" charset="0"/>
                <a:ea typeface="仿宋" pitchFamily="49" charset="-122"/>
              </a:rPr>
              <a:t>其他情况</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将</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有序插入时</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[0..</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中</a:t>
            </a: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pPr/>
              <a:t>55</a:t>
            </a:fld>
            <a:r>
              <a:rPr lang="en-US" altLang="zh-CN"/>
              <a:t>/91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9824"/>
            <a:ext cx="8643998" cy="52451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insertsort</a:t>
            </a:r>
            <a:r>
              <a:rPr lang="en-US" altLang="zh-CN" sz="2000">
                <a:solidFill>
                  <a:srgbClr val="0000FF"/>
                </a:solidFill>
                <a:latin typeface="Consolas" pitchFamily="49" charset="0"/>
                <a:ea typeface="仿宋" pitchFamily="49" charset="-122"/>
              </a:rPr>
              <a:t>(int a[],int n,int 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if(i&gt;0)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insertsort</a:t>
            </a:r>
            <a:r>
              <a:rPr lang="en-US" altLang="zh-CN" sz="2000">
                <a:solidFill>
                  <a:srgbClr val="0000FF"/>
                </a:solidFill>
                <a:latin typeface="Consolas" pitchFamily="49" charset="0"/>
                <a:ea typeface="仿宋" pitchFamily="49" charset="-122"/>
              </a:rPr>
              <a:t>(a,n,i-1);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if(a[i]&lt;a[i-1])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反序时</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tmp=a[i];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j=i-1;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do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a:t>
            </a:r>
            <a:r>
              <a:rPr lang="en-US" altLang="zh-CN" sz="2000">
                <a:solidFill>
                  <a:srgbClr val="00B0F0"/>
                </a:solidFill>
                <a:latin typeface="Consolas" pitchFamily="49" charset="0"/>
                <a:ea typeface="仿宋" pitchFamily="49" charset="-122"/>
              </a:rPr>
              <a:t>a[i]</a:t>
            </a:r>
            <a:r>
              <a:rPr lang="zh-CN" altLang="zh-CN" sz="2000">
                <a:solidFill>
                  <a:srgbClr val="00B0F0"/>
                </a:solidFill>
                <a:latin typeface="Consolas" pitchFamily="49" charset="0"/>
                <a:ea typeface="仿宋" pitchFamily="49" charset="-122"/>
              </a:rPr>
              <a:t>的插入位置</a:t>
            </a:r>
          </a:p>
          <a:p>
            <a:pPr algn="l" defTabSz="360000">
              <a:lnSpc>
                <a:spcPts val="2800"/>
              </a:lnSpc>
              <a:spcBef>
                <a:spcPts val="0"/>
              </a:spcBef>
            </a:pPr>
            <a:r>
              <a:rPr lang="en-US" altLang="zh-CN" sz="2000">
                <a:solidFill>
                  <a:srgbClr val="0000FF"/>
                </a:solidFill>
                <a:latin typeface="Consolas" pitchFamily="49" charset="0"/>
                <a:ea typeface="仿宋" pitchFamily="49" charset="-122"/>
              </a:rPr>
              <a:t>				a[j+1]=a[j];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将大于</a:t>
            </a:r>
            <a:r>
              <a:rPr lang="en-US" altLang="zh-CN" sz="2000">
                <a:solidFill>
                  <a:srgbClr val="00B0F0"/>
                </a:solidFill>
                <a:latin typeface="Consolas" pitchFamily="49" charset="0"/>
                <a:ea typeface="仿宋" pitchFamily="49" charset="-122"/>
              </a:rPr>
              <a:t>a[i]</a:t>
            </a:r>
            <a:r>
              <a:rPr lang="zh-CN" altLang="zh-CN" sz="2000">
                <a:solidFill>
                  <a:srgbClr val="00B0F0"/>
                </a:solidFill>
                <a:latin typeface="Consolas" pitchFamily="49" charset="0"/>
                <a:ea typeface="仿宋" pitchFamily="49" charset="-122"/>
              </a:rPr>
              <a:t>的元素后移</a:t>
            </a:r>
          </a:p>
          <a:p>
            <a:pPr algn="l" defTabSz="360000">
              <a:lnSpc>
                <a:spcPts val="2800"/>
              </a:lnSpc>
              <a:spcBef>
                <a:spcPts val="0"/>
              </a:spcBef>
            </a:pPr>
            <a:r>
              <a:rPr lang="en-US" altLang="zh-CN" sz="2000">
                <a:solidFill>
                  <a:srgbClr val="0000FF"/>
                </a:solidFill>
                <a:latin typeface="Consolas" pitchFamily="49" charset="0"/>
                <a:ea typeface="仿宋" pitchFamily="49" charset="-122"/>
              </a:rPr>
              <a:t>				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 while(j&gt;=0 &amp;&amp; a[j]&gt;tmp);</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a[j+1]=tmp;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j+1</a:t>
            </a:r>
            <a:r>
              <a:rPr lang="zh-CN" altLang="zh-CN" sz="2000">
                <a:solidFill>
                  <a:srgbClr val="00B0F0"/>
                </a:solidFill>
                <a:latin typeface="Consolas" pitchFamily="49" charset="0"/>
                <a:ea typeface="仿宋" pitchFamily="49" charset="-122"/>
              </a:rPr>
              <a:t>处插入</a:t>
            </a:r>
            <a:r>
              <a:rPr lang="en-US" altLang="zh-CN" sz="2000">
                <a:solidFill>
                  <a:srgbClr val="00B0F0"/>
                </a:solidFill>
                <a:latin typeface="Consolas" pitchFamily="49" charset="0"/>
                <a:ea typeface="仿宋" pitchFamily="49" charset="-122"/>
              </a:rPr>
              <a:t>a[i]</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56</a:t>
            </a:fld>
            <a:r>
              <a:rPr lang="en-US" altLang="zh-CN"/>
              <a:t>/91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8072494" cy="990015"/>
          </a:xfrm>
          <a:prstGeom prst="rect">
            <a:avLst/>
          </a:prstGeom>
          <a:noFill/>
        </p:spPr>
        <p:txBody>
          <a:bodyPr wrap="square" rtlCol="0">
            <a:spAutoFit/>
          </a:bodyPr>
          <a:lstStyle/>
          <a:p>
            <a:pPr algn="l">
              <a:lnSpc>
                <a:spcPts val="3500"/>
              </a:lnSpc>
              <a:spcBef>
                <a:spcPts val="0"/>
              </a:spcBef>
            </a:pPr>
            <a:r>
              <a:rPr lang="en-US" altLang="zh-CN">
                <a:solidFill>
                  <a:srgbClr val="FF0000"/>
                </a:solidFill>
                <a:latin typeface="Consolas" pitchFamily="49" charset="0"/>
                <a:ea typeface="楷体" pitchFamily="49" charset="-122"/>
                <a:sym typeface="Wingdings"/>
              </a:rPr>
              <a:t></a:t>
            </a:r>
            <a:r>
              <a:rPr lang="pt-BR" altLang="zh-CN">
                <a:solidFill>
                  <a:srgbClr val="FF0000"/>
                </a:solidFill>
                <a:latin typeface="Consolas" pitchFamily="49" charset="0"/>
                <a:ea typeface="楷体" pitchFamily="49" charset="-122"/>
              </a:rPr>
              <a:t>insertsort</a:t>
            </a:r>
            <a:r>
              <a:rPr lang="zh-CN" altLang="zh-CN">
                <a:solidFill>
                  <a:srgbClr val="FF0000"/>
                </a:solidFill>
                <a:latin typeface="Consolas" pitchFamily="49" charset="0"/>
                <a:ea typeface="楷体" pitchFamily="49" charset="-122"/>
              </a:rPr>
              <a:t>算法分析</a:t>
            </a: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的执行时间为</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的执行时间为</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928662" y="1928802"/>
            <a:ext cx="7143800" cy="1115791"/>
          </a:xfrm>
          <a:prstGeom prst="rect">
            <a:avLst/>
          </a:prstGeom>
          <a:solidFill>
            <a:schemeClr val="bg1">
              <a:lumMod val="95000"/>
            </a:schemeClr>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88000" tIns="108000" bIns="108000" rtlCol="0">
            <a:spAutoFit/>
          </a:bodyPr>
          <a:lstStyle/>
          <a:p>
            <a:pPr algn="l">
              <a:lnSpc>
                <a:spcPts val="3500"/>
              </a:lnSpc>
              <a:spcBef>
                <a:spcPts val="0"/>
              </a:spcBef>
            </a:pP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(1)=O(1)</a:t>
            </a:r>
            <a:endParaRPr lang="zh-CN" altLang="zh-CN" sz="2000">
              <a:solidFill>
                <a:srgbClr val="0000FF"/>
              </a:solidFill>
              <a:latin typeface="Consolas" pitchFamily="49" charset="0"/>
              <a:ea typeface="仿宋" pitchFamily="49" charset="-122"/>
            </a:endParaRPr>
          </a:p>
          <a:p>
            <a:pPr algn="l">
              <a:lnSpc>
                <a:spcPts val="3500"/>
              </a:lnSpc>
              <a:spcBef>
                <a:spcPts val="0"/>
              </a:spcBef>
            </a:pP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-1)+O(</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&gt;1</a:t>
            </a:r>
            <a:r>
              <a:rPr lang="zh-CN" altLang="zh-CN" sz="2000">
                <a:solidFill>
                  <a:srgbClr val="00B0F0"/>
                </a:solidFill>
                <a:latin typeface="Consolas" pitchFamily="49" charset="0"/>
                <a:ea typeface="仿宋" pitchFamily="49" charset="-122"/>
              </a:rPr>
              <a:t>时</a:t>
            </a:r>
            <a:endParaRPr lang="zh-CN" altLang="en-US" sz="2000">
              <a:solidFill>
                <a:srgbClr val="00B0F0"/>
              </a:solidFill>
              <a:latin typeface="Consolas" pitchFamily="49" charset="0"/>
              <a:ea typeface="仿宋" pitchFamily="49" charset="-122"/>
              <a:cs typeface="Consolas" pitchFamily="49" charset="0"/>
            </a:endParaRPr>
          </a:p>
        </p:txBody>
      </p:sp>
      <p:sp>
        <p:nvSpPr>
          <p:cNvPr id="5" name="TextBox 4"/>
          <p:cNvSpPr txBox="1"/>
          <p:nvPr/>
        </p:nvSpPr>
        <p:spPr>
          <a:xfrm>
            <a:off x="928662" y="3500438"/>
            <a:ext cx="6357982" cy="502702"/>
          </a:xfrm>
          <a:prstGeom prst="rect">
            <a:avLst/>
          </a:prstGeom>
          <a:noFill/>
        </p:spPr>
        <p:txBody>
          <a:bodyPr wrap="square" rtlCol="0">
            <a:spAutoFit/>
          </a:bodyPr>
          <a:lstStyle/>
          <a:p>
            <a:pPr algn="l">
              <a:lnSpc>
                <a:spcPts val="3500"/>
              </a:lnSpc>
              <a:spcBef>
                <a:spcPts val="0"/>
              </a:spcBef>
            </a:pPr>
            <a:r>
              <a:rPr lang="zh-CN" altLang="zh-CN">
                <a:solidFill>
                  <a:srgbClr val="0000FF"/>
                </a:solidFill>
                <a:latin typeface="Consolas" pitchFamily="49" charset="0"/>
                <a:ea typeface="仿宋" pitchFamily="49" charset="-122"/>
              </a:rPr>
              <a:t>可以推出</a:t>
            </a:r>
            <a:r>
              <a:rPr lang="en-US" altLang="zh-CN" i="1">
                <a:solidFill>
                  <a:srgbClr val="0000FF"/>
                </a:solidFill>
                <a:latin typeface="Consolas" pitchFamily="49" charset="0"/>
                <a:ea typeface="仿宋" pitchFamily="49" charset="-122"/>
              </a:rPr>
              <a:t>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)=O(</a:t>
            </a:r>
            <a:r>
              <a:rPr lang="en-US" altLang="zh-CN" i="1">
                <a:solidFill>
                  <a:srgbClr val="0000FF"/>
                </a:solidFill>
                <a:latin typeface="Consolas" pitchFamily="49" charset="0"/>
                <a:ea typeface="仿宋" pitchFamily="49" charset="-122"/>
              </a:rPr>
              <a:t>n</a:t>
            </a:r>
            <a:r>
              <a:rPr lang="en-US" altLang="zh-CN" baseline="30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57</a:t>
            </a:fld>
            <a:r>
              <a:rPr lang="en-US" altLang="zh-CN"/>
              <a:t>/91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214546" y="500042"/>
            <a:ext cx="42148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2.4 0/1</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5" name="TextBox 4"/>
          <p:cNvSpPr txBox="1"/>
          <p:nvPr/>
        </p:nvSpPr>
        <p:spPr>
          <a:xfrm>
            <a:off x="571472"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有</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个物品，物品编号为</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，重量为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，价值为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，给定一个容量为</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的背包。现在从这些物品中选取若干物品装入该背包的方案，每个物品要么选中要么不选中，要求选中的物品总重量不超过背包容量并且具有最大的价值。</a:t>
            </a:r>
          </a:p>
        </p:txBody>
      </p:sp>
      <p:graphicFrame>
        <p:nvGraphicFramePr>
          <p:cNvPr id="6" name="表格 5"/>
          <p:cNvGraphicFramePr>
            <a:graphicFrameLocks noGrp="1"/>
          </p:cNvGraphicFramePr>
          <p:nvPr/>
        </p:nvGraphicFramePr>
        <p:xfrm>
          <a:off x="2071670" y="4143380"/>
          <a:ext cx="4572033" cy="1928826"/>
        </p:xfrm>
        <a:graphic>
          <a:graphicData uri="http://schemas.openxmlformats.org/drawingml/2006/table">
            <a:tbl>
              <a:tblPr>
                <a:tableStyleId>{35758FB7-9AC5-4552-8A53-C91805E547FA}</a:tableStyleId>
              </a:tblPr>
              <a:tblGrid>
                <a:gridCol w="1524011">
                  <a:extLst>
                    <a:ext uri="{9D8B030D-6E8A-4147-A177-3AD203B41FA5}">
                      <a16:colId xmlns:a16="http://schemas.microsoft.com/office/drawing/2014/main" val="20000"/>
                    </a:ext>
                  </a:extLst>
                </a:gridCol>
                <a:gridCol w="1524011">
                  <a:extLst>
                    <a:ext uri="{9D8B030D-6E8A-4147-A177-3AD203B41FA5}">
                      <a16:colId xmlns:a16="http://schemas.microsoft.com/office/drawing/2014/main" val="20001"/>
                    </a:ext>
                  </a:extLst>
                </a:gridCol>
                <a:gridCol w="1524011">
                  <a:extLst>
                    <a:ext uri="{9D8B030D-6E8A-4147-A177-3AD203B41FA5}">
                      <a16:colId xmlns:a16="http://schemas.microsoft.com/office/drawing/2014/main" val="20002"/>
                    </a:ext>
                  </a:extLst>
                </a:gridCol>
              </a:tblGrid>
              <a:tr h="381314">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物品编号</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重量</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价值</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0</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16" y="4857760"/>
            <a:ext cx="928694" cy="400110"/>
          </a:xfrm>
          <a:prstGeom prst="rect">
            <a:avLst/>
          </a:prstGeom>
          <a:noFill/>
        </p:spPr>
        <p:txBody>
          <a:bodyPr wrap="square" rtlCol="0">
            <a:spAutoFit/>
          </a:bodyPr>
          <a:lstStyle/>
          <a:p>
            <a:pPr algn="l">
              <a:lnSpc>
                <a:spcPct val="100000"/>
              </a:lnSpc>
              <a:spcBef>
                <a:spcPts val="0"/>
              </a:spcBef>
            </a:pPr>
            <a:r>
              <a:rPr lang="pt-BR" altLang="zh-CN" sz="2000">
                <a:solidFill>
                  <a:srgbClr val="0000FF"/>
                </a:solidFill>
                <a:latin typeface="Consolas" pitchFamily="49" charset="0"/>
              </a:rPr>
              <a:t>W=6</a:t>
            </a:r>
            <a:endParaRPr lang="zh-CN" altLang="en-US" sz="2000">
              <a:solidFill>
                <a:srgbClr val="0000FF"/>
              </a:solidFill>
              <a:latin typeface="Consolas" pitchFamily="49" charset="0"/>
              <a:ea typeface="楷体" pitchFamily="49"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58</a:t>
            </a:fld>
            <a:r>
              <a:rPr lang="en-US" altLang="zh-CN"/>
              <a:t>/91</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00034" y="1214422"/>
            <a:ext cx="8358246" cy="3247043"/>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用数组</a:t>
            </a:r>
            <a:r>
              <a:rPr lang="pt-BR"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存放一个装入方案，</a:t>
            </a:r>
            <a:r>
              <a:rPr lang="pt-BR" altLang="zh-CN" i="1">
                <a:solidFill>
                  <a:srgbClr val="0000FF"/>
                </a:solidFill>
                <a:latin typeface="Consolas" pitchFamily="49" charset="0"/>
                <a:ea typeface="仿宋" pitchFamily="49" charset="-122"/>
              </a:rPr>
              <a:t>x</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i</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表示选择物品</a:t>
            </a:r>
            <a:r>
              <a:rPr lang="pt-BR"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x</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i</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表示不选择物品</a:t>
            </a:r>
            <a:r>
              <a:rPr lang="pt-BR"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称为解向量）。</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设大问题</a:t>
            </a:r>
            <a:r>
              <a:rPr lang="pt-BR" altLang="zh-CN" i="1">
                <a:solidFill>
                  <a:srgbClr val="0000FF"/>
                </a:solidFill>
                <a:latin typeface="Consolas" pitchFamily="49" charset="0"/>
                <a:ea typeface="仿宋" pitchFamily="49" charset="-122"/>
              </a:rPr>
              <a:t>f</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pt-BR" altLang="zh-CN">
                <a:solidFill>
                  <a:srgbClr val="0000FF"/>
                </a:solidFill>
                <a:latin typeface="Consolas" pitchFamily="49" charset="0"/>
                <a:ea typeface="仿宋" pitchFamily="49" charset="-122"/>
              </a:rPr>
              <a:t>rw)</a:t>
            </a:r>
            <a:r>
              <a:rPr lang="zh-CN" altLang="zh-CN">
                <a:solidFill>
                  <a:srgbClr val="0000FF"/>
                </a:solidFill>
                <a:latin typeface="Consolas" pitchFamily="49" charset="0"/>
                <a:ea typeface="仿宋" pitchFamily="49" charset="-122"/>
              </a:rPr>
              <a:t>表示</a:t>
            </a:r>
            <a:r>
              <a:rPr lang="zh-CN" altLang="zh-CN">
                <a:solidFill>
                  <a:srgbClr val="FF0000"/>
                </a:solidFill>
                <a:latin typeface="Consolas" pitchFamily="49" charset="0"/>
                <a:ea typeface="华文中宋" pitchFamily="2" charset="-122"/>
              </a:rPr>
              <a:t>考虑物品</a:t>
            </a:r>
            <a:r>
              <a:rPr lang="pt-BR" altLang="zh-CN" i="1">
                <a:solidFill>
                  <a:srgbClr val="FF0000"/>
                </a:solidFill>
                <a:latin typeface="Consolas" pitchFamily="49" charset="0"/>
                <a:ea typeface="华文中宋" pitchFamily="2" charset="-122"/>
              </a:rPr>
              <a:t>i</a:t>
            </a:r>
            <a:r>
              <a:rPr lang="zh-CN" altLang="zh-CN">
                <a:solidFill>
                  <a:srgbClr val="FF0000"/>
                </a:solidFill>
                <a:latin typeface="Consolas" pitchFamily="49" charset="0"/>
                <a:ea typeface="华文中宋" pitchFamily="2" charset="-122"/>
              </a:rPr>
              <a:t>～</a:t>
            </a:r>
            <a:r>
              <a:rPr lang="pt-BR" altLang="zh-CN" i="1">
                <a:solidFill>
                  <a:srgbClr val="FF0000"/>
                </a:solidFill>
                <a:latin typeface="Consolas" pitchFamily="49" charset="0"/>
                <a:ea typeface="华文中宋" pitchFamily="2" charset="-122"/>
              </a:rPr>
              <a:t>n</a:t>
            </a:r>
            <a:r>
              <a:rPr lang="pt-BR" altLang="zh-CN">
                <a:solidFill>
                  <a:srgbClr val="FF0000"/>
                </a:solidFill>
                <a:latin typeface="Consolas" pitchFamily="49" charset="0"/>
                <a:ea typeface="华文中宋" pitchFamily="2" charset="-122"/>
              </a:rPr>
              <a:t>-1</a:t>
            </a:r>
            <a:r>
              <a:rPr lang="zh-CN" altLang="en-US">
                <a:solidFill>
                  <a:srgbClr val="FF0000"/>
                </a:solidFill>
                <a:latin typeface="Consolas" pitchFamily="49" charset="0"/>
                <a:ea typeface="华文中宋" pitchFamily="2" charset="-122"/>
              </a:rPr>
              <a:t>（</a:t>
            </a:r>
            <a:r>
              <a:rPr lang="zh-CN" altLang="zh-CN">
                <a:solidFill>
                  <a:srgbClr val="FF0000"/>
                </a:solidFill>
                <a:latin typeface="Consolas" pitchFamily="49" charset="0"/>
                <a:ea typeface="华文中宋" pitchFamily="2" charset="-122"/>
              </a:rPr>
              <a:t>共</a:t>
            </a:r>
            <a:r>
              <a:rPr lang="pt-BR" altLang="zh-CN" i="1">
                <a:solidFill>
                  <a:srgbClr val="FF0000"/>
                </a:solidFill>
                <a:latin typeface="Consolas" pitchFamily="49" charset="0"/>
                <a:ea typeface="华文中宋" pitchFamily="2" charset="-122"/>
              </a:rPr>
              <a:t>n</a:t>
            </a:r>
            <a:r>
              <a:rPr lang="pt-BR" altLang="zh-CN">
                <a:solidFill>
                  <a:srgbClr val="FF0000"/>
                </a:solidFill>
                <a:latin typeface="Consolas" pitchFamily="49" charset="0"/>
                <a:ea typeface="华文中宋" pitchFamily="2" charset="-122"/>
              </a:rPr>
              <a:t>-</a:t>
            </a:r>
            <a:r>
              <a:rPr lang="pt-BR" altLang="zh-CN" i="1">
                <a:solidFill>
                  <a:srgbClr val="FF0000"/>
                </a:solidFill>
                <a:latin typeface="Consolas" pitchFamily="49" charset="0"/>
                <a:ea typeface="华文中宋" pitchFamily="2" charset="-122"/>
              </a:rPr>
              <a:t>i</a:t>
            </a:r>
            <a:r>
              <a:rPr lang="zh-CN" altLang="zh-CN">
                <a:solidFill>
                  <a:srgbClr val="FF0000"/>
                </a:solidFill>
                <a:latin typeface="Consolas" pitchFamily="49" charset="0"/>
                <a:ea typeface="华文中宋" pitchFamily="2" charset="-122"/>
              </a:rPr>
              <a:t>个）并且背包剩余容量为</a:t>
            </a:r>
            <a:r>
              <a:rPr lang="pt-BR" altLang="zh-CN">
                <a:solidFill>
                  <a:srgbClr val="FF0000"/>
                </a:solidFill>
                <a:latin typeface="Consolas" pitchFamily="49" charset="0"/>
                <a:ea typeface="华文中宋" pitchFamily="2" charset="-122"/>
              </a:rPr>
              <a:t>rw</a:t>
            </a:r>
            <a:r>
              <a:rPr lang="zh-CN" altLang="zh-CN">
                <a:solidFill>
                  <a:srgbClr val="FF0000"/>
                </a:solidFill>
                <a:latin typeface="Consolas" pitchFamily="49" charset="0"/>
                <a:ea typeface="华文中宋" pitchFamily="2" charset="-122"/>
              </a:rPr>
              <a:t>时的最大价值</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小问题</a:t>
            </a:r>
            <a:r>
              <a:rPr lang="pt-BR" altLang="zh-CN" i="1">
                <a:solidFill>
                  <a:srgbClr val="0000FF"/>
                </a:solidFill>
                <a:latin typeface="Consolas" pitchFamily="49" charset="0"/>
                <a:ea typeface="仿宋" pitchFamily="49" charset="-122"/>
              </a:rPr>
              <a:t>f</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i</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pt-BR" altLang="zh-CN">
                <a:solidFill>
                  <a:srgbClr val="0000FF"/>
                </a:solidFill>
                <a:latin typeface="Consolas" pitchFamily="49" charset="0"/>
                <a:ea typeface="仿宋" pitchFamily="49" charset="-122"/>
              </a:rPr>
              <a:t>rw)</a:t>
            </a:r>
            <a:r>
              <a:rPr lang="zh-CN" altLang="zh-CN">
                <a:solidFill>
                  <a:srgbClr val="0000FF"/>
                </a:solidFill>
                <a:latin typeface="Consolas" pitchFamily="49" charset="0"/>
                <a:ea typeface="仿宋" pitchFamily="49" charset="-122"/>
              </a:rPr>
              <a:t>表示</a:t>
            </a:r>
            <a:r>
              <a:rPr lang="zh-CN" altLang="zh-CN">
                <a:solidFill>
                  <a:srgbClr val="FF0000"/>
                </a:solidFill>
                <a:latin typeface="Consolas" pitchFamily="49" charset="0"/>
                <a:ea typeface="华文中宋" pitchFamily="2" charset="-122"/>
              </a:rPr>
              <a:t>考虑物品</a:t>
            </a:r>
            <a:r>
              <a:rPr lang="pt-BR" altLang="zh-CN" i="1">
                <a:solidFill>
                  <a:srgbClr val="FF0000"/>
                </a:solidFill>
                <a:latin typeface="Consolas" pitchFamily="49" charset="0"/>
                <a:ea typeface="华文中宋" pitchFamily="2" charset="-122"/>
              </a:rPr>
              <a:t>i</a:t>
            </a:r>
            <a:r>
              <a:rPr lang="pt-BR" altLang="zh-CN">
                <a:solidFill>
                  <a:srgbClr val="FF0000"/>
                </a:solidFill>
                <a:latin typeface="Consolas" pitchFamily="49" charset="0"/>
                <a:ea typeface="华文中宋" pitchFamily="2" charset="-122"/>
              </a:rPr>
              <a:t>+1</a:t>
            </a:r>
            <a:r>
              <a:rPr lang="zh-CN" altLang="zh-CN">
                <a:solidFill>
                  <a:srgbClr val="FF0000"/>
                </a:solidFill>
                <a:latin typeface="Consolas" pitchFamily="49" charset="0"/>
                <a:ea typeface="华文中宋" pitchFamily="2" charset="-122"/>
              </a:rPr>
              <a:t>～</a:t>
            </a:r>
            <a:r>
              <a:rPr lang="pt-BR" altLang="zh-CN" i="1">
                <a:solidFill>
                  <a:srgbClr val="FF0000"/>
                </a:solidFill>
                <a:latin typeface="Consolas" pitchFamily="49" charset="0"/>
                <a:ea typeface="华文中宋" pitchFamily="2" charset="-122"/>
              </a:rPr>
              <a:t>n</a:t>
            </a:r>
            <a:r>
              <a:rPr lang="pt-BR" altLang="zh-CN">
                <a:solidFill>
                  <a:srgbClr val="FF0000"/>
                </a:solidFill>
                <a:latin typeface="Consolas" pitchFamily="49" charset="0"/>
                <a:ea typeface="华文中宋" pitchFamily="2" charset="-122"/>
              </a:rPr>
              <a:t>-1</a:t>
            </a:r>
            <a:r>
              <a:rPr lang="zh-CN" altLang="en-US">
                <a:solidFill>
                  <a:srgbClr val="FF0000"/>
                </a:solidFill>
                <a:latin typeface="Consolas" pitchFamily="49" charset="0"/>
                <a:ea typeface="华文中宋" pitchFamily="2" charset="-122"/>
              </a:rPr>
              <a:t>（</a:t>
            </a:r>
            <a:r>
              <a:rPr lang="zh-CN" altLang="zh-CN">
                <a:solidFill>
                  <a:srgbClr val="FF0000"/>
                </a:solidFill>
                <a:latin typeface="Consolas" pitchFamily="49" charset="0"/>
                <a:ea typeface="华文中宋" pitchFamily="2" charset="-122"/>
              </a:rPr>
              <a:t>共</a:t>
            </a:r>
            <a:r>
              <a:rPr lang="pt-BR" altLang="zh-CN" i="1">
                <a:solidFill>
                  <a:srgbClr val="FF0000"/>
                </a:solidFill>
                <a:latin typeface="Consolas" pitchFamily="49" charset="0"/>
                <a:ea typeface="华文中宋" pitchFamily="2" charset="-122"/>
              </a:rPr>
              <a:t>n</a:t>
            </a:r>
            <a:r>
              <a:rPr lang="pt-BR" altLang="zh-CN">
                <a:solidFill>
                  <a:srgbClr val="FF0000"/>
                </a:solidFill>
                <a:latin typeface="Consolas" pitchFamily="49" charset="0"/>
                <a:ea typeface="华文中宋" pitchFamily="2" charset="-122"/>
              </a:rPr>
              <a:t>-</a:t>
            </a:r>
            <a:r>
              <a:rPr lang="pt-BR" altLang="zh-CN" i="1">
                <a:solidFill>
                  <a:srgbClr val="FF0000"/>
                </a:solidFill>
                <a:latin typeface="Consolas" pitchFamily="49" charset="0"/>
                <a:ea typeface="华文中宋" pitchFamily="2" charset="-122"/>
              </a:rPr>
              <a:t>i</a:t>
            </a:r>
            <a:r>
              <a:rPr lang="pt-BR" altLang="zh-CN">
                <a:solidFill>
                  <a:srgbClr val="FF0000"/>
                </a:solidFill>
                <a:latin typeface="Consolas" pitchFamily="49" charset="0"/>
                <a:ea typeface="华文中宋" pitchFamily="2" charset="-122"/>
              </a:rPr>
              <a:t>-1</a:t>
            </a:r>
            <a:r>
              <a:rPr lang="zh-CN" altLang="zh-CN">
                <a:solidFill>
                  <a:srgbClr val="FF0000"/>
                </a:solidFill>
                <a:latin typeface="Consolas" pitchFamily="49" charset="0"/>
                <a:ea typeface="华文中宋" pitchFamily="2" charset="-122"/>
              </a:rPr>
              <a:t>个）并且此时背包剩余容量为</a:t>
            </a:r>
            <a:r>
              <a:rPr lang="pt-BR" altLang="zh-CN">
                <a:solidFill>
                  <a:srgbClr val="FF0000"/>
                </a:solidFill>
                <a:latin typeface="Consolas" pitchFamily="49" charset="0"/>
                <a:ea typeface="华文中宋" pitchFamily="2" charset="-122"/>
              </a:rPr>
              <a:t>rw</a:t>
            </a:r>
            <a:r>
              <a:rPr lang="zh-CN" altLang="zh-CN">
                <a:solidFill>
                  <a:srgbClr val="FF0000"/>
                </a:solidFill>
                <a:latin typeface="Consolas" pitchFamily="49" charset="0"/>
                <a:ea typeface="华文中宋" pitchFamily="2" charset="-122"/>
              </a:rPr>
              <a:t>时的最大价值</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大小问题需要考虑的物品个数相差一个即物品</a:t>
            </a:r>
            <a:r>
              <a:rPr lang="pt-BR"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59</a:t>
            </a:fld>
            <a:r>
              <a:rPr lang="en-US" altLang="zh-CN"/>
              <a:t>/91</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fld id="{7AF016A1-9F15-429F-9EFD-84004B73C732}" type="slidenum">
              <a:rPr lang="en-US" altLang="zh-CN" smtClean="0"/>
              <a:pPr/>
              <a:t>60</a:t>
            </a:fld>
            <a:r>
              <a:rPr lang="en-US" altLang="zh-CN"/>
              <a:t>/129</a:t>
            </a:r>
          </a:p>
        </p:txBody>
      </p:sp>
      <p:sp>
        <p:nvSpPr>
          <p:cNvPr id="3" name="TextBox 2"/>
          <p:cNvSpPr txBox="1"/>
          <p:nvPr/>
        </p:nvSpPr>
        <p:spPr>
          <a:xfrm>
            <a:off x="357158" y="1071546"/>
            <a:ext cx="614366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求解大问题</a:t>
            </a:r>
            <a:r>
              <a:rPr lang="pt-BR" altLang="zh-CN" i="1">
                <a:solidFill>
                  <a:srgbClr val="0000FF"/>
                </a:solidFill>
                <a:latin typeface="Consolas" pitchFamily="49" charset="0"/>
                <a:ea typeface="仿宋" pitchFamily="49" charset="-122"/>
              </a:rPr>
              <a:t>f</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pt-BR" altLang="zh-CN">
                <a:solidFill>
                  <a:srgbClr val="0000FF"/>
                </a:solidFill>
                <a:latin typeface="Consolas" pitchFamily="49" charset="0"/>
                <a:ea typeface="仿宋" pitchFamily="49" charset="-122"/>
              </a:rPr>
              <a:t>rw)</a:t>
            </a:r>
            <a:r>
              <a:rPr lang="zh-CN" altLang="en-US">
                <a:solidFill>
                  <a:srgbClr val="0000FF"/>
                </a:solidFill>
                <a:latin typeface="Consolas" pitchFamily="49" charset="0"/>
                <a:ea typeface="仿宋" pitchFamily="49" charset="-122"/>
              </a:rPr>
              <a:t>的递归模型：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14282" y="1814444"/>
            <a:ext cx="8715436" cy="152616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defTabSz="360000">
              <a:lnSpc>
                <a:spcPts val="3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,rw)=0													</a:t>
            </a:r>
            <a:r>
              <a:rPr lang="pt-BR" altLang="zh-CN" sz="2000" i="1">
                <a:solidFill>
                  <a:srgbClr val="00B0F0"/>
                </a:solidFill>
                <a:latin typeface="Consolas" pitchFamily="49" charset="0"/>
                <a:ea typeface="仿宋" pitchFamily="49" charset="-122"/>
              </a:rPr>
              <a:t>i</a:t>
            </a:r>
            <a:r>
              <a:rPr lang="pt-BR" altLang="zh-CN" sz="2000">
                <a:solidFill>
                  <a:srgbClr val="00B0F0"/>
                </a:solidFill>
                <a:latin typeface="Consolas" pitchFamily="49" charset="0"/>
                <a:ea typeface="仿宋" pitchFamily="49" charset="-122"/>
              </a:rPr>
              <a:t>=</a:t>
            </a:r>
            <a:r>
              <a:rPr lang="pt-BR"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或</a:t>
            </a:r>
            <a:r>
              <a:rPr lang="pt-BR" altLang="zh-CN" sz="2000">
                <a:solidFill>
                  <a:srgbClr val="00B0F0"/>
                </a:solidFill>
                <a:latin typeface="Consolas" pitchFamily="49" charset="0"/>
                <a:ea typeface="仿宋" pitchFamily="49" charset="-122"/>
              </a:rPr>
              <a:t>rw&lt;0</a:t>
            </a:r>
            <a:endParaRPr lang="zh-CN" altLang="zh-CN" sz="2000">
              <a:solidFill>
                <a:srgbClr val="00B0F0"/>
              </a:solidFill>
              <a:latin typeface="Consolas" pitchFamily="49" charset="0"/>
              <a:ea typeface="仿宋" pitchFamily="49" charset="-122"/>
            </a:endParaRPr>
          </a:p>
          <a:p>
            <a:pPr algn="l" defTabSz="360000">
              <a:lnSpc>
                <a:spcPts val="3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,rw)=max{ 	</a:t>
            </a: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+1,rw-</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其他情况</a:t>
            </a:r>
            <a:endParaRPr lang="pt-BR" altLang="zh-CN" sz="2000">
              <a:solidFill>
                <a:srgbClr val="00B0F0"/>
              </a:solidFill>
              <a:latin typeface="Consolas" pitchFamily="49" charset="0"/>
              <a:ea typeface="仿宋" pitchFamily="49" charset="-122"/>
            </a:endParaRPr>
          </a:p>
          <a:p>
            <a:pPr algn="l" defTabSz="360000">
              <a:lnSpc>
                <a:spcPts val="3000"/>
              </a:lnSpc>
              <a:spcBef>
                <a:spcPts val="600"/>
              </a:spcBef>
            </a:pPr>
            <a:r>
              <a:rPr lang="pt-BR" altLang="zh-CN" sz="2000" i="1">
                <a:solidFill>
                  <a:srgbClr val="0000FF"/>
                </a:solidFill>
                <a:latin typeface="Consolas" pitchFamily="49" charset="0"/>
                <a:ea typeface="仿宋" pitchFamily="49" charset="-122"/>
              </a:rPr>
              <a:t>							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+1,rw</a:t>
            </a:r>
            <a:r>
              <a:rPr lang="en-US" altLang="zh-CN" sz="2000">
                <a:solidFill>
                  <a:srgbClr val="0000FF"/>
                </a:solidFill>
                <a:latin typeface="Consolas" pitchFamily="49" charset="0"/>
                <a:ea typeface="仿宋" pitchFamily="49" charset="-122"/>
              </a:rPr>
              <a:t>)</a:t>
            </a:r>
            <a:r>
              <a:rPr lang="pt-BR" altLang="zh-CN" sz="2000">
                <a:solidFill>
                  <a:srgbClr val="0000FF"/>
                </a:solidFill>
                <a:latin typeface="Consolas" pitchFamily="49" charset="0"/>
                <a:ea typeface="仿宋" pitchFamily="49" charset="-122"/>
              </a:rPr>
              <a:t> }		</a:t>
            </a:r>
            <a:endParaRPr lang="zh-CN" altLang="zh-CN" sz="2000">
              <a:solidFill>
                <a:srgbClr val="0000FF"/>
              </a:solidFill>
              <a:latin typeface="Consolas" pitchFamily="49" charset="0"/>
              <a:ea typeface="仿宋" pitchFamily="49" charset="-122"/>
            </a:endParaRPr>
          </a:p>
        </p:txBody>
      </p:sp>
      <p:grpSp>
        <p:nvGrpSpPr>
          <p:cNvPr id="2" name="组合 10"/>
          <p:cNvGrpSpPr/>
          <p:nvPr/>
        </p:nvGrpSpPr>
        <p:grpSpPr>
          <a:xfrm>
            <a:off x="3286116" y="3171766"/>
            <a:ext cx="1785950" cy="900176"/>
            <a:chOff x="3286116" y="2571744"/>
            <a:chExt cx="1785950" cy="900176"/>
          </a:xfrm>
        </p:grpSpPr>
        <p:sp>
          <p:nvSpPr>
            <p:cNvPr id="6" name="TextBox 5"/>
            <p:cNvSpPr txBox="1"/>
            <p:nvPr/>
          </p:nvSpPr>
          <p:spPr>
            <a:xfrm>
              <a:off x="3286116" y="3071810"/>
              <a:ext cx="1785950" cy="400110"/>
            </a:xfrm>
            <a:prstGeom prst="rect">
              <a:avLst/>
            </a:prstGeom>
            <a:noFill/>
          </p:spPr>
          <p:txBody>
            <a:bodyPr wrap="square" rtlCol="0">
              <a:spAutoFit/>
            </a:bodyPr>
            <a:lstStyle/>
            <a:p>
              <a:pPr algn="l">
                <a:lnSpc>
                  <a:spcPct val="100000"/>
                </a:lnSpc>
                <a:spcBef>
                  <a:spcPts val="0"/>
                </a:spcBef>
              </a:pPr>
              <a:r>
                <a:rPr lang="zh-CN" altLang="en-US" sz="2000">
                  <a:solidFill>
                    <a:srgbClr val="006600"/>
                  </a:solidFill>
                  <a:latin typeface="Consolas" pitchFamily="49" charset="0"/>
                  <a:ea typeface="仿宋" pitchFamily="49" charset="-122"/>
                </a:rPr>
                <a:t>不选择</a:t>
              </a:r>
              <a:r>
                <a:rPr lang="zh-CN" altLang="zh-CN" sz="2000">
                  <a:solidFill>
                    <a:srgbClr val="006600"/>
                  </a:solidFill>
                  <a:latin typeface="Consolas" pitchFamily="49" charset="0"/>
                  <a:ea typeface="仿宋" pitchFamily="49" charset="-122"/>
                </a:rPr>
                <a:t>物品</a:t>
              </a:r>
              <a:r>
                <a:rPr lang="pt-BR" altLang="zh-CN" sz="2000" i="1">
                  <a:solidFill>
                    <a:srgbClr val="006600"/>
                  </a:solidFill>
                  <a:latin typeface="Consolas" pitchFamily="49" charset="0"/>
                  <a:ea typeface="仿宋" pitchFamily="49" charset="-122"/>
                </a:rPr>
                <a:t>i</a:t>
              </a:r>
              <a:endParaRPr lang="zh-CN" altLang="en-US" sz="2000">
                <a:solidFill>
                  <a:srgbClr val="006600"/>
                </a:solidFill>
                <a:latin typeface="Consolas" pitchFamily="49" charset="0"/>
                <a:ea typeface="仿宋" pitchFamily="49" charset="-122"/>
                <a:cs typeface="Consolas" pitchFamily="49" charset="0"/>
              </a:endParaRPr>
            </a:p>
          </p:txBody>
        </p:sp>
        <p:cxnSp>
          <p:nvCxnSpPr>
            <p:cNvPr id="8" name="直接箭头连接符 7"/>
            <p:cNvCxnSpPr/>
            <p:nvPr/>
          </p:nvCxnSpPr>
          <p:spPr>
            <a:xfrm rot="5400000" flipH="1" flipV="1">
              <a:off x="3894133" y="2820983"/>
              <a:ext cx="500066"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7" name="组合 12"/>
          <p:cNvGrpSpPr/>
          <p:nvPr/>
        </p:nvGrpSpPr>
        <p:grpSpPr>
          <a:xfrm>
            <a:off x="5072066" y="2814576"/>
            <a:ext cx="1571636" cy="1828870"/>
            <a:chOff x="5072066" y="2214554"/>
            <a:chExt cx="1571636" cy="1828870"/>
          </a:xfrm>
        </p:grpSpPr>
        <p:sp>
          <p:nvSpPr>
            <p:cNvPr id="5" name="TextBox 4"/>
            <p:cNvSpPr txBox="1"/>
            <p:nvPr/>
          </p:nvSpPr>
          <p:spPr>
            <a:xfrm>
              <a:off x="5072066" y="3643314"/>
              <a:ext cx="1571636" cy="400110"/>
            </a:xfrm>
            <a:prstGeom prst="rect">
              <a:avLst/>
            </a:prstGeom>
            <a:noFill/>
          </p:spPr>
          <p:txBody>
            <a:bodyPr wrap="square" rtlCol="0">
              <a:spAutoFit/>
            </a:bodyPr>
            <a:lstStyle/>
            <a:p>
              <a:pPr algn="l">
                <a:lnSpc>
                  <a:spcPct val="100000"/>
                </a:lnSpc>
                <a:spcBef>
                  <a:spcPts val="0"/>
                </a:spcBef>
              </a:pPr>
              <a:r>
                <a:rPr lang="zh-CN" altLang="en-US" sz="2000">
                  <a:solidFill>
                    <a:srgbClr val="006600"/>
                  </a:solidFill>
                  <a:latin typeface="Consolas" pitchFamily="49" charset="0"/>
                  <a:ea typeface="仿宋" pitchFamily="49" charset="-122"/>
                </a:rPr>
                <a:t>选择</a:t>
              </a:r>
              <a:r>
                <a:rPr lang="zh-CN" altLang="zh-CN" sz="2000">
                  <a:solidFill>
                    <a:srgbClr val="006600"/>
                  </a:solidFill>
                  <a:latin typeface="Consolas" pitchFamily="49" charset="0"/>
                  <a:ea typeface="仿宋" pitchFamily="49" charset="-122"/>
                </a:rPr>
                <a:t>物品</a:t>
              </a:r>
              <a:r>
                <a:rPr lang="pt-BR" altLang="zh-CN" sz="2000" i="1">
                  <a:solidFill>
                    <a:srgbClr val="006600"/>
                  </a:solidFill>
                  <a:latin typeface="Consolas" pitchFamily="49" charset="0"/>
                  <a:ea typeface="仿宋" pitchFamily="49" charset="-122"/>
                </a:rPr>
                <a:t>i</a:t>
              </a:r>
              <a:endParaRPr lang="zh-CN" altLang="en-US" sz="2000">
                <a:solidFill>
                  <a:srgbClr val="006600"/>
                </a:solidFill>
                <a:latin typeface="Consolas" pitchFamily="49" charset="0"/>
                <a:ea typeface="仿宋" pitchFamily="49" charset="-122"/>
                <a:cs typeface="Consolas" pitchFamily="49" charset="0"/>
              </a:endParaRPr>
            </a:p>
          </p:txBody>
        </p:sp>
        <p:cxnSp>
          <p:nvCxnSpPr>
            <p:cNvPr id="10" name="直接箭头连接符 9"/>
            <p:cNvCxnSpPr/>
            <p:nvPr/>
          </p:nvCxnSpPr>
          <p:spPr>
            <a:xfrm rot="5400000" flipH="1" flipV="1">
              <a:off x="5155587" y="2928140"/>
              <a:ext cx="142876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2" name="TextBox 11"/>
          <p:cNvSpPr txBox="1"/>
          <p:nvPr/>
        </p:nvSpPr>
        <p:spPr>
          <a:xfrm>
            <a:off x="285720" y="4929198"/>
            <a:ext cx="8358246"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当调用</a:t>
            </a:r>
            <a:r>
              <a:rPr lang="pt-BR" altLang="zh-CN" i="1">
                <a:solidFill>
                  <a:srgbClr val="0000FF"/>
                </a:solidFill>
                <a:latin typeface="Consolas" pitchFamily="49" charset="0"/>
                <a:ea typeface="仿宋" pitchFamily="49" charset="-122"/>
              </a:rPr>
              <a:t>f</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时便求出物品重量和价值分别为</a:t>
            </a:r>
            <a:r>
              <a:rPr lang="pt-BR"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和</a:t>
            </a:r>
            <a:r>
              <a:rPr lang="pt-BR"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、背包容量为</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的最大价值。</a:t>
            </a:r>
            <a:endParaRPr lang="zh-CN" altLang="en-US">
              <a:solidFill>
                <a:srgbClr val="0000FF"/>
              </a:solidFill>
              <a:latin typeface="Consolas" pitchFamily="49" charset="0"/>
              <a:ea typeface="仿宋" pitchFamily="49" charset="-122"/>
              <a:cs typeface="Consolas" pitchFamily="49" charset="0"/>
            </a:endParaRPr>
          </a:p>
        </p:txBody>
      </p:sp>
      <p:sp>
        <p:nvSpPr>
          <p:cNvPr id="13" name="TextBox 12"/>
          <p:cNvSpPr txBox="1"/>
          <p:nvPr/>
        </p:nvSpPr>
        <p:spPr>
          <a:xfrm>
            <a:off x="357158" y="285728"/>
            <a:ext cx="6143668" cy="461665"/>
          </a:xfrm>
          <a:prstGeom prst="rect">
            <a:avLst/>
          </a:prstGeom>
          <a:noFill/>
        </p:spPr>
        <p:txBody>
          <a:bodyPr wrap="square" rtlCol="0">
            <a:spAutoFit/>
          </a:bodyPr>
          <a:lstStyle/>
          <a:p>
            <a:pPr algn="l">
              <a:lnSpc>
                <a:spcPct val="100000"/>
              </a:lnSpc>
              <a:spcBef>
                <a:spcPts val="0"/>
              </a:spcBef>
            </a:pPr>
            <a:r>
              <a:rPr lang="zh-CN" altLang="zh-CN">
                <a:solidFill>
                  <a:srgbClr val="FF00FF"/>
                </a:solidFill>
                <a:latin typeface="Consolas" pitchFamily="49" charset="0"/>
                <a:ea typeface="仿宋" pitchFamily="49" charset="-122"/>
              </a:rPr>
              <a:t>考虑物品</a:t>
            </a:r>
            <a:r>
              <a:rPr lang="pt-BR" altLang="zh-CN" i="1">
                <a:solidFill>
                  <a:srgbClr val="FF00FF"/>
                </a:solidFill>
                <a:latin typeface="Consolas" pitchFamily="49" charset="0"/>
                <a:ea typeface="仿宋" pitchFamily="49" charset="-122"/>
              </a:rPr>
              <a:t>i</a:t>
            </a:r>
            <a:r>
              <a:rPr lang="zh-CN" altLang="zh-CN">
                <a:solidFill>
                  <a:srgbClr val="FF00FF"/>
                </a:solidFill>
                <a:latin typeface="Consolas" pitchFamily="49" charset="0"/>
                <a:ea typeface="仿宋" pitchFamily="49" charset="-122"/>
              </a:rPr>
              <a:t>～</a:t>
            </a:r>
            <a:r>
              <a:rPr lang="pt-BR" altLang="zh-CN" i="1">
                <a:solidFill>
                  <a:srgbClr val="FF00FF"/>
                </a:solidFill>
                <a:latin typeface="Consolas" pitchFamily="49" charset="0"/>
                <a:ea typeface="仿宋" pitchFamily="49" charset="-122"/>
              </a:rPr>
              <a:t>n</a:t>
            </a:r>
            <a:r>
              <a:rPr lang="pt-BR" altLang="zh-CN">
                <a:solidFill>
                  <a:srgbClr val="FF00FF"/>
                </a:solidFill>
                <a:latin typeface="Consolas" pitchFamily="49" charset="0"/>
                <a:ea typeface="仿宋" pitchFamily="49" charset="-122"/>
              </a:rPr>
              <a:t>-1,</a:t>
            </a:r>
            <a:r>
              <a:rPr lang="zh-CN" altLang="en-US">
                <a:solidFill>
                  <a:srgbClr val="FF00FF"/>
                </a:solidFill>
                <a:latin typeface="Consolas" pitchFamily="49" charset="0"/>
                <a:ea typeface="仿宋" pitchFamily="49" charset="-122"/>
              </a:rPr>
              <a:t>剩余容量为</a:t>
            </a:r>
            <a:r>
              <a:rPr lang="en-US" altLang="zh-CN">
                <a:solidFill>
                  <a:srgbClr val="FF00FF"/>
                </a:solidFill>
                <a:latin typeface="Consolas" pitchFamily="49" charset="0"/>
                <a:ea typeface="仿宋" pitchFamily="49" charset="-122"/>
              </a:rPr>
              <a:t>rw</a:t>
            </a:r>
            <a:r>
              <a:rPr lang="zh-CN" altLang="en-US">
                <a:solidFill>
                  <a:srgbClr val="FF00FF"/>
                </a:solidFill>
                <a:latin typeface="Consolas" pitchFamily="49" charset="0"/>
                <a:ea typeface="仿宋" pitchFamily="49" charset="-122"/>
              </a:rPr>
              <a:t>的最大价值</a:t>
            </a:r>
            <a:endParaRPr lang="zh-CN" altLang="en-US">
              <a:solidFill>
                <a:srgbClr val="0000FF"/>
              </a:solidFill>
              <a:latin typeface="Consolas" pitchFamily="49" charset="0"/>
              <a:ea typeface="仿宋" pitchFamily="49" charset="-122"/>
              <a:cs typeface="Consolas" pitchFamily="49" charset="0"/>
            </a:endParaRPr>
          </a:p>
        </p:txBody>
      </p:sp>
      <p:sp>
        <p:nvSpPr>
          <p:cNvPr id="14" name="下箭头 13"/>
          <p:cNvSpPr/>
          <p:nvPr/>
        </p:nvSpPr>
        <p:spPr>
          <a:xfrm>
            <a:off x="3143240" y="766920"/>
            <a:ext cx="142876"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fld id="{7AF016A1-9F15-429F-9EFD-84004B73C732}" type="slidenum">
              <a:rPr lang="en-US" altLang="zh-CN" smtClean="0"/>
              <a:pPr/>
              <a:t>61</a:t>
            </a:fld>
            <a:r>
              <a:rPr lang="en-US" altLang="zh-CN"/>
              <a:t>/129</a:t>
            </a:r>
          </a:p>
        </p:txBody>
      </p:sp>
      <p:sp>
        <p:nvSpPr>
          <p:cNvPr id="3" name="TextBox 2"/>
          <p:cNvSpPr txBox="1"/>
          <p:nvPr/>
        </p:nvSpPr>
        <p:spPr>
          <a:xfrm>
            <a:off x="357158" y="2138895"/>
            <a:ext cx="8572560" cy="32189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pt-BR" altLang="zh-CN" sz="2000">
                <a:solidFill>
                  <a:srgbClr val="0000FF"/>
                </a:solidFill>
                <a:latin typeface="Consolas" pitchFamily="49" charset="0"/>
                <a:ea typeface="仿宋" pitchFamily="49" charset="-122"/>
              </a:rPr>
              <a:t>vector&lt;int&gt; x;											</a:t>
            </a:r>
            <a:r>
              <a:rPr lang="pt-BR"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解向量</a:t>
            </a:r>
          </a:p>
          <a:p>
            <a:pPr algn="l" defTabSz="360000">
              <a:lnSpc>
                <a:spcPts val="2600"/>
              </a:lnSpc>
              <a:spcBef>
                <a:spcPts val="0"/>
              </a:spcBef>
            </a:pPr>
            <a:r>
              <a:rPr lang="pt-BR" altLang="zh-CN" sz="2000">
                <a:solidFill>
                  <a:srgbClr val="0000FF"/>
                </a:solidFill>
                <a:latin typeface="Consolas" pitchFamily="49" charset="0"/>
                <a:ea typeface="仿宋" pitchFamily="49" charset="-122"/>
              </a:rPr>
              <a:t>int </a:t>
            </a:r>
            <a:r>
              <a:rPr lang="pt-BR" altLang="zh-CN" sz="2000">
                <a:solidFill>
                  <a:srgbClr val="FF0000"/>
                </a:solidFill>
                <a:latin typeface="Consolas" pitchFamily="49" charset="0"/>
                <a:ea typeface="仿宋" pitchFamily="49" charset="-122"/>
              </a:rPr>
              <a:t>dfs</a:t>
            </a:r>
            <a:r>
              <a:rPr lang="pt-BR" altLang="zh-CN" sz="2000">
                <a:solidFill>
                  <a:srgbClr val="0000FF"/>
                </a:solidFill>
                <a:latin typeface="Consolas" pitchFamily="49" charset="0"/>
                <a:ea typeface="仿宋" pitchFamily="49" charset="-122"/>
              </a:rPr>
              <a:t>(vector&lt;int&gt;&amp;w,vector&lt;int&gt;&amp;v,int i,int rw) {</a:t>
            </a:r>
          </a:p>
          <a:p>
            <a:pPr algn="l" defTabSz="360000">
              <a:lnSpc>
                <a:spcPts val="2600"/>
              </a:lnSpc>
              <a:spcBef>
                <a:spcPts val="0"/>
              </a:spcBef>
            </a:pPr>
            <a:r>
              <a:rPr lang="pt-BR" altLang="zh-CN" sz="2000">
                <a:solidFill>
                  <a:srgbClr val="0000FF"/>
                </a:solidFill>
                <a:latin typeface="Consolas" pitchFamily="49" charset="0"/>
                <a:ea typeface="仿宋" pitchFamily="49" charset="-122"/>
              </a:rPr>
              <a:t>	int n=w.size();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if (i&gt;=n || rw&lt;0) return 0;					</a:t>
            </a:r>
            <a:r>
              <a:rPr lang="pt-BR"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递归出口</a:t>
            </a:r>
          </a:p>
          <a:p>
            <a:pPr algn="l" defTabSz="360000">
              <a:lnSpc>
                <a:spcPts val="2600"/>
              </a:lnSpc>
              <a:spcBef>
                <a:spcPts val="0"/>
              </a:spcBef>
            </a:pPr>
            <a:r>
              <a:rPr lang="pt-BR" altLang="zh-CN" sz="2000">
                <a:solidFill>
                  <a:srgbClr val="0000FF"/>
                </a:solidFill>
                <a:latin typeface="Consolas" pitchFamily="49" charset="0"/>
                <a:ea typeface="仿宋" pitchFamily="49" charset="-122"/>
              </a:rPr>
              <a:t>	int maxv1=0;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if(</a:t>
            </a:r>
            <a:r>
              <a:rPr lang="pt-BR" altLang="zh-CN" sz="2000">
                <a:solidFill>
                  <a:srgbClr val="FF00FF"/>
                </a:solidFill>
                <a:latin typeface="Consolas" pitchFamily="49" charset="0"/>
                <a:ea typeface="仿宋" pitchFamily="49" charset="-122"/>
              </a:rPr>
              <a:t>rw&gt;=w[i]</a:t>
            </a: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maxv1=</a:t>
            </a:r>
            <a:r>
              <a:rPr lang="en-US" altLang="zh-CN" sz="2000">
                <a:solidFill>
                  <a:srgbClr val="FF0000"/>
                </a:solidFill>
                <a:latin typeface="Consolas" pitchFamily="49" charset="0"/>
                <a:ea typeface="仿宋" pitchFamily="49" charset="-122"/>
              </a:rPr>
              <a:t>dfs</a:t>
            </a:r>
            <a:r>
              <a:rPr lang="pt-BR" altLang="zh-CN" sz="2000">
                <a:solidFill>
                  <a:srgbClr val="0000FF"/>
                </a:solidFill>
                <a:latin typeface="Consolas" pitchFamily="49" charset="0"/>
                <a:ea typeface="仿宋" pitchFamily="49" charset="-122"/>
              </a:rPr>
              <a:t>(w,v,i+1,rw-w[i])+v[i];  	</a:t>
            </a:r>
            <a:r>
              <a:rPr lang="pt-BR"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选择物品</a:t>
            </a:r>
            <a:r>
              <a:rPr lang="pt-BR"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int maxv2=</a:t>
            </a:r>
            <a:r>
              <a:rPr lang="en-US" altLang="zh-CN" sz="2000">
                <a:solidFill>
                  <a:srgbClr val="FF0000"/>
                </a:solidFill>
                <a:latin typeface="Consolas" pitchFamily="49" charset="0"/>
                <a:ea typeface="仿宋" pitchFamily="49" charset="-122"/>
              </a:rPr>
              <a:t>dfs</a:t>
            </a:r>
            <a:r>
              <a:rPr lang="pt-BR" altLang="zh-CN" sz="2000">
                <a:solidFill>
                  <a:srgbClr val="0000FF"/>
                </a:solidFill>
                <a:latin typeface="Consolas" pitchFamily="49" charset="0"/>
                <a:ea typeface="仿宋" pitchFamily="49" charset="-122"/>
              </a:rPr>
              <a:t>(w,v,i+1,rw);          		</a:t>
            </a:r>
            <a:r>
              <a:rPr lang="pt-BR"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不选择物品</a:t>
            </a:r>
            <a:r>
              <a:rPr lang="pt-BR"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p:txBody>
      </p:sp>
      <p:sp>
        <p:nvSpPr>
          <p:cNvPr id="4" name="TextBox 3"/>
          <p:cNvSpPr txBox="1"/>
          <p:nvPr/>
        </p:nvSpPr>
        <p:spPr>
          <a:xfrm>
            <a:off x="357126" y="491864"/>
            <a:ext cx="8286840" cy="122262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defTabSz="360000">
              <a:lnSpc>
                <a:spcPct val="100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,rw)=0													</a:t>
            </a:r>
            <a:r>
              <a:rPr lang="pt-BR" altLang="zh-CN" sz="2000" i="1">
                <a:solidFill>
                  <a:srgbClr val="00B0F0"/>
                </a:solidFill>
                <a:latin typeface="Consolas" pitchFamily="49" charset="0"/>
                <a:ea typeface="仿宋" pitchFamily="49" charset="-122"/>
              </a:rPr>
              <a:t>i</a:t>
            </a:r>
            <a:r>
              <a:rPr lang="pt-BR" altLang="zh-CN" sz="2000">
                <a:solidFill>
                  <a:srgbClr val="00B0F0"/>
                </a:solidFill>
                <a:latin typeface="Consolas" pitchFamily="49" charset="0"/>
                <a:ea typeface="仿宋" pitchFamily="49" charset="-122"/>
              </a:rPr>
              <a:t>=</a:t>
            </a:r>
            <a:r>
              <a:rPr lang="pt-BR"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或</a:t>
            </a:r>
            <a:r>
              <a:rPr lang="pt-BR" altLang="zh-CN" sz="2000">
                <a:solidFill>
                  <a:srgbClr val="00B0F0"/>
                </a:solidFill>
                <a:latin typeface="Consolas" pitchFamily="49" charset="0"/>
                <a:ea typeface="仿宋" pitchFamily="49" charset="-122"/>
              </a:rPr>
              <a:t>rw&lt;0</a:t>
            </a:r>
            <a:endParaRPr lang="zh-CN" altLang="zh-CN" sz="2000">
              <a:solidFill>
                <a:srgbClr val="00B0F0"/>
              </a:solidFill>
              <a:latin typeface="Consolas" pitchFamily="49" charset="0"/>
              <a:ea typeface="仿宋" pitchFamily="49" charset="-122"/>
            </a:endParaRPr>
          </a:p>
          <a:p>
            <a:pPr algn="l" defTabSz="360000">
              <a:lnSpc>
                <a:spcPct val="100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,rw)=max{ 	</a:t>
            </a:r>
            <a:r>
              <a:rPr lang="pt-BR" altLang="zh-CN" sz="2000" i="1">
                <a:solidFill>
                  <a:srgbClr val="FF3300"/>
                </a:solidFill>
                <a:latin typeface="Consolas" pitchFamily="49" charset="0"/>
                <a:ea typeface="仿宋" pitchFamily="49" charset="-122"/>
              </a:rPr>
              <a:t>f</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w</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v</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i</a:t>
            </a:r>
            <a:r>
              <a:rPr lang="pt-BR" altLang="zh-CN" sz="2000">
                <a:solidFill>
                  <a:srgbClr val="FF3300"/>
                </a:solidFill>
                <a:latin typeface="Consolas" pitchFamily="49" charset="0"/>
                <a:ea typeface="仿宋" pitchFamily="49" charset="-122"/>
              </a:rPr>
              <a:t>+1,rw-</a:t>
            </a:r>
            <a:r>
              <a:rPr lang="pt-BR" altLang="zh-CN" sz="2000" i="1">
                <a:solidFill>
                  <a:srgbClr val="FF3300"/>
                </a:solidFill>
                <a:latin typeface="Consolas" pitchFamily="49" charset="0"/>
                <a:ea typeface="仿宋" pitchFamily="49" charset="-122"/>
              </a:rPr>
              <a:t>w</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i</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v</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i</a:t>
            </a:r>
            <a:r>
              <a:rPr lang="pt-BR" altLang="zh-CN" sz="2000">
                <a:solidFill>
                  <a:srgbClr val="FF3300"/>
                </a:solidFill>
                <a:latin typeface="Consolas" pitchFamily="49" charset="0"/>
                <a:ea typeface="仿宋" pitchFamily="49" charset="-122"/>
              </a:rPr>
              <a:t>]</a:t>
            </a:r>
            <a:r>
              <a:rPr lang="pt-BR"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其他情况</a:t>
            </a:r>
            <a:endParaRPr lang="pt-BR" altLang="zh-CN" sz="2000">
              <a:solidFill>
                <a:srgbClr val="00B0F0"/>
              </a:solidFill>
              <a:latin typeface="Consolas" pitchFamily="49" charset="0"/>
              <a:ea typeface="仿宋" pitchFamily="49" charset="-122"/>
            </a:endParaRPr>
          </a:p>
          <a:p>
            <a:pPr algn="l" defTabSz="360000">
              <a:lnSpc>
                <a:spcPct val="100000"/>
              </a:lnSpc>
              <a:spcBef>
                <a:spcPts val="600"/>
              </a:spcBef>
            </a:pPr>
            <a:r>
              <a:rPr lang="pt-BR" altLang="zh-CN" sz="2000" i="1">
                <a:solidFill>
                  <a:srgbClr val="0000FF"/>
                </a:solidFill>
                <a:latin typeface="Consolas" pitchFamily="49" charset="0"/>
                <a:ea typeface="仿宋" pitchFamily="49" charset="-122"/>
              </a:rPr>
              <a:t>							</a:t>
            </a:r>
            <a:r>
              <a:rPr lang="pt-BR" altLang="zh-CN" sz="2000" i="1">
                <a:solidFill>
                  <a:srgbClr val="FF3300"/>
                </a:solidFill>
                <a:latin typeface="Consolas" pitchFamily="49" charset="0"/>
                <a:ea typeface="仿宋" pitchFamily="49" charset="-122"/>
              </a:rPr>
              <a:t>f</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w</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v</a:t>
            </a:r>
            <a:r>
              <a:rPr lang="pt-BR" altLang="zh-CN" sz="2000">
                <a:solidFill>
                  <a:srgbClr val="FF3300"/>
                </a:solidFill>
                <a:latin typeface="Consolas" pitchFamily="49" charset="0"/>
                <a:ea typeface="仿宋" pitchFamily="49" charset="-122"/>
              </a:rPr>
              <a:t>,</a:t>
            </a:r>
            <a:r>
              <a:rPr lang="pt-BR" altLang="zh-CN" sz="2000" i="1">
                <a:solidFill>
                  <a:srgbClr val="FF3300"/>
                </a:solidFill>
                <a:latin typeface="Consolas" pitchFamily="49" charset="0"/>
                <a:ea typeface="仿宋" pitchFamily="49" charset="-122"/>
              </a:rPr>
              <a:t>i</a:t>
            </a:r>
            <a:r>
              <a:rPr lang="pt-BR" altLang="zh-CN" sz="2000">
                <a:solidFill>
                  <a:srgbClr val="FF3300"/>
                </a:solidFill>
                <a:latin typeface="Consolas" pitchFamily="49" charset="0"/>
                <a:ea typeface="仿宋" pitchFamily="49" charset="-122"/>
              </a:rPr>
              <a:t>+1,rw) </a:t>
            </a: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6"/>
          <p:cNvSpPr>
            <a:spLocks noGrp="1"/>
          </p:cNvSpPr>
          <p:nvPr>
            <p:ph type="sldNum" sz="quarter" idx="12"/>
          </p:nvPr>
        </p:nvSpPr>
        <p:spPr/>
        <p:txBody>
          <a:bodyPr/>
          <a:lstStyle/>
          <a:p>
            <a:fld id="{7AF016A1-9F15-429F-9EFD-84004B73C732}" type="slidenum">
              <a:rPr lang="en-US" altLang="zh-CN" smtClean="0"/>
              <a:pPr/>
              <a:t>62</a:t>
            </a:fld>
            <a:r>
              <a:rPr lang="en-US" altLang="zh-CN"/>
              <a:t>/129</a:t>
            </a:r>
          </a:p>
        </p:txBody>
      </p:sp>
      <p:sp>
        <p:nvSpPr>
          <p:cNvPr id="3" name="TextBox 2"/>
          <p:cNvSpPr txBox="1"/>
          <p:nvPr/>
        </p:nvSpPr>
        <p:spPr>
          <a:xfrm>
            <a:off x="357158" y="214290"/>
            <a:ext cx="8572560" cy="32189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pt-BR" altLang="zh-CN" sz="2000">
                <a:solidFill>
                  <a:srgbClr val="0000FF"/>
                </a:solidFill>
                <a:latin typeface="Consolas" pitchFamily="49" charset="0"/>
                <a:ea typeface="仿宋" pitchFamily="49" charset="-122"/>
              </a:rPr>
              <a:t>	if(</a:t>
            </a:r>
            <a:r>
              <a:rPr lang="pt-BR" altLang="zh-CN" sz="2000">
                <a:solidFill>
                  <a:srgbClr val="FF00FF"/>
                </a:solidFill>
                <a:latin typeface="Consolas" pitchFamily="49" charset="0"/>
                <a:ea typeface="仿宋" pitchFamily="49" charset="-122"/>
              </a:rPr>
              <a:t>maxv1&gt;maxv2</a:t>
            </a: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x[i]=1;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return maxv1;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x[i]=0;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return maxv2;</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pt-BR"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428564" y="3857628"/>
            <a:ext cx="8286840" cy="122262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defTabSz="360000">
              <a:lnSpc>
                <a:spcPct val="100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,rw)=0													</a:t>
            </a:r>
            <a:r>
              <a:rPr lang="pt-BR" altLang="zh-CN" sz="2000" i="1">
                <a:solidFill>
                  <a:srgbClr val="00B0F0"/>
                </a:solidFill>
                <a:latin typeface="Consolas" pitchFamily="49" charset="0"/>
                <a:ea typeface="仿宋" pitchFamily="49" charset="-122"/>
              </a:rPr>
              <a:t>i</a:t>
            </a:r>
            <a:r>
              <a:rPr lang="pt-BR" altLang="zh-CN" sz="2000">
                <a:solidFill>
                  <a:srgbClr val="00B0F0"/>
                </a:solidFill>
                <a:latin typeface="Consolas" pitchFamily="49" charset="0"/>
                <a:ea typeface="仿宋" pitchFamily="49" charset="-122"/>
              </a:rPr>
              <a:t>=</a:t>
            </a:r>
            <a:r>
              <a:rPr lang="pt-BR"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或</a:t>
            </a:r>
            <a:r>
              <a:rPr lang="pt-BR" altLang="zh-CN" sz="2000">
                <a:solidFill>
                  <a:srgbClr val="00B0F0"/>
                </a:solidFill>
                <a:latin typeface="Consolas" pitchFamily="49" charset="0"/>
                <a:ea typeface="仿宋" pitchFamily="49" charset="-122"/>
              </a:rPr>
              <a:t>rw&lt;0</a:t>
            </a:r>
            <a:endParaRPr lang="zh-CN" altLang="zh-CN" sz="2000">
              <a:solidFill>
                <a:srgbClr val="00B0F0"/>
              </a:solidFill>
              <a:latin typeface="Consolas" pitchFamily="49" charset="0"/>
              <a:ea typeface="仿宋" pitchFamily="49" charset="-122"/>
            </a:endParaRPr>
          </a:p>
          <a:p>
            <a:pPr algn="l" defTabSz="360000">
              <a:lnSpc>
                <a:spcPct val="100000"/>
              </a:lnSpc>
              <a:spcBef>
                <a:spcPts val="600"/>
              </a:spcBef>
            </a:pP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,rw)=</a:t>
            </a:r>
            <a:r>
              <a:rPr lang="pt-BR" altLang="zh-CN" sz="2000">
                <a:solidFill>
                  <a:srgbClr val="FF0000"/>
                </a:solidFill>
                <a:latin typeface="Consolas" pitchFamily="49" charset="0"/>
                <a:ea typeface="仿宋" pitchFamily="49" charset="-122"/>
              </a:rPr>
              <a:t>max</a:t>
            </a:r>
            <a:r>
              <a:rPr lang="pt-BR" altLang="zh-CN" sz="2000">
                <a:solidFill>
                  <a:srgbClr val="0000FF"/>
                </a:solidFill>
                <a:latin typeface="Consolas" pitchFamily="49" charset="0"/>
                <a:ea typeface="仿宋" pitchFamily="49" charset="-122"/>
              </a:rPr>
              <a:t>{ 	</a:t>
            </a:r>
            <a:r>
              <a:rPr lang="pt-BR" altLang="zh-CN" sz="2000" i="1">
                <a:solidFill>
                  <a:srgbClr val="0000FF"/>
                </a:solidFill>
                <a:latin typeface="Consolas" pitchFamily="49" charset="0"/>
                <a:ea typeface="仿宋" pitchFamily="49" charset="-122"/>
              </a:rPr>
              <a:t>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+1,rw-</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其他情况</a:t>
            </a:r>
            <a:endParaRPr lang="pt-BR" altLang="zh-CN" sz="2000">
              <a:solidFill>
                <a:srgbClr val="00B0F0"/>
              </a:solidFill>
              <a:latin typeface="Consolas" pitchFamily="49" charset="0"/>
              <a:ea typeface="仿宋" pitchFamily="49" charset="-122"/>
            </a:endParaRPr>
          </a:p>
          <a:p>
            <a:pPr algn="l" defTabSz="360000">
              <a:lnSpc>
                <a:spcPct val="100000"/>
              </a:lnSpc>
              <a:spcBef>
                <a:spcPts val="600"/>
              </a:spcBef>
            </a:pPr>
            <a:r>
              <a:rPr lang="pt-BR" altLang="zh-CN" sz="2000" i="1">
                <a:solidFill>
                  <a:srgbClr val="0000FF"/>
                </a:solidFill>
                <a:latin typeface="Consolas" pitchFamily="49" charset="0"/>
                <a:ea typeface="仿宋" pitchFamily="49" charset="-122"/>
              </a:rPr>
              <a:t>							f</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w</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v</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i</a:t>
            </a:r>
            <a:r>
              <a:rPr lang="pt-BR" altLang="zh-CN" sz="2000">
                <a:solidFill>
                  <a:srgbClr val="0000FF"/>
                </a:solidFill>
                <a:latin typeface="Consolas" pitchFamily="49" charset="0"/>
                <a:ea typeface="仿宋" pitchFamily="49" charset="-122"/>
              </a:rPr>
              <a:t>+1,rw) }		</a:t>
            </a:r>
            <a:endParaRPr lang="zh-CN" altLang="zh-CN" sz="2000">
              <a:solidFill>
                <a:srgbClr val="0000FF"/>
              </a:solidFill>
              <a:latin typeface="Consolas" pitchFamily="49" charset="0"/>
              <a:ea typeface="仿宋"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00042"/>
            <a:ext cx="8572560" cy="43474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100"/>
              </a:lnSpc>
              <a:spcBef>
                <a:spcPts val="0"/>
              </a:spcBef>
            </a:pPr>
            <a:r>
              <a:rPr lang="pt-BR" altLang="zh-CN" sz="2000">
                <a:solidFill>
                  <a:srgbClr val="0000FF"/>
                </a:solidFill>
                <a:latin typeface="Consolas" pitchFamily="49" charset="0"/>
                <a:ea typeface="仿宋" pitchFamily="49" charset="-122"/>
              </a:rPr>
              <a:t>void </a:t>
            </a:r>
            <a:r>
              <a:rPr lang="pt-BR" altLang="zh-CN" sz="2000">
                <a:solidFill>
                  <a:srgbClr val="FF0000"/>
                </a:solidFill>
                <a:latin typeface="Consolas" pitchFamily="49" charset="0"/>
                <a:ea typeface="仿宋" pitchFamily="49" charset="-122"/>
              </a:rPr>
              <a:t>Knap</a:t>
            </a:r>
            <a:r>
              <a:rPr lang="pt-BR" altLang="zh-CN" sz="2000">
                <a:solidFill>
                  <a:srgbClr val="0000FF"/>
                </a:solidFill>
                <a:latin typeface="Consolas" pitchFamily="49" charset="0"/>
                <a:ea typeface="仿宋" pitchFamily="49" charset="-122"/>
              </a:rPr>
              <a:t>(vector&lt;int&gt;&amp;w,vector&lt;int&gt;&amp;v,int W) {</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int n=w.size();</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x.resize(n); </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int ans=</a:t>
            </a:r>
            <a:r>
              <a:rPr lang="pt-BR" altLang="zh-CN" sz="2000">
                <a:solidFill>
                  <a:srgbClr val="FF0000"/>
                </a:solidFill>
                <a:latin typeface="Consolas" pitchFamily="49" charset="0"/>
                <a:ea typeface="仿宋" pitchFamily="49" charset="-122"/>
              </a:rPr>
              <a:t>dfs</a:t>
            </a:r>
            <a:r>
              <a:rPr lang="pt-BR" altLang="zh-CN" sz="2000">
                <a:solidFill>
                  <a:srgbClr val="0000FF"/>
                </a:solidFill>
                <a:latin typeface="Consolas" pitchFamily="49" charset="0"/>
                <a:ea typeface="仿宋" pitchFamily="49" charset="-122"/>
              </a:rPr>
              <a:t>(w,v,0,W);</a:t>
            </a:r>
            <a:endParaRPr lang="zh-CN" altLang="zh-CN" sz="2000">
              <a:solidFill>
                <a:srgbClr val="0000FF"/>
              </a:solidFill>
              <a:latin typeface="Consolas" pitchFamily="49" charset="0"/>
              <a:ea typeface="仿宋" pitchFamily="49" charset="-122"/>
            </a:endParaRPr>
          </a:p>
          <a:p>
            <a:pPr algn="l" defTabSz="360000">
              <a:lnSpc>
                <a:spcPts val="3100"/>
              </a:lnSpc>
              <a:spcBef>
                <a:spcPts val="1200"/>
              </a:spcBef>
            </a:pPr>
            <a:r>
              <a:rPr lang="pt-BR"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最佳方案为</a:t>
            </a:r>
            <a:r>
              <a:rPr lang="pt-BR" altLang="zh-CN" sz="2000">
                <a:solidFill>
                  <a:srgbClr val="0000FF"/>
                </a:solidFill>
                <a:latin typeface="Consolas" pitchFamily="49" charset="0"/>
                <a:ea typeface="仿宋" pitchFamily="49" charset="-122"/>
              </a:rPr>
              <a:t>:\n");</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for(int i=0;i&lt;n;i++)</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if(x[i]==1) printf("  </a:t>
            </a:r>
            <a:r>
              <a:rPr lang="zh-CN" altLang="zh-CN" sz="2000">
                <a:solidFill>
                  <a:srgbClr val="0000FF"/>
                </a:solidFill>
                <a:latin typeface="Consolas" pitchFamily="49" charset="0"/>
                <a:ea typeface="仿宋" pitchFamily="49" charset="-122"/>
              </a:rPr>
              <a:t>选中物品</a:t>
            </a:r>
            <a:r>
              <a:rPr lang="pt-BR" altLang="zh-CN" sz="2000">
                <a:solidFill>
                  <a:srgbClr val="0000FF"/>
                </a:solidFill>
                <a:latin typeface="Consolas" pitchFamily="49" charset="0"/>
                <a:ea typeface="仿宋" pitchFamily="49" charset="-122"/>
              </a:rPr>
              <a:t>%d[%d,%d]\n",</a:t>
            </a:r>
          </a:p>
          <a:p>
            <a:pPr algn="l" defTabSz="360000">
              <a:lnSpc>
                <a:spcPts val="3100"/>
              </a:lnSpc>
              <a:spcBef>
                <a:spcPts val="0"/>
              </a:spcBef>
            </a:pPr>
            <a:r>
              <a:rPr lang="pt-BR" altLang="zh-CN" sz="2000">
                <a:solidFill>
                  <a:srgbClr val="0000FF"/>
                </a:solidFill>
                <a:latin typeface="Consolas" pitchFamily="49" charset="0"/>
                <a:ea typeface="仿宋" pitchFamily="49" charset="-122"/>
              </a:rPr>
              <a:t>											i,w[i],v[i]);</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最优总价值</a:t>
            </a:r>
            <a:r>
              <a:rPr lang="pt-BR" altLang="zh-CN" sz="2000">
                <a:solidFill>
                  <a:srgbClr val="0000FF"/>
                </a:solidFill>
                <a:latin typeface="Consolas" pitchFamily="49" charset="0"/>
                <a:ea typeface="仿宋" pitchFamily="49" charset="-122"/>
              </a:rPr>
              <a:t>:%d\n",ans);</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pt-BR"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63</a:t>
            </a:fld>
            <a:r>
              <a:rPr lang="en-US" altLang="zh-CN"/>
              <a:t>/91</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90" name="Rectangle 7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505" name="Rectangle 18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43" name="组合 142"/>
          <p:cNvGrpSpPr/>
          <p:nvPr/>
        </p:nvGrpSpPr>
        <p:grpSpPr>
          <a:xfrm>
            <a:off x="223794" y="1804944"/>
            <a:ext cx="8710872" cy="4195824"/>
            <a:chOff x="223794" y="580989"/>
            <a:chExt cx="8710872" cy="4195824"/>
          </a:xfrm>
        </p:grpSpPr>
        <p:sp>
          <p:nvSpPr>
            <p:cNvPr id="184503" name="Rectangle 183"/>
            <p:cNvSpPr>
              <a:spLocks noChangeArrowheads="1"/>
            </p:cNvSpPr>
            <p:nvPr/>
          </p:nvSpPr>
          <p:spPr bwMode="auto">
            <a:xfrm>
              <a:off x="1984755" y="977988"/>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02" name="Rectangle 182"/>
            <p:cNvSpPr>
              <a:spLocks noChangeArrowheads="1"/>
            </p:cNvSpPr>
            <p:nvPr/>
          </p:nvSpPr>
          <p:spPr bwMode="auto">
            <a:xfrm>
              <a:off x="4509077" y="977988"/>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01" name="Rectangle 181"/>
            <p:cNvSpPr>
              <a:spLocks noChangeArrowheads="1"/>
            </p:cNvSpPr>
            <p:nvPr/>
          </p:nvSpPr>
          <p:spPr bwMode="auto">
            <a:xfrm>
              <a:off x="6700469" y="1936014"/>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500" name="Rectangle 180"/>
            <p:cNvSpPr>
              <a:spLocks noChangeArrowheads="1"/>
            </p:cNvSpPr>
            <p:nvPr/>
          </p:nvSpPr>
          <p:spPr bwMode="auto">
            <a:xfrm>
              <a:off x="7689746" y="3858011"/>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9" name="Rectangle 179"/>
            <p:cNvSpPr>
              <a:spLocks noChangeArrowheads="1"/>
            </p:cNvSpPr>
            <p:nvPr/>
          </p:nvSpPr>
          <p:spPr bwMode="auto">
            <a:xfrm>
              <a:off x="8587467" y="3858011"/>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8" name="Rectangle 178"/>
            <p:cNvSpPr>
              <a:spLocks noChangeArrowheads="1"/>
            </p:cNvSpPr>
            <p:nvPr/>
          </p:nvSpPr>
          <p:spPr bwMode="auto">
            <a:xfrm>
              <a:off x="4639871" y="3808089"/>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7" name="Rectangle 177"/>
            <p:cNvSpPr>
              <a:spLocks noChangeArrowheads="1"/>
            </p:cNvSpPr>
            <p:nvPr/>
          </p:nvSpPr>
          <p:spPr bwMode="auto">
            <a:xfrm>
              <a:off x="5484086" y="3829484"/>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6" name="Rectangle 176"/>
            <p:cNvSpPr>
              <a:spLocks noChangeArrowheads="1"/>
            </p:cNvSpPr>
            <p:nvPr/>
          </p:nvSpPr>
          <p:spPr bwMode="auto">
            <a:xfrm>
              <a:off x="6184427" y="3882972"/>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5" name="Rectangle 175"/>
            <p:cNvSpPr>
              <a:spLocks noChangeArrowheads="1"/>
            </p:cNvSpPr>
            <p:nvPr/>
          </p:nvSpPr>
          <p:spPr bwMode="auto">
            <a:xfrm>
              <a:off x="7050045" y="3840181"/>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4" name="Rectangle 174"/>
            <p:cNvSpPr>
              <a:spLocks noChangeArrowheads="1"/>
            </p:cNvSpPr>
            <p:nvPr/>
          </p:nvSpPr>
          <p:spPr bwMode="auto">
            <a:xfrm>
              <a:off x="1400939" y="383305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3" name="Rectangle 173"/>
            <p:cNvSpPr>
              <a:spLocks noChangeArrowheads="1"/>
            </p:cNvSpPr>
            <p:nvPr/>
          </p:nvSpPr>
          <p:spPr bwMode="auto">
            <a:xfrm>
              <a:off x="2309362" y="385444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2" name="Rectangle 172"/>
            <p:cNvSpPr>
              <a:spLocks noChangeArrowheads="1"/>
            </p:cNvSpPr>
            <p:nvPr/>
          </p:nvSpPr>
          <p:spPr bwMode="auto">
            <a:xfrm>
              <a:off x="3041808" y="383305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1" name="Rectangle 171"/>
            <p:cNvSpPr>
              <a:spLocks noChangeArrowheads="1"/>
            </p:cNvSpPr>
            <p:nvPr/>
          </p:nvSpPr>
          <p:spPr bwMode="auto">
            <a:xfrm>
              <a:off x="3907425" y="389723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90" name="Rectangle 170"/>
            <p:cNvSpPr>
              <a:spLocks noChangeArrowheads="1"/>
            </p:cNvSpPr>
            <p:nvPr/>
          </p:nvSpPr>
          <p:spPr bwMode="auto">
            <a:xfrm>
              <a:off x="6669554" y="289879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9" name="Rectangle 169"/>
            <p:cNvSpPr>
              <a:spLocks noChangeArrowheads="1"/>
            </p:cNvSpPr>
            <p:nvPr/>
          </p:nvSpPr>
          <p:spPr bwMode="auto">
            <a:xfrm>
              <a:off x="7995328" y="289879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8" name="Rectangle 168"/>
            <p:cNvSpPr>
              <a:spLocks noChangeArrowheads="1"/>
            </p:cNvSpPr>
            <p:nvPr/>
          </p:nvSpPr>
          <p:spPr bwMode="auto">
            <a:xfrm>
              <a:off x="3623246" y="279182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7" name="Rectangle 167"/>
            <p:cNvSpPr>
              <a:spLocks noChangeArrowheads="1"/>
            </p:cNvSpPr>
            <p:nvPr/>
          </p:nvSpPr>
          <p:spPr bwMode="auto">
            <a:xfrm>
              <a:off x="4884812" y="279182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6" name="Rectangle 166"/>
            <p:cNvSpPr>
              <a:spLocks noChangeArrowheads="1"/>
            </p:cNvSpPr>
            <p:nvPr/>
          </p:nvSpPr>
          <p:spPr bwMode="auto">
            <a:xfrm>
              <a:off x="473492" y="200020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5" name="Rectangle 165"/>
            <p:cNvSpPr>
              <a:spLocks noChangeArrowheads="1"/>
            </p:cNvSpPr>
            <p:nvPr/>
          </p:nvSpPr>
          <p:spPr bwMode="auto">
            <a:xfrm>
              <a:off x="897977" y="289879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4" name="Rectangle 164"/>
            <p:cNvSpPr>
              <a:spLocks noChangeArrowheads="1"/>
            </p:cNvSpPr>
            <p:nvPr/>
          </p:nvSpPr>
          <p:spPr bwMode="auto">
            <a:xfrm>
              <a:off x="4880056" y="1893224"/>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3" name="Oval 163"/>
            <p:cNvSpPr>
              <a:spLocks noChangeArrowheads="1"/>
            </p:cNvSpPr>
            <p:nvPr/>
          </p:nvSpPr>
          <p:spPr bwMode="auto">
            <a:xfrm>
              <a:off x="2965709" y="580989"/>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2" name="Oval 162"/>
            <p:cNvSpPr>
              <a:spLocks noChangeArrowheads="1"/>
            </p:cNvSpPr>
            <p:nvPr/>
          </p:nvSpPr>
          <p:spPr bwMode="auto">
            <a:xfrm>
              <a:off x="701786" y="147483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81" name="AutoShape 161"/>
            <p:cNvSpPr>
              <a:spLocks noChangeShapeType="1"/>
            </p:cNvSpPr>
            <p:nvPr/>
          </p:nvSpPr>
          <p:spPr bwMode="auto">
            <a:xfrm flipH="1">
              <a:off x="1277279" y="1042173"/>
              <a:ext cx="1787120" cy="51110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80" name="Oval 160"/>
            <p:cNvSpPr>
              <a:spLocks noChangeArrowheads="1"/>
            </p:cNvSpPr>
            <p:nvPr/>
          </p:nvSpPr>
          <p:spPr bwMode="auto">
            <a:xfrm>
              <a:off x="223794" y="2375803"/>
              <a:ext cx="776306" cy="538444"/>
            </a:xfrm>
            <a:prstGeom prst="ellipse">
              <a:avLst/>
            </a:prstGeom>
            <a:solidFill>
              <a:schemeClr val="bg1">
                <a:lumMod val="85000"/>
              </a:schemeClr>
            </a:solidFill>
            <a:ln>
              <a:prstDash val="lgDash"/>
              <a:headEnd/>
              <a:tailEnd type="none" w="sm" len="sm"/>
            </a:ln>
          </p:spPr>
          <p:style>
            <a:lnRef idx="1">
              <a:schemeClr val="dk1"/>
            </a:lnRef>
            <a:fillRef idx="2">
              <a:schemeClr val="dk1"/>
            </a:fillRef>
            <a:effectRef idx="1">
              <a:schemeClr val="dk1"/>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2,-2</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9" name="Oval 159"/>
            <p:cNvSpPr>
              <a:spLocks noChangeArrowheads="1"/>
            </p:cNvSpPr>
            <p:nvPr/>
          </p:nvSpPr>
          <p:spPr bwMode="auto">
            <a:xfrm>
              <a:off x="1120327" y="2375803"/>
              <a:ext cx="674183" cy="538444"/>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8" name="AutoShape 158"/>
            <p:cNvSpPr>
              <a:spLocks noChangeShapeType="1"/>
            </p:cNvSpPr>
            <p:nvPr/>
          </p:nvSpPr>
          <p:spPr bwMode="auto">
            <a:xfrm flipH="1">
              <a:off x="561480" y="1936014"/>
              <a:ext cx="238996" cy="43978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77" name="AutoShape 157"/>
            <p:cNvSpPr>
              <a:spLocks noChangeShapeType="1"/>
            </p:cNvSpPr>
            <p:nvPr/>
          </p:nvSpPr>
          <p:spPr bwMode="auto">
            <a:xfrm>
              <a:off x="1277279" y="1936014"/>
              <a:ext cx="180733" cy="43978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76" name="Oval 156"/>
            <p:cNvSpPr>
              <a:spLocks noChangeArrowheads="1"/>
            </p:cNvSpPr>
            <p:nvPr/>
          </p:nvSpPr>
          <p:spPr bwMode="auto">
            <a:xfrm>
              <a:off x="570993" y="3307680"/>
              <a:ext cx="786297" cy="538444"/>
            </a:xfrm>
            <a:prstGeom prst="ellipse">
              <a:avLst/>
            </a:prstGeom>
            <a:solidFill>
              <a:schemeClr val="bg1">
                <a:lumMod val="85000"/>
              </a:schemeClr>
            </a:solidFill>
            <a:ln>
              <a:prstDash val="lgDash"/>
              <a:headEnd/>
              <a:tailEnd type="none" w="sm" len="sm"/>
            </a:ln>
          </p:spPr>
          <p:style>
            <a:lnRef idx="1">
              <a:schemeClr val="dk1"/>
            </a:lnRef>
            <a:fillRef idx="2">
              <a:schemeClr val="dk1"/>
            </a:fillRef>
            <a:effectRef idx="1">
              <a:schemeClr val="dk1"/>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5" name="Oval 155"/>
            <p:cNvSpPr>
              <a:spLocks noChangeArrowheads="1"/>
            </p:cNvSpPr>
            <p:nvPr/>
          </p:nvSpPr>
          <p:spPr bwMode="auto">
            <a:xfrm>
              <a:off x="1593563" y="3307680"/>
              <a:ext cx="674183" cy="538444"/>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4" name="AutoShape 154"/>
            <p:cNvSpPr>
              <a:spLocks noChangeShapeType="1"/>
            </p:cNvSpPr>
            <p:nvPr/>
          </p:nvSpPr>
          <p:spPr bwMode="auto">
            <a:xfrm flipH="1">
              <a:off x="908679" y="2835799"/>
              <a:ext cx="310338" cy="471882"/>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73" name="AutoShape 153"/>
            <p:cNvSpPr>
              <a:spLocks noChangeShapeType="1"/>
            </p:cNvSpPr>
            <p:nvPr/>
          </p:nvSpPr>
          <p:spPr bwMode="auto">
            <a:xfrm>
              <a:off x="1695820" y="2835799"/>
              <a:ext cx="235429" cy="471882"/>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72" name="Oval 152"/>
            <p:cNvSpPr>
              <a:spLocks noChangeArrowheads="1"/>
            </p:cNvSpPr>
            <p:nvPr/>
          </p:nvSpPr>
          <p:spPr bwMode="auto">
            <a:xfrm>
              <a:off x="1161943" y="4238369"/>
              <a:ext cx="674183" cy="538444"/>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1" name="Oval 151"/>
            <p:cNvSpPr>
              <a:spLocks noChangeArrowheads="1"/>
            </p:cNvSpPr>
            <p:nvPr/>
          </p:nvSpPr>
          <p:spPr bwMode="auto">
            <a:xfrm>
              <a:off x="1985944" y="4238369"/>
              <a:ext cx="674183" cy="538444"/>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70" name="AutoShape 150"/>
            <p:cNvSpPr>
              <a:spLocks noChangeShapeType="1"/>
            </p:cNvSpPr>
            <p:nvPr/>
          </p:nvSpPr>
          <p:spPr bwMode="auto">
            <a:xfrm flipH="1">
              <a:off x="1499629" y="3767676"/>
              <a:ext cx="192624" cy="470693"/>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69" name="AutoShape 149"/>
            <p:cNvSpPr>
              <a:spLocks noChangeShapeType="1"/>
            </p:cNvSpPr>
            <p:nvPr/>
          </p:nvSpPr>
          <p:spPr bwMode="auto">
            <a:xfrm>
              <a:off x="2169056" y="3767676"/>
              <a:ext cx="154575" cy="470693"/>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68" name="Oval 148"/>
            <p:cNvSpPr>
              <a:spLocks noChangeArrowheads="1"/>
            </p:cNvSpPr>
            <p:nvPr/>
          </p:nvSpPr>
          <p:spPr bwMode="auto">
            <a:xfrm>
              <a:off x="5352103" y="147483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67" name="AutoShape 147"/>
            <p:cNvSpPr>
              <a:spLocks noChangeShapeType="1"/>
            </p:cNvSpPr>
            <p:nvPr/>
          </p:nvSpPr>
          <p:spPr bwMode="auto">
            <a:xfrm>
              <a:off x="3541202" y="1042173"/>
              <a:ext cx="1909590" cy="511106"/>
            </a:xfrm>
            <a:prstGeom prst="straightConnector1">
              <a:avLst/>
            </a:prstGeom>
            <a:noFill/>
            <a:ln w="2857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66" name="Oval 146"/>
            <p:cNvSpPr>
              <a:spLocks noChangeArrowheads="1"/>
            </p:cNvSpPr>
            <p:nvPr/>
          </p:nvSpPr>
          <p:spPr bwMode="auto">
            <a:xfrm>
              <a:off x="3958554" y="2375803"/>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65" name="Oval 145"/>
            <p:cNvSpPr>
              <a:spLocks noChangeArrowheads="1"/>
            </p:cNvSpPr>
            <p:nvPr/>
          </p:nvSpPr>
          <p:spPr bwMode="auto">
            <a:xfrm>
              <a:off x="7057179" y="2375803"/>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64" name="AutoShape 144"/>
            <p:cNvSpPr>
              <a:spLocks noChangeShapeType="1"/>
            </p:cNvSpPr>
            <p:nvPr/>
          </p:nvSpPr>
          <p:spPr bwMode="auto">
            <a:xfrm flipH="1">
              <a:off x="4534047" y="1936014"/>
              <a:ext cx="916746" cy="518238"/>
            </a:xfrm>
            <a:prstGeom prst="straightConnector1">
              <a:avLst/>
            </a:prstGeom>
            <a:noFill/>
            <a:ln w="2857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63" name="AutoShape 143"/>
            <p:cNvSpPr>
              <a:spLocks noChangeShapeType="1"/>
            </p:cNvSpPr>
            <p:nvPr/>
          </p:nvSpPr>
          <p:spPr bwMode="auto">
            <a:xfrm>
              <a:off x="5927596" y="1936014"/>
              <a:ext cx="1228273" cy="51823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62" name="Oval 142"/>
            <p:cNvSpPr>
              <a:spLocks noChangeArrowheads="1"/>
            </p:cNvSpPr>
            <p:nvPr/>
          </p:nvSpPr>
          <p:spPr bwMode="auto">
            <a:xfrm>
              <a:off x="3203516" y="33076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61" name="Oval 141"/>
            <p:cNvSpPr>
              <a:spLocks noChangeArrowheads="1"/>
            </p:cNvSpPr>
            <p:nvPr/>
          </p:nvSpPr>
          <p:spPr bwMode="auto">
            <a:xfrm>
              <a:off x="4794445" y="33076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60" name="Oval 140"/>
            <p:cNvSpPr>
              <a:spLocks noChangeArrowheads="1"/>
            </p:cNvSpPr>
            <p:nvPr/>
          </p:nvSpPr>
          <p:spPr bwMode="auto">
            <a:xfrm>
              <a:off x="2763573" y="4237180"/>
              <a:ext cx="674183" cy="539633"/>
            </a:xfrm>
            <a:prstGeom prst="ellipse">
              <a:avLst/>
            </a:prstGeom>
            <a:solidFill>
              <a:srgbClr val="FF0000"/>
            </a:solidFill>
            <a:ln w="9525">
              <a:solidFill>
                <a:srgbClr val="000000"/>
              </a:solidFill>
              <a:round/>
              <a:headEnd/>
              <a:tailEnd type="none" w="sm" len="sm"/>
            </a:ln>
          </p:spPr>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latin typeface="Consolas" pitchFamily="49" charset="0"/>
                  <a:ea typeface="宋体" pitchFamily="2" charset="-122"/>
                  <a:cs typeface="Times New Roman" pitchFamily="18" charset="0"/>
                </a:rPr>
                <a:t>4,0</a:t>
              </a:r>
              <a:endParaRPr kumimoji="0" lang="en-US" altLang="zh-CN" sz="18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59" name="AutoShape 139"/>
            <p:cNvSpPr>
              <a:spLocks noChangeShapeType="1"/>
            </p:cNvSpPr>
            <p:nvPr/>
          </p:nvSpPr>
          <p:spPr bwMode="auto">
            <a:xfrm flipH="1">
              <a:off x="3101259" y="3768864"/>
              <a:ext cx="200947" cy="468316"/>
            </a:xfrm>
            <a:prstGeom prst="straightConnector1">
              <a:avLst/>
            </a:prstGeom>
            <a:noFill/>
            <a:ln w="2857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58" name="Oval 138"/>
            <p:cNvSpPr>
              <a:spLocks noChangeArrowheads="1"/>
            </p:cNvSpPr>
            <p:nvPr/>
          </p:nvSpPr>
          <p:spPr bwMode="auto">
            <a:xfrm>
              <a:off x="3594709"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57" name="AutoShape 137"/>
            <p:cNvSpPr>
              <a:spLocks noChangeShapeType="1"/>
            </p:cNvSpPr>
            <p:nvPr/>
          </p:nvSpPr>
          <p:spPr bwMode="auto">
            <a:xfrm>
              <a:off x="3779009" y="3768864"/>
              <a:ext cx="153386"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56" name="AutoShape 136"/>
            <p:cNvSpPr>
              <a:spLocks noChangeShapeType="1"/>
            </p:cNvSpPr>
            <p:nvPr/>
          </p:nvSpPr>
          <p:spPr bwMode="auto">
            <a:xfrm flipH="1">
              <a:off x="3541202" y="2836987"/>
              <a:ext cx="516041" cy="470693"/>
            </a:xfrm>
            <a:prstGeom prst="straightConnector1">
              <a:avLst/>
            </a:prstGeom>
            <a:noFill/>
            <a:ln w="2857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55" name="AutoShape 135"/>
            <p:cNvSpPr>
              <a:spLocks noChangeShapeType="1"/>
            </p:cNvSpPr>
            <p:nvPr/>
          </p:nvSpPr>
          <p:spPr bwMode="auto">
            <a:xfrm>
              <a:off x="4534047" y="2836987"/>
              <a:ext cx="598085" cy="470693"/>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54" name="Oval 134"/>
            <p:cNvSpPr>
              <a:spLocks noChangeArrowheads="1"/>
            </p:cNvSpPr>
            <p:nvPr/>
          </p:nvSpPr>
          <p:spPr bwMode="auto">
            <a:xfrm>
              <a:off x="4371149"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4,2</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53" name="Oval 133"/>
            <p:cNvSpPr>
              <a:spLocks noChangeArrowheads="1"/>
            </p:cNvSpPr>
            <p:nvPr/>
          </p:nvSpPr>
          <p:spPr bwMode="auto">
            <a:xfrm>
              <a:off x="5191583"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52" name="AutoShape 132"/>
            <p:cNvSpPr>
              <a:spLocks noChangeShapeType="1"/>
            </p:cNvSpPr>
            <p:nvPr/>
          </p:nvSpPr>
          <p:spPr bwMode="auto">
            <a:xfrm flipH="1">
              <a:off x="4708835" y="3768864"/>
              <a:ext cx="184300"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51" name="Oval 131"/>
            <p:cNvSpPr>
              <a:spLocks noChangeArrowheads="1"/>
            </p:cNvSpPr>
            <p:nvPr/>
          </p:nvSpPr>
          <p:spPr bwMode="auto">
            <a:xfrm>
              <a:off x="6337813" y="33076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50" name="Oval 130"/>
            <p:cNvSpPr>
              <a:spLocks noChangeArrowheads="1"/>
            </p:cNvSpPr>
            <p:nvPr/>
          </p:nvSpPr>
          <p:spPr bwMode="auto">
            <a:xfrm>
              <a:off x="7874046" y="33076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49" name="Oval 129"/>
            <p:cNvSpPr>
              <a:spLocks noChangeArrowheads="1"/>
            </p:cNvSpPr>
            <p:nvPr/>
          </p:nvSpPr>
          <p:spPr bwMode="auto">
            <a:xfrm>
              <a:off x="5951377"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48" name="Oval 128"/>
            <p:cNvSpPr>
              <a:spLocks noChangeArrowheads="1"/>
            </p:cNvSpPr>
            <p:nvPr/>
          </p:nvSpPr>
          <p:spPr bwMode="auto">
            <a:xfrm>
              <a:off x="6723060"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47" name="AutoShape 127"/>
            <p:cNvSpPr>
              <a:spLocks noChangeShapeType="1"/>
            </p:cNvSpPr>
            <p:nvPr/>
          </p:nvSpPr>
          <p:spPr bwMode="auto">
            <a:xfrm flipH="1">
              <a:off x="6289063" y="3768864"/>
              <a:ext cx="147440"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46" name="AutoShape 126"/>
            <p:cNvSpPr>
              <a:spLocks noChangeShapeType="1"/>
            </p:cNvSpPr>
            <p:nvPr/>
          </p:nvSpPr>
          <p:spPr bwMode="auto">
            <a:xfrm>
              <a:off x="6913306" y="3768864"/>
              <a:ext cx="147440"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45" name="AutoShape 125"/>
            <p:cNvSpPr>
              <a:spLocks noChangeShapeType="1"/>
            </p:cNvSpPr>
            <p:nvPr/>
          </p:nvSpPr>
          <p:spPr bwMode="auto">
            <a:xfrm>
              <a:off x="5369938" y="3768864"/>
              <a:ext cx="159331"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44" name="Oval 124"/>
            <p:cNvSpPr>
              <a:spLocks noChangeArrowheads="1"/>
            </p:cNvSpPr>
            <p:nvPr/>
          </p:nvSpPr>
          <p:spPr bwMode="auto">
            <a:xfrm>
              <a:off x="7488799"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4,5</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43" name="Oval 123"/>
            <p:cNvSpPr>
              <a:spLocks noChangeArrowheads="1"/>
            </p:cNvSpPr>
            <p:nvPr/>
          </p:nvSpPr>
          <p:spPr bwMode="auto">
            <a:xfrm>
              <a:off x="8260483" y="4237180"/>
              <a:ext cx="674183" cy="539633"/>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42" name="AutoShape 122"/>
            <p:cNvSpPr>
              <a:spLocks noChangeShapeType="1"/>
            </p:cNvSpPr>
            <p:nvPr/>
          </p:nvSpPr>
          <p:spPr bwMode="auto">
            <a:xfrm flipH="1">
              <a:off x="6675499" y="2836987"/>
              <a:ext cx="480370" cy="470693"/>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41" name="AutoShape 121"/>
            <p:cNvSpPr>
              <a:spLocks noChangeShapeType="1"/>
            </p:cNvSpPr>
            <p:nvPr/>
          </p:nvSpPr>
          <p:spPr bwMode="auto">
            <a:xfrm>
              <a:off x="7632672" y="2836987"/>
              <a:ext cx="579060" cy="470693"/>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40" name="AutoShape 120"/>
            <p:cNvSpPr>
              <a:spLocks noChangeShapeType="1"/>
            </p:cNvSpPr>
            <p:nvPr/>
          </p:nvSpPr>
          <p:spPr bwMode="auto">
            <a:xfrm flipH="1">
              <a:off x="7826485" y="3768864"/>
              <a:ext cx="146251"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39" name="AutoShape 119"/>
            <p:cNvSpPr>
              <a:spLocks noChangeShapeType="1"/>
            </p:cNvSpPr>
            <p:nvPr/>
          </p:nvSpPr>
          <p:spPr bwMode="auto">
            <a:xfrm>
              <a:off x="8449539" y="3768864"/>
              <a:ext cx="148629" cy="46831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184438" name="Rectangle 118"/>
            <p:cNvSpPr>
              <a:spLocks noChangeArrowheads="1"/>
            </p:cNvSpPr>
            <p:nvPr/>
          </p:nvSpPr>
          <p:spPr bwMode="auto">
            <a:xfrm>
              <a:off x="1424720" y="2000200"/>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4437" name="Rectangle 117"/>
            <p:cNvSpPr>
              <a:spLocks noChangeArrowheads="1"/>
            </p:cNvSpPr>
            <p:nvPr/>
          </p:nvSpPr>
          <p:spPr bwMode="auto">
            <a:xfrm>
              <a:off x="1849205" y="2898795"/>
              <a:ext cx="231862" cy="29240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aphicFrame>
        <p:nvGraphicFramePr>
          <p:cNvPr id="144" name="表格 143"/>
          <p:cNvGraphicFramePr>
            <a:graphicFrameLocks noGrp="1"/>
          </p:cNvGraphicFramePr>
          <p:nvPr/>
        </p:nvGraphicFramePr>
        <p:xfrm>
          <a:off x="4714876" y="285752"/>
          <a:ext cx="4071966" cy="1500173"/>
        </p:xfrm>
        <a:graphic>
          <a:graphicData uri="http://schemas.openxmlformats.org/drawingml/2006/table">
            <a:tbl>
              <a:tblPr>
                <a:tableStyleId>{35758FB7-9AC5-4552-8A53-C91805E547FA}</a:tableStyleId>
              </a:tblPr>
              <a:tblGrid>
                <a:gridCol w="1357322">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357322">
                  <a:extLst>
                    <a:ext uri="{9D8B030D-6E8A-4147-A177-3AD203B41FA5}">
                      <a16:colId xmlns:a16="http://schemas.microsoft.com/office/drawing/2014/main" val="20002"/>
                    </a:ext>
                  </a:extLst>
                </a:gridCol>
              </a:tblGrid>
              <a:tr h="296573">
                <a:tc>
                  <a:txBody>
                    <a:bodyPr/>
                    <a:lstStyle/>
                    <a:p>
                      <a:pPr algn="ctr">
                        <a:lnSpc>
                          <a:spcPts val="2000"/>
                        </a:lnSpc>
                        <a:spcAft>
                          <a:spcPts val="0"/>
                        </a:spcAft>
                      </a:pPr>
                      <a:r>
                        <a:rPr lang="zh-CN" sz="1800" b="1" kern="100">
                          <a:solidFill>
                            <a:srgbClr val="FF0000"/>
                          </a:solidFill>
                          <a:latin typeface="Consolas" pitchFamily="49" charset="0"/>
                          <a:ea typeface="仿宋" pitchFamily="49" charset="-122"/>
                        </a:rPr>
                        <a:t>物品编号</a:t>
                      </a:r>
                      <a:endParaRPr lang="zh-CN" sz="18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zh-CN" sz="1800" b="1" kern="100">
                          <a:solidFill>
                            <a:srgbClr val="FF0000"/>
                          </a:solidFill>
                          <a:latin typeface="Consolas" pitchFamily="49" charset="0"/>
                          <a:ea typeface="仿宋" pitchFamily="49" charset="-122"/>
                        </a:rPr>
                        <a:t>重量</a:t>
                      </a:r>
                      <a:endParaRPr lang="zh-CN" sz="18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zh-CN" sz="1800" b="1" kern="100">
                          <a:solidFill>
                            <a:srgbClr val="FF0000"/>
                          </a:solidFill>
                          <a:latin typeface="Consolas" pitchFamily="49" charset="0"/>
                          <a:ea typeface="仿宋" pitchFamily="49" charset="-122"/>
                        </a:rPr>
                        <a:t>价值</a:t>
                      </a:r>
                      <a:endParaRPr lang="zh-CN" sz="18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00900">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0</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5</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4</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00900">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1</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3</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4</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00900">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2</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2</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3</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00900">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3</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1</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000"/>
                        </a:lnSpc>
                        <a:spcAft>
                          <a:spcPts val="0"/>
                        </a:spcAft>
                      </a:pPr>
                      <a:r>
                        <a:rPr lang="pt-BR" sz="1800" b="1" kern="100">
                          <a:solidFill>
                            <a:srgbClr val="0000FF"/>
                          </a:solidFill>
                          <a:latin typeface="Consolas" pitchFamily="49" charset="0"/>
                          <a:ea typeface="仿宋" pitchFamily="49" charset="-122"/>
                        </a:rPr>
                        <a:t>1</a:t>
                      </a:r>
                      <a:endParaRPr lang="zh-CN" sz="18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145" name="TextBox 144"/>
          <p:cNvSpPr txBox="1"/>
          <p:nvPr/>
        </p:nvSpPr>
        <p:spPr>
          <a:xfrm>
            <a:off x="1357290" y="571480"/>
            <a:ext cx="285752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用（</a:t>
            </a:r>
            <a:r>
              <a:rPr lang="en-US" altLang="zh-CN" sz="2000" i="1">
                <a:solidFill>
                  <a:srgbClr val="0000FF"/>
                </a:solidFill>
                <a:latin typeface="Consolas" pitchFamily="49" charset="0"/>
                <a:ea typeface="仿宋" pitchFamily="49" charset="-122"/>
              </a:rPr>
              <a:t>i</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rw</a:t>
            </a:r>
            <a:r>
              <a:rPr lang="zh-CN" altLang="zh-CN" sz="2000">
                <a:solidFill>
                  <a:srgbClr val="0000FF"/>
                </a:solidFill>
                <a:latin typeface="Consolas" pitchFamily="49" charset="0"/>
                <a:ea typeface="仿宋" pitchFamily="49" charset="-122"/>
              </a:rPr>
              <a:t>）表示状态</a:t>
            </a:r>
            <a:endParaRPr lang="zh-CN" altLang="en-US" sz="2000">
              <a:solidFill>
                <a:srgbClr val="0000FF"/>
              </a:solidFill>
              <a:latin typeface="Consolas" pitchFamily="49" charset="0"/>
              <a:ea typeface="仿宋" pitchFamily="49" charset="-122"/>
              <a:cs typeface="Consolas" pitchFamily="49" charset="0"/>
            </a:endParaRPr>
          </a:p>
        </p:txBody>
      </p:sp>
      <p:sp>
        <p:nvSpPr>
          <p:cNvPr id="146" name="TextBox 145"/>
          <p:cNvSpPr txBox="1"/>
          <p:nvPr/>
        </p:nvSpPr>
        <p:spPr>
          <a:xfrm>
            <a:off x="6929454" y="2000240"/>
            <a:ext cx="928694" cy="400110"/>
          </a:xfrm>
          <a:prstGeom prst="rect">
            <a:avLst/>
          </a:prstGeom>
          <a:noFill/>
        </p:spPr>
        <p:txBody>
          <a:bodyPr wrap="square" rtlCol="0">
            <a:spAutoFit/>
          </a:bodyPr>
          <a:lstStyle/>
          <a:p>
            <a:pPr algn="l">
              <a:lnSpc>
                <a:spcPct val="100000"/>
              </a:lnSpc>
              <a:spcBef>
                <a:spcPts val="0"/>
              </a:spcBef>
            </a:pPr>
            <a:r>
              <a:rPr lang="pt-BR" altLang="zh-CN" sz="2000">
                <a:solidFill>
                  <a:srgbClr val="0000FF"/>
                </a:solidFill>
                <a:latin typeface="Consolas" pitchFamily="49" charset="0"/>
              </a:rPr>
              <a:t>W=6</a:t>
            </a:r>
            <a:endParaRPr lang="zh-CN" altLang="en-US" sz="2000">
              <a:solidFill>
                <a:srgbClr val="0000FF"/>
              </a:solidFill>
              <a:latin typeface="Consolas" pitchFamily="49" charset="0"/>
              <a:ea typeface="楷体" pitchFamily="49" charset="-122"/>
              <a:cs typeface="Consolas" pitchFamily="49" charset="0"/>
            </a:endParaRPr>
          </a:p>
        </p:txBody>
      </p:sp>
      <p:sp>
        <p:nvSpPr>
          <p:cNvPr id="147" name="TextBox 146"/>
          <p:cNvSpPr txBox="1"/>
          <p:nvPr/>
        </p:nvSpPr>
        <p:spPr>
          <a:xfrm>
            <a:off x="1071538" y="6286520"/>
            <a:ext cx="6000792" cy="400110"/>
          </a:xfrm>
          <a:prstGeom prst="rect">
            <a:avLst/>
          </a:prstGeom>
          <a:noFill/>
        </p:spPr>
        <p:txBody>
          <a:bodyPr wrap="square" rtlCol="0">
            <a:spAutoFit/>
          </a:bodyPr>
          <a:lstStyle/>
          <a:p>
            <a:pPr algn="l">
              <a:lnSpc>
                <a:spcPct val="100000"/>
              </a:lnSpc>
              <a:spcBef>
                <a:spcPts val="0"/>
              </a:spcBef>
            </a:pPr>
            <a:r>
              <a:rPr lang="zh-CN" altLang="en-US" sz="2000">
                <a:solidFill>
                  <a:srgbClr val="FF0000"/>
                </a:solidFill>
                <a:latin typeface="微软雅黑" pitchFamily="34" charset="-122"/>
                <a:ea typeface="微软雅黑" pitchFamily="34" charset="-122"/>
              </a:rPr>
              <a:t>答案</a:t>
            </a:r>
            <a:r>
              <a:rPr lang="zh-CN" altLang="en-US"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选择物品</a:t>
            </a:r>
            <a:r>
              <a:rPr lang="pt-BR"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、物品</a:t>
            </a:r>
            <a:r>
              <a:rPr lang="pt-BR"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和物品</a:t>
            </a:r>
            <a:r>
              <a:rPr lang="pt-BR" altLang="zh-CN" sz="2000">
                <a:solidFill>
                  <a:srgbClr val="0000FF"/>
                </a:solidFill>
                <a:latin typeface="Consolas" pitchFamily="49" charset="0"/>
                <a:ea typeface="仿宋" pitchFamily="49" charset="-122"/>
              </a:rPr>
              <a:t>3</a:t>
            </a:r>
            <a:r>
              <a:rPr lang="zh-CN" altLang="en-US"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最优总价值</a:t>
            </a:r>
            <a:r>
              <a:rPr lang="en-US" altLang="zh-CN" sz="2000">
                <a:solidFill>
                  <a:srgbClr val="0000FF"/>
                </a:solidFill>
                <a:latin typeface="Consolas" pitchFamily="49" charset="0"/>
                <a:ea typeface="仿宋" pitchFamily="49" charset="-122"/>
              </a:rPr>
              <a:t>:8</a:t>
            </a:r>
            <a:endParaRPr lang="zh-CN" altLang="en-US" sz="2000">
              <a:solidFill>
                <a:srgbClr val="0000FF"/>
              </a:solidFill>
              <a:latin typeface="Consolas" pitchFamily="49" charset="0"/>
              <a:ea typeface="仿宋" pitchFamily="49" charset="-122"/>
              <a:cs typeface="Consolas" pitchFamily="49" charset="0"/>
            </a:endParaRPr>
          </a:p>
        </p:txBody>
      </p:sp>
      <p:sp>
        <p:nvSpPr>
          <p:cNvPr id="77" name="灯片编号占位符 76"/>
          <p:cNvSpPr>
            <a:spLocks noGrp="1"/>
          </p:cNvSpPr>
          <p:nvPr>
            <p:ph type="sldNum" sz="quarter" idx="12"/>
          </p:nvPr>
        </p:nvSpPr>
        <p:spPr/>
        <p:txBody>
          <a:bodyPr/>
          <a:lstStyle/>
          <a:p>
            <a:fld id="{7AF016A1-9F15-429F-9EFD-84004B73C732}" type="slidenum">
              <a:rPr lang="en-US" altLang="zh-CN" smtClean="0"/>
              <a:pPr/>
              <a:t>64</a:t>
            </a:fld>
            <a:r>
              <a:rPr lang="en-US" altLang="zh-CN"/>
              <a:t>/91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376261"/>
            <a:ext cx="8429684" cy="319574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Consolas" pitchFamily="49" charset="0"/>
                <a:ea typeface="楷体" pitchFamily="49" charset="-122"/>
              </a:rPr>
              <a:t>【例</a:t>
            </a:r>
            <a:r>
              <a:rPr lang="pt-BR" altLang="zh-CN">
                <a:solidFill>
                  <a:srgbClr val="FF0000"/>
                </a:solidFill>
                <a:latin typeface="Consolas" pitchFamily="49" charset="0"/>
                <a:ea typeface="楷体" pitchFamily="49" charset="-122"/>
              </a:rPr>
              <a:t>2.11</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背包问题（</a:t>
            </a:r>
            <a:r>
              <a:rPr lang="en-US" altLang="zh-CN">
                <a:solidFill>
                  <a:srgbClr val="0000FF"/>
                </a:solidFill>
                <a:latin typeface="Consolas" pitchFamily="49" charset="0"/>
                <a:ea typeface="仿宋" pitchFamily="49" charset="-122"/>
              </a:rPr>
              <a:t>LintCode92</a:t>
            </a:r>
            <a:r>
              <a:rPr lang="zh-CN" altLang="zh-CN">
                <a:solidFill>
                  <a:srgbClr val="0000FF"/>
                </a:solidFill>
                <a:latin typeface="Consolas" pitchFamily="49" charset="0"/>
                <a:ea typeface="仿宋" pitchFamily="49" charset="-122"/>
              </a:rPr>
              <a:t>★★）。在</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个物品中挑选若干物品装入背包，最多能装多满？假设背包的大小为</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，每个物品的大小为</a:t>
            </a:r>
            <a:r>
              <a:rPr lang="en-US" altLang="zh-CN">
                <a:solidFill>
                  <a:srgbClr val="0000FF"/>
                </a:solidFill>
                <a:latin typeface="Consolas" pitchFamily="49" charset="0"/>
                <a:ea typeface="仿宋" pitchFamily="49" charset="-122"/>
              </a:rPr>
              <a:t>Ai</a:t>
            </a:r>
            <a:r>
              <a:rPr lang="zh-CN" altLang="zh-CN">
                <a:solidFill>
                  <a:srgbClr val="0000FF"/>
                </a:solidFill>
                <a:latin typeface="Consolas" pitchFamily="49" charset="0"/>
                <a:ea typeface="仿宋" pitchFamily="49" charset="-122"/>
              </a:rPr>
              <a:t>（每个物品只能选择一次），不可以将物品进行切割。</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A={3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9</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lvl="1" algn="l" defTabSz="360000">
              <a:lnSpc>
                <a:spcPts val="3200"/>
              </a:lnSpc>
              <a:spcBef>
                <a:spcPts val="600"/>
              </a:spcBef>
            </a:pPr>
            <a:r>
              <a:rPr lang="en-US" altLang="zh-CN" sz="2000">
                <a:solidFill>
                  <a:srgbClr val="006600"/>
                </a:solidFill>
                <a:latin typeface="Consolas" pitchFamily="49" charset="0"/>
                <a:ea typeface="仿宋" pitchFamily="49" charset="-122"/>
              </a:rPr>
              <a:t> int backPack(int m,vector&lt;int&gt; &amp;A) { }</a:t>
            </a:r>
            <a:endParaRPr lang="zh-CN" altLang="zh-CN" sz="2000">
              <a:solidFill>
                <a:srgbClr val="006600"/>
              </a:solidFill>
              <a:latin typeface="Consolas" pitchFamily="49" charset="0"/>
              <a:ea typeface="仿宋" pitchFamily="49" charset="-122"/>
            </a:endParaRPr>
          </a:p>
        </p:txBody>
      </p:sp>
      <p:grpSp>
        <p:nvGrpSpPr>
          <p:cNvPr id="4" name="组合 3"/>
          <p:cNvGrpSpPr/>
          <p:nvPr/>
        </p:nvGrpSpPr>
        <p:grpSpPr>
          <a:xfrm>
            <a:off x="571472" y="142852"/>
            <a:ext cx="1041400" cy="1044575"/>
            <a:chOff x="857224" y="1071546"/>
            <a:chExt cx="1041400" cy="1044575"/>
          </a:xfrm>
        </p:grpSpPr>
        <p:sp>
          <p:nvSpPr>
            <p:cNvPr id="5"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6"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65</a:t>
            </a:fld>
            <a:r>
              <a:rPr lang="en-US" altLang="zh-CN"/>
              <a:t>/91</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857232"/>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642910" y="1571612"/>
            <a:ext cx="7929618"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与</a:t>
            </a: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背包问题类似</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只是将</a:t>
            </a: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背包问题中求最大价值改为求满足容量限制的最大总</a:t>
            </a:r>
            <a:r>
              <a:rPr lang="zh-CN" altLang="en-US">
                <a:solidFill>
                  <a:srgbClr val="0000FF"/>
                </a:solidFill>
                <a:latin typeface="Consolas" pitchFamily="49" charset="0"/>
                <a:ea typeface="仿宋" pitchFamily="49" charset="-122"/>
              </a:rPr>
              <a:t>重量（大小）</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66</a:t>
            </a:fld>
            <a:r>
              <a:rPr lang="en-US" altLang="zh-CN"/>
              <a:t>/91</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8286808" cy="560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backPack</a:t>
            </a:r>
            <a:r>
              <a:rPr lang="en-US" altLang="zh-CN" sz="2000">
                <a:solidFill>
                  <a:srgbClr val="0000FF"/>
                </a:solidFill>
                <a:latin typeface="Consolas" pitchFamily="49" charset="0"/>
                <a:ea typeface="仿宋" pitchFamily="49" charset="-122"/>
              </a:rPr>
              <a:t>(int m,vector&lt;int&gt; &amp;A)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(A,0,m);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(vector&lt;int&gt; &amp;A,int i,int rm)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if(i&gt;=n || rm&lt;0) return 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maxw1=0;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if(rm&gt;=A[i])	maxw1=</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(A,i+1,rm-A[i])+A[i];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maxw2=</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(A,i+1,rm);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max(maxw1,maxw2);</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67</a:t>
            </a:fld>
            <a:r>
              <a:rPr lang="en-US" altLang="zh-CN"/>
              <a:t>/91</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3" cstate="print"/>
          <a:srcRect/>
          <a:stretch>
            <a:fillRect/>
          </a:stretch>
        </p:blipFill>
        <p:spPr bwMode="auto">
          <a:xfrm>
            <a:off x="642910" y="142852"/>
            <a:ext cx="1013635" cy="857256"/>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fld id="{7AF016A1-9F15-429F-9EFD-84004B73C732}" type="slidenum">
              <a:rPr lang="en-US" altLang="zh-CN" smtClean="0"/>
              <a:pPr/>
              <a:t>68</a:t>
            </a:fld>
            <a:r>
              <a:rPr lang="en-US" altLang="zh-CN"/>
              <a:t>/91</a:t>
            </a:r>
          </a:p>
        </p:txBody>
      </p:sp>
      <p:sp>
        <p:nvSpPr>
          <p:cNvPr id="7" name="TextBox 6"/>
          <p:cNvSpPr txBox="1"/>
          <p:nvPr/>
        </p:nvSpPr>
        <p:spPr>
          <a:xfrm>
            <a:off x="142844" y="1082979"/>
            <a:ext cx="8858312" cy="453265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4"/>
              </a:buBlip>
            </a:pPr>
            <a:r>
              <a:rPr lang="zh-CN" altLang="zh-CN">
                <a:solidFill>
                  <a:srgbClr val="0000FF"/>
                </a:solidFill>
                <a:latin typeface="Consolas" pitchFamily="49" charset="0"/>
                <a:ea typeface="仿宋" pitchFamily="49" charset="-122"/>
              </a:rPr>
              <a:t>上述程序提交时</a:t>
            </a:r>
            <a:r>
              <a:rPr lang="zh-CN" altLang="zh-CN">
                <a:solidFill>
                  <a:srgbClr val="FF0000"/>
                </a:solidFill>
                <a:latin typeface="Consolas" pitchFamily="49" charset="0"/>
                <a:ea typeface="仿宋" pitchFamily="49" charset="-122"/>
              </a:rPr>
              <a:t>超时</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Time Limit Exceeded</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4"/>
              </a:buBlip>
            </a:pPr>
            <a:r>
              <a:rPr lang="zh-CN" altLang="zh-CN">
                <a:solidFill>
                  <a:srgbClr val="0000FF"/>
                </a:solidFill>
                <a:latin typeface="Consolas" pitchFamily="49" charset="0"/>
                <a:ea typeface="仿宋" pitchFamily="49" charset="-122"/>
              </a:rPr>
              <a:t>用</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表示</a:t>
            </a:r>
            <a:r>
              <a:rPr lang="zh-CN" altLang="en-US">
                <a:solidFill>
                  <a:srgbClr val="0000FF"/>
                </a:solidFill>
                <a:latin typeface="Consolas" pitchFamily="49" charset="0"/>
                <a:ea typeface="仿宋" pitchFamily="49" charset="-122"/>
              </a:rPr>
              <a:t>考虑</a:t>
            </a:r>
            <a:r>
              <a:rPr lang="zh-CN" altLang="zh-CN">
                <a:solidFill>
                  <a:srgbClr val="0000FF"/>
                </a:solidFill>
                <a:latin typeface="Consolas" pitchFamily="49" charset="0"/>
                <a:ea typeface="仿宋" pitchFamily="49" charset="-122"/>
              </a:rPr>
              <a:t>物品</a:t>
            </a:r>
            <a:r>
              <a:rPr lang="pt-BR" altLang="zh-CN" i="1">
                <a:solidFill>
                  <a:srgbClr val="0000FF"/>
                </a:solidFill>
                <a:latin typeface="Consolas" pitchFamily="49" charset="0"/>
                <a:ea typeface="仿宋" pitchFamily="49" charset="-122"/>
              </a:rPr>
              <a:t>i</a:t>
            </a:r>
            <a:r>
              <a:rPr lang="zh-CN" altLang="pt-BR" i="1">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并且背包剩余容量为</a:t>
            </a:r>
            <a:r>
              <a:rPr lang="pt-BR" altLang="zh-CN">
                <a:solidFill>
                  <a:srgbClr val="0000FF"/>
                </a:solidFill>
                <a:latin typeface="Consolas" pitchFamily="49" charset="0"/>
                <a:ea typeface="仿宋" pitchFamily="49" charset="-122"/>
              </a:rPr>
              <a:t>r</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时装入背包的最大物品总重量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4"/>
              </a:buBlip>
            </a:pPr>
            <a:r>
              <a:rPr lang="zh-CN" altLang="zh-CN">
                <a:solidFill>
                  <a:srgbClr val="0000FF"/>
                </a:solidFill>
                <a:latin typeface="Consolas" pitchFamily="49" charset="0"/>
                <a:ea typeface="仿宋" pitchFamily="49" charset="-122"/>
              </a:rPr>
              <a:t>大问题</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转换为若干小问题，超时的原因是其中存在大量重复计算的小问题</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可能重复计算</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次。</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4"/>
              </a:buBlip>
            </a:pPr>
            <a:r>
              <a:rPr lang="zh-CN" altLang="zh-CN">
                <a:solidFill>
                  <a:srgbClr val="0000FF"/>
                </a:solidFill>
                <a:latin typeface="Consolas" pitchFamily="49" charset="0"/>
                <a:ea typeface="仿宋" pitchFamily="49" charset="-122"/>
              </a:rPr>
              <a:t>为了避免重复计算，设计一个二维数组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，用</a:t>
            </a:r>
            <a:r>
              <a:rPr lang="en-US" altLang="zh-CN">
                <a:solidFill>
                  <a:srgbClr val="FF0000"/>
                </a:solidFill>
                <a:latin typeface="Consolas" pitchFamily="49" charset="0"/>
                <a:ea typeface="仿宋" pitchFamily="49" charset="-122"/>
              </a:rPr>
              <a:t>dp[</a:t>
            </a:r>
            <a:r>
              <a:rPr lang="en-US" altLang="zh-CN" i="1">
                <a:solidFill>
                  <a:srgbClr val="FF0000"/>
                </a:solidFill>
                <a:latin typeface="Consolas" pitchFamily="49" charset="0"/>
                <a:ea typeface="仿宋" pitchFamily="49" charset="-122"/>
              </a:rPr>
              <a:t>i</a:t>
            </a:r>
            <a:r>
              <a:rPr lang="en-US" altLang="zh-CN">
                <a:solidFill>
                  <a:srgbClr val="FF0000"/>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存放</a:t>
            </a:r>
            <a:r>
              <a:rPr lang="en-US" altLang="zh-CN" i="1">
                <a:solidFill>
                  <a:srgbClr val="FF0000"/>
                </a:solidFill>
                <a:latin typeface="Consolas" pitchFamily="49" charset="0"/>
                <a:ea typeface="仿宋" pitchFamily="49" charset="-122"/>
              </a:rPr>
              <a:t>f</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i</a:t>
            </a:r>
            <a:r>
              <a:rPr lang="zh-CN" altLang="zh-CN">
                <a:solidFill>
                  <a:srgbClr val="FF0000"/>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的结果，初始化</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所有元素为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，一旦</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已经求出，置</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为</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rm)</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4"/>
              </a:buBlip>
            </a:pPr>
            <a:r>
              <a:rPr lang="zh-CN" altLang="zh-CN">
                <a:solidFill>
                  <a:srgbClr val="0000FF"/>
                </a:solidFill>
                <a:latin typeface="Consolas" pitchFamily="49" charset="0"/>
                <a:ea typeface="仿宋" pitchFamily="49" charset="-122"/>
              </a:rPr>
              <a:t>在求一个</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子问题时，先判断</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是否等于</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，若不是说明该子问题已经求出，直接返回</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][rm]</a:t>
            </a:r>
            <a:r>
              <a:rPr lang="zh-CN" altLang="zh-CN">
                <a:solidFill>
                  <a:srgbClr val="0000FF"/>
                </a:solidFill>
                <a:latin typeface="Consolas" pitchFamily="49" charset="0"/>
                <a:ea typeface="仿宋" pitchFamily="49" charset="-122"/>
              </a:rPr>
              <a:t>即可。</a:t>
            </a:r>
            <a:endParaRPr lang="zh-CN" altLang="en-US">
              <a:solidFill>
                <a:srgbClr val="0000FF"/>
              </a:solidFill>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14356"/>
            <a:ext cx="8286808" cy="391142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class Solution {</a:t>
            </a:r>
          </a:p>
          <a:p>
            <a:pPr algn="l" defTabSz="360000">
              <a:lnSpc>
                <a:spcPts val="3200"/>
              </a:lnSpc>
              <a:spcBef>
                <a:spcPts val="0"/>
              </a:spcBef>
            </a:pPr>
            <a:r>
              <a:rPr lang="en-US" altLang="zh-CN" sz="2000">
                <a:solidFill>
                  <a:srgbClr val="0000FF"/>
                </a:solidFill>
                <a:latin typeface="Consolas" pitchFamily="49" charset="0"/>
                <a:ea typeface="仿宋" pitchFamily="49" charset="-122"/>
              </a:rPr>
              <a:t>	vector&lt;vector&lt;int&gt;&gt; dp;</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backPack</a:t>
            </a:r>
            <a:r>
              <a:rPr lang="en-US" altLang="zh-CN" sz="2000">
                <a:solidFill>
                  <a:srgbClr val="0000FF"/>
                </a:solidFill>
                <a:latin typeface="Consolas" pitchFamily="49" charset="0"/>
                <a:ea typeface="仿宋" pitchFamily="49" charset="-122"/>
              </a:rPr>
              <a:t>(int m,vector&lt;int&gt; &amp;A)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3200"/>
              </a:lnSpc>
              <a:spcBef>
                <a:spcPts val="0"/>
              </a:spcBef>
            </a:pPr>
            <a:r>
              <a:rPr lang="en-US" altLang="zh-CN" sz="2000">
                <a:solidFill>
                  <a:srgbClr val="0000FF"/>
                </a:solidFill>
                <a:latin typeface="Consolas" pitchFamily="49" charset="0"/>
                <a:ea typeface="仿宋" pitchFamily="49" charset="-122"/>
              </a:rPr>
              <a:t>   	n=A.size();</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dp=vector&lt;vector&lt;int&gt;&gt;(n+1,vector&lt;int&gt;(m+1,-1));</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(A,0,m);</a:t>
            </a: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69</a:t>
            </a:fld>
            <a:r>
              <a:rPr lang="en-US" altLang="zh-CN"/>
              <a:t>/91</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42852"/>
            <a:ext cx="8286808" cy="488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(vector&lt;int&gt; &amp;A,int i,int rm) {			//</a:t>
            </a:r>
            <a:r>
              <a:rPr lang="zh-CN" altLang="zh-CN" sz="2000">
                <a:solidFill>
                  <a:srgbClr val="0000FF"/>
                </a:solidFill>
                <a:latin typeface="Consolas" pitchFamily="49" charset="0"/>
                <a:ea typeface="仿宋" pitchFamily="49" charset="-122"/>
              </a:rPr>
              <a:t>递归算法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dp[i][rm]!=-1</a:t>
            </a:r>
            <a:r>
              <a:rPr lang="en-US" altLang="zh-CN" sz="2000">
                <a:solidFill>
                  <a:srgbClr val="0000FF"/>
                </a:solidFill>
                <a:latin typeface="Consolas" pitchFamily="49" charset="0"/>
                <a:ea typeface="仿宋" pitchFamily="49" charset="-122"/>
              </a:rPr>
              <a:t>)	return dp[i][rm];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i&gt;=n || rm&lt;0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dp[i][rm]=0;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maxw1=0;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if(rm&gt;=A[i]) maxw1=A[i]+</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(A,i+1,rm-A[i]);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maxw2=</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(A,i+1,rm);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dp[i][rm]=max(maxw1,maxw2);</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dp[i][rm];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928694" y="5357826"/>
            <a:ext cx="7072330" cy="461665"/>
            <a:chOff x="1071538" y="6286520"/>
            <a:chExt cx="7072330" cy="461665"/>
          </a:xfrm>
        </p:grpSpPr>
        <p:sp>
          <p:nvSpPr>
            <p:cNvPr id="5" name="TextBox 4"/>
            <p:cNvSpPr txBox="1"/>
            <p:nvPr/>
          </p:nvSpPr>
          <p:spPr>
            <a:xfrm>
              <a:off x="1928762"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605ms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35.76MB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70</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hlinkClick r:id="" action="ppaction://noaction"/>
          </p:cNvPr>
          <p:cNvSpPr txBox="1"/>
          <p:nvPr/>
        </p:nvSpPr>
        <p:spPr>
          <a:xfrm>
            <a:off x="2643174" y="428604"/>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2.5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求表达式值</a:t>
            </a:r>
          </a:p>
        </p:txBody>
      </p:sp>
      <p:sp>
        <p:nvSpPr>
          <p:cNvPr id="4" name="TextBox 3"/>
          <p:cNvSpPr txBox="1"/>
          <p:nvPr/>
        </p:nvSpPr>
        <p:spPr>
          <a:xfrm>
            <a:off x="357158" y="1571612"/>
            <a:ext cx="8358246" cy="455509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300"/>
              </a:lnSpc>
              <a:spcBef>
                <a:spcPts val="60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楷体" pitchFamily="49" charset="-122"/>
                <a:ea typeface="楷体" pitchFamily="49" charset="-122"/>
              </a:rPr>
              <a:t>：</a:t>
            </a:r>
            <a:r>
              <a:rPr lang="zh-CN" altLang="zh-CN">
                <a:solidFill>
                  <a:srgbClr val="0000FF"/>
                </a:solidFill>
                <a:latin typeface="Consolas" pitchFamily="49" charset="0"/>
                <a:ea typeface="仿宋" pitchFamily="49" charset="-122"/>
              </a:rPr>
              <a:t>基本计算器（</a:t>
            </a:r>
            <a:r>
              <a:rPr lang="en-US" altLang="zh-CN">
                <a:solidFill>
                  <a:srgbClr val="0000FF"/>
                </a:solidFill>
                <a:latin typeface="Consolas" pitchFamily="49" charset="0"/>
                <a:ea typeface="仿宋" pitchFamily="49" charset="-122"/>
              </a:rPr>
              <a:t>LeetCode224</a:t>
            </a:r>
            <a:r>
              <a:rPr lang="zh-CN" altLang="zh-CN">
                <a:solidFill>
                  <a:srgbClr val="0000FF"/>
                </a:solidFill>
                <a:latin typeface="Consolas" pitchFamily="49" charset="0"/>
                <a:ea typeface="仿宋" pitchFamily="49" charset="-122"/>
              </a:rPr>
              <a:t>★★★）。给定一个长度为</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300000</a:t>
            </a:r>
            <a:r>
              <a:rPr lang="zh-CN" altLang="zh-CN">
                <a:solidFill>
                  <a:srgbClr val="0000FF"/>
                </a:solidFill>
                <a:latin typeface="Consolas" pitchFamily="49" charset="0"/>
                <a:ea typeface="仿宋" pitchFamily="49" charset="-122"/>
              </a:rPr>
              <a:t>）字符串表达式</a:t>
            </a:r>
            <a:r>
              <a:rPr lang="en-US" altLang="zh-CN">
                <a:solidFill>
                  <a:srgbClr val="0000FF"/>
                </a:solidFill>
                <a:latin typeface="Consolas" pitchFamily="49" charset="0"/>
                <a:ea typeface="仿宋" pitchFamily="49" charset="-122"/>
              </a:rPr>
              <a:t>s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是仅由整数、</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、和空格组成的一个有效算术表达式，其中</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不能用作一元运算（例如，</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"+(2+3)"</a:t>
            </a:r>
            <a:r>
              <a:rPr lang="zh-CN" altLang="zh-CN">
                <a:solidFill>
                  <a:srgbClr val="0000FF"/>
                </a:solidFill>
                <a:latin typeface="Consolas" pitchFamily="49" charset="0"/>
                <a:ea typeface="仿宋" pitchFamily="49" charset="-122"/>
              </a:rPr>
              <a:t>是无效），而</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可以用作一元运算（例如，</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"-(2+3)"</a:t>
            </a:r>
            <a:r>
              <a:rPr lang="zh-CN" altLang="zh-CN">
                <a:solidFill>
                  <a:srgbClr val="0000FF"/>
                </a:solidFill>
                <a:latin typeface="Consolas" pitchFamily="49" charset="0"/>
                <a:ea typeface="仿宋" pitchFamily="49" charset="-122"/>
              </a:rPr>
              <a:t>是有效的），所有整数和计算结果均可以用</a:t>
            </a:r>
            <a:r>
              <a:rPr lang="en-US" altLang="zh-CN">
                <a:solidFill>
                  <a:srgbClr val="0000FF"/>
                </a:solidFill>
                <a:latin typeface="Consolas" pitchFamily="49" charset="0"/>
                <a:ea typeface="仿宋" pitchFamily="49" charset="-122"/>
              </a:rPr>
              <a:t>int</a:t>
            </a:r>
            <a:r>
              <a:rPr lang="zh-CN" altLang="zh-CN">
                <a:solidFill>
                  <a:srgbClr val="0000FF"/>
                </a:solidFill>
                <a:latin typeface="Consolas" pitchFamily="49" charset="0"/>
                <a:ea typeface="仿宋" pitchFamily="49" charset="-122"/>
              </a:rPr>
              <a:t>表示。实现一个基本计算器来计算并返回字符串</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的值。</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s="(1+(4+5+2)-3)+(6+8)"</a:t>
            </a:r>
            <a:r>
              <a:rPr lang="zh-CN" altLang="zh-CN">
                <a:solidFill>
                  <a:srgbClr val="0000FF"/>
                </a:solidFill>
                <a:latin typeface="Consolas" pitchFamily="49" charset="0"/>
                <a:ea typeface="仿宋" pitchFamily="49" charset="-122"/>
              </a:rPr>
              <a:t>，返回表达式值是</a:t>
            </a:r>
            <a:r>
              <a:rPr lang="en-US" altLang="zh-CN">
                <a:solidFill>
                  <a:srgbClr val="0000FF"/>
                </a:solidFill>
                <a:latin typeface="Consolas" pitchFamily="49" charset="0"/>
                <a:ea typeface="仿宋" pitchFamily="49" charset="-122"/>
              </a:rPr>
              <a:t>23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int calculate(string s) { }</a:t>
            </a:r>
            <a:endParaRPr lang="zh-CN" altLang="zh-CN" sz="2000">
              <a:solidFill>
                <a:srgbClr val="006600"/>
              </a:solidFill>
              <a:latin typeface="Consolas" pitchFamily="49" charset="0"/>
              <a:ea typeface="仿宋" pitchFamily="49" charset="-122"/>
            </a:endParaRPr>
          </a:p>
        </p:txBody>
      </p:sp>
      <p:grpSp>
        <p:nvGrpSpPr>
          <p:cNvPr id="6" name="组合 5"/>
          <p:cNvGrpSpPr/>
          <p:nvPr/>
        </p:nvGrpSpPr>
        <p:grpSpPr>
          <a:xfrm>
            <a:off x="1000100" y="428604"/>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71</a:t>
            </a:fld>
            <a:r>
              <a:rPr lang="en-US" altLang="zh-CN"/>
              <a:t>/91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857232"/>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642910" y="1571612"/>
            <a:ext cx="7929618" cy="363240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用整数变量</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存放表达式</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的值（初始为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表达式</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中仅包含</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运算符，它们的优先级相同，如果</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中没有括号，可以将</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分割为</a:t>
            </a:r>
            <a:r>
              <a:rPr lang="en-US" altLang="zh-CN">
                <a:solidFill>
                  <a:srgbClr val="0000FF"/>
                </a:solidFill>
                <a:latin typeface="Consolas" pitchFamily="49" charset="0"/>
                <a:ea typeface="仿宋" pitchFamily="49" charset="-122"/>
              </a:rPr>
              <a:t>sign d</a:t>
            </a:r>
            <a:r>
              <a:rPr lang="zh-CN" altLang="zh-CN">
                <a:solidFill>
                  <a:srgbClr val="0000FF"/>
                </a:solidFill>
                <a:latin typeface="Consolas" pitchFamily="49" charset="0"/>
                <a:ea typeface="仿宋" pitchFamily="49" charset="-122"/>
              </a:rPr>
              <a:t>序列，其中</a:t>
            </a:r>
            <a:r>
              <a:rPr lang="en-US" altLang="zh-CN">
                <a:solidFill>
                  <a:srgbClr val="0000FF"/>
                </a:solidFill>
                <a:latin typeface="Consolas" pitchFamily="49" charset="0"/>
                <a:ea typeface="仿宋" pitchFamily="49" charset="-122"/>
              </a:rPr>
              <a:t>sign</a:t>
            </a:r>
            <a:r>
              <a:rPr lang="zh-CN" altLang="zh-CN">
                <a:solidFill>
                  <a:srgbClr val="0000FF"/>
                </a:solidFill>
                <a:latin typeface="Consolas" pitchFamily="49" charset="0"/>
                <a:ea typeface="仿宋" pitchFamily="49" charset="-122"/>
              </a:rPr>
              <a:t>为整数</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的符号（</a:t>
            </a:r>
            <a:r>
              <a:rPr lang="en-US" altLang="zh-CN">
                <a:solidFill>
                  <a:srgbClr val="0000FF"/>
                </a:solidFill>
                <a:latin typeface="Consolas" pitchFamily="49" charset="0"/>
                <a:ea typeface="仿宋" pitchFamily="49" charset="-122"/>
              </a:rPr>
              <a:t>sign=1</a:t>
            </a:r>
            <a:r>
              <a:rPr lang="zh-CN" altLang="zh-CN">
                <a:solidFill>
                  <a:srgbClr val="0000FF"/>
                </a:solidFill>
                <a:latin typeface="Consolas" pitchFamily="49" charset="0"/>
                <a:ea typeface="仿宋" pitchFamily="49" charset="-122"/>
              </a:rPr>
              <a:t>表示</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sign=-1</a:t>
            </a:r>
            <a:r>
              <a:rPr lang="zh-CN" altLang="zh-CN">
                <a:solidFill>
                  <a:srgbClr val="0000FF"/>
                </a:solidFill>
                <a:latin typeface="Consolas" pitchFamily="49" charset="0"/>
                <a:ea typeface="仿宋" pitchFamily="49" charset="-122"/>
              </a:rPr>
              <a:t>表示</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s="1-5+8"</a:t>
            </a:r>
            <a:r>
              <a:rPr lang="zh-CN" altLang="zh-CN">
                <a:solidFill>
                  <a:srgbClr val="0000FF"/>
                </a:solidFill>
                <a:latin typeface="Consolas" pitchFamily="49" charset="0"/>
                <a:ea typeface="仿宋" pitchFamily="49" charset="-122"/>
              </a:rPr>
              <a:t>可以分割为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，这样表达式值</a:t>
            </a:r>
            <a:r>
              <a:rPr lang="en-US" altLang="zh-CN">
                <a:solidFill>
                  <a:srgbClr val="0000FF"/>
                </a:solidFill>
                <a:latin typeface="Consolas" pitchFamily="49" charset="0"/>
                <a:ea typeface="仿宋" pitchFamily="49" charset="-122"/>
              </a:rPr>
              <a:t>=(+1)+(-5)+(+8)=4</a:t>
            </a:r>
            <a:r>
              <a:rPr lang="zh-CN" altLang="zh-CN">
                <a:solidFill>
                  <a:srgbClr val="0000FF"/>
                </a:solidFill>
                <a:latin typeface="Consolas" pitchFamily="49" charset="0"/>
                <a:ea typeface="仿宋" pitchFamily="49" charset="-122"/>
              </a:rPr>
              <a:t>。也就是说将所有分割的整数相加得到最后结果</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72</a:t>
            </a:fld>
            <a:r>
              <a:rPr lang="en-US" altLang="zh-CN"/>
              <a:t>/91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857232"/>
            <a:ext cx="800105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中存在括号，任何一个匹配的括号对中也是一个有效算术表达式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可以采用</a:t>
            </a:r>
            <a:r>
              <a:rPr lang="en-US" altLang="zh-CN">
                <a:solidFill>
                  <a:srgbClr val="0000FF"/>
                </a:solidFill>
                <a:latin typeface="Consolas" pitchFamily="49" charset="0"/>
                <a:ea typeface="仿宋" pitchFamily="49" charset="-122"/>
              </a:rPr>
              <a:t>BNF</a:t>
            </a:r>
            <a:r>
              <a:rPr lang="zh-CN" altLang="zh-CN">
                <a:solidFill>
                  <a:srgbClr val="0000FF"/>
                </a:solidFill>
                <a:latin typeface="Consolas" pitchFamily="49" charset="0"/>
                <a:ea typeface="仿宋" pitchFamily="49" charset="-122"/>
              </a:rPr>
              <a:t>范式表示有效算术表达式</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如下（其中</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是整数串）：</a:t>
            </a:r>
          </a:p>
        </p:txBody>
      </p:sp>
      <p:sp>
        <p:nvSpPr>
          <p:cNvPr id="4" name="TextBox 3"/>
          <p:cNvSpPr txBox="1"/>
          <p:nvPr/>
        </p:nvSpPr>
        <p:spPr>
          <a:xfrm>
            <a:off x="1857356" y="3000372"/>
            <a:ext cx="3000396" cy="160310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52000" tIns="108000" bIns="108000" rtlCol="0">
            <a:spAutoFit/>
          </a:bodyPr>
          <a:lstStyle/>
          <a:p>
            <a:pPr algn="l">
              <a:lnSpc>
                <a:spcPts val="3200"/>
              </a:lnSpc>
              <a:spcBef>
                <a:spcPts val="600"/>
              </a:spcBef>
            </a:pP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:=d</a:t>
            </a:r>
            <a:endParaRPr lang="zh-CN"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s </a:t>
            </a:r>
            <a:r>
              <a:rPr lang="en-US" altLang="zh-CN">
                <a:solidFill>
                  <a:srgbClr val="0000FF"/>
                </a:solidFill>
                <a:latin typeface="Consolas" pitchFamily="49" charset="0"/>
                <a:ea typeface="仿宋" pitchFamily="49" charset="-122"/>
              </a:rPr>
              <a:t>| </a:t>
            </a: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s</a:t>
            </a:r>
            <a:endParaRPr lang="zh-CN" altLang="zh-CN">
              <a:solidFill>
                <a:srgbClr val="C00000"/>
              </a:solidFill>
              <a:latin typeface="Consolas" pitchFamily="49" charset="0"/>
              <a:ea typeface="仿宋" pitchFamily="49" charset="-122"/>
            </a:endParaRPr>
          </a:p>
          <a:p>
            <a:pPr algn="l">
              <a:lnSpc>
                <a:spcPts val="3200"/>
              </a:lnSpc>
              <a:spcBef>
                <a:spcPts val="600"/>
              </a:spcBef>
            </a:pP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73</a:t>
            </a:fld>
            <a:r>
              <a:rPr lang="en-US" altLang="zh-CN"/>
              <a:t>/91</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14"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4" name="组合 33"/>
          <p:cNvGrpSpPr/>
          <p:nvPr/>
        </p:nvGrpSpPr>
        <p:grpSpPr>
          <a:xfrm>
            <a:off x="571472" y="928670"/>
            <a:ext cx="7977278" cy="5526354"/>
            <a:chOff x="726237" y="1008918"/>
            <a:chExt cx="7977278" cy="5526354"/>
          </a:xfrm>
        </p:grpSpPr>
        <p:sp>
          <p:nvSpPr>
            <p:cNvPr id="42012" name="Rectangle 28"/>
            <p:cNvSpPr>
              <a:spLocks noChangeArrowheads="1"/>
            </p:cNvSpPr>
            <p:nvPr/>
          </p:nvSpPr>
          <p:spPr bwMode="auto">
            <a:xfrm>
              <a:off x="3472513" y="1008918"/>
              <a:ext cx="3059839"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s="(1+(4+5+2)-3)+(6+8)"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endParaRPr>
            </a:p>
          </p:txBody>
        </p:sp>
        <p:sp>
          <p:nvSpPr>
            <p:cNvPr id="42011" name="Rectangle 27"/>
            <p:cNvSpPr>
              <a:spLocks noChangeArrowheads="1"/>
            </p:cNvSpPr>
            <p:nvPr/>
          </p:nvSpPr>
          <p:spPr bwMode="auto">
            <a:xfrm>
              <a:off x="1494540" y="2115731"/>
              <a:ext cx="2480268"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="(1+(4+5+2)-3)"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2</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p>
          </p:txBody>
        </p:sp>
        <p:sp>
          <p:nvSpPr>
            <p:cNvPr id="42010" name="Rectangle 26"/>
            <p:cNvSpPr>
              <a:spLocks noChangeArrowheads="1"/>
            </p:cNvSpPr>
            <p:nvPr/>
          </p:nvSpPr>
          <p:spPr bwMode="auto">
            <a:xfrm>
              <a:off x="6652725" y="2115731"/>
              <a:ext cx="1717909"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10</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10</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p>
          </p:txBody>
        </p:sp>
        <p:sp>
          <p:nvSpPr>
            <p:cNvPr id="42009" name="Rectangle 25"/>
            <p:cNvSpPr>
              <a:spLocks noChangeArrowheads="1"/>
            </p:cNvSpPr>
            <p:nvPr/>
          </p:nvSpPr>
          <p:spPr bwMode="auto">
            <a:xfrm>
              <a:off x="1614913" y="3002282"/>
              <a:ext cx="2267758"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="1+(4+5+2)-3"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2</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3</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4</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endParaRPr>
            </a:p>
          </p:txBody>
        </p:sp>
        <p:sp>
          <p:nvSpPr>
            <p:cNvPr id="42008" name="Rectangle 24"/>
            <p:cNvSpPr>
              <a:spLocks noChangeArrowheads="1"/>
            </p:cNvSpPr>
            <p:nvPr/>
          </p:nvSpPr>
          <p:spPr bwMode="auto">
            <a:xfrm>
              <a:off x="726237" y="4228036"/>
              <a:ext cx="795053"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007" name="Rectangle 23"/>
            <p:cNvSpPr>
              <a:spLocks noChangeArrowheads="1"/>
            </p:cNvSpPr>
            <p:nvPr/>
          </p:nvSpPr>
          <p:spPr bwMode="auto">
            <a:xfrm>
              <a:off x="1888351" y="4109095"/>
              <a:ext cx="1717909"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4</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="(4+5+2)"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4</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6</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p>
          </p:txBody>
        </p:sp>
        <p:sp>
          <p:nvSpPr>
            <p:cNvPr id="42006" name="Rectangle 22"/>
            <p:cNvSpPr>
              <a:spLocks noChangeArrowheads="1"/>
            </p:cNvSpPr>
            <p:nvPr/>
          </p:nvSpPr>
          <p:spPr bwMode="auto">
            <a:xfrm>
              <a:off x="3974808" y="4228036"/>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5</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005" name="Rectangle 21"/>
            <p:cNvSpPr>
              <a:spLocks noChangeArrowheads="1"/>
            </p:cNvSpPr>
            <p:nvPr/>
          </p:nvSpPr>
          <p:spPr bwMode="auto">
            <a:xfrm>
              <a:off x="1821478" y="5052914"/>
              <a:ext cx="1875433"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6</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="4+5+2"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6</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7</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8</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9</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endParaRPr>
            </a:p>
          </p:txBody>
        </p:sp>
        <p:sp>
          <p:nvSpPr>
            <p:cNvPr id="42004" name="Rectangle 20"/>
            <p:cNvSpPr>
              <a:spLocks noChangeArrowheads="1"/>
            </p:cNvSpPr>
            <p:nvPr/>
          </p:nvSpPr>
          <p:spPr bwMode="auto">
            <a:xfrm>
              <a:off x="776763" y="6087040"/>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7</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003" name="Rectangle 19"/>
            <p:cNvSpPr>
              <a:spLocks noChangeArrowheads="1"/>
            </p:cNvSpPr>
            <p:nvPr/>
          </p:nvSpPr>
          <p:spPr bwMode="auto">
            <a:xfrm>
              <a:off x="2295537" y="6087040"/>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8</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002" name="Rectangle 18"/>
            <p:cNvSpPr>
              <a:spLocks noChangeArrowheads="1"/>
            </p:cNvSpPr>
            <p:nvPr/>
          </p:nvSpPr>
          <p:spPr bwMode="auto">
            <a:xfrm>
              <a:off x="3753382" y="6087040"/>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9</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001" name="Rectangle 17"/>
            <p:cNvSpPr>
              <a:spLocks noChangeArrowheads="1"/>
            </p:cNvSpPr>
            <p:nvPr/>
          </p:nvSpPr>
          <p:spPr bwMode="auto">
            <a:xfrm>
              <a:off x="6652725" y="3002282"/>
              <a:ext cx="1717909" cy="6872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36000" tIns="0" rIns="3600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11</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12</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sym typeface="Wingdings" pitchFamily="2" charset="2"/>
                </a:rPr>
                <a:t>13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sym typeface="Wingdings" pitchFamily="2" charset="2"/>
              </a:endParaRPr>
            </a:p>
          </p:txBody>
        </p:sp>
        <p:sp>
          <p:nvSpPr>
            <p:cNvPr id="42000" name="Rectangle 16"/>
            <p:cNvSpPr>
              <a:spLocks noChangeArrowheads="1"/>
            </p:cNvSpPr>
            <p:nvPr/>
          </p:nvSpPr>
          <p:spPr bwMode="auto">
            <a:xfrm>
              <a:off x="6300524" y="4228036"/>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12</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999" name="Rectangle 15"/>
            <p:cNvSpPr>
              <a:spLocks noChangeArrowheads="1"/>
            </p:cNvSpPr>
            <p:nvPr/>
          </p:nvSpPr>
          <p:spPr bwMode="auto">
            <a:xfrm>
              <a:off x="7758368" y="4228036"/>
              <a:ext cx="945147" cy="448232"/>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13</a:t>
              </a: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998" name="AutoShape 14"/>
            <p:cNvSpPr>
              <a:spLocks noChangeShapeType="1"/>
            </p:cNvSpPr>
            <p:nvPr/>
          </p:nvSpPr>
          <p:spPr bwMode="auto">
            <a:xfrm flipH="1">
              <a:off x="2735417" y="1696133"/>
              <a:ext cx="2267758" cy="41959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7" name="AutoShape 13"/>
            <p:cNvSpPr>
              <a:spLocks noChangeShapeType="1"/>
            </p:cNvSpPr>
            <p:nvPr/>
          </p:nvSpPr>
          <p:spPr bwMode="auto">
            <a:xfrm>
              <a:off x="5003176" y="1696133"/>
              <a:ext cx="2508503" cy="41959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6" name="AutoShape 12"/>
            <p:cNvSpPr>
              <a:spLocks noChangeShapeType="1"/>
            </p:cNvSpPr>
            <p:nvPr/>
          </p:nvSpPr>
          <p:spPr bwMode="auto">
            <a:xfrm>
              <a:off x="2735417" y="2802946"/>
              <a:ext cx="13375" cy="19933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5" name="AutoShape 11"/>
            <p:cNvSpPr>
              <a:spLocks noChangeShapeType="1"/>
            </p:cNvSpPr>
            <p:nvPr/>
          </p:nvSpPr>
          <p:spPr bwMode="auto">
            <a:xfrm>
              <a:off x="7511679" y="2802946"/>
              <a:ext cx="1486" cy="199336"/>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4" name="AutoShape 10"/>
            <p:cNvSpPr>
              <a:spLocks noChangeShapeType="1"/>
            </p:cNvSpPr>
            <p:nvPr/>
          </p:nvSpPr>
          <p:spPr bwMode="auto">
            <a:xfrm flipH="1">
              <a:off x="6773097" y="3689497"/>
              <a:ext cx="738582" cy="53853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3" name="AutoShape 9"/>
            <p:cNvSpPr>
              <a:spLocks noChangeShapeType="1"/>
            </p:cNvSpPr>
            <p:nvPr/>
          </p:nvSpPr>
          <p:spPr bwMode="auto">
            <a:xfrm>
              <a:off x="7511679" y="3689497"/>
              <a:ext cx="719263" cy="53853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2" name="AutoShape 8"/>
            <p:cNvSpPr>
              <a:spLocks noChangeShapeType="1"/>
            </p:cNvSpPr>
            <p:nvPr/>
          </p:nvSpPr>
          <p:spPr bwMode="auto">
            <a:xfrm flipH="1">
              <a:off x="2747306" y="3689497"/>
              <a:ext cx="1486" cy="419598"/>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1" name="AutoShape 7"/>
            <p:cNvSpPr>
              <a:spLocks noChangeShapeType="1"/>
            </p:cNvSpPr>
            <p:nvPr/>
          </p:nvSpPr>
          <p:spPr bwMode="auto">
            <a:xfrm flipH="1">
              <a:off x="1124506" y="3689497"/>
              <a:ext cx="1624286" cy="53853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90" name="AutoShape 6"/>
            <p:cNvSpPr>
              <a:spLocks noChangeShapeType="1"/>
            </p:cNvSpPr>
            <p:nvPr/>
          </p:nvSpPr>
          <p:spPr bwMode="auto">
            <a:xfrm>
              <a:off x="2748792" y="3689497"/>
              <a:ext cx="1698590" cy="53853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89" name="AutoShape 5"/>
            <p:cNvSpPr>
              <a:spLocks noChangeShapeType="1"/>
            </p:cNvSpPr>
            <p:nvPr/>
          </p:nvSpPr>
          <p:spPr bwMode="auto">
            <a:xfrm>
              <a:off x="2747306" y="4796310"/>
              <a:ext cx="11889" cy="256604"/>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88" name="AutoShape 4"/>
            <p:cNvSpPr>
              <a:spLocks noChangeShapeType="1"/>
            </p:cNvSpPr>
            <p:nvPr/>
          </p:nvSpPr>
          <p:spPr bwMode="auto">
            <a:xfrm>
              <a:off x="2759194" y="5740129"/>
              <a:ext cx="8916" cy="346911"/>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87" name="AutoShape 3"/>
            <p:cNvSpPr>
              <a:spLocks noChangeShapeType="1"/>
            </p:cNvSpPr>
            <p:nvPr/>
          </p:nvSpPr>
          <p:spPr bwMode="auto">
            <a:xfrm flipH="1">
              <a:off x="1249337" y="5740129"/>
              <a:ext cx="1509858" cy="346911"/>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sp>
          <p:nvSpPr>
            <p:cNvPr id="41986" name="AutoShape 2"/>
            <p:cNvSpPr>
              <a:spLocks noChangeShapeType="1"/>
            </p:cNvSpPr>
            <p:nvPr/>
          </p:nvSpPr>
          <p:spPr bwMode="auto">
            <a:xfrm>
              <a:off x="2759194" y="5740129"/>
              <a:ext cx="1466761" cy="346911"/>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ndParaRPr>
            </a:p>
          </p:txBody>
        </p:sp>
      </p:grpSp>
      <p:sp>
        <p:nvSpPr>
          <p:cNvPr id="33" name="TextBox 32"/>
          <p:cNvSpPr txBox="1"/>
          <p:nvPr/>
        </p:nvSpPr>
        <p:spPr>
          <a:xfrm>
            <a:off x="500034" y="214290"/>
            <a:ext cx="6929486" cy="461665"/>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s="(1+(4+5+2)-3)+(6+8)"</a:t>
            </a: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BNF</a:t>
            </a:r>
            <a:r>
              <a:rPr lang="zh-CN" altLang="zh-CN">
                <a:solidFill>
                  <a:srgbClr val="0000FF"/>
                </a:solidFill>
                <a:latin typeface="Consolas" pitchFamily="49" charset="0"/>
                <a:ea typeface="仿宋" pitchFamily="49" charset="-122"/>
              </a:rPr>
              <a:t>范式表示</a:t>
            </a:r>
            <a:endParaRPr lang="zh-CN" altLang="en-US">
              <a:solidFill>
                <a:srgbClr val="0000FF"/>
              </a:solidFill>
              <a:latin typeface="Consolas" pitchFamily="49" charset="0"/>
              <a:ea typeface="仿宋" pitchFamily="49" charset="-122"/>
              <a:cs typeface="Consolas" pitchFamily="49" charset="0"/>
            </a:endParaRPr>
          </a:p>
        </p:txBody>
      </p:sp>
      <p:sp>
        <p:nvSpPr>
          <p:cNvPr id="35" name="灯片编号占位符 34"/>
          <p:cNvSpPr>
            <a:spLocks noGrp="1"/>
          </p:cNvSpPr>
          <p:nvPr>
            <p:ph type="sldNum" sz="quarter" idx="12"/>
          </p:nvPr>
        </p:nvSpPr>
        <p:spPr/>
        <p:txBody>
          <a:bodyPr/>
          <a:lstStyle/>
          <a:p>
            <a:fld id="{7AF016A1-9F15-429F-9EFD-84004B73C732}" type="slidenum">
              <a:rPr lang="en-US" altLang="zh-CN" smtClean="0"/>
              <a:pPr/>
              <a:t>74</a:t>
            </a:fld>
            <a:r>
              <a:rPr lang="en-US" altLang="zh-CN"/>
              <a:t>/91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8358246"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这样用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遍历</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ans=0</a:t>
            </a: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sign</a:t>
            </a:r>
            <a:r>
              <a:rPr lang="zh-CN" altLang="zh-CN">
                <a:solidFill>
                  <a:srgbClr val="0000FF"/>
                </a:solidFill>
                <a:latin typeface="Consolas" pitchFamily="49" charset="0"/>
                <a:ea typeface="仿宋" pitchFamily="49" charset="-122"/>
              </a:rPr>
              <a:t>表示当前整数或者子表达式值的符号（默认取</a:t>
            </a:r>
            <a:r>
              <a:rPr lang="en-US" altLang="zh-CN">
                <a:solidFill>
                  <a:srgbClr val="0000FF"/>
                </a:solidFill>
                <a:latin typeface="Consolas" pitchFamily="49" charset="0"/>
                <a:ea typeface="仿宋" pitchFamily="49" charset="-122"/>
              </a:rPr>
              <a:t>sign=1</a:t>
            </a:r>
            <a:r>
              <a:rPr lang="zh-CN" altLang="zh-CN">
                <a:solidFill>
                  <a:srgbClr val="0000FF"/>
                </a:solidFill>
                <a:latin typeface="Consolas" pitchFamily="49" charset="0"/>
                <a:ea typeface="仿宋" pitchFamily="49" charset="-122"/>
              </a:rPr>
              <a:t>），求解过程如下：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571472" y="1643050"/>
            <a:ext cx="8215370" cy="432426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zh-CN" altLang="zh-CN">
                <a:solidFill>
                  <a:srgbClr val="FF0000"/>
                </a:solidFill>
                <a:latin typeface="Consolas" pitchFamily="49" charset="0"/>
                <a:ea typeface="仿宋" pitchFamily="49" charset="-122"/>
              </a:rPr>
              <a:t>空格</a:t>
            </a:r>
            <a:r>
              <a:rPr lang="zh-CN" altLang="zh-CN">
                <a:solidFill>
                  <a:srgbClr val="0000FF"/>
                </a:solidFill>
                <a:latin typeface="Consolas" pitchFamily="49" charset="0"/>
                <a:ea typeface="仿宋" pitchFamily="49" charset="-122"/>
              </a:rPr>
              <a:t>时直接跳过该空格。</a:t>
            </a:r>
          </a:p>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时，置</a:t>
            </a:r>
            <a:r>
              <a:rPr lang="en-US" altLang="zh-CN">
                <a:solidFill>
                  <a:srgbClr val="0000FF"/>
                </a:solidFill>
                <a:latin typeface="Consolas" pitchFamily="49" charset="0"/>
                <a:ea typeface="仿宋" pitchFamily="49" charset="-122"/>
              </a:rPr>
              <a:t>sign=1</a:t>
            </a:r>
            <a:r>
              <a:rPr lang="zh-CN" altLang="zh-CN">
                <a:solidFill>
                  <a:srgbClr val="0000FF"/>
                </a:solidFill>
                <a:latin typeface="Consolas" pitchFamily="49" charset="0"/>
                <a:ea typeface="仿宋" pitchFamily="49" charset="-122"/>
              </a:rPr>
              <a:t>，跳过该</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时，置</a:t>
            </a:r>
            <a:r>
              <a:rPr lang="en-US" altLang="zh-CN">
                <a:solidFill>
                  <a:srgbClr val="0000FF"/>
                </a:solidFill>
                <a:latin typeface="Consolas" pitchFamily="49" charset="0"/>
                <a:ea typeface="仿宋" pitchFamily="49" charset="-122"/>
              </a:rPr>
              <a:t>sign=-1</a:t>
            </a:r>
            <a:r>
              <a:rPr lang="zh-CN" altLang="zh-CN">
                <a:solidFill>
                  <a:srgbClr val="0000FF"/>
                </a:solidFill>
                <a:latin typeface="Consolas" pitchFamily="49" charset="0"/>
                <a:ea typeface="仿宋" pitchFamily="49" charset="-122"/>
              </a:rPr>
              <a:t>，跳过该</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zh-CN" altLang="zh-CN">
                <a:solidFill>
                  <a:srgbClr val="FF0000"/>
                </a:solidFill>
                <a:latin typeface="Consolas" pitchFamily="49" charset="0"/>
                <a:ea typeface="仿宋" pitchFamily="49" charset="-122"/>
              </a:rPr>
              <a:t>数字</a:t>
            </a:r>
            <a:r>
              <a:rPr lang="zh-CN" altLang="zh-CN">
                <a:solidFill>
                  <a:srgbClr val="0000FF"/>
                </a:solidFill>
                <a:latin typeface="Consolas" pitchFamily="49" charset="0"/>
                <a:ea typeface="仿宋" pitchFamily="49" charset="-122"/>
              </a:rPr>
              <a:t>符时，将连续的数字符转换为整数</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，其符号为</a:t>
            </a:r>
            <a:r>
              <a:rPr lang="en-US" altLang="zh-CN">
                <a:solidFill>
                  <a:srgbClr val="0000FF"/>
                </a:solidFill>
                <a:latin typeface="Consolas" pitchFamily="49" charset="0"/>
                <a:ea typeface="仿宋" pitchFamily="49" charset="-122"/>
              </a:rPr>
              <a:t>sign</a:t>
            </a:r>
            <a:r>
              <a:rPr lang="zh-CN" altLang="zh-CN">
                <a:solidFill>
                  <a:srgbClr val="0000FF"/>
                </a:solidFill>
                <a:latin typeface="Consolas" pitchFamily="49" charset="0"/>
                <a:ea typeface="仿宋" pitchFamily="49" charset="-122"/>
              </a:rPr>
              <a:t>，则将</a:t>
            </a:r>
            <a:r>
              <a:rPr lang="en-US" altLang="zh-CN">
                <a:solidFill>
                  <a:srgbClr val="0000FF"/>
                </a:solidFill>
                <a:latin typeface="Consolas" pitchFamily="49" charset="0"/>
                <a:ea typeface="仿宋" pitchFamily="49" charset="-122"/>
              </a:rPr>
              <a:t>sign*d</a:t>
            </a:r>
            <a:r>
              <a:rPr lang="zh-CN" altLang="zh-CN">
                <a:solidFill>
                  <a:srgbClr val="0000FF"/>
                </a:solidFill>
                <a:latin typeface="Consolas" pitchFamily="49" charset="0"/>
                <a:ea typeface="仿宋" pitchFamily="49" charset="-122"/>
              </a:rPr>
              <a:t>累加到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a:t>
            </a:r>
          </a:p>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，后面开始一个子表达式（该子表达式以后面的第一个未处理的</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结束），递归计算出该子表达式值</a:t>
            </a:r>
            <a:r>
              <a:rPr lang="en-US" altLang="zh-CN">
                <a:solidFill>
                  <a:srgbClr val="0000FF"/>
                </a:solidFill>
                <a:latin typeface="Consolas" pitchFamily="49" charset="0"/>
                <a:ea typeface="仿宋" pitchFamily="49" charset="-122"/>
              </a:rPr>
              <a:t>sd</a:t>
            </a:r>
            <a:r>
              <a:rPr lang="zh-CN" altLang="zh-CN">
                <a:solidFill>
                  <a:srgbClr val="0000FF"/>
                </a:solidFill>
                <a:latin typeface="Consolas" pitchFamily="49" charset="0"/>
                <a:ea typeface="仿宋" pitchFamily="49" charset="-122"/>
              </a:rPr>
              <a:t>，其符号为</a:t>
            </a:r>
            <a:r>
              <a:rPr lang="en-US" altLang="zh-CN">
                <a:solidFill>
                  <a:srgbClr val="0000FF"/>
                </a:solidFill>
                <a:latin typeface="Consolas" pitchFamily="49" charset="0"/>
                <a:ea typeface="仿宋" pitchFamily="49" charset="-122"/>
              </a:rPr>
              <a:t>sign</a:t>
            </a:r>
            <a:r>
              <a:rPr lang="zh-CN" altLang="zh-CN">
                <a:solidFill>
                  <a:srgbClr val="0000FF"/>
                </a:solidFill>
                <a:latin typeface="Consolas" pitchFamily="49" charset="0"/>
                <a:ea typeface="仿宋" pitchFamily="49" charset="-122"/>
              </a:rPr>
              <a:t>，则将</a:t>
            </a:r>
            <a:r>
              <a:rPr lang="en-US" altLang="zh-CN">
                <a:solidFill>
                  <a:srgbClr val="0000FF"/>
                </a:solidFill>
                <a:latin typeface="Consolas" pitchFamily="49" charset="0"/>
                <a:ea typeface="仿宋" pitchFamily="49" charset="-122"/>
              </a:rPr>
              <a:t>sign*sd</a:t>
            </a:r>
            <a:r>
              <a:rPr lang="zh-CN" altLang="zh-CN">
                <a:solidFill>
                  <a:srgbClr val="0000FF"/>
                </a:solidFill>
                <a:latin typeface="Consolas" pitchFamily="49" charset="0"/>
                <a:ea typeface="仿宋" pitchFamily="49" charset="-122"/>
              </a:rPr>
              <a:t>累加到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a:t>
            </a:r>
          </a:p>
          <a:p>
            <a:pPr marL="457200" indent="-457200" algn="l" defTabSz="360000">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rPr>
              <a:t>遇到</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，表示表达式</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子表达式处理结束，返回其值</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75</a:t>
            </a:fld>
            <a:r>
              <a:rPr lang="en-US" altLang="zh-CN"/>
              <a:t>/91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85794"/>
            <a:ext cx="800105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例如，求</a:t>
            </a:r>
            <a:r>
              <a:rPr lang="en-US" altLang="zh-CN">
                <a:solidFill>
                  <a:srgbClr val="0000FF"/>
                </a:solidFill>
                <a:latin typeface="Consolas" pitchFamily="49" charset="0"/>
                <a:ea typeface="仿宋" pitchFamily="49" charset="-122"/>
              </a:rPr>
              <a:t>s="(1+(4+5+2)-3)+(6+8)"</a:t>
            </a:r>
            <a:r>
              <a:rPr lang="zh-CN" altLang="zh-CN">
                <a:solidFill>
                  <a:srgbClr val="0000FF"/>
                </a:solidFill>
                <a:latin typeface="Consolas" pitchFamily="49" charset="0"/>
                <a:ea typeface="仿宋" pitchFamily="49" charset="-122"/>
              </a:rPr>
              <a:t>表达式值的过程。</a:t>
            </a:r>
            <a:endParaRPr lang="zh-CN" altLang="en-US">
              <a:solidFill>
                <a:srgbClr val="0000FF"/>
              </a:solidFill>
              <a:latin typeface="Consolas" pitchFamily="49" charset="0"/>
              <a:ea typeface="仿宋" pitchFamily="49" charset="-122"/>
              <a:cs typeface="Consolas" pitchFamily="49" charset="0"/>
            </a:endParaRPr>
          </a:p>
        </p:txBody>
      </p:sp>
      <p:sp>
        <p:nvSpPr>
          <p:cNvPr id="198668"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8666" name="Rectangle 10"/>
          <p:cNvSpPr>
            <a:spLocks noChangeArrowheads="1"/>
          </p:cNvSpPr>
          <p:nvPr/>
        </p:nvSpPr>
        <p:spPr bwMode="auto">
          <a:xfrm>
            <a:off x="1928794" y="2000239"/>
            <a:ext cx="3429024" cy="35719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s="(1+(4+5+2)-3)+(6+8)"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nvGrpSpPr>
          <p:cNvPr id="16" name="组合 15"/>
          <p:cNvGrpSpPr/>
          <p:nvPr/>
        </p:nvGrpSpPr>
        <p:grpSpPr>
          <a:xfrm>
            <a:off x="2857489" y="2428868"/>
            <a:ext cx="792000" cy="512632"/>
            <a:chOff x="2857489" y="2428868"/>
            <a:chExt cx="792000" cy="512632"/>
          </a:xfrm>
        </p:grpSpPr>
        <p:sp>
          <p:nvSpPr>
            <p:cNvPr id="198665" name="AutoShape 9"/>
            <p:cNvSpPr>
              <a:spLocks/>
            </p:cNvSpPr>
            <p:nvPr/>
          </p:nvSpPr>
          <p:spPr bwMode="auto">
            <a:xfrm rot="16200000">
              <a:off x="3192186" y="2094171"/>
              <a:ext cx="122606" cy="792000"/>
            </a:xfrm>
            <a:prstGeom prst="leftBrace">
              <a:avLst>
                <a:gd name="adj1" fmla="val 49804"/>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98664" name="Rectangle 8"/>
            <p:cNvSpPr>
              <a:spLocks noChangeArrowheads="1"/>
            </p:cNvSpPr>
            <p:nvPr/>
          </p:nvSpPr>
          <p:spPr bwMode="auto">
            <a:xfrm>
              <a:off x="2977786" y="2586814"/>
              <a:ext cx="593682" cy="35468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19" name="组合 18"/>
          <p:cNvGrpSpPr/>
          <p:nvPr/>
        </p:nvGrpSpPr>
        <p:grpSpPr>
          <a:xfrm>
            <a:off x="2547451" y="2989553"/>
            <a:ext cx="1440000" cy="510885"/>
            <a:chOff x="2547451" y="2989553"/>
            <a:chExt cx="1440000" cy="510885"/>
          </a:xfrm>
        </p:grpSpPr>
        <p:sp>
          <p:nvSpPr>
            <p:cNvPr id="198663" name="AutoShape 7"/>
            <p:cNvSpPr>
              <a:spLocks/>
            </p:cNvSpPr>
            <p:nvPr/>
          </p:nvSpPr>
          <p:spPr bwMode="auto">
            <a:xfrm rot="16200000">
              <a:off x="3206148" y="2330856"/>
              <a:ext cx="122606" cy="1440000"/>
            </a:xfrm>
            <a:prstGeom prst="leftBrace">
              <a:avLst>
                <a:gd name="adj1" fmla="val 90980"/>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98662" name="Rectangle 6"/>
            <p:cNvSpPr>
              <a:spLocks noChangeArrowheads="1"/>
            </p:cNvSpPr>
            <p:nvPr/>
          </p:nvSpPr>
          <p:spPr bwMode="auto">
            <a:xfrm>
              <a:off x="3071802" y="3147498"/>
              <a:ext cx="572333" cy="35294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②</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18" name="组合 17"/>
          <p:cNvGrpSpPr/>
          <p:nvPr/>
        </p:nvGrpSpPr>
        <p:grpSpPr>
          <a:xfrm>
            <a:off x="4363132" y="2428868"/>
            <a:ext cx="701349" cy="478735"/>
            <a:chOff x="5291826" y="2593075"/>
            <a:chExt cx="701349" cy="478735"/>
          </a:xfrm>
        </p:grpSpPr>
        <p:sp>
          <p:nvSpPr>
            <p:cNvPr id="198661" name="AutoShape 5"/>
            <p:cNvSpPr>
              <a:spLocks/>
            </p:cNvSpPr>
            <p:nvPr/>
          </p:nvSpPr>
          <p:spPr bwMode="auto">
            <a:xfrm rot="16200000">
              <a:off x="5554523" y="2330378"/>
              <a:ext cx="122606" cy="648000"/>
            </a:xfrm>
            <a:prstGeom prst="leftBrace">
              <a:avLst>
                <a:gd name="adj1" fmla="val 35588"/>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98660" name="Rectangle 4"/>
            <p:cNvSpPr>
              <a:spLocks noChangeArrowheads="1"/>
            </p:cNvSpPr>
            <p:nvPr/>
          </p:nvSpPr>
          <p:spPr bwMode="auto">
            <a:xfrm>
              <a:off x="5348466" y="2751742"/>
              <a:ext cx="644709" cy="32006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③</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20" name="组合 19"/>
          <p:cNvGrpSpPr/>
          <p:nvPr/>
        </p:nvGrpSpPr>
        <p:grpSpPr>
          <a:xfrm>
            <a:off x="2500299" y="3540218"/>
            <a:ext cx="2340000" cy="594964"/>
            <a:chOff x="2500299" y="3540218"/>
            <a:chExt cx="2340000" cy="594964"/>
          </a:xfrm>
        </p:grpSpPr>
        <p:sp>
          <p:nvSpPr>
            <p:cNvPr id="198659" name="AutoShape 3"/>
            <p:cNvSpPr>
              <a:spLocks/>
            </p:cNvSpPr>
            <p:nvPr/>
          </p:nvSpPr>
          <p:spPr bwMode="auto">
            <a:xfrm rot="16200000">
              <a:off x="3583032" y="2457485"/>
              <a:ext cx="174533" cy="2340000"/>
            </a:xfrm>
            <a:prstGeom prst="leftBrace">
              <a:avLst>
                <a:gd name="adj1" fmla="val 97314"/>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98658" name="Rectangle 2"/>
            <p:cNvSpPr>
              <a:spLocks noChangeArrowheads="1"/>
            </p:cNvSpPr>
            <p:nvPr/>
          </p:nvSpPr>
          <p:spPr bwMode="auto">
            <a:xfrm>
              <a:off x="3385033" y="3786190"/>
              <a:ext cx="758339" cy="34899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21" name="灯片编号占位符 20"/>
          <p:cNvSpPr>
            <a:spLocks noGrp="1"/>
          </p:cNvSpPr>
          <p:nvPr>
            <p:ph type="sldNum" sz="quarter" idx="12"/>
          </p:nvPr>
        </p:nvSpPr>
        <p:spPr/>
        <p:txBody>
          <a:bodyPr/>
          <a:lstStyle/>
          <a:p>
            <a:fld id="{7AF016A1-9F15-429F-9EFD-84004B73C732}" type="slidenum">
              <a:rPr lang="en-US" altLang="zh-CN" smtClean="0"/>
              <a:pPr/>
              <a:t>76</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571480"/>
            <a:ext cx="8286808" cy="268032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calculate</a:t>
            </a:r>
            <a:r>
              <a:rPr lang="en-US" altLang="zh-CN" sz="2000">
                <a:solidFill>
                  <a:srgbClr val="0000FF"/>
                </a:solidFill>
                <a:latin typeface="Consolas" pitchFamily="49" charset="0"/>
                <a:ea typeface="仿宋" pitchFamily="49" charset="-122"/>
              </a:rPr>
              <a:t>(string s)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3200"/>
              </a:lnSpc>
              <a:spcBef>
                <a:spcPts val="0"/>
              </a:spcBef>
            </a:pPr>
            <a:r>
              <a:rPr lang="en-US" altLang="zh-CN" sz="2000">
                <a:solidFill>
                  <a:srgbClr val="0000FF"/>
                </a:solidFill>
                <a:latin typeface="Consolas" pitchFamily="49" charset="0"/>
                <a:ea typeface="仿宋" pitchFamily="49" charset="-122"/>
              </a:rPr>
              <a:t>  		int i=0;</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(s,i);</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77</a:t>
            </a:fld>
            <a:r>
              <a:rPr lang="en-US" altLang="zh-CN"/>
              <a:t>/91</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571480"/>
            <a:ext cx="8286808" cy="452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(string s,int&amp; 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n=s.size();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ans=0;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sign=1;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默认为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while(i&lt;n)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s[i]==' '</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遇到空格</a:t>
            </a: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跳过空格</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if(</a:t>
            </a:r>
            <a:r>
              <a:rPr lang="en-US" altLang="zh-CN" sz="2000">
                <a:solidFill>
                  <a:srgbClr val="FF00FF"/>
                </a:solidFill>
                <a:latin typeface="Consolas" pitchFamily="49" charset="0"/>
                <a:ea typeface="仿宋" pitchFamily="49" charset="-122"/>
              </a:rPr>
              <a:t>s[i]=='+'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sign=1;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指定为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跳过</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78</a:t>
            </a:fld>
            <a:r>
              <a:rPr lang="en-US" altLang="zh-CN"/>
              <a:t>/91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285728"/>
            <a:ext cx="8715436" cy="596327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else if(</a:t>
            </a:r>
            <a:r>
              <a:rPr lang="en-US" altLang="zh-CN" sz="2000">
                <a:solidFill>
                  <a:srgbClr val="FF00FF"/>
                </a:solidFill>
                <a:latin typeface="Consolas" pitchFamily="49" charset="0"/>
                <a:ea typeface="仿宋" pitchFamily="49" charset="-122"/>
              </a:rPr>
              <a:t>s[i]=='-'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sign=-1;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指定为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跳过</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else if(</a:t>
            </a:r>
            <a:r>
              <a:rPr lang="en-US" altLang="zh-CN" sz="2000">
                <a:solidFill>
                  <a:srgbClr val="FF00FF"/>
                </a:solidFill>
                <a:latin typeface="Consolas" pitchFamily="49" charset="0"/>
                <a:ea typeface="仿宋" pitchFamily="49" charset="-122"/>
              </a:rPr>
              <a:t>isdigit(s[i])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遇到数字符</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d=0;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while(i&lt;n &amp;&amp; isdigit(s[i]))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将连续数字符</a:t>
            </a:r>
            <a:r>
              <a:rPr lang="en-US" altLang="zh-CN" sz="2000">
                <a:solidFill>
                  <a:srgbClr val="00B0F0"/>
                </a:solidFill>
                <a:latin typeface="Consolas" pitchFamily="49" charset="0"/>
                <a:ea typeface="仿宋" pitchFamily="49" charset="-122"/>
              </a:rPr>
              <a:t>-&gt;</a:t>
            </a:r>
            <a:r>
              <a:rPr lang="zh-CN" altLang="zh-CN" sz="2000">
                <a:solidFill>
                  <a:srgbClr val="00B0F0"/>
                </a:solidFill>
                <a:latin typeface="Consolas" pitchFamily="49" charset="0"/>
                <a:ea typeface="仿宋" pitchFamily="49" charset="-122"/>
              </a:rPr>
              <a:t>整数</a:t>
            </a:r>
            <a:r>
              <a:rPr lang="en-US" altLang="zh-CN" sz="2000">
                <a:solidFill>
                  <a:srgbClr val="00B0F0"/>
                </a:solidFill>
                <a:latin typeface="Consolas" pitchFamily="49" charset="0"/>
                <a:ea typeface="仿宋" pitchFamily="49" charset="-122"/>
              </a:rPr>
              <a:t>d</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d=d*10+(s[i++]-'0');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ans+=d*sign;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转换为带符号整数累加到</a:t>
            </a:r>
            <a:r>
              <a:rPr lang="en-US" altLang="zh-CN" sz="2000">
                <a:solidFill>
                  <a:srgbClr val="00B0F0"/>
                </a:solidFill>
                <a:latin typeface="Consolas" pitchFamily="49" charset="0"/>
                <a:ea typeface="仿宋" pitchFamily="49" charset="-122"/>
              </a:rPr>
              <a:t>ans</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else if(</a:t>
            </a:r>
            <a:r>
              <a:rPr lang="en-US" altLang="zh-CN" sz="2000">
                <a:solidFill>
                  <a:srgbClr val="FF00FF"/>
                </a:solidFill>
                <a:latin typeface="Consolas" pitchFamily="49" charset="0"/>
                <a:ea typeface="仿宋" pitchFamily="49" charset="-122"/>
              </a:rPr>
              <a:t>s[i]=='('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跳过</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sd=</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(s,i);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递归计算出子表达式值</a:t>
            </a:r>
            <a:r>
              <a:rPr lang="en-US" altLang="zh-CN" sz="2000">
                <a:solidFill>
                  <a:srgbClr val="00B0F0"/>
                </a:solidFill>
                <a:latin typeface="Consolas" pitchFamily="49" charset="0"/>
                <a:ea typeface="仿宋" pitchFamily="49" charset="-122"/>
              </a:rPr>
              <a:t>sd</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ans+=sd*sign;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sd</a:t>
            </a:r>
            <a:r>
              <a:rPr lang="zh-CN" altLang="zh-CN" sz="2000">
                <a:solidFill>
                  <a:srgbClr val="00B0F0"/>
                </a:solidFill>
                <a:latin typeface="Consolas" pitchFamily="49" charset="0"/>
                <a:ea typeface="仿宋" pitchFamily="49" charset="-122"/>
              </a:rPr>
              <a:t>累加到</a:t>
            </a:r>
            <a:r>
              <a:rPr lang="en-US" altLang="zh-CN" sz="2000">
                <a:solidFill>
                  <a:srgbClr val="00B0F0"/>
                </a:solidFill>
                <a:latin typeface="Consolas" pitchFamily="49" charset="0"/>
                <a:ea typeface="仿宋" pitchFamily="49" charset="-122"/>
              </a:rPr>
              <a:t>ans</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79</a:t>
            </a:fld>
            <a:r>
              <a:rPr lang="en-US" altLang="zh-CN"/>
              <a:t>/91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428596" y="4286256"/>
            <a:ext cx="7072330" cy="461665"/>
            <a:chOff x="1071538" y="6286520"/>
            <a:chExt cx="7072330" cy="461665"/>
          </a:xfrm>
        </p:grpSpPr>
        <p:sp>
          <p:nvSpPr>
            <p:cNvPr id="4" name="TextBox 3"/>
            <p:cNvSpPr txBox="1"/>
            <p:nvPr/>
          </p:nvSpPr>
          <p:spPr>
            <a:xfrm>
              <a:off x="1928762"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20ms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277.3MB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6" name="TextBox 5"/>
          <p:cNvSpPr txBox="1"/>
          <p:nvPr/>
        </p:nvSpPr>
        <p:spPr>
          <a:xfrm>
            <a:off x="214282" y="571480"/>
            <a:ext cx="8286808" cy="32958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else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遇到</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跳过</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返回表达式</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子表达式的值</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80</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597759"/>
            <a:ext cx="7715304" cy="9900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2.12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字符串解码（</a:t>
            </a:r>
            <a:r>
              <a:rPr lang="en-US" altLang="zh-CN">
                <a:solidFill>
                  <a:srgbClr val="0000FF"/>
                </a:solidFill>
                <a:latin typeface="Consolas" pitchFamily="49" charset="0"/>
                <a:ea typeface="仿宋" pitchFamily="49" charset="-122"/>
              </a:rPr>
              <a:t>LeetCode394</a:t>
            </a:r>
            <a:r>
              <a:rPr lang="zh-CN" altLang="zh-CN">
                <a:solidFill>
                  <a:srgbClr val="0000FF"/>
                </a:solidFill>
                <a:latin typeface="Consolas" pitchFamily="49" charset="0"/>
                <a:ea typeface="仿宋" pitchFamily="49" charset="-122"/>
              </a:rPr>
              <a:t>★★）。问题描述见第</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章例</a:t>
            </a:r>
            <a:r>
              <a:rPr lang="en-US" altLang="zh-CN">
                <a:solidFill>
                  <a:srgbClr val="0000FF"/>
                </a:solidFill>
                <a:latin typeface="Consolas" pitchFamily="49" charset="0"/>
                <a:ea typeface="仿宋" pitchFamily="49" charset="-122"/>
              </a:rPr>
              <a:t>1.9</a:t>
            </a:r>
            <a:r>
              <a:rPr lang="zh-CN" altLang="zh-CN">
                <a:solidFill>
                  <a:srgbClr val="0000FF"/>
                </a:solidFill>
                <a:latin typeface="Consolas" pitchFamily="49" charset="0"/>
                <a:ea typeface="仿宋" pitchFamily="49" charset="-122"/>
              </a:rPr>
              <a:t>，这里采用递归方法求解。</a:t>
            </a:r>
          </a:p>
        </p:txBody>
      </p:sp>
      <p:sp>
        <p:nvSpPr>
          <p:cNvPr id="4" name="TextBox 3"/>
          <p:cNvSpPr txBox="1"/>
          <p:nvPr/>
        </p:nvSpPr>
        <p:spPr>
          <a:xfrm>
            <a:off x="1214414" y="3383709"/>
            <a:ext cx="6572296" cy="97398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600"/>
              </a:lnSpc>
              <a:spcBef>
                <a:spcPts val="0"/>
              </a:spcBef>
              <a:buBlip>
                <a:blip r:embed="rId3"/>
              </a:buBlip>
            </a:pPr>
            <a:r>
              <a:rPr lang="zh-CN" altLang="en-US">
                <a:solidFill>
                  <a:srgbClr val="006600"/>
                </a:solidFill>
                <a:latin typeface="Consolas" pitchFamily="49" charset="0"/>
                <a:ea typeface="仿宋" pitchFamily="49" charset="-122"/>
                <a:cs typeface="Consolas" pitchFamily="49" charset="0"/>
              </a:rPr>
              <a:t>自学</a:t>
            </a:r>
            <a:endParaRPr lang="en-US" altLang="zh-CN">
              <a:solidFill>
                <a:srgbClr val="006600"/>
              </a:solidFill>
              <a:latin typeface="Consolas" pitchFamily="49" charset="0"/>
              <a:ea typeface="仿宋" pitchFamily="49" charset="-122"/>
              <a:cs typeface="Consolas" pitchFamily="49" charset="0"/>
            </a:endParaRPr>
          </a:p>
          <a:p>
            <a:pPr marL="457200" indent="-457200" algn="l">
              <a:lnSpc>
                <a:spcPts val="3600"/>
              </a:lnSpc>
              <a:spcBef>
                <a:spcPts val="0"/>
              </a:spcBef>
              <a:buBlip>
                <a:blip r:embed="rId3"/>
              </a:buBlip>
            </a:pPr>
            <a:r>
              <a:rPr lang="zh-CN" altLang="en-US">
                <a:solidFill>
                  <a:srgbClr val="006600"/>
                </a:solidFill>
                <a:latin typeface="Consolas" pitchFamily="49" charset="0"/>
                <a:ea typeface="仿宋" pitchFamily="49" charset="-122"/>
                <a:cs typeface="Consolas" pitchFamily="49" charset="0"/>
              </a:rPr>
              <a:t>体会两种解法之间的差别</a:t>
            </a:r>
          </a:p>
        </p:txBody>
      </p:sp>
      <p:grpSp>
        <p:nvGrpSpPr>
          <p:cNvPr id="5" name="组合 4"/>
          <p:cNvGrpSpPr/>
          <p:nvPr/>
        </p:nvGrpSpPr>
        <p:grpSpPr>
          <a:xfrm>
            <a:off x="928662" y="357166"/>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81</a:t>
            </a:fld>
            <a:r>
              <a:rPr lang="en-US" altLang="zh-CN"/>
              <a:t>/91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500174"/>
            <a:ext cx="371477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spcBef>
                <a:spcPts val="600"/>
              </a:spcBef>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2.6.1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直接展开法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7" name="TextBox 6"/>
          <p:cNvSpPr txBox="1"/>
          <p:nvPr/>
        </p:nvSpPr>
        <p:spPr>
          <a:xfrm>
            <a:off x="714348" y="2500306"/>
            <a:ext cx="7715304" cy="2423099"/>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Times New Roman" pitchFamily="18" charset="0"/>
              </a:rPr>
              <a:t>求解递推式最自然的方法是将其反复展开</a:t>
            </a:r>
            <a:r>
              <a:rPr lang="zh-CN" altLang="en-US">
                <a:solidFill>
                  <a:srgbClr val="0000FF"/>
                </a:solidFill>
                <a:latin typeface="Consolas" pitchFamily="49" charset="0"/>
                <a:ea typeface="仿宋" pitchFamily="49" charset="-122"/>
                <a:cs typeface="Times New Roman" pitchFamily="18" charset="0"/>
              </a:rPr>
              <a:t>。</a:t>
            </a:r>
            <a:endParaRPr lang="en-US" altLang="zh-CN">
              <a:solidFill>
                <a:srgbClr val="0000FF"/>
              </a:solidFill>
              <a:latin typeface="Consolas" pitchFamily="49" charset="0"/>
              <a:ea typeface="仿宋" pitchFamily="49" charset="-122"/>
              <a:cs typeface="Times New Roman" pitchFamily="18"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Times New Roman" pitchFamily="18" charset="0"/>
              </a:rPr>
              <a:t>即直接从递归式出发，一层一层地往前递推，直到最前面的初始条件为止，就得到了问题的解。</a:t>
            </a:r>
            <a:endParaRPr lang="en-US" altLang="zh-CN">
              <a:solidFill>
                <a:srgbClr val="0000FF"/>
              </a:solidFill>
              <a:latin typeface="Consolas" pitchFamily="49" charset="0"/>
              <a:ea typeface="仿宋" pitchFamily="49" charset="-122"/>
              <a:cs typeface="Times New Roman" pitchFamily="18" charset="0"/>
            </a:endParaRPr>
          </a:p>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rPr>
              <a:t>例如，前面</a:t>
            </a:r>
            <a:r>
              <a:rPr lang="en-US" altLang="zh-CN">
                <a:solidFill>
                  <a:srgbClr val="0000FF"/>
                </a:solidFill>
                <a:latin typeface="Consolas" pitchFamily="49" charset="0"/>
                <a:ea typeface="仿宋" pitchFamily="49" charset="-122"/>
              </a:rPr>
              <a:t>Hanoi(</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z)</a:t>
            </a:r>
            <a:r>
              <a:rPr lang="zh-CN" altLang="zh-CN">
                <a:solidFill>
                  <a:srgbClr val="0000FF"/>
                </a:solidFill>
                <a:latin typeface="Consolas" pitchFamily="49" charset="0"/>
                <a:ea typeface="仿宋" pitchFamily="49" charset="-122"/>
              </a:rPr>
              <a:t>递归算法的时间复杂度</a:t>
            </a:r>
            <a:r>
              <a:rPr lang="zh-CN" altLang="en-US">
                <a:solidFill>
                  <a:srgbClr val="0000FF"/>
                </a:solidFill>
                <a:latin typeface="Consolas" pitchFamily="49" charset="0"/>
                <a:ea typeface="仿宋" pitchFamily="49" charset="-122"/>
              </a:rPr>
              <a:t>计算就是直接展开法。</a:t>
            </a:r>
            <a:endParaRPr lang="zh-CN" altLang="en-US">
              <a:solidFill>
                <a:srgbClr val="0000FF"/>
              </a:solidFill>
              <a:latin typeface="Consolas" pitchFamily="49" charset="0"/>
              <a:ea typeface="仿宋" pitchFamily="49" charset="-122"/>
              <a:cs typeface="Times New Roman" pitchFamily="18" charset="0"/>
            </a:endParaRPr>
          </a:p>
        </p:txBody>
      </p:sp>
      <p:sp>
        <p:nvSpPr>
          <p:cNvPr id="9" name="TextBox 8">
            <a:hlinkClick r:id="" action="ppaction://noaction"/>
          </p:cNvPr>
          <p:cNvSpPr txBox="1"/>
          <p:nvPr/>
        </p:nvSpPr>
        <p:spPr>
          <a:xfrm>
            <a:off x="2071670" y="357166"/>
            <a:ext cx="428628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2.6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计算递推式</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82</a:t>
            </a:fld>
            <a:r>
              <a:rPr lang="en-US" altLang="zh-CN"/>
              <a:t>/91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85720" y="714356"/>
            <a:ext cx="8143932" cy="4616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2.13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分析以下递推式的时间复杂度。</a:t>
            </a:r>
          </a:p>
        </p:txBody>
      </p:sp>
      <p:sp>
        <p:nvSpPr>
          <p:cNvPr id="8" name="TextBox 7"/>
          <p:cNvSpPr txBox="1"/>
          <p:nvPr/>
        </p:nvSpPr>
        <p:spPr>
          <a:xfrm>
            <a:off x="714348" y="1500174"/>
            <a:ext cx="6143668" cy="106449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88000" tIns="108000" bIns="108000" rtlCol="0">
            <a:spAutoFit/>
          </a:bodyPr>
          <a:lstStyle/>
          <a:p>
            <a:pPr algn="l" defTabSz="360000">
              <a:lnSpc>
                <a:spcPts val="3000"/>
              </a:lnSpc>
              <a:spcBef>
                <a:spcPts val="600"/>
              </a:spcBef>
            </a:pPr>
            <a:r>
              <a:rPr lang="pt-BR" altLang="zh-CN" sz="2000" i="1">
                <a:solidFill>
                  <a:srgbClr val="0000FF"/>
                </a:solidFill>
                <a:latin typeface="Consolas" pitchFamily="49" charset="0"/>
                <a:ea typeface="仿宋" pitchFamily="49" charset="-122"/>
              </a:rPr>
              <a:t>T</a:t>
            </a:r>
            <a:r>
              <a:rPr lang="pt-BR" altLang="zh-CN" sz="2000">
                <a:solidFill>
                  <a:srgbClr val="0000FF"/>
                </a:solidFill>
                <a:latin typeface="Consolas" pitchFamily="49" charset="0"/>
                <a:ea typeface="仿宋" pitchFamily="49" charset="-122"/>
              </a:rPr>
              <a:t>(0)=0</a:t>
            </a:r>
            <a:endParaRPr lang="zh-CN" altLang="zh-CN" sz="2000">
              <a:solidFill>
                <a:srgbClr val="0000FF"/>
              </a:solidFill>
              <a:latin typeface="Consolas" pitchFamily="49" charset="0"/>
              <a:ea typeface="仿宋" pitchFamily="49" charset="-122"/>
            </a:endParaRPr>
          </a:p>
          <a:p>
            <a:pPr algn="l" defTabSz="360000">
              <a:lnSpc>
                <a:spcPts val="3000"/>
              </a:lnSpc>
              <a:spcBef>
                <a:spcPts val="600"/>
              </a:spcBef>
            </a:pPr>
            <a:r>
              <a:rPr lang="pt-BR" altLang="zh-CN" sz="2000" i="1">
                <a:solidFill>
                  <a:srgbClr val="0000FF"/>
                </a:solidFill>
                <a:latin typeface="Consolas" pitchFamily="49" charset="0"/>
                <a:ea typeface="仿宋" pitchFamily="49" charset="-122"/>
              </a:rPr>
              <a:t>T</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nT</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-1)+</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pt-BR" altLang="zh-CN" sz="2000" i="1">
                <a:solidFill>
                  <a:srgbClr val="00B0F0"/>
                </a:solidFill>
                <a:latin typeface="Consolas" pitchFamily="49" charset="0"/>
                <a:ea typeface="仿宋" pitchFamily="49" charset="-122"/>
              </a:rPr>
              <a:t>n</a:t>
            </a:r>
            <a:r>
              <a:rPr lang="zh-CN" altLang="zh-CN" sz="2000">
                <a:solidFill>
                  <a:srgbClr val="00B0F0"/>
                </a:solidFill>
                <a:latin typeface="+mj-ea"/>
                <a:ea typeface="+mj-ea"/>
              </a:rPr>
              <a:t>≥</a:t>
            </a:r>
            <a:r>
              <a:rPr lang="pt-BR"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83</a:t>
            </a:fld>
            <a:r>
              <a:rPr lang="en-US" altLang="zh-CN"/>
              <a:t>/91</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3000364" y="71414"/>
            <a:ext cx="4214842" cy="106449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88000" tIns="108000" bIns="108000" rtlCol="0">
            <a:spAutoFit/>
          </a:bodyPr>
          <a:lstStyle/>
          <a:p>
            <a:pPr algn="l" defTabSz="360000">
              <a:lnSpc>
                <a:spcPts val="3000"/>
              </a:lnSpc>
              <a:spcBef>
                <a:spcPts val="600"/>
              </a:spcBef>
            </a:pPr>
            <a:r>
              <a:rPr lang="pt-BR" altLang="zh-CN" sz="2000" i="1">
                <a:solidFill>
                  <a:srgbClr val="0000FF"/>
                </a:solidFill>
                <a:latin typeface="Consolas" pitchFamily="49" charset="0"/>
                <a:ea typeface="仿宋" pitchFamily="49" charset="-122"/>
              </a:rPr>
              <a:t>T</a:t>
            </a:r>
            <a:r>
              <a:rPr lang="pt-BR" altLang="zh-CN" sz="2000">
                <a:solidFill>
                  <a:srgbClr val="0000FF"/>
                </a:solidFill>
                <a:latin typeface="Consolas" pitchFamily="49" charset="0"/>
                <a:ea typeface="仿宋" pitchFamily="49" charset="-122"/>
              </a:rPr>
              <a:t>(0)=0</a:t>
            </a:r>
            <a:endParaRPr lang="zh-CN" altLang="zh-CN" sz="2000">
              <a:solidFill>
                <a:srgbClr val="0000FF"/>
              </a:solidFill>
              <a:latin typeface="Consolas" pitchFamily="49" charset="0"/>
              <a:ea typeface="仿宋" pitchFamily="49" charset="-122"/>
            </a:endParaRPr>
          </a:p>
          <a:p>
            <a:pPr algn="l" defTabSz="360000">
              <a:lnSpc>
                <a:spcPts val="3000"/>
              </a:lnSpc>
              <a:spcBef>
                <a:spcPts val="600"/>
              </a:spcBef>
            </a:pPr>
            <a:r>
              <a:rPr lang="pt-BR" altLang="zh-CN" sz="2000" i="1">
                <a:solidFill>
                  <a:srgbClr val="0000FF"/>
                </a:solidFill>
                <a:latin typeface="Consolas" pitchFamily="49" charset="0"/>
                <a:ea typeface="仿宋" pitchFamily="49" charset="-122"/>
              </a:rPr>
              <a:t>T</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nT</a:t>
            </a:r>
            <a:r>
              <a:rPr lang="pt-BR" altLang="zh-CN" sz="2000">
                <a:solidFill>
                  <a:srgbClr val="0000FF"/>
                </a:solidFill>
                <a:latin typeface="Consolas" pitchFamily="49" charset="0"/>
                <a:ea typeface="仿宋" pitchFamily="49" charset="-122"/>
              </a:rPr>
              <a:t>(</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-1)+</a:t>
            </a:r>
            <a:r>
              <a:rPr lang="pt-BR" altLang="zh-CN" sz="2000" i="1">
                <a:solidFill>
                  <a:srgbClr val="0000FF"/>
                </a:solidFill>
                <a:latin typeface="Consolas" pitchFamily="49" charset="0"/>
                <a:ea typeface="仿宋" pitchFamily="49" charset="-122"/>
              </a:rPr>
              <a:t>n</a:t>
            </a:r>
            <a:r>
              <a:rPr lang="pt-BR"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当</a:t>
            </a:r>
            <a:r>
              <a:rPr lang="pt-BR" altLang="zh-CN" sz="2000" i="1">
                <a:solidFill>
                  <a:srgbClr val="0000FF"/>
                </a:solidFill>
                <a:latin typeface="Consolas" pitchFamily="49" charset="0"/>
                <a:ea typeface="仿宋" pitchFamily="49" charset="-122"/>
              </a:rPr>
              <a:t>n</a:t>
            </a:r>
            <a:r>
              <a:rPr lang="zh-CN" altLang="zh-CN" sz="2000">
                <a:solidFill>
                  <a:srgbClr val="0000FF"/>
                </a:solidFill>
                <a:latin typeface="+mj-ea"/>
                <a:ea typeface="+mj-ea"/>
              </a:rPr>
              <a:t>≥</a:t>
            </a:r>
            <a:r>
              <a:rPr lang="pt-BR"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p:txBody>
      </p:sp>
      <p:sp>
        <p:nvSpPr>
          <p:cNvPr id="12" name="TextBox 11"/>
          <p:cNvSpPr txBox="1"/>
          <p:nvPr/>
        </p:nvSpPr>
        <p:spPr>
          <a:xfrm>
            <a:off x="428596" y="252691"/>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13" name="TextBox 12"/>
          <p:cNvSpPr txBox="1"/>
          <p:nvPr/>
        </p:nvSpPr>
        <p:spPr>
          <a:xfrm>
            <a:off x="285720" y="928670"/>
            <a:ext cx="8429684" cy="1608774"/>
          </a:xfrm>
          <a:prstGeom prst="rect">
            <a:avLst/>
          </a:prstGeom>
          <a:noFill/>
        </p:spPr>
        <p:txBody>
          <a:bodyPr wrap="square" rtlCol="0">
            <a:spAutoFit/>
          </a:bodyPr>
          <a:lstStyle/>
          <a:p>
            <a:pPr algn="l">
              <a:lnSpc>
                <a:spcPts val="3000"/>
              </a:lnSpc>
              <a:spcBef>
                <a:spcPts val="0"/>
              </a:spcBef>
            </a:pPr>
            <a:r>
              <a:rPr lang="zh-CN" altLang="zh-CN">
                <a:solidFill>
                  <a:srgbClr val="0000FF"/>
                </a:solidFill>
                <a:latin typeface="Consolas" pitchFamily="49" charset="0"/>
                <a:ea typeface="仿宋" pitchFamily="49" charset="-122"/>
              </a:rPr>
              <a:t>先展开一次即</a:t>
            </a:r>
            <a:endParaRPr lang="en-US" altLang="zh-CN">
              <a:solidFill>
                <a:srgbClr val="0000FF"/>
              </a:solidFill>
              <a:latin typeface="Consolas" pitchFamily="49" charset="0"/>
              <a:ea typeface="仿宋" pitchFamily="49" charset="-122"/>
            </a:endParaRPr>
          </a:p>
          <a:p>
            <a:pPr algn="l">
              <a:lnSpc>
                <a:spcPts val="3000"/>
              </a:lnSpc>
              <a:spcBef>
                <a:spcPts val="0"/>
              </a:spcBef>
            </a:pP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-2)+(</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p>
          <a:p>
            <a:pPr algn="l">
              <a:lnSpc>
                <a:spcPts val="3000"/>
              </a:lnSpc>
              <a:spcBef>
                <a:spcPts val="0"/>
              </a:spcBef>
            </a:pPr>
            <a:r>
              <a:rPr lang="pt-BR" altLang="zh-CN">
                <a:solidFill>
                  <a:srgbClr val="0000FF"/>
                </a:solidFill>
                <a:latin typeface="Consolas" pitchFamily="49" charset="0"/>
                <a:ea typeface="仿宋" pitchFamily="49" charset="-122"/>
              </a:rPr>
              <a:t>    =</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-2)+2</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algn="l">
              <a:lnSpc>
                <a:spcPts val="3000"/>
              </a:lnSpc>
              <a:spcBef>
                <a:spcPts val="0"/>
              </a:spcBef>
            </a:pPr>
            <a:r>
              <a:rPr lang="zh-CN" altLang="zh-CN">
                <a:solidFill>
                  <a:srgbClr val="0000FF"/>
                </a:solidFill>
                <a:latin typeface="Consolas" pitchFamily="49" charset="0"/>
                <a:ea typeface="仿宋" pitchFamily="49" charset="-122"/>
              </a:rPr>
              <a:t>由于</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，则</a:t>
            </a:r>
            <a:endParaRPr lang="zh-CN" altLang="en-US">
              <a:solidFill>
                <a:srgbClr val="0000FF"/>
              </a:solidFill>
              <a:latin typeface="Consolas" pitchFamily="49" charset="0"/>
              <a:ea typeface="仿宋" pitchFamily="49" charset="-122"/>
              <a:cs typeface="Consolas" pitchFamily="49" charset="0"/>
            </a:endParaRPr>
          </a:p>
        </p:txBody>
      </p:sp>
      <p:pic>
        <p:nvPicPr>
          <p:cNvPr id="35841" name="Picture 1"/>
          <p:cNvPicPr>
            <a:picLocks noChangeAspect="1" noChangeArrowheads="1"/>
          </p:cNvPicPr>
          <p:nvPr/>
        </p:nvPicPr>
        <p:blipFill>
          <a:blip r:embed="rId2" cstate="print"/>
          <a:srcRect/>
          <a:stretch>
            <a:fillRect/>
          </a:stretch>
        </p:blipFill>
        <p:spPr bwMode="auto">
          <a:xfrm>
            <a:off x="4256290" y="1928802"/>
            <a:ext cx="2458850" cy="785818"/>
          </a:xfrm>
          <a:prstGeom prst="rect">
            <a:avLst/>
          </a:prstGeom>
          <a:noFill/>
          <a:ln w="9525">
            <a:noFill/>
            <a:miter lim="800000"/>
            <a:headEnd/>
            <a:tailEnd/>
          </a:ln>
        </p:spPr>
      </p:pic>
      <p:grpSp>
        <p:nvGrpSpPr>
          <p:cNvPr id="16" name="组合 15"/>
          <p:cNvGrpSpPr/>
          <p:nvPr/>
        </p:nvGrpSpPr>
        <p:grpSpPr>
          <a:xfrm>
            <a:off x="209817" y="2500306"/>
            <a:ext cx="8862777" cy="785818"/>
            <a:chOff x="142844" y="2812317"/>
            <a:chExt cx="8862777" cy="785818"/>
          </a:xfrm>
        </p:grpSpPr>
        <p:sp>
          <p:nvSpPr>
            <p:cNvPr id="14" name="TextBox 13"/>
            <p:cNvSpPr txBox="1"/>
            <p:nvPr/>
          </p:nvSpPr>
          <p:spPr>
            <a:xfrm>
              <a:off x="142844" y="2955193"/>
              <a:ext cx="492922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所以有</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-2)+2</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pic>
          <p:nvPicPr>
            <p:cNvPr id="35842" name="Picture 2"/>
            <p:cNvPicPr>
              <a:picLocks noChangeAspect="1" noChangeArrowheads="1"/>
            </p:cNvPicPr>
            <p:nvPr/>
          </p:nvPicPr>
          <p:blipFill>
            <a:blip r:embed="rId3" cstate="print"/>
            <a:srcRect/>
            <a:stretch>
              <a:fillRect/>
            </a:stretch>
          </p:blipFill>
          <p:spPr bwMode="auto">
            <a:xfrm>
              <a:off x="4929190" y="2812317"/>
              <a:ext cx="4076431" cy="785818"/>
            </a:xfrm>
            <a:prstGeom prst="rect">
              <a:avLst/>
            </a:prstGeom>
            <a:noFill/>
            <a:ln w="9525">
              <a:noFill/>
              <a:miter lim="800000"/>
              <a:headEnd/>
              <a:tailEnd/>
            </a:ln>
          </p:spPr>
        </p:pic>
      </p:grpSp>
      <p:grpSp>
        <p:nvGrpSpPr>
          <p:cNvPr id="18" name="组合 17"/>
          <p:cNvGrpSpPr/>
          <p:nvPr/>
        </p:nvGrpSpPr>
        <p:grpSpPr>
          <a:xfrm>
            <a:off x="285720" y="3184500"/>
            <a:ext cx="8572560" cy="958880"/>
            <a:chOff x="357158" y="3541690"/>
            <a:chExt cx="8572560" cy="958880"/>
          </a:xfrm>
        </p:grpSpPr>
        <p:sp>
          <p:nvSpPr>
            <p:cNvPr id="15" name="TextBox 14"/>
            <p:cNvSpPr txBox="1"/>
            <p:nvPr/>
          </p:nvSpPr>
          <p:spPr>
            <a:xfrm>
              <a:off x="357158" y="3669573"/>
              <a:ext cx="8572560"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构造一个辅助函数</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，令</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，可以推出</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(0)=</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(0)=0</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pic>
          <p:nvPicPr>
            <p:cNvPr id="35843" name="Picture 3"/>
            <p:cNvPicPr>
              <a:picLocks noChangeAspect="1" noChangeArrowheads="1"/>
            </p:cNvPicPr>
            <p:nvPr/>
          </p:nvPicPr>
          <p:blipFill>
            <a:blip r:embed="rId4" cstate="print"/>
            <a:srcRect/>
            <a:stretch>
              <a:fillRect/>
            </a:stretch>
          </p:blipFill>
          <p:spPr bwMode="auto">
            <a:xfrm>
              <a:off x="3857620" y="3541690"/>
              <a:ext cx="1214446" cy="744707"/>
            </a:xfrm>
            <a:prstGeom prst="rect">
              <a:avLst/>
            </a:prstGeom>
            <a:noFill/>
            <a:ln w="9525">
              <a:noFill/>
              <a:miter lim="800000"/>
              <a:headEnd/>
              <a:tailEnd/>
            </a:ln>
          </p:spPr>
        </p:pic>
      </p:grpSp>
      <p:sp>
        <p:nvSpPr>
          <p:cNvPr id="17" name="TextBox 16"/>
          <p:cNvSpPr txBox="1"/>
          <p:nvPr/>
        </p:nvSpPr>
        <p:spPr>
          <a:xfrm>
            <a:off x="285720" y="4214818"/>
            <a:ext cx="8715436" cy="2323713"/>
          </a:xfrm>
          <a:prstGeom prst="rect">
            <a:avLst/>
          </a:prstGeom>
          <a:noFill/>
        </p:spPr>
        <p:txBody>
          <a:bodyPr wrap="square" rtlCol="0">
            <a:spAutoFit/>
          </a:bodyPr>
          <a:lstStyle/>
          <a:p>
            <a:pPr algn="l">
              <a:lnSpc>
                <a:spcPts val="3000"/>
              </a:lnSpc>
              <a:spcBef>
                <a:spcPts val="600"/>
              </a:spcBef>
            </a:pPr>
            <a:r>
              <a:rPr lang="zh-CN" altLang="zh-CN">
                <a:solidFill>
                  <a:srgbClr val="0000FF"/>
                </a:solidFill>
                <a:latin typeface="Consolas" pitchFamily="49" charset="0"/>
                <a:ea typeface="仿宋" pitchFamily="49" charset="-122"/>
              </a:rPr>
              <a:t>这样</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endParaRPr lang="zh-CN" altLang="zh-CN">
              <a:solidFill>
                <a:srgbClr val="0000FF"/>
              </a:solidFill>
              <a:latin typeface="Consolas" pitchFamily="49" charset="0"/>
              <a:ea typeface="仿宋" pitchFamily="49" charset="-122"/>
            </a:endParaRPr>
          </a:p>
          <a:p>
            <a:pPr algn="l">
              <a:lnSpc>
                <a:spcPts val="3000"/>
              </a:lnSpc>
              <a:spcBef>
                <a:spcPts val="600"/>
              </a:spcBef>
            </a:pPr>
            <a:r>
              <a:rPr lang="zh-CN" altLang="zh-CN">
                <a:solidFill>
                  <a:srgbClr val="0000FF"/>
                </a:solidFill>
                <a:latin typeface="Consolas" pitchFamily="49" charset="0"/>
                <a:ea typeface="仿宋" pitchFamily="49" charset="-122"/>
              </a:rPr>
              <a:t>代入递推式</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有</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algn="l">
              <a:lnSpc>
                <a:spcPts val="3000"/>
              </a:lnSpc>
              <a:spcBef>
                <a:spcPts val="600"/>
              </a:spcBef>
            </a:pPr>
            <a:r>
              <a:rPr lang="zh-CN" altLang="zh-CN">
                <a:solidFill>
                  <a:srgbClr val="0000FF"/>
                </a:solidFill>
                <a:latin typeface="Consolas" pitchFamily="49" charset="0"/>
                <a:ea typeface="仿宋" pitchFamily="49" charset="-122"/>
              </a:rPr>
              <a:t>两边除</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得到</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-1)+1</a:t>
            </a:r>
            <a:r>
              <a:rPr lang="zh-CN" altLang="zh-CN">
                <a:solidFill>
                  <a:srgbClr val="0000FF"/>
                </a:solidFill>
                <a:latin typeface="Consolas" pitchFamily="49" charset="0"/>
                <a:ea typeface="仿宋" pitchFamily="49" charset="-122"/>
              </a:rPr>
              <a:t>。</a:t>
            </a:r>
          </a:p>
          <a:p>
            <a:pPr algn="l">
              <a:lnSpc>
                <a:spcPts val="3000"/>
              </a:lnSpc>
              <a:spcBef>
                <a:spcPts val="600"/>
              </a:spcBef>
            </a:pPr>
            <a:r>
              <a:rPr lang="zh-CN" altLang="zh-CN">
                <a:solidFill>
                  <a:srgbClr val="0000FF"/>
                </a:solidFill>
                <a:latin typeface="Consolas" pitchFamily="49" charset="0"/>
                <a:ea typeface="仿宋" pitchFamily="49" charset="-122"/>
              </a:rPr>
              <a:t>采用展开法得到</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。因此</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000"/>
              </a:lnSpc>
              <a:spcBef>
                <a:spcPts val="600"/>
              </a:spcBef>
            </a:pPr>
            <a:r>
              <a:rPr lang="en-US" altLang="zh-CN" i="1">
                <a:solidFill>
                  <a:srgbClr val="0000FF"/>
                </a:solidFill>
                <a:latin typeface="Consolas" pitchFamily="49" charset="0"/>
                <a:ea typeface="仿宋" pitchFamily="49" charset="-122"/>
              </a:rPr>
              <a:t>         </a:t>
            </a:r>
            <a:r>
              <a:rPr lang="pt-BR" altLang="zh-CN" i="1">
                <a:solidFill>
                  <a:srgbClr val="0000FF"/>
                </a:solidFill>
                <a:latin typeface="Consolas" pitchFamily="49" charset="0"/>
                <a:ea typeface="仿宋" pitchFamily="49" charset="-122"/>
              </a:rPr>
              <a:t>T</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g</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!=O(</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p:txBody>
      </p:sp>
      <p:sp>
        <p:nvSpPr>
          <p:cNvPr id="19" name="灯片编号占位符 18"/>
          <p:cNvSpPr>
            <a:spLocks noGrp="1"/>
          </p:cNvSpPr>
          <p:nvPr>
            <p:ph type="sldNum" sz="quarter" idx="12"/>
          </p:nvPr>
        </p:nvSpPr>
        <p:spPr/>
        <p:txBody>
          <a:bodyPr/>
          <a:lstStyle/>
          <a:p>
            <a:fld id="{7AF016A1-9F15-429F-9EFD-84004B73C732}" type="slidenum">
              <a:rPr lang="en-US" altLang="zh-CN" smtClean="0"/>
              <a:pPr/>
              <a:t>84</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58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7">
                                            <p:txEl>
                                              <p:pRg st="3" end="3"/>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71480"/>
            <a:ext cx="357190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spcBef>
                <a:spcPts val="600"/>
              </a:spcBef>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3.6.2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递归树方法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500034" y="1500174"/>
            <a:ext cx="7786742" cy="19846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Times New Roman" pitchFamily="18" charset="0"/>
              </a:rPr>
              <a:t>用递归树求解递推式的基本过程是，展开递推式，构造对应的递归树，然后把每一层的时间进行求和，从而得到算法执行时间的估计</a:t>
            </a:r>
            <a:r>
              <a:rPr lang="zh-CN" altLang="en-US">
                <a:solidFill>
                  <a:srgbClr val="0000FF"/>
                </a:solidFill>
                <a:latin typeface="Consolas" pitchFamily="49" charset="0"/>
                <a:ea typeface="仿宋" pitchFamily="49" charset="-122"/>
                <a:cs typeface="Times New Roman" pitchFamily="18" charset="0"/>
              </a:rPr>
              <a:t>。</a:t>
            </a:r>
            <a:endParaRPr lang="en-US" altLang="zh-CN">
              <a:solidFill>
                <a:srgbClr val="0000FF"/>
              </a:solidFill>
              <a:latin typeface="Consolas" pitchFamily="49" charset="0"/>
              <a:ea typeface="仿宋" pitchFamily="49" charset="-122"/>
              <a:cs typeface="Times New Roman" pitchFamily="18"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Times New Roman" pitchFamily="18" charset="0"/>
              </a:rPr>
              <a:t>再用时间复杂度形式表示。</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85</a:t>
            </a:fld>
            <a:r>
              <a:rPr lang="en-US" altLang="zh-CN"/>
              <a:t>/91</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57184" y="289171"/>
            <a:ext cx="6300832"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cs typeface="Times New Roman" pitchFamily="18" charset="0"/>
              </a:rPr>
              <a:t>【例</a:t>
            </a:r>
            <a:r>
              <a:rPr lang="en-US" altLang="zh-CN">
                <a:solidFill>
                  <a:srgbClr val="FF0000"/>
                </a:solidFill>
                <a:latin typeface="Consolas" pitchFamily="49" charset="0"/>
                <a:ea typeface="楷体" pitchFamily="49" charset="-122"/>
                <a:cs typeface="Times New Roman" pitchFamily="18" charset="0"/>
              </a:rPr>
              <a:t>2.14</a:t>
            </a:r>
            <a:r>
              <a:rPr lang="zh-CN" altLang="zh-CN">
                <a:solidFill>
                  <a:srgbClr val="FF0000"/>
                </a:solidFill>
                <a:latin typeface="Consolas" pitchFamily="49" charset="0"/>
                <a:ea typeface="楷体"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分析以下递推式的时间复杂度。</a:t>
            </a:r>
          </a:p>
        </p:txBody>
      </p:sp>
      <p:sp>
        <p:nvSpPr>
          <p:cNvPr id="5" name="TextBox 4"/>
          <p:cNvSpPr txBox="1"/>
          <p:nvPr/>
        </p:nvSpPr>
        <p:spPr>
          <a:xfrm>
            <a:off x="714348" y="1008313"/>
            <a:ext cx="5715040" cy="91060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)=1				</a:t>
            </a:r>
            <a:r>
              <a:rPr lang="zh-CN" altLang="zh-CN" sz="2000">
                <a:solidFill>
                  <a:srgbClr val="00B0F0"/>
                </a:solidFill>
                <a:latin typeface="Consolas" pitchFamily="49" charset="0"/>
                <a:ea typeface="仿宋" pitchFamily="49" charset="-122"/>
                <a:cs typeface="Consolas" pitchFamily="49" charset="0"/>
              </a:rPr>
              <a:t>当</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a:lnSpc>
                <a:spcPct val="100000"/>
              </a:lnSpc>
              <a:spcBef>
                <a:spcPts val="600"/>
              </a:spcBef>
            </a:pP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)=2</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/2)+</a:t>
            </a:r>
            <a:r>
              <a:rPr lang="en-US" altLang="zh-CN" sz="2000" i="1">
                <a:solidFill>
                  <a:srgbClr val="0000FF"/>
                </a:solidFill>
                <a:latin typeface="Consolas" pitchFamily="49" charset="0"/>
                <a:ea typeface="仿宋" pitchFamily="49" charset="-122"/>
                <a:cs typeface="Consolas" pitchFamily="49" charset="0"/>
              </a:rPr>
              <a:t>n</a:t>
            </a:r>
            <a:r>
              <a:rPr lang="en-US" altLang="zh-CN" sz="2000" baseline="30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&gt;1</a:t>
            </a:r>
            <a:endParaRPr lang="zh-CN" altLang="zh-CN" sz="2000">
              <a:solidFill>
                <a:srgbClr val="00B0F0"/>
              </a:solidFill>
              <a:latin typeface="Consolas" pitchFamily="49" charset="0"/>
              <a:ea typeface="仿宋" pitchFamily="49" charset="-122"/>
              <a:cs typeface="Consolas" pitchFamily="49" charset="0"/>
            </a:endParaRPr>
          </a:p>
        </p:txBody>
      </p:sp>
      <p:sp>
        <p:nvSpPr>
          <p:cNvPr id="7" name="TextBox 6"/>
          <p:cNvSpPr txBox="1"/>
          <p:nvPr/>
        </p:nvSpPr>
        <p:spPr>
          <a:xfrm>
            <a:off x="714348" y="2385948"/>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b="0">
                <a:solidFill>
                  <a:srgbClr val="FF0000"/>
                </a:solidFill>
                <a:latin typeface="微软雅黑" pitchFamily="34" charset="-122"/>
                <a:ea typeface="微软雅黑" pitchFamily="34" charset="-122"/>
                <a:cs typeface="Consolas" pitchFamily="49" charset="0"/>
              </a:rPr>
              <a:t>解</a:t>
            </a:r>
            <a:endParaRPr lang="zh-CN" altLang="en-US" b="0">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grpSp>
        <p:nvGrpSpPr>
          <p:cNvPr id="2" name="组合 7"/>
          <p:cNvGrpSpPr/>
          <p:nvPr/>
        </p:nvGrpSpPr>
        <p:grpSpPr>
          <a:xfrm>
            <a:off x="698196" y="2786058"/>
            <a:ext cx="7802894" cy="2571768"/>
            <a:chOff x="555320" y="928670"/>
            <a:chExt cx="7802894" cy="2571768"/>
          </a:xfrm>
        </p:grpSpPr>
        <p:sp>
          <p:nvSpPr>
            <p:cNvPr id="9" name="Text Box 23"/>
            <p:cNvSpPr txBox="1">
              <a:spLocks noChangeArrowheads="1"/>
            </p:cNvSpPr>
            <p:nvPr/>
          </p:nvSpPr>
          <p:spPr bwMode="auto">
            <a:xfrm>
              <a:off x="3292375" y="1643050"/>
              <a:ext cx="294486"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0" name="Text Box 22"/>
            <p:cNvSpPr txBox="1">
              <a:spLocks noChangeArrowheads="1"/>
            </p:cNvSpPr>
            <p:nvPr/>
          </p:nvSpPr>
          <p:spPr bwMode="auto">
            <a:xfrm>
              <a:off x="2285984" y="2479519"/>
              <a:ext cx="835885"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1" name="Text Box 21"/>
            <p:cNvSpPr txBox="1">
              <a:spLocks noChangeArrowheads="1"/>
            </p:cNvSpPr>
            <p:nvPr/>
          </p:nvSpPr>
          <p:spPr bwMode="auto">
            <a:xfrm>
              <a:off x="3691383" y="2479519"/>
              <a:ext cx="880617"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2" name="Text Box 20"/>
            <p:cNvSpPr txBox="1">
              <a:spLocks noChangeArrowheads="1"/>
            </p:cNvSpPr>
            <p:nvPr/>
          </p:nvSpPr>
          <p:spPr bwMode="auto">
            <a:xfrm>
              <a:off x="650520" y="2208663"/>
              <a:ext cx="675891"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13" name="Text Box 19"/>
            <p:cNvSpPr txBox="1">
              <a:spLocks noChangeArrowheads="1"/>
            </p:cNvSpPr>
            <p:nvPr/>
          </p:nvSpPr>
          <p:spPr bwMode="auto">
            <a:xfrm>
              <a:off x="555320" y="3206053"/>
              <a:ext cx="1028756"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初始</a:t>
              </a:r>
            </a:p>
          </p:txBody>
        </p:sp>
        <p:sp>
          <p:nvSpPr>
            <p:cNvPr id="14" name="Text Box 18"/>
            <p:cNvSpPr txBox="1">
              <a:spLocks noChangeArrowheads="1"/>
            </p:cNvSpPr>
            <p:nvPr/>
          </p:nvSpPr>
          <p:spPr bwMode="auto">
            <a:xfrm>
              <a:off x="2643174" y="3206053"/>
              <a:ext cx="1553657"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展开</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15" name="AutoShape 17"/>
            <p:cNvSpPr>
              <a:spLocks noChangeShapeType="1"/>
            </p:cNvSpPr>
            <p:nvPr/>
          </p:nvSpPr>
          <p:spPr bwMode="auto">
            <a:xfrm flipH="1">
              <a:off x="2784573" y="1937435"/>
              <a:ext cx="337297" cy="54208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16" name="AutoShape 16"/>
            <p:cNvSpPr>
              <a:spLocks noChangeShapeType="1"/>
            </p:cNvSpPr>
            <p:nvPr/>
          </p:nvSpPr>
          <p:spPr bwMode="auto">
            <a:xfrm>
              <a:off x="3655059" y="1937435"/>
              <a:ext cx="374919" cy="54208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17" name="Text Box 15"/>
            <p:cNvSpPr txBox="1">
              <a:spLocks noChangeArrowheads="1"/>
            </p:cNvSpPr>
            <p:nvPr/>
          </p:nvSpPr>
          <p:spPr bwMode="auto">
            <a:xfrm>
              <a:off x="6489651" y="928670"/>
              <a:ext cx="294486"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8" name="Text Box 14"/>
            <p:cNvSpPr txBox="1">
              <a:spLocks noChangeArrowheads="1"/>
            </p:cNvSpPr>
            <p:nvPr/>
          </p:nvSpPr>
          <p:spPr bwMode="auto">
            <a:xfrm>
              <a:off x="5422862" y="1765139"/>
              <a:ext cx="833487"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9" name="Text Box 13"/>
            <p:cNvSpPr txBox="1">
              <a:spLocks noChangeArrowheads="1"/>
            </p:cNvSpPr>
            <p:nvPr/>
          </p:nvSpPr>
          <p:spPr bwMode="auto">
            <a:xfrm>
              <a:off x="5786447" y="3206053"/>
              <a:ext cx="1785950"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展开</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20" name="AutoShape 12"/>
            <p:cNvSpPr>
              <a:spLocks noChangeShapeType="1"/>
            </p:cNvSpPr>
            <p:nvPr/>
          </p:nvSpPr>
          <p:spPr bwMode="auto">
            <a:xfrm flipH="1">
              <a:off x="5863057" y="1223055"/>
              <a:ext cx="559135" cy="54208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1" name="AutoShape 11"/>
            <p:cNvSpPr>
              <a:spLocks noChangeShapeType="1"/>
            </p:cNvSpPr>
            <p:nvPr/>
          </p:nvSpPr>
          <p:spPr bwMode="auto">
            <a:xfrm>
              <a:off x="6815272" y="1223055"/>
              <a:ext cx="713513" cy="56153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2" name="Text Box 10"/>
            <p:cNvSpPr txBox="1">
              <a:spLocks noChangeArrowheads="1"/>
            </p:cNvSpPr>
            <p:nvPr/>
          </p:nvSpPr>
          <p:spPr bwMode="auto">
            <a:xfrm>
              <a:off x="4929191" y="2631436"/>
              <a:ext cx="869002"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23" name="Text Box 9"/>
            <p:cNvSpPr txBox="1">
              <a:spLocks noChangeArrowheads="1"/>
            </p:cNvSpPr>
            <p:nvPr/>
          </p:nvSpPr>
          <p:spPr bwMode="auto">
            <a:xfrm>
              <a:off x="5912354" y="2631436"/>
              <a:ext cx="731348"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24" name="AutoShape 8"/>
            <p:cNvSpPr>
              <a:spLocks noChangeShapeType="1"/>
            </p:cNvSpPr>
            <p:nvPr/>
          </p:nvSpPr>
          <p:spPr bwMode="auto">
            <a:xfrm flipH="1">
              <a:off x="5460895" y="2149007"/>
              <a:ext cx="214054" cy="482429"/>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5" name="AutoShape 7"/>
            <p:cNvSpPr>
              <a:spLocks noChangeShapeType="1"/>
            </p:cNvSpPr>
            <p:nvPr/>
          </p:nvSpPr>
          <p:spPr bwMode="auto">
            <a:xfrm>
              <a:off x="5994084" y="2132148"/>
              <a:ext cx="256865" cy="49928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6" name="Text Box 6"/>
            <p:cNvSpPr txBox="1">
              <a:spLocks noChangeArrowheads="1"/>
            </p:cNvSpPr>
            <p:nvPr/>
          </p:nvSpPr>
          <p:spPr bwMode="auto">
            <a:xfrm>
              <a:off x="7066012" y="1784592"/>
              <a:ext cx="882271"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7" name="Text Box 5"/>
            <p:cNvSpPr txBox="1">
              <a:spLocks noChangeArrowheads="1"/>
            </p:cNvSpPr>
            <p:nvPr/>
          </p:nvSpPr>
          <p:spPr bwMode="auto">
            <a:xfrm>
              <a:off x="6754162" y="2650889"/>
              <a:ext cx="784367"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28" name="Text Box 4"/>
            <p:cNvSpPr txBox="1">
              <a:spLocks noChangeArrowheads="1"/>
            </p:cNvSpPr>
            <p:nvPr/>
          </p:nvSpPr>
          <p:spPr bwMode="auto">
            <a:xfrm>
              <a:off x="7578083" y="2650889"/>
              <a:ext cx="780131" cy="2943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30" name="AutoShape 3"/>
            <p:cNvSpPr>
              <a:spLocks noChangeShapeType="1"/>
            </p:cNvSpPr>
            <p:nvPr/>
          </p:nvSpPr>
          <p:spPr bwMode="auto">
            <a:xfrm flipH="1">
              <a:off x="7126624" y="2168460"/>
              <a:ext cx="214054" cy="482429"/>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31" name="AutoShape 2"/>
            <p:cNvSpPr>
              <a:spLocks noChangeShapeType="1"/>
            </p:cNvSpPr>
            <p:nvPr/>
          </p:nvSpPr>
          <p:spPr bwMode="auto">
            <a:xfrm>
              <a:off x="7659812" y="2151601"/>
              <a:ext cx="256865" cy="49928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sp>
        <p:nvSpPr>
          <p:cNvPr id="33" name="灯片编号占位符 32"/>
          <p:cNvSpPr>
            <a:spLocks noGrp="1"/>
          </p:cNvSpPr>
          <p:nvPr>
            <p:ph type="sldNum" sz="quarter" idx="12"/>
          </p:nvPr>
        </p:nvSpPr>
        <p:spPr/>
        <p:txBody>
          <a:bodyPr/>
          <a:lstStyle/>
          <a:p>
            <a:fld id="{7AF016A1-9F15-429F-9EFD-84004B73C732}" type="slidenum">
              <a:rPr lang="en-US" altLang="zh-CN" smtClean="0"/>
              <a:pPr/>
              <a:t>86</a:t>
            </a:fld>
            <a:r>
              <a:rPr lang="en-US" altLang="zh-CN"/>
              <a:t>/91</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6846" name="Rectangle 4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74"/>
          <p:cNvGrpSpPr/>
          <p:nvPr/>
        </p:nvGrpSpPr>
        <p:grpSpPr>
          <a:xfrm>
            <a:off x="857223" y="357166"/>
            <a:ext cx="7286677" cy="3143272"/>
            <a:chOff x="857223" y="928670"/>
            <a:chExt cx="5929355" cy="2643206"/>
          </a:xfrm>
        </p:grpSpPr>
        <p:sp>
          <p:nvSpPr>
            <p:cNvPr id="76844" name="Text Box 44"/>
            <p:cNvSpPr txBox="1">
              <a:spLocks noChangeArrowheads="1"/>
            </p:cNvSpPr>
            <p:nvPr/>
          </p:nvSpPr>
          <p:spPr bwMode="auto">
            <a:xfrm>
              <a:off x="3543697" y="938906"/>
              <a:ext cx="258092"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43" name="Text Box 43"/>
            <p:cNvSpPr txBox="1">
              <a:spLocks noChangeArrowheads="1"/>
            </p:cNvSpPr>
            <p:nvPr/>
          </p:nvSpPr>
          <p:spPr bwMode="auto">
            <a:xfrm>
              <a:off x="2659282" y="1460951"/>
              <a:ext cx="696815"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42" name="Text Box 42"/>
            <p:cNvSpPr txBox="1">
              <a:spLocks noChangeArrowheads="1"/>
            </p:cNvSpPr>
            <p:nvPr/>
          </p:nvSpPr>
          <p:spPr bwMode="auto">
            <a:xfrm>
              <a:off x="4112556" y="1460951"/>
              <a:ext cx="751673"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41" name="Text Box 41"/>
            <p:cNvSpPr txBox="1">
              <a:spLocks noChangeArrowheads="1"/>
            </p:cNvSpPr>
            <p:nvPr/>
          </p:nvSpPr>
          <p:spPr bwMode="auto">
            <a:xfrm>
              <a:off x="2194235" y="2089906"/>
              <a:ext cx="688885"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40" name="Line 40"/>
            <p:cNvSpPr>
              <a:spLocks noChangeShapeType="1"/>
            </p:cNvSpPr>
            <p:nvPr/>
          </p:nvSpPr>
          <p:spPr bwMode="auto">
            <a:xfrm flipH="1">
              <a:off x="3151443" y="1123157"/>
              <a:ext cx="409309" cy="35485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9" name="Line 39"/>
            <p:cNvSpPr>
              <a:spLocks noChangeShapeType="1"/>
            </p:cNvSpPr>
            <p:nvPr/>
          </p:nvSpPr>
          <p:spPr bwMode="auto">
            <a:xfrm>
              <a:off x="3765406" y="1123157"/>
              <a:ext cx="409309" cy="35485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8" name="Freeform 38"/>
            <p:cNvSpPr>
              <a:spLocks/>
            </p:cNvSpPr>
            <p:nvPr/>
          </p:nvSpPr>
          <p:spPr bwMode="auto">
            <a:xfrm>
              <a:off x="2551124" y="1689558"/>
              <a:ext cx="296749" cy="382150"/>
            </a:xfrm>
            <a:custGeom>
              <a:avLst/>
              <a:gdLst/>
              <a:ahLst/>
              <a:cxnLst>
                <a:cxn ang="0">
                  <a:pos x="261" y="0"/>
                </a:cxn>
                <a:cxn ang="0">
                  <a:pos x="0" y="336"/>
                </a:cxn>
              </a:cxnLst>
              <a:rect l="0" t="0" r="r" b="b"/>
              <a:pathLst>
                <a:path w="261" h="336">
                  <a:moveTo>
                    <a:pt x="261" y="0"/>
                  </a:moveTo>
                  <a:lnTo>
                    <a:pt x="0" y="336"/>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7" name="Freeform 37"/>
            <p:cNvSpPr>
              <a:spLocks/>
            </p:cNvSpPr>
            <p:nvPr/>
          </p:nvSpPr>
          <p:spPr bwMode="auto">
            <a:xfrm>
              <a:off x="3055938" y="1691833"/>
              <a:ext cx="266051" cy="383288"/>
            </a:xfrm>
            <a:custGeom>
              <a:avLst/>
              <a:gdLst/>
              <a:ahLst/>
              <a:cxnLst>
                <a:cxn ang="0">
                  <a:pos x="0" y="0"/>
                </a:cxn>
                <a:cxn ang="0">
                  <a:pos x="234" y="336"/>
                </a:cxn>
              </a:cxnLst>
              <a:rect l="0" t="0" r="r" b="b"/>
              <a:pathLst>
                <a:path w="234" h="336">
                  <a:moveTo>
                    <a:pt x="0" y="0"/>
                  </a:moveTo>
                  <a:lnTo>
                    <a:pt x="234" y="336"/>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6" name="Freeform 36"/>
            <p:cNvSpPr>
              <a:spLocks/>
            </p:cNvSpPr>
            <p:nvPr/>
          </p:nvSpPr>
          <p:spPr bwMode="auto">
            <a:xfrm>
              <a:off x="2360113" y="2348085"/>
              <a:ext cx="129614" cy="184251"/>
            </a:xfrm>
            <a:custGeom>
              <a:avLst/>
              <a:gdLst/>
              <a:ahLst/>
              <a:cxnLst>
                <a:cxn ang="0">
                  <a:pos x="114" y="0"/>
                </a:cxn>
                <a:cxn ang="0">
                  <a:pos x="0" y="162"/>
                </a:cxn>
              </a:cxnLst>
              <a:rect l="0" t="0" r="r" b="b"/>
              <a:pathLst>
                <a:path w="114" h="162">
                  <a:moveTo>
                    <a:pt x="114" y="0"/>
                  </a:moveTo>
                  <a:lnTo>
                    <a:pt x="0" y="16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5" name="Freeform 35"/>
            <p:cNvSpPr>
              <a:spLocks/>
            </p:cNvSpPr>
            <p:nvPr/>
          </p:nvSpPr>
          <p:spPr bwMode="auto">
            <a:xfrm>
              <a:off x="2595466" y="2344673"/>
              <a:ext cx="146669" cy="197899"/>
            </a:xfrm>
            <a:custGeom>
              <a:avLst/>
              <a:gdLst/>
              <a:ahLst/>
              <a:cxnLst>
                <a:cxn ang="0">
                  <a:pos x="0" y="0"/>
                </a:cxn>
                <a:cxn ang="0">
                  <a:pos x="129" y="174"/>
                </a:cxn>
              </a:cxnLst>
              <a:rect l="0" t="0" r="r" b="b"/>
              <a:pathLst>
                <a:path w="129" h="174">
                  <a:moveTo>
                    <a:pt x="0" y="0"/>
                  </a:moveTo>
                  <a:lnTo>
                    <a:pt x="129" y="174"/>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4" name="Text Box 34"/>
            <p:cNvSpPr txBox="1">
              <a:spLocks noChangeArrowheads="1"/>
            </p:cNvSpPr>
            <p:nvPr/>
          </p:nvSpPr>
          <p:spPr bwMode="auto">
            <a:xfrm>
              <a:off x="2332826" y="2542572"/>
              <a:ext cx="409309"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p>
          </p:txBody>
        </p:sp>
        <p:sp>
          <p:nvSpPr>
            <p:cNvPr id="76833" name="Freeform 33"/>
            <p:cNvSpPr>
              <a:spLocks/>
            </p:cNvSpPr>
            <p:nvPr/>
          </p:nvSpPr>
          <p:spPr bwMode="auto">
            <a:xfrm>
              <a:off x="3997347" y="1696383"/>
              <a:ext cx="296749" cy="382150"/>
            </a:xfrm>
            <a:custGeom>
              <a:avLst/>
              <a:gdLst/>
              <a:ahLst/>
              <a:cxnLst>
                <a:cxn ang="0">
                  <a:pos x="261" y="0"/>
                </a:cxn>
                <a:cxn ang="0">
                  <a:pos x="0" y="336"/>
                </a:cxn>
              </a:cxnLst>
              <a:rect l="0" t="0" r="r" b="b"/>
              <a:pathLst>
                <a:path w="261" h="336">
                  <a:moveTo>
                    <a:pt x="261" y="0"/>
                  </a:moveTo>
                  <a:lnTo>
                    <a:pt x="0" y="336"/>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2" name="Freeform 32"/>
            <p:cNvSpPr>
              <a:spLocks/>
            </p:cNvSpPr>
            <p:nvPr/>
          </p:nvSpPr>
          <p:spPr bwMode="auto">
            <a:xfrm>
              <a:off x="4502161" y="1699795"/>
              <a:ext cx="266051" cy="382150"/>
            </a:xfrm>
            <a:custGeom>
              <a:avLst/>
              <a:gdLst/>
              <a:ahLst/>
              <a:cxnLst>
                <a:cxn ang="0">
                  <a:pos x="0" y="0"/>
                </a:cxn>
                <a:cxn ang="0">
                  <a:pos x="234" y="336"/>
                </a:cxn>
              </a:cxnLst>
              <a:rect l="0" t="0" r="r" b="b"/>
              <a:pathLst>
                <a:path w="234" h="336">
                  <a:moveTo>
                    <a:pt x="0" y="0"/>
                  </a:moveTo>
                  <a:lnTo>
                    <a:pt x="234" y="336"/>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1" name="Freeform 31"/>
            <p:cNvSpPr>
              <a:spLocks/>
            </p:cNvSpPr>
            <p:nvPr/>
          </p:nvSpPr>
          <p:spPr bwMode="auto">
            <a:xfrm>
              <a:off x="3178730" y="2344673"/>
              <a:ext cx="130751" cy="184251"/>
            </a:xfrm>
            <a:custGeom>
              <a:avLst/>
              <a:gdLst/>
              <a:ahLst/>
              <a:cxnLst>
                <a:cxn ang="0">
                  <a:pos x="114" y="0"/>
                </a:cxn>
                <a:cxn ang="0">
                  <a:pos x="0" y="162"/>
                </a:cxn>
              </a:cxnLst>
              <a:rect l="0" t="0" r="r" b="b"/>
              <a:pathLst>
                <a:path w="114" h="162">
                  <a:moveTo>
                    <a:pt x="114" y="0"/>
                  </a:moveTo>
                  <a:lnTo>
                    <a:pt x="0" y="16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30" name="Freeform 30"/>
            <p:cNvSpPr>
              <a:spLocks/>
            </p:cNvSpPr>
            <p:nvPr/>
          </p:nvSpPr>
          <p:spPr bwMode="auto">
            <a:xfrm>
              <a:off x="3414083" y="2341261"/>
              <a:ext cx="146669" cy="197899"/>
            </a:xfrm>
            <a:custGeom>
              <a:avLst/>
              <a:gdLst/>
              <a:ahLst/>
              <a:cxnLst>
                <a:cxn ang="0">
                  <a:pos x="0" y="0"/>
                </a:cxn>
                <a:cxn ang="0">
                  <a:pos x="129" y="174"/>
                </a:cxn>
              </a:cxnLst>
              <a:rect l="0" t="0" r="r" b="b"/>
              <a:pathLst>
                <a:path w="129" h="174">
                  <a:moveTo>
                    <a:pt x="0" y="0"/>
                  </a:moveTo>
                  <a:lnTo>
                    <a:pt x="129" y="174"/>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9" name="Text Box 29"/>
            <p:cNvSpPr txBox="1">
              <a:spLocks noChangeArrowheads="1"/>
            </p:cNvSpPr>
            <p:nvPr/>
          </p:nvSpPr>
          <p:spPr bwMode="auto">
            <a:xfrm>
              <a:off x="3151443" y="2539160"/>
              <a:ext cx="409309"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p>
          </p:txBody>
        </p:sp>
        <p:sp>
          <p:nvSpPr>
            <p:cNvPr id="76828" name="Freeform 28"/>
            <p:cNvSpPr>
              <a:spLocks/>
            </p:cNvSpPr>
            <p:nvPr/>
          </p:nvSpPr>
          <p:spPr bwMode="auto">
            <a:xfrm>
              <a:off x="3792693" y="2345811"/>
              <a:ext cx="128477" cy="184251"/>
            </a:xfrm>
            <a:custGeom>
              <a:avLst/>
              <a:gdLst/>
              <a:ahLst/>
              <a:cxnLst>
                <a:cxn ang="0">
                  <a:pos x="114" y="0"/>
                </a:cxn>
                <a:cxn ang="0">
                  <a:pos x="0" y="162"/>
                </a:cxn>
              </a:cxnLst>
              <a:rect l="0" t="0" r="r" b="b"/>
              <a:pathLst>
                <a:path w="114" h="162">
                  <a:moveTo>
                    <a:pt x="114" y="0"/>
                  </a:moveTo>
                  <a:lnTo>
                    <a:pt x="0" y="16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7" name="Freeform 27"/>
            <p:cNvSpPr>
              <a:spLocks/>
            </p:cNvSpPr>
            <p:nvPr/>
          </p:nvSpPr>
          <p:spPr bwMode="auto">
            <a:xfrm>
              <a:off x="4028046" y="2341261"/>
              <a:ext cx="146669" cy="199037"/>
            </a:xfrm>
            <a:custGeom>
              <a:avLst/>
              <a:gdLst/>
              <a:ahLst/>
              <a:cxnLst>
                <a:cxn ang="0">
                  <a:pos x="0" y="0"/>
                </a:cxn>
                <a:cxn ang="0">
                  <a:pos x="129" y="174"/>
                </a:cxn>
              </a:cxnLst>
              <a:rect l="0" t="0" r="r" b="b"/>
              <a:pathLst>
                <a:path w="129" h="174">
                  <a:moveTo>
                    <a:pt x="0" y="0"/>
                  </a:moveTo>
                  <a:lnTo>
                    <a:pt x="129" y="174"/>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6" name="Text Box 26"/>
            <p:cNvSpPr txBox="1">
              <a:spLocks noChangeArrowheads="1"/>
            </p:cNvSpPr>
            <p:nvPr/>
          </p:nvSpPr>
          <p:spPr bwMode="auto">
            <a:xfrm>
              <a:off x="3765406" y="2540298"/>
              <a:ext cx="409309"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p>
          </p:txBody>
        </p:sp>
        <p:sp>
          <p:nvSpPr>
            <p:cNvPr id="76825" name="Freeform 25"/>
            <p:cNvSpPr>
              <a:spLocks/>
            </p:cNvSpPr>
            <p:nvPr/>
          </p:nvSpPr>
          <p:spPr bwMode="auto">
            <a:xfrm>
              <a:off x="4611310" y="2341261"/>
              <a:ext cx="129614" cy="185388"/>
            </a:xfrm>
            <a:custGeom>
              <a:avLst/>
              <a:gdLst/>
              <a:ahLst/>
              <a:cxnLst>
                <a:cxn ang="0">
                  <a:pos x="114" y="0"/>
                </a:cxn>
                <a:cxn ang="0">
                  <a:pos x="0" y="162"/>
                </a:cxn>
              </a:cxnLst>
              <a:rect l="0" t="0" r="r" b="b"/>
              <a:pathLst>
                <a:path w="114" h="162">
                  <a:moveTo>
                    <a:pt x="114" y="0"/>
                  </a:moveTo>
                  <a:lnTo>
                    <a:pt x="0" y="16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4" name="Freeform 24"/>
            <p:cNvSpPr>
              <a:spLocks/>
            </p:cNvSpPr>
            <p:nvPr/>
          </p:nvSpPr>
          <p:spPr bwMode="auto">
            <a:xfrm>
              <a:off x="4845526" y="2338986"/>
              <a:ext cx="146669" cy="197899"/>
            </a:xfrm>
            <a:custGeom>
              <a:avLst/>
              <a:gdLst/>
              <a:ahLst/>
              <a:cxnLst>
                <a:cxn ang="0">
                  <a:pos x="0" y="0"/>
                </a:cxn>
                <a:cxn ang="0">
                  <a:pos x="129" y="174"/>
                </a:cxn>
              </a:cxnLst>
              <a:rect l="0" t="0" r="r" b="b"/>
              <a:pathLst>
                <a:path w="129" h="174">
                  <a:moveTo>
                    <a:pt x="0" y="0"/>
                  </a:moveTo>
                  <a:lnTo>
                    <a:pt x="129" y="174"/>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3" name="Text Box 23"/>
            <p:cNvSpPr txBox="1">
              <a:spLocks noChangeArrowheads="1"/>
            </p:cNvSpPr>
            <p:nvPr/>
          </p:nvSpPr>
          <p:spPr bwMode="auto">
            <a:xfrm>
              <a:off x="4584023" y="2536886"/>
              <a:ext cx="408172"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p>
          </p:txBody>
        </p:sp>
        <p:sp>
          <p:nvSpPr>
            <p:cNvPr id="76822" name="Text Box 22"/>
            <p:cNvSpPr txBox="1">
              <a:spLocks noChangeArrowheads="1"/>
            </p:cNvSpPr>
            <p:nvPr/>
          </p:nvSpPr>
          <p:spPr bwMode="auto">
            <a:xfrm>
              <a:off x="857223" y="2014527"/>
              <a:ext cx="1143009" cy="5762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高度为</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log</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76821" name="AutoShape 21"/>
            <p:cNvSpPr>
              <a:spLocks/>
            </p:cNvSpPr>
            <p:nvPr/>
          </p:nvSpPr>
          <p:spPr bwMode="auto">
            <a:xfrm>
              <a:off x="1923517" y="1031455"/>
              <a:ext cx="204654" cy="2468054"/>
            </a:xfrm>
            <a:prstGeom prst="leftBrace">
              <a:avLst>
                <a:gd name="adj1" fmla="val 100463"/>
                <a:gd name="adj2" fmla="val 50000"/>
              </a:avLst>
            </a:prstGeom>
            <a:noFill/>
            <a:ln w="19050">
              <a:solidFill>
                <a:srgbClr val="0066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20" name="Line 20"/>
            <p:cNvSpPr>
              <a:spLocks noChangeShapeType="1"/>
            </p:cNvSpPr>
            <p:nvPr/>
          </p:nvSpPr>
          <p:spPr bwMode="auto">
            <a:xfrm>
              <a:off x="4174715" y="1061740"/>
              <a:ext cx="2046543" cy="1137"/>
            </a:xfrm>
            <a:prstGeom prst="line">
              <a:avLst/>
            </a:prstGeom>
            <a:noFill/>
            <a:ln w="19050">
              <a:solidFill>
                <a:srgbClr val="0066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19" name="Text Box 19"/>
            <p:cNvSpPr txBox="1">
              <a:spLocks noChangeArrowheads="1"/>
            </p:cNvSpPr>
            <p:nvPr/>
          </p:nvSpPr>
          <p:spPr bwMode="auto">
            <a:xfrm>
              <a:off x="6257640" y="928670"/>
              <a:ext cx="258092"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18" name="Text Box 18"/>
            <p:cNvSpPr txBox="1">
              <a:spLocks noChangeArrowheads="1"/>
            </p:cNvSpPr>
            <p:nvPr/>
          </p:nvSpPr>
          <p:spPr bwMode="auto">
            <a:xfrm>
              <a:off x="3008068" y="2089906"/>
              <a:ext cx="703901"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17" name="Text Box 17"/>
            <p:cNvSpPr txBox="1">
              <a:spLocks noChangeArrowheads="1"/>
            </p:cNvSpPr>
            <p:nvPr/>
          </p:nvSpPr>
          <p:spPr bwMode="auto">
            <a:xfrm>
              <a:off x="3747214" y="2089906"/>
              <a:ext cx="714127"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16" name="Text Box 16"/>
            <p:cNvSpPr txBox="1">
              <a:spLocks noChangeArrowheads="1"/>
            </p:cNvSpPr>
            <p:nvPr/>
          </p:nvSpPr>
          <p:spPr bwMode="auto">
            <a:xfrm>
              <a:off x="4461341" y="2089906"/>
              <a:ext cx="755702"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76815" name="Freeform 15"/>
            <p:cNvSpPr>
              <a:spLocks/>
            </p:cNvSpPr>
            <p:nvPr/>
          </p:nvSpPr>
          <p:spPr bwMode="auto">
            <a:xfrm>
              <a:off x="4974003" y="1590609"/>
              <a:ext cx="1206323" cy="2275"/>
            </a:xfrm>
            <a:custGeom>
              <a:avLst/>
              <a:gdLst/>
              <a:ahLst/>
              <a:cxnLst>
                <a:cxn ang="0">
                  <a:pos x="0" y="2"/>
                </a:cxn>
                <a:cxn ang="0">
                  <a:pos x="1060" y="0"/>
                </a:cxn>
              </a:cxnLst>
              <a:rect l="0" t="0" r="r" b="b"/>
              <a:pathLst>
                <a:path w="1060" h="2">
                  <a:moveTo>
                    <a:pt x="0" y="2"/>
                  </a:moveTo>
                  <a:lnTo>
                    <a:pt x="1060" y="0"/>
                  </a:lnTo>
                </a:path>
              </a:pathLst>
            </a:custGeom>
            <a:noFill/>
            <a:ln w="19050">
              <a:solidFill>
                <a:srgbClr val="0066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14" name="Text Box 14"/>
            <p:cNvSpPr txBox="1">
              <a:spLocks noChangeArrowheads="1"/>
            </p:cNvSpPr>
            <p:nvPr/>
          </p:nvSpPr>
          <p:spPr bwMode="auto">
            <a:xfrm>
              <a:off x="6264462" y="1460951"/>
              <a:ext cx="522116"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76813" name="Freeform 13"/>
            <p:cNvSpPr>
              <a:spLocks/>
            </p:cNvSpPr>
            <p:nvPr/>
          </p:nvSpPr>
          <p:spPr bwMode="auto">
            <a:xfrm>
              <a:off x="5313957" y="2221839"/>
              <a:ext cx="845904" cy="2275"/>
            </a:xfrm>
            <a:custGeom>
              <a:avLst/>
              <a:gdLst/>
              <a:ahLst/>
              <a:cxnLst>
                <a:cxn ang="0">
                  <a:pos x="0" y="0"/>
                </a:cxn>
                <a:cxn ang="0">
                  <a:pos x="745" y="0"/>
                </a:cxn>
              </a:cxnLst>
              <a:rect l="0" t="0" r="r" b="b"/>
              <a:pathLst>
                <a:path w="745" h="1">
                  <a:moveTo>
                    <a:pt x="0" y="0"/>
                  </a:moveTo>
                  <a:lnTo>
                    <a:pt x="745" y="0"/>
                  </a:lnTo>
                </a:path>
              </a:pathLst>
            </a:custGeom>
            <a:noFill/>
            <a:ln w="19050">
              <a:solidFill>
                <a:srgbClr val="0066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12" name="Text Box 12"/>
            <p:cNvSpPr txBox="1">
              <a:spLocks noChangeArrowheads="1"/>
            </p:cNvSpPr>
            <p:nvPr/>
          </p:nvSpPr>
          <p:spPr bwMode="auto">
            <a:xfrm>
              <a:off x="6264462" y="2089906"/>
              <a:ext cx="522116"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76811" name="Text Box 11"/>
            <p:cNvSpPr txBox="1">
              <a:spLocks noChangeArrowheads="1"/>
            </p:cNvSpPr>
            <p:nvPr/>
          </p:nvSpPr>
          <p:spPr bwMode="auto">
            <a:xfrm>
              <a:off x="2441975" y="3313697"/>
              <a:ext cx="204654"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76810" name="Line 10"/>
            <p:cNvSpPr>
              <a:spLocks noChangeShapeType="1"/>
            </p:cNvSpPr>
            <p:nvPr/>
          </p:nvSpPr>
          <p:spPr bwMode="auto">
            <a:xfrm>
              <a:off x="2537480" y="2880366"/>
              <a:ext cx="1137" cy="354854"/>
            </a:xfrm>
            <a:prstGeom prst="line">
              <a:avLst/>
            </a:prstGeom>
            <a:noFill/>
            <a:ln w="1905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09" name="Text Box 9"/>
            <p:cNvSpPr txBox="1">
              <a:spLocks noChangeArrowheads="1"/>
            </p:cNvSpPr>
            <p:nvPr/>
          </p:nvSpPr>
          <p:spPr bwMode="auto">
            <a:xfrm>
              <a:off x="3274236" y="3313697"/>
              <a:ext cx="204654"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76808" name="Line 8"/>
            <p:cNvSpPr>
              <a:spLocks noChangeShapeType="1"/>
            </p:cNvSpPr>
            <p:nvPr/>
          </p:nvSpPr>
          <p:spPr bwMode="auto">
            <a:xfrm>
              <a:off x="3369741" y="2880366"/>
              <a:ext cx="1137" cy="354854"/>
            </a:xfrm>
            <a:prstGeom prst="line">
              <a:avLst/>
            </a:prstGeom>
            <a:noFill/>
            <a:ln w="1905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07" name="Text Box 7"/>
            <p:cNvSpPr txBox="1">
              <a:spLocks noChangeArrowheads="1"/>
            </p:cNvSpPr>
            <p:nvPr/>
          </p:nvSpPr>
          <p:spPr bwMode="auto">
            <a:xfrm>
              <a:off x="3888198" y="3313697"/>
              <a:ext cx="204654"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76806" name="Line 6"/>
            <p:cNvSpPr>
              <a:spLocks noChangeShapeType="1"/>
            </p:cNvSpPr>
            <p:nvPr/>
          </p:nvSpPr>
          <p:spPr bwMode="auto">
            <a:xfrm>
              <a:off x="3983704" y="2880366"/>
              <a:ext cx="1137" cy="354854"/>
            </a:xfrm>
            <a:prstGeom prst="line">
              <a:avLst/>
            </a:prstGeom>
            <a:noFill/>
            <a:ln w="1905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05" name="Text Box 5"/>
            <p:cNvSpPr txBox="1">
              <a:spLocks noChangeArrowheads="1"/>
            </p:cNvSpPr>
            <p:nvPr/>
          </p:nvSpPr>
          <p:spPr bwMode="auto">
            <a:xfrm>
              <a:off x="4752294" y="3295499"/>
              <a:ext cx="204654"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76804" name="Line 4"/>
            <p:cNvSpPr>
              <a:spLocks noChangeShapeType="1"/>
            </p:cNvSpPr>
            <p:nvPr/>
          </p:nvSpPr>
          <p:spPr bwMode="auto">
            <a:xfrm>
              <a:off x="4847800" y="2862168"/>
              <a:ext cx="1137" cy="354854"/>
            </a:xfrm>
            <a:prstGeom prst="line">
              <a:avLst/>
            </a:prstGeom>
            <a:noFill/>
            <a:ln w="1905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03" name="Freeform 3"/>
            <p:cNvSpPr>
              <a:spLocks/>
            </p:cNvSpPr>
            <p:nvPr/>
          </p:nvSpPr>
          <p:spPr bwMode="auto">
            <a:xfrm>
              <a:off x="5313957" y="3427432"/>
              <a:ext cx="845904" cy="1137"/>
            </a:xfrm>
            <a:custGeom>
              <a:avLst/>
              <a:gdLst/>
              <a:ahLst/>
              <a:cxnLst>
                <a:cxn ang="0">
                  <a:pos x="0" y="0"/>
                </a:cxn>
                <a:cxn ang="0">
                  <a:pos x="745" y="0"/>
                </a:cxn>
              </a:cxnLst>
              <a:rect l="0" t="0" r="r" b="b"/>
              <a:pathLst>
                <a:path w="745" h="1">
                  <a:moveTo>
                    <a:pt x="0" y="0"/>
                  </a:moveTo>
                  <a:lnTo>
                    <a:pt x="745" y="0"/>
                  </a:lnTo>
                </a:path>
              </a:pathLst>
            </a:custGeom>
            <a:noFill/>
            <a:ln w="19050">
              <a:solidFill>
                <a:srgbClr val="0066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76802" name="Text Box 2"/>
            <p:cNvSpPr txBox="1">
              <a:spLocks noChangeArrowheads="1"/>
            </p:cNvSpPr>
            <p:nvPr/>
          </p:nvSpPr>
          <p:spPr bwMode="auto">
            <a:xfrm>
              <a:off x="6264462" y="3295499"/>
              <a:ext cx="366104" cy="2581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n</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grpSp>
      <p:sp>
        <p:nvSpPr>
          <p:cNvPr id="76" name="TextBox 75"/>
          <p:cNvSpPr txBox="1"/>
          <p:nvPr/>
        </p:nvSpPr>
        <p:spPr>
          <a:xfrm>
            <a:off x="214282" y="3910969"/>
            <a:ext cx="8786842" cy="180404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第</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层的问题规模为</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，第</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的层的问题规模为</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，依此类推，当展开到第</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层，其规模为</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/2</a:t>
            </a:r>
            <a:r>
              <a:rPr lang="en-US" altLang="zh-CN" i="1" baseline="30000">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，所以递归树的高度为</a:t>
            </a:r>
            <a:r>
              <a:rPr lang="en-US" altLang="zh-CN">
                <a:solidFill>
                  <a:srgbClr val="0000FF"/>
                </a:solidFill>
                <a:latin typeface="Consolas" pitchFamily="49" charset="0"/>
                <a:ea typeface="仿宋" pitchFamily="49" charset="-122"/>
                <a:cs typeface="Consolas" pitchFamily="49" charset="0"/>
              </a:rPr>
              <a:t>log</a:t>
            </a:r>
            <a:r>
              <a:rPr lang="en-US" altLang="zh-CN" baseline="-25000">
                <a:solidFill>
                  <a:srgbClr val="0000FF"/>
                </a:solidFill>
                <a:latin typeface="Consolas" pitchFamily="49" charset="0"/>
                <a:ea typeface="仿宋" pitchFamily="49" charset="-122"/>
                <a:cs typeface="Consolas" pitchFamily="49" charset="0"/>
              </a:rPr>
              <a:t>2</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p>
          <a:p>
            <a:pPr marL="457200" indent="-457200" algn="l">
              <a:lnSpc>
                <a:spcPts val="28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所有</a:t>
            </a:r>
            <a:r>
              <a:rPr lang="zh-CN" altLang="zh-CN">
                <a:solidFill>
                  <a:srgbClr val="0000FF"/>
                </a:solidFill>
                <a:latin typeface="Consolas" pitchFamily="49" charset="0"/>
                <a:ea typeface="仿宋" pitchFamily="49" charset="-122"/>
                <a:cs typeface="Consolas" pitchFamily="49" charset="0"/>
              </a:rPr>
              <a:t>层</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mj-ea"/>
                <a:ea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 n</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/2</a:t>
            </a:r>
            <a:r>
              <a:rPr lang="en-US" altLang="zh-CN" i="1" baseline="30000">
                <a:solidFill>
                  <a:srgbClr val="0000FF"/>
                </a:solidFill>
                <a:latin typeface="Consolas" pitchFamily="49" charset="0"/>
                <a:ea typeface="仿宋" pitchFamily="49" charset="-122"/>
                <a:cs typeface="Consolas" pitchFamily="49" charset="0"/>
              </a:rPr>
              <a:t>k</a:t>
            </a:r>
            <a:r>
              <a:rPr lang="en-US" altLang="zh-CN" baseline="30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=O(</a:t>
            </a:r>
            <a:r>
              <a:rPr lang="en-US" altLang="zh-CN" i="1">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p:txBody>
      </p:sp>
      <p:sp>
        <p:nvSpPr>
          <p:cNvPr id="51" name="灯片编号占位符 50"/>
          <p:cNvSpPr>
            <a:spLocks noGrp="1"/>
          </p:cNvSpPr>
          <p:nvPr>
            <p:ph type="sldNum" sz="quarter" idx="12"/>
          </p:nvPr>
        </p:nvSpPr>
        <p:spPr/>
        <p:txBody>
          <a:bodyPr/>
          <a:lstStyle/>
          <a:p>
            <a:fld id="{7AF016A1-9F15-429F-9EFD-84004B73C732}" type="slidenum">
              <a:rPr lang="en-US" altLang="zh-CN" smtClean="0"/>
              <a:pPr/>
              <a:t>87</a:t>
            </a:fld>
            <a:r>
              <a:rPr lang="en-US" altLang="zh-CN"/>
              <a:t>/91</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TextBox 30"/>
          <p:cNvSpPr txBox="1"/>
          <p:nvPr/>
        </p:nvSpPr>
        <p:spPr>
          <a:xfrm>
            <a:off x="500034" y="571480"/>
            <a:ext cx="292895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spcBef>
                <a:spcPts val="600"/>
              </a:spcBef>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2.6.3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主方法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32" name="TextBox 31"/>
          <p:cNvSpPr txBox="1"/>
          <p:nvPr/>
        </p:nvSpPr>
        <p:spPr>
          <a:xfrm>
            <a:off x="857224" y="2285992"/>
            <a:ext cx="5857916" cy="86444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(1)=</a:t>
            </a:r>
            <a:r>
              <a:rPr lang="pt-BR" altLang="zh-CN" sz="2000" i="1">
                <a:solidFill>
                  <a:srgbClr val="0000FF"/>
                </a:solidFill>
                <a:latin typeface="Consolas" pitchFamily="49" charset="0"/>
                <a:ea typeface="仿宋" pitchFamily="49" charset="-122"/>
                <a:cs typeface="Consolas" pitchFamily="49" charset="0"/>
              </a:rPr>
              <a:t>c</a:t>
            </a:r>
            <a:endParaRPr lang="zh-CN" altLang="zh-CN" sz="2000">
              <a:solidFill>
                <a:srgbClr val="0000FF"/>
              </a:solidFill>
              <a:latin typeface="Consolas" pitchFamily="49" charset="0"/>
              <a:ea typeface="仿宋" pitchFamily="49" charset="-122"/>
              <a:cs typeface="Consolas" pitchFamily="49" charset="0"/>
            </a:endParaRPr>
          </a:p>
          <a:p>
            <a:pPr algn="l"/>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aT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b</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&gt;1</a:t>
            </a:r>
            <a:r>
              <a:rPr lang="zh-CN" altLang="zh-CN" sz="2000">
                <a:solidFill>
                  <a:srgbClr val="00B0F0"/>
                </a:solidFill>
                <a:latin typeface="Consolas" pitchFamily="49" charset="0"/>
                <a:ea typeface="仿宋" pitchFamily="49" charset="-122"/>
                <a:cs typeface="Consolas" pitchFamily="49" charset="0"/>
              </a:rPr>
              <a:t>时</a:t>
            </a:r>
          </a:p>
        </p:txBody>
      </p:sp>
      <p:sp>
        <p:nvSpPr>
          <p:cNvPr id="33" name="TextBox 32"/>
          <p:cNvSpPr txBox="1"/>
          <p:nvPr/>
        </p:nvSpPr>
        <p:spPr>
          <a:xfrm>
            <a:off x="785786" y="1571612"/>
            <a:ext cx="514353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求解如下形式递推式的一般方法</a:t>
            </a:r>
            <a:endParaRPr lang="zh-CN" altLang="en-US">
              <a:solidFill>
                <a:srgbClr val="0000FF"/>
              </a:solidFill>
              <a:latin typeface="Consolas" pitchFamily="49" charset="0"/>
              <a:ea typeface="仿宋" pitchFamily="49" charset="-122"/>
              <a:cs typeface="Consolas" pitchFamily="49" charset="0"/>
            </a:endParaRPr>
          </a:p>
        </p:txBody>
      </p:sp>
      <p:sp>
        <p:nvSpPr>
          <p:cNvPr id="34" name="TextBox 33"/>
          <p:cNvSpPr txBox="1"/>
          <p:nvPr/>
        </p:nvSpPr>
        <p:spPr>
          <a:xfrm>
            <a:off x="785786" y="3459117"/>
            <a:ext cx="7858180" cy="23012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其中</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mn-ea"/>
                <a:ea typeface="+mn-ea"/>
                <a:cs typeface="Consolas" pitchFamily="49" charset="0"/>
              </a:rPr>
              <a:t>≥</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&gt;1</a:t>
            </a:r>
            <a:r>
              <a:rPr lang="zh-CN" altLang="zh-CN">
                <a:solidFill>
                  <a:srgbClr val="0000FF"/>
                </a:solidFill>
                <a:latin typeface="Consolas" pitchFamily="49" charset="0"/>
                <a:ea typeface="仿宋" pitchFamily="49" charset="-122"/>
                <a:cs typeface="Consolas" pitchFamily="49" charset="0"/>
              </a:rPr>
              <a:t>为常数，</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为非负整数</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表示算法的执行时间</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该算法将规模为</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的原问题分解成</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个子问题，每个子问题的大小为</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f</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表示分解原问题和合并子问题解得到答案的时间。</a:t>
            </a:r>
            <a:endParaRPr lang="zh-CN" altLang="en-US">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88</a:t>
            </a:fld>
            <a:r>
              <a:rPr lang="en-US" altLang="zh-CN"/>
              <a:t>/91</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642910" y="500042"/>
            <a:ext cx="6429420"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微软雅黑" pitchFamily="34" charset="-122"/>
                <a:ea typeface="微软雅黑" pitchFamily="34" charset="-122"/>
                <a:cs typeface="Consolas" pitchFamily="49" charset="0"/>
              </a:rPr>
              <a:t>主定理</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的计算如下：</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285720" y="1285860"/>
            <a:ext cx="8501122" cy="3744615"/>
          </a:xfrm>
          <a:prstGeom prst="rect">
            <a:avLst/>
          </a:prstGeom>
          <a:noFill/>
        </p:spPr>
        <p:txBody>
          <a:bodyPr wrap="square" rtlCol="0">
            <a:spAutoFit/>
          </a:bodyPr>
          <a:lstStyle/>
          <a:p>
            <a:pPr marL="457200" indent="-457200" algn="l">
              <a:lnSpc>
                <a:spcPts val="3200"/>
              </a:lnSpc>
              <a:buFont typeface="+mj-ea"/>
              <a:buAutoNum type="circleNumDbPlain"/>
            </a:pPr>
            <a:r>
              <a:rPr lang="zh-CN" altLang="zh-CN">
                <a:solidFill>
                  <a:srgbClr val="0000FF"/>
                </a:solidFill>
                <a:latin typeface="Consolas" pitchFamily="49" charset="0"/>
                <a:ea typeface="仿宋" pitchFamily="49" charset="-122"/>
                <a:cs typeface="Times New Roman" pitchFamily="18" charset="0"/>
              </a:rPr>
              <a:t>若对于某个常数</a:t>
            </a:r>
            <a:r>
              <a:rPr lang="en-US" altLang="zh-CN">
                <a:solidFill>
                  <a:srgbClr val="0000FF"/>
                </a:solidFill>
                <a:latin typeface="Consolas" pitchFamily="49" charset="0"/>
                <a:ea typeface="仿宋" pitchFamily="49" charset="-122"/>
                <a:cs typeface="Times New Roman" pitchFamily="18" charset="0"/>
                <a:sym typeface="Symbol"/>
              </a:rPr>
              <a:t></a:t>
            </a:r>
            <a:r>
              <a:rPr lang="en-US" altLang="zh-CN">
                <a:solidFill>
                  <a:srgbClr val="0000FF"/>
                </a:solidFill>
                <a:latin typeface="Consolas" pitchFamily="49" charset="0"/>
                <a:ea typeface="仿宋" pitchFamily="49" charset="-122"/>
                <a:cs typeface="Times New Roman" pitchFamily="18" charset="0"/>
              </a:rPr>
              <a:t>&gt;0</a:t>
            </a:r>
            <a:r>
              <a:rPr lang="zh-CN" altLang="zh-CN">
                <a:solidFill>
                  <a:srgbClr val="0000FF"/>
                </a:solidFill>
                <a:latin typeface="Consolas" pitchFamily="49" charset="0"/>
                <a:ea typeface="仿宋" pitchFamily="49" charset="-122"/>
                <a:cs typeface="Times New Roman" pitchFamily="18" charset="0"/>
              </a:rPr>
              <a:t>，有</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)=O(      ) </a:t>
            </a:r>
            <a:r>
              <a:rPr lang="zh-CN" altLang="zh-CN">
                <a:solidFill>
                  <a:srgbClr val="0000FF"/>
                </a:solidFill>
                <a:latin typeface="Consolas" pitchFamily="49" charset="0"/>
                <a:ea typeface="仿宋" pitchFamily="49" charset="-122"/>
                <a:cs typeface="Times New Roman" pitchFamily="18" charset="0"/>
              </a:rPr>
              <a:t>，称为</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多项式地小于</a:t>
            </a:r>
            <a:r>
              <a:rPr lang="en-US" altLang="zh-CN">
                <a:solidFill>
                  <a:srgbClr val="0000FF"/>
                </a:solidFill>
                <a:latin typeface="Consolas" pitchFamily="49" charset="0"/>
                <a:ea typeface="仿宋" pitchFamily="49" charset="-122"/>
                <a:cs typeface="Times New Roman" pitchFamily="18" charset="0"/>
              </a:rPr>
              <a:t>     </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即</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与</a:t>
            </a:r>
            <a:r>
              <a:rPr lang="en-US" altLang="zh-CN">
                <a:solidFill>
                  <a:srgbClr val="0000FF"/>
                </a:solidFill>
                <a:latin typeface="Consolas" pitchFamily="49" charset="0"/>
                <a:ea typeface="仿宋" pitchFamily="49" charset="-122"/>
                <a:cs typeface="Times New Roman" pitchFamily="18" charset="0"/>
              </a:rPr>
              <a:t>     </a:t>
            </a:r>
            <a:r>
              <a:rPr lang="zh-CN" altLang="zh-CN">
                <a:solidFill>
                  <a:srgbClr val="0000FF"/>
                </a:solidFill>
                <a:latin typeface="Consolas" pitchFamily="49" charset="0"/>
                <a:ea typeface="仿宋" pitchFamily="49" charset="-122"/>
                <a:cs typeface="Times New Roman" pitchFamily="18" charset="0"/>
              </a:rPr>
              <a:t>的比值小于等于</a:t>
            </a:r>
            <a:r>
              <a:rPr lang="en-US" altLang="zh-CN" i="1">
                <a:solidFill>
                  <a:srgbClr val="0000FF"/>
                </a:solidFill>
                <a:latin typeface="Consolas" pitchFamily="49" charset="0"/>
                <a:ea typeface="仿宋" pitchFamily="49" charset="-122"/>
                <a:cs typeface="Times New Roman" pitchFamily="18" charset="0"/>
              </a:rPr>
              <a:t>n</a:t>
            </a:r>
            <a:r>
              <a:rPr lang="en-US" altLang="zh-CN" baseline="30000">
                <a:solidFill>
                  <a:srgbClr val="0000FF"/>
                </a:solidFill>
                <a:latin typeface="Consolas" pitchFamily="49" charset="0"/>
                <a:ea typeface="仿宋" pitchFamily="49" charset="-122"/>
                <a:cs typeface="Times New Roman" pitchFamily="18" charset="0"/>
              </a:rPr>
              <a:t>-</a:t>
            </a:r>
            <a:r>
              <a:rPr lang="en-US" altLang="zh-CN" baseline="30000">
                <a:solidFill>
                  <a:srgbClr val="0000FF"/>
                </a:solidFill>
                <a:latin typeface="Consolas" pitchFamily="49" charset="0"/>
                <a:ea typeface="仿宋" pitchFamily="49" charset="-122"/>
                <a:cs typeface="Times New Roman" pitchFamily="18" charset="0"/>
                <a:sym typeface="Symbol"/>
              </a:rPr>
              <a:t></a:t>
            </a:r>
            <a:r>
              <a:rPr lang="zh-CN" altLang="zh-CN">
                <a:solidFill>
                  <a:srgbClr val="0000FF"/>
                </a:solidFill>
                <a:latin typeface="Consolas" pitchFamily="49" charset="0"/>
                <a:ea typeface="仿宋" pitchFamily="49" charset="-122"/>
                <a:cs typeface="Times New Roman" pitchFamily="18" charset="0"/>
              </a:rPr>
              <a:t>，则</a:t>
            </a:r>
            <a:r>
              <a:rPr lang="en-US" altLang="zh-CN" i="1">
                <a:solidFill>
                  <a:srgbClr val="0000FF"/>
                </a:solidFill>
                <a:latin typeface="Consolas" pitchFamily="49" charset="0"/>
                <a:ea typeface="仿宋" pitchFamily="49" charset="-122"/>
                <a:cs typeface="Times New Roman" pitchFamily="18" charset="0"/>
              </a:rPr>
              <a:t>T</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en-US" altLang="zh-CN">
                <a:latin typeface="Consolas" pitchFamily="49" charset="0"/>
                <a:sym typeface="Symbol"/>
              </a:rPr>
              <a:t> ( </a:t>
            </a:r>
            <a:r>
              <a:rPr lang="en-US" altLang="zh-CN">
                <a:solidFill>
                  <a:srgbClr val="0000FF"/>
                </a:solidFill>
                <a:latin typeface="Consolas" pitchFamily="49" charset="0"/>
                <a:ea typeface="仿宋" pitchFamily="49" charset="-122"/>
                <a:cs typeface="Times New Roman" pitchFamily="18" charset="0"/>
              </a:rPr>
              <a:t>   )</a:t>
            </a:r>
            <a:r>
              <a:rPr lang="zh-CN" altLang="zh-CN">
                <a:solidFill>
                  <a:srgbClr val="0000FF"/>
                </a:solidFill>
                <a:latin typeface="Consolas" pitchFamily="49" charset="0"/>
                <a:ea typeface="仿宋" pitchFamily="49" charset="-122"/>
                <a:cs typeface="Times New Roman" pitchFamily="18" charset="0"/>
              </a:rPr>
              <a:t>。</a:t>
            </a:r>
          </a:p>
          <a:p>
            <a:pPr marL="457200" indent="-457200" algn="l">
              <a:lnSpc>
                <a:spcPts val="3200"/>
              </a:lnSpc>
              <a:buFont typeface="+mj-ea"/>
              <a:buAutoNum type="circleNumDbPlain"/>
            </a:pPr>
            <a:r>
              <a:rPr lang="zh-CN" altLang="zh-CN">
                <a:solidFill>
                  <a:srgbClr val="0000FF"/>
                </a:solidFill>
                <a:latin typeface="Consolas" pitchFamily="49" charset="0"/>
                <a:ea typeface="仿宋" pitchFamily="49" charset="-122"/>
                <a:cs typeface="Times New Roman" pitchFamily="18" charset="0"/>
              </a:rPr>
              <a:t>若</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en-US" altLang="zh-CN">
                <a:solidFill>
                  <a:srgbClr val="0000FF"/>
                </a:solidFill>
                <a:latin typeface="Consolas" pitchFamily="49" charset="0"/>
                <a:ea typeface="仿宋" pitchFamily="49" charset="-122"/>
                <a:cs typeface="Times New Roman" pitchFamily="18" charset="0"/>
                <a:sym typeface="Symbol"/>
              </a:rPr>
              <a:t></a:t>
            </a:r>
            <a:r>
              <a:rPr lang="en-US" altLang="zh-CN">
                <a:solidFill>
                  <a:srgbClr val="0000FF"/>
                </a:solidFill>
                <a:latin typeface="Consolas" pitchFamily="49" charset="0"/>
                <a:ea typeface="仿宋" pitchFamily="49" charset="-122"/>
                <a:cs typeface="Times New Roman" pitchFamily="18" charset="0"/>
              </a:rPr>
              <a:t>(     )</a:t>
            </a:r>
            <a:r>
              <a:rPr lang="zh-CN" altLang="zh-CN">
                <a:solidFill>
                  <a:srgbClr val="0000FF"/>
                </a:solidFill>
                <a:latin typeface="Consolas" pitchFamily="49" charset="0"/>
                <a:ea typeface="仿宋" pitchFamily="49" charset="-122"/>
                <a:cs typeface="Times New Roman" pitchFamily="18" charset="0"/>
              </a:rPr>
              <a:t>，即</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多项式的等</a:t>
            </a:r>
            <a:r>
              <a:rPr lang="zh-CN" altLang="en-US">
                <a:solidFill>
                  <a:srgbClr val="0000FF"/>
                </a:solidFill>
                <a:latin typeface="Consolas" pitchFamily="49" charset="0"/>
                <a:ea typeface="仿宋" pitchFamily="49" charset="-122"/>
                <a:cs typeface="Times New Roman" pitchFamily="18" charset="0"/>
              </a:rPr>
              <a:t>于</a:t>
            </a:r>
            <a:r>
              <a:rPr lang="en-US" altLang="zh-CN">
                <a:solidFill>
                  <a:srgbClr val="0000FF"/>
                </a:solidFill>
                <a:latin typeface="Consolas" pitchFamily="49" charset="0"/>
                <a:ea typeface="仿宋" pitchFamily="49" charset="-122"/>
                <a:cs typeface="Times New Roman" pitchFamily="18" charset="0"/>
              </a:rPr>
              <a:t>     </a:t>
            </a:r>
            <a:r>
              <a:rPr lang="zh-CN" altLang="zh-CN">
                <a:solidFill>
                  <a:srgbClr val="0000FF"/>
                </a:solidFill>
                <a:latin typeface="Consolas" pitchFamily="49" charset="0"/>
                <a:ea typeface="仿宋" pitchFamily="49" charset="-122"/>
                <a:cs typeface="Times New Roman" pitchFamily="18" charset="0"/>
              </a:rPr>
              <a:t>，则</a:t>
            </a:r>
            <a:r>
              <a:rPr lang="en-US" altLang="zh-CN" i="1">
                <a:solidFill>
                  <a:srgbClr val="0000FF"/>
                </a:solidFill>
                <a:latin typeface="Consolas" pitchFamily="49" charset="0"/>
                <a:ea typeface="仿宋" pitchFamily="49" charset="-122"/>
                <a:cs typeface="Times New Roman" pitchFamily="18" charset="0"/>
              </a:rPr>
              <a:t>T</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en-US" altLang="zh-CN">
                <a:latin typeface="Consolas" pitchFamily="49" charset="0"/>
                <a:sym typeface="Symbol"/>
              </a:rPr>
              <a:t>(     </a:t>
            </a:r>
            <a:r>
              <a:rPr lang="en-US" altLang="zh-CN">
                <a:solidFill>
                  <a:srgbClr val="0000FF"/>
                </a:solidFill>
                <a:latin typeface="Consolas" pitchFamily="49" charset="0"/>
                <a:sym typeface="Symbol"/>
              </a:rPr>
              <a:t>log</a:t>
            </a:r>
            <a:r>
              <a:rPr lang="en-US" altLang="zh-CN" baseline="-25000">
                <a:solidFill>
                  <a:srgbClr val="0000FF"/>
                </a:solidFill>
                <a:latin typeface="Consolas" pitchFamily="49" charset="0"/>
                <a:sym typeface="Symbol"/>
              </a:rPr>
              <a:t>2</a:t>
            </a:r>
            <a:r>
              <a:rPr lang="en-US" altLang="zh-CN" i="1">
                <a:solidFill>
                  <a:srgbClr val="0000FF"/>
                </a:solidFill>
                <a:latin typeface="Consolas" pitchFamily="49" charset="0"/>
                <a:sym typeface="Symbol"/>
              </a:rPr>
              <a:t>n</a:t>
            </a:r>
            <a:r>
              <a:rPr lang="en-US" altLang="zh-CN">
                <a:latin typeface="Consolas" pitchFamily="49" charset="0"/>
                <a:sym typeface="Symbol"/>
              </a:rPr>
              <a:t>)</a:t>
            </a:r>
            <a:r>
              <a:rPr lang="zh-CN" altLang="zh-CN">
                <a:solidFill>
                  <a:srgbClr val="0000FF"/>
                </a:solidFill>
                <a:latin typeface="Consolas" pitchFamily="49" charset="0"/>
                <a:ea typeface="仿宋" pitchFamily="49" charset="-122"/>
                <a:cs typeface="Times New Roman" pitchFamily="18" charset="0"/>
              </a:rPr>
              <a:t>。</a:t>
            </a:r>
          </a:p>
          <a:p>
            <a:pPr marL="457200" indent="-457200" algn="l">
              <a:lnSpc>
                <a:spcPts val="3200"/>
              </a:lnSpc>
              <a:buFont typeface="+mj-ea"/>
              <a:buAutoNum type="circleNumDbPlain"/>
            </a:pPr>
            <a:r>
              <a:rPr lang="zh-CN" altLang="zh-CN">
                <a:solidFill>
                  <a:srgbClr val="0000FF"/>
                </a:solidFill>
                <a:latin typeface="Consolas" pitchFamily="49" charset="0"/>
                <a:ea typeface="仿宋" pitchFamily="49" charset="-122"/>
                <a:cs typeface="Times New Roman" pitchFamily="18" charset="0"/>
              </a:rPr>
              <a:t>若对于某个常数</a:t>
            </a:r>
            <a:r>
              <a:rPr lang="en-US" altLang="zh-CN">
                <a:solidFill>
                  <a:srgbClr val="0000FF"/>
                </a:solidFill>
                <a:latin typeface="Consolas" pitchFamily="49" charset="0"/>
                <a:ea typeface="仿宋" pitchFamily="49" charset="-122"/>
                <a:cs typeface="Times New Roman" pitchFamily="18" charset="0"/>
                <a:sym typeface="Symbol"/>
              </a:rPr>
              <a:t></a:t>
            </a:r>
            <a:r>
              <a:rPr lang="en-US" altLang="zh-CN">
                <a:solidFill>
                  <a:srgbClr val="0000FF"/>
                </a:solidFill>
                <a:latin typeface="Consolas" pitchFamily="49" charset="0"/>
                <a:ea typeface="仿宋" pitchFamily="49" charset="-122"/>
                <a:cs typeface="Times New Roman" pitchFamily="18" charset="0"/>
              </a:rPr>
              <a:t>&gt;0</a:t>
            </a:r>
            <a:r>
              <a:rPr lang="zh-CN" altLang="zh-CN">
                <a:solidFill>
                  <a:srgbClr val="0000FF"/>
                </a:solidFill>
                <a:latin typeface="Consolas" pitchFamily="49" charset="0"/>
                <a:ea typeface="仿宋" pitchFamily="49" charset="-122"/>
                <a:cs typeface="Times New Roman" pitchFamily="18" charset="0"/>
              </a:rPr>
              <a:t>，有</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)=O(      )</a:t>
            </a:r>
            <a:r>
              <a:rPr lang="zh-CN" altLang="zh-CN">
                <a:solidFill>
                  <a:srgbClr val="0000FF"/>
                </a:solidFill>
                <a:latin typeface="Consolas" pitchFamily="49" charset="0"/>
                <a:ea typeface="仿宋" pitchFamily="49" charset="-122"/>
                <a:cs typeface="Times New Roman" pitchFamily="18" charset="0"/>
              </a:rPr>
              <a:t>，称为</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多项式地大于</a:t>
            </a:r>
            <a:r>
              <a:rPr lang="en-US" altLang="zh-CN">
                <a:solidFill>
                  <a:srgbClr val="0000FF"/>
                </a:solidFill>
                <a:latin typeface="Consolas" pitchFamily="49" charset="0"/>
                <a:ea typeface="仿宋" pitchFamily="49" charset="-122"/>
                <a:cs typeface="Times New Roman" pitchFamily="18" charset="0"/>
              </a:rPr>
              <a:t>	    </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即</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与</a:t>
            </a:r>
            <a:r>
              <a:rPr lang="en-US" altLang="zh-CN">
                <a:solidFill>
                  <a:srgbClr val="0000FF"/>
                </a:solidFill>
                <a:latin typeface="Consolas" pitchFamily="49" charset="0"/>
                <a:ea typeface="仿宋" pitchFamily="49" charset="-122"/>
                <a:cs typeface="Times New Roman" pitchFamily="18" charset="0"/>
              </a:rPr>
              <a:t>    </a:t>
            </a:r>
            <a:r>
              <a:rPr lang="zh-CN" altLang="zh-CN">
                <a:solidFill>
                  <a:srgbClr val="0000FF"/>
                </a:solidFill>
                <a:latin typeface="Consolas" pitchFamily="49" charset="0"/>
                <a:ea typeface="仿宋" pitchFamily="49" charset="-122"/>
                <a:cs typeface="Times New Roman" pitchFamily="18" charset="0"/>
              </a:rPr>
              <a:t>的比值大于等于</a:t>
            </a:r>
            <a:r>
              <a:rPr lang="en-US" altLang="zh-CN" i="1">
                <a:solidFill>
                  <a:srgbClr val="0000FF"/>
                </a:solidFill>
                <a:latin typeface="Consolas" pitchFamily="49" charset="0"/>
                <a:ea typeface="仿宋" pitchFamily="49" charset="-122"/>
                <a:cs typeface="Times New Roman" pitchFamily="18" charset="0"/>
              </a:rPr>
              <a:t>n</a:t>
            </a:r>
            <a:r>
              <a:rPr lang="en-US" altLang="zh-CN" baseline="30000">
                <a:solidFill>
                  <a:srgbClr val="0000FF"/>
                </a:solidFill>
                <a:latin typeface="Consolas" pitchFamily="49" charset="0"/>
                <a:ea typeface="仿宋" pitchFamily="49" charset="-122"/>
                <a:cs typeface="Times New Roman" pitchFamily="18" charset="0"/>
                <a:sym typeface="Symbol"/>
              </a:rPr>
              <a:t></a:t>
            </a:r>
            <a:r>
              <a:rPr lang="zh-CN" altLang="zh-CN">
                <a:solidFill>
                  <a:srgbClr val="0000FF"/>
                </a:solidFill>
                <a:latin typeface="Consolas" pitchFamily="49" charset="0"/>
                <a:ea typeface="仿宋" pitchFamily="49" charset="-122"/>
                <a:cs typeface="Times New Roman" pitchFamily="18" charset="0"/>
              </a:rPr>
              <a:t>，并且满足</a:t>
            </a:r>
            <a:r>
              <a:rPr lang="en-US" altLang="zh-CN" i="1">
                <a:solidFill>
                  <a:srgbClr val="0000FF"/>
                </a:solidFill>
                <a:latin typeface="Consolas" pitchFamily="49" charset="0"/>
                <a:ea typeface="仿宋" pitchFamily="49" charset="-122"/>
                <a:cs typeface="Times New Roman" pitchFamily="18" charset="0"/>
              </a:rPr>
              <a:t>af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b</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mj-ea"/>
                <a:ea typeface="+mj-ea"/>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cf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，其中</a:t>
            </a:r>
            <a:r>
              <a:rPr lang="en-US" altLang="zh-CN" i="1">
                <a:solidFill>
                  <a:srgbClr val="0000FF"/>
                </a:solidFill>
                <a:latin typeface="Consolas" pitchFamily="49" charset="0"/>
                <a:ea typeface="仿宋" pitchFamily="49" charset="-122"/>
                <a:cs typeface="Times New Roman" pitchFamily="18" charset="0"/>
              </a:rPr>
              <a:t>c</a:t>
            </a:r>
            <a:r>
              <a:rPr lang="en-US" altLang="zh-CN">
                <a:solidFill>
                  <a:srgbClr val="0000FF"/>
                </a:solidFill>
                <a:latin typeface="Consolas" pitchFamily="49" charset="0"/>
                <a:ea typeface="仿宋" pitchFamily="49" charset="-122"/>
                <a:cs typeface="Times New Roman" pitchFamily="18" charset="0"/>
              </a:rPr>
              <a:t>&lt;1</a:t>
            </a:r>
            <a:r>
              <a:rPr lang="zh-CN" altLang="zh-CN">
                <a:solidFill>
                  <a:srgbClr val="0000FF"/>
                </a:solidFill>
                <a:latin typeface="Consolas" pitchFamily="49" charset="0"/>
                <a:ea typeface="仿宋" pitchFamily="49" charset="-122"/>
                <a:cs typeface="Times New Roman" pitchFamily="18" charset="0"/>
              </a:rPr>
              <a:t>，则</a:t>
            </a:r>
            <a:r>
              <a:rPr lang="en-US" altLang="zh-CN" i="1">
                <a:solidFill>
                  <a:srgbClr val="0000FF"/>
                </a:solidFill>
                <a:latin typeface="Consolas" pitchFamily="49" charset="0"/>
                <a:ea typeface="仿宋" pitchFamily="49" charset="-122"/>
                <a:cs typeface="Times New Roman" pitchFamily="18" charset="0"/>
              </a:rPr>
              <a:t>T</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en-US" altLang="zh-CN">
                <a:solidFill>
                  <a:srgbClr val="0000FF"/>
                </a:solidFill>
                <a:latin typeface="Consolas" pitchFamily="49" charset="0"/>
                <a:ea typeface="仿宋" pitchFamily="49" charset="-122"/>
                <a:cs typeface="Times New Roman" pitchFamily="18" charset="0"/>
                <a:sym typeface="Symbol"/>
              </a:rPr>
              <a:t></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f</a:t>
            </a:r>
            <a:r>
              <a:rPr lang="en-US" altLang="zh-CN">
                <a:solidFill>
                  <a:srgbClr val="0000FF"/>
                </a:solidFill>
                <a:latin typeface="Consolas" pitchFamily="49" charset="0"/>
                <a:ea typeface="仿宋" pitchFamily="49" charset="-122"/>
                <a:cs typeface="Times New Roman" pitchFamily="18" charset="0"/>
              </a:rPr>
              <a:t>(</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a:t>
            </a:r>
          </a:p>
        </p:txBody>
      </p:sp>
      <p:pic>
        <p:nvPicPr>
          <p:cNvPr id="75778" name="Picture 2"/>
          <p:cNvPicPr>
            <a:picLocks noChangeAspect="1" noChangeArrowheads="1"/>
          </p:cNvPicPr>
          <p:nvPr/>
        </p:nvPicPr>
        <p:blipFill>
          <a:blip r:embed="rId2" cstate="print"/>
          <a:srcRect/>
          <a:stretch>
            <a:fillRect/>
          </a:stretch>
        </p:blipFill>
        <p:spPr bwMode="auto">
          <a:xfrm>
            <a:off x="5348299" y="1400161"/>
            <a:ext cx="866775" cy="342900"/>
          </a:xfrm>
          <a:prstGeom prst="rect">
            <a:avLst/>
          </a:prstGeom>
          <a:noFill/>
          <a:ln w="9525">
            <a:noFill/>
            <a:miter lim="800000"/>
            <a:headEnd/>
            <a:tailEnd/>
          </a:ln>
        </p:spPr>
      </p:pic>
      <p:pic>
        <p:nvPicPr>
          <p:cNvPr id="75779" name="Picture 3"/>
          <p:cNvPicPr>
            <a:picLocks noChangeAspect="1" noChangeArrowheads="1"/>
          </p:cNvPicPr>
          <p:nvPr/>
        </p:nvPicPr>
        <p:blipFill>
          <a:blip r:embed="rId3" cstate="print"/>
          <a:srcRect/>
          <a:stretch>
            <a:fillRect/>
          </a:stretch>
        </p:blipFill>
        <p:spPr bwMode="auto">
          <a:xfrm>
            <a:off x="2428860" y="1771641"/>
            <a:ext cx="676275" cy="371475"/>
          </a:xfrm>
          <a:prstGeom prst="rect">
            <a:avLst/>
          </a:prstGeom>
          <a:noFill/>
          <a:ln w="9525">
            <a:noFill/>
            <a:miter lim="800000"/>
            <a:headEnd/>
            <a:tailEnd/>
          </a:ln>
        </p:spPr>
      </p:pic>
      <p:pic>
        <p:nvPicPr>
          <p:cNvPr id="10" name="Picture 3"/>
          <p:cNvPicPr>
            <a:picLocks noChangeAspect="1" noChangeArrowheads="1"/>
          </p:cNvPicPr>
          <p:nvPr/>
        </p:nvPicPr>
        <p:blipFill>
          <a:blip r:embed="rId3" cstate="print"/>
          <a:srcRect/>
          <a:stretch>
            <a:fillRect/>
          </a:stretch>
        </p:blipFill>
        <p:spPr bwMode="auto">
          <a:xfrm>
            <a:off x="4500562" y="4143380"/>
            <a:ext cx="676275" cy="371475"/>
          </a:xfrm>
          <a:prstGeom prst="rect">
            <a:avLst/>
          </a:prstGeom>
          <a:noFill/>
          <a:ln w="9525">
            <a:noFill/>
            <a:miter lim="800000"/>
            <a:headEnd/>
            <a:tailEnd/>
          </a:ln>
        </p:spPr>
      </p:pic>
      <p:pic>
        <p:nvPicPr>
          <p:cNvPr id="11" name="Picture 3"/>
          <p:cNvPicPr>
            <a:picLocks noChangeAspect="1" noChangeArrowheads="1"/>
          </p:cNvPicPr>
          <p:nvPr/>
        </p:nvPicPr>
        <p:blipFill>
          <a:blip r:embed="rId3" cstate="print"/>
          <a:srcRect/>
          <a:stretch>
            <a:fillRect/>
          </a:stretch>
        </p:blipFill>
        <p:spPr bwMode="auto">
          <a:xfrm>
            <a:off x="2538403" y="2200269"/>
            <a:ext cx="676275" cy="371475"/>
          </a:xfrm>
          <a:prstGeom prst="rect">
            <a:avLst/>
          </a:prstGeom>
          <a:noFill/>
          <a:ln w="9525">
            <a:noFill/>
            <a:miter lim="800000"/>
            <a:headEnd/>
            <a:tailEnd/>
          </a:ln>
        </p:spPr>
      </p:pic>
      <p:pic>
        <p:nvPicPr>
          <p:cNvPr id="12" name="Picture 3"/>
          <p:cNvPicPr>
            <a:picLocks noChangeAspect="1" noChangeArrowheads="1"/>
          </p:cNvPicPr>
          <p:nvPr/>
        </p:nvPicPr>
        <p:blipFill>
          <a:blip r:embed="rId3" cstate="print"/>
          <a:srcRect/>
          <a:stretch>
            <a:fillRect/>
          </a:stretch>
        </p:blipFill>
        <p:spPr bwMode="auto">
          <a:xfrm>
            <a:off x="6572264" y="2714620"/>
            <a:ext cx="676275" cy="371475"/>
          </a:xfrm>
          <a:prstGeom prst="rect">
            <a:avLst/>
          </a:prstGeom>
          <a:noFill/>
          <a:ln w="9525">
            <a:noFill/>
            <a:miter lim="800000"/>
            <a:headEnd/>
            <a:tailEnd/>
          </a:ln>
        </p:spPr>
      </p:pic>
      <p:pic>
        <p:nvPicPr>
          <p:cNvPr id="13" name="Picture 3"/>
          <p:cNvPicPr>
            <a:picLocks noChangeAspect="1" noChangeArrowheads="1"/>
          </p:cNvPicPr>
          <p:nvPr/>
        </p:nvPicPr>
        <p:blipFill>
          <a:blip r:embed="rId3" cstate="print"/>
          <a:srcRect/>
          <a:stretch>
            <a:fillRect/>
          </a:stretch>
        </p:blipFill>
        <p:spPr bwMode="auto">
          <a:xfrm>
            <a:off x="2466965" y="2724145"/>
            <a:ext cx="676275" cy="371475"/>
          </a:xfrm>
          <a:prstGeom prst="rect">
            <a:avLst/>
          </a:prstGeom>
          <a:noFill/>
          <a:ln w="9525">
            <a:noFill/>
            <a:miter lim="800000"/>
            <a:headEnd/>
            <a:tailEnd/>
          </a:ln>
        </p:spPr>
      </p:pic>
      <p:pic>
        <p:nvPicPr>
          <p:cNvPr id="75780" name="Picture 4"/>
          <p:cNvPicPr>
            <a:picLocks noChangeAspect="1" noChangeArrowheads="1"/>
          </p:cNvPicPr>
          <p:nvPr/>
        </p:nvPicPr>
        <p:blipFill>
          <a:blip r:embed="rId4" cstate="print"/>
          <a:srcRect/>
          <a:stretch>
            <a:fillRect/>
          </a:stretch>
        </p:blipFill>
        <p:spPr bwMode="auto">
          <a:xfrm>
            <a:off x="5286380" y="3714752"/>
            <a:ext cx="933450" cy="390525"/>
          </a:xfrm>
          <a:prstGeom prst="rect">
            <a:avLst/>
          </a:prstGeom>
          <a:noFill/>
          <a:ln w="9525">
            <a:noFill/>
            <a:miter lim="800000"/>
            <a:headEnd/>
            <a:tailEnd/>
          </a:ln>
        </p:spPr>
      </p:pic>
      <p:pic>
        <p:nvPicPr>
          <p:cNvPr id="15" name="Picture 3"/>
          <p:cNvPicPr>
            <a:picLocks noChangeAspect="1" noChangeArrowheads="1"/>
          </p:cNvPicPr>
          <p:nvPr/>
        </p:nvPicPr>
        <p:blipFill>
          <a:blip r:embed="rId3" cstate="print"/>
          <a:srcRect/>
          <a:stretch>
            <a:fillRect/>
          </a:stretch>
        </p:blipFill>
        <p:spPr bwMode="auto">
          <a:xfrm>
            <a:off x="4786314" y="1771641"/>
            <a:ext cx="676275" cy="371475"/>
          </a:xfrm>
          <a:prstGeom prst="rect">
            <a:avLst/>
          </a:prstGeom>
          <a:noFill/>
          <a:ln w="9525">
            <a:noFill/>
            <a:miter lim="800000"/>
            <a:headEnd/>
            <a:tailEnd/>
          </a:ln>
        </p:spPr>
      </p:pic>
      <p:pic>
        <p:nvPicPr>
          <p:cNvPr id="16" name="Picture 3"/>
          <p:cNvPicPr>
            <a:picLocks noChangeAspect="1" noChangeArrowheads="1"/>
          </p:cNvPicPr>
          <p:nvPr/>
        </p:nvPicPr>
        <p:blipFill>
          <a:blip r:embed="rId3" cstate="print"/>
          <a:srcRect/>
          <a:stretch>
            <a:fillRect/>
          </a:stretch>
        </p:blipFill>
        <p:spPr bwMode="auto">
          <a:xfrm>
            <a:off x="2071670" y="4143380"/>
            <a:ext cx="676275" cy="371475"/>
          </a:xfrm>
          <a:prstGeom prst="rect">
            <a:avLst/>
          </a:prstGeom>
          <a:noFill/>
          <a:ln w="9525">
            <a:noFill/>
            <a:miter lim="800000"/>
            <a:headEnd/>
            <a:tailEnd/>
          </a:ln>
        </p:spPr>
      </p:pic>
      <p:pic>
        <p:nvPicPr>
          <p:cNvPr id="17" name="Picture 3"/>
          <p:cNvPicPr>
            <a:picLocks noChangeAspect="1" noChangeArrowheads="1"/>
          </p:cNvPicPr>
          <p:nvPr/>
        </p:nvPicPr>
        <p:blipFill>
          <a:blip r:embed="rId3" cstate="print"/>
          <a:srcRect/>
          <a:stretch>
            <a:fillRect/>
          </a:stretch>
        </p:blipFill>
        <p:spPr bwMode="auto">
          <a:xfrm>
            <a:off x="2143108" y="3143248"/>
            <a:ext cx="676275" cy="371475"/>
          </a:xfrm>
          <a:prstGeom prst="rect">
            <a:avLst/>
          </a:prstGeom>
          <a:noFill/>
          <a:ln w="9525">
            <a:noFill/>
            <a:miter lim="800000"/>
            <a:headEnd/>
            <a:tailEnd/>
          </a:ln>
        </p:spPr>
      </p:pic>
      <p:sp>
        <p:nvSpPr>
          <p:cNvPr id="20" name="矩形 19"/>
          <p:cNvSpPr/>
          <p:nvPr/>
        </p:nvSpPr>
        <p:spPr>
          <a:xfrm>
            <a:off x="214282" y="1071546"/>
            <a:ext cx="8643998" cy="4143404"/>
          </a:xfrm>
          <a:prstGeom prst="rect">
            <a:avLst/>
          </a:prstGeom>
          <a:ln w="19050">
            <a:prstDash val="sys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89</a:t>
            </a:fld>
            <a:r>
              <a:rPr lang="en-US" altLang="zh-CN"/>
              <a:t>/91</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785786" y="1357298"/>
            <a:ext cx="5929354"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)=1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a:lnSpc>
                <a:spcPct val="100000"/>
              </a:lnSpc>
              <a:spcBef>
                <a:spcPts val="600"/>
              </a:spcBef>
            </a:pP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)=4</a:t>
            </a: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/2)+</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&gt;1</a:t>
            </a:r>
            <a:endParaRPr lang="zh-CN" altLang="zh-CN" sz="2000">
              <a:solidFill>
                <a:srgbClr val="00B0F0"/>
              </a:solidFill>
              <a:latin typeface="Consolas" pitchFamily="49" charset="0"/>
              <a:ea typeface="仿宋" pitchFamily="49" charset="-122"/>
              <a:cs typeface="Consolas" pitchFamily="49" charset="0"/>
            </a:endParaRPr>
          </a:p>
        </p:txBody>
      </p:sp>
      <p:grpSp>
        <p:nvGrpSpPr>
          <p:cNvPr id="15" name="组合 14"/>
          <p:cNvGrpSpPr/>
          <p:nvPr/>
        </p:nvGrpSpPr>
        <p:grpSpPr>
          <a:xfrm>
            <a:off x="714348" y="2857496"/>
            <a:ext cx="7643866" cy="2348700"/>
            <a:chOff x="928662" y="2857496"/>
            <a:chExt cx="7643866" cy="2348700"/>
          </a:xfrm>
        </p:grpSpPr>
        <p:sp>
          <p:nvSpPr>
            <p:cNvPr id="7" name="TextBox 6"/>
            <p:cNvSpPr txBox="1"/>
            <p:nvPr/>
          </p:nvSpPr>
          <p:spPr>
            <a:xfrm>
              <a:off x="928662" y="2857496"/>
              <a:ext cx="57150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8" name="TextBox 7"/>
            <p:cNvSpPr txBox="1"/>
            <p:nvPr/>
          </p:nvSpPr>
          <p:spPr>
            <a:xfrm>
              <a:off x="928662" y="3451870"/>
              <a:ext cx="7643866" cy="1754326"/>
            </a:xfrm>
            <a:prstGeom prst="rect">
              <a:avLst/>
            </a:prstGeom>
            <a:noFill/>
            <a:ln>
              <a:solidFill>
                <a:schemeClr val="accent6">
                  <a:lumMod val="75000"/>
                </a:schemeClr>
              </a:solidFill>
            </a:ln>
          </p:spPr>
          <p:txBody>
            <a:bodyPr wrap="square" rtlCol="0">
              <a:spAutoFit/>
            </a:bodyPr>
            <a:lstStyle/>
            <a:p>
              <a:pPr algn="l">
                <a:lnSpc>
                  <a:spcPct val="150000"/>
                </a:lnSpc>
                <a:spcBef>
                  <a:spcPts val="0"/>
                </a:spcBef>
              </a:pP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     =</a:t>
              </a:r>
              <a:r>
                <a:rPr lang="en-US" altLang="zh-CN" i="1">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=O(      )</a:t>
              </a:r>
              <a:r>
                <a:rPr lang="zh-CN" altLang="zh-CN">
                  <a:solidFill>
                    <a:srgbClr val="0000FF"/>
                  </a:solidFill>
                  <a:latin typeface="Consolas" pitchFamily="49" charset="0"/>
                  <a:ea typeface="仿宋" pitchFamily="49" charset="-122"/>
                  <a:cs typeface="Consolas" pitchFamily="49" charset="0"/>
                </a:rPr>
                <a:t>，这里</a:t>
              </a:r>
              <a:r>
                <a:rPr lang="en-US" altLang="zh-CN">
                  <a:solidFill>
                    <a:srgbClr val="0000FF"/>
                  </a:solidFill>
                  <a:latin typeface="Consolas" pitchFamily="49" charset="0"/>
                  <a:ea typeface="仿宋" pitchFamily="49" charset="-122"/>
                  <a:cs typeface="Times New Roman" pitchFamily="18" charset="0"/>
                  <a:sym typeface="Symbol"/>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，即</a:t>
              </a:r>
              <a:r>
                <a:rPr lang="en-US" altLang="zh-CN" i="1">
                  <a:solidFill>
                    <a:srgbClr val="0000FF"/>
                  </a:solidFill>
                  <a:latin typeface="Consolas" pitchFamily="49" charset="0"/>
                  <a:ea typeface="仿宋" pitchFamily="49" charset="-122"/>
                  <a:cs typeface="Consolas" pitchFamily="49" charset="0"/>
                </a:rPr>
                <a:t>f</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多项式地小于</a:t>
              </a: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，满足情况①，所以</a:t>
              </a: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            =</a:t>
              </a:r>
              <a:r>
                <a:rPr lang="en-US" altLang="zh-CN">
                  <a:solidFill>
                    <a:srgbClr val="0000FF"/>
                  </a:solidFill>
                  <a:latin typeface="Consolas" pitchFamily="49" charset="0"/>
                  <a:ea typeface="仿宋" pitchFamily="49" charset="-122"/>
                  <a:cs typeface="Consolas" pitchFamily="49" charset="0"/>
                  <a:sym typeface="Symbol"/>
                </a:rPr>
                <a:t> (    )=</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baseline="30000">
                  <a:solidFill>
                    <a:srgbClr val="0000FF"/>
                  </a:solidFill>
                  <a:latin typeface="Consolas" pitchFamily="49" charset="0"/>
                  <a:ea typeface="仿宋" pitchFamily="49" charset="-122"/>
                  <a:cs typeface="Consolas" pitchFamily="49" charset="0"/>
                </a:rPr>
                <a:t>2</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endParaRPr lang="zh-CN" altLang="en-US">
                <a:solidFill>
                  <a:srgbClr val="0000FF"/>
                </a:solidFill>
                <a:latin typeface="Consolas" pitchFamily="49" charset="0"/>
                <a:ea typeface="仿宋" pitchFamily="49" charset="-122"/>
                <a:cs typeface="Consolas" pitchFamily="49" charset="0"/>
              </a:endParaRPr>
            </a:p>
          </p:txBody>
        </p:sp>
        <p:pic>
          <p:nvPicPr>
            <p:cNvPr id="74753" name="Picture 1"/>
            <p:cNvPicPr>
              <a:picLocks noChangeAspect="1" noChangeArrowheads="1"/>
            </p:cNvPicPr>
            <p:nvPr/>
          </p:nvPicPr>
          <p:blipFill>
            <a:blip r:embed="rId2" cstate="print"/>
            <a:srcRect/>
            <a:stretch>
              <a:fillRect/>
            </a:stretch>
          </p:blipFill>
          <p:spPr bwMode="auto">
            <a:xfrm>
              <a:off x="2762900" y="3655554"/>
              <a:ext cx="647700" cy="333375"/>
            </a:xfrm>
            <a:prstGeom prst="rect">
              <a:avLst/>
            </a:prstGeom>
            <a:noFill/>
            <a:ln w="9525">
              <a:noFill/>
              <a:miter lim="800000"/>
              <a:headEnd/>
              <a:tailEnd/>
            </a:ln>
          </p:spPr>
        </p:pic>
        <p:pic>
          <p:nvPicPr>
            <p:cNvPr id="74754" name="Picture 2"/>
            <p:cNvPicPr>
              <a:picLocks noChangeAspect="1" noChangeArrowheads="1"/>
            </p:cNvPicPr>
            <p:nvPr/>
          </p:nvPicPr>
          <p:blipFill>
            <a:blip r:embed="rId3" cstate="print"/>
            <a:srcRect/>
            <a:stretch>
              <a:fillRect/>
            </a:stretch>
          </p:blipFill>
          <p:spPr bwMode="auto">
            <a:xfrm>
              <a:off x="5836790" y="3594746"/>
              <a:ext cx="866775" cy="352425"/>
            </a:xfrm>
            <a:prstGeom prst="rect">
              <a:avLst/>
            </a:prstGeom>
            <a:noFill/>
            <a:ln w="9525">
              <a:noFill/>
              <a:miter lim="800000"/>
              <a:headEnd/>
              <a:tailEnd/>
            </a:ln>
          </p:spPr>
        </p:pic>
        <p:pic>
          <p:nvPicPr>
            <p:cNvPr id="11" name="Picture 1"/>
            <p:cNvPicPr>
              <a:picLocks noChangeAspect="1" noChangeArrowheads="1"/>
            </p:cNvPicPr>
            <p:nvPr/>
          </p:nvPicPr>
          <p:blipFill>
            <a:blip r:embed="rId2" cstate="print"/>
            <a:srcRect/>
            <a:stretch>
              <a:fillRect/>
            </a:stretch>
          </p:blipFill>
          <p:spPr bwMode="auto">
            <a:xfrm>
              <a:off x="3857620" y="4167195"/>
              <a:ext cx="647700" cy="333375"/>
            </a:xfrm>
            <a:prstGeom prst="rect">
              <a:avLst/>
            </a:prstGeom>
            <a:noFill/>
            <a:ln w="9525">
              <a:noFill/>
              <a:miter lim="800000"/>
              <a:headEnd/>
              <a:tailEnd/>
            </a:ln>
          </p:spPr>
        </p:pic>
        <p:pic>
          <p:nvPicPr>
            <p:cNvPr id="12" name="Picture 1"/>
            <p:cNvPicPr>
              <a:picLocks noChangeAspect="1" noChangeArrowheads="1"/>
            </p:cNvPicPr>
            <p:nvPr/>
          </p:nvPicPr>
          <p:blipFill>
            <a:blip r:embed="rId2" cstate="print"/>
            <a:srcRect/>
            <a:stretch>
              <a:fillRect/>
            </a:stretch>
          </p:blipFill>
          <p:spPr bwMode="auto">
            <a:xfrm>
              <a:off x="1785918" y="4714884"/>
              <a:ext cx="647700" cy="333375"/>
            </a:xfrm>
            <a:prstGeom prst="rect">
              <a:avLst/>
            </a:prstGeom>
            <a:noFill/>
            <a:ln w="9525">
              <a:noFill/>
              <a:miter lim="800000"/>
              <a:headEnd/>
              <a:tailEnd/>
            </a:ln>
          </p:spPr>
        </p:pic>
      </p:grpSp>
      <p:sp>
        <p:nvSpPr>
          <p:cNvPr id="13" name="TextBox 12"/>
          <p:cNvSpPr txBox="1"/>
          <p:nvPr/>
        </p:nvSpPr>
        <p:spPr>
          <a:xfrm>
            <a:off x="500034" y="357166"/>
            <a:ext cx="7500990" cy="4616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cs typeface="Times New Roman" pitchFamily="18" charset="0"/>
              </a:rPr>
              <a:t>【例</a:t>
            </a:r>
            <a:r>
              <a:rPr lang="en-US" altLang="zh-CN">
                <a:solidFill>
                  <a:srgbClr val="FF0000"/>
                </a:solidFill>
                <a:latin typeface="Consolas" pitchFamily="49" charset="0"/>
                <a:ea typeface="楷体" pitchFamily="49" charset="-122"/>
                <a:cs typeface="Times New Roman" pitchFamily="18" charset="0"/>
              </a:rPr>
              <a:t>2.16</a:t>
            </a:r>
            <a:r>
              <a:rPr lang="zh-CN" altLang="zh-CN">
                <a:solidFill>
                  <a:srgbClr val="FF0000"/>
                </a:solidFill>
                <a:latin typeface="Consolas" pitchFamily="49" charset="0"/>
                <a:ea typeface="楷体"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采用主定理求以下递推式的时间复杂度。</a:t>
            </a: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pPr/>
              <a:t>90</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500034" y="357166"/>
            <a:ext cx="7643866" cy="4616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cs typeface="Times New Roman" pitchFamily="18" charset="0"/>
              </a:rPr>
              <a:t>【例</a:t>
            </a:r>
            <a:r>
              <a:rPr lang="en-US" altLang="zh-CN">
                <a:solidFill>
                  <a:srgbClr val="FF0000"/>
                </a:solidFill>
                <a:latin typeface="Consolas" pitchFamily="49" charset="0"/>
                <a:ea typeface="楷体" pitchFamily="49" charset="-122"/>
                <a:cs typeface="Times New Roman" pitchFamily="18" charset="0"/>
              </a:rPr>
              <a:t>2.17</a:t>
            </a:r>
            <a:r>
              <a:rPr lang="zh-CN" altLang="zh-CN">
                <a:solidFill>
                  <a:srgbClr val="FF0000"/>
                </a:solidFill>
                <a:latin typeface="Consolas" pitchFamily="49" charset="0"/>
                <a:ea typeface="楷体" pitchFamily="49" charset="-122"/>
                <a:cs typeface="Times New Roman" pitchFamily="18" charset="0"/>
              </a:rPr>
              <a:t>】</a:t>
            </a:r>
            <a:r>
              <a:rPr lang="zh-CN" altLang="zh-CN">
                <a:solidFill>
                  <a:srgbClr val="0000FF"/>
                </a:solidFill>
                <a:ea typeface="仿宋" pitchFamily="49" charset="-122"/>
                <a:cs typeface="Times New Roman" pitchFamily="18" charset="0"/>
              </a:rPr>
              <a:t>采用主定理求以下递推式的时间复杂度。</a:t>
            </a:r>
          </a:p>
        </p:txBody>
      </p:sp>
      <p:sp>
        <p:nvSpPr>
          <p:cNvPr id="6" name="TextBox 5"/>
          <p:cNvSpPr txBox="1"/>
          <p:nvPr/>
        </p:nvSpPr>
        <p:spPr>
          <a:xfrm>
            <a:off x="785786" y="1079751"/>
            <a:ext cx="5357850"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)=1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a:lnSpc>
                <a:spcPct val="100000"/>
              </a:lnSpc>
              <a:spcBef>
                <a:spcPts val="600"/>
              </a:spcBef>
            </a:pP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)=3</a:t>
            </a:r>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/4)+</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log</a:t>
            </a:r>
            <a:r>
              <a:rPr lang="pt-BR" altLang="zh-CN" sz="2000" baseline="-25000">
                <a:solidFill>
                  <a:srgbClr val="0000FF"/>
                </a:solidFill>
                <a:latin typeface="Consolas" pitchFamily="49" charset="0"/>
                <a:ea typeface="仿宋" pitchFamily="49" charset="-122"/>
                <a:cs typeface="Consolas" pitchFamily="49" charset="0"/>
              </a:rPr>
              <a:t>2</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&gt;1</a:t>
            </a:r>
            <a:endParaRPr lang="zh-CN" altLang="zh-CN" sz="2000">
              <a:solidFill>
                <a:srgbClr val="00B0F0"/>
              </a:solidFill>
              <a:latin typeface="Consolas" pitchFamily="49" charset="0"/>
              <a:ea typeface="仿宋" pitchFamily="49" charset="-122"/>
              <a:cs typeface="Consolas" pitchFamily="49" charset="0"/>
            </a:endParaRPr>
          </a:p>
        </p:txBody>
      </p:sp>
      <p:grpSp>
        <p:nvGrpSpPr>
          <p:cNvPr id="10" name="组合 9"/>
          <p:cNvGrpSpPr/>
          <p:nvPr/>
        </p:nvGrpSpPr>
        <p:grpSpPr>
          <a:xfrm>
            <a:off x="71406" y="2143116"/>
            <a:ext cx="8858312" cy="3647152"/>
            <a:chOff x="71406" y="2143116"/>
            <a:chExt cx="8858312" cy="3647152"/>
          </a:xfrm>
        </p:grpSpPr>
        <p:sp>
          <p:nvSpPr>
            <p:cNvPr id="7" name="TextBox 6"/>
            <p:cNvSpPr txBox="1"/>
            <p:nvPr/>
          </p:nvSpPr>
          <p:spPr>
            <a:xfrm>
              <a:off x="71406" y="2500306"/>
              <a:ext cx="500066" cy="430887"/>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2200">
                  <a:solidFill>
                    <a:srgbClr val="FF0000"/>
                  </a:solidFill>
                  <a:latin typeface="微软雅黑" pitchFamily="34" charset="-122"/>
                  <a:ea typeface="微软雅黑" pitchFamily="34" charset="-122"/>
                  <a:cs typeface="Consolas" pitchFamily="49" charset="0"/>
                </a:rPr>
                <a:t>解</a:t>
              </a:r>
              <a:endParaRPr lang="zh-CN" altLang="en-US" sz="2200">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8" name="TextBox 7"/>
            <p:cNvSpPr txBox="1"/>
            <p:nvPr/>
          </p:nvSpPr>
          <p:spPr>
            <a:xfrm>
              <a:off x="714348" y="2143116"/>
              <a:ext cx="8215370" cy="36471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50000"/>
                </a:lnSpc>
                <a:spcBef>
                  <a:spcPts val="600"/>
                </a:spcBef>
                <a:buBlip>
                  <a:blip r:embed="rId2"/>
                </a:buBlip>
              </a:pP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log</a:t>
              </a:r>
              <a:r>
                <a:rPr lang="pt-BR" altLang="zh-CN" baseline="-25000">
                  <a:solidFill>
                    <a:srgbClr val="0000FF"/>
                  </a:solidFill>
                  <a:latin typeface="Consolas" pitchFamily="49" charset="0"/>
                  <a:ea typeface="仿宋" pitchFamily="49" charset="-122"/>
                  <a:cs typeface="Consolas" pitchFamily="49" charset="0"/>
                </a:rPr>
                <a:t>2</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    </a:t>
              </a:r>
              <a:r>
                <a:rPr lang="pt-BR" altLang="zh-CN">
                  <a:solidFill>
                    <a:srgbClr val="0000FF"/>
                  </a:solidFill>
                  <a:latin typeface="Consolas" pitchFamily="49" charset="0"/>
                  <a:ea typeface="仿宋" pitchFamily="49" charset="-122"/>
                  <a:cs typeface="Consolas" pitchFamily="49" charset="0"/>
                </a:rPr>
                <a:t>=O(</a:t>
              </a:r>
              <a:r>
                <a:rPr lang="pt-BR" altLang="zh-CN" i="1">
                  <a:solidFill>
                    <a:srgbClr val="0000FF"/>
                  </a:solidFill>
                  <a:latin typeface="Consolas" pitchFamily="49" charset="0"/>
                  <a:ea typeface="仿宋" pitchFamily="49" charset="-122"/>
                  <a:cs typeface="Consolas" pitchFamily="49" charset="0"/>
                </a:rPr>
                <a:t>n</a:t>
              </a:r>
              <a:r>
                <a:rPr lang="pt-BR" altLang="zh-CN" baseline="30000">
                  <a:solidFill>
                    <a:srgbClr val="0000FF"/>
                  </a:solidFill>
                  <a:latin typeface="Consolas" pitchFamily="49" charset="0"/>
                  <a:ea typeface="仿宋" pitchFamily="49" charset="-122"/>
                  <a:cs typeface="Consolas" pitchFamily="49" charset="0"/>
                </a:rPr>
                <a:t>0.793</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，显然</a:t>
              </a:r>
              <a:r>
                <a:rPr lang="pt-BR" altLang="zh-CN" i="1">
                  <a:solidFill>
                    <a:srgbClr val="0000FF"/>
                  </a:solidFill>
                  <a:latin typeface="Consolas" pitchFamily="49" charset="0"/>
                  <a:ea typeface="仿宋" pitchFamily="49" charset="-122"/>
                  <a:cs typeface="Consolas" pitchFamily="49" charset="0"/>
                </a:rPr>
                <a:t>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的阶大于</a:t>
              </a:r>
              <a:r>
                <a:rPr lang="pt-BR" altLang="zh-CN" i="1">
                  <a:solidFill>
                    <a:srgbClr val="0000FF"/>
                  </a:solidFill>
                  <a:latin typeface="Consolas" pitchFamily="49" charset="0"/>
                  <a:ea typeface="仿宋" pitchFamily="49" charset="-122"/>
                  <a:cs typeface="Consolas" pitchFamily="49" charset="0"/>
                </a:rPr>
                <a:t>n</a:t>
              </a:r>
              <a:r>
                <a:rPr lang="pt-BR" altLang="zh-CN" baseline="30000">
                  <a:solidFill>
                    <a:srgbClr val="0000FF"/>
                  </a:solidFill>
                  <a:latin typeface="Consolas" pitchFamily="49" charset="0"/>
                  <a:ea typeface="仿宋" pitchFamily="49" charset="-122"/>
                  <a:cs typeface="Consolas" pitchFamily="49" charset="0"/>
                </a:rPr>
                <a:t>0.793</a:t>
              </a:r>
              <a:r>
                <a:rPr lang="zh-CN" altLang="zh-CN">
                  <a:solidFill>
                    <a:srgbClr val="0000FF"/>
                  </a:solidFill>
                  <a:latin typeface="Consolas" pitchFamily="49" charset="0"/>
                  <a:ea typeface="仿宋" pitchFamily="49" charset="-122"/>
                  <a:cs typeface="Consolas" pitchFamily="49" charset="0"/>
                </a:rPr>
                <a:t>（因为</a:t>
              </a:r>
              <a:r>
                <a:rPr lang="pt-BR" altLang="zh-CN" i="1">
                  <a:solidFill>
                    <a:srgbClr val="0000FF"/>
                  </a:solidFill>
                  <a:latin typeface="Consolas" pitchFamily="49" charset="0"/>
                  <a:ea typeface="仿宋" pitchFamily="49" charset="-122"/>
                  <a:cs typeface="Consolas" pitchFamily="49" charset="0"/>
                </a:rPr>
                <a:t>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log</a:t>
              </a:r>
              <a:r>
                <a:rPr lang="pt-BR" altLang="zh-CN" baseline="-25000">
                  <a:solidFill>
                    <a:srgbClr val="0000FF"/>
                  </a:solidFill>
                  <a:latin typeface="Consolas" pitchFamily="49" charset="0"/>
                  <a:ea typeface="仿宋" pitchFamily="49" charset="-122"/>
                  <a:cs typeface="Consolas" pitchFamily="49" charset="0"/>
                </a:rPr>
                <a:t>2</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&gt;</a:t>
              </a:r>
              <a:r>
                <a:rPr lang="pt-BR" altLang="zh-CN" i="1">
                  <a:solidFill>
                    <a:srgbClr val="0000FF"/>
                  </a:solidFill>
                  <a:latin typeface="Consolas" pitchFamily="49" charset="0"/>
                  <a:ea typeface="仿宋" pitchFamily="49" charset="-122"/>
                  <a:cs typeface="Consolas" pitchFamily="49" charset="0"/>
                </a:rPr>
                <a:t>n</a:t>
              </a:r>
              <a:r>
                <a:rPr lang="pt-BR" altLang="zh-CN" baseline="30000">
                  <a:solidFill>
                    <a:srgbClr val="0000FF"/>
                  </a:solidFill>
                  <a:latin typeface="Consolas" pitchFamily="49" charset="0"/>
                  <a:ea typeface="仿宋" pitchFamily="49" charset="-122"/>
                  <a:cs typeface="Consolas" pitchFamily="49" charset="0"/>
                </a:rPr>
                <a:t>1</a:t>
              </a:r>
              <a:r>
                <a:rPr lang="pt-BR" altLang="zh-CN">
                  <a:solidFill>
                    <a:srgbClr val="0000FF"/>
                  </a:solidFill>
                  <a:latin typeface="Consolas" pitchFamily="49" charset="0"/>
                  <a:ea typeface="仿宋" pitchFamily="49" charset="-122"/>
                  <a:cs typeface="Consolas" pitchFamily="49" charset="0"/>
                </a:rPr>
                <a:t>&gt;</a:t>
              </a:r>
              <a:r>
                <a:rPr lang="pt-BR" altLang="zh-CN" i="1">
                  <a:solidFill>
                    <a:srgbClr val="0000FF"/>
                  </a:solidFill>
                  <a:latin typeface="Consolas" pitchFamily="49" charset="0"/>
                  <a:ea typeface="仿宋" pitchFamily="49" charset="-122"/>
                  <a:cs typeface="Consolas" pitchFamily="49" charset="0"/>
                </a:rPr>
                <a:t>n</a:t>
              </a:r>
              <a:r>
                <a:rPr lang="pt-BR" altLang="zh-CN" baseline="30000">
                  <a:solidFill>
                    <a:srgbClr val="0000FF"/>
                  </a:solidFill>
                  <a:latin typeface="Consolas" pitchFamily="49" charset="0"/>
                  <a:ea typeface="仿宋" pitchFamily="49" charset="-122"/>
                  <a:cs typeface="Consolas" pitchFamily="49" charset="0"/>
                </a:rPr>
                <a:t>0.793</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ct val="150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对于足够大的</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)=3(</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/4)log</a:t>
              </a:r>
              <a:r>
                <a:rPr lang="pt-BR" altLang="zh-CN" baseline="-25000">
                  <a:solidFill>
                    <a:srgbClr val="0000FF"/>
                  </a:solidFill>
                  <a:latin typeface="Consolas" pitchFamily="49" charset="0"/>
                  <a:ea typeface="仿宋" pitchFamily="49" charset="-122"/>
                  <a:cs typeface="Consolas" pitchFamily="49" charset="0"/>
                </a:rPr>
                <a:t>2</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/4)=(3/4)</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log</a:t>
              </a:r>
              <a:r>
                <a:rPr lang="pt-BR" altLang="zh-CN" baseline="-25000">
                  <a:solidFill>
                    <a:srgbClr val="0000FF"/>
                  </a:solidFill>
                  <a:latin typeface="Consolas" pitchFamily="49" charset="0"/>
                  <a:ea typeface="仿宋" pitchFamily="49" charset="-122"/>
                  <a:cs typeface="Consolas" pitchFamily="49" charset="0"/>
                </a:rPr>
                <a:t>2</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-3</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/2</a:t>
              </a:r>
            </a:p>
            <a:p>
              <a:pPr marL="457200" indent="-457200" algn="l">
                <a:lnSpc>
                  <a:spcPct val="150000"/>
                </a:lnSpc>
                <a:spcBef>
                  <a:spcPts val="600"/>
                </a:spcBef>
              </a:pPr>
              <a:r>
                <a:rPr lang="pt-BR"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mj-ea"/>
                  <a:ea typeface="+mj-ea"/>
                  <a:cs typeface="Consolas" pitchFamily="49" charset="0"/>
                </a:rPr>
                <a:t>≤</a:t>
              </a:r>
              <a:r>
                <a:rPr lang="pt-BR" altLang="zh-CN">
                  <a:solidFill>
                    <a:srgbClr val="0000FF"/>
                  </a:solidFill>
                  <a:latin typeface="Consolas" pitchFamily="49" charset="0"/>
                  <a:ea typeface="仿宋" pitchFamily="49" charset="-122"/>
                  <a:cs typeface="Consolas" pitchFamily="49" charset="0"/>
                </a:rPr>
                <a:t>(3/4)</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log</a:t>
              </a:r>
              <a:r>
                <a:rPr lang="pt-BR" altLang="zh-CN" baseline="-25000">
                  <a:solidFill>
                    <a:srgbClr val="0000FF"/>
                  </a:solidFill>
                  <a:latin typeface="Consolas" pitchFamily="49" charset="0"/>
                  <a:ea typeface="仿宋" pitchFamily="49" charset="-122"/>
                  <a:cs typeface="Consolas" pitchFamily="49" charset="0"/>
                </a:rPr>
                <a:t>2</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cf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，这里</a:t>
              </a:r>
              <a:r>
                <a:rPr lang="pt-BR" altLang="zh-CN" i="1">
                  <a:solidFill>
                    <a:srgbClr val="0000FF"/>
                  </a:solidFill>
                  <a:latin typeface="Consolas" pitchFamily="49" charset="0"/>
                  <a:ea typeface="仿宋" pitchFamily="49" charset="-122"/>
                  <a:cs typeface="Consolas" pitchFamily="49" charset="0"/>
                </a:rPr>
                <a:t>c</a:t>
              </a:r>
              <a:r>
                <a:rPr lang="pt-BR" altLang="zh-CN">
                  <a:solidFill>
                    <a:srgbClr val="0000FF"/>
                  </a:solidFill>
                  <a:latin typeface="Consolas" pitchFamily="49" charset="0"/>
                  <a:ea typeface="仿宋" pitchFamily="49" charset="-122"/>
                  <a:cs typeface="Consolas" pitchFamily="49" charset="0"/>
                </a:rPr>
                <a:t>=3/4</a:t>
              </a:r>
              <a:r>
                <a:rPr lang="zh-CN" altLang="zh-CN">
                  <a:solidFill>
                    <a:srgbClr val="0000FF"/>
                  </a:solidFill>
                  <a:latin typeface="Consolas" pitchFamily="49" charset="0"/>
                  <a:ea typeface="仿宋" pitchFamily="49" charset="-122"/>
                  <a:cs typeface="Consolas" pitchFamily="49" charset="0"/>
                </a:rPr>
                <a:t>，满足正规性条件</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ct val="1500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按照</a:t>
              </a:r>
              <a:r>
                <a:rPr lang="zh-CN" altLang="zh-CN">
                  <a:solidFill>
                    <a:srgbClr val="0000FF"/>
                  </a:solidFill>
                  <a:latin typeface="Consolas" pitchFamily="49" charset="0"/>
                  <a:ea typeface="仿宋" pitchFamily="49" charset="-122"/>
                  <a:cs typeface="Consolas" pitchFamily="49" charset="0"/>
                </a:rPr>
                <a:t>主定理中情况③ ，有</a:t>
              </a: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sym typeface="Symbol"/>
                </a:rPr>
                <a: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f</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sym typeface="Symbol"/>
                </a:rPr>
                <a: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log</a:t>
              </a:r>
              <a:r>
                <a:rPr lang="en-US" altLang="zh-CN" baseline="-25000">
                  <a:solidFill>
                    <a:srgbClr val="0000FF"/>
                  </a:solidFill>
                  <a:latin typeface="Consolas" pitchFamily="49" charset="0"/>
                  <a:ea typeface="仿宋" pitchFamily="49" charset="-122"/>
                  <a:cs typeface="Consolas" pitchFamily="49" charset="0"/>
                </a:rPr>
                <a:t>2</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p:txBody>
        </p:sp>
        <p:pic>
          <p:nvPicPr>
            <p:cNvPr id="11" name="Picture 1"/>
            <p:cNvPicPr>
              <a:picLocks noChangeAspect="1" noChangeArrowheads="1"/>
            </p:cNvPicPr>
            <p:nvPr/>
          </p:nvPicPr>
          <p:blipFill>
            <a:blip r:embed="rId3" cstate="print"/>
            <a:srcRect/>
            <a:stretch>
              <a:fillRect/>
            </a:stretch>
          </p:blipFill>
          <p:spPr bwMode="auto">
            <a:xfrm>
              <a:off x="4929190" y="2309807"/>
              <a:ext cx="647700" cy="333375"/>
            </a:xfrm>
            <a:prstGeom prst="rect">
              <a:avLst/>
            </a:prstGeom>
            <a:noFill/>
            <a:ln w="9525">
              <a:noFill/>
              <a:miter lim="800000"/>
              <a:headEnd/>
              <a:tailEnd/>
            </a:ln>
          </p:spPr>
        </p:pic>
      </p:grpSp>
      <p:sp>
        <p:nvSpPr>
          <p:cNvPr id="12" name="灯片编号占位符 11"/>
          <p:cNvSpPr>
            <a:spLocks noGrp="1"/>
          </p:cNvSpPr>
          <p:nvPr>
            <p:ph type="sldNum" sz="quarter" idx="12"/>
          </p:nvPr>
        </p:nvSpPr>
        <p:spPr/>
        <p:txBody>
          <a:bodyPr/>
          <a:lstStyle/>
          <a:p>
            <a:fld id="{7AF016A1-9F15-429F-9EFD-84004B73C732}" type="slidenum">
              <a:rPr lang="en-US" altLang="zh-CN" smtClean="0"/>
              <a:pPr/>
              <a:t>91</a:t>
            </a:fld>
            <a:r>
              <a:rPr lang="en-US" altLang="zh-CN"/>
              <a:t>/91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3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642910" y="571480"/>
            <a:ext cx="614366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可以这样</a:t>
            </a:r>
            <a:r>
              <a:rPr lang="zh-CN" altLang="zh-CN">
                <a:solidFill>
                  <a:srgbClr val="FF0000"/>
                </a:solidFill>
                <a:latin typeface="楷体" pitchFamily="49" charset="-122"/>
                <a:ea typeface="楷体" pitchFamily="49" charset="-122"/>
              </a:rPr>
              <a:t>简化主定理</a:t>
            </a:r>
            <a:r>
              <a:rPr lang="zh-CN" altLang="zh-CN">
                <a:solidFill>
                  <a:srgbClr val="0000FF"/>
                </a:solidFill>
                <a:latin typeface="楷体" pitchFamily="49" charset="-122"/>
                <a:ea typeface="楷体" pitchFamily="49" charset="-122"/>
              </a:rPr>
              <a:t>，如果递推式如下：</a:t>
            </a:r>
          </a:p>
        </p:txBody>
      </p:sp>
      <p:sp>
        <p:nvSpPr>
          <p:cNvPr id="7" name="TextBox 6"/>
          <p:cNvSpPr txBox="1"/>
          <p:nvPr/>
        </p:nvSpPr>
        <p:spPr>
          <a:xfrm>
            <a:off x="714348" y="1271871"/>
            <a:ext cx="5072098" cy="86444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(1)=</a:t>
            </a:r>
            <a:r>
              <a:rPr lang="pt-BR" altLang="zh-CN" sz="2000" i="1">
                <a:solidFill>
                  <a:srgbClr val="0000FF"/>
                </a:solidFill>
                <a:latin typeface="Consolas" pitchFamily="49" charset="0"/>
                <a:ea typeface="仿宋" pitchFamily="49" charset="-122"/>
                <a:cs typeface="Consolas" pitchFamily="49" charset="0"/>
              </a:rPr>
              <a:t>c</a:t>
            </a:r>
            <a:endParaRPr lang="zh-CN" altLang="zh-CN" sz="2000">
              <a:solidFill>
                <a:srgbClr val="0000FF"/>
              </a:solidFill>
              <a:latin typeface="Consolas" pitchFamily="49" charset="0"/>
              <a:ea typeface="仿宋" pitchFamily="49" charset="-122"/>
              <a:cs typeface="Consolas" pitchFamily="49" charset="0"/>
            </a:endParaRPr>
          </a:p>
          <a:p>
            <a:pPr algn="l"/>
            <a:r>
              <a:rPr lang="pt-BR" altLang="zh-CN" sz="2000" i="1">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aT</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b</a:t>
            </a:r>
            <a:r>
              <a:rPr lang="pt-BR"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cn</a:t>
            </a:r>
            <a:r>
              <a:rPr lang="en-US" altLang="zh-CN" sz="2000" i="1" baseline="30000">
                <a:solidFill>
                  <a:srgbClr val="0000FF"/>
                </a:solidFill>
                <a:latin typeface="Consolas" pitchFamily="49" charset="0"/>
                <a:ea typeface="仿宋" pitchFamily="49" charset="-122"/>
                <a:cs typeface="Consolas" pitchFamily="49" charset="0"/>
              </a:rPr>
              <a:t>k</a:t>
            </a:r>
            <a:r>
              <a:rPr lang="pt-BR"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pt-BR" altLang="zh-CN" sz="2000" i="1">
                <a:solidFill>
                  <a:srgbClr val="00B0F0"/>
                </a:solidFill>
                <a:latin typeface="Consolas" pitchFamily="49" charset="0"/>
                <a:ea typeface="仿宋" pitchFamily="49" charset="-122"/>
                <a:cs typeface="Consolas" pitchFamily="49" charset="0"/>
              </a:rPr>
              <a:t>n</a:t>
            </a:r>
            <a:r>
              <a:rPr lang="pt-BR" altLang="zh-CN" sz="2000">
                <a:solidFill>
                  <a:srgbClr val="00B0F0"/>
                </a:solidFill>
                <a:latin typeface="Consolas" pitchFamily="49" charset="0"/>
                <a:ea typeface="仿宋" pitchFamily="49" charset="-122"/>
                <a:cs typeface="Consolas" pitchFamily="49" charset="0"/>
              </a:rPr>
              <a:t>&gt;1</a:t>
            </a:r>
            <a:r>
              <a:rPr lang="zh-CN" altLang="zh-CN" sz="2000">
                <a:solidFill>
                  <a:srgbClr val="00B0F0"/>
                </a:solidFill>
                <a:latin typeface="Consolas" pitchFamily="49" charset="0"/>
                <a:ea typeface="仿宋" pitchFamily="49" charset="-122"/>
                <a:cs typeface="Consolas" pitchFamily="49" charset="0"/>
              </a:rPr>
              <a:t>时</a:t>
            </a:r>
          </a:p>
        </p:txBody>
      </p:sp>
      <p:sp>
        <p:nvSpPr>
          <p:cNvPr id="8" name="TextBox 7"/>
          <p:cNvSpPr txBox="1"/>
          <p:nvPr/>
        </p:nvSpPr>
        <p:spPr>
          <a:xfrm>
            <a:off x="857224" y="3143248"/>
            <a:ext cx="5357850" cy="1814306"/>
          </a:xfrm>
          <a:prstGeom prst="rect">
            <a:avLst/>
          </a:prstGeom>
          <a:solidFill>
            <a:schemeClr val="bg1"/>
          </a:solidFill>
          <a:ln w="76200">
            <a:solidFill>
              <a:schemeClr val="accent6">
                <a:lumMod val="20000"/>
                <a:lumOff val="80000"/>
              </a:schemeClr>
            </a:solidFill>
          </a:ln>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pPr>
            <a:r>
              <a:rPr lang="zh-CN" altLang="zh-CN">
                <a:solidFill>
                  <a:srgbClr val="0000FF"/>
                </a:solidFill>
                <a:latin typeface="Consolas" pitchFamily="49" charset="0"/>
                <a:ea typeface="仿宋" pitchFamily="49" charset="-122"/>
                <a:cs typeface="Consolas" pitchFamily="49" charset="0"/>
              </a:rPr>
              <a:t>① 若</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&gt;</a:t>
            </a:r>
            <a:r>
              <a:rPr lang="en-US" altLang="zh-CN" i="1">
                <a:solidFill>
                  <a:srgbClr val="0000FF"/>
                </a:solidFill>
                <a:latin typeface="Consolas" pitchFamily="49" charset="0"/>
                <a:ea typeface="仿宋" pitchFamily="49" charset="-122"/>
                <a:cs typeface="Consolas" pitchFamily="49" charset="0"/>
              </a:rPr>
              <a:t>b</a:t>
            </a:r>
            <a:r>
              <a:rPr lang="en-US" altLang="zh-CN" i="1" baseline="30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，则</a:t>
            </a: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sym typeface="Symbol"/>
              </a:rPr>
              <a:t></a:t>
            </a:r>
            <a:r>
              <a:rPr lang="pt-BR"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a:t>
            </a:r>
          </a:p>
          <a:p>
            <a:pPr algn="l">
              <a:lnSpc>
                <a:spcPts val="3000"/>
              </a:lnSpc>
            </a:pPr>
            <a:r>
              <a:rPr lang="zh-CN" altLang="zh-CN">
                <a:solidFill>
                  <a:srgbClr val="0000FF"/>
                </a:solidFill>
                <a:latin typeface="Consolas" pitchFamily="49" charset="0"/>
                <a:ea typeface="仿宋" pitchFamily="49" charset="-122"/>
                <a:cs typeface="Consolas" pitchFamily="49" charset="0"/>
              </a:rPr>
              <a:t>② 若</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en-US" altLang="zh-CN" i="1" baseline="30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，则</a:t>
            </a: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sym typeface="Symbol"/>
              </a:rPr>
              <a: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i="1" baseline="30000">
                <a:solidFill>
                  <a:srgbClr val="0000FF"/>
                </a:solidFill>
                <a:latin typeface="Consolas" pitchFamily="49" charset="0"/>
                <a:ea typeface="仿宋" pitchFamily="49" charset="-122"/>
                <a:cs typeface="Consolas" pitchFamily="49" charset="0"/>
              </a:rPr>
              <a:t>k</a:t>
            </a:r>
            <a:r>
              <a:rPr lang="pt-BR" altLang="zh-CN">
                <a:solidFill>
                  <a:srgbClr val="0000FF"/>
                </a:solidFill>
                <a:latin typeface="Consolas" pitchFamily="49" charset="0"/>
                <a:ea typeface="仿宋" pitchFamily="49" charset="-122"/>
                <a:cs typeface="Consolas" pitchFamily="49" charset="0"/>
              </a:rPr>
              <a:t>log</a:t>
            </a:r>
            <a:r>
              <a:rPr lang="pt-BR" altLang="zh-CN" i="1" baseline="-25000">
                <a:solidFill>
                  <a:srgbClr val="0000FF"/>
                </a:solidFill>
                <a:latin typeface="Consolas" pitchFamily="49" charset="0"/>
                <a:ea typeface="仿宋" pitchFamily="49" charset="-122"/>
                <a:cs typeface="Consolas" pitchFamily="49" charset="0"/>
              </a:rPr>
              <a:t>b</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a:p>
            <a:pPr algn="l">
              <a:lnSpc>
                <a:spcPts val="3000"/>
              </a:lnSpc>
            </a:pPr>
            <a:r>
              <a:rPr lang="zh-CN" altLang="zh-CN">
                <a:solidFill>
                  <a:srgbClr val="0000FF"/>
                </a:solidFill>
                <a:latin typeface="Consolas" pitchFamily="49" charset="0"/>
                <a:ea typeface="仿宋" pitchFamily="49" charset="-122"/>
                <a:cs typeface="Consolas" pitchFamily="49" charset="0"/>
              </a:rPr>
              <a:t>③ 若</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&lt;</a:t>
            </a:r>
            <a:r>
              <a:rPr lang="en-US" altLang="zh-CN" i="1">
                <a:solidFill>
                  <a:srgbClr val="0000FF"/>
                </a:solidFill>
                <a:latin typeface="Consolas" pitchFamily="49" charset="0"/>
                <a:ea typeface="仿宋" pitchFamily="49" charset="-122"/>
                <a:cs typeface="Consolas" pitchFamily="49" charset="0"/>
              </a:rPr>
              <a:t>b</a:t>
            </a:r>
            <a:r>
              <a:rPr lang="en-US" altLang="zh-CN" i="1" baseline="30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，则</a:t>
            </a:r>
            <a:r>
              <a:rPr lang="pt-BR" altLang="zh-CN" i="1">
                <a:solidFill>
                  <a:srgbClr val="0000FF"/>
                </a:solidFill>
                <a:latin typeface="Consolas" pitchFamily="49" charset="0"/>
                <a:ea typeface="仿宋" pitchFamily="49" charset="-122"/>
                <a:cs typeface="Consolas" pitchFamily="49" charset="0"/>
              </a:rPr>
              <a:t>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sym typeface="Symbol"/>
              </a:rPr>
              <a:t></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i="1" baseline="30000">
                <a:solidFill>
                  <a:srgbClr val="0000FF"/>
                </a:solidFill>
                <a:latin typeface="Consolas" pitchFamily="49" charset="0"/>
                <a:ea typeface="仿宋" pitchFamily="49" charset="-122"/>
                <a:cs typeface="Consolas" pitchFamily="49" charset="0"/>
              </a:rPr>
              <a:t>k</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endParaRPr lang="zh-CN" altLang="en-US">
              <a:solidFill>
                <a:srgbClr val="0000FF"/>
              </a:solidFill>
              <a:latin typeface="Consolas" pitchFamily="49" charset="0"/>
              <a:ea typeface="仿宋" pitchFamily="49" charset="-122"/>
              <a:cs typeface="Consolas" pitchFamily="49" charset="0"/>
            </a:endParaRPr>
          </a:p>
        </p:txBody>
      </p:sp>
      <p:pic>
        <p:nvPicPr>
          <p:cNvPr id="9" name="Picture 1"/>
          <p:cNvPicPr>
            <a:picLocks noChangeAspect="1" noChangeArrowheads="1"/>
          </p:cNvPicPr>
          <p:nvPr/>
        </p:nvPicPr>
        <p:blipFill>
          <a:blip r:embed="rId2" cstate="print"/>
          <a:srcRect/>
          <a:stretch>
            <a:fillRect/>
          </a:stretch>
        </p:blipFill>
        <p:spPr bwMode="auto">
          <a:xfrm>
            <a:off x="4346397" y="3286124"/>
            <a:ext cx="796352" cy="333375"/>
          </a:xfrm>
          <a:prstGeom prst="rect">
            <a:avLst/>
          </a:prstGeom>
          <a:noFill/>
          <a:ln w="9525">
            <a:noFill/>
            <a:miter lim="800000"/>
            <a:headEnd/>
            <a:tailEnd/>
          </a:ln>
        </p:spPr>
      </p:pic>
      <p:sp>
        <p:nvSpPr>
          <p:cNvPr id="11" name="TextBox 10"/>
          <p:cNvSpPr txBox="1"/>
          <p:nvPr/>
        </p:nvSpPr>
        <p:spPr>
          <a:xfrm>
            <a:off x="785786" y="2500306"/>
            <a:ext cx="471490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其中</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都是常量，则：</a:t>
            </a: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pPr/>
              <a:t>92</a:t>
            </a:fld>
            <a:r>
              <a:rPr lang="en-US" altLang="zh-CN"/>
              <a:t>/91</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1AA47F-ACD6-18F8-3490-3E27356E86E9}"/>
              </a:ext>
            </a:extLst>
          </p:cNvPr>
          <p:cNvSpPr>
            <a:spLocks noGrp="1"/>
          </p:cNvSpPr>
          <p:nvPr>
            <p:ph type="sldNum" sz="quarter" idx="12"/>
          </p:nvPr>
        </p:nvSpPr>
        <p:spPr/>
        <p:txBody>
          <a:bodyPr/>
          <a:lstStyle/>
          <a:p>
            <a:fld id="{7AF016A1-9F15-429F-9EFD-84004B73C732}" type="slidenum">
              <a:rPr lang="en-US" altLang="zh-CN" smtClean="0"/>
              <a:pPr/>
              <a:t>93</a:t>
            </a:fld>
            <a:r>
              <a:rPr lang="en-US" altLang="zh-CN"/>
              <a:t>/91</a:t>
            </a:r>
          </a:p>
        </p:txBody>
      </p:sp>
      <p:pic>
        <p:nvPicPr>
          <p:cNvPr id="1026" name="Picture 2">
            <a:extLst>
              <a:ext uri="{FF2B5EF4-FFF2-40B4-BE49-F238E27FC236}">
                <a16:creationId xmlns:a16="http://schemas.microsoft.com/office/drawing/2014/main" id="{B1B00637-5530-77A7-D07E-94CBB493AA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A4B24734-4610-BD86-35AF-5E852EA1BB19}"/>
              </a:ext>
            </a:extLst>
          </p:cNvPr>
          <p:cNvSpPr txBox="1"/>
          <p:nvPr/>
        </p:nvSpPr>
        <p:spPr>
          <a:xfrm>
            <a:off x="4139952" y="4725144"/>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34712747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none"/>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4850</TotalTime>
  <Words>9653</Words>
  <Application>Microsoft Office PowerPoint</Application>
  <PresentationFormat>全屏显示(4:3)</PresentationFormat>
  <Paragraphs>1041</Paragraphs>
  <Slides>93</Slides>
  <Notes>81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93</vt:i4>
      </vt:variant>
    </vt:vector>
  </HeadingPairs>
  <TitlesOfParts>
    <vt:vector size="104" baseType="lpstr">
      <vt:lpstr>仿宋</vt:lpstr>
      <vt:lpstr>华文中宋</vt:lpstr>
      <vt:lpstr>楷体</vt:lpstr>
      <vt:lpstr>微软雅黑</vt:lpstr>
      <vt:lpstr>Arial</vt:lpstr>
      <vt:lpstr>Calibri</vt:lpstr>
      <vt:lpstr>Consolas</vt:lpstr>
      <vt:lpstr>Eras Bold ITC</vt:lpstr>
      <vt:lpstr>Forte</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1901</cp:revision>
  <dcterms:created xsi:type="dcterms:W3CDTF">2004-03-31T23:50:14Z</dcterms:created>
  <dcterms:modified xsi:type="dcterms:W3CDTF">2024-01-28T08:37:18Z</dcterms:modified>
</cp:coreProperties>
</file>