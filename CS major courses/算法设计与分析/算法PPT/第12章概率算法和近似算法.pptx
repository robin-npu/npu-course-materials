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3" r:id="rId1"/>
  </p:sldMasterIdLst>
  <p:notesMasterIdLst>
    <p:notesMasterId r:id="rId78"/>
  </p:notesMasterIdLst>
  <p:handoutMasterIdLst>
    <p:handoutMasterId r:id="rId79"/>
  </p:handoutMasterIdLst>
  <p:sldIdLst>
    <p:sldId id="522" r:id="rId2"/>
    <p:sldId id="365" r:id="rId3"/>
    <p:sldId id="366" r:id="rId4"/>
    <p:sldId id="615" r:id="rId5"/>
    <p:sldId id="372" r:id="rId6"/>
    <p:sldId id="620" r:id="rId7"/>
    <p:sldId id="662" r:id="rId8"/>
    <p:sldId id="667" r:id="rId9"/>
    <p:sldId id="663" r:id="rId10"/>
    <p:sldId id="664" r:id="rId11"/>
    <p:sldId id="665" r:id="rId12"/>
    <p:sldId id="666" r:id="rId13"/>
    <p:sldId id="668" r:id="rId14"/>
    <p:sldId id="669" r:id="rId15"/>
    <p:sldId id="670" r:id="rId16"/>
    <p:sldId id="671" r:id="rId17"/>
    <p:sldId id="687" r:id="rId18"/>
    <p:sldId id="672" r:id="rId19"/>
    <p:sldId id="673" r:id="rId20"/>
    <p:sldId id="674" r:id="rId21"/>
    <p:sldId id="675" r:id="rId22"/>
    <p:sldId id="676" r:id="rId23"/>
    <p:sldId id="678" r:id="rId24"/>
    <p:sldId id="679" r:id="rId25"/>
    <p:sldId id="688" r:id="rId26"/>
    <p:sldId id="689" r:id="rId27"/>
    <p:sldId id="690" r:id="rId28"/>
    <p:sldId id="691" r:id="rId29"/>
    <p:sldId id="680" r:id="rId30"/>
    <p:sldId id="692" r:id="rId31"/>
    <p:sldId id="693" r:id="rId32"/>
    <p:sldId id="694" r:id="rId33"/>
    <p:sldId id="695" r:id="rId34"/>
    <p:sldId id="699" r:id="rId35"/>
    <p:sldId id="696" r:id="rId36"/>
    <p:sldId id="697" r:id="rId37"/>
    <p:sldId id="698" r:id="rId38"/>
    <p:sldId id="681" r:id="rId39"/>
    <p:sldId id="682" r:id="rId40"/>
    <p:sldId id="683" r:id="rId41"/>
    <p:sldId id="684" r:id="rId42"/>
    <p:sldId id="685" r:id="rId43"/>
    <p:sldId id="686" r:id="rId44"/>
    <p:sldId id="700" r:id="rId45"/>
    <p:sldId id="701" r:id="rId46"/>
    <p:sldId id="702" r:id="rId47"/>
    <p:sldId id="703" r:id="rId48"/>
    <p:sldId id="704" r:id="rId49"/>
    <p:sldId id="734" r:id="rId50"/>
    <p:sldId id="706" r:id="rId51"/>
    <p:sldId id="723" r:id="rId52"/>
    <p:sldId id="725" r:id="rId53"/>
    <p:sldId id="726" r:id="rId54"/>
    <p:sldId id="727" r:id="rId55"/>
    <p:sldId id="728" r:id="rId56"/>
    <p:sldId id="729" r:id="rId57"/>
    <p:sldId id="730" r:id="rId58"/>
    <p:sldId id="724" r:id="rId59"/>
    <p:sldId id="707" r:id="rId60"/>
    <p:sldId id="708" r:id="rId61"/>
    <p:sldId id="709" r:id="rId62"/>
    <p:sldId id="710" r:id="rId63"/>
    <p:sldId id="711" r:id="rId64"/>
    <p:sldId id="712" r:id="rId65"/>
    <p:sldId id="713" r:id="rId66"/>
    <p:sldId id="714" r:id="rId67"/>
    <p:sldId id="715" r:id="rId68"/>
    <p:sldId id="716" r:id="rId69"/>
    <p:sldId id="717" r:id="rId70"/>
    <p:sldId id="718" r:id="rId71"/>
    <p:sldId id="719" r:id="rId72"/>
    <p:sldId id="721" r:id="rId73"/>
    <p:sldId id="720" r:id="rId74"/>
    <p:sldId id="731" r:id="rId75"/>
    <p:sldId id="732" r:id="rId76"/>
    <p:sldId id="735" r:id="rId77"/>
  </p:sldIdLst>
  <p:sldSz cx="9144000" cy="6858000" type="screen4x3"/>
  <p:notesSz cx="6858000" cy="9144000"/>
  <p:defaultTex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006600"/>
    <a:srgbClr val="0000FF"/>
    <a:srgbClr val="339933"/>
    <a:srgbClr val="FFFFFF"/>
    <a:srgbClr val="FF3300"/>
    <a:srgbClr val="FF3399"/>
    <a:srgbClr val="000000"/>
    <a:srgbClr val="3333FF"/>
    <a:srgbClr val="66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0" autoAdjust="0"/>
    <p:restoredTop sz="94933" autoAdjust="0"/>
  </p:normalViewPr>
  <p:slideViewPr>
    <p:cSldViewPr>
      <p:cViewPr varScale="1">
        <p:scale>
          <a:sx n="99" d="100"/>
          <a:sy n="99" d="100"/>
        </p:scale>
        <p:origin x="129"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7" d="100"/>
          <a:sy n="67" d="100"/>
        </p:scale>
        <p:origin x="-3360"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9348C81-2EE0-4ADC-AD51-9DC87E0EF387}" type="datetimeFigureOut">
              <a:rPr lang="zh-CN" altLang="en-US" smtClean="0"/>
              <a:pPr/>
              <a:t>2024-01-28</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FF0761C-5A44-4BA0-B4C5-00F13EA65E0F}" type="slidenum">
              <a:rPr lang="zh-CN" altLang="en-US" smtClean="0"/>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4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lnSpc>
                <a:spcPct val="100000"/>
              </a:lnSpc>
              <a:spcBef>
                <a:spcPct val="0"/>
              </a:spcBef>
              <a:defRPr sz="1200" b="0">
                <a:solidFill>
                  <a:schemeClr val="tx1"/>
                </a:solidFill>
                <a:ea typeface="宋体" pitchFamily="2" charset="-122"/>
              </a:defRPr>
            </a:lvl1pPr>
          </a:lstStyle>
          <a:p>
            <a:endParaRPr lang="en-US" altLang="zh-CN"/>
          </a:p>
        </p:txBody>
      </p:sp>
      <p:sp>
        <p:nvSpPr>
          <p:cNvPr id="21504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defRPr sz="1200" b="0">
                <a:solidFill>
                  <a:schemeClr val="tx1"/>
                </a:solidFill>
                <a:ea typeface="宋体" pitchFamily="2" charset="-122"/>
              </a:defRPr>
            </a:lvl1pPr>
          </a:lstStyle>
          <a:p>
            <a:endParaRPr lang="en-US" altLang="zh-CN"/>
          </a:p>
        </p:txBody>
      </p:sp>
      <p:sp>
        <p:nvSpPr>
          <p:cNvPr id="21504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21504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1504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lnSpc>
                <a:spcPct val="100000"/>
              </a:lnSpc>
              <a:spcBef>
                <a:spcPct val="0"/>
              </a:spcBef>
              <a:defRPr sz="1200" b="0">
                <a:solidFill>
                  <a:schemeClr val="tx1"/>
                </a:solidFill>
                <a:ea typeface="宋体" pitchFamily="2" charset="-122"/>
              </a:defRPr>
            </a:lvl1pPr>
          </a:lstStyle>
          <a:p>
            <a:endParaRPr lang="en-US" altLang="zh-CN"/>
          </a:p>
        </p:txBody>
      </p:sp>
      <p:sp>
        <p:nvSpPr>
          <p:cNvPr id="21504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defRPr sz="1200" b="0">
                <a:solidFill>
                  <a:schemeClr val="tx1"/>
                </a:solidFill>
                <a:ea typeface="宋体" pitchFamily="2" charset="-122"/>
              </a:defRPr>
            </a:lvl1pPr>
          </a:lstStyle>
          <a:p>
            <a:fld id="{0D1E2EF4-146E-47B5-A412-FFD548A1AB6A}"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fontAlgn="base">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fontAlgn="base">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fontAlgn="base">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fontAlgn="base">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en-US" altLang="zh-CN"/>
          </a:p>
        </p:txBody>
      </p:sp>
      <p:sp>
        <p:nvSpPr>
          <p:cNvPr id="3" name="页脚占位符 2"/>
          <p:cNvSpPr>
            <a:spLocks noGrp="1"/>
          </p:cNvSpPr>
          <p:nvPr>
            <p:ph type="ftr" sz="quarter" idx="11"/>
          </p:nvPr>
        </p:nvSpPr>
        <p:spPr/>
        <p:txBody>
          <a:bodyPr/>
          <a:lstStyle/>
          <a:p>
            <a:endParaRPr lang="en-US" altLang="zh-CN"/>
          </a:p>
        </p:txBody>
      </p:sp>
      <p:sp>
        <p:nvSpPr>
          <p:cNvPr id="4" name="灯片编号占位符 3"/>
          <p:cNvSpPr>
            <a:spLocks noGrp="1"/>
          </p:cNvSpPr>
          <p:nvPr>
            <p:ph type="sldNum" sz="quarter" idx="12"/>
          </p:nvPr>
        </p:nvSpPr>
        <p:spPr/>
        <p:txBody>
          <a:bodyPr/>
          <a:lstStyle>
            <a:lvl1pPr>
              <a:defRPr sz="1400">
                <a:solidFill>
                  <a:srgbClr val="FF0000"/>
                </a:solidFill>
                <a:latin typeface="Consolas" pitchFamily="49" charset="0"/>
                <a:cs typeface="Consolas" pitchFamily="49" charset="0"/>
              </a:defRPr>
            </a:lvl1pPr>
          </a:lstStyle>
          <a:p>
            <a:fld id="{7AF016A1-9F15-429F-9EFD-84004B73C732}" type="slidenum">
              <a:rPr lang="en-US" altLang="zh-CN" smtClean="0"/>
              <a:pPr/>
              <a:t>‹#›</a:t>
            </a:fld>
            <a:r>
              <a:rPr lang="en-US" altLang="zh-CN"/>
              <a:t>/75</a:t>
            </a: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ltLang="zh-CN"/>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ltLang="zh-CN"/>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D3DD41-1E0E-46B0-ABE7-D5048A3DF737}" type="slidenum">
              <a:rPr lang="en-US" altLang="zh-CN" smtClean="0"/>
              <a:pPr/>
              <a:t>‹#›</a:t>
            </a:fld>
            <a:endParaRPr lang="en-US" altLang="zh-CN"/>
          </a:p>
        </p:txBody>
      </p:sp>
    </p:spTree>
  </p:cSld>
  <p:clrMap bg1="lt1" tx1="dk1" bg2="lt2" tx2="dk2" accent1="accent1" accent2="accent2" accent3="accent3" accent4="accent4" accent5="accent5" accent6="accent6" hlink="hlink" folHlink="folHlink"/>
  <p:sldLayoutIdLst>
    <p:sldLayoutId id="2147483710"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gif"/></Relationships>
</file>

<file path=ppt/slides/_rels/slide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gif"/><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5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571472" y="714356"/>
            <a:ext cx="8143932" cy="879829"/>
          </a:xfrm>
          <a:prstGeom prst="rect">
            <a:avLst/>
          </a:prstGeom>
          <a:ln>
            <a:noFill/>
          </a:ln>
          <a:effectLst>
            <a:outerShdw blurRad="76200" dist="12700" dir="8100000" sy="-23000" kx="800400" algn="br" rotWithShape="0">
              <a:prstClr val="black">
                <a:alpha val="20000"/>
              </a:prst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wrap="square" tIns="216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zh-CN" altLang="en-US" sz="40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第</a:t>
            </a:r>
            <a:r>
              <a:rPr lang="en-US" altLang="zh-CN" sz="40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12</a:t>
            </a:r>
            <a:r>
              <a:rPr lang="zh-CN" altLang="en-US" sz="40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章</a:t>
            </a:r>
            <a:r>
              <a:rPr lang="en-US" altLang="zh-CN" sz="40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a:t>
            </a:r>
            <a:r>
              <a:rPr lang="zh-CN" altLang="zh-CN" sz="40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概率算法和近似算法</a:t>
            </a:r>
            <a:endParaRPr lang="zh-CN" altLang="en-US" sz="40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endParaRPr>
          </a:p>
        </p:txBody>
      </p:sp>
      <p:sp>
        <p:nvSpPr>
          <p:cNvPr id="5" name="TextBox 4">
            <a:hlinkClick r:id="rId3" action="ppaction://hlinksldjump"/>
          </p:cNvPr>
          <p:cNvSpPr txBox="1"/>
          <p:nvPr/>
        </p:nvSpPr>
        <p:spPr>
          <a:xfrm>
            <a:off x="3357554" y="2676219"/>
            <a:ext cx="4214842"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12.1 </a:t>
            </a:r>
            <a:r>
              <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概率算法</a:t>
            </a:r>
          </a:p>
        </p:txBody>
      </p:sp>
      <p:sp>
        <p:nvSpPr>
          <p:cNvPr id="9" name="TextBox 8">
            <a:hlinkClick r:id="" action="ppaction://noaction"/>
          </p:cNvPr>
          <p:cNvSpPr txBox="1"/>
          <p:nvPr/>
        </p:nvSpPr>
        <p:spPr>
          <a:xfrm>
            <a:off x="3357554" y="3844357"/>
            <a:ext cx="4214842"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12.2 </a:t>
            </a:r>
            <a:r>
              <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近似算法</a:t>
            </a:r>
            <a:endParaRPr lang="zh-CN" altLang="en-US"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grpSp>
        <p:nvGrpSpPr>
          <p:cNvPr id="16" name="组合 79"/>
          <p:cNvGrpSpPr>
            <a:grpSpLocks/>
          </p:cNvGrpSpPr>
          <p:nvPr/>
        </p:nvGrpSpPr>
        <p:grpSpPr bwMode="auto">
          <a:xfrm>
            <a:off x="428596" y="2571744"/>
            <a:ext cx="2160000" cy="2177998"/>
            <a:chOff x="6379728" y="2488774"/>
            <a:chExt cx="2513016" cy="2533955"/>
          </a:xfrm>
        </p:grpSpPr>
        <p:sp>
          <p:nvSpPr>
            <p:cNvPr id="17" name="任意多边形 82"/>
            <p:cNvSpPr/>
            <p:nvPr/>
          </p:nvSpPr>
          <p:spPr>
            <a:xfrm rot="3738964">
              <a:off x="6379728" y="2488774"/>
              <a:ext cx="2513016" cy="251301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17000">
                  <a:srgbClr val="FFFFFF"/>
                </a:gs>
                <a:gs pos="88000">
                  <a:srgbClr val="FFFFFF">
                    <a:lumMod val="72000"/>
                  </a:srgbClr>
                </a:gs>
              </a:gsLst>
              <a:lin ang="2700000" scaled="1"/>
              <a:tileRect/>
            </a:gradFill>
            <a:ln w="25400" cap="flat" cmpd="sng" algn="ctr">
              <a:noFill/>
              <a:prstDash val="solid"/>
            </a:ln>
            <a:effectLst>
              <a:outerShdw blurRad="127000" dist="63500" dir="7380000" sx="102000" sy="102000" algn="tr" rotWithShape="0">
                <a:prstClr val="black">
                  <a:alpha val="39000"/>
                </a:prstClr>
              </a:outerShdw>
            </a:effectLst>
          </p:spPr>
          <p:txBody>
            <a:bodyPr anchor="ctr"/>
            <a:lstStyle/>
            <a:p>
              <a:pPr algn="ctr" eaLnBrk="1" hangingPunct="1">
                <a:defRPr/>
              </a:pPr>
              <a:endParaRPr lang="zh-CN" altLang="en-US" kern="0">
                <a:solidFill>
                  <a:srgbClr val="FFFFFF"/>
                </a:solidFill>
                <a:latin typeface="Arial"/>
                <a:ea typeface="宋体"/>
              </a:endParaRPr>
            </a:p>
          </p:txBody>
        </p:sp>
        <p:sp>
          <p:nvSpPr>
            <p:cNvPr id="18" name="任意多边形 83"/>
            <p:cNvSpPr/>
            <p:nvPr/>
          </p:nvSpPr>
          <p:spPr>
            <a:xfrm rot="16377237">
              <a:off x="6409519" y="2545928"/>
              <a:ext cx="2476803" cy="2476799"/>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en-US" kern="0">
                <a:solidFill>
                  <a:srgbClr val="FFFFFF"/>
                </a:solidFill>
              </a:endParaRPr>
            </a:p>
          </p:txBody>
        </p:sp>
      </p:grpSp>
      <p:sp>
        <p:nvSpPr>
          <p:cNvPr id="19" name="文本框 20"/>
          <p:cNvSpPr txBox="1">
            <a:spLocks noChangeArrowheads="1"/>
          </p:cNvSpPr>
          <p:nvPr/>
        </p:nvSpPr>
        <p:spPr bwMode="auto">
          <a:xfrm>
            <a:off x="680118" y="3681521"/>
            <a:ext cx="167871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微软雅黑" pitchFamily="34" charset="-122"/>
                <a:ea typeface="微软雅黑" pitchFamily="34" charset="-122"/>
              </a:defRPr>
            </a:lvl1pPr>
            <a:lvl2pPr marL="742950" indent="-285750">
              <a:defRPr>
                <a:solidFill>
                  <a:schemeClr val="tx1"/>
                </a:solidFill>
                <a:latin typeface="微软雅黑" pitchFamily="34" charset="-122"/>
                <a:ea typeface="微软雅黑" pitchFamily="34" charset="-122"/>
              </a:defRPr>
            </a:lvl2pPr>
            <a:lvl3pPr marL="1143000" indent="-228600">
              <a:defRPr>
                <a:solidFill>
                  <a:schemeClr val="tx1"/>
                </a:solidFill>
                <a:latin typeface="微软雅黑" pitchFamily="34" charset="-122"/>
                <a:ea typeface="微软雅黑" pitchFamily="34" charset="-122"/>
              </a:defRPr>
            </a:lvl3pPr>
            <a:lvl4pPr marL="1600200" indent="-228600">
              <a:defRPr>
                <a:solidFill>
                  <a:schemeClr val="tx1"/>
                </a:solidFill>
                <a:latin typeface="微软雅黑" pitchFamily="34" charset="-122"/>
                <a:ea typeface="微软雅黑" pitchFamily="34" charset="-122"/>
              </a:defRPr>
            </a:lvl4pPr>
            <a:lvl5pPr marL="2057400" indent="-228600">
              <a:defRPr>
                <a:solidFill>
                  <a:schemeClr val="tx1"/>
                </a:solidFill>
                <a:latin typeface="微软雅黑" pitchFamily="34" charset="-122"/>
                <a:ea typeface="微软雅黑" pitchFamily="34" charset="-122"/>
              </a:defRPr>
            </a:lvl5pPr>
            <a:lvl6pPr marL="2514600" indent="-228600" eaLnBrk="0" fontAlgn="base" hangingPunct="0">
              <a:spcBef>
                <a:spcPct val="0"/>
              </a:spcBef>
              <a:spcAft>
                <a:spcPct val="0"/>
              </a:spcAft>
              <a:defRPr>
                <a:solidFill>
                  <a:schemeClr val="tx1"/>
                </a:solidFill>
                <a:latin typeface="微软雅黑" pitchFamily="34" charset="-122"/>
                <a:ea typeface="微软雅黑" pitchFamily="34" charset="-122"/>
              </a:defRPr>
            </a:lvl6pPr>
            <a:lvl7pPr marL="2971800" indent="-228600" eaLnBrk="0" fontAlgn="base" hangingPunct="0">
              <a:spcBef>
                <a:spcPct val="0"/>
              </a:spcBef>
              <a:spcAft>
                <a:spcPct val="0"/>
              </a:spcAft>
              <a:defRPr>
                <a:solidFill>
                  <a:schemeClr val="tx1"/>
                </a:solidFill>
                <a:latin typeface="微软雅黑" pitchFamily="34" charset="-122"/>
                <a:ea typeface="微软雅黑" pitchFamily="34" charset="-122"/>
              </a:defRPr>
            </a:lvl7pPr>
            <a:lvl8pPr marL="3429000" indent="-228600" eaLnBrk="0" fontAlgn="base" hangingPunct="0">
              <a:spcBef>
                <a:spcPct val="0"/>
              </a:spcBef>
              <a:spcAft>
                <a:spcPct val="0"/>
              </a:spcAft>
              <a:defRPr>
                <a:solidFill>
                  <a:schemeClr val="tx1"/>
                </a:solidFill>
                <a:latin typeface="微软雅黑" pitchFamily="34" charset="-122"/>
                <a:ea typeface="微软雅黑" pitchFamily="34" charset="-122"/>
              </a:defRPr>
            </a:lvl8pPr>
            <a:lvl9pPr marL="3886200" indent="-228600" eaLnBrk="0" fontAlgn="base" hangingPunct="0">
              <a:spcBef>
                <a:spcPct val="0"/>
              </a:spcBef>
              <a:spcAft>
                <a:spcPct val="0"/>
              </a:spcAft>
              <a:defRPr>
                <a:solidFill>
                  <a:schemeClr val="tx1"/>
                </a:solidFill>
                <a:latin typeface="微软雅黑" pitchFamily="34" charset="-122"/>
                <a:ea typeface="微软雅黑" pitchFamily="34" charset="-122"/>
              </a:defRPr>
            </a:lvl9pPr>
          </a:lstStyle>
          <a:p>
            <a:pPr algn="ctr" eaLnBrk="1" hangingPunct="1">
              <a:lnSpc>
                <a:spcPct val="100000"/>
              </a:lnSpc>
            </a:pPr>
            <a:r>
              <a:rPr lang="en-US" altLang="zh-CN" sz="2000" b="1" dirty="0">
                <a:solidFill>
                  <a:srgbClr val="9900FF"/>
                </a:solidFill>
              </a:rPr>
              <a:t>CONTENTS</a:t>
            </a:r>
            <a:endParaRPr lang="zh-CN" altLang="en-US" sz="2000" b="1" dirty="0">
              <a:solidFill>
                <a:srgbClr val="9900FF"/>
              </a:solidFill>
            </a:endParaRPr>
          </a:p>
        </p:txBody>
      </p:sp>
      <p:sp>
        <p:nvSpPr>
          <p:cNvPr id="20" name="文本框 20"/>
          <p:cNvSpPr txBox="1">
            <a:spLocks noChangeArrowheads="1"/>
          </p:cNvSpPr>
          <p:nvPr/>
        </p:nvSpPr>
        <p:spPr bwMode="auto">
          <a:xfrm>
            <a:off x="824134" y="3001511"/>
            <a:ext cx="141222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微软雅黑" pitchFamily="34" charset="-122"/>
                <a:ea typeface="微软雅黑" pitchFamily="34" charset="-122"/>
              </a:defRPr>
            </a:lvl1pPr>
            <a:lvl2pPr marL="742950" indent="-285750">
              <a:defRPr>
                <a:solidFill>
                  <a:schemeClr val="tx1"/>
                </a:solidFill>
                <a:latin typeface="微软雅黑" pitchFamily="34" charset="-122"/>
                <a:ea typeface="微软雅黑" pitchFamily="34" charset="-122"/>
              </a:defRPr>
            </a:lvl2pPr>
            <a:lvl3pPr marL="1143000" indent="-228600">
              <a:defRPr>
                <a:solidFill>
                  <a:schemeClr val="tx1"/>
                </a:solidFill>
                <a:latin typeface="微软雅黑" pitchFamily="34" charset="-122"/>
                <a:ea typeface="微软雅黑" pitchFamily="34" charset="-122"/>
              </a:defRPr>
            </a:lvl3pPr>
            <a:lvl4pPr marL="1600200" indent="-228600">
              <a:defRPr>
                <a:solidFill>
                  <a:schemeClr val="tx1"/>
                </a:solidFill>
                <a:latin typeface="微软雅黑" pitchFamily="34" charset="-122"/>
                <a:ea typeface="微软雅黑" pitchFamily="34" charset="-122"/>
              </a:defRPr>
            </a:lvl4pPr>
            <a:lvl5pPr marL="2057400" indent="-228600">
              <a:defRPr>
                <a:solidFill>
                  <a:schemeClr val="tx1"/>
                </a:solidFill>
                <a:latin typeface="微软雅黑" pitchFamily="34" charset="-122"/>
                <a:ea typeface="微软雅黑" pitchFamily="34" charset="-122"/>
              </a:defRPr>
            </a:lvl5pPr>
            <a:lvl6pPr marL="2514600" indent="-228600" eaLnBrk="0" fontAlgn="base" hangingPunct="0">
              <a:spcBef>
                <a:spcPct val="0"/>
              </a:spcBef>
              <a:spcAft>
                <a:spcPct val="0"/>
              </a:spcAft>
              <a:defRPr>
                <a:solidFill>
                  <a:schemeClr val="tx1"/>
                </a:solidFill>
                <a:latin typeface="微软雅黑" pitchFamily="34" charset="-122"/>
                <a:ea typeface="微软雅黑" pitchFamily="34" charset="-122"/>
              </a:defRPr>
            </a:lvl6pPr>
            <a:lvl7pPr marL="2971800" indent="-228600" eaLnBrk="0" fontAlgn="base" hangingPunct="0">
              <a:spcBef>
                <a:spcPct val="0"/>
              </a:spcBef>
              <a:spcAft>
                <a:spcPct val="0"/>
              </a:spcAft>
              <a:defRPr>
                <a:solidFill>
                  <a:schemeClr val="tx1"/>
                </a:solidFill>
                <a:latin typeface="微软雅黑" pitchFamily="34" charset="-122"/>
                <a:ea typeface="微软雅黑" pitchFamily="34" charset="-122"/>
              </a:defRPr>
            </a:lvl7pPr>
            <a:lvl8pPr marL="3429000" indent="-228600" eaLnBrk="0" fontAlgn="base" hangingPunct="0">
              <a:spcBef>
                <a:spcPct val="0"/>
              </a:spcBef>
              <a:spcAft>
                <a:spcPct val="0"/>
              </a:spcAft>
              <a:defRPr>
                <a:solidFill>
                  <a:schemeClr val="tx1"/>
                </a:solidFill>
                <a:latin typeface="微软雅黑" pitchFamily="34" charset="-122"/>
                <a:ea typeface="微软雅黑" pitchFamily="34" charset="-122"/>
              </a:defRPr>
            </a:lvl8pPr>
            <a:lvl9pPr marL="3886200" indent="-228600" eaLnBrk="0" fontAlgn="base" hangingPunct="0">
              <a:spcBef>
                <a:spcPct val="0"/>
              </a:spcBef>
              <a:spcAft>
                <a:spcPct val="0"/>
              </a:spcAft>
              <a:defRPr>
                <a:solidFill>
                  <a:schemeClr val="tx1"/>
                </a:solidFill>
                <a:latin typeface="微软雅黑" pitchFamily="34" charset="-122"/>
                <a:ea typeface="微软雅黑" pitchFamily="34" charset="-122"/>
              </a:defRPr>
            </a:lvl9pPr>
          </a:lstStyle>
          <a:p>
            <a:pPr algn="ctr" eaLnBrk="1" hangingPunct="1">
              <a:lnSpc>
                <a:spcPct val="100000"/>
              </a:lnSpc>
            </a:pPr>
            <a:r>
              <a:rPr lang="zh-CN" altLang="en-US" sz="3200" b="1" dirty="0">
                <a:solidFill>
                  <a:srgbClr val="008000"/>
                </a:solidFill>
              </a:rPr>
              <a:t>提纲</a:t>
            </a:r>
          </a:p>
        </p:txBody>
      </p:sp>
      <p:sp>
        <p:nvSpPr>
          <p:cNvPr id="11" name="灯片编号占位符 10"/>
          <p:cNvSpPr>
            <a:spLocks noGrp="1"/>
          </p:cNvSpPr>
          <p:nvPr>
            <p:ph type="sldNum" sz="quarter" idx="12"/>
          </p:nvPr>
        </p:nvSpPr>
        <p:spPr/>
        <p:txBody>
          <a:bodyPr/>
          <a:lstStyle/>
          <a:p>
            <a:fld id="{7AF016A1-9F15-429F-9EFD-84004B73C732}" type="slidenum">
              <a:rPr lang="en-US" altLang="zh-CN" smtClean="0"/>
              <a:pPr/>
              <a:t>1</a:t>
            </a:fld>
            <a:r>
              <a:rPr lang="en-US" altLang="zh-CN"/>
              <a:t>/75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428596" y="1714488"/>
            <a:ext cx="4286280"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12.1.1 </a:t>
            </a:r>
            <a:r>
              <a:rPr lang="zh-CN" altLang="zh-CN" sz="2800">
                <a:latin typeface="Consolas" pitchFamily="49" charset="0"/>
                <a:ea typeface="微软雅黑" pitchFamily="34" charset="-122"/>
              </a:rPr>
              <a:t>什么是概率算法</a:t>
            </a:r>
            <a:endParaRPr lang="zh-CN"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5" name="TextBox 4">
            <a:hlinkClick r:id="rId3" action="ppaction://hlinksldjump"/>
          </p:cNvPr>
          <p:cNvSpPr txBox="1"/>
          <p:nvPr/>
        </p:nvSpPr>
        <p:spPr>
          <a:xfrm>
            <a:off x="2428860" y="500042"/>
            <a:ext cx="3857652"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12.1 </a:t>
            </a:r>
            <a:r>
              <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概率算法</a:t>
            </a:r>
          </a:p>
        </p:txBody>
      </p:sp>
      <p:sp>
        <p:nvSpPr>
          <p:cNvPr id="6" name="TextBox 5"/>
          <p:cNvSpPr txBox="1"/>
          <p:nvPr/>
        </p:nvSpPr>
        <p:spPr>
          <a:xfrm>
            <a:off x="714348" y="2643182"/>
            <a:ext cx="7572428" cy="2298065"/>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4"/>
              </a:buBlip>
            </a:pPr>
            <a:r>
              <a:rPr lang="zh-CN" altLang="zh-CN">
                <a:solidFill>
                  <a:srgbClr val="FF0000"/>
                </a:solidFill>
                <a:latin typeface="楷体" pitchFamily="49" charset="-122"/>
                <a:ea typeface="楷体" pitchFamily="49" charset="-122"/>
              </a:rPr>
              <a:t>概率算法</a:t>
            </a:r>
            <a:r>
              <a:rPr lang="zh-CN" altLang="zh-CN">
                <a:solidFill>
                  <a:srgbClr val="0000FF"/>
                </a:solidFill>
                <a:latin typeface="Consolas" pitchFamily="49" charset="0"/>
                <a:ea typeface="仿宋" pitchFamily="49" charset="-122"/>
              </a:rPr>
              <a:t>也叫</a:t>
            </a:r>
            <a:r>
              <a:rPr lang="zh-CN" altLang="zh-CN">
                <a:solidFill>
                  <a:srgbClr val="FF0000"/>
                </a:solidFill>
                <a:latin typeface="Consolas" pitchFamily="49" charset="0"/>
                <a:ea typeface="仿宋" pitchFamily="49" charset="-122"/>
              </a:rPr>
              <a:t>随机算法</a:t>
            </a:r>
            <a:r>
              <a:rPr lang="zh-CN" altLang="zh-CN">
                <a:solidFill>
                  <a:srgbClr val="0000FF"/>
                </a:solidFill>
                <a:latin typeface="Consolas" pitchFamily="49" charset="0"/>
                <a:ea typeface="仿宋" pitchFamily="49" charset="-122"/>
              </a:rPr>
              <a:t>，允许算法在执行过程中随机地选择下一个计算步骤。</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4"/>
              </a:buBlip>
            </a:pPr>
            <a:r>
              <a:rPr lang="zh-CN" altLang="zh-CN">
                <a:solidFill>
                  <a:srgbClr val="0000FF"/>
                </a:solidFill>
                <a:latin typeface="Consolas" pitchFamily="49" charset="0"/>
                <a:ea typeface="仿宋" pitchFamily="49" charset="-122"/>
              </a:rPr>
              <a:t>在很多情况下，算法在执行过程中面临选择时，随机性选择比最优选择省时，因此概率算法可以在很大程度上降低算法的复杂度。</a:t>
            </a: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2</a:t>
            </a:fld>
            <a:r>
              <a:rPr lang="en-US" altLang="zh-CN"/>
              <a:t>/75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1857364"/>
            <a:ext cx="7929618" cy="2298065"/>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2"/>
              </a:buBlip>
            </a:pPr>
            <a:r>
              <a:rPr lang="zh-CN" altLang="zh-CN">
                <a:solidFill>
                  <a:srgbClr val="FF0000"/>
                </a:solidFill>
                <a:latin typeface="Consolas" pitchFamily="49" charset="0"/>
                <a:ea typeface="仿宋" pitchFamily="49" charset="-122"/>
              </a:rPr>
              <a:t>不可再现性</a:t>
            </a:r>
            <a:r>
              <a:rPr lang="zh-CN" altLang="zh-CN">
                <a:solidFill>
                  <a:srgbClr val="0000FF"/>
                </a:solidFill>
                <a:latin typeface="Consolas" pitchFamily="49" charset="0"/>
                <a:ea typeface="仿宋" pitchFamily="49" charset="-122"/>
              </a:rPr>
              <a:t>，在同一个输入实例上每次执行结果不尽相同，例如</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皇后问题，概率算法运行不同次将会得到不同的正确解。</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2"/>
              </a:buBlip>
            </a:pPr>
            <a:r>
              <a:rPr lang="zh-CN" altLang="zh-CN">
                <a:solidFill>
                  <a:srgbClr val="FF0000"/>
                </a:solidFill>
                <a:latin typeface="Consolas" pitchFamily="49" charset="0"/>
                <a:ea typeface="仿宋" pitchFamily="49" charset="-122"/>
              </a:rPr>
              <a:t>算法分析困难</a:t>
            </a:r>
            <a:r>
              <a:rPr lang="zh-CN" altLang="zh-CN">
                <a:solidFill>
                  <a:srgbClr val="0000FF"/>
                </a:solidFill>
                <a:latin typeface="Consolas" pitchFamily="49" charset="0"/>
                <a:ea typeface="仿宋" pitchFamily="49" charset="-122"/>
              </a:rPr>
              <a:t>，要求具备概率论、统计学和数论的相关知识。</a:t>
            </a:r>
            <a:endParaRPr lang="zh-CN" altLang="en-US">
              <a:solidFill>
                <a:srgbClr val="0000FF"/>
              </a:solidFill>
              <a:latin typeface="Consolas" pitchFamily="49" charset="0"/>
              <a:ea typeface="仿宋" pitchFamily="49" charset="-122"/>
              <a:cs typeface="Consolas" pitchFamily="49" charset="0"/>
            </a:endParaRPr>
          </a:p>
        </p:txBody>
      </p:sp>
      <p:sp>
        <p:nvSpPr>
          <p:cNvPr id="4" name="TextBox 3"/>
          <p:cNvSpPr txBox="1"/>
          <p:nvPr/>
        </p:nvSpPr>
        <p:spPr>
          <a:xfrm>
            <a:off x="571472" y="1000108"/>
            <a:ext cx="3643338"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概率算法的</a:t>
            </a:r>
            <a:r>
              <a:rPr lang="zh-CN" altLang="en-US">
                <a:solidFill>
                  <a:srgbClr val="0000FF"/>
                </a:solidFill>
                <a:latin typeface="Consolas" pitchFamily="49" charset="0"/>
                <a:ea typeface="仿宋" pitchFamily="49" charset="-122"/>
              </a:rPr>
              <a:t>两个</a:t>
            </a:r>
            <a:r>
              <a:rPr lang="zh-CN" altLang="zh-CN">
                <a:solidFill>
                  <a:srgbClr val="FF0000"/>
                </a:solidFill>
                <a:latin typeface="楷体" pitchFamily="49" charset="-122"/>
                <a:ea typeface="楷体" pitchFamily="49" charset="-122"/>
              </a:rPr>
              <a:t>特点</a:t>
            </a:r>
            <a:r>
              <a:rPr lang="zh-CN" altLang="en-US">
                <a:solidFill>
                  <a:srgbClr val="0000FF"/>
                </a:solidFill>
                <a:latin typeface="Consolas" pitchFamily="49" charset="0"/>
                <a:ea typeface="仿宋" pitchFamily="49" charset="-122"/>
              </a:rPr>
              <a:t>：</a:t>
            </a:r>
            <a:endParaRPr lang="zh-CN" altLang="en-US">
              <a:solidFill>
                <a:srgbClr val="0000FF"/>
              </a:solidFill>
              <a:latin typeface="Consolas" pitchFamily="49" charset="0"/>
              <a:ea typeface="楷体" pitchFamily="49" charset="-122"/>
              <a:cs typeface="Consolas" pitchFamily="49" charset="0"/>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3</a:t>
            </a:fld>
            <a:r>
              <a:rPr lang="en-US" altLang="zh-CN"/>
              <a:t>/75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857232"/>
            <a:ext cx="8143932" cy="1323439"/>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000"/>
              </a:lnSpc>
              <a:spcBef>
                <a:spcPts val="600"/>
              </a:spcBef>
              <a:buBlip>
                <a:blip r:embed="rId2"/>
              </a:buBlip>
            </a:pPr>
            <a:r>
              <a:rPr lang="zh-CN" altLang="zh-CN">
                <a:solidFill>
                  <a:srgbClr val="0000FF"/>
                </a:solidFill>
                <a:latin typeface="Consolas" pitchFamily="49" charset="0"/>
                <a:ea typeface="仿宋" pitchFamily="49" charset="-122"/>
              </a:rPr>
              <a:t>在概率算法中需要由一个</a:t>
            </a:r>
            <a:r>
              <a:rPr lang="zh-CN" altLang="zh-CN">
                <a:solidFill>
                  <a:srgbClr val="FF0000"/>
                </a:solidFill>
                <a:latin typeface="Consolas" pitchFamily="49" charset="0"/>
                <a:ea typeface="仿宋" pitchFamily="49" charset="-122"/>
              </a:rPr>
              <a:t>随机数发生器</a:t>
            </a:r>
            <a:r>
              <a:rPr lang="zh-CN" altLang="zh-CN">
                <a:solidFill>
                  <a:srgbClr val="0000FF"/>
                </a:solidFill>
                <a:latin typeface="Consolas" pitchFamily="49" charset="0"/>
                <a:ea typeface="仿宋" pitchFamily="49" charset="-122"/>
              </a:rPr>
              <a:t>产生随机数序列，以便在算法执行中按照这个随机数序列进行随机选择。</a:t>
            </a:r>
            <a:endParaRPr lang="en-US" altLang="zh-CN">
              <a:solidFill>
                <a:srgbClr val="0000FF"/>
              </a:solidFill>
              <a:latin typeface="Consolas" pitchFamily="49" charset="0"/>
              <a:ea typeface="仿宋" pitchFamily="49" charset="-122"/>
            </a:endParaRPr>
          </a:p>
          <a:p>
            <a:pPr marL="457200" indent="-457200" algn="l">
              <a:lnSpc>
                <a:spcPts val="3000"/>
              </a:lnSpc>
              <a:spcBef>
                <a:spcPts val="600"/>
              </a:spcBef>
              <a:buBlip>
                <a:blip r:embed="rId2"/>
              </a:buBlip>
            </a:pPr>
            <a:r>
              <a:rPr lang="zh-CN" altLang="zh-CN">
                <a:solidFill>
                  <a:srgbClr val="0000FF"/>
                </a:solidFill>
                <a:latin typeface="Consolas" pitchFamily="49" charset="0"/>
                <a:ea typeface="仿宋" pitchFamily="49" charset="-122"/>
              </a:rPr>
              <a:t>可以采用线性同余法产生随机数序列</a:t>
            </a:r>
            <a:r>
              <a:rPr lang="en-US" altLang="zh-CN" i="1">
                <a:solidFill>
                  <a:srgbClr val="0000FF"/>
                </a:solidFill>
                <a:latin typeface="Consolas" pitchFamily="49" charset="0"/>
                <a:ea typeface="仿宋" pitchFamily="49" charset="-122"/>
              </a:rPr>
              <a:t>a</a:t>
            </a:r>
            <a:r>
              <a:rPr lang="en-US" altLang="zh-CN" baseline="-25000">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a</a:t>
            </a:r>
            <a:r>
              <a:rPr lang="en-US" altLang="zh-CN" baseline="-25000">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zh-CN" altLang="zh-CN">
                <a:solidFill>
                  <a:srgbClr val="0000FF"/>
                </a:solidFill>
                <a:latin typeface="+mj-ea"/>
                <a:ea typeface="+mj-ea"/>
              </a:rPr>
              <a:t>…</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a</a:t>
            </a:r>
            <a:r>
              <a:rPr lang="en-US" altLang="zh-CN" i="1" baseline="-25000">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a:t>
            </a:r>
          </a:p>
        </p:txBody>
      </p:sp>
      <p:sp>
        <p:nvSpPr>
          <p:cNvPr id="4" name="TextBox 3"/>
          <p:cNvSpPr txBox="1"/>
          <p:nvPr/>
        </p:nvSpPr>
        <p:spPr>
          <a:xfrm>
            <a:off x="1142976" y="2714620"/>
            <a:ext cx="6143668" cy="106449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ts val="3000"/>
              </a:lnSpc>
              <a:spcBef>
                <a:spcPts val="600"/>
              </a:spcBef>
            </a:pPr>
            <a:r>
              <a:rPr lang="en-US" altLang="zh-CN" sz="2000" i="1">
                <a:solidFill>
                  <a:srgbClr val="0000FF"/>
                </a:solidFill>
                <a:latin typeface="Consolas" pitchFamily="49" charset="0"/>
                <a:ea typeface="仿宋" pitchFamily="49" charset="-122"/>
              </a:rPr>
              <a:t>a</a:t>
            </a:r>
            <a:r>
              <a:rPr lang="en-US" altLang="zh-CN" sz="2000" baseline="-25000">
                <a:solidFill>
                  <a:srgbClr val="0000FF"/>
                </a:solidFill>
                <a:latin typeface="Consolas" pitchFamily="49" charset="0"/>
                <a:ea typeface="仿宋" pitchFamily="49" charset="-122"/>
              </a:rPr>
              <a:t>0</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d</a:t>
            </a:r>
            <a:endParaRPr lang="zh-CN" altLang="zh-CN" sz="2000">
              <a:solidFill>
                <a:srgbClr val="0000FF"/>
              </a:solidFill>
              <a:latin typeface="Consolas" pitchFamily="49" charset="0"/>
              <a:ea typeface="仿宋" pitchFamily="49" charset="-122"/>
            </a:endParaRPr>
          </a:p>
          <a:p>
            <a:pPr algn="l">
              <a:lnSpc>
                <a:spcPts val="3000"/>
              </a:lnSpc>
              <a:spcBef>
                <a:spcPts val="600"/>
              </a:spcBef>
            </a:pPr>
            <a:r>
              <a:rPr lang="en-US" altLang="zh-CN" sz="2000" i="1">
                <a:solidFill>
                  <a:srgbClr val="0000FF"/>
                </a:solidFill>
                <a:latin typeface="Consolas" pitchFamily="49" charset="0"/>
                <a:ea typeface="仿宋" pitchFamily="49" charset="-122"/>
              </a:rPr>
              <a:t>a</a:t>
            </a:r>
            <a:r>
              <a:rPr lang="en-US" altLang="zh-CN" sz="2000" i="1" baseline="-25000">
                <a:solidFill>
                  <a:srgbClr val="0000FF"/>
                </a:solidFill>
                <a:latin typeface="Consolas" pitchFamily="49" charset="0"/>
                <a:ea typeface="仿宋" pitchFamily="49" charset="-122"/>
              </a:rPr>
              <a:t>n</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ba</a:t>
            </a:r>
            <a:r>
              <a:rPr lang="en-US" altLang="zh-CN" sz="2000" i="1" baseline="-25000">
                <a:solidFill>
                  <a:srgbClr val="0000FF"/>
                </a:solidFill>
                <a:latin typeface="Consolas" pitchFamily="49" charset="0"/>
                <a:ea typeface="仿宋" pitchFamily="49" charset="-122"/>
              </a:rPr>
              <a:t>n</a:t>
            </a:r>
            <a:r>
              <a:rPr lang="en-US" altLang="zh-CN" sz="2000" baseline="-25000">
                <a:solidFill>
                  <a:srgbClr val="0000FF"/>
                </a:solidFill>
                <a:latin typeface="Consolas" pitchFamily="49" charset="0"/>
                <a:ea typeface="仿宋" pitchFamily="49" charset="-122"/>
              </a:rPr>
              <a:t>-1</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c</a:t>
            </a:r>
            <a:r>
              <a:rPr lang="en-US" altLang="zh-CN" sz="2000">
                <a:solidFill>
                  <a:srgbClr val="0000FF"/>
                </a:solidFill>
                <a:latin typeface="Consolas" pitchFamily="49" charset="0"/>
                <a:ea typeface="仿宋" pitchFamily="49" charset="-122"/>
              </a:rPr>
              <a:t>) mod </a:t>
            </a:r>
            <a:r>
              <a:rPr lang="en-US" altLang="zh-CN" sz="2000" i="1">
                <a:solidFill>
                  <a:srgbClr val="0000FF"/>
                </a:solidFill>
                <a:latin typeface="Consolas" pitchFamily="49" charset="0"/>
                <a:ea typeface="仿宋" pitchFamily="49" charset="-122"/>
              </a:rPr>
              <a:t>m</a:t>
            </a:r>
            <a:r>
              <a:rPr lang="en-US" altLang="zh-CN" sz="2000">
                <a:solidFill>
                  <a:srgbClr val="0000FF"/>
                </a:solidFill>
                <a:latin typeface="Consolas" pitchFamily="49" charset="0"/>
                <a:ea typeface="仿宋" pitchFamily="49" charset="-122"/>
              </a:rPr>
              <a:t>		</a:t>
            </a:r>
            <a:r>
              <a:rPr lang="en-US" altLang="zh-CN" sz="2000" i="1">
                <a:solidFill>
                  <a:srgbClr val="00B0F0"/>
                </a:solidFill>
                <a:latin typeface="Consolas" pitchFamily="49" charset="0"/>
                <a:ea typeface="仿宋" pitchFamily="49" charset="-122"/>
              </a:rPr>
              <a:t>n</a:t>
            </a:r>
            <a:r>
              <a:rPr lang="en-US" altLang="zh-CN" sz="2000">
                <a:solidFill>
                  <a:srgbClr val="00B0F0"/>
                </a:solidFill>
                <a:latin typeface="Consolas" pitchFamily="49" charset="0"/>
                <a:ea typeface="仿宋" pitchFamily="49" charset="-122"/>
              </a:rPr>
              <a:t>=1</a:t>
            </a:r>
            <a:r>
              <a:rPr lang="zh-CN" altLang="zh-CN" sz="2000">
                <a:solidFill>
                  <a:srgbClr val="00B0F0"/>
                </a:solidFill>
                <a:latin typeface="Consolas" pitchFamily="49" charset="0"/>
                <a:ea typeface="仿宋" pitchFamily="49" charset="-122"/>
              </a:rPr>
              <a:t>，</a:t>
            </a:r>
            <a:r>
              <a:rPr lang="en-US" altLang="zh-CN" sz="2000">
                <a:solidFill>
                  <a:srgbClr val="00B0F0"/>
                </a:solidFill>
                <a:latin typeface="Consolas" pitchFamily="49" charset="0"/>
                <a:ea typeface="仿宋" pitchFamily="49" charset="-122"/>
              </a:rPr>
              <a:t>2</a:t>
            </a:r>
            <a:r>
              <a:rPr lang="zh-CN" altLang="zh-CN" sz="2000">
                <a:solidFill>
                  <a:srgbClr val="00B0F0"/>
                </a:solidFill>
                <a:latin typeface="Consolas" pitchFamily="49" charset="0"/>
                <a:ea typeface="仿宋" pitchFamily="49" charset="-122"/>
              </a:rPr>
              <a:t>，</a:t>
            </a:r>
            <a:r>
              <a:rPr lang="zh-CN" altLang="zh-CN" sz="2000">
                <a:solidFill>
                  <a:srgbClr val="00B0F0"/>
                </a:solidFill>
                <a:latin typeface="+mn-ea"/>
              </a:rPr>
              <a:t>…</a:t>
            </a:r>
            <a:endParaRPr lang="zh-CN" altLang="en-US" sz="2000">
              <a:solidFill>
                <a:srgbClr val="00B0F0"/>
              </a:solidFill>
              <a:latin typeface="+mn-ea"/>
              <a:cs typeface="Consolas" pitchFamily="49" charset="0"/>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4</a:t>
            </a:fld>
            <a:r>
              <a:rPr lang="en-US" altLang="zh-CN"/>
              <a:t>/75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571480"/>
            <a:ext cx="8786874" cy="830997"/>
          </a:xfrm>
          <a:prstGeom prst="rect">
            <a:avLst/>
          </a:prstGeom>
          <a:noFill/>
        </p:spPr>
        <p:txBody>
          <a:bodyPr wrap="square" rtlCol="0">
            <a:spAutoFit/>
          </a:bodyPr>
          <a:lstStyle/>
          <a:p>
            <a:pPr algn="l">
              <a:lnSpc>
                <a:spcPct val="100000"/>
              </a:lnSpc>
              <a:spcBef>
                <a:spcPts val="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以下算法</a:t>
            </a:r>
            <a:r>
              <a:rPr lang="zh-CN" altLang="en-US">
                <a:solidFill>
                  <a:srgbClr val="0000FF"/>
                </a:solidFill>
                <a:latin typeface="Consolas" pitchFamily="49" charset="0"/>
                <a:ea typeface="仿宋" pitchFamily="49" charset="-122"/>
              </a:rPr>
              <a:t>借助</a:t>
            </a:r>
            <a:r>
              <a:rPr lang="en-US" altLang="zh-CN">
                <a:solidFill>
                  <a:srgbClr val="0000FF"/>
                </a:solidFill>
                <a:latin typeface="Consolas" pitchFamily="49" charset="0"/>
                <a:ea typeface="仿宋" pitchFamily="49" charset="-122"/>
              </a:rPr>
              <a:t>C++</a:t>
            </a:r>
            <a:r>
              <a:rPr lang="zh-CN" altLang="en-US">
                <a:solidFill>
                  <a:srgbClr val="0000FF"/>
                </a:solidFill>
                <a:latin typeface="Consolas" pitchFamily="49" charset="0"/>
                <a:ea typeface="仿宋" pitchFamily="49" charset="-122"/>
              </a:rPr>
              <a:t>语言</a:t>
            </a:r>
            <a:r>
              <a:rPr lang="zh-CN" altLang="zh-CN">
                <a:solidFill>
                  <a:srgbClr val="0000FF"/>
                </a:solidFill>
                <a:latin typeface="Consolas" pitchFamily="49" charset="0"/>
                <a:ea typeface="仿宋" pitchFamily="49" charset="-122"/>
              </a:rPr>
              <a:t>产生</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个</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b</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的随机整数并存放在数组</a:t>
            </a:r>
            <a:r>
              <a:rPr lang="en-US" altLang="zh-CN" i="1">
                <a:solidFill>
                  <a:srgbClr val="0000FF"/>
                </a:solidFill>
                <a:latin typeface="Consolas" pitchFamily="49" charset="0"/>
                <a:ea typeface="仿宋" pitchFamily="49" charset="-122"/>
              </a:rPr>
              <a:t>x</a:t>
            </a:r>
            <a:r>
              <a:rPr lang="zh-CN" altLang="zh-CN">
                <a:solidFill>
                  <a:srgbClr val="0000FF"/>
                </a:solidFill>
                <a:latin typeface="Consolas" pitchFamily="49" charset="0"/>
                <a:ea typeface="仿宋" pitchFamily="49" charset="-122"/>
              </a:rPr>
              <a:t>中：</a:t>
            </a:r>
            <a:endParaRPr lang="zh-CN" altLang="en-US">
              <a:solidFill>
                <a:srgbClr val="0000FF"/>
              </a:solidFill>
              <a:latin typeface="Consolas" pitchFamily="49" charset="0"/>
              <a:ea typeface="仿宋" pitchFamily="49" charset="-122"/>
              <a:cs typeface="Consolas" pitchFamily="49" charset="0"/>
            </a:endParaRPr>
          </a:p>
        </p:txBody>
      </p:sp>
      <p:sp>
        <p:nvSpPr>
          <p:cNvPr id="4" name="TextBox 3"/>
          <p:cNvSpPr txBox="1"/>
          <p:nvPr/>
        </p:nvSpPr>
        <p:spPr>
          <a:xfrm>
            <a:off x="857224" y="1693961"/>
            <a:ext cx="7215238" cy="194935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700"/>
              </a:lnSpc>
              <a:spcBef>
                <a:spcPts val="0"/>
              </a:spcBef>
            </a:pPr>
            <a:r>
              <a:rPr lang="en-US" altLang="zh-CN" sz="2000">
                <a:solidFill>
                  <a:srgbClr val="0000FF"/>
                </a:solidFill>
                <a:latin typeface="Consolas" pitchFamily="49" charset="0"/>
                <a:ea typeface="仿宋" pitchFamily="49" charset="-122"/>
              </a:rPr>
              <a:t>void </a:t>
            </a:r>
            <a:r>
              <a:rPr lang="en-US" altLang="zh-CN" sz="2000">
                <a:solidFill>
                  <a:srgbClr val="FF0000"/>
                </a:solidFill>
                <a:latin typeface="Consolas" pitchFamily="49" charset="0"/>
                <a:ea typeface="仿宋" pitchFamily="49" charset="-122"/>
              </a:rPr>
              <a:t>randan</a:t>
            </a:r>
            <a:r>
              <a:rPr lang="en-US" altLang="zh-CN" sz="2000">
                <a:solidFill>
                  <a:srgbClr val="0000FF"/>
                </a:solidFill>
                <a:latin typeface="Consolas" pitchFamily="49" charset="0"/>
                <a:ea typeface="仿宋" pitchFamily="49" charset="-122"/>
              </a:rPr>
              <a:t>(int x[],int n,int a,int b) {	</a:t>
            </a: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FF0000"/>
                </a:solidFill>
                <a:latin typeface="Consolas" pitchFamily="49" charset="0"/>
                <a:ea typeface="仿宋" pitchFamily="49" charset="-122"/>
              </a:rPr>
              <a:t>srand</a:t>
            </a:r>
            <a:r>
              <a:rPr lang="en-US" altLang="zh-CN" sz="2000">
                <a:solidFill>
                  <a:srgbClr val="0000FF"/>
                </a:solidFill>
                <a:latin typeface="Consolas" pitchFamily="49" charset="0"/>
                <a:ea typeface="仿宋" pitchFamily="49" charset="-122"/>
              </a:rPr>
              <a:t>((unsigned)time(NULL));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随机种子</a:t>
            </a:r>
          </a:p>
          <a:p>
            <a:pPr algn="l" defTabSz="360000">
              <a:lnSpc>
                <a:spcPts val="2700"/>
              </a:lnSpc>
              <a:spcBef>
                <a:spcPts val="0"/>
              </a:spcBef>
            </a:pPr>
            <a:r>
              <a:rPr lang="en-US" altLang="zh-CN" sz="2000">
                <a:solidFill>
                  <a:srgbClr val="0000FF"/>
                </a:solidFill>
                <a:latin typeface="Consolas" pitchFamily="49" charset="0"/>
                <a:ea typeface="仿宋" pitchFamily="49" charset="-122"/>
              </a:rPr>
              <a:t>	for (int i=0;i&lt;n;i++)</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x[i]</a:t>
            </a:r>
            <a:r>
              <a:rPr lang="en-US" altLang="zh-CN" sz="2000">
                <a:solidFill>
                  <a:srgbClr val="0000FF"/>
                </a:solidFill>
                <a:latin typeface="Consolas" pitchFamily="49" charset="0"/>
                <a:ea typeface="仿宋" pitchFamily="49" charset="-122"/>
              </a:rPr>
              <a:t>=rand()%(b-a+1)+a;</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5</a:t>
            </a:fld>
            <a:r>
              <a:rPr lang="en-US" altLang="zh-CN"/>
              <a:t>/75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357158" y="500042"/>
            <a:ext cx="4286280"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12.1.2 </a:t>
            </a:r>
            <a:r>
              <a:rPr lang="zh-CN" altLang="zh-CN" sz="2800">
                <a:latin typeface="Consolas" pitchFamily="49" charset="0"/>
                <a:ea typeface="微软雅黑" pitchFamily="34" charset="-122"/>
              </a:rPr>
              <a:t>数值概率算法</a:t>
            </a:r>
            <a:endParaRPr lang="zh-CN"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33" name="TextBox 32"/>
          <p:cNvSpPr txBox="1"/>
          <p:nvPr/>
        </p:nvSpPr>
        <p:spPr>
          <a:xfrm>
            <a:off x="642910" y="1500174"/>
            <a:ext cx="7929618" cy="3272691"/>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2"/>
              </a:buBlip>
            </a:pPr>
            <a:r>
              <a:rPr lang="zh-CN" altLang="zh-CN">
                <a:solidFill>
                  <a:srgbClr val="0000FF"/>
                </a:solidFill>
                <a:latin typeface="Consolas" pitchFamily="49" charset="0"/>
                <a:ea typeface="仿宋" pitchFamily="49" charset="-122"/>
              </a:rPr>
              <a:t>数值概率算法常用于数值问题的求解，这类算法所得到的往往是近似解，而且近似解的精度随计算时间的增加不断提高。</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2"/>
              </a:buBlip>
            </a:pPr>
            <a:r>
              <a:rPr lang="zh-CN" altLang="zh-CN">
                <a:solidFill>
                  <a:srgbClr val="0000FF"/>
                </a:solidFill>
                <a:latin typeface="Consolas" pitchFamily="49" charset="0"/>
                <a:ea typeface="仿宋" pitchFamily="49" charset="-122"/>
              </a:rPr>
              <a:t>在许多情况下，精确解是不可能或没有必要的，因此用数值概率算法可得到相当满意的解</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2"/>
              </a:buBlip>
            </a:pPr>
            <a:r>
              <a:rPr lang="zh-CN" altLang="zh-CN">
                <a:solidFill>
                  <a:srgbClr val="0000FF"/>
                </a:solidFill>
                <a:latin typeface="Consolas" pitchFamily="49" charset="0"/>
                <a:ea typeface="仿宋" pitchFamily="49" charset="-122"/>
              </a:rPr>
              <a:t>特别是高速计算机的出现使得在计算机上模拟数值概率算法的试验成为可能。</a:t>
            </a:r>
            <a:endParaRPr lang="zh-CN" altLang="en-US">
              <a:solidFill>
                <a:srgbClr val="0000FF"/>
              </a:solidFill>
              <a:latin typeface="Consolas" pitchFamily="49" charset="0"/>
              <a:ea typeface="仿宋" pitchFamily="49" charset="-122"/>
              <a:cs typeface="Consolas"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6</a:t>
            </a:fld>
            <a:r>
              <a:rPr lang="en-US" altLang="zh-CN"/>
              <a:t>/75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642910" y="500042"/>
            <a:ext cx="8215370" cy="461665"/>
          </a:xfrm>
          <a:prstGeom prst="rect">
            <a:avLst/>
          </a:prstGeom>
          <a:ln>
            <a:solidFill>
              <a:schemeClr val="accent6">
                <a:lumMod val="40000"/>
                <a:lumOff val="6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ct val="100000"/>
              </a:lnSpc>
            </a:pPr>
            <a:r>
              <a:rPr lang="en-US" altLang="zh-CN">
                <a:solidFill>
                  <a:srgbClr val="FF0000"/>
                </a:solidFill>
                <a:latin typeface="Consolas" pitchFamily="49" charset="0"/>
                <a:ea typeface="楷体" pitchFamily="49" charset="-122"/>
                <a:cs typeface="Consolas" pitchFamily="49" charset="0"/>
              </a:rPr>
              <a:t>【</a:t>
            </a:r>
            <a:r>
              <a:rPr lang="zh-CN" altLang="en-US">
                <a:solidFill>
                  <a:srgbClr val="FF0000"/>
                </a:solidFill>
                <a:latin typeface="Consolas" pitchFamily="49" charset="0"/>
                <a:ea typeface="楷体" pitchFamily="49" charset="-122"/>
                <a:cs typeface="Consolas" pitchFamily="49" charset="0"/>
              </a:rPr>
              <a:t>例</a:t>
            </a:r>
            <a:r>
              <a:rPr lang="en-US">
                <a:solidFill>
                  <a:srgbClr val="FF0000"/>
                </a:solidFill>
                <a:latin typeface="Consolas" pitchFamily="49" charset="0"/>
                <a:ea typeface="楷体" pitchFamily="49" charset="-122"/>
                <a:cs typeface="Consolas" pitchFamily="49" charset="0"/>
              </a:rPr>
              <a:t>12.1</a:t>
            </a:r>
            <a:r>
              <a:rPr lang="en-US" altLang="zh-CN">
                <a:solidFill>
                  <a:srgbClr val="FF0000"/>
                </a:solidFill>
                <a:latin typeface="Consolas" pitchFamily="49" charset="0"/>
                <a:ea typeface="楷体" pitchFamily="49" charset="-122"/>
                <a:cs typeface="Consolas" pitchFamily="49" charset="0"/>
              </a:rPr>
              <a:t>】</a:t>
            </a:r>
            <a:r>
              <a:rPr lang="zh-CN" altLang="en-US">
                <a:solidFill>
                  <a:srgbClr val="0000FF"/>
                </a:solidFill>
                <a:latin typeface="Consolas" pitchFamily="49" charset="0"/>
                <a:ea typeface="仿宋" pitchFamily="49" charset="-122"/>
                <a:cs typeface="Consolas" pitchFamily="49" charset="0"/>
              </a:rPr>
              <a:t>设计一个求</a:t>
            </a:r>
            <a:r>
              <a:rPr lang="en-US" altLang="zh-CN">
                <a:solidFill>
                  <a:srgbClr val="0000FF"/>
                </a:solidFill>
                <a:latin typeface="Consolas" pitchFamily="49" charset="0"/>
                <a:ea typeface="仿宋" pitchFamily="49" charset="-122"/>
                <a:cs typeface="Consolas" pitchFamily="49" charset="0"/>
              </a:rPr>
              <a:t>π</a:t>
            </a:r>
            <a:r>
              <a:rPr lang="zh-CN" altLang="en-US">
                <a:solidFill>
                  <a:srgbClr val="0000FF"/>
                </a:solidFill>
                <a:latin typeface="Consolas" pitchFamily="49" charset="0"/>
                <a:ea typeface="仿宋" pitchFamily="49" charset="-122"/>
                <a:cs typeface="Consolas" pitchFamily="49" charset="0"/>
              </a:rPr>
              <a:t>（圆周率）的概率算法。</a:t>
            </a:r>
          </a:p>
        </p:txBody>
      </p:sp>
      <p:sp>
        <p:nvSpPr>
          <p:cNvPr id="5" name="TextBox 4"/>
          <p:cNvSpPr txBox="1"/>
          <p:nvPr/>
        </p:nvSpPr>
        <p:spPr>
          <a:xfrm>
            <a:off x="1142976" y="1428736"/>
            <a:ext cx="7715304" cy="2221121"/>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600"/>
              </a:spcBef>
              <a:buBlip>
                <a:blip r:embed="rId2"/>
              </a:buBlip>
            </a:pPr>
            <a:r>
              <a:rPr lang="zh-CN" altLang="en-US">
                <a:solidFill>
                  <a:srgbClr val="0000FF"/>
                </a:solidFill>
                <a:latin typeface="Consolas" pitchFamily="49" charset="0"/>
                <a:ea typeface="仿宋" pitchFamily="49" charset="-122"/>
                <a:cs typeface="Consolas" pitchFamily="49" charset="0"/>
              </a:rPr>
              <a:t>在边长为</a:t>
            </a:r>
            <a:r>
              <a:rPr lang="en-US">
                <a:solidFill>
                  <a:srgbClr val="0000FF"/>
                </a:solidFill>
                <a:latin typeface="Consolas" pitchFamily="49" charset="0"/>
                <a:ea typeface="仿宋" pitchFamily="49" charset="-122"/>
                <a:cs typeface="Consolas" pitchFamily="49" charset="0"/>
              </a:rPr>
              <a:t>2</a:t>
            </a:r>
            <a:r>
              <a:rPr lang="zh-CN" altLang="en-US">
                <a:solidFill>
                  <a:srgbClr val="0000FF"/>
                </a:solidFill>
                <a:latin typeface="Consolas" pitchFamily="49" charset="0"/>
                <a:ea typeface="仿宋" pitchFamily="49" charset="-122"/>
                <a:cs typeface="Consolas" pitchFamily="49" charset="0"/>
              </a:rPr>
              <a:t>的正方形内有一半径为</a:t>
            </a:r>
            <a:r>
              <a:rPr lang="en-US">
                <a:solidFill>
                  <a:srgbClr val="0000FF"/>
                </a:solidFill>
                <a:latin typeface="Consolas" pitchFamily="49" charset="0"/>
                <a:ea typeface="仿宋" pitchFamily="49" charset="-122"/>
                <a:cs typeface="Consolas" pitchFamily="49" charset="0"/>
              </a:rPr>
              <a:t>1</a:t>
            </a:r>
            <a:r>
              <a:rPr lang="zh-CN" altLang="en-US">
                <a:solidFill>
                  <a:srgbClr val="0000FF"/>
                </a:solidFill>
                <a:latin typeface="Consolas" pitchFamily="49" charset="0"/>
                <a:ea typeface="仿宋" pitchFamily="49" charset="-122"/>
                <a:cs typeface="Consolas" pitchFamily="49" charset="0"/>
              </a:rPr>
              <a:t>的内切圆，如图所示。</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ts val="3200"/>
              </a:lnSpc>
              <a:spcBef>
                <a:spcPts val="600"/>
              </a:spcBef>
              <a:buBlip>
                <a:blip r:embed="rId2"/>
              </a:buBlip>
            </a:pPr>
            <a:r>
              <a:rPr lang="zh-CN" altLang="en-US">
                <a:solidFill>
                  <a:srgbClr val="0000FF"/>
                </a:solidFill>
                <a:latin typeface="Consolas" pitchFamily="49" charset="0"/>
                <a:ea typeface="仿宋" pitchFamily="49" charset="-122"/>
                <a:cs typeface="Consolas" pitchFamily="49" charset="0"/>
              </a:rPr>
              <a:t>向该正方形中投掷</a:t>
            </a:r>
            <a:r>
              <a:rPr lang="en-US" i="1">
                <a:solidFill>
                  <a:srgbClr val="0000FF"/>
                </a:solidFill>
                <a:latin typeface="Consolas" pitchFamily="49" charset="0"/>
                <a:ea typeface="仿宋" pitchFamily="49" charset="-122"/>
                <a:cs typeface="Consolas" pitchFamily="49" charset="0"/>
              </a:rPr>
              <a:t>n</a:t>
            </a:r>
            <a:r>
              <a:rPr lang="zh-CN" altLang="en-US">
                <a:solidFill>
                  <a:srgbClr val="0000FF"/>
                </a:solidFill>
                <a:latin typeface="Consolas" pitchFamily="49" charset="0"/>
                <a:ea typeface="仿宋" pitchFamily="49" charset="-122"/>
                <a:cs typeface="Consolas" pitchFamily="49" charset="0"/>
              </a:rPr>
              <a:t>次飞镖，假设飞镖击中正方形中任何位置的概率相同，设飞镖的位置为（</a:t>
            </a:r>
            <a:r>
              <a:rPr lang="en-US" i="1">
                <a:solidFill>
                  <a:srgbClr val="0000FF"/>
                </a:solidFill>
                <a:latin typeface="Consolas" pitchFamily="49" charset="0"/>
                <a:ea typeface="仿宋" pitchFamily="49" charset="-122"/>
                <a:cs typeface="Consolas" pitchFamily="49" charset="0"/>
              </a:rPr>
              <a:t>x</a:t>
            </a:r>
            <a:r>
              <a:rPr lang="zh-CN" altLang="en-US">
                <a:solidFill>
                  <a:srgbClr val="0000FF"/>
                </a:solidFill>
                <a:latin typeface="Consolas" pitchFamily="49" charset="0"/>
                <a:ea typeface="仿宋" pitchFamily="49" charset="-122"/>
                <a:cs typeface="Consolas" pitchFamily="49" charset="0"/>
              </a:rPr>
              <a:t>，</a:t>
            </a:r>
            <a:r>
              <a:rPr lang="en-US" i="1">
                <a:solidFill>
                  <a:srgbClr val="0000FF"/>
                </a:solidFill>
                <a:latin typeface="Consolas" pitchFamily="49" charset="0"/>
                <a:ea typeface="仿宋" pitchFamily="49" charset="-122"/>
                <a:cs typeface="Consolas" pitchFamily="49" charset="0"/>
              </a:rPr>
              <a:t>y</a:t>
            </a:r>
            <a:r>
              <a:rPr lang="zh-CN" altLang="en-US">
                <a:solidFill>
                  <a:srgbClr val="0000FF"/>
                </a:solidFill>
                <a:latin typeface="Consolas" pitchFamily="49" charset="0"/>
                <a:ea typeface="仿宋" pitchFamily="49" charset="-122"/>
                <a:cs typeface="Consolas" pitchFamily="49" charset="0"/>
              </a:rPr>
              <a:t>），如果有</a:t>
            </a:r>
            <a:r>
              <a:rPr lang="en-US" i="1">
                <a:solidFill>
                  <a:srgbClr val="0000FF"/>
                </a:solidFill>
                <a:latin typeface="Consolas" pitchFamily="49" charset="0"/>
                <a:ea typeface="仿宋" pitchFamily="49" charset="-122"/>
                <a:cs typeface="Consolas" pitchFamily="49" charset="0"/>
              </a:rPr>
              <a:t>x</a:t>
            </a:r>
            <a:r>
              <a:rPr lang="en-US" baseline="30000">
                <a:solidFill>
                  <a:srgbClr val="0000FF"/>
                </a:solidFill>
                <a:latin typeface="Consolas" pitchFamily="49" charset="0"/>
                <a:ea typeface="仿宋" pitchFamily="49" charset="-122"/>
                <a:cs typeface="Consolas" pitchFamily="49" charset="0"/>
              </a:rPr>
              <a:t>2</a:t>
            </a:r>
            <a:r>
              <a:rPr lang="en-US">
                <a:solidFill>
                  <a:srgbClr val="0000FF"/>
                </a:solidFill>
                <a:latin typeface="Consolas" pitchFamily="49" charset="0"/>
                <a:ea typeface="仿宋" pitchFamily="49" charset="-122"/>
                <a:cs typeface="Consolas" pitchFamily="49" charset="0"/>
              </a:rPr>
              <a:t>+</a:t>
            </a:r>
            <a:r>
              <a:rPr lang="en-US" i="1">
                <a:solidFill>
                  <a:srgbClr val="0000FF"/>
                </a:solidFill>
                <a:latin typeface="Consolas" pitchFamily="49" charset="0"/>
                <a:ea typeface="仿宋" pitchFamily="49" charset="-122"/>
                <a:cs typeface="Consolas" pitchFamily="49" charset="0"/>
              </a:rPr>
              <a:t>y</a:t>
            </a:r>
            <a:r>
              <a:rPr lang="en-US" baseline="30000">
                <a:solidFill>
                  <a:srgbClr val="0000FF"/>
                </a:solidFill>
                <a:latin typeface="Consolas" pitchFamily="49" charset="0"/>
                <a:ea typeface="仿宋" pitchFamily="49" charset="-122"/>
                <a:cs typeface="Consolas" pitchFamily="49" charset="0"/>
              </a:rPr>
              <a:t>2</a:t>
            </a:r>
            <a:r>
              <a:rPr lang="zh-CN" altLang="en-US">
                <a:solidFill>
                  <a:srgbClr val="0000FF"/>
                </a:solidFill>
                <a:latin typeface="+mn-ea"/>
                <a:cs typeface="Consolas" pitchFamily="49" charset="0"/>
              </a:rPr>
              <a:t>≤</a:t>
            </a:r>
            <a:r>
              <a:rPr lang="en-US">
                <a:solidFill>
                  <a:srgbClr val="0000FF"/>
                </a:solidFill>
                <a:latin typeface="Consolas" pitchFamily="49" charset="0"/>
                <a:ea typeface="仿宋" pitchFamily="49" charset="-122"/>
                <a:cs typeface="Consolas" pitchFamily="49" charset="0"/>
              </a:rPr>
              <a:t>1</a:t>
            </a:r>
            <a:r>
              <a:rPr lang="zh-CN" altLang="en-US">
                <a:solidFill>
                  <a:srgbClr val="0000FF"/>
                </a:solidFill>
                <a:latin typeface="Consolas" pitchFamily="49" charset="0"/>
                <a:ea typeface="仿宋" pitchFamily="49" charset="-122"/>
                <a:cs typeface="Consolas" pitchFamily="49" charset="0"/>
              </a:rPr>
              <a:t>，则落在内切圆中。</a:t>
            </a:r>
          </a:p>
        </p:txBody>
      </p:sp>
      <p:grpSp>
        <p:nvGrpSpPr>
          <p:cNvPr id="6" name="Group 1"/>
          <p:cNvGrpSpPr>
            <a:grpSpLocks noChangeAspect="1"/>
          </p:cNvGrpSpPr>
          <p:nvPr/>
        </p:nvGrpSpPr>
        <p:grpSpPr bwMode="auto">
          <a:xfrm>
            <a:off x="3214678" y="3857628"/>
            <a:ext cx="3000396" cy="2727061"/>
            <a:chOff x="3953" y="4989"/>
            <a:chExt cx="2387" cy="2169"/>
          </a:xfrm>
        </p:grpSpPr>
        <p:sp>
          <p:nvSpPr>
            <p:cNvPr id="7" name="AutoShape 24"/>
            <p:cNvSpPr>
              <a:spLocks noChangeAspect="1" noChangeArrowheads="1" noTextEdit="1"/>
            </p:cNvSpPr>
            <p:nvPr/>
          </p:nvSpPr>
          <p:spPr bwMode="auto">
            <a:xfrm>
              <a:off x="3953" y="4989"/>
              <a:ext cx="2387" cy="2169"/>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8" name="Rectangle 23"/>
            <p:cNvSpPr>
              <a:spLocks noChangeArrowheads="1"/>
            </p:cNvSpPr>
            <p:nvPr/>
          </p:nvSpPr>
          <p:spPr bwMode="auto">
            <a:xfrm>
              <a:off x="4480" y="5580"/>
              <a:ext cx="1134" cy="1134"/>
            </a:xfrm>
            <a:prstGeom prst="rect">
              <a:avLst/>
            </a:prstGeom>
            <a:solidFill>
              <a:srgbClr val="92D05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9" name="Oval 22"/>
            <p:cNvSpPr>
              <a:spLocks noChangeArrowheads="1"/>
            </p:cNvSpPr>
            <p:nvPr/>
          </p:nvSpPr>
          <p:spPr bwMode="auto">
            <a:xfrm>
              <a:off x="4480" y="5580"/>
              <a:ext cx="1134" cy="1134"/>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0" name="AutoShape 21"/>
            <p:cNvSpPr>
              <a:spLocks noChangeShapeType="1"/>
            </p:cNvSpPr>
            <p:nvPr/>
          </p:nvSpPr>
          <p:spPr bwMode="auto">
            <a:xfrm flipV="1">
              <a:off x="3961" y="6130"/>
              <a:ext cx="2209" cy="1"/>
            </a:xfrm>
            <a:prstGeom prst="straightConnector1">
              <a:avLst/>
            </a:prstGeom>
            <a:noFill/>
            <a:ln w="9525">
              <a:solidFill>
                <a:srgbClr val="000000"/>
              </a:solidFill>
              <a:round/>
              <a:headEnd/>
              <a:tailEnd type="arrow" w="med" len="med"/>
            </a:ln>
          </p:spPr>
          <p:txBody>
            <a:bodyPr vert="horz" wrap="square" lIns="91440" tIns="45720" rIns="91440" bIns="45720" numCol="1" anchor="t" anchorCtr="0" compatLnSpc="1">
              <a:prstTxWarp prst="textNoShape">
                <a:avLst/>
              </a:prstTxWarp>
            </a:bodyPr>
            <a:lstStyle/>
            <a:p>
              <a:endParaRPr lang="zh-CN" altLang="en-US"/>
            </a:p>
          </p:txBody>
        </p:sp>
        <p:sp>
          <p:nvSpPr>
            <p:cNvPr id="11" name="AutoShape 20"/>
            <p:cNvSpPr>
              <a:spLocks noChangeShapeType="1"/>
            </p:cNvSpPr>
            <p:nvPr/>
          </p:nvSpPr>
          <p:spPr bwMode="auto">
            <a:xfrm flipV="1">
              <a:off x="5070" y="5019"/>
              <a:ext cx="2" cy="2131"/>
            </a:xfrm>
            <a:prstGeom prst="straightConnector1">
              <a:avLst/>
            </a:prstGeom>
            <a:noFill/>
            <a:ln w="9525">
              <a:solidFill>
                <a:srgbClr val="000000"/>
              </a:solidFill>
              <a:round/>
              <a:headEnd/>
              <a:tailEnd type="arrow" w="med" len="med"/>
            </a:ln>
          </p:spPr>
          <p:txBody>
            <a:bodyPr vert="horz" wrap="square" lIns="91440" tIns="45720" rIns="91440" bIns="45720" numCol="1" anchor="t" anchorCtr="0" compatLnSpc="1">
              <a:prstTxWarp prst="textNoShape">
                <a:avLst/>
              </a:prstTxWarp>
            </a:bodyPr>
            <a:lstStyle/>
            <a:p>
              <a:endParaRPr lang="zh-CN" altLang="en-US"/>
            </a:p>
          </p:txBody>
        </p:sp>
        <p:sp>
          <p:nvSpPr>
            <p:cNvPr id="12" name="Rectangle 19"/>
            <p:cNvSpPr>
              <a:spLocks noChangeArrowheads="1"/>
            </p:cNvSpPr>
            <p:nvPr/>
          </p:nvSpPr>
          <p:spPr bwMode="auto">
            <a:xfrm>
              <a:off x="5690" y="6180"/>
              <a:ext cx="100" cy="19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6600"/>
                  </a:solidFill>
                  <a:effectLst/>
                  <a:latin typeface="Times New Roman" pitchFamily="18" charset="0"/>
                  <a:ea typeface="宋体" pitchFamily="2" charset="-122"/>
                  <a:cs typeface="Times New Roman" pitchFamily="18" charset="0"/>
                </a:rPr>
                <a:t>1</a:t>
              </a:r>
              <a:endParaRPr kumimoji="0" lang="en-US" altLang="zh-CN" sz="1600" b="0" i="0" u="none" strike="noStrike" cap="none" normalizeH="0" baseline="0">
                <a:ln>
                  <a:noFill/>
                </a:ln>
                <a:solidFill>
                  <a:srgbClr val="006600"/>
                </a:solidFill>
                <a:effectLst/>
                <a:latin typeface="Arial" pitchFamily="34" charset="0"/>
                <a:ea typeface="宋体" pitchFamily="2" charset="-122"/>
                <a:cs typeface="宋体" pitchFamily="2" charset="-122"/>
              </a:endParaRPr>
            </a:p>
          </p:txBody>
        </p:sp>
        <p:sp>
          <p:nvSpPr>
            <p:cNvPr id="13" name="Rectangle 18"/>
            <p:cNvSpPr>
              <a:spLocks noChangeArrowheads="1"/>
            </p:cNvSpPr>
            <p:nvPr/>
          </p:nvSpPr>
          <p:spPr bwMode="auto">
            <a:xfrm>
              <a:off x="4200" y="6190"/>
              <a:ext cx="230" cy="18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6600"/>
                  </a:solidFill>
                  <a:effectLst/>
                  <a:latin typeface="宋体" pitchFamily="2" charset="-122"/>
                  <a:ea typeface="宋体" pitchFamily="2" charset="-122"/>
                  <a:cs typeface="Times New Roman" pitchFamily="18" charset="0"/>
                </a:rPr>
                <a:t>-</a:t>
              </a:r>
              <a:r>
                <a:rPr kumimoji="0" lang="en-US" altLang="zh-CN" sz="1600" b="0" i="0" u="none" strike="noStrike" cap="none" normalizeH="0" baseline="0">
                  <a:ln>
                    <a:noFill/>
                  </a:ln>
                  <a:solidFill>
                    <a:srgbClr val="006600"/>
                  </a:solidFill>
                  <a:effectLst/>
                  <a:latin typeface="Times New Roman" pitchFamily="18" charset="0"/>
                  <a:ea typeface="宋体" pitchFamily="2" charset="-122"/>
                  <a:cs typeface="Times New Roman" pitchFamily="18" charset="0"/>
                </a:rPr>
                <a:t>1</a:t>
              </a:r>
              <a:endParaRPr kumimoji="0" lang="en-US" altLang="zh-CN" sz="1600" b="0" i="0" u="none" strike="noStrike" cap="none" normalizeH="0" baseline="0">
                <a:ln>
                  <a:noFill/>
                </a:ln>
                <a:solidFill>
                  <a:srgbClr val="006600"/>
                </a:solidFill>
                <a:effectLst/>
                <a:latin typeface="Arial" pitchFamily="34" charset="0"/>
                <a:ea typeface="宋体" pitchFamily="2" charset="-122"/>
                <a:cs typeface="宋体" pitchFamily="2" charset="-122"/>
              </a:endParaRPr>
            </a:p>
          </p:txBody>
        </p:sp>
        <p:sp>
          <p:nvSpPr>
            <p:cNvPr id="14" name="Rectangle 17"/>
            <p:cNvSpPr>
              <a:spLocks noChangeArrowheads="1"/>
            </p:cNvSpPr>
            <p:nvPr/>
          </p:nvSpPr>
          <p:spPr bwMode="auto">
            <a:xfrm>
              <a:off x="6240" y="6030"/>
              <a:ext cx="100" cy="19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800" i="1" u="none" strike="noStrike" cap="none" normalizeH="0" baseline="0">
                  <a:ln>
                    <a:noFill/>
                  </a:ln>
                  <a:solidFill>
                    <a:srgbClr val="FF0000"/>
                  </a:solidFill>
                  <a:effectLst/>
                  <a:latin typeface="Times New Roman" pitchFamily="18" charset="0"/>
                  <a:ea typeface="宋体" pitchFamily="2" charset="-122"/>
                  <a:cs typeface="Times New Roman" pitchFamily="18" charset="0"/>
                </a:rPr>
                <a:t>x</a:t>
              </a:r>
              <a:endParaRPr kumimoji="0" lang="en-US" altLang="zh-CN" sz="1800" i="0" u="none" strike="noStrike" cap="none" normalizeH="0" baseline="0">
                <a:ln>
                  <a:noFill/>
                </a:ln>
                <a:solidFill>
                  <a:srgbClr val="FF0000"/>
                </a:solidFill>
                <a:effectLst/>
                <a:latin typeface="Arial" pitchFamily="34" charset="0"/>
                <a:ea typeface="宋体" pitchFamily="2" charset="-122"/>
                <a:cs typeface="宋体" pitchFamily="2" charset="-122"/>
              </a:endParaRPr>
            </a:p>
          </p:txBody>
        </p:sp>
        <p:sp>
          <p:nvSpPr>
            <p:cNvPr id="15" name="Rectangle 16"/>
            <p:cNvSpPr>
              <a:spLocks noChangeArrowheads="1"/>
            </p:cNvSpPr>
            <p:nvPr/>
          </p:nvSpPr>
          <p:spPr bwMode="auto">
            <a:xfrm>
              <a:off x="5202" y="4989"/>
              <a:ext cx="100" cy="19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800" i="1" u="none" strike="noStrike" cap="none" normalizeH="0" baseline="0">
                  <a:ln>
                    <a:noFill/>
                  </a:ln>
                  <a:solidFill>
                    <a:srgbClr val="FF0000"/>
                  </a:solidFill>
                  <a:effectLst/>
                  <a:latin typeface="Times New Roman" pitchFamily="18" charset="0"/>
                  <a:ea typeface="宋体" pitchFamily="2" charset="-122"/>
                  <a:cs typeface="Times New Roman" pitchFamily="18" charset="0"/>
                </a:rPr>
                <a:t>y</a:t>
              </a:r>
              <a:endParaRPr kumimoji="0" lang="en-US" altLang="zh-CN" sz="1800" i="0" u="none" strike="noStrike" cap="none" normalizeH="0" baseline="0">
                <a:ln>
                  <a:noFill/>
                </a:ln>
                <a:solidFill>
                  <a:srgbClr val="FF0000"/>
                </a:solidFill>
                <a:effectLst/>
                <a:latin typeface="Arial" pitchFamily="34" charset="0"/>
                <a:ea typeface="宋体" pitchFamily="2" charset="-122"/>
                <a:cs typeface="宋体" pitchFamily="2" charset="-122"/>
              </a:endParaRPr>
            </a:p>
          </p:txBody>
        </p:sp>
        <p:sp>
          <p:nvSpPr>
            <p:cNvPr id="17" name="Oval 15"/>
            <p:cNvSpPr>
              <a:spLocks noChangeArrowheads="1"/>
            </p:cNvSpPr>
            <p:nvPr/>
          </p:nvSpPr>
          <p:spPr bwMode="auto">
            <a:xfrm>
              <a:off x="4680" y="5840"/>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8" name="Oval 14"/>
            <p:cNvSpPr>
              <a:spLocks noChangeArrowheads="1"/>
            </p:cNvSpPr>
            <p:nvPr/>
          </p:nvSpPr>
          <p:spPr bwMode="auto">
            <a:xfrm>
              <a:off x="4920" y="6240"/>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9" name="Oval 13"/>
            <p:cNvSpPr>
              <a:spLocks noChangeArrowheads="1"/>
            </p:cNvSpPr>
            <p:nvPr/>
          </p:nvSpPr>
          <p:spPr bwMode="auto">
            <a:xfrm>
              <a:off x="4830" y="6480"/>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0" name="Oval 12"/>
            <p:cNvSpPr>
              <a:spLocks noChangeArrowheads="1"/>
            </p:cNvSpPr>
            <p:nvPr/>
          </p:nvSpPr>
          <p:spPr bwMode="auto">
            <a:xfrm>
              <a:off x="5190" y="6360"/>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1" name="Oval 11"/>
            <p:cNvSpPr>
              <a:spLocks noChangeArrowheads="1"/>
            </p:cNvSpPr>
            <p:nvPr/>
          </p:nvSpPr>
          <p:spPr bwMode="auto">
            <a:xfrm>
              <a:off x="5390" y="6280"/>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2" name="Oval 10"/>
            <p:cNvSpPr>
              <a:spLocks noChangeArrowheads="1"/>
            </p:cNvSpPr>
            <p:nvPr/>
          </p:nvSpPr>
          <p:spPr bwMode="auto">
            <a:xfrm>
              <a:off x="5520" y="6480"/>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3" name="Oval 9"/>
            <p:cNvSpPr>
              <a:spLocks noChangeArrowheads="1"/>
            </p:cNvSpPr>
            <p:nvPr/>
          </p:nvSpPr>
          <p:spPr bwMode="auto">
            <a:xfrm>
              <a:off x="5440" y="6580"/>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4" name="Oval 8"/>
            <p:cNvSpPr>
              <a:spLocks noChangeArrowheads="1"/>
            </p:cNvSpPr>
            <p:nvPr/>
          </p:nvSpPr>
          <p:spPr bwMode="auto">
            <a:xfrm>
              <a:off x="5480" y="5660"/>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5" name="Oval 7"/>
            <p:cNvSpPr>
              <a:spLocks noChangeArrowheads="1"/>
            </p:cNvSpPr>
            <p:nvPr/>
          </p:nvSpPr>
          <p:spPr bwMode="auto">
            <a:xfrm>
              <a:off x="5260" y="5900"/>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6" name="Oval 6"/>
            <p:cNvSpPr>
              <a:spLocks noChangeArrowheads="1"/>
            </p:cNvSpPr>
            <p:nvPr/>
          </p:nvSpPr>
          <p:spPr bwMode="auto">
            <a:xfrm>
              <a:off x="4520" y="5720"/>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7" name="Oval 5"/>
            <p:cNvSpPr>
              <a:spLocks noChangeArrowheads="1"/>
            </p:cNvSpPr>
            <p:nvPr/>
          </p:nvSpPr>
          <p:spPr bwMode="auto">
            <a:xfrm>
              <a:off x="4580" y="5620"/>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8" name="Oval 4"/>
            <p:cNvSpPr>
              <a:spLocks noChangeArrowheads="1"/>
            </p:cNvSpPr>
            <p:nvPr/>
          </p:nvSpPr>
          <p:spPr bwMode="auto">
            <a:xfrm>
              <a:off x="4530" y="6560"/>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9" name="Oval 3"/>
            <p:cNvSpPr>
              <a:spLocks noChangeArrowheads="1"/>
            </p:cNvSpPr>
            <p:nvPr/>
          </p:nvSpPr>
          <p:spPr bwMode="auto">
            <a:xfrm>
              <a:off x="4830" y="5940"/>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0" name="Oval 2"/>
            <p:cNvSpPr>
              <a:spLocks noChangeArrowheads="1"/>
            </p:cNvSpPr>
            <p:nvPr/>
          </p:nvSpPr>
          <p:spPr bwMode="auto">
            <a:xfrm>
              <a:off x="4670" y="6240"/>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32" name="TextBox 5"/>
          <p:cNvSpPr txBox="1"/>
          <p:nvPr/>
        </p:nvSpPr>
        <p:spPr>
          <a:xfrm>
            <a:off x="428596" y="1500174"/>
            <a:ext cx="500066"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a:solidFill>
                  <a:srgbClr val="FF0000"/>
                </a:solidFill>
                <a:latin typeface="微软雅黑" pitchFamily="34" charset="-122"/>
                <a:ea typeface="微软雅黑" pitchFamily="34" charset="-122"/>
                <a:cs typeface="Consolas" pitchFamily="49" charset="0"/>
              </a:rPr>
              <a:t>解</a:t>
            </a:r>
            <a:endParaRPr lang="zh-CN" altLang="en-US">
              <a:ln w="18415" cmpd="sng">
                <a:solidFill>
                  <a:srgbClr val="FFFFFF"/>
                </a:solidFill>
                <a:prstDash val="solid"/>
              </a:ln>
              <a:solidFill>
                <a:srgbClr val="FF0000"/>
              </a:solidFill>
              <a:effectLst>
                <a:outerShdw blurRad="63500" dir="3600000" algn="tl" rotWithShape="0">
                  <a:srgbClr val="000000">
                    <a:alpha val="70000"/>
                  </a:srgbClr>
                </a:outerShdw>
              </a:effectLst>
              <a:latin typeface="微软雅黑" pitchFamily="34" charset="-122"/>
              <a:ea typeface="微软雅黑" pitchFamily="34" charset="-122"/>
              <a:cs typeface="Consolas" pitchFamily="49" charset="0"/>
            </a:endParaRPr>
          </a:p>
        </p:txBody>
      </p:sp>
      <p:sp>
        <p:nvSpPr>
          <p:cNvPr id="31" name="灯片编号占位符 30"/>
          <p:cNvSpPr>
            <a:spLocks noGrp="1"/>
          </p:cNvSpPr>
          <p:nvPr>
            <p:ph type="sldNum" sz="quarter" idx="12"/>
          </p:nvPr>
        </p:nvSpPr>
        <p:spPr/>
        <p:txBody>
          <a:bodyPr/>
          <a:lstStyle/>
          <a:p>
            <a:fld id="{7AF016A1-9F15-429F-9EFD-84004B73C732}" type="slidenum">
              <a:rPr lang="en-US" altLang="zh-CN" smtClean="0"/>
              <a:pPr/>
              <a:t>7</a:t>
            </a:fld>
            <a:r>
              <a:rPr lang="en-US" altLang="zh-CN"/>
              <a:t>/75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6"/>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 name="Group 1"/>
          <p:cNvGrpSpPr>
            <a:grpSpLocks noChangeAspect="1"/>
          </p:cNvGrpSpPr>
          <p:nvPr/>
        </p:nvGrpSpPr>
        <p:grpSpPr bwMode="auto">
          <a:xfrm>
            <a:off x="2643174" y="285728"/>
            <a:ext cx="2750940" cy="2500330"/>
            <a:chOff x="3953" y="4989"/>
            <a:chExt cx="2387" cy="2169"/>
          </a:xfrm>
        </p:grpSpPr>
        <p:sp>
          <p:nvSpPr>
            <p:cNvPr id="7" name="AutoShape 24"/>
            <p:cNvSpPr>
              <a:spLocks noChangeAspect="1" noChangeArrowheads="1" noTextEdit="1"/>
            </p:cNvSpPr>
            <p:nvPr/>
          </p:nvSpPr>
          <p:spPr bwMode="auto">
            <a:xfrm>
              <a:off x="3953" y="4989"/>
              <a:ext cx="2387" cy="2169"/>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8" name="Rectangle 23"/>
            <p:cNvSpPr>
              <a:spLocks noChangeArrowheads="1"/>
            </p:cNvSpPr>
            <p:nvPr/>
          </p:nvSpPr>
          <p:spPr bwMode="auto">
            <a:xfrm>
              <a:off x="4480" y="5580"/>
              <a:ext cx="1134" cy="1134"/>
            </a:xfrm>
            <a:prstGeom prst="rect">
              <a:avLst/>
            </a:prstGeom>
            <a:solidFill>
              <a:srgbClr val="92D05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9" name="Oval 22"/>
            <p:cNvSpPr>
              <a:spLocks noChangeArrowheads="1"/>
            </p:cNvSpPr>
            <p:nvPr/>
          </p:nvSpPr>
          <p:spPr bwMode="auto">
            <a:xfrm>
              <a:off x="4480" y="5580"/>
              <a:ext cx="1134" cy="1134"/>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0" name="AutoShape 21"/>
            <p:cNvSpPr>
              <a:spLocks noChangeShapeType="1"/>
            </p:cNvSpPr>
            <p:nvPr/>
          </p:nvSpPr>
          <p:spPr bwMode="auto">
            <a:xfrm flipV="1">
              <a:off x="3961" y="6130"/>
              <a:ext cx="2209" cy="1"/>
            </a:xfrm>
            <a:prstGeom prst="straightConnector1">
              <a:avLst/>
            </a:prstGeom>
            <a:noFill/>
            <a:ln w="9525">
              <a:solidFill>
                <a:srgbClr val="000000"/>
              </a:solidFill>
              <a:round/>
              <a:headEnd/>
              <a:tailEnd type="arrow" w="med" len="med"/>
            </a:ln>
          </p:spPr>
          <p:txBody>
            <a:bodyPr vert="horz" wrap="square" lIns="91440" tIns="45720" rIns="91440" bIns="45720" numCol="1" anchor="t" anchorCtr="0" compatLnSpc="1">
              <a:prstTxWarp prst="textNoShape">
                <a:avLst/>
              </a:prstTxWarp>
            </a:bodyPr>
            <a:lstStyle/>
            <a:p>
              <a:endParaRPr lang="zh-CN" altLang="en-US"/>
            </a:p>
          </p:txBody>
        </p:sp>
        <p:sp>
          <p:nvSpPr>
            <p:cNvPr id="11" name="AutoShape 20"/>
            <p:cNvSpPr>
              <a:spLocks noChangeShapeType="1"/>
            </p:cNvSpPr>
            <p:nvPr/>
          </p:nvSpPr>
          <p:spPr bwMode="auto">
            <a:xfrm flipV="1">
              <a:off x="5070" y="5019"/>
              <a:ext cx="2" cy="2131"/>
            </a:xfrm>
            <a:prstGeom prst="straightConnector1">
              <a:avLst/>
            </a:prstGeom>
            <a:noFill/>
            <a:ln w="9525">
              <a:solidFill>
                <a:srgbClr val="000000"/>
              </a:solidFill>
              <a:round/>
              <a:headEnd/>
              <a:tailEnd type="arrow" w="med" len="med"/>
            </a:ln>
          </p:spPr>
          <p:txBody>
            <a:bodyPr vert="horz" wrap="square" lIns="91440" tIns="45720" rIns="91440" bIns="45720" numCol="1" anchor="t" anchorCtr="0" compatLnSpc="1">
              <a:prstTxWarp prst="textNoShape">
                <a:avLst/>
              </a:prstTxWarp>
            </a:bodyPr>
            <a:lstStyle/>
            <a:p>
              <a:endParaRPr lang="zh-CN" altLang="en-US"/>
            </a:p>
          </p:txBody>
        </p:sp>
        <p:sp>
          <p:nvSpPr>
            <p:cNvPr id="12" name="Rectangle 19"/>
            <p:cNvSpPr>
              <a:spLocks noChangeArrowheads="1"/>
            </p:cNvSpPr>
            <p:nvPr/>
          </p:nvSpPr>
          <p:spPr bwMode="auto">
            <a:xfrm>
              <a:off x="5690" y="6180"/>
              <a:ext cx="100" cy="19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6600"/>
                  </a:solidFill>
                  <a:effectLst/>
                  <a:latin typeface="Times New Roman" pitchFamily="18" charset="0"/>
                  <a:ea typeface="宋体" pitchFamily="2" charset="-122"/>
                  <a:cs typeface="Times New Roman" pitchFamily="18" charset="0"/>
                </a:rPr>
                <a:t>1</a:t>
              </a:r>
              <a:endParaRPr kumimoji="0" lang="en-US" altLang="zh-CN" sz="1600" b="0" i="0" u="none" strike="noStrike" cap="none" normalizeH="0" baseline="0">
                <a:ln>
                  <a:noFill/>
                </a:ln>
                <a:solidFill>
                  <a:srgbClr val="006600"/>
                </a:solidFill>
                <a:effectLst/>
                <a:latin typeface="Arial" pitchFamily="34" charset="0"/>
                <a:ea typeface="宋体" pitchFamily="2" charset="-122"/>
                <a:cs typeface="宋体" pitchFamily="2" charset="-122"/>
              </a:endParaRPr>
            </a:p>
          </p:txBody>
        </p:sp>
        <p:sp>
          <p:nvSpPr>
            <p:cNvPr id="13" name="Rectangle 18"/>
            <p:cNvSpPr>
              <a:spLocks noChangeArrowheads="1"/>
            </p:cNvSpPr>
            <p:nvPr/>
          </p:nvSpPr>
          <p:spPr bwMode="auto">
            <a:xfrm>
              <a:off x="4200" y="6190"/>
              <a:ext cx="230" cy="18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6600"/>
                  </a:solidFill>
                  <a:effectLst/>
                  <a:latin typeface="宋体" pitchFamily="2" charset="-122"/>
                  <a:ea typeface="宋体" pitchFamily="2" charset="-122"/>
                  <a:cs typeface="Times New Roman" pitchFamily="18" charset="0"/>
                </a:rPr>
                <a:t>-</a:t>
              </a:r>
              <a:r>
                <a:rPr kumimoji="0" lang="en-US" altLang="zh-CN" sz="1600" b="0" i="0" u="none" strike="noStrike" cap="none" normalizeH="0" baseline="0">
                  <a:ln>
                    <a:noFill/>
                  </a:ln>
                  <a:solidFill>
                    <a:srgbClr val="006600"/>
                  </a:solidFill>
                  <a:effectLst/>
                  <a:latin typeface="Times New Roman" pitchFamily="18" charset="0"/>
                  <a:ea typeface="宋体" pitchFamily="2" charset="-122"/>
                  <a:cs typeface="Times New Roman" pitchFamily="18" charset="0"/>
                </a:rPr>
                <a:t>1</a:t>
              </a:r>
              <a:endParaRPr kumimoji="0" lang="en-US" altLang="zh-CN" sz="1600" b="0" i="0" u="none" strike="noStrike" cap="none" normalizeH="0" baseline="0">
                <a:ln>
                  <a:noFill/>
                </a:ln>
                <a:solidFill>
                  <a:srgbClr val="006600"/>
                </a:solidFill>
                <a:effectLst/>
                <a:latin typeface="Arial" pitchFamily="34" charset="0"/>
                <a:ea typeface="宋体" pitchFamily="2" charset="-122"/>
                <a:cs typeface="宋体" pitchFamily="2" charset="-122"/>
              </a:endParaRPr>
            </a:p>
          </p:txBody>
        </p:sp>
        <p:sp>
          <p:nvSpPr>
            <p:cNvPr id="14" name="Rectangle 17"/>
            <p:cNvSpPr>
              <a:spLocks noChangeArrowheads="1"/>
            </p:cNvSpPr>
            <p:nvPr/>
          </p:nvSpPr>
          <p:spPr bwMode="auto">
            <a:xfrm>
              <a:off x="6240" y="6030"/>
              <a:ext cx="100" cy="19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800" i="1" u="none" strike="noStrike" cap="none" normalizeH="0" baseline="0">
                  <a:ln>
                    <a:noFill/>
                  </a:ln>
                  <a:solidFill>
                    <a:srgbClr val="FF0000"/>
                  </a:solidFill>
                  <a:effectLst/>
                  <a:latin typeface="Times New Roman" pitchFamily="18" charset="0"/>
                  <a:ea typeface="宋体" pitchFamily="2" charset="-122"/>
                  <a:cs typeface="Times New Roman" pitchFamily="18" charset="0"/>
                </a:rPr>
                <a:t>x</a:t>
              </a:r>
              <a:endParaRPr kumimoji="0" lang="en-US" altLang="zh-CN" sz="1800" i="0" u="none" strike="noStrike" cap="none" normalizeH="0" baseline="0">
                <a:ln>
                  <a:noFill/>
                </a:ln>
                <a:solidFill>
                  <a:srgbClr val="FF0000"/>
                </a:solidFill>
                <a:effectLst/>
                <a:latin typeface="Arial" pitchFamily="34" charset="0"/>
                <a:ea typeface="宋体" pitchFamily="2" charset="-122"/>
                <a:cs typeface="宋体" pitchFamily="2" charset="-122"/>
              </a:endParaRPr>
            </a:p>
          </p:txBody>
        </p:sp>
        <p:sp>
          <p:nvSpPr>
            <p:cNvPr id="15" name="Rectangle 16"/>
            <p:cNvSpPr>
              <a:spLocks noChangeArrowheads="1"/>
            </p:cNvSpPr>
            <p:nvPr/>
          </p:nvSpPr>
          <p:spPr bwMode="auto">
            <a:xfrm>
              <a:off x="5202" y="4989"/>
              <a:ext cx="100" cy="19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800" i="1" u="none" strike="noStrike" cap="none" normalizeH="0" baseline="0">
                  <a:ln>
                    <a:noFill/>
                  </a:ln>
                  <a:solidFill>
                    <a:srgbClr val="FF0000"/>
                  </a:solidFill>
                  <a:effectLst/>
                  <a:latin typeface="Times New Roman" pitchFamily="18" charset="0"/>
                  <a:ea typeface="宋体" pitchFamily="2" charset="-122"/>
                  <a:cs typeface="Times New Roman" pitchFamily="18" charset="0"/>
                </a:rPr>
                <a:t>y</a:t>
              </a:r>
              <a:endParaRPr kumimoji="0" lang="en-US" altLang="zh-CN" sz="1800" i="0" u="none" strike="noStrike" cap="none" normalizeH="0" baseline="0">
                <a:ln>
                  <a:noFill/>
                </a:ln>
                <a:solidFill>
                  <a:srgbClr val="FF0000"/>
                </a:solidFill>
                <a:effectLst/>
                <a:latin typeface="Arial" pitchFamily="34" charset="0"/>
                <a:ea typeface="宋体" pitchFamily="2" charset="-122"/>
                <a:cs typeface="宋体" pitchFamily="2" charset="-122"/>
              </a:endParaRPr>
            </a:p>
          </p:txBody>
        </p:sp>
        <p:sp>
          <p:nvSpPr>
            <p:cNvPr id="17" name="Oval 15"/>
            <p:cNvSpPr>
              <a:spLocks noChangeArrowheads="1"/>
            </p:cNvSpPr>
            <p:nvPr/>
          </p:nvSpPr>
          <p:spPr bwMode="auto">
            <a:xfrm>
              <a:off x="4680" y="5840"/>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8" name="Oval 14"/>
            <p:cNvSpPr>
              <a:spLocks noChangeArrowheads="1"/>
            </p:cNvSpPr>
            <p:nvPr/>
          </p:nvSpPr>
          <p:spPr bwMode="auto">
            <a:xfrm>
              <a:off x="4920" y="6240"/>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9" name="Oval 13"/>
            <p:cNvSpPr>
              <a:spLocks noChangeArrowheads="1"/>
            </p:cNvSpPr>
            <p:nvPr/>
          </p:nvSpPr>
          <p:spPr bwMode="auto">
            <a:xfrm>
              <a:off x="4830" y="6480"/>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0" name="Oval 12"/>
            <p:cNvSpPr>
              <a:spLocks noChangeArrowheads="1"/>
            </p:cNvSpPr>
            <p:nvPr/>
          </p:nvSpPr>
          <p:spPr bwMode="auto">
            <a:xfrm>
              <a:off x="5190" y="6360"/>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1" name="Oval 11"/>
            <p:cNvSpPr>
              <a:spLocks noChangeArrowheads="1"/>
            </p:cNvSpPr>
            <p:nvPr/>
          </p:nvSpPr>
          <p:spPr bwMode="auto">
            <a:xfrm>
              <a:off x="5390" y="6280"/>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2" name="Oval 10"/>
            <p:cNvSpPr>
              <a:spLocks noChangeArrowheads="1"/>
            </p:cNvSpPr>
            <p:nvPr/>
          </p:nvSpPr>
          <p:spPr bwMode="auto">
            <a:xfrm>
              <a:off x="5520" y="6480"/>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3" name="Oval 9"/>
            <p:cNvSpPr>
              <a:spLocks noChangeArrowheads="1"/>
            </p:cNvSpPr>
            <p:nvPr/>
          </p:nvSpPr>
          <p:spPr bwMode="auto">
            <a:xfrm>
              <a:off x="5440" y="6580"/>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4" name="Oval 8"/>
            <p:cNvSpPr>
              <a:spLocks noChangeArrowheads="1"/>
            </p:cNvSpPr>
            <p:nvPr/>
          </p:nvSpPr>
          <p:spPr bwMode="auto">
            <a:xfrm>
              <a:off x="5480" y="5660"/>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5" name="Oval 7"/>
            <p:cNvSpPr>
              <a:spLocks noChangeArrowheads="1"/>
            </p:cNvSpPr>
            <p:nvPr/>
          </p:nvSpPr>
          <p:spPr bwMode="auto">
            <a:xfrm>
              <a:off x="5260" y="5900"/>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6" name="Oval 6"/>
            <p:cNvSpPr>
              <a:spLocks noChangeArrowheads="1"/>
            </p:cNvSpPr>
            <p:nvPr/>
          </p:nvSpPr>
          <p:spPr bwMode="auto">
            <a:xfrm>
              <a:off x="4520" y="5720"/>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7" name="Oval 5"/>
            <p:cNvSpPr>
              <a:spLocks noChangeArrowheads="1"/>
            </p:cNvSpPr>
            <p:nvPr/>
          </p:nvSpPr>
          <p:spPr bwMode="auto">
            <a:xfrm>
              <a:off x="4580" y="5620"/>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8" name="Oval 4"/>
            <p:cNvSpPr>
              <a:spLocks noChangeArrowheads="1"/>
            </p:cNvSpPr>
            <p:nvPr/>
          </p:nvSpPr>
          <p:spPr bwMode="auto">
            <a:xfrm>
              <a:off x="4530" y="6560"/>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9" name="Oval 3"/>
            <p:cNvSpPr>
              <a:spLocks noChangeArrowheads="1"/>
            </p:cNvSpPr>
            <p:nvPr/>
          </p:nvSpPr>
          <p:spPr bwMode="auto">
            <a:xfrm>
              <a:off x="4830" y="5940"/>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0" name="Oval 2"/>
            <p:cNvSpPr>
              <a:spLocks noChangeArrowheads="1"/>
            </p:cNvSpPr>
            <p:nvPr/>
          </p:nvSpPr>
          <p:spPr bwMode="auto">
            <a:xfrm>
              <a:off x="4670" y="6240"/>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31" name="TextBox 30"/>
          <p:cNvSpPr txBox="1"/>
          <p:nvPr/>
        </p:nvSpPr>
        <p:spPr>
          <a:xfrm>
            <a:off x="500034" y="2786058"/>
            <a:ext cx="8429684" cy="2041585"/>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2"/>
              </a:buBlip>
            </a:pPr>
            <a:r>
              <a:rPr lang="zh-CN" altLang="en-US">
                <a:solidFill>
                  <a:srgbClr val="0000FF"/>
                </a:solidFill>
                <a:latin typeface="Consolas" pitchFamily="49" charset="0"/>
                <a:ea typeface="仿宋" pitchFamily="49" charset="-122"/>
                <a:cs typeface="Consolas" pitchFamily="49" charset="0"/>
              </a:rPr>
              <a:t>圆面积为</a:t>
            </a:r>
            <a:r>
              <a:rPr lang="en-US" altLang="zh-CN">
                <a:solidFill>
                  <a:srgbClr val="0000FF"/>
                </a:solidFill>
                <a:latin typeface="Consolas" pitchFamily="49" charset="0"/>
                <a:ea typeface="仿宋" pitchFamily="49" charset="-122"/>
                <a:cs typeface="Consolas" pitchFamily="49" charset="0"/>
              </a:rPr>
              <a:t>π</a:t>
            </a:r>
            <a:r>
              <a:rPr lang="zh-CN" altLang="en-US">
                <a:solidFill>
                  <a:srgbClr val="0000FF"/>
                </a:solidFill>
                <a:latin typeface="Consolas" pitchFamily="49" charset="0"/>
                <a:ea typeface="仿宋" pitchFamily="49" charset="-122"/>
                <a:cs typeface="Consolas" pitchFamily="49" charset="0"/>
              </a:rPr>
              <a:t>，正方形面积为</a:t>
            </a:r>
            <a:r>
              <a:rPr lang="en-US">
                <a:solidFill>
                  <a:srgbClr val="0000FF"/>
                </a:solidFill>
                <a:latin typeface="Consolas" pitchFamily="49" charset="0"/>
                <a:ea typeface="仿宋" pitchFamily="49" charset="-122"/>
                <a:cs typeface="Consolas" pitchFamily="49" charset="0"/>
              </a:rPr>
              <a:t>4</a:t>
            </a:r>
          </a:p>
          <a:p>
            <a:pPr marL="457200" indent="-457200" algn="l">
              <a:lnSpc>
                <a:spcPts val="3200"/>
              </a:lnSpc>
              <a:spcBef>
                <a:spcPts val="1200"/>
              </a:spcBef>
              <a:buBlip>
                <a:blip r:embed="rId2"/>
              </a:buBlip>
            </a:pPr>
            <a:r>
              <a:rPr lang="zh-CN" altLang="en-US">
                <a:solidFill>
                  <a:srgbClr val="0000FF"/>
                </a:solidFill>
                <a:latin typeface="Consolas" pitchFamily="49" charset="0"/>
                <a:ea typeface="仿宋" pitchFamily="49" charset="-122"/>
                <a:cs typeface="Consolas" pitchFamily="49" charset="0"/>
              </a:rPr>
              <a:t>圆面积与正方形面积比为</a:t>
            </a:r>
            <a:r>
              <a:rPr lang="en-US" altLang="zh-CN">
                <a:solidFill>
                  <a:srgbClr val="0000FF"/>
                </a:solidFill>
                <a:latin typeface="Consolas" pitchFamily="49" charset="0"/>
                <a:ea typeface="仿宋" pitchFamily="49" charset="-122"/>
                <a:cs typeface="Consolas" pitchFamily="49" charset="0"/>
              </a:rPr>
              <a:t>π</a:t>
            </a:r>
            <a:r>
              <a:rPr lang="en-US">
                <a:solidFill>
                  <a:srgbClr val="0000FF"/>
                </a:solidFill>
                <a:latin typeface="Consolas" pitchFamily="49" charset="0"/>
                <a:ea typeface="仿宋" pitchFamily="49" charset="-122"/>
                <a:cs typeface="Consolas" pitchFamily="49" charset="0"/>
              </a:rPr>
              <a:t>/4</a:t>
            </a:r>
            <a:r>
              <a:rPr lang="zh-CN" altLang="en-US">
                <a:solidFill>
                  <a:srgbClr val="0000FF"/>
                </a:solidFill>
                <a:latin typeface="Consolas" pitchFamily="49" charset="0"/>
                <a:ea typeface="仿宋" pitchFamily="49" charset="-122"/>
                <a:cs typeface="Consolas" pitchFamily="49" charset="0"/>
              </a:rPr>
              <a:t>。</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ts val="3200"/>
              </a:lnSpc>
              <a:spcBef>
                <a:spcPts val="1200"/>
              </a:spcBef>
              <a:buBlip>
                <a:blip r:embed="rId2"/>
              </a:buBlip>
            </a:pPr>
            <a:r>
              <a:rPr lang="zh-CN" altLang="en-US">
                <a:solidFill>
                  <a:srgbClr val="0000FF"/>
                </a:solidFill>
                <a:latin typeface="Consolas" pitchFamily="49" charset="0"/>
                <a:ea typeface="仿宋" pitchFamily="49" charset="-122"/>
                <a:cs typeface="Consolas" pitchFamily="49" charset="0"/>
              </a:rPr>
              <a:t>若</a:t>
            </a:r>
            <a:r>
              <a:rPr lang="en-US" i="1">
                <a:solidFill>
                  <a:srgbClr val="0000FF"/>
                </a:solidFill>
                <a:latin typeface="Consolas" pitchFamily="49" charset="0"/>
                <a:ea typeface="仿宋" pitchFamily="49" charset="-122"/>
                <a:cs typeface="Consolas" pitchFamily="49" charset="0"/>
              </a:rPr>
              <a:t>n</a:t>
            </a:r>
            <a:r>
              <a:rPr lang="zh-CN" altLang="en-US">
                <a:solidFill>
                  <a:srgbClr val="0000FF"/>
                </a:solidFill>
                <a:latin typeface="Consolas" pitchFamily="49" charset="0"/>
                <a:ea typeface="仿宋" pitchFamily="49" charset="-122"/>
                <a:cs typeface="Consolas" pitchFamily="49" charset="0"/>
              </a:rPr>
              <a:t>次投掷中有</a:t>
            </a:r>
            <a:r>
              <a:rPr lang="en-US" i="1">
                <a:solidFill>
                  <a:srgbClr val="0000FF"/>
                </a:solidFill>
                <a:latin typeface="Consolas" pitchFamily="49" charset="0"/>
                <a:ea typeface="仿宋" pitchFamily="49" charset="-122"/>
                <a:cs typeface="Consolas" pitchFamily="49" charset="0"/>
              </a:rPr>
              <a:t>m</a:t>
            </a:r>
            <a:r>
              <a:rPr lang="zh-CN" altLang="en-US">
                <a:solidFill>
                  <a:srgbClr val="0000FF"/>
                </a:solidFill>
                <a:latin typeface="Consolas" pitchFamily="49" charset="0"/>
                <a:ea typeface="仿宋" pitchFamily="49" charset="-122"/>
                <a:cs typeface="Consolas" pitchFamily="49" charset="0"/>
              </a:rPr>
              <a:t>次落在圆中，则圆面积与正方形面积比可近似为</a:t>
            </a:r>
            <a:r>
              <a:rPr lang="en-US" i="1">
                <a:solidFill>
                  <a:srgbClr val="0000FF"/>
                </a:solidFill>
                <a:latin typeface="Consolas" pitchFamily="49" charset="0"/>
                <a:ea typeface="仿宋" pitchFamily="49" charset="-122"/>
                <a:cs typeface="Consolas" pitchFamily="49" charset="0"/>
              </a:rPr>
              <a:t>m</a:t>
            </a:r>
            <a:r>
              <a:rPr lang="en-US">
                <a:solidFill>
                  <a:srgbClr val="0000FF"/>
                </a:solidFill>
                <a:latin typeface="Consolas" pitchFamily="49" charset="0"/>
                <a:ea typeface="仿宋" pitchFamily="49" charset="-122"/>
                <a:cs typeface="Consolas" pitchFamily="49" charset="0"/>
              </a:rPr>
              <a:t>/</a:t>
            </a:r>
            <a:r>
              <a:rPr lang="en-US" i="1">
                <a:solidFill>
                  <a:srgbClr val="0000FF"/>
                </a:solidFill>
                <a:latin typeface="Consolas" pitchFamily="49" charset="0"/>
                <a:ea typeface="仿宋" pitchFamily="49" charset="-122"/>
                <a:cs typeface="Consolas" pitchFamily="49" charset="0"/>
              </a:rPr>
              <a:t>n</a:t>
            </a:r>
            <a:r>
              <a:rPr lang="zh-CN" altLang="en-US">
                <a:solidFill>
                  <a:srgbClr val="0000FF"/>
                </a:solidFill>
                <a:latin typeface="Consolas" pitchFamily="49" charset="0"/>
                <a:ea typeface="仿宋" pitchFamily="49" charset="-122"/>
                <a:cs typeface="Consolas" pitchFamily="49" charset="0"/>
              </a:rPr>
              <a:t>，即</a:t>
            </a:r>
            <a:r>
              <a:rPr lang="en-US" altLang="zh-CN">
                <a:solidFill>
                  <a:srgbClr val="0000FF"/>
                </a:solidFill>
                <a:latin typeface="Consolas" pitchFamily="49" charset="0"/>
                <a:ea typeface="仿宋" pitchFamily="49" charset="-122"/>
                <a:cs typeface="Consolas" pitchFamily="49" charset="0"/>
              </a:rPr>
              <a:t>π</a:t>
            </a:r>
            <a:r>
              <a:rPr lang="en-US">
                <a:solidFill>
                  <a:srgbClr val="0000FF"/>
                </a:solidFill>
                <a:latin typeface="Consolas" pitchFamily="49" charset="0"/>
                <a:ea typeface="仿宋" pitchFamily="49" charset="-122"/>
                <a:cs typeface="Consolas" pitchFamily="49" charset="0"/>
              </a:rPr>
              <a:t>/4</a:t>
            </a:r>
            <a:r>
              <a:rPr lang="zh-CN" altLang="en-US">
                <a:solidFill>
                  <a:srgbClr val="0000FF"/>
                </a:solidFill>
                <a:latin typeface="+mj-ea"/>
                <a:ea typeface="+mj-ea"/>
                <a:cs typeface="Consolas" pitchFamily="49" charset="0"/>
              </a:rPr>
              <a:t>≈</a:t>
            </a:r>
            <a:r>
              <a:rPr lang="en-US" i="1">
                <a:solidFill>
                  <a:srgbClr val="0000FF"/>
                </a:solidFill>
                <a:latin typeface="Consolas" pitchFamily="49" charset="0"/>
                <a:ea typeface="仿宋" pitchFamily="49" charset="-122"/>
                <a:cs typeface="Consolas" pitchFamily="49" charset="0"/>
              </a:rPr>
              <a:t>m</a:t>
            </a:r>
            <a:r>
              <a:rPr lang="en-US">
                <a:solidFill>
                  <a:srgbClr val="0000FF"/>
                </a:solidFill>
                <a:latin typeface="Consolas" pitchFamily="49" charset="0"/>
                <a:ea typeface="仿宋" pitchFamily="49" charset="-122"/>
                <a:cs typeface="Consolas" pitchFamily="49" charset="0"/>
              </a:rPr>
              <a:t>/</a:t>
            </a:r>
            <a:r>
              <a:rPr lang="en-US" i="1">
                <a:solidFill>
                  <a:srgbClr val="0000FF"/>
                </a:solidFill>
                <a:latin typeface="Consolas" pitchFamily="49" charset="0"/>
                <a:ea typeface="仿宋" pitchFamily="49" charset="-122"/>
                <a:cs typeface="Consolas" pitchFamily="49" charset="0"/>
              </a:rPr>
              <a:t>n</a:t>
            </a:r>
            <a:r>
              <a:rPr lang="zh-CN" altLang="en-US">
                <a:solidFill>
                  <a:srgbClr val="0000FF"/>
                </a:solidFill>
                <a:latin typeface="Consolas" pitchFamily="49" charset="0"/>
                <a:ea typeface="仿宋" pitchFamily="49" charset="-122"/>
                <a:cs typeface="Consolas" pitchFamily="49" charset="0"/>
              </a:rPr>
              <a:t>，或者</a:t>
            </a:r>
            <a:r>
              <a:rPr lang="en-US" altLang="zh-CN">
                <a:solidFill>
                  <a:srgbClr val="FF0000"/>
                </a:solidFill>
                <a:latin typeface="Consolas" pitchFamily="49" charset="0"/>
                <a:ea typeface="仿宋" pitchFamily="49" charset="-122"/>
                <a:cs typeface="Consolas" pitchFamily="49" charset="0"/>
              </a:rPr>
              <a:t>π</a:t>
            </a:r>
            <a:r>
              <a:rPr lang="en-US" altLang="zh-CN">
                <a:solidFill>
                  <a:srgbClr val="FF0000"/>
                </a:solidFill>
                <a:latin typeface="+mn-ea"/>
                <a:cs typeface="Consolas" pitchFamily="49" charset="0"/>
              </a:rPr>
              <a:t>≈</a:t>
            </a:r>
            <a:r>
              <a:rPr lang="en-US">
                <a:solidFill>
                  <a:srgbClr val="FF0000"/>
                </a:solidFill>
                <a:latin typeface="Consolas" pitchFamily="49" charset="0"/>
                <a:ea typeface="仿宋" pitchFamily="49" charset="-122"/>
                <a:cs typeface="Consolas" pitchFamily="49" charset="0"/>
              </a:rPr>
              <a:t>4</a:t>
            </a:r>
            <a:r>
              <a:rPr lang="en-US" i="1">
                <a:solidFill>
                  <a:srgbClr val="FF0000"/>
                </a:solidFill>
                <a:latin typeface="Consolas" pitchFamily="49" charset="0"/>
                <a:ea typeface="仿宋" pitchFamily="49" charset="-122"/>
                <a:cs typeface="Consolas" pitchFamily="49" charset="0"/>
              </a:rPr>
              <a:t>m</a:t>
            </a:r>
            <a:r>
              <a:rPr lang="en-US">
                <a:solidFill>
                  <a:srgbClr val="FF0000"/>
                </a:solidFill>
                <a:latin typeface="Consolas" pitchFamily="49" charset="0"/>
                <a:ea typeface="仿宋" pitchFamily="49" charset="-122"/>
                <a:cs typeface="Consolas" pitchFamily="49" charset="0"/>
              </a:rPr>
              <a:t>/</a:t>
            </a:r>
            <a:r>
              <a:rPr lang="en-US" i="1">
                <a:solidFill>
                  <a:srgbClr val="FF0000"/>
                </a:solidFill>
                <a:latin typeface="Consolas" pitchFamily="49" charset="0"/>
                <a:ea typeface="仿宋" pitchFamily="49" charset="-122"/>
                <a:cs typeface="Consolas" pitchFamily="49" charset="0"/>
              </a:rPr>
              <a:t>n</a:t>
            </a:r>
            <a:r>
              <a:rPr lang="zh-CN" altLang="en-US">
                <a:solidFill>
                  <a:srgbClr val="0000FF"/>
                </a:solidFill>
                <a:latin typeface="Consolas" pitchFamily="49" charset="0"/>
                <a:ea typeface="仿宋" pitchFamily="49" charset="-122"/>
                <a:cs typeface="Consolas" pitchFamily="49" charset="0"/>
              </a:rPr>
              <a:t>。</a:t>
            </a:r>
            <a:endParaRPr lang="zh-CN" altLang="en-US">
              <a:latin typeface="Consolas" pitchFamily="49" charset="0"/>
              <a:ea typeface="仿宋" pitchFamily="49" charset="-122"/>
            </a:endParaRPr>
          </a:p>
        </p:txBody>
      </p:sp>
      <p:sp>
        <p:nvSpPr>
          <p:cNvPr id="32" name="灯片编号占位符 31"/>
          <p:cNvSpPr>
            <a:spLocks noGrp="1"/>
          </p:cNvSpPr>
          <p:nvPr>
            <p:ph type="sldNum" sz="quarter" idx="12"/>
          </p:nvPr>
        </p:nvSpPr>
        <p:spPr/>
        <p:txBody>
          <a:bodyPr/>
          <a:lstStyle/>
          <a:p>
            <a:fld id="{7AF016A1-9F15-429F-9EFD-84004B73C732}" type="slidenum">
              <a:rPr lang="en-US" altLang="zh-CN" smtClean="0"/>
              <a:pPr/>
              <a:t>8</a:t>
            </a:fld>
            <a:r>
              <a:rPr lang="en-US" altLang="zh-CN"/>
              <a:t>/75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357158" y="1045442"/>
            <a:ext cx="8215370" cy="252643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randa</a:t>
            </a:r>
            <a:r>
              <a:rPr lang="en-US" altLang="zh-CN" sz="2000">
                <a:solidFill>
                  <a:srgbClr val="0000FF"/>
                </a:solidFill>
                <a:latin typeface="Consolas" pitchFamily="49" charset="0"/>
                <a:ea typeface="仿宋" pitchFamily="49" charset="-122"/>
              </a:rPr>
              <a:t>(int a,int b)	{			</a:t>
            </a: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产生一个</a:t>
            </a:r>
            <a:r>
              <a:rPr lang="en-US" altLang="zh-CN" sz="2000">
                <a:solidFill>
                  <a:srgbClr val="00B050"/>
                </a:solidFill>
                <a:latin typeface="Consolas" pitchFamily="49" charset="0"/>
                <a:ea typeface="仿宋" pitchFamily="49" charset="-122"/>
              </a:rPr>
              <a:t>[a,b]</a:t>
            </a:r>
            <a:r>
              <a:rPr lang="zh-CN" altLang="zh-CN" sz="2000">
                <a:solidFill>
                  <a:srgbClr val="00B050"/>
                </a:solidFill>
                <a:latin typeface="Consolas" pitchFamily="49" charset="0"/>
                <a:ea typeface="仿宋" pitchFamily="49" charset="-122"/>
              </a:rPr>
              <a:t>的随机数</a:t>
            </a:r>
          </a:p>
          <a:p>
            <a:pPr algn="l" defTabSz="360000">
              <a:lnSpc>
                <a:spcPts val="2800"/>
              </a:lnSpc>
              <a:spcBef>
                <a:spcPts val="0"/>
              </a:spcBef>
            </a:pPr>
            <a:r>
              <a:rPr lang="en-US" altLang="zh-CN" sz="2000">
                <a:solidFill>
                  <a:srgbClr val="0000FF"/>
                </a:solidFill>
                <a:latin typeface="Consolas" pitchFamily="49" charset="0"/>
                <a:ea typeface="仿宋" pitchFamily="49" charset="-122"/>
              </a:rPr>
              <a:t>	return rand()%(b-a+1)+a;</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a:t>
            </a:r>
          </a:p>
          <a:p>
            <a:pPr algn="l" defTabSz="360000">
              <a:lnSpc>
                <a:spcPts val="2800"/>
              </a:lnSpc>
              <a:spcBef>
                <a:spcPts val="1200"/>
              </a:spcBef>
            </a:pPr>
            <a:r>
              <a:rPr lang="en-US" altLang="zh-CN" sz="2000">
                <a:solidFill>
                  <a:srgbClr val="0000FF"/>
                </a:solidFill>
                <a:latin typeface="Consolas" pitchFamily="49" charset="0"/>
                <a:ea typeface="仿宋" pitchFamily="49" charset="-122"/>
              </a:rPr>
              <a:t>double </a:t>
            </a:r>
            <a:r>
              <a:rPr lang="en-US" altLang="zh-CN" sz="2000">
                <a:solidFill>
                  <a:srgbClr val="FF0000"/>
                </a:solidFill>
                <a:latin typeface="Consolas" pitchFamily="49" charset="0"/>
                <a:ea typeface="仿宋" pitchFamily="49" charset="-122"/>
              </a:rPr>
              <a:t>rand01</a:t>
            </a:r>
            <a:r>
              <a:rPr lang="en-US" altLang="zh-CN" sz="2000">
                <a:solidFill>
                  <a:srgbClr val="0000FF"/>
                </a:solidFill>
                <a:latin typeface="Consolas" pitchFamily="49" charset="0"/>
                <a:ea typeface="仿宋" pitchFamily="49" charset="-122"/>
              </a:rPr>
              <a:t>()	{						</a:t>
            </a: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产生一个</a:t>
            </a:r>
            <a:r>
              <a:rPr lang="en-US" altLang="zh-CN" sz="2000">
                <a:solidFill>
                  <a:srgbClr val="00B050"/>
                </a:solidFill>
                <a:latin typeface="Consolas" pitchFamily="49" charset="0"/>
                <a:ea typeface="仿宋" pitchFamily="49" charset="-122"/>
              </a:rPr>
              <a:t>[0,1]</a:t>
            </a:r>
            <a:r>
              <a:rPr lang="zh-CN" altLang="zh-CN" sz="2000">
                <a:solidFill>
                  <a:srgbClr val="00B050"/>
                </a:solidFill>
                <a:latin typeface="Consolas" pitchFamily="49" charset="0"/>
                <a:ea typeface="仿宋" pitchFamily="49" charset="-122"/>
              </a:rPr>
              <a:t>的随机数</a:t>
            </a:r>
          </a:p>
          <a:p>
            <a:pPr algn="l" defTabSz="360000">
              <a:lnSpc>
                <a:spcPts val="2800"/>
              </a:lnSpc>
              <a:spcBef>
                <a:spcPts val="0"/>
              </a:spcBef>
            </a:pPr>
            <a:r>
              <a:rPr lang="en-US" altLang="zh-CN" sz="2000">
                <a:solidFill>
                  <a:srgbClr val="0000FF"/>
                </a:solidFill>
                <a:latin typeface="Consolas" pitchFamily="49" charset="0"/>
                <a:ea typeface="仿宋" pitchFamily="49" charset="-122"/>
              </a:rPr>
              <a:t>	return </a:t>
            </a:r>
            <a:r>
              <a:rPr lang="en-US" altLang="zh-CN" sz="2000">
                <a:solidFill>
                  <a:srgbClr val="FF0000"/>
                </a:solidFill>
                <a:latin typeface="Consolas" pitchFamily="49" charset="0"/>
                <a:ea typeface="仿宋" pitchFamily="49" charset="-122"/>
              </a:rPr>
              <a:t>randa</a:t>
            </a:r>
            <a:r>
              <a:rPr lang="en-US" altLang="zh-CN" sz="2000">
                <a:solidFill>
                  <a:srgbClr val="0000FF"/>
                </a:solidFill>
                <a:latin typeface="Consolas" pitchFamily="49" charset="0"/>
                <a:ea typeface="仿宋" pitchFamily="49" charset="-122"/>
              </a:rPr>
              <a:t>(0,100)*1.0/100;</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TextBox 4"/>
          <p:cNvSpPr txBox="1"/>
          <p:nvPr/>
        </p:nvSpPr>
        <p:spPr>
          <a:xfrm>
            <a:off x="285720" y="331062"/>
            <a:ext cx="8572560"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由于图中每个象限的概率相同，以右上角象限进行模拟。</a:t>
            </a:r>
            <a:endParaRPr lang="zh-CN" altLang="en-US">
              <a:solidFill>
                <a:srgbClr val="0000FF"/>
              </a:solidFill>
              <a:latin typeface="Consolas" pitchFamily="49" charset="0"/>
              <a:ea typeface="仿宋" pitchFamily="49" charset="-122"/>
              <a:cs typeface="Consolas" pitchFamily="49" charset="0"/>
            </a:endParaRPr>
          </a:p>
        </p:txBody>
      </p:sp>
      <p:grpSp>
        <p:nvGrpSpPr>
          <p:cNvPr id="34" name="组合 33"/>
          <p:cNvGrpSpPr/>
          <p:nvPr/>
        </p:nvGrpSpPr>
        <p:grpSpPr>
          <a:xfrm>
            <a:off x="1500166" y="3571876"/>
            <a:ext cx="4143404" cy="2727061"/>
            <a:chOff x="3214678" y="3857628"/>
            <a:chExt cx="4143404" cy="2727061"/>
          </a:xfrm>
        </p:grpSpPr>
        <p:grpSp>
          <p:nvGrpSpPr>
            <p:cNvPr id="6" name="Group 1"/>
            <p:cNvGrpSpPr>
              <a:grpSpLocks noChangeAspect="1"/>
            </p:cNvGrpSpPr>
            <p:nvPr/>
          </p:nvGrpSpPr>
          <p:grpSpPr bwMode="auto">
            <a:xfrm>
              <a:off x="3214678" y="3857628"/>
              <a:ext cx="3000396" cy="2727061"/>
              <a:chOff x="3953" y="4989"/>
              <a:chExt cx="2387" cy="2169"/>
            </a:xfrm>
          </p:grpSpPr>
          <p:sp>
            <p:nvSpPr>
              <p:cNvPr id="7" name="AutoShape 24"/>
              <p:cNvSpPr>
                <a:spLocks noChangeAspect="1" noChangeArrowheads="1" noTextEdit="1"/>
              </p:cNvSpPr>
              <p:nvPr/>
            </p:nvSpPr>
            <p:spPr bwMode="auto">
              <a:xfrm>
                <a:off x="3953" y="4989"/>
                <a:ext cx="2387" cy="2169"/>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8" name="Rectangle 23"/>
              <p:cNvSpPr>
                <a:spLocks noChangeArrowheads="1"/>
              </p:cNvSpPr>
              <p:nvPr/>
            </p:nvSpPr>
            <p:spPr bwMode="auto">
              <a:xfrm>
                <a:off x="4480" y="5580"/>
                <a:ext cx="1134" cy="1134"/>
              </a:xfrm>
              <a:prstGeom prst="rect">
                <a:avLst/>
              </a:prstGeom>
              <a:solidFill>
                <a:srgbClr val="92D05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9" name="Oval 22"/>
              <p:cNvSpPr>
                <a:spLocks noChangeArrowheads="1"/>
              </p:cNvSpPr>
              <p:nvPr/>
            </p:nvSpPr>
            <p:spPr bwMode="auto">
              <a:xfrm>
                <a:off x="4480" y="5580"/>
                <a:ext cx="1134" cy="1134"/>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0" name="AutoShape 21"/>
              <p:cNvSpPr>
                <a:spLocks noChangeShapeType="1"/>
              </p:cNvSpPr>
              <p:nvPr/>
            </p:nvSpPr>
            <p:spPr bwMode="auto">
              <a:xfrm flipV="1">
                <a:off x="3961" y="6130"/>
                <a:ext cx="2209" cy="1"/>
              </a:xfrm>
              <a:prstGeom prst="straightConnector1">
                <a:avLst/>
              </a:prstGeom>
              <a:noFill/>
              <a:ln w="9525">
                <a:solidFill>
                  <a:srgbClr val="000000"/>
                </a:solidFill>
                <a:round/>
                <a:headEnd/>
                <a:tailEnd type="arrow" w="med" len="med"/>
              </a:ln>
            </p:spPr>
            <p:txBody>
              <a:bodyPr vert="horz" wrap="square" lIns="91440" tIns="45720" rIns="91440" bIns="45720" numCol="1" anchor="t" anchorCtr="0" compatLnSpc="1">
                <a:prstTxWarp prst="textNoShape">
                  <a:avLst/>
                </a:prstTxWarp>
              </a:bodyPr>
              <a:lstStyle/>
              <a:p>
                <a:endParaRPr lang="zh-CN" altLang="en-US"/>
              </a:p>
            </p:txBody>
          </p:sp>
          <p:sp>
            <p:nvSpPr>
              <p:cNvPr id="11" name="AutoShape 20"/>
              <p:cNvSpPr>
                <a:spLocks noChangeShapeType="1"/>
              </p:cNvSpPr>
              <p:nvPr/>
            </p:nvSpPr>
            <p:spPr bwMode="auto">
              <a:xfrm flipV="1">
                <a:off x="5070" y="5019"/>
                <a:ext cx="2" cy="2131"/>
              </a:xfrm>
              <a:prstGeom prst="straightConnector1">
                <a:avLst/>
              </a:prstGeom>
              <a:noFill/>
              <a:ln w="9525">
                <a:solidFill>
                  <a:srgbClr val="000000"/>
                </a:solidFill>
                <a:round/>
                <a:headEnd/>
                <a:tailEnd type="arrow" w="med" len="med"/>
              </a:ln>
            </p:spPr>
            <p:txBody>
              <a:bodyPr vert="horz" wrap="square" lIns="91440" tIns="45720" rIns="91440" bIns="45720" numCol="1" anchor="t" anchorCtr="0" compatLnSpc="1">
                <a:prstTxWarp prst="textNoShape">
                  <a:avLst/>
                </a:prstTxWarp>
              </a:bodyPr>
              <a:lstStyle/>
              <a:p>
                <a:endParaRPr lang="zh-CN" altLang="en-US"/>
              </a:p>
            </p:txBody>
          </p:sp>
          <p:sp>
            <p:nvSpPr>
              <p:cNvPr id="12" name="Rectangle 19"/>
              <p:cNvSpPr>
                <a:spLocks noChangeArrowheads="1"/>
              </p:cNvSpPr>
              <p:nvPr/>
            </p:nvSpPr>
            <p:spPr bwMode="auto">
              <a:xfrm>
                <a:off x="5690" y="6180"/>
                <a:ext cx="100" cy="19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6600"/>
                    </a:solidFill>
                    <a:effectLst/>
                    <a:latin typeface="Times New Roman" pitchFamily="18" charset="0"/>
                    <a:ea typeface="宋体" pitchFamily="2" charset="-122"/>
                    <a:cs typeface="Times New Roman" pitchFamily="18" charset="0"/>
                  </a:rPr>
                  <a:t>1</a:t>
                </a:r>
                <a:endParaRPr kumimoji="0" lang="en-US" altLang="zh-CN" sz="1600" b="0" i="0" u="none" strike="noStrike" cap="none" normalizeH="0" baseline="0">
                  <a:ln>
                    <a:noFill/>
                  </a:ln>
                  <a:solidFill>
                    <a:srgbClr val="006600"/>
                  </a:solidFill>
                  <a:effectLst/>
                  <a:latin typeface="Arial" pitchFamily="34" charset="0"/>
                  <a:ea typeface="宋体" pitchFamily="2" charset="-122"/>
                  <a:cs typeface="宋体" pitchFamily="2" charset="-122"/>
                </a:endParaRPr>
              </a:p>
            </p:txBody>
          </p:sp>
          <p:sp>
            <p:nvSpPr>
              <p:cNvPr id="13" name="Rectangle 18"/>
              <p:cNvSpPr>
                <a:spLocks noChangeArrowheads="1"/>
              </p:cNvSpPr>
              <p:nvPr/>
            </p:nvSpPr>
            <p:spPr bwMode="auto">
              <a:xfrm>
                <a:off x="4200" y="6190"/>
                <a:ext cx="230" cy="18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6600"/>
                    </a:solidFill>
                    <a:effectLst/>
                    <a:latin typeface="宋体" pitchFamily="2" charset="-122"/>
                    <a:ea typeface="宋体" pitchFamily="2" charset="-122"/>
                    <a:cs typeface="Times New Roman" pitchFamily="18" charset="0"/>
                  </a:rPr>
                  <a:t>-</a:t>
                </a:r>
                <a:r>
                  <a:rPr kumimoji="0" lang="en-US" altLang="zh-CN" sz="1600" b="0" i="0" u="none" strike="noStrike" cap="none" normalizeH="0" baseline="0">
                    <a:ln>
                      <a:noFill/>
                    </a:ln>
                    <a:solidFill>
                      <a:srgbClr val="006600"/>
                    </a:solidFill>
                    <a:effectLst/>
                    <a:latin typeface="Times New Roman" pitchFamily="18" charset="0"/>
                    <a:ea typeface="宋体" pitchFamily="2" charset="-122"/>
                    <a:cs typeface="Times New Roman" pitchFamily="18" charset="0"/>
                  </a:rPr>
                  <a:t>1</a:t>
                </a:r>
                <a:endParaRPr kumimoji="0" lang="en-US" altLang="zh-CN" sz="1600" b="0" i="0" u="none" strike="noStrike" cap="none" normalizeH="0" baseline="0">
                  <a:ln>
                    <a:noFill/>
                  </a:ln>
                  <a:solidFill>
                    <a:srgbClr val="006600"/>
                  </a:solidFill>
                  <a:effectLst/>
                  <a:latin typeface="Arial" pitchFamily="34" charset="0"/>
                  <a:ea typeface="宋体" pitchFamily="2" charset="-122"/>
                  <a:cs typeface="宋体" pitchFamily="2" charset="-122"/>
                </a:endParaRPr>
              </a:p>
            </p:txBody>
          </p:sp>
          <p:sp>
            <p:nvSpPr>
              <p:cNvPr id="14" name="Rectangle 17"/>
              <p:cNvSpPr>
                <a:spLocks noChangeArrowheads="1"/>
              </p:cNvSpPr>
              <p:nvPr/>
            </p:nvSpPr>
            <p:spPr bwMode="auto">
              <a:xfrm>
                <a:off x="6240" y="6030"/>
                <a:ext cx="100" cy="19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800" i="1" u="none" strike="noStrike" cap="none" normalizeH="0" baseline="0">
                    <a:ln>
                      <a:noFill/>
                    </a:ln>
                    <a:solidFill>
                      <a:srgbClr val="FF0000"/>
                    </a:solidFill>
                    <a:effectLst/>
                    <a:latin typeface="Times New Roman" pitchFamily="18" charset="0"/>
                    <a:ea typeface="宋体" pitchFamily="2" charset="-122"/>
                    <a:cs typeface="Times New Roman" pitchFamily="18" charset="0"/>
                  </a:rPr>
                  <a:t>x</a:t>
                </a:r>
                <a:endParaRPr kumimoji="0" lang="en-US" altLang="zh-CN" sz="1800" i="0" u="none" strike="noStrike" cap="none" normalizeH="0" baseline="0">
                  <a:ln>
                    <a:noFill/>
                  </a:ln>
                  <a:solidFill>
                    <a:srgbClr val="FF0000"/>
                  </a:solidFill>
                  <a:effectLst/>
                  <a:latin typeface="Arial" pitchFamily="34" charset="0"/>
                  <a:ea typeface="宋体" pitchFamily="2" charset="-122"/>
                  <a:cs typeface="宋体" pitchFamily="2" charset="-122"/>
                </a:endParaRPr>
              </a:p>
            </p:txBody>
          </p:sp>
          <p:sp>
            <p:nvSpPr>
              <p:cNvPr id="15" name="Rectangle 16"/>
              <p:cNvSpPr>
                <a:spLocks noChangeArrowheads="1"/>
              </p:cNvSpPr>
              <p:nvPr/>
            </p:nvSpPr>
            <p:spPr bwMode="auto">
              <a:xfrm>
                <a:off x="5202" y="4989"/>
                <a:ext cx="100" cy="19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800" i="1" u="none" strike="noStrike" cap="none" normalizeH="0" baseline="0">
                    <a:ln>
                      <a:noFill/>
                    </a:ln>
                    <a:solidFill>
                      <a:srgbClr val="FF0000"/>
                    </a:solidFill>
                    <a:effectLst/>
                    <a:latin typeface="Times New Roman" pitchFamily="18" charset="0"/>
                    <a:ea typeface="宋体" pitchFamily="2" charset="-122"/>
                    <a:cs typeface="Times New Roman" pitchFamily="18" charset="0"/>
                  </a:rPr>
                  <a:t>y</a:t>
                </a:r>
                <a:endParaRPr kumimoji="0" lang="en-US" altLang="zh-CN" sz="1800" i="0" u="none" strike="noStrike" cap="none" normalizeH="0" baseline="0">
                  <a:ln>
                    <a:noFill/>
                  </a:ln>
                  <a:solidFill>
                    <a:srgbClr val="FF0000"/>
                  </a:solidFill>
                  <a:effectLst/>
                  <a:latin typeface="Arial" pitchFamily="34" charset="0"/>
                  <a:ea typeface="宋体" pitchFamily="2" charset="-122"/>
                  <a:cs typeface="宋体" pitchFamily="2" charset="-122"/>
                </a:endParaRPr>
              </a:p>
            </p:txBody>
          </p:sp>
          <p:sp>
            <p:nvSpPr>
              <p:cNvPr id="17" name="Oval 15"/>
              <p:cNvSpPr>
                <a:spLocks noChangeArrowheads="1"/>
              </p:cNvSpPr>
              <p:nvPr/>
            </p:nvSpPr>
            <p:spPr bwMode="auto">
              <a:xfrm>
                <a:off x="4680" y="5840"/>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8" name="Oval 14"/>
              <p:cNvSpPr>
                <a:spLocks noChangeArrowheads="1"/>
              </p:cNvSpPr>
              <p:nvPr/>
            </p:nvSpPr>
            <p:spPr bwMode="auto">
              <a:xfrm>
                <a:off x="4920" y="6240"/>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9" name="Oval 13"/>
              <p:cNvSpPr>
                <a:spLocks noChangeArrowheads="1"/>
              </p:cNvSpPr>
              <p:nvPr/>
            </p:nvSpPr>
            <p:spPr bwMode="auto">
              <a:xfrm>
                <a:off x="4830" y="6480"/>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0" name="Oval 12"/>
              <p:cNvSpPr>
                <a:spLocks noChangeArrowheads="1"/>
              </p:cNvSpPr>
              <p:nvPr/>
            </p:nvSpPr>
            <p:spPr bwMode="auto">
              <a:xfrm>
                <a:off x="5190" y="6360"/>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1" name="Oval 11"/>
              <p:cNvSpPr>
                <a:spLocks noChangeArrowheads="1"/>
              </p:cNvSpPr>
              <p:nvPr/>
            </p:nvSpPr>
            <p:spPr bwMode="auto">
              <a:xfrm>
                <a:off x="5390" y="6280"/>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2" name="Oval 10"/>
              <p:cNvSpPr>
                <a:spLocks noChangeArrowheads="1"/>
              </p:cNvSpPr>
              <p:nvPr/>
            </p:nvSpPr>
            <p:spPr bwMode="auto">
              <a:xfrm>
                <a:off x="5520" y="6480"/>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3" name="Oval 9"/>
              <p:cNvSpPr>
                <a:spLocks noChangeArrowheads="1"/>
              </p:cNvSpPr>
              <p:nvPr/>
            </p:nvSpPr>
            <p:spPr bwMode="auto">
              <a:xfrm>
                <a:off x="5440" y="6580"/>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4" name="Oval 8"/>
              <p:cNvSpPr>
                <a:spLocks noChangeArrowheads="1"/>
              </p:cNvSpPr>
              <p:nvPr/>
            </p:nvSpPr>
            <p:spPr bwMode="auto">
              <a:xfrm>
                <a:off x="5480" y="5660"/>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5" name="Oval 7"/>
              <p:cNvSpPr>
                <a:spLocks noChangeArrowheads="1"/>
              </p:cNvSpPr>
              <p:nvPr/>
            </p:nvSpPr>
            <p:spPr bwMode="auto">
              <a:xfrm>
                <a:off x="5260" y="5900"/>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6" name="Oval 6"/>
              <p:cNvSpPr>
                <a:spLocks noChangeArrowheads="1"/>
              </p:cNvSpPr>
              <p:nvPr/>
            </p:nvSpPr>
            <p:spPr bwMode="auto">
              <a:xfrm>
                <a:off x="4520" y="5720"/>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7" name="Oval 5"/>
              <p:cNvSpPr>
                <a:spLocks noChangeArrowheads="1"/>
              </p:cNvSpPr>
              <p:nvPr/>
            </p:nvSpPr>
            <p:spPr bwMode="auto">
              <a:xfrm>
                <a:off x="4580" y="5620"/>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8" name="Oval 4"/>
              <p:cNvSpPr>
                <a:spLocks noChangeArrowheads="1"/>
              </p:cNvSpPr>
              <p:nvPr/>
            </p:nvSpPr>
            <p:spPr bwMode="auto">
              <a:xfrm>
                <a:off x="4530" y="6560"/>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9" name="Oval 3"/>
              <p:cNvSpPr>
                <a:spLocks noChangeArrowheads="1"/>
              </p:cNvSpPr>
              <p:nvPr/>
            </p:nvSpPr>
            <p:spPr bwMode="auto">
              <a:xfrm>
                <a:off x="4830" y="5940"/>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0" name="Oval 2"/>
              <p:cNvSpPr>
                <a:spLocks noChangeArrowheads="1"/>
              </p:cNvSpPr>
              <p:nvPr/>
            </p:nvSpPr>
            <p:spPr bwMode="auto">
              <a:xfrm>
                <a:off x="4670" y="6240"/>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cxnSp>
          <p:nvCxnSpPr>
            <p:cNvPr id="32" name="直接箭头连接符 31"/>
            <p:cNvCxnSpPr/>
            <p:nvPr/>
          </p:nvCxnSpPr>
          <p:spPr>
            <a:xfrm rot="10800000" flipV="1">
              <a:off x="5000628" y="4572008"/>
              <a:ext cx="857256" cy="357190"/>
            </a:xfrm>
            <a:prstGeom prst="straightConnector1">
              <a:avLst/>
            </a:prstGeom>
            <a:ln w="19050">
              <a:solidFill>
                <a:srgbClr val="FF00FF"/>
              </a:solidFill>
              <a:tailEnd type="arrow"/>
            </a:ln>
          </p:spPr>
          <p:style>
            <a:lnRef idx="2">
              <a:schemeClr val="dk1"/>
            </a:lnRef>
            <a:fillRef idx="0">
              <a:schemeClr val="dk1"/>
            </a:fillRef>
            <a:effectRef idx="1">
              <a:schemeClr val="dk1"/>
            </a:effectRef>
            <a:fontRef idx="minor">
              <a:schemeClr val="tx1"/>
            </a:fontRef>
          </p:style>
        </p:cxnSp>
        <p:sp>
          <p:nvSpPr>
            <p:cNvPr id="33" name="TextBox 32"/>
            <p:cNvSpPr txBox="1"/>
            <p:nvPr/>
          </p:nvSpPr>
          <p:spPr>
            <a:xfrm>
              <a:off x="5786446" y="4314774"/>
              <a:ext cx="1571636"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itchFamily="49" charset="0"/>
                  <a:ea typeface="仿宋" pitchFamily="49" charset="-122"/>
                </a:rPr>
                <a:t>右上角象限</a:t>
              </a:r>
              <a:endParaRPr lang="zh-CN" altLang="en-US" sz="2000">
                <a:solidFill>
                  <a:srgbClr val="0000FF"/>
                </a:solidFill>
                <a:latin typeface="Consolas" pitchFamily="49" charset="0"/>
                <a:ea typeface="楷体" pitchFamily="49" charset="-122"/>
                <a:cs typeface="Consolas" pitchFamily="49" charset="0"/>
              </a:endParaRPr>
            </a:p>
          </p:txBody>
        </p:sp>
      </p:grpSp>
      <p:sp>
        <p:nvSpPr>
          <p:cNvPr id="35" name="灯片编号占位符 34"/>
          <p:cNvSpPr>
            <a:spLocks noGrp="1"/>
          </p:cNvSpPr>
          <p:nvPr>
            <p:ph type="sldNum" sz="quarter" idx="12"/>
          </p:nvPr>
        </p:nvSpPr>
        <p:spPr/>
        <p:txBody>
          <a:bodyPr/>
          <a:lstStyle/>
          <a:p>
            <a:fld id="{7AF016A1-9F15-429F-9EFD-84004B73C732}" type="slidenum">
              <a:rPr lang="en-US" altLang="zh-CN" smtClean="0"/>
              <a:pPr/>
              <a:t>9</a:t>
            </a:fld>
            <a:r>
              <a:rPr lang="en-US" altLang="zh-CN"/>
              <a:t>/75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357158" y="785794"/>
            <a:ext cx="8215370" cy="435251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700"/>
              </a:lnSpc>
              <a:spcBef>
                <a:spcPts val="0"/>
              </a:spcBef>
            </a:pPr>
            <a:r>
              <a:rPr lang="en-US" altLang="zh-CN" sz="2000">
                <a:solidFill>
                  <a:srgbClr val="0000FF"/>
                </a:solidFill>
                <a:latin typeface="Consolas" pitchFamily="49" charset="0"/>
                <a:ea typeface="仿宋" pitchFamily="49" charset="-122"/>
              </a:rPr>
              <a:t>double </a:t>
            </a:r>
            <a:r>
              <a:rPr lang="en-US" altLang="zh-CN" sz="2000">
                <a:solidFill>
                  <a:srgbClr val="FF0000"/>
                </a:solidFill>
                <a:latin typeface="Consolas" pitchFamily="49" charset="0"/>
                <a:ea typeface="仿宋" pitchFamily="49" charset="-122"/>
              </a:rPr>
              <a:t>solve</a:t>
            </a:r>
            <a:r>
              <a:rPr lang="en-US" altLang="zh-CN" sz="2000">
                <a:solidFill>
                  <a:srgbClr val="0000FF"/>
                </a:solidFill>
                <a:latin typeface="Consolas" pitchFamily="49" charset="0"/>
                <a:ea typeface="仿宋" pitchFamily="49" charset="-122"/>
              </a:rPr>
              <a:t>() {								</a:t>
            </a: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求π的</a:t>
            </a:r>
            <a:r>
              <a:rPr lang="zh-CN" altLang="en-US" sz="2000">
                <a:solidFill>
                  <a:srgbClr val="00B050"/>
                </a:solidFill>
                <a:latin typeface="Consolas" pitchFamily="49" charset="0"/>
                <a:ea typeface="仿宋" pitchFamily="49" charset="-122"/>
              </a:rPr>
              <a:t>概率</a:t>
            </a:r>
            <a:r>
              <a:rPr lang="zh-CN" altLang="zh-CN" sz="2000">
                <a:solidFill>
                  <a:srgbClr val="00B050"/>
                </a:solidFill>
                <a:latin typeface="Consolas" pitchFamily="49" charset="0"/>
                <a:ea typeface="仿宋" pitchFamily="49" charset="-122"/>
              </a:rPr>
              <a:t>算法</a:t>
            </a:r>
          </a:p>
          <a:p>
            <a:pPr algn="l" defTabSz="360000">
              <a:lnSpc>
                <a:spcPts val="2700"/>
              </a:lnSpc>
              <a:spcBef>
                <a:spcPts val="0"/>
              </a:spcBef>
            </a:pPr>
            <a:r>
              <a:rPr lang="en-US" altLang="zh-CN" sz="2000">
                <a:solidFill>
                  <a:srgbClr val="0000FF"/>
                </a:solidFill>
                <a:latin typeface="Consolas" pitchFamily="49" charset="0"/>
                <a:ea typeface="仿宋" pitchFamily="49" charset="-122"/>
              </a:rPr>
              <a:t>	srand((unsigned)time(NULL));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随机种子</a:t>
            </a:r>
          </a:p>
          <a:p>
            <a:pPr algn="l" defTabSz="360000">
              <a:lnSpc>
                <a:spcPts val="2700"/>
              </a:lnSpc>
              <a:spcBef>
                <a:spcPts val="0"/>
              </a:spcBef>
            </a:pPr>
            <a:r>
              <a:rPr lang="en-US" altLang="zh-CN" sz="2000">
                <a:solidFill>
                  <a:srgbClr val="0000FF"/>
                </a:solidFill>
                <a:latin typeface="Consolas" pitchFamily="49" charset="0"/>
                <a:ea typeface="仿宋" pitchFamily="49" charset="-122"/>
              </a:rPr>
              <a:t>	int </a:t>
            </a:r>
            <a:r>
              <a:rPr lang="en-US" altLang="zh-CN" sz="2000">
                <a:solidFill>
                  <a:srgbClr val="006600"/>
                </a:solidFill>
                <a:latin typeface="Consolas" pitchFamily="49" charset="0"/>
                <a:ea typeface="仿宋" pitchFamily="49" charset="-122"/>
              </a:rPr>
              <a:t>n=10000</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int m=0;</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double x,y;</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for (int i=1;i&lt;=</a:t>
            </a:r>
            <a:r>
              <a:rPr lang="en-US" altLang="zh-CN" sz="2000">
                <a:solidFill>
                  <a:srgbClr val="006600"/>
                </a:solidFill>
                <a:latin typeface="Consolas" pitchFamily="49" charset="0"/>
                <a:ea typeface="仿宋" pitchFamily="49" charset="-122"/>
              </a:rPr>
              <a:t>n</a:t>
            </a:r>
            <a:r>
              <a:rPr lang="en-US" altLang="zh-CN" sz="2000">
                <a:solidFill>
                  <a:srgbClr val="0000FF"/>
                </a:solidFill>
                <a:latin typeface="Consolas" pitchFamily="49" charset="0"/>
                <a:ea typeface="仿宋" pitchFamily="49" charset="-122"/>
              </a:rPr>
              <a:t>;i++)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x=</a:t>
            </a:r>
            <a:r>
              <a:rPr lang="en-US" altLang="zh-CN" sz="2000">
                <a:solidFill>
                  <a:srgbClr val="FF0000"/>
                </a:solidFill>
                <a:latin typeface="Consolas" pitchFamily="49" charset="0"/>
                <a:ea typeface="仿宋" pitchFamily="49" charset="-122"/>
              </a:rPr>
              <a:t>rand01</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y=</a:t>
            </a:r>
            <a:r>
              <a:rPr lang="en-US" altLang="zh-CN" sz="2000">
                <a:solidFill>
                  <a:srgbClr val="FF0000"/>
                </a:solidFill>
                <a:latin typeface="Consolas" pitchFamily="49" charset="0"/>
                <a:ea typeface="仿宋" pitchFamily="49" charset="-122"/>
              </a:rPr>
              <a:t>rand01</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x*x+y*y&lt;=1.0</a:t>
            </a:r>
            <a:r>
              <a:rPr lang="en-US" altLang="zh-CN" sz="2000">
                <a:solidFill>
                  <a:srgbClr val="0000FF"/>
                </a:solidFill>
                <a:latin typeface="Consolas" pitchFamily="49" charset="0"/>
                <a:ea typeface="仿宋" pitchFamily="49" charset="-122"/>
              </a:rPr>
              <a:t>) m++;</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return 4.0*m/n;</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10</a:t>
            </a:fld>
            <a:r>
              <a:rPr lang="en-US" altLang="zh-CN"/>
              <a:t>/75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428596" y="1142984"/>
            <a:ext cx="8143932" cy="1400383"/>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000"/>
              </a:lnSpc>
              <a:spcBef>
                <a:spcPts val="1200"/>
              </a:spcBef>
              <a:buBlip>
                <a:blip r:embed="rId2"/>
              </a:buBlip>
            </a:pPr>
            <a:r>
              <a:rPr lang="zh-CN" altLang="zh-CN">
                <a:solidFill>
                  <a:srgbClr val="0000FF"/>
                </a:solidFill>
                <a:latin typeface="Consolas" pitchFamily="49" charset="0"/>
                <a:ea typeface="仿宋" pitchFamily="49" charset="-122"/>
              </a:rPr>
              <a:t>执行</a:t>
            </a:r>
            <a:r>
              <a:rPr lang="en-US" altLang="zh-CN">
                <a:solidFill>
                  <a:srgbClr val="0000FF"/>
                </a:solidFill>
                <a:latin typeface="Consolas" pitchFamily="49" charset="0"/>
                <a:ea typeface="仿宋" pitchFamily="49" charset="-122"/>
              </a:rPr>
              <a:t>5</a:t>
            </a:r>
            <a:r>
              <a:rPr lang="zh-CN" altLang="zh-CN">
                <a:solidFill>
                  <a:srgbClr val="0000FF"/>
                </a:solidFill>
                <a:latin typeface="Consolas" pitchFamily="49" charset="0"/>
                <a:ea typeface="仿宋" pitchFamily="49" charset="-122"/>
              </a:rPr>
              <a:t>次返回的结果分别是</a:t>
            </a:r>
            <a:r>
              <a:rPr lang="en-US" altLang="zh-CN">
                <a:solidFill>
                  <a:srgbClr val="0000FF"/>
                </a:solidFill>
                <a:latin typeface="Consolas" pitchFamily="49" charset="0"/>
                <a:ea typeface="仿宋" pitchFamily="49" charset="-122"/>
              </a:rPr>
              <a:t>3.1132</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3.1416</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3.1272</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3.0936</a:t>
            </a:r>
            <a:r>
              <a:rPr lang="zh-CN" altLang="zh-CN">
                <a:solidFill>
                  <a:srgbClr val="0000FF"/>
                </a:solidFill>
                <a:latin typeface="Consolas" pitchFamily="49" charset="0"/>
                <a:ea typeface="仿宋" pitchFamily="49" charset="-122"/>
              </a:rPr>
              <a:t>和</a:t>
            </a:r>
            <a:r>
              <a:rPr lang="en-US" altLang="zh-CN">
                <a:solidFill>
                  <a:srgbClr val="0000FF"/>
                </a:solidFill>
                <a:latin typeface="Consolas" pitchFamily="49" charset="0"/>
                <a:ea typeface="仿宋" pitchFamily="49" charset="-122"/>
              </a:rPr>
              <a:t>3.1492</a:t>
            </a:r>
            <a:r>
              <a:rPr lang="zh-CN" altLang="zh-CN">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000"/>
              </a:lnSpc>
              <a:spcBef>
                <a:spcPts val="1200"/>
              </a:spcBef>
              <a:buBlip>
                <a:blip r:embed="rId2"/>
              </a:buBlip>
            </a:pPr>
            <a:r>
              <a:rPr lang="zh-CN" altLang="zh-CN">
                <a:solidFill>
                  <a:srgbClr val="0000FF"/>
                </a:solidFill>
                <a:latin typeface="Consolas" pitchFamily="49" charset="0"/>
                <a:ea typeface="仿宋" pitchFamily="49" charset="-122"/>
              </a:rPr>
              <a:t>从中看出，每次的执行结果依赖于</a:t>
            </a:r>
            <a:r>
              <a:rPr lang="en-US" altLang="zh-CN">
                <a:solidFill>
                  <a:srgbClr val="0000FF"/>
                </a:solidFill>
                <a:latin typeface="Consolas" pitchFamily="49" charset="0"/>
                <a:ea typeface="仿宋" pitchFamily="49" charset="-122"/>
              </a:rPr>
              <a:t>rand01()</a:t>
            </a:r>
            <a:r>
              <a:rPr lang="zh-CN" altLang="zh-CN">
                <a:solidFill>
                  <a:srgbClr val="0000FF"/>
                </a:solidFill>
                <a:latin typeface="Consolas" pitchFamily="49" charset="0"/>
                <a:ea typeface="仿宋" pitchFamily="49" charset="-122"/>
              </a:rPr>
              <a:t>随机函数</a:t>
            </a:r>
            <a:r>
              <a:rPr lang="zh-CN" altLang="en-US">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11</a:t>
            </a:fld>
            <a:r>
              <a:rPr lang="en-US" altLang="zh-CN"/>
              <a:t>/75</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428596" y="357166"/>
            <a:ext cx="4857784"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12.1.3 </a:t>
            </a:r>
            <a:r>
              <a:rPr lang="zh-CN" altLang="zh-CN" sz="2800">
                <a:latin typeface="Consolas" pitchFamily="49" charset="0"/>
                <a:ea typeface="微软雅黑" pitchFamily="34" charset="-122"/>
              </a:rPr>
              <a:t>蒙特卡罗概率算法</a:t>
            </a:r>
            <a:endParaRPr lang="zh-CN"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5" name="TextBox 4"/>
          <p:cNvSpPr txBox="1"/>
          <p:nvPr/>
        </p:nvSpPr>
        <p:spPr>
          <a:xfrm>
            <a:off x="714348" y="1214422"/>
            <a:ext cx="7858180" cy="4247317"/>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2"/>
              </a:buBlip>
            </a:pPr>
            <a:r>
              <a:rPr lang="zh-CN" altLang="zh-CN">
                <a:solidFill>
                  <a:srgbClr val="0000FF"/>
                </a:solidFill>
                <a:latin typeface="Consolas" pitchFamily="49" charset="0"/>
                <a:ea typeface="仿宋" pitchFamily="49" charset="-122"/>
              </a:rPr>
              <a:t>蒙特卡罗（</a:t>
            </a:r>
            <a:r>
              <a:rPr lang="en-US" altLang="zh-CN">
                <a:solidFill>
                  <a:srgbClr val="0000FF"/>
                </a:solidFill>
                <a:latin typeface="Consolas" pitchFamily="49" charset="0"/>
                <a:ea typeface="仿宋" pitchFamily="49" charset="-122"/>
              </a:rPr>
              <a:t>Monte Carlo</a:t>
            </a:r>
            <a:r>
              <a:rPr lang="zh-CN" altLang="zh-CN">
                <a:solidFill>
                  <a:srgbClr val="0000FF"/>
                </a:solidFill>
                <a:latin typeface="Consolas" pitchFamily="49" charset="0"/>
                <a:ea typeface="仿宋" pitchFamily="49" charset="-122"/>
              </a:rPr>
              <a:t>）算法在一般情况下可以保证对问题的所有实例都以</a:t>
            </a:r>
            <a:r>
              <a:rPr lang="zh-CN" altLang="zh-CN">
                <a:solidFill>
                  <a:srgbClr val="FF0000"/>
                </a:solidFill>
                <a:latin typeface="Consolas" pitchFamily="49" charset="0"/>
                <a:ea typeface="仿宋" pitchFamily="49" charset="-122"/>
              </a:rPr>
              <a:t>高概率</a:t>
            </a:r>
            <a:r>
              <a:rPr lang="zh-CN" altLang="zh-CN">
                <a:solidFill>
                  <a:srgbClr val="0000FF"/>
                </a:solidFill>
                <a:latin typeface="Consolas" pitchFamily="49" charset="0"/>
                <a:ea typeface="仿宋" pitchFamily="49" charset="-122"/>
              </a:rPr>
              <a:t>给出正确的解</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2"/>
              </a:buBlip>
            </a:pPr>
            <a:r>
              <a:rPr lang="zh-CN" altLang="zh-CN">
                <a:solidFill>
                  <a:srgbClr val="0000FF"/>
                </a:solidFill>
                <a:latin typeface="Consolas" pitchFamily="49" charset="0"/>
                <a:ea typeface="仿宋" pitchFamily="49" charset="-122"/>
              </a:rPr>
              <a:t>但无法</a:t>
            </a:r>
            <a:r>
              <a:rPr lang="zh-CN" altLang="zh-CN">
                <a:solidFill>
                  <a:srgbClr val="FF0000"/>
                </a:solidFill>
                <a:latin typeface="Consolas" pitchFamily="49" charset="0"/>
                <a:ea typeface="仿宋" pitchFamily="49" charset="-122"/>
              </a:rPr>
              <a:t>判定一个具体解是否正确</a:t>
            </a:r>
            <a:r>
              <a:rPr lang="zh-CN" altLang="zh-CN">
                <a:solidFill>
                  <a:srgbClr val="0000FF"/>
                </a:solidFill>
                <a:latin typeface="Consolas" pitchFamily="49" charset="0"/>
                <a:ea typeface="仿宋" pitchFamily="49" charset="-122"/>
              </a:rPr>
              <a:t>，或者说蒙特卡罗算法能够求得问题的一个解，但这个解未必是正确的。</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2"/>
              </a:buBlip>
            </a:pPr>
            <a:r>
              <a:rPr lang="zh-CN" altLang="zh-CN">
                <a:solidFill>
                  <a:srgbClr val="0000FF"/>
                </a:solidFill>
                <a:latin typeface="Consolas" pitchFamily="49" charset="0"/>
                <a:ea typeface="仿宋" pitchFamily="49" charset="-122"/>
              </a:rPr>
              <a:t>如果对于同一个实例，蒙特卡罗算法不会给出两个不同的正确解答，则称该蒙特卡罗算法是</a:t>
            </a:r>
            <a:r>
              <a:rPr lang="zh-CN" altLang="zh-CN">
                <a:solidFill>
                  <a:srgbClr val="FF0000"/>
                </a:solidFill>
                <a:latin typeface="Consolas" pitchFamily="49" charset="0"/>
                <a:ea typeface="仿宋" pitchFamily="49" charset="-122"/>
              </a:rPr>
              <a:t>一致的</a:t>
            </a:r>
            <a:r>
              <a:rPr lang="zh-CN" altLang="zh-CN">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2"/>
              </a:buBlip>
            </a:pPr>
            <a:r>
              <a:rPr lang="zh-CN" altLang="zh-CN">
                <a:solidFill>
                  <a:srgbClr val="0000FF"/>
                </a:solidFill>
                <a:latin typeface="Consolas" pitchFamily="49" charset="0"/>
                <a:ea typeface="仿宋" pitchFamily="49" charset="-122"/>
              </a:rPr>
              <a:t>设</a:t>
            </a:r>
            <a:r>
              <a:rPr lang="en-US" altLang="zh-CN" i="1">
                <a:solidFill>
                  <a:srgbClr val="0000FF"/>
                </a:solidFill>
                <a:latin typeface="Consolas" pitchFamily="49" charset="0"/>
                <a:ea typeface="仿宋" pitchFamily="49" charset="-122"/>
              </a:rPr>
              <a:t>p</a:t>
            </a:r>
            <a:r>
              <a:rPr lang="zh-CN" altLang="zh-CN">
                <a:solidFill>
                  <a:srgbClr val="0000FF"/>
                </a:solidFill>
                <a:latin typeface="Consolas" pitchFamily="49" charset="0"/>
                <a:ea typeface="仿宋" pitchFamily="49" charset="-122"/>
              </a:rPr>
              <a:t>是一个实数，且</a:t>
            </a:r>
            <a:r>
              <a:rPr lang="en-US" altLang="zh-CN">
                <a:solidFill>
                  <a:srgbClr val="0000FF"/>
                </a:solidFill>
                <a:latin typeface="Consolas" pitchFamily="49" charset="0"/>
                <a:ea typeface="仿宋" pitchFamily="49" charset="-122"/>
              </a:rPr>
              <a:t>1/2&lt;</a:t>
            </a:r>
            <a:r>
              <a:rPr lang="en-US" altLang="zh-CN" i="1">
                <a:solidFill>
                  <a:srgbClr val="0000FF"/>
                </a:solidFill>
                <a:latin typeface="Consolas" pitchFamily="49" charset="0"/>
                <a:ea typeface="仿宋" pitchFamily="49" charset="-122"/>
              </a:rPr>
              <a:t>p</a:t>
            </a:r>
            <a:r>
              <a:rPr lang="en-US" altLang="zh-CN">
                <a:solidFill>
                  <a:srgbClr val="0000FF"/>
                </a:solidFill>
                <a:latin typeface="Consolas" pitchFamily="49" charset="0"/>
                <a:ea typeface="仿宋" pitchFamily="49" charset="-122"/>
              </a:rPr>
              <a:t>&lt;1</a:t>
            </a:r>
            <a:r>
              <a:rPr lang="zh-CN" altLang="zh-CN">
                <a:solidFill>
                  <a:srgbClr val="0000FF"/>
                </a:solidFill>
                <a:latin typeface="Consolas" pitchFamily="49" charset="0"/>
                <a:ea typeface="仿宋" pitchFamily="49" charset="-122"/>
              </a:rPr>
              <a:t>，如果一个蒙特卡罗算法对于问题的任一实例得到正确解的概率不小于</a:t>
            </a:r>
            <a:r>
              <a:rPr lang="en-US" altLang="zh-CN" i="1">
                <a:solidFill>
                  <a:srgbClr val="0000FF"/>
                </a:solidFill>
                <a:latin typeface="Consolas" pitchFamily="49" charset="0"/>
                <a:ea typeface="仿宋" pitchFamily="49" charset="-122"/>
              </a:rPr>
              <a:t>p</a:t>
            </a:r>
            <a:r>
              <a:rPr lang="zh-CN" altLang="zh-CN">
                <a:solidFill>
                  <a:srgbClr val="0000FF"/>
                </a:solidFill>
                <a:latin typeface="Consolas" pitchFamily="49" charset="0"/>
                <a:ea typeface="仿宋" pitchFamily="49" charset="-122"/>
              </a:rPr>
              <a:t>，则称蒙特卡罗算法是</a:t>
            </a:r>
            <a:r>
              <a:rPr lang="en-US" altLang="zh-CN" i="1">
                <a:solidFill>
                  <a:srgbClr val="FF0000"/>
                </a:solidFill>
                <a:latin typeface="Consolas" pitchFamily="49" charset="0"/>
                <a:ea typeface="仿宋" pitchFamily="49" charset="-122"/>
              </a:rPr>
              <a:t>p</a:t>
            </a:r>
            <a:r>
              <a:rPr lang="zh-CN" altLang="zh-CN">
                <a:solidFill>
                  <a:srgbClr val="FF0000"/>
                </a:solidFill>
                <a:latin typeface="Consolas" pitchFamily="49" charset="0"/>
                <a:ea typeface="仿宋" pitchFamily="49" charset="-122"/>
              </a:rPr>
              <a:t>正确的</a:t>
            </a:r>
            <a:r>
              <a:rPr lang="zh-CN" altLang="zh-CN">
                <a:solidFill>
                  <a:srgbClr val="0000FF"/>
                </a:solidFill>
                <a:latin typeface="Consolas" pitchFamily="49" charset="0"/>
                <a:ea typeface="仿宋" pitchFamily="49" charset="-122"/>
              </a:rPr>
              <a:t>，且称</a:t>
            </a:r>
            <a:r>
              <a:rPr lang="en-US" altLang="zh-CN" i="1">
                <a:solidFill>
                  <a:srgbClr val="0000FF"/>
                </a:solidFill>
                <a:latin typeface="Consolas" pitchFamily="49" charset="0"/>
                <a:ea typeface="仿宋" pitchFamily="49" charset="-122"/>
              </a:rPr>
              <a:t>p</a:t>
            </a:r>
            <a:r>
              <a:rPr lang="en-US" altLang="zh-CN">
                <a:solidFill>
                  <a:srgbClr val="0000FF"/>
                </a:solidFill>
                <a:latin typeface="Consolas" pitchFamily="49" charset="0"/>
                <a:ea typeface="仿宋" pitchFamily="49" charset="-122"/>
              </a:rPr>
              <a:t>-1/2</a:t>
            </a:r>
            <a:r>
              <a:rPr lang="zh-CN" altLang="zh-CN">
                <a:solidFill>
                  <a:srgbClr val="0000FF"/>
                </a:solidFill>
                <a:latin typeface="Consolas" pitchFamily="49" charset="0"/>
                <a:ea typeface="仿宋" pitchFamily="49" charset="-122"/>
              </a:rPr>
              <a:t>是该算法的优势。</a:t>
            </a:r>
            <a:endParaRPr lang="zh-CN" altLang="en-US">
              <a:solidFill>
                <a:srgbClr val="0000FF"/>
              </a:solidFill>
              <a:latin typeface="Consolas" pitchFamily="49" charset="0"/>
              <a:ea typeface="仿宋" pitchFamily="49" charset="-122"/>
              <a:cs typeface="Consolas"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12</a:t>
            </a:fld>
            <a:r>
              <a:rPr lang="en-US" altLang="zh-CN"/>
              <a:t>/75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500034" y="714356"/>
            <a:ext cx="8143932" cy="2451953"/>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2"/>
              </a:buBlip>
            </a:pPr>
            <a:r>
              <a:rPr lang="zh-CN" altLang="zh-CN">
                <a:solidFill>
                  <a:srgbClr val="0000FF"/>
                </a:solidFill>
                <a:latin typeface="Consolas" pitchFamily="49" charset="0"/>
                <a:ea typeface="仿宋" pitchFamily="49" charset="-122"/>
              </a:rPr>
              <a:t>设</a:t>
            </a:r>
            <a:r>
              <a:rPr lang="en-US" altLang="zh-CN">
                <a:solidFill>
                  <a:srgbClr val="0000FF"/>
                </a:solidFill>
                <a:latin typeface="Consolas" pitchFamily="49" charset="0"/>
                <a:ea typeface="仿宋" pitchFamily="49" charset="-122"/>
              </a:rPr>
              <a:t>MC(x)</a:t>
            </a:r>
            <a:r>
              <a:rPr lang="zh-CN" altLang="zh-CN">
                <a:solidFill>
                  <a:srgbClr val="0000FF"/>
                </a:solidFill>
                <a:latin typeface="Consolas" pitchFamily="49" charset="0"/>
                <a:ea typeface="仿宋" pitchFamily="49" charset="-122"/>
              </a:rPr>
              <a:t>是某个判定问题的蒙特卡罗算法。</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2"/>
              </a:buBlip>
            </a:pPr>
            <a:r>
              <a:rPr lang="en-US" altLang="zh-CN">
                <a:solidFill>
                  <a:srgbClr val="0000FF"/>
                </a:solidFill>
                <a:latin typeface="Consolas" pitchFamily="49" charset="0"/>
                <a:ea typeface="仿宋" pitchFamily="49" charset="-122"/>
              </a:rPr>
              <a:t>MC(x)</a:t>
            </a:r>
            <a:r>
              <a:rPr lang="zh-CN" altLang="zh-CN">
                <a:solidFill>
                  <a:srgbClr val="0000FF"/>
                </a:solidFill>
                <a:latin typeface="Consolas" pitchFamily="49" charset="0"/>
                <a:ea typeface="仿宋" pitchFamily="49" charset="-122"/>
              </a:rPr>
              <a:t>返回</a:t>
            </a:r>
            <a:r>
              <a:rPr lang="en-US" altLang="zh-CN">
                <a:solidFill>
                  <a:srgbClr val="0000FF"/>
                </a:solidFill>
                <a:latin typeface="Consolas" pitchFamily="49" charset="0"/>
                <a:ea typeface="仿宋" pitchFamily="49" charset="-122"/>
              </a:rPr>
              <a:t>true</a:t>
            </a:r>
            <a:r>
              <a:rPr lang="zh-CN" altLang="zh-CN">
                <a:solidFill>
                  <a:srgbClr val="0000FF"/>
                </a:solidFill>
                <a:latin typeface="Consolas" pitchFamily="49" charset="0"/>
                <a:ea typeface="仿宋" pitchFamily="49" charset="-122"/>
              </a:rPr>
              <a:t>时的解总是正确的，返回假时有可能产生错误解</a:t>
            </a:r>
            <a:r>
              <a:rPr lang="zh-CN" altLang="en-US">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则该</a:t>
            </a:r>
            <a:r>
              <a:rPr lang="en-US" altLang="zh-CN">
                <a:solidFill>
                  <a:srgbClr val="0000FF"/>
                </a:solidFill>
                <a:latin typeface="Consolas" pitchFamily="49" charset="0"/>
                <a:ea typeface="仿宋" pitchFamily="49" charset="-122"/>
              </a:rPr>
              <a:t>MC(x)</a:t>
            </a:r>
            <a:r>
              <a:rPr lang="zh-CN" altLang="zh-CN">
                <a:solidFill>
                  <a:srgbClr val="0000FF"/>
                </a:solidFill>
                <a:latin typeface="Consolas" pitchFamily="49" charset="0"/>
                <a:ea typeface="仿宋" pitchFamily="49" charset="-122"/>
              </a:rPr>
              <a:t>算法是</a:t>
            </a:r>
            <a:r>
              <a:rPr lang="zh-CN" altLang="zh-CN">
                <a:solidFill>
                  <a:srgbClr val="FF0000"/>
                </a:solidFill>
                <a:latin typeface="Consolas" pitchFamily="49" charset="0"/>
                <a:ea typeface="仿宋" pitchFamily="49" charset="-122"/>
              </a:rPr>
              <a:t>偏真的算法</a:t>
            </a:r>
            <a:r>
              <a:rPr lang="zh-CN" altLang="zh-CN">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2"/>
              </a:buBlip>
            </a:pPr>
            <a:r>
              <a:rPr lang="zh-CN" altLang="zh-CN">
                <a:solidFill>
                  <a:srgbClr val="0000FF"/>
                </a:solidFill>
                <a:latin typeface="Consolas" pitchFamily="49" charset="0"/>
                <a:ea typeface="仿宋" pitchFamily="49" charset="-122"/>
              </a:rPr>
              <a:t>多次调用一个偏真的蒙特卡罗算法，只要返回一次</a:t>
            </a:r>
            <a:r>
              <a:rPr lang="en-US" altLang="zh-CN">
                <a:solidFill>
                  <a:srgbClr val="0000FF"/>
                </a:solidFill>
                <a:latin typeface="Consolas" pitchFamily="49" charset="0"/>
                <a:ea typeface="仿宋" pitchFamily="49" charset="-122"/>
              </a:rPr>
              <a:t>true</a:t>
            </a:r>
            <a:r>
              <a:rPr lang="zh-CN" altLang="zh-CN">
                <a:solidFill>
                  <a:srgbClr val="0000FF"/>
                </a:solidFill>
                <a:latin typeface="Consolas" pitchFamily="49" charset="0"/>
                <a:ea typeface="仿宋" pitchFamily="49" charset="-122"/>
              </a:rPr>
              <a:t>就可得到正确解。</a:t>
            </a: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13</a:t>
            </a:fld>
            <a:r>
              <a:rPr lang="en-US" altLang="zh-CN"/>
              <a:t>/75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428596" y="2683633"/>
            <a:ext cx="8143932" cy="3285515"/>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00">
              <a:lnSpc>
                <a:spcPts val="3300"/>
              </a:lnSpc>
              <a:spcBef>
                <a:spcPts val="600"/>
              </a:spcBef>
            </a:pPr>
            <a:r>
              <a:rPr lang="zh-CN" altLang="zh-CN">
                <a:solidFill>
                  <a:srgbClr val="FF0000"/>
                </a:solidFill>
                <a:latin typeface="Consolas" pitchFamily="49" charset="0"/>
                <a:ea typeface="楷体" pitchFamily="49" charset="-122"/>
              </a:rPr>
              <a:t>【例</a:t>
            </a:r>
            <a:r>
              <a:rPr lang="en-US" altLang="zh-CN">
                <a:solidFill>
                  <a:srgbClr val="FF0000"/>
                </a:solidFill>
                <a:latin typeface="Consolas" pitchFamily="49" charset="0"/>
                <a:ea typeface="楷体" pitchFamily="49" charset="-122"/>
              </a:rPr>
              <a:t>4.8</a:t>
            </a:r>
            <a:r>
              <a:rPr lang="zh-CN" altLang="zh-CN">
                <a:solidFill>
                  <a:srgbClr val="FF0000"/>
                </a:solidFill>
                <a:latin typeface="Consolas" pitchFamily="49" charset="0"/>
                <a:ea typeface="楷体" pitchFamily="49" charset="-122"/>
              </a:rPr>
              <a:t>】</a:t>
            </a:r>
            <a:r>
              <a:rPr lang="zh-CN" altLang="zh-CN">
                <a:solidFill>
                  <a:srgbClr val="0000FF"/>
                </a:solidFill>
                <a:latin typeface="Consolas" pitchFamily="49" charset="0"/>
                <a:ea typeface="仿宋" pitchFamily="49" charset="-122"/>
              </a:rPr>
              <a:t>主元素（</a:t>
            </a:r>
            <a:r>
              <a:rPr lang="en-US" altLang="zh-CN">
                <a:solidFill>
                  <a:srgbClr val="0000FF"/>
                </a:solidFill>
                <a:latin typeface="Consolas" pitchFamily="49" charset="0"/>
                <a:ea typeface="仿宋" pitchFamily="49" charset="-122"/>
              </a:rPr>
              <a:t>LintCode46</a:t>
            </a:r>
            <a:r>
              <a:rPr lang="zh-CN" altLang="zh-CN">
                <a:solidFill>
                  <a:srgbClr val="0000FF"/>
                </a:solidFill>
                <a:latin typeface="Consolas" pitchFamily="49" charset="0"/>
                <a:ea typeface="仿宋" pitchFamily="49" charset="-122"/>
              </a:rPr>
              <a:t>★）。给定一个大小为</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的数组</a:t>
            </a:r>
            <a:r>
              <a:rPr lang="en-US" altLang="zh-CN">
                <a:solidFill>
                  <a:srgbClr val="0000FF"/>
                </a:solidFill>
                <a:latin typeface="Consolas" pitchFamily="49" charset="0"/>
                <a:ea typeface="仿宋" pitchFamily="49" charset="-122"/>
              </a:rPr>
              <a:t>nums</a:t>
            </a:r>
            <a:r>
              <a:rPr lang="zh-CN" altLang="zh-CN">
                <a:solidFill>
                  <a:srgbClr val="0000FF"/>
                </a:solidFill>
                <a:latin typeface="Consolas" pitchFamily="49" charset="0"/>
                <a:ea typeface="仿宋" pitchFamily="49" charset="-122"/>
              </a:rPr>
              <a:t>，设计一个算法求其中的</a:t>
            </a:r>
            <a:r>
              <a:rPr lang="zh-CN" altLang="zh-CN">
                <a:solidFill>
                  <a:srgbClr val="FF0000"/>
                </a:solidFill>
                <a:latin typeface="Consolas" pitchFamily="49" charset="0"/>
                <a:ea typeface="仿宋" pitchFamily="49" charset="-122"/>
              </a:rPr>
              <a:t>主元素</a:t>
            </a:r>
            <a:r>
              <a:rPr lang="zh-CN" altLang="zh-CN">
                <a:solidFill>
                  <a:srgbClr val="0000FF"/>
                </a:solidFill>
                <a:latin typeface="Consolas" pitchFamily="49" charset="0"/>
                <a:ea typeface="仿宋" pitchFamily="49" charset="-122"/>
              </a:rPr>
              <a:t>。主元素是指在数组中出现次数大于</a:t>
            </a:r>
            <a:r>
              <a:rPr lang="en-US" altLang="zh-CN">
                <a:solidFill>
                  <a:srgbClr val="0000FF"/>
                </a:solidFill>
                <a:latin typeface="Consolas" pitchFamily="49" charset="0"/>
                <a:ea typeface="仿宋" pitchFamily="49" charset="-122"/>
                <a:sym typeface="Symbol"/>
              </a:rPr>
              <a:t></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/2</a:t>
            </a:r>
            <a:r>
              <a:rPr lang="en-US" altLang="zh-CN">
                <a:solidFill>
                  <a:srgbClr val="0000FF"/>
                </a:solidFill>
                <a:latin typeface="Consolas" pitchFamily="49" charset="0"/>
                <a:ea typeface="仿宋" pitchFamily="49" charset="-122"/>
                <a:sym typeface="Symbol"/>
              </a:rPr>
              <a:t></a:t>
            </a:r>
            <a:r>
              <a:rPr lang="zh-CN" altLang="zh-CN">
                <a:solidFill>
                  <a:srgbClr val="0000FF"/>
                </a:solidFill>
                <a:latin typeface="Consolas" pitchFamily="49" charset="0"/>
                <a:ea typeface="仿宋" pitchFamily="49" charset="-122"/>
              </a:rPr>
              <a:t>的元素。可以假设中给定的非空数组中总是存在主元素。</a:t>
            </a:r>
            <a:endParaRPr lang="en-US" altLang="zh-CN">
              <a:solidFill>
                <a:srgbClr val="0000FF"/>
              </a:solidFill>
              <a:latin typeface="Consolas" pitchFamily="49" charset="0"/>
              <a:ea typeface="仿宋" pitchFamily="49" charset="-122"/>
            </a:endParaRPr>
          </a:p>
          <a:p>
            <a:pPr algn="l" defTabSz="360000">
              <a:lnSpc>
                <a:spcPts val="33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例如数组为</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，结果为</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algn="l" defTabSz="360000">
              <a:lnSpc>
                <a:spcPts val="33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要求设计如下成员函数：</a:t>
            </a:r>
          </a:p>
          <a:p>
            <a:pPr algn="l" defTabSz="360000">
              <a:lnSpc>
                <a:spcPts val="3300"/>
              </a:lnSpc>
              <a:spcBef>
                <a:spcPts val="600"/>
              </a:spcBef>
            </a:pPr>
            <a:r>
              <a:rPr lang="en-US" altLang="zh-CN" sz="2000">
                <a:solidFill>
                  <a:srgbClr val="006600"/>
                </a:solidFill>
                <a:latin typeface="Consolas" pitchFamily="49" charset="0"/>
                <a:ea typeface="仿宋" pitchFamily="49" charset="-122"/>
              </a:rPr>
              <a:t>		int majorityNumber(vector&lt;int&gt;&amp; nums) { }</a:t>
            </a:r>
            <a:endParaRPr lang="zh-CN" altLang="en-US" sz="2000">
              <a:solidFill>
                <a:srgbClr val="006600"/>
              </a:solidFill>
              <a:latin typeface="Consolas" pitchFamily="49" charset="0"/>
              <a:ea typeface="仿宋" pitchFamily="49" charset="-122"/>
              <a:cs typeface="Consolas" pitchFamily="49" charset="0"/>
            </a:endParaRPr>
          </a:p>
        </p:txBody>
      </p:sp>
      <p:sp>
        <p:nvSpPr>
          <p:cNvPr id="5" name="TextBox 4"/>
          <p:cNvSpPr txBox="1"/>
          <p:nvPr/>
        </p:nvSpPr>
        <p:spPr>
          <a:xfrm>
            <a:off x="428596" y="1254873"/>
            <a:ext cx="8143932" cy="913070"/>
          </a:xfrm>
          <a:prstGeom prst="rect">
            <a:avLst/>
          </a:prstGeom>
          <a:ln>
            <a:solidFill>
              <a:schemeClr val="accent6">
                <a:lumMod val="40000"/>
                <a:lumOff val="6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0"/>
              </a:spcBef>
            </a:pPr>
            <a:r>
              <a:rPr lang="zh-CN" altLang="zh-CN">
                <a:solidFill>
                  <a:srgbClr val="FF0000"/>
                </a:solidFill>
                <a:latin typeface="Consolas" pitchFamily="49" charset="0"/>
                <a:ea typeface="仿宋" pitchFamily="49" charset="-122"/>
              </a:rPr>
              <a:t>【例</a:t>
            </a:r>
            <a:r>
              <a:rPr lang="en-US" altLang="zh-CN">
                <a:solidFill>
                  <a:srgbClr val="FF0000"/>
                </a:solidFill>
                <a:latin typeface="Consolas" pitchFamily="49" charset="0"/>
                <a:ea typeface="仿宋" pitchFamily="49" charset="-122"/>
              </a:rPr>
              <a:t>12.2</a:t>
            </a:r>
            <a:r>
              <a:rPr lang="zh-CN" altLang="zh-CN">
                <a:solidFill>
                  <a:srgbClr val="FF0000"/>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主元素（</a:t>
            </a:r>
            <a:r>
              <a:rPr lang="en-US" altLang="zh-CN">
                <a:solidFill>
                  <a:srgbClr val="0000FF"/>
                </a:solidFill>
                <a:latin typeface="Consolas" pitchFamily="49" charset="0"/>
                <a:ea typeface="仿宋" pitchFamily="49" charset="-122"/>
              </a:rPr>
              <a:t>LintCode46</a:t>
            </a:r>
            <a:r>
              <a:rPr lang="zh-CN" altLang="zh-CN">
                <a:solidFill>
                  <a:srgbClr val="0000FF"/>
                </a:solidFill>
                <a:latin typeface="Consolas" pitchFamily="49" charset="0"/>
                <a:ea typeface="仿宋" pitchFamily="49" charset="-122"/>
              </a:rPr>
              <a:t>★）。问题描述见第</a:t>
            </a:r>
            <a:r>
              <a:rPr lang="en-US" altLang="zh-CN">
                <a:solidFill>
                  <a:srgbClr val="0000FF"/>
                </a:solidFill>
                <a:latin typeface="Consolas" pitchFamily="49" charset="0"/>
                <a:ea typeface="仿宋" pitchFamily="49" charset="-122"/>
              </a:rPr>
              <a:t>4</a:t>
            </a:r>
            <a:r>
              <a:rPr lang="zh-CN" altLang="zh-CN">
                <a:solidFill>
                  <a:srgbClr val="0000FF"/>
                </a:solidFill>
                <a:latin typeface="Consolas" pitchFamily="49" charset="0"/>
                <a:ea typeface="仿宋" pitchFamily="49" charset="-122"/>
              </a:rPr>
              <a:t>章例</a:t>
            </a:r>
            <a:r>
              <a:rPr lang="en-US" altLang="zh-CN">
                <a:solidFill>
                  <a:srgbClr val="0000FF"/>
                </a:solidFill>
                <a:latin typeface="Consolas" pitchFamily="49" charset="0"/>
                <a:ea typeface="仿宋" pitchFamily="49" charset="-122"/>
              </a:rPr>
              <a:t>4.8</a:t>
            </a:r>
            <a:r>
              <a:rPr lang="zh-CN" altLang="zh-CN">
                <a:solidFill>
                  <a:srgbClr val="0000FF"/>
                </a:solidFill>
                <a:latin typeface="Consolas" pitchFamily="49" charset="0"/>
                <a:ea typeface="仿宋" pitchFamily="49" charset="-122"/>
              </a:rPr>
              <a:t>，这里采用蒙特卡罗概率算法求解。</a:t>
            </a:r>
          </a:p>
        </p:txBody>
      </p:sp>
      <p:sp>
        <p:nvSpPr>
          <p:cNvPr id="6" name="上箭头 5"/>
          <p:cNvSpPr/>
          <p:nvPr/>
        </p:nvSpPr>
        <p:spPr>
          <a:xfrm>
            <a:off x="3714744" y="2255005"/>
            <a:ext cx="285752" cy="285752"/>
          </a:xfrm>
          <a:prstGeom prst="up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nvGrpSpPr>
          <p:cNvPr id="7" name="组合 6"/>
          <p:cNvGrpSpPr/>
          <p:nvPr/>
        </p:nvGrpSpPr>
        <p:grpSpPr>
          <a:xfrm>
            <a:off x="642910" y="98409"/>
            <a:ext cx="1041400" cy="1044575"/>
            <a:chOff x="857224" y="1071546"/>
            <a:chExt cx="1041400" cy="1044575"/>
          </a:xfrm>
        </p:grpSpPr>
        <p:sp>
          <p:nvSpPr>
            <p:cNvPr id="8" name="Freeform 8"/>
            <p:cNvSpPr>
              <a:spLocks noEditPoints="1"/>
            </p:cNvSpPr>
            <p:nvPr/>
          </p:nvSpPr>
          <p:spPr bwMode="auto">
            <a:xfrm>
              <a:off x="857224" y="1071546"/>
              <a:ext cx="1041400" cy="1044575"/>
            </a:xfrm>
            <a:custGeom>
              <a:avLst/>
              <a:gdLst>
                <a:gd name="T0" fmla="*/ 964145 w 337"/>
                <a:gd name="T1" fmla="*/ 540830 h 338"/>
                <a:gd name="T2" fmla="*/ 964145 w 337"/>
                <a:gd name="T3" fmla="*/ 494473 h 338"/>
                <a:gd name="T4" fmla="*/ 1041400 w 337"/>
                <a:gd name="T5" fmla="*/ 441936 h 338"/>
                <a:gd name="T6" fmla="*/ 1007408 w 337"/>
                <a:gd name="T7" fmla="*/ 321408 h 338"/>
                <a:gd name="T8" fmla="*/ 914701 w 337"/>
                <a:gd name="T9" fmla="*/ 318317 h 338"/>
                <a:gd name="T10" fmla="*/ 889980 w 337"/>
                <a:gd name="T11" fmla="*/ 275051 h 338"/>
                <a:gd name="T12" fmla="*/ 930153 w 337"/>
                <a:gd name="T13" fmla="*/ 191608 h 338"/>
                <a:gd name="T14" fmla="*/ 843627 w 337"/>
                <a:gd name="T15" fmla="*/ 105076 h 338"/>
                <a:gd name="T16" fmla="*/ 760191 w 337"/>
                <a:gd name="T17" fmla="*/ 148342 h 338"/>
                <a:gd name="T18" fmla="*/ 716928 w 337"/>
                <a:gd name="T19" fmla="*/ 123618 h 338"/>
                <a:gd name="T20" fmla="*/ 710748 w 337"/>
                <a:gd name="T21" fmla="*/ 30905 h 338"/>
                <a:gd name="T22" fmla="*/ 652034 w 337"/>
                <a:gd name="T23" fmla="*/ 15452 h 338"/>
                <a:gd name="T24" fmla="*/ 590230 w 337"/>
                <a:gd name="T25" fmla="*/ 0 h 338"/>
                <a:gd name="T26" fmla="*/ 540786 w 337"/>
                <a:gd name="T27" fmla="*/ 77261 h 338"/>
                <a:gd name="T28" fmla="*/ 494433 w 337"/>
                <a:gd name="T29" fmla="*/ 77261 h 338"/>
                <a:gd name="T30" fmla="*/ 441900 w 337"/>
                <a:gd name="T31" fmla="*/ 3090 h 338"/>
                <a:gd name="T32" fmla="*/ 321382 w 337"/>
                <a:gd name="T33" fmla="*/ 33995 h 338"/>
                <a:gd name="T34" fmla="*/ 318291 w 337"/>
                <a:gd name="T35" fmla="*/ 126709 h 338"/>
                <a:gd name="T36" fmla="*/ 275028 w 337"/>
                <a:gd name="T37" fmla="*/ 151432 h 338"/>
                <a:gd name="T38" fmla="*/ 191593 w 337"/>
                <a:gd name="T39" fmla="*/ 111257 h 338"/>
                <a:gd name="T40" fmla="*/ 105067 w 337"/>
                <a:gd name="T41" fmla="*/ 200880 h 338"/>
                <a:gd name="T42" fmla="*/ 148330 w 337"/>
                <a:gd name="T43" fmla="*/ 281232 h 338"/>
                <a:gd name="T44" fmla="*/ 123608 w 337"/>
                <a:gd name="T45" fmla="*/ 324498 h 338"/>
                <a:gd name="T46" fmla="*/ 30902 w 337"/>
                <a:gd name="T47" fmla="*/ 330679 h 338"/>
                <a:gd name="T48" fmla="*/ 15451 w 337"/>
                <a:gd name="T49" fmla="*/ 392488 h 338"/>
                <a:gd name="T50" fmla="*/ 0 w 337"/>
                <a:gd name="T51" fmla="*/ 451207 h 338"/>
                <a:gd name="T52" fmla="*/ 77255 w 337"/>
                <a:gd name="T53" fmla="*/ 500654 h 338"/>
                <a:gd name="T54" fmla="*/ 77255 w 337"/>
                <a:gd name="T55" fmla="*/ 550102 h 338"/>
                <a:gd name="T56" fmla="*/ 0 w 337"/>
                <a:gd name="T57" fmla="*/ 602639 h 338"/>
                <a:gd name="T58" fmla="*/ 33992 w 337"/>
                <a:gd name="T59" fmla="*/ 723167 h 338"/>
                <a:gd name="T60" fmla="*/ 126699 w 337"/>
                <a:gd name="T61" fmla="*/ 726258 h 338"/>
                <a:gd name="T62" fmla="*/ 151420 w 337"/>
                <a:gd name="T63" fmla="*/ 766434 h 338"/>
                <a:gd name="T64" fmla="*/ 111247 w 337"/>
                <a:gd name="T65" fmla="*/ 849876 h 338"/>
                <a:gd name="T66" fmla="*/ 200864 w 337"/>
                <a:gd name="T67" fmla="*/ 939499 h 338"/>
                <a:gd name="T68" fmla="*/ 281209 w 337"/>
                <a:gd name="T69" fmla="*/ 896233 h 338"/>
                <a:gd name="T70" fmla="*/ 324472 w 337"/>
                <a:gd name="T71" fmla="*/ 920957 h 338"/>
                <a:gd name="T72" fmla="*/ 330652 w 337"/>
                <a:gd name="T73" fmla="*/ 1013670 h 338"/>
                <a:gd name="T74" fmla="*/ 389366 w 337"/>
                <a:gd name="T75" fmla="*/ 1029123 h 338"/>
                <a:gd name="T76" fmla="*/ 451170 w 337"/>
                <a:gd name="T77" fmla="*/ 1044575 h 338"/>
                <a:gd name="T78" fmla="*/ 500614 w 337"/>
                <a:gd name="T79" fmla="*/ 964223 h 338"/>
                <a:gd name="T80" fmla="*/ 550057 w 337"/>
                <a:gd name="T81" fmla="*/ 964223 h 338"/>
                <a:gd name="T82" fmla="*/ 602591 w 337"/>
                <a:gd name="T83" fmla="*/ 1041485 h 338"/>
                <a:gd name="T84" fmla="*/ 720018 w 337"/>
                <a:gd name="T85" fmla="*/ 1007489 h 338"/>
                <a:gd name="T86" fmla="*/ 726199 w 337"/>
                <a:gd name="T87" fmla="*/ 914776 h 338"/>
                <a:gd name="T88" fmla="*/ 766372 w 337"/>
                <a:gd name="T89" fmla="*/ 890052 h 338"/>
                <a:gd name="T90" fmla="*/ 849807 w 337"/>
                <a:gd name="T91" fmla="*/ 933318 h 338"/>
                <a:gd name="T92" fmla="*/ 936333 w 337"/>
                <a:gd name="T93" fmla="*/ 843695 h 338"/>
                <a:gd name="T94" fmla="*/ 896160 w 337"/>
                <a:gd name="T95" fmla="*/ 760253 h 338"/>
                <a:gd name="T96" fmla="*/ 917792 w 337"/>
                <a:gd name="T97" fmla="*/ 720077 h 338"/>
                <a:gd name="T98" fmla="*/ 1010498 w 337"/>
                <a:gd name="T99" fmla="*/ 713896 h 338"/>
                <a:gd name="T100" fmla="*/ 1025949 w 337"/>
                <a:gd name="T101" fmla="*/ 652087 h 338"/>
                <a:gd name="T102" fmla="*/ 1041400 w 337"/>
                <a:gd name="T103" fmla="*/ 593368 h 338"/>
                <a:gd name="T104" fmla="*/ 964145 w 337"/>
                <a:gd name="T105" fmla="*/ 540830 h 338"/>
                <a:gd name="T106" fmla="*/ 432629 w 337"/>
                <a:gd name="T107" fmla="*/ 868419 h 338"/>
                <a:gd name="T108" fmla="*/ 176142 w 337"/>
                <a:gd name="T109" fmla="*/ 432664 h 338"/>
                <a:gd name="T110" fmla="*/ 611861 w 337"/>
                <a:gd name="T111" fmla="*/ 176156 h 338"/>
                <a:gd name="T112" fmla="*/ 868348 w 337"/>
                <a:gd name="T113" fmla="*/ 611911 h 338"/>
                <a:gd name="T114" fmla="*/ 432629 w 337"/>
                <a:gd name="T115" fmla="*/ 868419 h 33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337" h="338">
                  <a:moveTo>
                    <a:pt x="312" y="175"/>
                  </a:moveTo>
                  <a:cubicBezTo>
                    <a:pt x="312" y="170"/>
                    <a:pt x="312" y="165"/>
                    <a:pt x="312" y="160"/>
                  </a:cubicBezTo>
                  <a:cubicBezTo>
                    <a:pt x="337" y="143"/>
                    <a:pt x="337" y="143"/>
                    <a:pt x="337" y="143"/>
                  </a:cubicBezTo>
                  <a:cubicBezTo>
                    <a:pt x="326" y="104"/>
                    <a:pt x="326" y="104"/>
                    <a:pt x="326" y="104"/>
                  </a:cubicBezTo>
                  <a:cubicBezTo>
                    <a:pt x="296" y="103"/>
                    <a:pt x="296" y="103"/>
                    <a:pt x="296" y="103"/>
                  </a:cubicBezTo>
                  <a:cubicBezTo>
                    <a:pt x="294" y="98"/>
                    <a:pt x="291" y="94"/>
                    <a:pt x="288" y="89"/>
                  </a:cubicBezTo>
                  <a:cubicBezTo>
                    <a:pt x="301" y="62"/>
                    <a:pt x="301" y="62"/>
                    <a:pt x="301" y="62"/>
                  </a:cubicBezTo>
                  <a:cubicBezTo>
                    <a:pt x="273" y="34"/>
                    <a:pt x="273" y="34"/>
                    <a:pt x="273" y="34"/>
                  </a:cubicBezTo>
                  <a:cubicBezTo>
                    <a:pt x="246" y="48"/>
                    <a:pt x="246" y="48"/>
                    <a:pt x="246" y="48"/>
                  </a:cubicBezTo>
                  <a:cubicBezTo>
                    <a:pt x="242" y="45"/>
                    <a:pt x="237" y="42"/>
                    <a:pt x="232" y="40"/>
                  </a:cubicBezTo>
                  <a:cubicBezTo>
                    <a:pt x="230" y="10"/>
                    <a:pt x="230" y="10"/>
                    <a:pt x="230" y="10"/>
                  </a:cubicBezTo>
                  <a:cubicBezTo>
                    <a:pt x="211" y="5"/>
                    <a:pt x="211" y="5"/>
                    <a:pt x="211" y="5"/>
                  </a:cubicBezTo>
                  <a:cubicBezTo>
                    <a:pt x="191" y="0"/>
                    <a:pt x="191" y="0"/>
                    <a:pt x="191" y="0"/>
                  </a:cubicBezTo>
                  <a:cubicBezTo>
                    <a:pt x="175" y="25"/>
                    <a:pt x="175" y="25"/>
                    <a:pt x="175" y="25"/>
                  </a:cubicBezTo>
                  <a:cubicBezTo>
                    <a:pt x="170" y="25"/>
                    <a:pt x="165" y="25"/>
                    <a:pt x="160" y="25"/>
                  </a:cubicBezTo>
                  <a:cubicBezTo>
                    <a:pt x="143" y="1"/>
                    <a:pt x="143" y="1"/>
                    <a:pt x="143" y="1"/>
                  </a:cubicBezTo>
                  <a:cubicBezTo>
                    <a:pt x="104" y="11"/>
                    <a:pt x="104" y="11"/>
                    <a:pt x="104" y="11"/>
                  </a:cubicBezTo>
                  <a:cubicBezTo>
                    <a:pt x="103" y="41"/>
                    <a:pt x="103" y="41"/>
                    <a:pt x="103" y="41"/>
                  </a:cubicBezTo>
                  <a:cubicBezTo>
                    <a:pt x="98" y="44"/>
                    <a:pt x="93" y="46"/>
                    <a:pt x="89" y="49"/>
                  </a:cubicBezTo>
                  <a:cubicBezTo>
                    <a:pt x="62" y="36"/>
                    <a:pt x="62" y="36"/>
                    <a:pt x="62" y="36"/>
                  </a:cubicBezTo>
                  <a:cubicBezTo>
                    <a:pt x="34" y="65"/>
                    <a:pt x="34" y="65"/>
                    <a:pt x="34" y="65"/>
                  </a:cubicBezTo>
                  <a:cubicBezTo>
                    <a:pt x="48" y="91"/>
                    <a:pt x="48" y="91"/>
                    <a:pt x="48" y="91"/>
                  </a:cubicBezTo>
                  <a:cubicBezTo>
                    <a:pt x="45" y="96"/>
                    <a:pt x="42" y="100"/>
                    <a:pt x="40" y="105"/>
                  </a:cubicBezTo>
                  <a:cubicBezTo>
                    <a:pt x="10" y="107"/>
                    <a:pt x="10" y="107"/>
                    <a:pt x="10" y="107"/>
                  </a:cubicBezTo>
                  <a:cubicBezTo>
                    <a:pt x="5" y="127"/>
                    <a:pt x="5" y="127"/>
                    <a:pt x="5" y="127"/>
                  </a:cubicBezTo>
                  <a:cubicBezTo>
                    <a:pt x="0" y="146"/>
                    <a:pt x="0" y="146"/>
                    <a:pt x="0" y="146"/>
                  </a:cubicBezTo>
                  <a:cubicBezTo>
                    <a:pt x="25" y="162"/>
                    <a:pt x="25" y="162"/>
                    <a:pt x="25" y="162"/>
                  </a:cubicBezTo>
                  <a:cubicBezTo>
                    <a:pt x="25" y="168"/>
                    <a:pt x="25" y="173"/>
                    <a:pt x="25" y="178"/>
                  </a:cubicBezTo>
                  <a:cubicBezTo>
                    <a:pt x="0" y="195"/>
                    <a:pt x="0" y="195"/>
                    <a:pt x="0" y="195"/>
                  </a:cubicBezTo>
                  <a:cubicBezTo>
                    <a:pt x="11" y="234"/>
                    <a:pt x="11" y="234"/>
                    <a:pt x="11" y="234"/>
                  </a:cubicBezTo>
                  <a:cubicBezTo>
                    <a:pt x="41" y="235"/>
                    <a:pt x="41" y="235"/>
                    <a:pt x="41" y="235"/>
                  </a:cubicBezTo>
                  <a:cubicBezTo>
                    <a:pt x="44" y="240"/>
                    <a:pt x="46" y="244"/>
                    <a:pt x="49" y="248"/>
                  </a:cubicBezTo>
                  <a:cubicBezTo>
                    <a:pt x="36" y="275"/>
                    <a:pt x="36" y="275"/>
                    <a:pt x="36" y="275"/>
                  </a:cubicBezTo>
                  <a:cubicBezTo>
                    <a:pt x="65" y="304"/>
                    <a:pt x="65" y="304"/>
                    <a:pt x="65" y="304"/>
                  </a:cubicBezTo>
                  <a:cubicBezTo>
                    <a:pt x="91" y="290"/>
                    <a:pt x="91" y="290"/>
                    <a:pt x="91" y="290"/>
                  </a:cubicBezTo>
                  <a:cubicBezTo>
                    <a:pt x="96" y="293"/>
                    <a:pt x="100" y="295"/>
                    <a:pt x="105" y="298"/>
                  </a:cubicBezTo>
                  <a:cubicBezTo>
                    <a:pt x="107" y="328"/>
                    <a:pt x="107" y="328"/>
                    <a:pt x="107" y="328"/>
                  </a:cubicBezTo>
                  <a:cubicBezTo>
                    <a:pt x="126" y="333"/>
                    <a:pt x="126" y="333"/>
                    <a:pt x="126" y="333"/>
                  </a:cubicBezTo>
                  <a:cubicBezTo>
                    <a:pt x="146" y="338"/>
                    <a:pt x="146" y="338"/>
                    <a:pt x="146" y="338"/>
                  </a:cubicBezTo>
                  <a:cubicBezTo>
                    <a:pt x="162" y="312"/>
                    <a:pt x="162" y="312"/>
                    <a:pt x="162" y="312"/>
                  </a:cubicBezTo>
                  <a:cubicBezTo>
                    <a:pt x="167" y="313"/>
                    <a:pt x="173" y="313"/>
                    <a:pt x="178" y="312"/>
                  </a:cubicBezTo>
                  <a:cubicBezTo>
                    <a:pt x="195" y="337"/>
                    <a:pt x="195" y="337"/>
                    <a:pt x="195" y="337"/>
                  </a:cubicBezTo>
                  <a:cubicBezTo>
                    <a:pt x="233" y="326"/>
                    <a:pt x="233" y="326"/>
                    <a:pt x="233" y="326"/>
                  </a:cubicBezTo>
                  <a:cubicBezTo>
                    <a:pt x="235" y="296"/>
                    <a:pt x="235" y="296"/>
                    <a:pt x="235" y="296"/>
                  </a:cubicBezTo>
                  <a:cubicBezTo>
                    <a:pt x="239" y="294"/>
                    <a:pt x="244" y="291"/>
                    <a:pt x="248" y="288"/>
                  </a:cubicBezTo>
                  <a:cubicBezTo>
                    <a:pt x="275" y="302"/>
                    <a:pt x="275" y="302"/>
                    <a:pt x="275" y="302"/>
                  </a:cubicBezTo>
                  <a:cubicBezTo>
                    <a:pt x="303" y="273"/>
                    <a:pt x="303" y="273"/>
                    <a:pt x="303" y="273"/>
                  </a:cubicBezTo>
                  <a:cubicBezTo>
                    <a:pt x="290" y="246"/>
                    <a:pt x="290" y="246"/>
                    <a:pt x="290" y="246"/>
                  </a:cubicBezTo>
                  <a:cubicBezTo>
                    <a:pt x="293" y="242"/>
                    <a:pt x="295" y="237"/>
                    <a:pt x="297" y="233"/>
                  </a:cubicBezTo>
                  <a:cubicBezTo>
                    <a:pt x="327" y="231"/>
                    <a:pt x="327" y="231"/>
                    <a:pt x="327" y="231"/>
                  </a:cubicBezTo>
                  <a:cubicBezTo>
                    <a:pt x="332" y="211"/>
                    <a:pt x="332" y="211"/>
                    <a:pt x="332" y="211"/>
                  </a:cubicBezTo>
                  <a:cubicBezTo>
                    <a:pt x="337" y="192"/>
                    <a:pt x="337" y="192"/>
                    <a:pt x="337" y="192"/>
                  </a:cubicBezTo>
                  <a:lnTo>
                    <a:pt x="312" y="175"/>
                  </a:lnTo>
                  <a:close/>
                  <a:moveTo>
                    <a:pt x="140" y="281"/>
                  </a:moveTo>
                  <a:cubicBezTo>
                    <a:pt x="78" y="265"/>
                    <a:pt x="41" y="202"/>
                    <a:pt x="57" y="140"/>
                  </a:cubicBezTo>
                  <a:cubicBezTo>
                    <a:pt x="73" y="78"/>
                    <a:pt x="136" y="41"/>
                    <a:pt x="198" y="57"/>
                  </a:cubicBezTo>
                  <a:cubicBezTo>
                    <a:pt x="259" y="73"/>
                    <a:pt x="297" y="136"/>
                    <a:pt x="281" y="198"/>
                  </a:cubicBezTo>
                  <a:cubicBezTo>
                    <a:pt x="265" y="260"/>
                    <a:pt x="202" y="297"/>
                    <a:pt x="140" y="281"/>
                  </a:cubicBezTo>
                  <a:close/>
                </a:path>
              </a:pathLst>
            </a:custGeom>
            <a:solidFill>
              <a:srgbClr val="1848C0"/>
            </a:solidFill>
            <a:ln>
              <a:noFill/>
            </a:ln>
          </p:spPr>
          <p:txBody>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endParaRPr lang="zh-CN" altLang="en-US"/>
            </a:p>
          </p:txBody>
        </p:sp>
        <p:sp>
          <p:nvSpPr>
            <p:cNvPr id="9" name="Rectangle 16"/>
            <p:cNvSpPr>
              <a:spLocks noChangeArrowheads="1"/>
            </p:cNvSpPr>
            <p:nvPr/>
          </p:nvSpPr>
          <p:spPr bwMode="auto">
            <a:xfrm>
              <a:off x="1066774" y="1399481"/>
              <a:ext cx="66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gn="ctr">
                <a:lnSpc>
                  <a:spcPct val="120000"/>
                </a:lnSpc>
              </a:pPr>
              <a:r>
                <a:rPr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rPr>
                <a:t>实例</a:t>
              </a:r>
              <a:endParaRPr lang="zh-CN" altLang="zh-CN"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endParaRPr>
            </a:p>
          </p:txBody>
        </p:sp>
      </p:grpSp>
      <p:sp>
        <p:nvSpPr>
          <p:cNvPr id="10" name="灯片编号占位符 9"/>
          <p:cNvSpPr>
            <a:spLocks noGrp="1"/>
          </p:cNvSpPr>
          <p:nvPr>
            <p:ph type="sldNum" sz="quarter" idx="12"/>
          </p:nvPr>
        </p:nvSpPr>
        <p:spPr/>
        <p:txBody>
          <a:bodyPr/>
          <a:lstStyle/>
          <a:p>
            <a:fld id="{7AF016A1-9F15-429F-9EFD-84004B73C732}" type="slidenum">
              <a:rPr lang="en-US" altLang="zh-CN" smtClean="0"/>
              <a:pPr/>
              <a:t>14</a:t>
            </a:fld>
            <a:r>
              <a:rPr lang="en-US" altLang="zh-CN"/>
              <a:t>/75</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500034" y="500042"/>
            <a:ext cx="500066"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a:solidFill>
                  <a:srgbClr val="FF0000"/>
                </a:solidFill>
                <a:latin typeface="微软雅黑" pitchFamily="34" charset="-122"/>
                <a:ea typeface="微软雅黑" pitchFamily="34" charset="-122"/>
                <a:cs typeface="Consolas" pitchFamily="49" charset="0"/>
              </a:rPr>
              <a:t>解</a:t>
            </a:r>
            <a:endParaRPr lang="zh-CN" altLang="en-US">
              <a:ln w="18415" cmpd="sng">
                <a:solidFill>
                  <a:srgbClr val="FFFFFF"/>
                </a:solidFill>
                <a:prstDash val="solid"/>
              </a:ln>
              <a:solidFill>
                <a:srgbClr val="FF0000"/>
              </a:solidFill>
              <a:effectLst>
                <a:outerShdw blurRad="63500" dir="3600000" algn="tl" rotWithShape="0">
                  <a:srgbClr val="000000">
                    <a:alpha val="70000"/>
                  </a:srgbClr>
                </a:outerShdw>
              </a:effectLst>
              <a:latin typeface="微软雅黑" pitchFamily="34" charset="-122"/>
              <a:ea typeface="微软雅黑" pitchFamily="34" charset="-122"/>
              <a:cs typeface="Consolas" pitchFamily="49" charset="0"/>
            </a:endParaRPr>
          </a:p>
        </p:txBody>
      </p:sp>
      <p:sp>
        <p:nvSpPr>
          <p:cNvPr id="5" name="TextBox 4"/>
          <p:cNvSpPr txBox="1"/>
          <p:nvPr/>
        </p:nvSpPr>
        <p:spPr>
          <a:xfrm>
            <a:off x="428596" y="1214422"/>
            <a:ext cx="8501122" cy="415498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ct val="100000"/>
              </a:lnSpc>
              <a:buBlip>
                <a:blip r:embed="rId2"/>
              </a:buBlip>
            </a:pPr>
            <a:r>
              <a:rPr lang="zh-CN" altLang="zh-CN">
                <a:solidFill>
                  <a:srgbClr val="0000FF"/>
                </a:solidFill>
                <a:latin typeface="Consolas" pitchFamily="49" charset="0"/>
                <a:ea typeface="仿宋" pitchFamily="49" charset="-122"/>
              </a:rPr>
              <a:t>设计判定主元素的蒙特卡罗算法</a:t>
            </a:r>
            <a:r>
              <a:rPr lang="en-US" altLang="zh-CN">
                <a:solidFill>
                  <a:srgbClr val="FF0000"/>
                </a:solidFill>
                <a:latin typeface="Consolas" pitchFamily="49" charset="0"/>
                <a:ea typeface="仿宋" pitchFamily="49" charset="-122"/>
              </a:rPr>
              <a:t>majority(a</a:t>
            </a:r>
            <a:r>
              <a:rPr lang="zh-CN" altLang="zh-CN">
                <a:solidFill>
                  <a:srgbClr val="FF0000"/>
                </a:solidFill>
                <a:latin typeface="Consolas" pitchFamily="49" charset="0"/>
                <a:ea typeface="仿宋" pitchFamily="49" charset="-122"/>
              </a:rPr>
              <a:t>，</a:t>
            </a:r>
            <a:r>
              <a:rPr lang="en-US" altLang="zh-CN">
                <a:solidFill>
                  <a:srgbClr val="FF0000"/>
                </a:solidFill>
                <a:latin typeface="Consolas" pitchFamily="49" charset="0"/>
                <a:ea typeface="仿宋" pitchFamily="49" charset="-122"/>
              </a:rPr>
              <a:t>maj)</a:t>
            </a:r>
            <a:r>
              <a:rPr lang="zh-CN" altLang="en-US">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在数组</a:t>
            </a:r>
            <a:r>
              <a:rPr lang="en-US" altLang="zh-CN" i="1">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中随机选择一个元素</a:t>
            </a:r>
            <a:r>
              <a:rPr lang="en-US" altLang="zh-CN">
                <a:solidFill>
                  <a:srgbClr val="0000FF"/>
                </a:solidFill>
                <a:latin typeface="Consolas" pitchFamily="49" charset="0"/>
                <a:ea typeface="仿宋" pitchFamily="49" charset="-122"/>
              </a:rPr>
              <a:t>maj</a:t>
            </a:r>
            <a:r>
              <a:rPr lang="zh-CN" altLang="zh-CN">
                <a:solidFill>
                  <a:srgbClr val="0000FF"/>
                </a:solidFill>
                <a:latin typeface="Consolas" pitchFamily="49" charset="0"/>
                <a:ea typeface="仿宋" pitchFamily="49" charset="-122"/>
              </a:rPr>
              <a:t>，测试它是否为主元素。如果该算法返回</a:t>
            </a:r>
            <a:r>
              <a:rPr lang="en-US" altLang="zh-CN">
                <a:solidFill>
                  <a:srgbClr val="0000FF"/>
                </a:solidFill>
                <a:latin typeface="Consolas" pitchFamily="49" charset="0"/>
                <a:ea typeface="仿宋" pitchFamily="49" charset="-122"/>
              </a:rPr>
              <a:t>true</a:t>
            </a:r>
            <a:r>
              <a:rPr lang="zh-CN" altLang="zh-CN">
                <a:solidFill>
                  <a:srgbClr val="0000FF"/>
                </a:solidFill>
                <a:latin typeface="Consolas" pitchFamily="49" charset="0"/>
                <a:ea typeface="仿宋" pitchFamily="49" charset="-122"/>
              </a:rPr>
              <a:t>，则</a:t>
            </a:r>
            <a:r>
              <a:rPr lang="en-US" altLang="zh-CN" i="1">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中存在主元素并且</a:t>
            </a:r>
            <a:r>
              <a:rPr lang="en-US" altLang="zh-CN">
                <a:solidFill>
                  <a:srgbClr val="0000FF"/>
                </a:solidFill>
                <a:latin typeface="Consolas" pitchFamily="49" charset="0"/>
                <a:ea typeface="仿宋" pitchFamily="49" charset="-122"/>
              </a:rPr>
              <a:t>maj</a:t>
            </a:r>
            <a:r>
              <a:rPr lang="zh-CN" altLang="zh-CN">
                <a:solidFill>
                  <a:srgbClr val="0000FF"/>
                </a:solidFill>
                <a:latin typeface="Consolas" pitchFamily="49" charset="0"/>
                <a:ea typeface="仿宋" pitchFamily="49" charset="-122"/>
              </a:rPr>
              <a:t>就是主元素，反之，如果该算法返回</a:t>
            </a:r>
            <a:r>
              <a:rPr lang="en-US" altLang="zh-CN">
                <a:solidFill>
                  <a:srgbClr val="0000FF"/>
                </a:solidFill>
                <a:latin typeface="Consolas" pitchFamily="49" charset="0"/>
                <a:ea typeface="仿宋" pitchFamily="49" charset="-122"/>
              </a:rPr>
              <a:t>false</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maj</a:t>
            </a:r>
            <a:r>
              <a:rPr lang="zh-CN" altLang="zh-CN">
                <a:solidFill>
                  <a:srgbClr val="0000FF"/>
                </a:solidFill>
                <a:latin typeface="Consolas" pitchFamily="49" charset="0"/>
                <a:ea typeface="仿宋" pitchFamily="49" charset="-122"/>
              </a:rPr>
              <a:t>不是主元素，但</a:t>
            </a:r>
            <a:r>
              <a:rPr lang="en-US" altLang="zh-CN" i="1">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中不一定没有主元素。</a:t>
            </a:r>
            <a:endParaRPr lang="en-US" altLang="zh-CN">
              <a:solidFill>
                <a:srgbClr val="0000FF"/>
              </a:solidFill>
              <a:latin typeface="Consolas" pitchFamily="49" charset="0"/>
              <a:ea typeface="仿宋" pitchFamily="49" charset="-122"/>
            </a:endParaRPr>
          </a:p>
          <a:p>
            <a:pPr marL="457200" indent="-457200" algn="l">
              <a:lnSpc>
                <a:spcPct val="100000"/>
              </a:lnSpc>
              <a:buBlip>
                <a:blip r:embed="rId2"/>
              </a:buBlip>
            </a:pPr>
            <a:r>
              <a:rPr lang="zh-CN" altLang="zh-CN">
                <a:solidFill>
                  <a:srgbClr val="0000FF"/>
                </a:solidFill>
                <a:latin typeface="Consolas" pitchFamily="49" charset="0"/>
                <a:ea typeface="仿宋" pitchFamily="49" charset="-122"/>
              </a:rPr>
              <a:t>如果存在主元素，该算法以大于</a:t>
            </a:r>
            <a:r>
              <a:rPr lang="en-US" altLang="zh-CN">
                <a:solidFill>
                  <a:srgbClr val="0000FF"/>
                </a:solidFill>
                <a:latin typeface="Consolas" pitchFamily="49" charset="0"/>
                <a:ea typeface="仿宋" pitchFamily="49" charset="-122"/>
              </a:rPr>
              <a:t>1/2</a:t>
            </a:r>
            <a:r>
              <a:rPr lang="zh-CN" altLang="zh-CN">
                <a:solidFill>
                  <a:srgbClr val="0000FF"/>
                </a:solidFill>
                <a:latin typeface="Consolas" pitchFamily="49" charset="0"/>
                <a:ea typeface="仿宋" pitchFamily="49" charset="-122"/>
              </a:rPr>
              <a:t>的概率返回</a:t>
            </a:r>
            <a:r>
              <a:rPr lang="en-US" altLang="zh-CN">
                <a:solidFill>
                  <a:srgbClr val="0000FF"/>
                </a:solidFill>
                <a:latin typeface="Consolas" pitchFamily="49" charset="0"/>
                <a:ea typeface="仿宋" pitchFamily="49" charset="-122"/>
              </a:rPr>
              <a:t>true</a:t>
            </a:r>
            <a:r>
              <a:rPr lang="zh-CN" altLang="zh-CN">
                <a:solidFill>
                  <a:srgbClr val="0000FF"/>
                </a:solidFill>
                <a:latin typeface="Consolas" pitchFamily="49" charset="0"/>
                <a:ea typeface="仿宋" pitchFamily="49" charset="-122"/>
              </a:rPr>
              <a:t>，没有主元素时肯定返回</a:t>
            </a:r>
            <a:r>
              <a:rPr lang="en-US" altLang="zh-CN">
                <a:solidFill>
                  <a:srgbClr val="0000FF"/>
                </a:solidFill>
                <a:latin typeface="Consolas" pitchFamily="49" charset="0"/>
                <a:ea typeface="仿宋" pitchFamily="49" charset="-122"/>
              </a:rPr>
              <a:t>false</a:t>
            </a:r>
            <a:r>
              <a:rPr lang="zh-CN" altLang="zh-CN">
                <a:solidFill>
                  <a:srgbClr val="0000FF"/>
                </a:solidFill>
                <a:latin typeface="Consolas" pitchFamily="49" charset="0"/>
                <a:ea typeface="仿宋" pitchFamily="49" charset="-122"/>
              </a:rPr>
              <a:t>。</a:t>
            </a:r>
          </a:p>
          <a:p>
            <a:pPr marL="457200" indent="-457200" algn="l">
              <a:lnSpc>
                <a:spcPct val="100000"/>
              </a:lnSpc>
              <a:buBlip>
                <a:blip r:embed="rId2"/>
              </a:buBlip>
            </a:pPr>
            <a:r>
              <a:rPr lang="zh-CN" altLang="zh-CN">
                <a:solidFill>
                  <a:srgbClr val="0000FF"/>
                </a:solidFill>
                <a:latin typeface="Consolas" pitchFamily="49" charset="0"/>
                <a:ea typeface="仿宋" pitchFamily="49" charset="-122"/>
              </a:rPr>
              <a:t>调用</a:t>
            </a:r>
            <a:r>
              <a:rPr lang="en-US" altLang="zh-CN">
                <a:solidFill>
                  <a:srgbClr val="0000FF"/>
                </a:solidFill>
                <a:latin typeface="Consolas" pitchFamily="49" charset="0"/>
                <a:ea typeface="仿宋" pitchFamily="49" charset="-122"/>
              </a:rPr>
              <a:t>majority(a</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maj)</a:t>
            </a:r>
            <a:r>
              <a:rPr lang="zh-CN" altLang="zh-CN">
                <a:solidFill>
                  <a:srgbClr val="0000FF"/>
                </a:solidFill>
                <a:latin typeface="Consolas" pitchFamily="49" charset="0"/>
                <a:ea typeface="仿宋" pitchFamily="49" charset="-122"/>
              </a:rPr>
              <a:t>一次的正确概率为</a:t>
            </a:r>
            <a:r>
              <a:rPr lang="en-US" altLang="zh-CN" i="1">
                <a:solidFill>
                  <a:srgbClr val="0000FF"/>
                </a:solidFill>
                <a:latin typeface="Consolas" pitchFamily="49" charset="0"/>
                <a:ea typeface="仿宋" pitchFamily="49" charset="-122"/>
              </a:rPr>
              <a:t>p</a:t>
            </a:r>
            <a:r>
              <a:rPr lang="zh-CN" altLang="zh-CN">
                <a:solidFill>
                  <a:srgbClr val="0000FF"/>
                </a:solidFill>
                <a:latin typeface="Consolas" pitchFamily="49" charset="0"/>
                <a:ea typeface="仿宋" pitchFamily="49" charset="-122"/>
              </a:rPr>
              <a:t>，调用两次的正确概率为</a:t>
            </a:r>
            <a:r>
              <a:rPr lang="en-US" altLang="zh-CN" i="1">
                <a:solidFill>
                  <a:srgbClr val="0000FF"/>
                </a:solidFill>
                <a:latin typeface="Consolas" pitchFamily="49" charset="0"/>
                <a:ea typeface="仿宋" pitchFamily="49" charset="-122"/>
              </a:rPr>
              <a:t>p</a:t>
            </a:r>
            <a:r>
              <a:rPr lang="en-US" altLang="zh-CN">
                <a:solidFill>
                  <a:srgbClr val="0000FF"/>
                </a:solidFill>
                <a:latin typeface="Consolas" pitchFamily="49" charset="0"/>
                <a:ea typeface="仿宋" pitchFamily="49" charset="-122"/>
              </a:rPr>
              <a:t>+(1-</a:t>
            </a:r>
            <a:r>
              <a:rPr lang="en-US" altLang="zh-CN" i="1">
                <a:solidFill>
                  <a:srgbClr val="0000FF"/>
                </a:solidFill>
                <a:latin typeface="Consolas" pitchFamily="49" charset="0"/>
                <a:ea typeface="仿宋" pitchFamily="49" charset="-122"/>
              </a:rPr>
              <a:t>p</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p</a:t>
            </a:r>
            <a:r>
              <a:rPr lang="en-US" altLang="zh-CN">
                <a:solidFill>
                  <a:srgbClr val="0000FF"/>
                </a:solidFill>
                <a:latin typeface="Consolas" pitchFamily="49" charset="0"/>
                <a:ea typeface="仿宋" pitchFamily="49" charset="-122"/>
              </a:rPr>
              <a:t>&gt;3/4</a:t>
            </a:r>
            <a:r>
              <a:rPr lang="zh-CN" altLang="zh-CN">
                <a:solidFill>
                  <a:srgbClr val="0000FF"/>
                </a:solidFill>
                <a:latin typeface="Consolas" pitchFamily="49" charset="0"/>
                <a:ea typeface="仿宋" pitchFamily="49" charset="-122"/>
              </a:rPr>
              <a:t>，错误概率小于</a:t>
            </a:r>
            <a:r>
              <a:rPr lang="en-US" altLang="zh-CN">
                <a:solidFill>
                  <a:srgbClr val="0000FF"/>
                </a:solidFill>
                <a:latin typeface="Consolas" pitchFamily="49" charset="0"/>
                <a:ea typeface="仿宋" pitchFamily="49" charset="-122"/>
              </a:rPr>
              <a:t>1/4</a:t>
            </a:r>
            <a:r>
              <a:rPr lang="zh-CN" altLang="zh-CN">
                <a:solidFill>
                  <a:srgbClr val="0000FF"/>
                </a:solidFill>
                <a:latin typeface="Consolas" pitchFamily="49" charset="0"/>
                <a:ea typeface="仿宋" pitchFamily="49" charset="-122"/>
              </a:rPr>
              <a:t>，以此类推，调用</a:t>
            </a:r>
            <a:r>
              <a:rPr lang="en-US" altLang="zh-CN" i="1">
                <a:solidFill>
                  <a:srgbClr val="0000FF"/>
                </a:solidFill>
                <a:latin typeface="Consolas" pitchFamily="49" charset="0"/>
                <a:ea typeface="仿宋" pitchFamily="49" charset="-122"/>
              </a:rPr>
              <a:t>k</a:t>
            </a:r>
            <a:r>
              <a:rPr lang="zh-CN" altLang="zh-CN">
                <a:solidFill>
                  <a:srgbClr val="0000FF"/>
                </a:solidFill>
                <a:latin typeface="Consolas" pitchFamily="49" charset="0"/>
                <a:ea typeface="仿宋" pitchFamily="49" charset="-122"/>
              </a:rPr>
              <a:t>次的</a:t>
            </a:r>
            <a:r>
              <a:rPr lang="zh-CN" altLang="zh-CN">
                <a:solidFill>
                  <a:srgbClr val="FF0000"/>
                </a:solidFill>
                <a:latin typeface="Consolas" pitchFamily="49" charset="0"/>
                <a:ea typeface="仿宋" pitchFamily="49" charset="-122"/>
              </a:rPr>
              <a:t>错误概率小于</a:t>
            </a:r>
            <a:r>
              <a:rPr lang="en-US" altLang="zh-CN">
                <a:solidFill>
                  <a:srgbClr val="FF0000"/>
                </a:solidFill>
                <a:latin typeface="Consolas" pitchFamily="49" charset="0"/>
                <a:ea typeface="仿宋" pitchFamily="49" charset="-122"/>
              </a:rPr>
              <a:t>2</a:t>
            </a:r>
            <a:r>
              <a:rPr lang="en-US" altLang="zh-CN" baseline="30000">
                <a:solidFill>
                  <a:srgbClr val="FF0000"/>
                </a:solidFill>
                <a:latin typeface="Consolas" pitchFamily="49" charset="0"/>
                <a:ea typeface="仿宋" pitchFamily="49" charset="-122"/>
              </a:rPr>
              <a:t>-</a:t>
            </a:r>
            <a:r>
              <a:rPr lang="en-US" altLang="zh-CN" i="1" baseline="30000">
                <a:solidFill>
                  <a:srgbClr val="FF0000"/>
                </a:solidFill>
                <a:latin typeface="Consolas" pitchFamily="49" charset="0"/>
                <a:ea typeface="仿宋" pitchFamily="49" charset="-122"/>
              </a:rPr>
              <a:t>k</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15</a:t>
            </a:fld>
            <a:r>
              <a:rPr lang="en-US" altLang="zh-CN"/>
              <a:t>/75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214282" y="428604"/>
            <a:ext cx="8786874" cy="524512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class Solution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public:</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int </a:t>
            </a:r>
            <a:r>
              <a:rPr lang="en-US" altLang="zh-CN" sz="2000">
                <a:solidFill>
                  <a:srgbClr val="FF0000"/>
                </a:solidFill>
                <a:latin typeface="Consolas" pitchFamily="49" charset="0"/>
                <a:ea typeface="仿宋" pitchFamily="49" charset="-122"/>
              </a:rPr>
              <a:t>majorityNumber</a:t>
            </a:r>
            <a:r>
              <a:rPr lang="en-US" altLang="zh-CN" sz="2000">
                <a:solidFill>
                  <a:srgbClr val="0000FF"/>
                </a:solidFill>
                <a:latin typeface="Consolas" pitchFamily="49" charset="0"/>
                <a:ea typeface="仿宋" pitchFamily="49" charset="-122"/>
              </a:rPr>
              <a:t>(vector&lt;int&gt; &amp;nums)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srand((unsigned)time(NULL));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随机种子</a:t>
            </a:r>
          </a:p>
          <a:p>
            <a:pPr algn="l" defTabSz="360000">
              <a:lnSpc>
                <a:spcPts val="2800"/>
              </a:lnSpc>
              <a:spcBef>
                <a:spcPts val="0"/>
              </a:spcBef>
            </a:pPr>
            <a:r>
              <a:rPr lang="en-US" altLang="zh-CN" sz="2000">
                <a:solidFill>
                  <a:srgbClr val="0000FF"/>
                </a:solidFill>
                <a:latin typeface="Consolas" pitchFamily="49" charset="0"/>
                <a:ea typeface="仿宋" pitchFamily="49" charset="-122"/>
              </a:rPr>
              <a:t>     	int maj,</a:t>
            </a:r>
            <a:r>
              <a:rPr lang="en-US" altLang="zh-CN" sz="2000">
                <a:solidFill>
                  <a:srgbClr val="006600"/>
                </a:solidFill>
                <a:latin typeface="Consolas" pitchFamily="49" charset="0"/>
                <a:ea typeface="仿宋" pitchFamily="49" charset="-122"/>
              </a:rPr>
              <a:t>k=4</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if(</a:t>
            </a:r>
            <a:r>
              <a:rPr lang="en-US" altLang="zh-CN" sz="2000">
                <a:solidFill>
                  <a:srgbClr val="FF0000"/>
                </a:solidFill>
                <a:latin typeface="Consolas" pitchFamily="49" charset="0"/>
                <a:ea typeface="仿宋" pitchFamily="49" charset="-122"/>
              </a:rPr>
              <a:t>solve</a:t>
            </a:r>
            <a:r>
              <a:rPr lang="en-US" altLang="zh-CN" sz="2000">
                <a:solidFill>
                  <a:srgbClr val="0000FF"/>
                </a:solidFill>
                <a:latin typeface="Consolas" pitchFamily="49" charset="0"/>
                <a:ea typeface="仿宋" pitchFamily="49" charset="-122"/>
              </a:rPr>
              <a:t>(nums,maj,k)) return maj;</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p>
          <a:p>
            <a:pPr algn="l" defTabSz="360000">
              <a:lnSpc>
                <a:spcPts val="2800"/>
              </a:lnSpc>
              <a:spcBef>
                <a:spcPts val="0"/>
              </a:spcBef>
            </a:pP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bool </a:t>
            </a:r>
            <a:r>
              <a:rPr lang="en-US" altLang="zh-CN" sz="2000">
                <a:solidFill>
                  <a:srgbClr val="FF0000"/>
                </a:solidFill>
                <a:latin typeface="Consolas" pitchFamily="49" charset="0"/>
                <a:ea typeface="仿宋" pitchFamily="49" charset="-122"/>
              </a:rPr>
              <a:t>solve</a:t>
            </a:r>
            <a:r>
              <a:rPr lang="en-US" altLang="zh-CN" sz="2000">
                <a:solidFill>
                  <a:srgbClr val="0000FF"/>
                </a:solidFill>
                <a:latin typeface="Consolas" pitchFamily="49" charset="0"/>
                <a:ea typeface="仿宋" pitchFamily="49" charset="-122"/>
              </a:rPr>
              <a:t>(vector&lt;int&gt;&amp;a,int&amp;maj,int k) {		</a:t>
            </a: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求解算法</a:t>
            </a:r>
          </a:p>
          <a:p>
            <a:pPr algn="l" defTabSz="360000">
              <a:lnSpc>
                <a:spcPts val="2800"/>
              </a:lnSpc>
              <a:spcBef>
                <a:spcPts val="0"/>
              </a:spcBef>
            </a:pPr>
            <a:r>
              <a:rPr lang="en-US" altLang="zh-CN" sz="2000">
                <a:solidFill>
                  <a:srgbClr val="0000FF"/>
                </a:solidFill>
                <a:latin typeface="Consolas" pitchFamily="49" charset="0"/>
                <a:ea typeface="仿宋" pitchFamily="49" charset="-122"/>
              </a:rPr>
              <a:t>   	for(int i=0;i&lt;k;i++)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最多调用</a:t>
            </a:r>
            <a:r>
              <a:rPr lang="en-US" altLang="zh-CN" sz="2000">
                <a:solidFill>
                  <a:srgbClr val="00B0F0"/>
                </a:solidFill>
                <a:latin typeface="Consolas" pitchFamily="49" charset="0"/>
                <a:ea typeface="仿宋" pitchFamily="49" charset="-122"/>
              </a:rPr>
              <a:t>k</a:t>
            </a:r>
            <a:r>
              <a:rPr lang="zh-CN" altLang="zh-CN" sz="2000">
                <a:solidFill>
                  <a:srgbClr val="00B0F0"/>
                </a:solidFill>
                <a:latin typeface="Consolas" pitchFamily="49" charset="0"/>
                <a:ea typeface="仿宋" pitchFamily="49" charset="-122"/>
              </a:rPr>
              <a:t>次</a:t>
            </a:r>
            <a:r>
              <a:rPr lang="en-US" altLang="zh-CN" sz="2000">
                <a:solidFill>
                  <a:srgbClr val="00B0F0"/>
                </a:solidFill>
                <a:latin typeface="Consolas" pitchFamily="49" charset="0"/>
                <a:ea typeface="仿宋" pitchFamily="49" charset="-122"/>
              </a:rPr>
              <a:t>majority</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if(</a:t>
            </a:r>
            <a:r>
              <a:rPr lang="en-US" altLang="zh-CN" sz="2000">
                <a:solidFill>
                  <a:srgbClr val="FF0000"/>
                </a:solidFill>
                <a:latin typeface="Consolas" pitchFamily="49" charset="0"/>
                <a:ea typeface="仿宋" pitchFamily="49" charset="-122"/>
              </a:rPr>
              <a:t>majority</a:t>
            </a:r>
            <a:r>
              <a:rPr lang="en-US" altLang="zh-CN" sz="2000">
                <a:solidFill>
                  <a:srgbClr val="0000FF"/>
                </a:solidFill>
                <a:latin typeface="Consolas" pitchFamily="49" charset="0"/>
                <a:ea typeface="仿宋" pitchFamily="49" charset="-122"/>
              </a:rPr>
              <a:t>(a,maj)) return true;</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return false;</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16</a:t>
            </a:fld>
            <a:r>
              <a:rPr lang="en-US" altLang="zh-CN"/>
              <a:t>/75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10" end="1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11" end="1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12" end="1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214282" y="428604"/>
            <a:ext cx="8786874" cy="468087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  	bool </a:t>
            </a:r>
            <a:r>
              <a:rPr lang="en-US" altLang="zh-CN" sz="2000">
                <a:solidFill>
                  <a:srgbClr val="FF0000"/>
                </a:solidFill>
                <a:latin typeface="Consolas" pitchFamily="49" charset="0"/>
                <a:ea typeface="仿宋" pitchFamily="49" charset="-122"/>
              </a:rPr>
              <a:t>majority</a:t>
            </a:r>
            <a:r>
              <a:rPr lang="en-US" altLang="zh-CN" sz="2000">
                <a:solidFill>
                  <a:srgbClr val="0000FF"/>
                </a:solidFill>
                <a:latin typeface="Consolas" pitchFamily="49" charset="0"/>
                <a:ea typeface="仿宋" pitchFamily="49" charset="-122"/>
              </a:rPr>
              <a:t>(vector&lt;int&gt;&amp;a,int &amp;maj) {   </a:t>
            </a: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判定主元素的蒙特卡罗算法</a:t>
            </a:r>
          </a:p>
          <a:p>
            <a:pPr algn="l" defTabSz="360000">
              <a:lnSpc>
                <a:spcPts val="2800"/>
              </a:lnSpc>
              <a:spcBef>
                <a:spcPts val="0"/>
              </a:spcBef>
            </a:pPr>
            <a:r>
              <a:rPr lang="en-US" altLang="zh-CN" sz="2000">
                <a:solidFill>
                  <a:srgbClr val="0000FF"/>
                </a:solidFill>
                <a:latin typeface="Consolas" pitchFamily="49" charset="0"/>
                <a:ea typeface="仿宋" pitchFamily="49" charset="-122"/>
              </a:rPr>
              <a:t>   	int n=a.size();</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int i=</a:t>
            </a:r>
            <a:r>
              <a:rPr lang="en-US" altLang="zh-CN" sz="2000">
                <a:solidFill>
                  <a:srgbClr val="FF0000"/>
                </a:solidFill>
                <a:latin typeface="Consolas" pitchFamily="49" charset="0"/>
                <a:ea typeface="仿宋" pitchFamily="49" charset="-122"/>
              </a:rPr>
              <a:t>randa</a:t>
            </a:r>
            <a:r>
              <a:rPr lang="en-US" altLang="zh-CN" sz="2000">
                <a:solidFill>
                  <a:srgbClr val="0000FF"/>
                </a:solidFill>
                <a:latin typeface="Consolas" pitchFamily="49" charset="0"/>
                <a:ea typeface="仿宋" pitchFamily="49" charset="-122"/>
              </a:rPr>
              <a:t>(0,n-1);</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maj=a[i];</a:t>
            </a:r>
            <a:endParaRPr lang="zh-CN" altLang="zh-CN" sz="2000">
              <a:solidFill>
                <a:srgbClr val="0000FF"/>
              </a:solidFill>
              <a:latin typeface="Consolas" pitchFamily="49" charset="0"/>
              <a:ea typeface="仿宋" pitchFamily="49" charset="-122"/>
            </a:endParaRPr>
          </a:p>
          <a:p>
            <a:pPr algn="l" defTabSz="360000">
              <a:lnSpc>
                <a:spcPts val="2800"/>
              </a:lnSpc>
              <a:spcBef>
                <a:spcPts val="1200"/>
              </a:spcBef>
            </a:pPr>
            <a:r>
              <a:rPr lang="en-US" altLang="zh-CN" sz="2000">
                <a:solidFill>
                  <a:srgbClr val="0000FF"/>
                </a:solidFill>
                <a:latin typeface="Consolas" pitchFamily="49" charset="0"/>
                <a:ea typeface="仿宋" pitchFamily="49" charset="-122"/>
              </a:rPr>
              <a:t>     	int </a:t>
            </a:r>
            <a:r>
              <a:rPr lang="en-US" altLang="zh-CN" sz="2000">
                <a:solidFill>
                  <a:srgbClr val="006600"/>
                </a:solidFill>
                <a:latin typeface="Consolas" pitchFamily="49" charset="0"/>
                <a:ea typeface="仿宋" pitchFamily="49" charset="-122"/>
              </a:rPr>
              <a:t>cnt</a:t>
            </a:r>
            <a:r>
              <a:rPr lang="en-US" altLang="zh-CN" sz="2000">
                <a:solidFill>
                  <a:srgbClr val="0000FF"/>
                </a:solidFill>
                <a:latin typeface="Consolas" pitchFamily="49" charset="0"/>
                <a:ea typeface="仿宋" pitchFamily="49" charset="-122"/>
              </a:rPr>
              <a:t>=0;</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for(int i=0;i&lt;n;i++)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累计</a:t>
            </a:r>
            <a:r>
              <a:rPr lang="en-US" altLang="zh-CN" sz="2000">
                <a:solidFill>
                  <a:srgbClr val="00B0F0"/>
                </a:solidFill>
                <a:latin typeface="Consolas" pitchFamily="49" charset="0"/>
                <a:ea typeface="仿宋" pitchFamily="49" charset="-122"/>
              </a:rPr>
              <a:t>a</a:t>
            </a:r>
            <a:r>
              <a:rPr lang="zh-CN" altLang="zh-CN" sz="2000">
                <a:solidFill>
                  <a:srgbClr val="00B0F0"/>
                </a:solidFill>
                <a:latin typeface="Consolas" pitchFamily="49" charset="0"/>
                <a:ea typeface="仿宋" pitchFamily="49" charset="-122"/>
              </a:rPr>
              <a:t>中</a:t>
            </a:r>
            <a:r>
              <a:rPr lang="en-US" altLang="zh-CN" sz="2000">
                <a:solidFill>
                  <a:srgbClr val="00B0F0"/>
                </a:solidFill>
                <a:latin typeface="Consolas" pitchFamily="49" charset="0"/>
                <a:ea typeface="仿宋" pitchFamily="49" charset="-122"/>
              </a:rPr>
              <a:t>maj</a:t>
            </a:r>
            <a:r>
              <a:rPr lang="zh-CN" altLang="zh-CN" sz="2000">
                <a:solidFill>
                  <a:srgbClr val="00B0F0"/>
                </a:solidFill>
                <a:latin typeface="Consolas" pitchFamily="49" charset="0"/>
                <a:ea typeface="仿宋" pitchFamily="49" charset="-122"/>
              </a:rPr>
              <a:t>出现的次数</a:t>
            </a:r>
            <a:r>
              <a:rPr lang="en-US" altLang="zh-CN" sz="2000">
                <a:solidFill>
                  <a:srgbClr val="00B0F0"/>
                </a:solidFill>
                <a:latin typeface="Consolas" pitchFamily="49" charset="0"/>
                <a:ea typeface="仿宋" pitchFamily="49" charset="-122"/>
              </a:rPr>
              <a:t>cnt</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if(a[i]==maj) </a:t>
            </a:r>
            <a:r>
              <a:rPr lang="en-US" altLang="zh-CN" sz="2000">
                <a:solidFill>
                  <a:srgbClr val="006600"/>
                </a:solidFill>
                <a:latin typeface="Consolas" pitchFamily="49" charset="0"/>
                <a:ea typeface="仿宋" pitchFamily="49" charset="-122"/>
              </a:rPr>
              <a:t>cnt++;</a:t>
            </a:r>
            <a:endParaRPr lang="zh-CN" altLang="zh-CN" sz="2000">
              <a:solidFill>
                <a:srgbClr val="00660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return </a:t>
            </a:r>
            <a:r>
              <a:rPr lang="en-US" altLang="zh-CN" sz="2000">
                <a:solidFill>
                  <a:srgbClr val="006600"/>
                </a:solidFill>
                <a:latin typeface="Consolas" pitchFamily="49" charset="0"/>
                <a:ea typeface="仿宋" pitchFamily="49" charset="-122"/>
              </a:rPr>
              <a:t>cnt</a:t>
            </a:r>
            <a:r>
              <a:rPr lang="en-US" altLang="zh-CN" sz="2000">
                <a:solidFill>
                  <a:srgbClr val="0000FF"/>
                </a:solidFill>
                <a:latin typeface="Consolas" pitchFamily="49" charset="0"/>
                <a:ea typeface="仿宋" pitchFamily="49" charset="-122"/>
              </a:rPr>
              <a:t>&gt;n/2;</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grpSp>
        <p:nvGrpSpPr>
          <p:cNvPr id="5" name="组合 9"/>
          <p:cNvGrpSpPr/>
          <p:nvPr/>
        </p:nvGrpSpPr>
        <p:grpSpPr>
          <a:xfrm>
            <a:off x="500034" y="5572140"/>
            <a:ext cx="8358246" cy="830997"/>
            <a:chOff x="928662" y="6286520"/>
            <a:chExt cx="8358246" cy="830997"/>
          </a:xfrm>
        </p:grpSpPr>
        <p:sp>
          <p:nvSpPr>
            <p:cNvPr id="6" name="TextBox 5"/>
            <p:cNvSpPr txBox="1"/>
            <p:nvPr/>
          </p:nvSpPr>
          <p:spPr>
            <a:xfrm>
              <a:off x="1857356" y="6286520"/>
              <a:ext cx="7429552" cy="830997"/>
            </a:xfrm>
            <a:prstGeom prst="rect">
              <a:avLst/>
            </a:prstGeom>
            <a:noFill/>
          </p:spPr>
          <p:txBody>
            <a:bodyPr wrap="square" rtlCol="0">
              <a:spAutoFit/>
            </a:bodyPr>
            <a:lstStyle/>
            <a:p>
              <a:pPr algn="l">
                <a:lnSpc>
                  <a:spcPct val="100000"/>
                </a:lnSpc>
                <a:spcBef>
                  <a:spcPts val="0"/>
                </a:spcBef>
              </a:pPr>
              <a:r>
                <a:rPr lang="en-US" altLang="zh-CN">
                  <a:solidFill>
                    <a:srgbClr val="006600"/>
                  </a:solidFill>
                  <a:latin typeface="Consolas" pitchFamily="49" charset="0"/>
                  <a:ea typeface="仿宋" pitchFamily="49" charset="-122"/>
                </a:rPr>
                <a:t>5</a:t>
              </a:r>
              <a:r>
                <a:rPr lang="zh-CN" altLang="zh-CN">
                  <a:solidFill>
                    <a:srgbClr val="006600"/>
                  </a:solidFill>
                  <a:latin typeface="Consolas" pitchFamily="49" charset="0"/>
                  <a:ea typeface="仿宋" pitchFamily="49" charset="-122"/>
                </a:rPr>
                <a:t>次提交中仅一次执行正确</a:t>
              </a:r>
              <a:r>
                <a:rPr lang="zh-CN" altLang="en-US">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执行用时为</a:t>
              </a:r>
              <a:r>
                <a:rPr lang="en-US" altLang="zh-CN">
                  <a:solidFill>
                    <a:srgbClr val="0000FF"/>
                  </a:solidFill>
                  <a:latin typeface="Consolas" pitchFamily="49" charset="0"/>
                  <a:ea typeface="仿宋" pitchFamily="49" charset="-122"/>
                </a:rPr>
                <a:t>41ms</a:t>
              </a:r>
              <a:r>
                <a:rPr lang="zh-CN" altLang="zh-CN">
                  <a:solidFill>
                    <a:srgbClr val="0000FF"/>
                  </a:solidFill>
                  <a:latin typeface="Consolas" pitchFamily="49" charset="0"/>
                  <a:ea typeface="仿宋" pitchFamily="49" charset="-122"/>
                </a:rPr>
                <a:t>，内存消耗为</a:t>
              </a:r>
              <a:r>
                <a:rPr lang="en-US" altLang="zh-CN">
                  <a:solidFill>
                    <a:srgbClr val="0000FF"/>
                  </a:solidFill>
                  <a:latin typeface="Consolas" pitchFamily="49" charset="0"/>
                  <a:ea typeface="仿宋" pitchFamily="49" charset="-122"/>
                </a:rPr>
                <a:t>5.43MB</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7" name="TextBox 6"/>
            <p:cNvSpPr txBox="1"/>
            <p:nvPr/>
          </p:nvSpPr>
          <p:spPr>
            <a:xfrm>
              <a:off x="928662" y="6488444"/>
              <a:ext cx="785818" cy="441018"/>
            </a:xfrm>
            <a:prstGeom prst="rect">
              <a:avLst/>
            </a:prstGeom>
            <a:ln>
              <a:noFill/>
            </a:ln>
            <a:effectLst>
              <a:outerShdw blurRad="76200" dir="13500000" sy="23000" kx="1200000" algn="br" rotWithShape="0">
                <a:prstClr val="black">
                  <a:alpha val="20000"/>
                </a:prstClr>
              </a:outerShdw>
            </a:effectLst>
            <a:scene3d>
              <a:camera prst="orthographicFront"/>
              <a:lightRig rig="threePt" dir="t"/>
            </a:scene3d>
            <a:sp3d>
              <a:bevelT prst="convex"/>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000"/>
                </a:lnSpc>
                <a:spcBef>
                  <a:spcPts val="0"/>
                </a:spcBef>
              </a:pPr>
              <a:r>
                <a:rPr lang="en-US" altLang="zh-CN" sz="2000">
                  <a:solidFill>
                    <a:srgbClr val="FF3300"/>
                  </a:solidFill>
                  <a:latin typeface="Eras Bold ITC" pitchFamily="34" charset="0"/>
                  <a:ea typeface="仿宋" pitchFamily="49" charset="-122"/>
                  <a:cs typeface="Courier New" pitchFamily="49" charset="0"/>
                </a:rPr>
                <a:t>EXE</a:t>
              </a:r>
              <a:endParaRPr lang="zh-CN" altLang="en-US" sz="2000">
                <a:solidFill>
                  <a:srgbClr val="FF3300"/>
                </a:solidFill>
                <a:latin typeface="Forte" pitchFamily="66" charset="0"/>
                <a:ea typeface="仿宋" pitchFamily="49" charset="-122"/>
                <a:cs typeface="Consolas" pitchFamily="49" charset="0"/>
              </a:endParaRPr>
            </a:p>
          </p:txBody>
        </p:sp>
      </p:grpSp>
      <p:sp>
        <p:nvSpPr>
          <p:cNvPr id="8" name="灯片编号占位符 7"/>
          <p:cNvSpPr>
            <a:spLocks noGrp="1"/>
          </p:cNvSpPr>
          <p:nvPr>
            <p:ph type="sldNum" sz="quarter" idx="12"/>
          </p:nvPr>
        </p:nvSpPr>
        <p:spPr/>
        <p:txBody>
          <a:bodyPr/>
          <a:lstStyle/>
          <a:p>
            <a:fld id="{7AF016A1-9F15-429F-9EFD-84004B73C732}" type="slidenum">
              <a:rPr lang="en-US" altLang="zh-CN" smtClean="0"/>
              <a:pPr/>
              <a:t>17</a:t>
            </a:fld>
            <a:r>
              <a:rPr lang="en-US" altLang="zh-CN"/>
              <a:t>/75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214282" y="1000108"/>
            <a:ext cx="8715436" cy="2298065"/>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2"/>
              </a:buBlip>
            </a:pPr>
            <a:r>
              <a:rPr lang="zh-CN" altLang="zh-CN">
                <a:solidFill>
                  <a:srgbClr val="0000FF"/>
                </a:solidFill>
                <a:latin typeface="Consolas" pitchFamily="49" charset="0"/>
                <a:ea typeface="仿宋" pitchFamily="49" charset="-122"/>
              </a:rPr>
              <a:t>如果将</a:t>
            </a:r>
            <a:r>
              <a:rPr lang="en-US" altLang="zh-CN" i="1">
                <a:solidFill>
                  <a:srgbClr val="0000FF"/>
                </a:solidFill>
                <a:latin typeface="Consolas" pitchFamily="49" charset="0"/>
                <a:ea typeface="仿宋" pitchFamily="49" charset="-122"/>
              </a:rPr>
              <a:t>k</a:t>
            </a:r>
            <a:r>
              <a:rPr lang="zh-CN" altLang="zh-CN">
                <a:solidFill>
                  <a:srgbClr val="0000FF"/>
                </a:solidFill>
                <a:latin typeface="Consolas" pitchFamily="49" charset="0"/>
                <a:ea typeface="仿宋" pitchFamily="49" charset="-122"/>
              </a:rPr>
              <a:t>改为足够大，也就是调用</a:t>
            </a:r>
            <a:r>
              <a:rPr lang="en-US" altLang="zh-CN">
                <a:solidFill>
                  <a:srgbClr val="0000FF"/>
                </a:solidFill>
                <a:latin typeface="Consolas" pitchFamily="49" charset="0"/>
                <a:ea typeface="仿宋" pitchFamily="49" charset="-122"/>
              </a:rPr>
              <a:t>majority(a</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maj)</a:t>
            </a:r>
            <a:r>
              <a:rPr lang="zh-CN" altLang="zh-CN">
                <a:solidFill>
                  <a:srgbClr val="0000FF"/>
                </a:solidFill>
                <a:latin typeface="Consolas" pitchFamily="49" charset="0"/>
                <a:ea typeface="仿宋" pitchFamily="49" charset="-122"/>
              </a:rPr>
              <a:t>的次数足够多，提交成功的概率就越大。</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2"/>
              </a:buBlip>
            </a:pPr>
            <a:r>
              <a:rPr lang="zh-CN" altLang="zh-CN">
                <a:solidFill>
                  <a:srgbClr val="0000FF"/>
                </a:solidFill>
                <a:latin typeface="Consolas" pitchFamily="49" charset="0"/>
                <a:ea typeface="仿宋" pitchFamily="49" charset="-122"/>
              </a:rPr>
              <a:t>对于任何给定的</a:t>
            </a:r>
            <a:r>
              <a:rPr lang="en-US" altLang="zh-CN">
                <a:solidFill>
                  <a:srgbClr val="0000FF"/>
                </a:solidFill>
                <a:latin typeface="Consolas" pitchFamily="49" charset="0"/>
                <a:ea typeface="仿宋" pitchFamily="49" charset="-122"/>
              </a:rPr>
              <a:t>e&gt;0</a:t>
            </a:r>
            <a:r>
              <a:rPr lang="zh-CN" altLang="zh-CN">
                <a:solidFill>
                  <a:srgbClr val="0000FF"/>
                </a:solidFill>
                <a:latin typeface="Consolas" pitchFamily="49" charset="0"/>
                <a:ea typeface="仿宋" pitchFamily="49" charset="-122"/>
              </a:rPr>
              <a:t>，将</a:t>
            </a:r>
            <a:r>
              <a:rPr lang="en-US" altLang="zh-CN">
                <a:solidFill>
                  <a:srgbClr val="0000FF"/>
                </a:solidFill>
                <a:latin typeface="Consolas" pitchFamily="49" charset="0"/>
                <a:ea typeface="仿宋" pitchFamily="49" charset="-122"/>
              </a:rPr>
              <a:t>solve</a:t>
            </a:r>
            <a:r>
              <a:rPr lang="zh-CN" altLang="zh-CN">
                <a:solidFill>
                  <a:srgbClr val="0000FF"/>
                </a:solidFill>
                <a:latin typeface="Consolas" pitchFamily="49" charset="0"/>
                <a:ea typeface="仿宋" pitchFamily="49" charset="-122"/>
              </a:rPr>
              <a:t>算法改为</a:t>
            </a:r>
            <a:r>
              <a:rPr lang="en-US" altLang="zh-CN">
                <a:solidFill>
                  <a:srgbClr val="0000FF"/>
                </a:solidFill>
                <a:latin typeface="Consolas" pitchFamily="49" charset="0"/>
                <a:ea typeface="仿宋" pitchFamily="49" charset="-122"/>
              </a:rPr>
              <a:t>solve(a</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maj</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e)</a:t>
            </a:r>
            <a:r>
              <a:rPr lang="zh-CN" altLang="zh-CN">
                <a:solidFill>
                  <a:srgbClr val="0000FF"/>
                </a:solidFill>
                <a:latin typeface="Consolas" pitchFamily="49" charset="0"/>
                <a:ea typeface="仿宋" pitchFamily="49" charset="-122"/>
              </a:rPr>
              <a:t>，其中重复调用</a:t>
            </a:r>
            <a:r>
              <a:rPr lang="en-US" altLang="zh-CN">
                <a:solidFill>
                  <a:srgbClr val="0000FF"/>
                </a:solidFill>
                <a:latin typeface="Consolas" pitchFamily="49" charset="0"/>
                <a:ea typeface="仿宋" pitchFamily="49" charset="-122"/>
              </a:rPr>
              <a:t>majority(a</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maj)</a:t>
            </a:r>
            <a:r>
              <a:rPr lang="zh-CN" altLang="zh-CN">
                <a:solidFill>
                  <a:srgbClr val="0000FF"/>
                </a:solidFill>
                <a:latin typeface="Consolas" pitchFamily="49" charset="0"/>
                <a:ea typeface="仿宋" pitchFamily="49" charset="-122"/>
              </a:rPr>
              <a:t>最多</a:t>
            </a:r>
            <a:r>
              <a:rPr lang="en-US" altLang="zh-CN">
                <a:solidFill>
                  <a:srgbClr val="0000FF"/>
                </a:solidFill>
                <a:latin typeface="Consolas" pitchFamily="49" charset="0"/>
                <a:ea typeface="仿宋" pitchFamily="49" charset="-122"/>
                <a:sym typeface="Symbol"/>
              </a:rPr>
              <a:t></a:t>
            </a:r>
            <a:r>
              <a:rPr lang="en-US" altLang="zh-CN">
                <a:solidFill>
                  <a:srgbClr val="0000FF"/>
                </a:solidFill>
                <a:latin typeface="Consolas" pitchFamily="49" charset="0"/>
                <a:ea typeface="仿宋" pitchFamily="49" charset="-122"/>
              </a:rPr>
              <a:t>log</a:t>
            </a:r>
            <a:r>
              <a:rPr lang="en-US" altLang="zh-CN" baseline="-25000">
                <a:solidFill>
                  <a:srgbClr val="0000FF"/>
                </a:solidFill>
                <a:latin typeface="Consolas" pitchFamily="49" charset="0"/>
                <a:ea typeface="仿宋" pitchFamily="49" charset="-122"/>
              </a:rPr>
              <a:t>2</a:t>
            </a:r>
            <a:r>
              <a:rPr lang="en-US" altLang="zh-CN">
                <a:solidFill>
                  <a:srgbClr val="0000FF"/>
                </a:solidFill>
                <a:latin typeface="Consolas" pitchFamily="49" charset="0"/>
                <a:ea typeface="仿宋" pitchFamily="49" charset="-122"/>
              </a:rPr>
              <a:t>(1/e)</a:t>
            </a:r>
            <a:r>
              <a:rPr lang="en-US" altLang="zh-CN">
                <a:solidFill>
                  <a:srgbClr val="0000FF"/>
                </a:solidFill>
                <a:latin typeface="Consolas" pitchFamily="49" charset="0"/>
                <a:ea typeface="仿宋" pitchFamily="49" charset="-122"/>
                <a:sym typeface="Symbol"/>
              </a:rPr>
              <a:t></a:t>
            </a:r>
            <a:r>
              <a:rPr lang="zh-CN" altLang="zh-CN">
                <a:solidFill>
                  <a:srgbClr val="0000FF"/>
                </a:solidFill>
                <a:latin typeface="Consolas" pitchFamily="49" charset="0"/>
                <a:ea typeface="仿宋" pitchFamily="49" charset="-122"/>
              </a:rPr>
              <a:t>次，则</a:t>
            </a:r>
            <a:r>
              <a:rPr lang="zh-CN" altLang="zh-CN">
                <a:solidFill>
                  <a:srgbClr val="FF0000"/>
                </a:solidFill>
                <a:latin typeface="Consolas" pitchFamily="49" charset="0"/>
                <a:ea typeface="仿宋" pitchFamily="49" charset="-122"/>
              </a:rPr>
              <a:t>错误概率小于</a:t>
            </a:r>
            <a:r>
              <a:rPr lang="en-US" altLang="zh-CN">
                <a:solidFill>
                  <a:srgbClr val="FF0000"/>
                </a:solidFill>
                <a:latin typeface="Consolas" pitchFamily="49" charset="0"/>
                <a:ea typeface="仿宋" pitchFamily="49" charset="-122"/>
              </a:rPr>
              <a:t>e</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18</a:t>
            </a:fld>
            <a:r>
              <a:rPr lang="en-US" altLang="zh-CN"/>
              <a:t>/75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285720" y="142852"/>
            <a:ext cx="2500330" cy="430887"/>
          </a:xfrm>
          <a:prstGeom prst="rect">
            <a:avLst/>
          </a:prstGeom>
          <a:noFill/>
        </p:spPr>
        <p:txBody>
          <a:bodyPr wrap="square" rtlCol="0">
            <a:spAutoFit/>
          </a:bodyPr>
          <a:lstStyle/>
          <a:p>
            <a:pPr algn="l">
              <a:lnSpc>
                <a:spcPct val="100000"/>
              </a:lnSpc>
              <a:spcBef>
                <a:spcPts val="0"/>
              </a:spcBef>
            </a:pPr>
            <a:r>
              <a:rPr lang="zh-CN" altLang="en-US" sz="2200">
                <a:solidFill>
                  <a:srgbClr val="0000FF"/>
                </a:solidFill>
                <a:latin typeface="Consolas" pitchFamily="49" charset="0"/>
                <a:ea typeface="仿宋" pitchFamily="49" charset="-122"/>
                <a:cs typeface="Consolas" pitchFamily="49" charset="0"/>
              </a:rPr>
              <a:t>设置</a:t>
            </a:r>
            <a:r>
              <a:rPr lang="en-US" altLang="zh-CN" sz="2200">
                <a:solidFill>
                  <a:srgbClr val="006600"/>
                </a:solidFill>
                <a:latin typeface="Consolas" pitchFamily="49" charset="0"/>
                <a:ea typeface="仿宋" pitchFamily="49" charset="-122"/>
                <a:cs typeface="Consolas" pitchFamily="49" charset="0"/>
              </a:rPr>
              <a:t>e=0.001</a:t>
            </a:r>
            <a:r>
              <a:rPr lang="en-US" altLang="zh-CN" sz="2200">
                <a:solidFill>
                  <a:srgbClr val="0000FF"/>
                </a:solidFill>
                <a:latin typeface="Consolas" pitchFamily="49" charset="0"/>
                <a:ea typeface="仿宋" pitchFamily="49" charset="-122"/>
                <a:cs typeface="Consolas" pitchFamily="49" charset="0"/>
              </a:rPr>
              <a:t>:</a:t>
            </a:r>
            <a:endParaRPr lang="zh-CN" altLang="en-US" sz="2200">
              <a:solidFill>
                <a:srgbClr val="0000FF"/>
              </a:solidFill>
              <a:latin typeface="Consolas" pitchFamily="49" charset="0"/>
              <a:ea typeface="仿宋" pitchFamily="49" charset="-122"/>
              <a:cs typeface="Consolas" pitchFamily="49" charset="0"/>
            </a:endParaRPr>
          </a:p>
        </p:txBody>
      </p:sp>
      <p:sp>
        <p:nvSpPr>
          <p:cNvPr id="5" name="TextBox 4"/>
          <p:cNvSpPr txBox="1"/>
          <p:nvPr/>
        </p:nvSpPr>
        <p:spPr>
          <a:xfrm>
            <a:off x="214282" y="714356"/>
            <a:ext cx="8786874" cy="560419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400"/>
              </a:lnSpc>
              <a:spcBef>
                <a:spcPts val="0"/>
              </a:spcBef>
            </a:pPr>
            <a:r>
              <a:rPr lang="en-US" altLang="zh-CN" sz="2000">
                <a:solidFill>
                  <a:srgbClr val="0000FF"/>
                </a:solidFill>
                <a:latin typeface="Consolas" pitchFamily="49" charset="0"/>
                <a:ea typeface="仿宋" pitchFamily="49" charset="-122"/>
              </a:rPr>
              <a:t>class Solution {</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public:</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int </a:t>
            </a:r>
            <a:r>
              <a:rPr lang="en-US" altLang="zh-CN" sz="2000">
                <a:solidFill>
                  <a:srgbClr val="FF0000"/>
                </a:solidFill>
                <a:latin typeface="Consolas" pitchFamily="49" charset="0"/>
                <a:ea typeface="仿宋" pitchFamily="49" charset="-122"/>
              </a:rPr>
              <a:t>majorityNumber</a:t>
            </a:r>
            <a:r>
              <a:rPr lang="en-US" altLang="zh-CN" sz="2000">
                <a:solidFill>
                  <a:srgbClr val="0000FF"/>
                </a:solidFill>
                <a:latin typeface="Consolas" pitchFamily="49" charset="0"/>
                <a:ea typeface="仿宋" pitchFamily="49" charset="-122"/>
              </a:rPr>
              <a:t>(vector&lt;int&gt; &amp;nums) {</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srand((unsigned)time(NULL));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随机种子</a:t>
            </a:r>
          </a:p>
          <a:p>
            <a:pPr algn="l" defTabSz="360000">
              <a:lnSpc>
                <a:spcPts val="2400"/>
              </a:lnSpc>
              <a:spcBef>
                <a:spcPts val="0"/>
              </a:spcBef>
            </a:pPr>
            <a:r>
              <a:rPr lang="en-US" altLang="zh-CN" sz="2000">
                <a:solidFill>
                  <a:srgbClr val="0000FF"/>
                </a:solidFill>
                <a:latin typeface="Consolas" pitchFamily="49" charset="0"/>
                <a:ea typeface="仿宋" pitchFamily="49" charset="-122"/>
              </a:rPr>
              <a:t>    	int maj;</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double </a:t>
            </a:r>
            <a:r>
              <a:rPr lang="en-US" altLang="zh-CN" sz="2000">
                <a:solidFill>
                  <a:srgbClr val="006600"/>
                </a:solidFill>
                <a:latin typeface="Consolas" pitchFamily="49" charset="0"/>
                <a:ea typeface="仿宋" pitchFamily="49" charset="-122"/>
              </a:rPr>
              <a:t>e=0.001</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if(</a:t>
            </a:r>
            <a:r>
              <a:rPr lang="en-US" altLang="zh-CN" sz="2000">
                <a:solidFill>
                  <a:srgbClr val="FF0000"/>
                </a:solidFill>
                <a:latin typeface="Consolas" pitchFamily="49" charset="0"/>
                <a:ea typeface="仿宋" pitchFamily="49" charset="-122"/>
              </a:rPr>
              <a:t>solve</a:t>
            </a:r>
            <a:r>
              <a:rPr lang="en-US" altLang="zh-CN" sz="2000">
                <a:solidFill>
                  <a:srgbClr val="0000FF"/>
                </a:solidFill>
                <a:latin typeface="Consolas" pitchFamily="49" charset="0"/>
                <a:ea typeface="仿宋" pitchFamily="49" charset="-122"/>
              </a:rPr>
              <a:t>(nums,maj,</a:t>
            </a:r>
            <a:r>
              <a:rPr lang="en-US" altLang="zh-CN" sz="2000">
                <a:solidFill>
                  <a:srgbClr val="006600"/>
                </a:solidFill>
                <a:latin typeface="Consolas" pitchFamily="49" charset="0"/>
                <a:ea typeface="仿宋" pitchFamily="49" charset="-122"/>
              </a:rPr>
              <a:t>e</a:t>
            </a:r>
            <a:r>
              <a:rPr lang="en-US" altLang="zh-CN" sz="2000">
                <a:solidFill>
                  <a:srgbClr val="0000FF"/>
                </a:solidFill>
                <a:latin typeface="Consolas" pitchFamily="49" charset="0"/>
                <a:ea typeface="仿宋" pitchFamily="49" charset="-122"/>
              </a:rPr>
              <a:t>)) return maj;</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400"/>
              </a:lnSpc>
              <a:spcBef>
                <a:spcPts val="1200"/>
              </a:spcBef>
            </a:pPr>
            <a:r>
              <a:rPr lang="en-US" altLang="zh-CN" sz="2000">
                <a:solidFill>
                  <a:srgbClr val="0000FF"/>
                </a:solidFill>
                <a:latin typeface="Consolas" pitchFamily="49" charset="0"/>
                <a:ea typeface="仿宋" pitchFamily="49" charset="-122"/>
              </a:rPr>
              <a:t>	bool </a:t>
            </a:r>
            <a:r>
              <a:rPr lang="en-US" altLang="zh-CN" sz="2000">
                <a:solidFill>
                  <a:srgbClr val="FF0000"/>
                </a:solidFill>
                <a:latin typeface="Consolas" pitchFamily="49" charset="0"/>
                <a:ea typeface="仿宋" pitchFamily="49" charset="-122"/>
              </a:rPr>
              <a:t>solve</a:t>
            </a:r>
            <a:r>
              <a:rPr lang="en-US" altLang="zh-CN" sz="2000">
                <a:solidFill>
                  <a:srgbClr val="0000FF"/>
                </a:solidFill>
                <a:latin typeface="Consolas" pitchFamily="49" charset="0"/>
                <a:ea typeface="仿宋" pitchFamily="49" charset="-122"/>
              </a:rPr>
              <a:t>(vector&lt;int&gt;&amp;a,int&amp;maj,double e) {	</a:t>
            </a: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求解算法</a:t>
            </a:r>
          </a:p>
          <a:p>
            <a:pPr algn="l" defTabSz="360000">
              <a:lnSpc>
                <a:spcPts val="2400"/>
              </a:lnSpc>
              <a:spcBef>
                <a:spcPts val="0"/>
              </a:spcBef>
            </a:pPr>
            <a:r>
              <a:rPr lang="en-US" altLang="zh-CN" sz="2000">
                <a:solidFill>
                  <a:srgbClr val="0000FF"/>
                </a:solidFill>
                <a:latin typeface="Consolas" pitchFamily="49" charset="0"/>
                <a:ea typeface="仿宋" pitchFamily="49" charset="-122"/>
              </a:rPr>
              <a:t>     	int </a:t>
            </a:r>
            <a:r>
              <a:rPr lang="en-US" altLang="zh-CN" sz="2000">
                <a:solidFill>
                  <a:srgbClr val="006600"/>
                </a:solidFill>
                <a:latin typeface="Consolas" pitchFamily="49" charset="0"/>
                <a:ea typeface="仿宋" pitchFamily="49" charset="-122"/>
              </a:rPr>
              <a:t>k=ceil(log(1/e)/log(2));</a:t>
            </a:r>
            <a:endParaRPr lang="zh-CN" altLang="zh-CN" sz="2000">
              <a:solidFill>
                <a:srgbClr val="006600"/>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for(int i=0;i&lt;k;i++)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最多执行</a:t>
            </a:r>
            <a:r>
              <a:rPr lang="en-US" altLang="zh-CN" sz="2000">
                <a:solidFill>
                  <a:srgbClr val="00B0F0"/>
                </a:solidFill>
                <a:latin typeface="Consolas" pitchFamily="49" charset="0"/>
                <a:ea typeface="仿宋" pitchFamily="49" charset="-122"/>
              </a:rPr>
              <a:t>k</a:t>
            </a:r>
            <a:r>
              <a:rPr lang="zh-CN" altLang="zh-CN" sz="2000">
                <a:solidFill>
                  <a:srgbClr val="00B0F0"/>
                </a:solidFill>
                <a:latin typeface="Consolas" pitchFamily="49" charset="0"/>
                <a:ea typeface="仿宋" pitchFamily="49" charset="-122"/>
              </a:rPr>
              <a:t>次保证错误概率小于</a:t>
            </a:r>
            <a:r>
              <a:rPr lang="en-US" altLang="zh-CN" sz="2000">
                <a:solidFill>
                  <a:srgbClr val="00B0F0"/>
                </a:solidFill>
                <a:latin typeface="Consolas" pitchFamily="49" charset="0"/>
                <a:ea typeface="仿宋" pitchFamily="49" charset="-122"/>
              </a:rPr>
              <a:t>e</a:t>
            </a:r>
            <a:endParaRPr lang="zh-CN" altLang="zh-CN" sz="2000">
              <a:solidFill>
                <a:srgbClr val="00B0F0"/>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if(</a:t>
            </a:r>
            <a:r>
              <a:rPr lang="en-US" altLang="zh-CN" sz="2000">
                <a:solidFill>
                  <a:srgbClr val="FF0000"/>
                </a:solidFill>
                <a:latin typeface="Consolas" pitchFamily="49" charset="0"/>
                <a:ea typeface="仿宋" pitchFamily="49" charset="-122"/>
              </a:rPr>
              <a:t>majority</a:t>
            </a:r>
            <a:r>
              <a:rPr lang="en-US" altLang="zh-CN" sz="2000">
                <a:solidFill>
                  <a:srgbClr val="0000FF"/>
                </a:solidFill>
                <a:latin typeface="Consolas" pitchFamily="49" charset="0"/>
                <a:ea typeface="仿宋" pitchFamily="49" charset="-122"/>
              </a:rPr>
              <a:t>(a,maj)) return true;</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return false;</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a:t>
            </a:r>
          </a:p>
          <a:p>
            <a:pPr algn="l" defTabSz="360000">
              <a:lnSpc>
                <a:spcPts val="24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00FF"/>
                </a:solidFill>
                <a:latin typeface="+mj-ea"/>
                <a:ea typeface="+mj-ea"/>
              </a:rPr>
              <a:t>…</a:t>
            </a:r>
          </a:p>
          <a:p>
            <a:pPr algn="l" defTabSz="360000">
              <a:lnSpc>
                <a:spcPts val="24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19</a:t>
            </a:fld>
            <a:r>
              <a:rPr lang="en-US" altLang="zh-CN"/>
              <a:t>/75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10" end="1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11" end="1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12" end="1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13" end="1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14" end="1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15" end="1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4" name="组合 9"/>
          <p:cNvGrpSpPr/>
          <p:nvPr/>
        </p:nvGrpSpPr>
        <p:grpSpPr>
          <a:xfrm>
            <a:off x="357158" y="1000108"/>
            <a:ext cx="8358246" cy="830997"/>
            <a:chOff x="928662" y="6286520"/>
            <a:chExt cx="8358246" cy="830997"/>
          </a:xfrm>
        </p:grpSpPr>
        <p:sp>
          <p:nvSpPr>
            <p:cNvPr id="5" name="TextBox 4"/>
            <p:cNvSpPr txBox="1"/>
            <p:nvPr/>
          </p:nvSpPr>
          <p:spPr>
            <a:xfrm>
              <a:off x="1857356" y="6286520"/>
              <a:ext cx="7429552" cy="830997"/>
            </a:xfrm>
            <a:prstGeom prst="rect">
              <a:avLst/>
            </a:prstGeom>
            <a:noFill/>
          </p:spPr>
          <p:txBody>
            <a:bodyPr wrap="square" rtlCol="0">
              <a:spAutoFit/>
            </a:bodyPr>
            <a:lstStyle/>
            <a:p>
              <a:pPr algn="l">
                <a:lnSpc>
                  <a:spcPct val="100000"/>
                </a:lnSpc>
                <a:spcBef>
                  <a:spcPts val="0"/>
                </a:spcBef>
              </a:pPr>
              <a:r>
                <a:rPr lang="en-US" altLang="zh-CN">
                  <a:solidFill>
                    <a:srgbClr val="006600"/>
                  </a:solidFill>
                  <a:latin typeface="Consolas" pitchFamily="49" charset="0"/>
                  <a:ea typeface="仿宋" pitchFamily="49" charset="-122"/>
                </a:rPr>
                <a:t>5</a:t>
              </a:r>
              <a:r>
                <a:rPr lang="zh-CN" altLang="zh-CN">
                  <a:solidFill>
                    <a:srgbClr val="006600"/>
                  </a:solidFill>
                  <a:latin typeface="Consolas" pitchFamily="49" charset="0"/>
                  <a:ea typeface="仿宋" pitchFamily="49" charset="-122"/>
                </a:rPr>
                <a:t>次提交均通过</a:t>
              </a:r>
              <a:r>
                <a:rPr lang="zh-CN" altLang="zh-CN">
                  <a:solidFill>
                    <a:srgbClr val="0000FF"/>
                  </a:solidFill>
                  <a:latin typeface="Consolas" pitchFamily="49" charset="0"/>
                  <a:ea typeface="仿宋" pitchFamily="49" charset="-122"/>
                </a:rPr>
                <a:t>，运行时间为</a:t>
              </a:r>
              <a:r>
                <a:rPr lang="en-US" altLang="zh-CN">
                  <a:solidFill>
                    <a:srgbClr val="0000FF"/>
                  </a:solidFill>
                  <a:latin typeface="Consolas" pitchFamily="49" charset="0"/>
                  <a:ea typeface="仿宋" pitchFamily="49" charset="-122"/>
                </a:rPr>
                <a:t>40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61ms</a:t>
              </a:r>
              <a:r>
                <a:rPr lang="zh-CN" altLang="zh-CN">
                  <a:solidFill>
                    <a:srgbClr val="0000FF"/>
                  </a:solidFill>
                  <a:latin typeface="Consolas" pitchFamily="49" charset="0"/>
                  <a:ea typeface="仿宋" pitchFamily="49" charset="-122"/>
                </a:rPr>
                <a:t>，消耗空间为</a:t>
              </a:r>
              <a:r>
                <a:rPr lang="en-US" altLang="zh-CN">
                  <a:solidFill>
                    <a:srgbClr val="0000FF"/>
                  </a:solidFill>
                  <a:latin typeface="Consolas" pitchFamily="49" charset="0"/>
                  <a:ea typeface="仿宋" pitchFamily="49" charset="-122"/>
                </a:rPr>
                <a:t>4.95</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5.42MB </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6" name="TextBox 5"/>
            <p:cNvSpPr txBox="1"/>
            <p:nvPr/>
          </p:nvSpPr>
          <p:spPr>
            <a:xfrm>
              <a:off x="928662" y="6488444"/>
              <a:ext cx="785818" cy="441018"/>
            </a:xfrm>
            <a:prstGeom prst="rect">
              <a:avLst/>
            </a:prstGeom>
            <a:ln>
              <a:noFill/>
            </a:ln>
            <a:effectLst>
              <a:outerShdw blurRad="76200" dir="13500000" sy="23000" kx="1200000" algn="br" rotWithShape="0">
                <a:prstClr val="black">
                  <a:alpha val="20000"/>
                </a:prstClr>
              </a:outerShdw>
            </a:effectLst>
            <a:scene3d>
              <a:camera prst="orthographicFront"/>
              <a:lightRig rig="threePt" dir="t"/>
            </a:scene3d>
            <a:sp3d>
              <a:bevelT prst="convex"/>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000"/>
                </a:lnSpc>
                <a:spcBef>
                  <a:spcPts val="0"/>
                </a:spcBef>
              </a:pPr>
              <a:r>
                <a:rPr lang="en-US" altLang="zh-CN" sz="2000">
                  <a:solidFill>
                    <a:srgbClr val="FF3300"/>
                  </a:solidFill>
                  <a:latin typeface="Eras Bold ITC" pitchFamily="34" charset="0"/>
                  <a:ea typeface="仿宋" pitchFamily="49" charset="-122"/>
                  <a:cs typeface="Courier New" pitchFamily="49" charset="0"/>
                </a:rPr>
                <a:t>EXE</a:t>
              </a:r>
              <a:endParaRPr lang="zh-CN" altLang="en-US" sz="2000">
                <a:solidFill>
                  <a:srgbClr val="FF3300"/>
                </a:solidFill>
                <a:latin typeface="Forte" pitchFamily="66" charset="0"/>
                <a:ea typeface="仿宋" pitchFamily="49" charset="-122"/>
                <a:cs typeface="Consolas" pitchFamily="49" charset="0"/>
              </a:endParaRPr>
            </a:p>
          </p:txBody>
        </p:sp>
      </p:grpSp>
      <p:sp>
        <p:nvSpPr>
          <p:cNvPr id="7" name="灯片编号占位符 6"/>
          <p:cNvSpPr>
            <a:spLocks noGrp="1"/>
          </p:cNvSpPr>
          <p:nvPr>
            <p:ph type="sldNum" sz="quarter" idx="12"/>
          </p:nvPr>
        </p:nvSpPr>
        <p:spPr/>
        <p:txBody>
          <a:bodyPr/>
          <a:lstStyle/>
          <a:p>
            <a:fld id="{7AF016A1-9F15-429F-9EFD-84004B73C732}" type="slidenum">
              <a:rPr lang="en-US" altLang="zh-CN" smtClean="0"/>
              <a:pPr/>
              <a:t>20</a:t>
            </a:fld>
            <a:r>
              <a:rPr lang="en-US" altLang="zh-CN"/>
              <a:t>/75</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357158" y="500042"/>
            <a:ext cx="4572032"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12.1.4 </a:t>
            </a:r>
            <a:r>
              <a:rPr lang="zh-CN" altLang="zh-CN" sz="2800">
                <a:latin typeface="Consolas" pitchFamily="49" charset="0"/>
                <a:ea typeface="微软雅黑" pitchFamily="34" charset="-122"/>
              </a:rPr>
              <a:t>拉斯维加斯算法</a:t>
            </a:r>
            <a:endParaRPr lang="zh-CN"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5" name="TextBox 4"/>
          <p:cNvSpPr txBox="1"/>
          <p:nvPr/>
        </p:nvSpPr>
        <p:spPr>
          <a:xfrm>
            <a:off x="428596" y="1571612"/>
            <a:ext cx="8286808" cy="1887696"/>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2"/>
              </a:buBlip>
            </a:pPr>
            <a:r>
              <a:rPr lang="zh-CN" altLang="zh-CN">
                <a:solidFill>
                  <a:srgbClr val="0000FF"/>
                </a:solidFill>
                <a:latin typeface="Consolas" pitchFamily="49" charset="0"/>
                <a:ea typeface="仿宋" pitchFamily="49" charset="-122"/>
              </a:rPr>
              <a:t>拉斯维加斯（</a:t>
            </a:r>
            <a:r>
              <a:rPr lang="en-US" altLang="zh-CN">
                <a:solidFill>
                  <a:srgbClr val="0000FF"/>
                </a:solidFill>
                <a:latin typeface="Consolas" pitchFamily="49" charset="0"/>
                <a:ea typeface="仿宋" pitchFamily="49" charset="-122"/>
              </a:rPr>
              <a:t>Las Vegas</a:t>
            </a:r>
            <a:r>
              <a:rPr lang="zh-CN" altLang="zh-CN">
                <a:solidFill>
                  <a:srgbClr val="0000FF"/>
                </a:solidFill>
                <a:latin typeface="Consolas" pitchFamily="49" charset="0"/>
                <a:ea typeface="仿宋" pitchFamily="49" charset="-122"/>
              </a:rPr>
              <a:t>）算法特点</a:t>
            </a:r>
            <a:r>
              <a:rPr lang="zh-CN" altLang="en-US">
                <a:solidFill>
                  <a:srgbClr val="0000FF"/>
                </a:solidFill>
                <a:latin typeface="Consolas" pitchFamily="49" charset="0"/>
                <a:ea typeface="仿宋" pitchFamily="49" charset="-122"/>
              </a:rPr>
              <a:t>：</a:t>
            </a:r>
            <a:r>
              <a:rPr lang="zh-CN" altLang="zh-CN">
                <a:solidFill>
                  <a:srgbClr val="FF0000"/>
                </a:solidFill>
                <a:latin typeface="Consolas" pitchFamily="49" charset="0"/>
                <a:ea typeface="仿宋" pitchFamily="49" charset="-122"/>
              </a:rPr>
              <a:t>一旦找到一个解，那么这个解肯定是正确的，但有时可能找不到解</a:t>
            </a:r>
            <a:r>
              <a:rPr lang="zh-CN" altLang="zh-CN">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2"/>
              </a:buBlip>
            </a:pPr>
            <a:r>
              <a:rPr lang="zh-CN" altLang="zh-CN">
                <a:solidFill>
                  <a:srgbClr val="0000FF"/>
                </a:solidFill>
                <a:latin typeface="Consolas" pitchFamily="49" charset="0"/>
                <a:ea typeface="仿宋" pitchFamily="49" charset="-122"/>
              </a:rPr>
              <a:t>与蒙特卡罗算法类似，拉斯维加斯算法得到正确解的概率随着它耗用的计算时间的增加而提高。</a:t>
            </a:r>
            <a:endParaRPr lang="zh-CN" altLang="en-US">
              <a:solidFill>
                <a:srgbClr val="0000FF"/>
              </a:solidFill>
              <a:latin typeface="Consolas" pitchFamily="49" charset="0"/>
              <a:ea typeface="仿宋" pitchFamily="49" charset="-122"/>
              <a:cs typeface="Consolas"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21</a:t>
            </a:fld>
            <a:r>
              <a:rPr lang="en-US" altLang="zh-CN"/>
              <a:t>/75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428596" y="642918"/>
            <a:ext cx="8215370" cy="1887696"/>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2"/>
              </a:buBlip>
            </a:pPr>
            <a:r>
              <a:rPr lang="zh-CN" altLang="zh-CN">
                <a:solidFill>
                  <a:srgbClr val="0000FF"/>
                </a:solidFill>
                <a:latin typeface="Consolas" pitchFamily="49" charset="0"/>
                <a:ea typeface="仿宋" pitchFamily="49" charset="-122"/>
              </a:rPr>
              <a:t>对于所求解问题的任一实例，用同一拉斯维加斯算法反复对该实例求解足够多次，可使求解失效的概率任意小。</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2"/>
              </a:buBlip>
            </a:pPr>
            <a:r>
              <a:rPr lang="zh-CN" altLang="zh-CN">
                <a:solidFill>
                  <a:srgbClr val="0000FF"/>
                </a:solidFill>
                <a:latin typeface="Consolas" pitchFamily="49" charset="0"/>
                <a:ea typeface="仿宋" pitchFamily="49" charset="-122"/>
              </a:rPr>
              <a:t>一般情况下可以让拉斯维加斯算法</a:t>
            </a:r>
            <a:r>
              <a:rPr lang="en-US" altLang="zh-CN">
                <a:solidFill>
                  <a:srgbClr val="0000FF"/>
                </a:solidFill>
                <a:latin typeface="Consolas" pitchFamily="49" charset="0"/>
                <a:ea typeface="仿宋" pitchFamily="49" charset="-122"/>
              </a:rPr>
              <a:t>LV</a:t>
            </a:r>
            <a:r>
              <a:rPr lang="zh-CN" altLang="zh-CN">
                <a:solidFill>
                  <a:srgbClr val="0000FF"/>
                </a:solidFill>
                <a:latin typeface="Consolas" pitchFamily="49" charset="0"/>
                <a:ea typeface="仿宋" pitchFamily="49" charset="-122"/>
              </a:rPr>
              <a:t>无限循环运行，直到找到正确的结果。如：</a:t>
            </a:r>
          </a:p>
        </p:txBody>
      </p:sp>
      <p:sp>
        <p:nvSpPr>
          <p:cNvPr id="5" name="TextBox 4"/>
          <p:cNvSpPr txBox="1"/>
          <p:nvPr/>
        </p:nvSpPr>
        <p:spPr>
          <a:xfrm>
            <a:off x="357126" y="2928934"/>
            <a:ext cx="8358278" cy="201347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void </a:t>
            </a:r>
            <a:r>
              <a:rPr lang="en-US" altLang="zh-CN" sz="2000">
                <a:solidFill>
                  <a:srgbClr val="FF0000"/>
                </a:solidFill>
                <a:latin typeface="Consolas" pitchFamily="49" charset="0"/>
                <a:ea typeface="仿宋" pitchFamily="49" charset="-122"/>
              </a:rPr>
              <a:t>solve</a:t>
            </a:r>
            <a:r>
              <a:rPr lang="en-US" altLang="zh-CN" sz="2000">
                <a:solidFill>
                  <a:srgbClr val="0000FF"/>
                </a:solidFill>
                <a:latin typeface="Consolas" pitchFamily="49" charset="0"/>
                <a:ea typeface="仿宋" pitchFamily="49" charset="-122"/>
              </a:rPr>
              <a:t>(x)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bool flag=false;</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while(!flag)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反复调用拉斯维加斯算法</a:t>
            </a:r>
            <a:r>
              <a:rPr lang="en-US" altLang="zh-CN" sz="2000">
                <a:solidFill>
                  <a:srgbClr val="00B0F0"/>
                </a:solidFill>
                <a:latin typeface="Consolas" pitchFamily="49" charset="0"/>
                <a:ea typeface="仿宋" pitchFamily="49" charset="-122"/>
              </a:rPr>
              <a:t>LV(x)</a:t>
            </a:r>
            <a:r>
              <a:rPr lang="zh-CN" altLang="zh-CN" sz="2000">
                <a:solidFill>
                  <a:srgbClr val="00B0F0"/>
                </a:solidFill>
                <a:latin typeface="Consolas" pitchFamily="49" charset="0"/>
                <a:ea typeface="仿宋" pitchFamily="49" charset="-122"/>
              </a:rPr>
              <a:t>直到找到一个解</a:t>
            </a:r>
          </a:p>
          <a:p>
            <a:pPr algn="l" defTabSz="360000">
              <a:lnSpc>
                <a:spcPts val="2800"/>
              </a:lnSpc>
              <a:spcBef>
                <a:spcPts val="0"/>
              </a:spcBef>
            </a:pPr>
            <a:r>
              <a:rPr lang="en-US" altLang="zh-CN" sz="2000">
                <a:solidFill>
                  <a:srgbClr val="0000FF"/>
                </a:solidFill>
                <a:latin typeface="Consolas" pitchFamily="49" charset="0"/>
                <a:ea typeface="仿宋" pitchFamily="49" charset="-122"/>
              </a:rPr>
              <a:t>		flag=</a:t>
            </a:r>
            <a:r>
              <a:rPr lang="en-US" altLang="zh-CN" sz="2000">
                <a:solidFill>
                  <a:srgbClr val="FF0000"/>
                </a:solidFill>
                <a:latin typeface="Consolas" pitchFamily="49" charset="0"/>
                <a:ea typeface="仿宋" pitchFamily="49" charset="-122"/>
              </a:rPr>
              <a:t>LV</a:t>
            </a:r>
            <a:r>
              <a:rPr lang="en-US" altLang="zh-CN" sz="2000">
                <a:solidFill>
                  <a:srgbClr val="0000FF"/>
                </a:solidFill>
                <a:latin typeface="Consolas" pitchFamily="49" charset="0"/>
                <a:ea typeface="仿宋" pitchFamily="49" charset="-122"/>
              </a:rPr>
              <a:t>(x);</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22</a:t>
            </a:fld>
            <a:r>
              <a:rPr lang="en-US" altLang="zh-CN"/>
              <a:t>/75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500034" y="500042"/>
            <a:ext cx="8001056" cy="461665"/>
          </a:xfrm>
          <a:prstGeom prst="rect">
            <a:avLst/>
          </a:prstGeom>
          <a:ln>
            <a:solidFill>
              <a:schemeClr val="accent6">
                <a:lumMod val="40000"/>
                <a:lumOff val="6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ct val="100000"/>
              </a:lnSpc>
              <a:spcBef>
                <a:spcPts val="0"/>
              </a:spcBef>
            </a:pPr>
            <a:r>
              <a:rPr lang="zh-CN" altLang="zh-CN">
                <a:solidFill>
                  <a:srgbClr val="FF0000"/>
                </a:solidFill>
                <a:latin typeface="Consolas" pitchFamily="49" charset="0"/>
                <a:ea typeface="楷体" pitchFamily="49" charset="-122"/>
              </a:rPr>
              <a:t>【例</a:t>
            </a:r>
            <a:r>
              <a:rPr lang="en-US" altLang="zh-CN">
                <a:solidFill>
                  <a:srgbClr val="FF0000"/>
                </a:solidFill>
                <a:latin typeface="Consolas" pitchFamily="49" charset="0"/>
                <a:ea typeface="楷体" pitchFamily="49" charset="-122"/>
              </a:rPr>
              <a:t>12.3</a:t>
            </a:r>
            <a:r>
              <a:rPr lang="zh-CN" altLang="zh-CN">
                <a:solidFill>
                  <a:srgbClr val="FF0000"/>
                </a:solidFill>
                <a:latin typeface="Consolas" pitchFamily="49" charset="0"/>
                <a:ea typeface="楷体" pitchFamily="49" charset="-122"/>
              </a:rPr>
              <a:t>】</a:t>
            </a:r>
            <a:r>
              <a:rPr lang="zh-CN" altLang="zh-CN">
                <a:solidFill>
                  <a:srgbClr val="0000FF"/>
                </a:solidFill>
                <a:latin typeface="Consolas" pitchFamily="49" charset="0"/>
                <a:ea typeface="仿宋" pitchFamily="49" charset="-122"/>
              </a:rPr>
              <a:t>设计一个求解</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皇后问题的拉斯维加斯算法。</a:t>
            </a:r>
          </a:p>
        </p:txBody>
      </p:sp>
      <p:grpSp>
        <p:nvGrpSpPr>
          <p:cNvPr id="7" name="组合 6"/>
          <p:cNvGrpSpPr/>
          <p:nvPr/>
        </p:nvGrpSpPr>
        <p:grpSpPr>
          <a:xfrm>
            <a:off x="428596" y="1428736"/>
            <a:ext cx="8358246" cy="3299043"/>
            <a:chOff x="428596" y="1428736"/>
            <a:chExt cx="8358246" cy="3299043"/>
          </a:xfrm>
        </p:grpSpPr>
        <p:sp>
          <p:nvSpPr>
            <p:cNvPr id="5" name="TextBox 4"/>
            <p:cNvSpPr txBox="1"/>
            <p:nvPr/>
          </p:nvSpPr>
          <p:spPr>
            <a:xfrm>
              <a:off x="571472" y="1428736"/>
              <a:ext cx="500066"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a:solidFill>
                    <a:srgbClr val="FF0000"/>
                  </a:solidFill>
                  <a:latin typeface="微软雅黑" pitchFamily="34" charset="-122"/>
                  <a:ea typeface="微软雅黑" pitchFamily="34" charset="-122"/>
                  <a:cs typeface="Consolas" pitchFamily="49" charset="0"/>
                </a:rPr>
                <a:t>解</a:t>
              </a:r>
              <a:endParaRPr lang="zh-CN" altLang="en-US">
                <a:ln w="18415" cmpd="sng">
                  <a:solidFill>
                    <a:srgbClr val="FFFFFF"/>
                  </a:solidFill>
                  <a:prstDash val="solid"/>
                </a:ln>
                <a:solidFill>
                  <a:srgbClr val="FF0000"/>
                </a:solidFill>
                <a:effectLst>
                  <a:outerShdw blurRad="63500" dir="3600000" algn="tl" rotWithShape="0">
                    <a:srgbClr val="000000">
                      <a:alpha val="70000"/>
                    </a:srgbClr>
                  </a:outerShdw>
                </a:effectLst>
                <a:latin typeface="微软雅黑" pitchFamily="34" charset="-122"/>
                <a:ea typeface="微软雅黑" pitchFamily="34" charset="-122"/>
                <a:cs typeface="Consolas" pitchFamily="49" charset="0"/>
              </a:endParaRPr>
            </a:p>
          </p:txBody>
        </p:sp>
        <p:sp>
          <p:nvSpPr>
            <p:cNvPr id="6" name="TextBox 5"/>
            <p:cNvSpPr txBox="1"/>
            <p:nvPr/>
          </p:nvSpPr>
          <p:spPr>
            <a:xfrm>
              <a:off x="428596" y="2275826"/>
              <a:ext cx="8358246" cy="2451953"/>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2"/>
                </a:buBlip>
              </a:pPr>
              <a:r>
                <a:rPr lang="zh-CN" altLang="zh-CN">
                  <a:solidFill>
                    <a:srgbClr val="0000FF"/>
                  </a:solidFill>
                  <a:latin typeface="Consolas" pitchFamily="49" charset="0"/>
                  <a:ea typeface="仿宋" pitchFamily="49" charset="-122"/>
                </a:rPr>
                <a:t>当在第</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行放置一个皇后时，可能的列为</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a:t>
              </a:r>
            </a:p>
            <a:p>
              <a:pPr marL="457200" indent="-457200" algn="l">
                <a:lnSpc>
                  <a:spcPts val="3200"/>
                </a:lnSpc>
                <a:spcBef>
                  <a:spcPts val="1200"/>
                </a:spcBef>
                <a:buBlip>
                  <a:blip r:embed="rId2"/>
                </a:buBlip>
              </a:pPr>
              <a:r>
                <a:rPr lang="zh-CN" altLang="zh-CN">
                  <a:solidFill>
                    <a:srgbClr val="0000FF"/>
                  </a:solidFill>
                  <a:latin typeface="Consolas" pitchFamily="49" charset="0"/>
                  <a:ea typeface="仿宋" pitchFamily="49" charset="-122"/>
                </a:rPr>
                <a:t>产生一个</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的随机数</a:t>
              </a:r>
              <a:r>
                <a:rPr lang="en-US" altLang="zh-CN" i="1">
                  <a:solidFill>
                    <a:srgbClr val="FF0000"/>
                  </a:solidFill>
                  <a:latin typeface="Consolas" pitchFamily="49" charset="0"/>
                  <a:ea typeface="仿宋" pitchFamily="49" charset="-122"/>
                </a:rPr>
                <a:t>j</a:t>
              </a:r>
              <a:r>
                <a:rPr lang="zh-CN" altLang="zh-CN">
                  <a:solidFill>
                    <a:srgbClr val="0000FF"/>
                  </a:solidFill>
                  <a:latin typeface="Consolas" pitchFamily="49" charset="0"/>
                  <a:ea typeface="仿宋" pitchFamily="49" charset="-122"/>
                </a:rPr>
                <a:t>，如果皇后的位置（</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j</a:t>
              </a:r>
              <a:r>
                <a:rPr lang="zh-CN" altLang="zh-CN">
                  <a:solidFill>
                    <a:srgbClr val="0000FF"/>
                  </a:solidFill>
                  <a:latin typeface="Consolas" pitchFamily="49" charset="0"/>
                  <a:ea typeface="仿宋" pitchFamily="49" charset="-122"/>
                </a:rPr>
                <a:t>）发生冲突，继续产生另外一个随机数</a:t>
              </a:r>
              <a:r>
                <a:rPr lang="en-US" altLang="zh-CN" i="1">
                  <a:solidFill>
                    <a:srgbClr val="0000FF"/>
                  </a:solidFill>
                  <a:latin typeface="Consolas" pitchFamily="49" charset="0"/>
                  <a:ea typeface="仿宋" pitchFamily="49" charset="-122"/>
                </a:rPr>
                <a:t>j</a:t>
              </a:r>
              <a:r>
                <a:rPr lang="zh-CN" altLang="zh-CN">
                  <a:solidFill>
                    <a:srgbClr val="0000FF"/>
                  </a:solidFill>
                  <a:latin typeface="Consolas" pitchFamily="49" charset="0"/>
                  <a:ea typeface="仿宋" pitchFamily="49" charset="-122"/>
                </a:rPr>
                <a:t>，这样最多试探</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次。</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2"/>
                </a:buBlip>
              </a:pPr>
              <a:r>
                <a:rPr lang="zh-CN" altLang="zh-CN">
                  <a:solidFill>
                    <a:srgbClr val="0000FF"/>
                  </a:solidFill>
                  <a:latin typeface="Consolas" pitchFamily="49" charset="0"/>
                  <a:ea typeface="仿宋" pitchFamily="49" charset="-122"/>
                </a:rPr>
                <a:t>其中任何一次试探成功（不冲突），则继续查找下一个皇后位置，如果试探超过</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次，算法返回</a:t>
              </a:r>
              <a:r>
                <a:rPr lang="en-US" altLang="zh-CN">
                  <a:solidFill>
                    <a:srgbClr val="0000FF"/>
                  </a:solidFill>
                  <a:latin typeface="Consolas" pitchFamily="49" charset="0"/>
                  <a:ea typeface="仿宋" pitchFamily="49" charset="-122"/>
                </a:rPr>
                <a:t>false</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grpSp>
      <p:sp>
        <p:nvSpPr>
          <p:cNvPr id="8" name="灯片编号占位符 7"/>
          <p:cNvSpPr>
            <a:spLocks noGrp="1"/>
          </p:cNvSpPr>
          <p:nvPr>
            <p:ph type="sldNum" sz="quarter" idx="12"/>
          </p:nvPr>
        </p:nvSpPr>
        <p:spPr/>
        <p:txBody>
          <a:bodyPr/>
          <a:lstStyle/>
          <a:p>
            <a:fld id="{7AF016A1-9F15-429F-9EFD-84004B73C732}" type="slidenum">
              <a:rPr lang="en-US" altLang="zh-CN" smtClean="0"/>
              <a:pPr/>
              <a:t>23</a:t>
            </a:fld>
            <a:r>
              <a:rPr lang="en-US" altLang="zh-CN"/>
              <a:t>/75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214282" y="714356"/>
            <a:ext cx="8786874" cy="296245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int q[N];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存放各皇后的列号</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即</a:t>
            </a:r>
            <a:r>
              <a:rPr lang="en-US" altLang="zh-CN" sz="2000">
                <a:solidFill>
                  <a:srgbClr val="00B0F0"/>
                </a:solidFill>
                <a:latin typeface="Consolas" pitchFamily="49" charset="0"/>
                <a:ea typeface="仿宋" pitchFamily="49" charset="-122"/>
              </a:rPr>
              <a:t>(i,q[i])</a:t>
            </a:r>
            <a:r>
              <a:rPr lang="zh-CN" altLang="zh-CN" sz="2000">
                <a:solidFill>
                  <a:srgbClr val="00B0F0"/>
                </a:solidFill>
                <a:latin typeface="Consolas" pitchFamily="49" charset="0"/>
                <a:ea typeface="仿宋" pitchFamily="49" charset="-122"/>
              </a:rPr>
              <a:t>为一个皇后位置</a:t>
            </a:r>
          </a:p>
          <a:p>
            <a:pPr algn="l" defTabSz="360000">
              <a:lnSpc>
                <a:spcPts val="2800"/>
              </a:lnSpc>
              <a:spcBef>
                <a:spcPts val="1800"/>
              </a:spcBef>
            </a:pPr>
            <a:r>
              <a:rPr lang="en-US" altLang="zh-CN" sz="2000">
                <a:solidFill>
                  <a:srgbClr val="0000FF"/>
                </a:solidFill>
                <a:latin typeface="Consolas" pitchFamily="49" charset="0"/>
                <a:ea typeface="仿宋" pitchFamily="49" charset="-122"/>
              </a:rPr>
              <a:t>void </a:t>
            </a:r>
            <a:r>
              <a:rPr lang="en-US" altLang="zh-CN" sz="2000">
                <a:solidFill>
                  <a:srgbClr val="FF0000"/>
                </a:solidFill>
                <a:latin typeface="Consolas" pitchFamily="49" charset="0"/>
                <a:ea typeface="仿宋" pitchFamily="49" charset="-122"/>
              </a:rPr>
              <a:t>dispasolution</a:t>
            </a:r>
            <a:r>
              <a:rPr lang="en-US" altLang="zh-CN" sz="2000">
                <a:solidFill>
                  <a:srgbClr val="0000FF"/>
                </a:solidFill>
                <a:latin typeface="Consolas" pitchFamily="49" charset="0"/>
                <a:ea typeface="仿宋" pitchFamily="49" charset="-122"/>
              </a:rPr>
              <a:t>(int n) {		</a:t>
            </a: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输出</a:t>
            </a:r>
            <a:r>
              <a:rPr lang="en-US" altLang="zh-CN" sz="2000">
                <a:solidFill>
                  <a:srgbClr val="00B050"/>
                </a:solidFill>
                <a:latin typeface="Consolas" pitchFamily="49" charset="0"/>
                <a:ea typeface="仿宋" pitchFamily="49" charset="-122"/>
              </a:rPr>
              <a:t>n</a:t>
            </a:r>
            <a:r>
              <a:rPr lang="zh-CN" altLang="zh-CN" sz="2000">
                <a:solidFill>
                  <a:srgbClr val="00B050"/>
                </a:solidFill>
                <a:latin typeface="Consolas" pitchFamily="49" charset="0"/>
                <a:ea typeface="仿宋" pitchFamily="49" charset="-122"/>
              </a:rPr>
              <a:t>皇后问题的一个解</a:t>
            </a:r>
          </a:p>
          <a:p>
            <a:pPr algn="l" defTabSz="360000">
              <a:lnSpc>
                <a:spcPts val="2800"/>
              </a:lnSpc>
              <a:spcBef>
                <a:spcPts val="0"/>
              </a:spcBef>
            </a:pPr>
            <a:r>
              <a:rPr lang="en-US" altLang="zh-CN" sz="2000">
                <a:solidFill>
                  <a:srgbClr val="0000FF"/>
                </a:solidFill>
                <a:latin typeface="Consolas" pitchFamily="49" charset="0"/>
                <a:ea typeface="仿宋" pitchFamily="49" charset="-122"/>
              </a:rPr>
              <a:t>	printf("  </a:t>
            </a:r>
            <a:r>
              <a:rPr lang="zh-CN" altLang="zh-CN" sz="2000">
                <a:solidFill>
                  <a:srgbClr val="0000FF"/>
                </a:solidFill>
                <a:latin typeface="Consolas" pitchFamily="49" charset="0"/>
                <a:ea typeface="仿宋" pitchFamily="49" charset="-122"/>
              </a:rPr>
              <a:t>找到一个解</a:t>
            </a: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for (int i=1;i&lt;=n;i++)</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printf("(%d,%d) ",i,q[i]);</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printf("\n");</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24</a:t>
            </a:fld>
            <a:r>
              <a:rPr lang="en-US" altLang="zh-CN"/>
              <a:t>/75</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214282" y="714356"/>
            <a:ext cx="8786874" cy="366001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700"/>
              </a:lnSpc>
              <a:spcBef>
                <a:spcPts val="0"/>
              </a:spcBef>
            </a:pPr>
            <a:r>
              <a:rPr lang="en-US" altLang="zh-CN" sz="2000">
                <a:solidFill>
                  <a:srgbClr val="0000FF"/>
                </a:solidFill>
                <a:latin typeface="Consolas" pitchFamily="49" charset="0"/>
                <a:ea typeface="仿宋" pitchFamily="49" charset="-122"/>
              </a:rPr>
              <a:t>bool </a:t>
            </a:r>
            <a:r>
              <a:rPr lang="en-US" altLang="zh-CN" sz="2000">
                <a:solidFill>
                  <a:srgbClr val="FF0000"/>
                </a:solidFill>
                <a:latin typeface="Consolas" pitchFamily="49" charset="0"/>
                <a:ea typeface="仿宋" pitchFamily="49" charset="-122"/>
              </a:rPr>
              <a:t>place</a:t>
            </a:r>
            <a:r>
              <a:rPr lang="en-US" altLang="zh-CN" sz="2000">
                <a:solidFill>
                  <a:srgbClr val="0000FF"/>
                </a:solidFill>
                <a:latin typeface="Consolas" pitchFamily="49" charset="0"/>
                <a:ea typeface="仿宋" pitchFamily="49" charset="-122"/>
              </a:rPr>
              <a:t>(int i,int j)	{		</a:t>
            </a: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测试</a:t>
            </a:r>
            <a:r>
              <a:rPr lang="en-US" altLang="zh-CN" sz="2000">
                <a:solidFill>
                  <a:srgbClr val="00B050"/>
                </a:solidFill>
                <a:latin typeface="Consolas" pitchFamily="49" charset="0"/>
                <a:ea typeface="仿宋" pitchFamily="49" charset="-122"/>
              </a:rPr>
              <a:t>(i,j)</a:t>
            </a:r>
            <a:r>
              <a:rPr lang="zh-CN" altLang="zh-CN" sz="2000">
                <a:solidFill>
                  <a:srgbClr val="00B050"/>
                </a:solidFill>
                <a:latin typeface="Consolas" pitchFamily="49" charset="0"/>
                <a:ea typeface="仿宋" pitchFamily="49" charset="-122"/>
              </a:rPr>
              <a:t>位置能否摆放皇后</a:t>
            </a:r>
          </a:p>
          <a:p>
            <a:pPr algn="l" defTabSz="360000">
              <a:lnSpc>
                <a:spcPts val="2700"/>
              </a:lnSpc>
              <a:spcBef>
                <a:spcPts val="0"/>
              </a:spcBef>
            </a:pPr>
            <a:r>
              <a:rPr lang="en-US" altLang="zh-CN" sz="2000">
                <a:solidFill>
                  <a:srgbClr val="0000FF"/>
                </a:solidFill>
                <a:latin typeface="Consolas" pitchFamily="49" charset="0"/>
                <a:ea typeface="仿宋" pitchFamily="49" charset="-122"/>
              </a:rPr>
              <a:t>	if (i==1) return true;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第一个皇后总是可以放置</a:t>
            </a:r>
          </a:p>
          <a:p>
            <a:pPr algn="l" defTabSz="360000">
              <a:lnSpc>
                <a:spcPts val="2700"/>
              </a:lnSpc>
              <a:spcBef>
                <a:spcPts val="0"/>
              </a:spcBef>
            </a:pPr>
            <a:r>
              <a:rPr lang="en-US" altLang="zh-CN" sz="2000">
                <a:solidFill>
                  <a:srgbClr val="0000FF"/>
                </a:solidFill>
                <a:latin typeface="Consolas" pitchFamily="49" charset="0"/>
                <a:ea typeface="仿宋" pitchFamily="49" charset="-122"/>
              </a:rPr>
              <a:t>	int k=1;</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while (</a:t>
            </a:r>
            <a:r>
              <a:rPr lang="en-US" altLang="zh-CN" sz="2000">
                <a:solidFill>
                  <a:srgbClr val="FF00FF"/>
                </a:solidFill>
                <a:latin typeface="Consolas" pitchFamily="49" charset="0"/>
                <a:ea typeface="仿宋" pitchFamily="49" charset="-122"/>
              </a:rPr>
              <a:t>k&lt;i</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//k=1</a:t>
            </a:r>
            <a:r>
              <a:rPr lang="zh-CN" altLang="zh-CN" sz="2000">
                <a:solidFill>
                  <a:srgbClr val="00B0F0"/>
                </a:solidFill>
                <a:latin typeface="Consolas" pitchFamily="49" charset="0"/>
                <a:ea typeface="仿宋" pitchFamily="49" charset="-122"/>
              </a:rPr>
              <a:t>～</a:t>
            </a:r>
            <a:r>
              <a:rPr lang="en-US" altLang="zh-CN" sz="2000">
                <a:solidFill>
                  <a:srgbClr val="00B0F0"/>
                </a:solidFill>
                <a:latin typeface="Consolas" pitchFamily="49" charset="0"/>
                <a:ea typeface="仿宋" pitchFamily="49" charset="-122"/>
              </a:rPr>
              <a:t>i-1</a:t>
            </a:r>
            <a:r>
              <a:rPr lang="zh-CN" altLang="zh-CN" sz="2000">
                <a:solidFill>
                  <a:srgbClr val="00B0F0"/>
                </a:solidFill>
                <a:latin typeface="Consolas" pitchFamily="49" charset="0"/>
                <a:ea typeface="仿宋" pitchFamily="49" charset="-122"/>
              </a:rPr>
              <a:t>是已放置了皇后的行</a:t>
            </a:r>
          </a:p>
          <a:p>
            <a:pPr algn="l" defTabSz="360000">
              <a:lnSpc>
                <a:spcPts val="27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q[k]==j</a:t>
            </a:r>
            <a:r>
              <a:rPr lang="en-US" altLang="zh-CN" sz="2000">
                <a:solidFill>
                  <a:srgbClr val="0000FF"/>
                </a:solidFill>
                <a:latin typeface="Consolas" pitchFamily="49" charset="0"/>
                <a:ea typeface="仿宋" pitchFamily="49" charset="-122"/>
              </a:rPr>
              <a:t>) || (</a:t>
            </a:r>
            <a:r>
              <a:rPr lang="en-US" altLang="zh-CN" sz="2000">
                <a:solidFill>
                  <a:srgbClr val="FF00FF"/>
                </a:solidFill>
                <a:latin typeface="Consolas" pitchFamily="49" charset="0"/>
                <a:ea typeface="仿宋" pitchFamily="49" charset="-122"/>
              </a:rPr>
              <a:t>abs(q[k]-j)==abs(i-k)</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return false;</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k++;</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return true;</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25</a:t>
            </a:fld>
            <a:r>
              <a:rPr lang="en-US" altLang="zh-CN"/>
              <a:t>/75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214282" y="974004"/>
            <a:ext cx="8786874" cy="252643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3000"/>
              </a:lnSpc>
              <a:spcBef>
                <a:spcPts val="0"/>
              </a:spcBef>
            </a:pPr>
            <a:r>
              <a:rPr lang="en-US" altLang="zh-CN" sz="2000">
                <a:solidFill>
                  <a:srgbClr val="0000FF"/>
                </a:solidFill>
                <a:latin typeface="Consolas" pitchFamily="49" charset="0"/>
                <a:ea typeface="仿宋" pitchFamily="49" charset="-122"/>
              </a:rPr>
              <a:t>bool </a:t>
            </a:r>
            <a:r>
              <a:rPr lang="en-US" altLang="zh-CN" sz="2000">
                <a:solidFill>
                  <a:srgbClr val="FF0000"/>
                </a:solidFill>
                <a:latin typeface="Consolas" pitchFamily="49" charset="0"/>
                <a:ea typeface="仿宋" pitchFamily="49" charset="-122"/>
              </a:rPr>
              <a:t>queen</a:t>
            </a:r>
            <a:r>
              <a:rPr lang="en-US" altLang="zh-CN" sz="2000">
                <a:solidFill>
                  <a:srgbClr val="0000FF"/>
                </a:solidFill>
                <a:latin typeface="Consolas" pitchFamily="49" charset="0"/>
                <a:ea typeface="仿宋" pitchFamily="49" charset="-122"/>
              </a:rPr>
              <a:t>(int i,int n) {		</a:t>
            </a: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求</a:t>
            </a:r>
            <a:r>
              <a:rPr lang="en-US" altLang="zh-CN" sz="2000">
                <a:solidFill>
                  <a:srgbClr val="00B050"/>
                </a:solidFill>
                <a:latin typeface="Consolas" pitchFamily="49" charset="0"/>
                <a:ea typeface="仿宋" pitchFamily="49" charset="-122"/>
              </a:rPr>
              <a:t>n</a:t>
            </a:r>
            <a:r>
              <a:rPr lang="zh-CN" altLang="zh-CN" sz="2000">
                <a:solidFill>
                  <a:srgbClr val="00B050"/>
                </a:solidFill>
                <a:latin typeface="Consolas" pitchFamily="49" charset="0"/>
                <a:ea typeface="仿宋" pitchFamily="49" charset="-122"/>
              </a:rPr>
              <a:t>皇后问题的拉斯维加斯算法</a:t>
            </a:r>
          </a:p>
          <a:p>
            <a:pPr algn="l" defTabSz="360000">
              <a:lnSpc>
                <a:spcPts val="3000"/>
              </a:lnSpc>
              <a:spcBef>
                <a:spcPts val="0"/>
              </a:spcBef>
            </a:pPr>
            <a:r>
              <a:rPr lang="en-US" altLang="zh-CN" sz="2000">
                <a:solidFill>
                  <a:srgbClr val="0000FF"/>
                </a:solidFill>
                <a:latin typeface="Consolas" pitchFamily="49" charset="0"/>
                <a:ea typeface="仿宋" pitchFamily="49" charset="-122"/>
              </a:rPr>
              <a:t>	int cnt,j;</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i&gt;n</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所有皇后放置结束</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FF0000"/>
                </a:solidFill>
                <a:latin typeface="Consolas" pitchFamily="49" charset="0"/>
                <a:ea typeface="仿宋" pitchFamily="49" charset="-122"/>
              </a:rPr>
              <a:t>dispasolution</a:t>
            </a:r>
            <a:r>
              <a:rPr lang="en-US" altLang="zh-CN" sz="2000">
                <a:solidFill>
                  <a:srgbClr val="0000FF"/>
                </a:solidFill>
                <a:latin typeface="Consolas" pitchFamily="49" charset="0"/>
                <a:ea typeface="仿宋" pitchFamily="49" charset="-122"/>
              </a:rPr>
              <a:t>(n);			</a:t>
            </a:r>
            <a:r>
              <a:rPr lang="en-US" altLang="zh-CN" sz="2000">
                <a:solidFill>
                  <a:srgbClr val="00B0F0"/>
                </a:solidFill>
                <a:latin typeface="Consolas" pitchFamily="49" charset="0"/>
                <a:ea typeface="仿宋" pitchFamily="49" charset="-122"/>
              </a:rPr>
              <a:t>//</a:t>
            </a:r>
            <a:r>
              <a:rPr lang="zh-CN" altLang="en-US" sz="2000">
                <a:solidFill>
                  <a:srgbClr val="00B0F0"/>
                </a:solidFill>
                <a:latin typeface="Consolas" pitchFamily="49" charset="0"/>
                <a:ea typeface="仿宋" pitchFamily="49" charset="-122"/>
              </a:rPr>
              <a:t>输出一个解</a:t>
            </a:r>
            <a:endParaRPr lang="zh-CN" altLang="zh-CN" sz="2000">
              <a:solidFill>
                <a:srgbClr val="00B0F0"/>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return true;</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26</a:t>
            </a:fld>
            <a:r>
              <a:rPr lang="en-US" altLang="zh-CN"/>
              <a:t>/75</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214282" y="714356"/>
            <a:ext cx="8786874" cy="453525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	else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cnt=0;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试探次数累计</a:t>
            </a:r>
          </a:p>
          <a:p>
            <a:pPr algn="l" defTabSz="360000">
              <a:lnSpc>
                <a:spcPts val="2600"/>
              </a:lnSpc>
              <a:spcBef>
                <a:spcPts val="0"/>
              </a:spcBef>
            </a:pPr>
            <a:r>
              <a:rPr lang="en-US" altLang="zh-CN" sz="2000">
                <a:solidFill>
                  <a:srgbClr val="0000FF"/>
                </a:solidFill>
                <a:latin typeface="Consolas" pitchFamily="49" charset="0"/>
                <a:ea typeface="仿宋" pitchFamily="49" charset="-122"/>
              </a:rPr>
              <a:t>		while (</a:t>
            </a:r>
            <a:r>
              <a:rPr lang="en-US" altLang="zh-CN" sz="2000">
                <a:solidFill>
                  <a:srgbClr val="FF00FF"/>
                </a:solidFill>
                <a:latin typeface="Consolas" pitchFamily="49" charset="0"/>
                <a:ea typeface="仿宋" pitchFamily="49" charset="-122"/>
              </a:rPr>
              <a:t>cnt&lt;=n</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最多试探</a:t>
            </a:r>
            <a:r>
              <a:rPr lang="en-US" altLang="zh-CN" sz="2000">
                <a:solidFill>
                  <a:srgbClr val="00B0F0"/>
                </a:solidFill>
                <a:latin typeface="Consolas" pitchFamily="49" charset="0"/>
                <a:ea typeface="仿宋" pitchFamily="49" charset="-122"/>
              </a:rPr>
              <a:t>n</a:t>
            </a:r>
            <a:r>
              <a:rPr lang="zh-CN" altLang="zh-CN" sz="2000">
                <a:solidFill>
                  <a:srgbClr val="00B0F0"/>
                </a:solidFill>
                <a:latin typeface="Consolas" pitchFamily="49" charset="0"/>
                <a:ea typeface="仿宋" pitchFamily="49" charset="-122"/>
              </a:rPr>
              <a:t>次</a:t>
            </a:r>
          </a:p>
          <a:p>
            <a:pPr algn="l" defTabSz="360000">
              <a:lnSpc>
                <a:spcPts val="2600"/>
              </a:lnSpc>
              <a:spcBef>
                <a:spcPts val="0"/>
              </a:spcBef>
            </a:pPr>
            <a:r>
              <a:rPr lang="en-US" altLang="zh-CN" sz="2000">
                <a:solidFill>
                  <a:srgbClr val="0000FF"/>
                </a:solidFill>
                <a:latin typeface="Consolas" pitchFamily="49" charset="0"/>
                <a:ea typeface="仿宋" pitchFamily="49" charset="-122"/>
              </a:rPr>
              <a:t>			j=</a:t>
            </a:r>
            <a:r>
              <a:rPr lang="en-US" altLang="zh-CN" sz="2000">
                <a:solidFill>
                  <a:srgbClr val="FF0000"/>
                </a:solidFill>
                <a:latin typeface="Consolas" pitchFamily="49" charset="0"/>
                <a:ea typeface="仿宋" pitchFamily="49" charset="-122"/>
              </a:rPr>
              <a:t>randa</a:t>
            </a:r>
            <a:r>
              <a:rPr lang="en-US" altLang="zh-CN" sz="2000">
                <a:solidFill>
                  <a:srgbClr val="0000FF"/>
                </a:solidFill>
                <a:latin typeface="Consolas" pitchFamily="49" charset="0"/>
                <a:ea typeface="仿宋" pitchFamily="49" charset="-122"/>
              </a:rPr>
              <a:t>(1,n);</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cnt++;</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00"/>
                </a:solidFill>
                <a:latin typeface="Consolas" pitchFamily="49" charset="0"/>
                <a:ea typeface="仿宋" pitchFamily="49" charset="-122"/>
              </a:rPr>
              <a:t>place</a:t>
            </a:r>
            <a:r>
              <a:rPr lang="en-US" altLang="zh-CN" sz="2000">
                <a:solidFill>
                  <a:srgbClr val="0000FF"/>
                </a:solidFill>
                <a:latin typeface="Consolas" pitchFamily="49" charset="0"/>
                <a:ea typeface="仿宋" pitchFamily="49" charset="-122"/>
              </a:rPr>
              <a:t>(i,j))</a:t>
            </a:r>
          </a:p>
          <a:p>
            <a:pPr algn="l" defTabSz="360000">
              <a:lnSpc>
                <a:spcPts val="2600"/>
              </a:lnSpc>
              <a:spcBef>
                <a:spcPts val="0"/>
              </a:spcBef>
            </a:pPr>
            <a:r>
              <a:rPr lang="en-US" altLang="zh-CN" sz="2000">
                <a:solidFill>
                  <a:srgbClr val="0000FF"/>
                </a:solidFill>
                <a:latin typeface="Consolas" pitchFamily="49" charset="0"/>
                <a:ea typeface="仿宋" pitchFamily="49" charset="-122"/>
              </a:rPr>
              <a:t>				break;				</a:t>
            </a:r>
            <a:r>
              <a:rPr lang="en-US" altLang="zh-CN" sz="2000">
                <a:solidFill>
                  <a:srgbClr val="00B0F0"/>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在第</a:t>
            </a:r>
            <a:r>
              <a:rPr lang="en-US" altLang="zh-CN" sz="2000">
                <a:solidFill>
                  <a:srgbClr val="00B0F0"/>
                </a:solidFill>
                <a:latin typeface="Consolas" pitchFamily="49" charset="0"/>
                <a:ea typeface="仿宋" pitchFamily="49" charset="-122"/>
              </a:rPr>
              <a:t>i</a:t>
            </a:r>
            <a:r>
              <a:rPr lang="zh-CN" altLang="zh-CN" sz="2000">
                <a:solidFill>
                  <a:srgbClr val="00B0F0"/>
                </a:solidFill>
                <a:latin typeface="Consolas" pitchFamily="49" charset="0"/>
                <a:ea typeface="仿宋" pitchFamily="49" charset="-122"/>
              </a:rPr>
              <a:t>行上找到一个合适位置</a:t>
            </a:r>
            <a:r>
              <a:rPr lang="en-US" altLang="zh-CN" sz="2000">
                <a:solidFill>
                  <a:srgbClr val="00B0F0"/>
                </a:solidFill>
                <a:latin typeface="Consolas" pitchFamily="49" charset="0"/>
                <a:ea typeface="仿宋" pitchFamily="49" charset="-122"/>
              </a:rPr>
              <a:t>(i,j)</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cnt&gt;n</a:t>
            </a:r>
            <a:r>
              <a:rPr lang="en-US" altLang="zh-CN" sz="2000">
                <a:solidFill>
                  <a:srgbClr val="0000FF"/>
                </a:solidFill>
                <a:latin typeface="Consolas" pitchFamily="49" charset="0"/>
                <a:ea typeface="仿宋" pitchFamily="49" charset="-122"/>
              </a:rPr>
              <a:t>) return false;</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q[i]=j;</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FF0000"/>
                </a:solidFill>
                <a:latin typeface="Consolas" pitchFamily="49" charset="0"/>
                <a:ea typeface="仿宋" pitchFamily="49" charset="-122"/>
              </a:rPr>
              <a:t>queen</a:t>
            </a:r>
            <a:r>
              <a:rPr lang="en-US" altLang="zh-CN" sz="2000">
                <a:solidFill>
                  <a:srgbClr val="0000FF"/>
                </a:solidFill>
                <a:latin typeface="Consolas" pitchFamily="49" charset="0"/>
                <a:ea typeface="仿宋" pitchFamily="49" charset="-122"/>
              </a:rPr>
              <a:t>(i+1,n);</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27</a:t>
            </a:fld>
            <a:r>
              <a:rPr lang="en-US" altLang="zh-CN"/>
              <a:t>/75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71406" y="714356"/>
            <a:ext cx="8929718" cy="296751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3100"/>
              </a:lnSpc>
              <a:spcBef>
                <a:spcPts val="0"/>
              </a:spcBef>
            </a:pPr>
            <a:r>
              <a:rPr lang="en-US" altLang="zh-CN" sz="2000">
                <a:solidFill>
                  <a:srgbClr val="0000FF"/>
                </a:solidFill>
                <a:latin typeface="Consolas" pitchFamily="49" charset="0"/>
                <a:ea typeface="仿宋" pitchFamily="49" charset="-122"/>
              </a:rPr>
              <a:t>void </a:t>
            </a:r>
            <a:r>
              <a:rPr lang="en-US" altLang="zh-CN" sz="2000">
                <a:solidFill>
                  <a:srgbClr val="FF0000"/>
                </a:solidFill>
                <a:latin typeface="Consolas" pitchFamily="49" charset="0"/>
                <a:ea typeface="仿宋" pitchFamily="49" charset="-122"/>
              </a:rPr>
              <a:t>solve</a:t>
            </a:r>
            <a:r>
              <a:rPr lang="en-US" altLang="zh-CN" sz="2000">
                <a:solidFill>
                  <a:srgbClr val="0000FF"/>
                </a:solidFill>
                <a:latin typeface="Consolas" pitchFamily="49" charset="0"/>
                <a:ea typeface="仿宋" pitchFamily="49" charset="-122"/>
              </a:rPr>
              <a:t>(int n) {						</a:t>
            </a: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求解</a:t>
            </a:r>
            <a:r>
              <a:rPr lang="en-US" altLang="zh-CN" sz="2000">
                <a:solidFill>
                  <a:srgbClr val="00B050"/>
                </a:solidFill>
                <a:latin typeface="Consolas" pitchFamily="49" charset="0"/>
                <a:ea typeface="仿宋" pitchFamily="49" charset="-122"/>
              </a:rPr>
              <a:t>n</a:t>
            </a:r>
            <a:r>
              <a:rPr lang="zh-CN" altLang="zh-CN" sz="2000">
                <a:solidFill>
                  <a:srgbClr val="00B050"/>
                </a:solidFill>
                <a:latin typeface="Consolas" pitchFamily="49" charset="0"/>
                <a:ea typeface="仿宋" pitchFamily="49" charset="-122"/>
              </a:rPr>
              <a:t>皇后问题</a:t>
            </a:r>
          </a:p>
          <a:p>
            <a:pPr algn="l" defTabSz="360000">
              <a:lnSpc>
                <a:spcPts val="3100"/>
              </a:lnSpc>
              <a:spcBef>
                <a:spcPts val="0"/>
              </a:spcBef>
            </a:pPr>
            <a:r>
              <a:rPr lang="en-US" altLang="zh-CN" sz="2000">
                <a:solidFill>
                  <a:srgbClr val="0000FF"/>
                </a:solidFill>
                <a:latin typeface="Consolas" pitchFamily="49" charset="0"/>
                <a:ea typeface="仿宋" pitchFamily="49" charset="-122"/>
              </a:rPr>
              <a:t>	srand((unsigned)time(NULL));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随机种子</a:t>
            </a:r>
          </a:p>
          <a:p>
            <a:pPr algn="l" defTabSz="360000">
              <a:lnSpc>
                <a:spcPts val="3100"/>
              </a:lnSpc>
              <a:spcBef>
                <a:spcPts val="0"/>
              </a:spcBef>
            </a:pPr>
            <a:r>
              <a:rPr lang="en-US" altLang="zh-CN" sz="2000">
                <a:solidFill>
                  <a:srgbClr val="0000FF"/>
                </a:solidFill>
                <a:latin typeface="Consolas" pitchFamily="49" charset="0"/>
                <a:ea typeface="仿宋" pitchFamily="49" charset="-122"/>
              </a:rPr>
              <a:t>	printf("%d</a:t>
            </a:r>
            <a:r>
              <a:rPr lang="zh-CN" altLang="zh-CN" sz="2000">
                <a:solidFill>
                  <a:srgbClr val="0000FF"/>
                </a:solidFill>
                <a:latin typeface="Consolas" pitchFamily="49" charset="0"/>
                <a:ea typeface="仿宋" pitchFamily="49" charset="-122"/>
              </a:rPr>
              <a:t>皇后问题求解如下：</a:t>
            </a:r>
            <a:r>
              <a:rPr lang="en-US" altLang="zh-CN" sz="2000">
                <a:solidFill>
                  <a:srgbClr val="0000FF"/>
                </a:solidFill>
                <a:latin typeface="Consolas" pitchFamily="49" charset="0"/>
                <a:ea typeface="仿宋" pitchFamily="49" charset="-122"/>
              </a:rPr>
              <a:t>\n",n);</a:t>
            </a:r>
            <a:endParaRPr lang="zh-CN" altLang="zh-CN" sz="2000">
              <a:solidFill>
                <a:srgbClr val="0000FF"/>
              </a:solidFill>
              <a:latin typeface="Consolas" pitchFamily="49" charset="0"/>
              <a:ea typeface="仿宋" pitchFamily="49" charset="-122"/>
            </a:endParaRPr>
          </a:p>
          <a:p>
            <a:pPr algn="l" defTabSz="360000">
              <a:lnSpc>
                <a:spcPts val="3100"/>
              </a:lnSpc>
              <a:spcBef>
                <a:spcPts val="0"/>
              </a:spcBef>
            </a:pPr>
            <a:r>
              <a:rPr lang="en-US" altLang="zh-CN" sz="2000">
                <a:solidFill>
                  <a:srgbClr val="0000FF"/>
                </a:solidFill>
                <a:latin typeface="Consolas" pitchFamily="49" charset="0"/>
                <a:ea typeface="仿宋" pitchFamily="49" charset="-122"/>
              </a:rPr>
              <a:t>	while (true)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反复调用</a:t>
            </a:r>
            <a:r>
              <a:rPr lang="en-US" altLang="zh-CN" sz="2000">
                <a:solidFill>
                  <a:srgbClr val="00B0F0"/>
                </a:solidFill>
                <a:latin typeface="Consolas" pitchFamily="49" charset="0"/>
                <a:ea typeface="仿宋" pitchFamily="49" charset="-122"/>
              </a:rPr>
              <a:t>queen</a:t>
            </a:r>
            <a:r>
              <a:rPr lang="zh-CN" altLang="zh-CN" sz="2000">
                <a:solidFill>
                  <a:srgbClr val="00B0F0"/>
                </a:solidFill>
                <a:latin typeface="Consolas" pitchFamily="49" charset="0"/>
                <a:ea typeface="仿宋" pitchFamily="49" charset="-122"/>
              </a:rPr>
              <a:t>直到直到一个解</a:t>
            </a:r>
          </a:p>
          <a:p>
            <a:pPr algn="l" defTabSz="360000">
              <a:lnSpc>
                <a:spcPts val="31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00"/>
                </a:solidFill>
                <a:latin typeface="Consolas" pitchFamily="49" charset="0"/>
                <a:ea typeface="仿宋" pitchFamily="49" charset="-122"/>
              </a:rPr>
              <a:t>queen</a:t>
            </a:r>
            <a:r>
              <a:rPr lang="en-US" altLang="zh-CN" sz="2000">
                <a:solidFill>
                  <a:srgbClr val="0000FF"/>
                </a:solidFill>
                <a:latin typeface="Consolas" pitchFamily="49" charset="0"/>
                <a:ea typeface="仿宋" pitchFamily="49" charset="-122"/>
              </a:rPr>
              <a:t>(1,n))	 break;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找到一个解后结束</a:t>
            </a:r>
          </a:p>
          <a:p>
            <a:pPr algn="l" defTabSz="360000">
              <a:lnSpc>
                <a:spcPts val="31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31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28</a:t>
            </a:fld>
            <a:r>
              <a:rPr lang="en-US" altLang="zh-CN"/>
              <a:t>/75</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428596" y="357166"/>
            <a:ext cx="5072098"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12.1.5 </a:t>
            </a:r>
            <a:r>
              <a:rPr lang="zh-CN" altLang="zh-CN" sz="2800">
                <a:latin typeface="Consolas" pitchFamily="49" charset="0"/>
                <a:ea typeface="微软雅黑" pitchFamily="34" charset="-122"/>
              </a:rPr>
              <a:t>舍伍德类型概率算法</a:t>
            </a:r>
            <a:endParaRPr lang="zh-CN"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5" name="TextBox 4"/>
          <p:cNvSpPr txBox="1"/>
          <p:nvPr/>
        </p:nvSpPr>
        <p:spPr>
          <a:xfrm>
            <a:off x="357158" y="1428736"/>
            <a:ext cx="8143932" cy="270843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2"/>
              </a:buBlip>
            </a:pPr>
            <a:r>
              <a:rPr lang="zh-CN" altLang="zh-CN">
                <a:solidFill>
                  <a:srgbClr val="0000FF"/>
                </a:solidFill>
                <a:latin typeface="Consolas" pitchFamily="49" charset="0"/>
                <a:ea typeface="仿宋" pitchFamily="49" charset="-122"/>
              </a:rPr>
              <a:t>舍伍德（</a:t>
            </a:r>
            <a:r>
              <a:rPr lang="en-US" altLang="zh-CN">
                <a:solidFill>
                  <a:srgbClr val="0000FF"/>
                </a:solidFill>
                <a:latin typeface="Consolas" pitchFamily="49" charset="0"/>
                <a:ea typeface="仿宋" pitchFamily="49" charset="-122"/>
              </a:rPr>
              <a:t>Sherwood</a:t>
            </a:r>
            <a:r>
              <a:rPr lang="zh-CN" altLang="zh-CN">
                <a:solidFill>
                  <a:srgbClr val="0000FF"/>
                </a:solidFill>
                <a:latin typeface="Consolas" pitchFamily="49" charset="0"/>
                <a:ea typeface="仿宋" pitchFamily="49" charset="-122"/>
              </a:rPr>
              <a:t>）算法</a:t>
            </a:r>
            <a:r>
              <a:rPr lang="zh-CN" altLang="en-US">
                <a:solidFill>
                  <a:srgbClr val="0000FF"/>
                </a:solidFill>
                <a:latin typeface="Consolas" pitchFamily="49" charset="0"/>
                <a:ea typeface="仿宋" pitchFamily="49" charset="-122"/>
              </a:rPr>
              <a:t>特点：</a:t>
            </a:r>
            <a:r>
              <a:rPr lang="zh-CN" altLang="zh-CN">
                <a:solidFill>
                  <a:srgbClr val="FF0000"/>
                </a:solidFill>
                <a:latin typeface="Consolas" pitchFamily="49" charset="0"/>
                <a:ea typeface="仿宋" pitchFamily="49" charset="-122"/>
              </a:rPr>
              <a:t>总能求得问题的一个解，且所求得的解总是正确的</a:t>
            </a:r>
            <a:r>
              <a:rPr lang="zh-CN" altLang="zh-CN">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2"/>
              </a:buBlip>
            </a:pPr>
            <a:r>
              <a:rPr lang="zh-CN" altLang="zh-CN">
                <a:solidFill>
                  <a:srgbClr val="0000FF"/>
                </a:solidFill>
                <a:latin typeface="Consolas" pitchFamily="49" charset="0"/>
                <a:ea typeface="仿宋" pitchFamily="49" charset="-122"/>
              </a:rPr>
              <a:t>当一个确定性算法的最坏时间复杂度与平均时间复杂度存在较大差别时，可以在这个确定性算法中引入随机性将它改造成一个舍伍德算法，</a:t>
            </a:r>
            <a:r>
              <a:rPr lang="zh-CN" altLang="zh-CN">
                <a:solidFill>
                  <a:srgbClr val="FF0000"/>
                </a:solidFill>
                <a:latin typeface="Consolas" pitchFamily="49" charset="0"/>
                <a:ea typeface="仿宋" pitchFamily="49" charset="-122"/>
              </a:rPr>
              <a:t>以消除或减少确定性算法中求解问题的好坏实例之间在执行时间性能上的差别</a:t>
            </a:r>
            <a:r>
              <a:rPr lang="zh-CN" altLang="zh-CN">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29</a:t>
            </a:fld>
            <a:r>
              <a:rPr lang="en-US" altLang="zh-CN"/>
              <a:t>/75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TextBox 4"/>
          <p:cNvSpPr txBox="1"/>
          <p:nvPr/>
        </p:nvSpPr>
        <p:spPr>
          <a:xfrm>
            <a:off x="214282" y="1071546"/>
            <a:ext cx="8643998" cy="1323439"/>
          </a:xfrm>
          <a:prstGeom prst="rect">
            <a:avLst/>
          </a:prstGeom>
          <a:ln>
            <a:solidFill>
              <a:schemeClr val="accent6">
                <a:lumMod val="40000"/>
                <a:lumOff val="6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0"/>
              </a:spcBef>
            </a:pPr>
            <a:r>
              <a:rPr lang="zh-CN" altLang="zh-CN">
                <a:solidFill>
                  <a:srgbClr val="FF0000"/>
                </a:solidFill>
                <a:latin typeface="Consolas" pitchFamily="49" charset="0"/>
                <a:ea typeface="楷体" pitchFamily="49" charset="-122"/>
              </a:rPr>
              <a:t>【例</a:t>
            </a:r>
            <a:r>
              <a:rPr lang="en-US" altLang="zh-CN">
                <a:solidFill>
                  <a:srgbClr val="FF0000"/>
                </a:solidFill>
                <a:latin typeface="Consolas" pitchFamily="49" charset="0"/>
                <a:ea typeface="楷体" pitchFamily="49" charset="-122"/>
              </a:rPr>
              <a:t>12.4</a:t>
            </a:r>
            <a:r>
              <a:rPr lang="zh-CN" altLang="zh-CN">
                <a:solidFill>
                  <a:srgbClr val="FF0000"/>
                </a:solidFill>
                <a:latin typeface="Consolas" pitchFamily="49" charset="0"/>
                <a:ea typeface="楷体" pitchFamily="49" charset="-122"/>
              </a:rPr>
              <a:t>】</a:t>
            </a:r>
            <a:r>
              <a:rPr lang="zh-CN" altLang="zh-CN">
                <a:solidFill>
                  <a:srgbClr val="0000FF"/>
                </a:solidFill>
                <a:latin typeface="Consolas" pitchFamily="49" charset="0"/>
                <a:ea typeface="仿宋" pitchFamily="49" charset="-122"/>
              </a:rPr>
              <a:t>数组中的第</a:t>
            </a:r>
            <a:r>
              <a:rPr lang="en-US" altLang="zh-CN" i="1">
                <a:solidFill>
                  <a:srgbClr val="0000FF"/>
                </a:solidFill>
                <a:latin typeface="Consolas" pitchFamily="49" charset="0"/>
                <a:ea typeface="仿宋" pitchFamily="49" charset="-122"/>
              </a:rPr>
              <a:t>k</a:t>
            </a:r>
            <a:r>
              <a:rPr lang="zh-CN" altLang="zh-CN">
                <a:solidFill>
                  <a:srgbClr val="0000FF"/>
                </a:solidFill>
                <a:latin typeface="Consolas" pitchFamily="49" charset="0"/>
                <a:ea typeface="仿宋" pitchFamily="49" charset="-122"/>
              </a:rPr>
              <a:t>个最大元素（</a:t>
            </a:r>
            <a:r>
              <a:rPr lang="en-US" altLang="zh-CN">
                <a:solidFill>
                  <a:srgbClr val="0000FF"/>
                </a:solidFill>
                <a:latin typeface="Consolas" pitchFamily="49" charset="0"/>
                <a:ea typeface="仿宋" pitchFamily="49" charset="-122"/>
              </a:rPr>
              <a:t>LeetCode215</a:t>
            </a:r>
            <a:r>
              <a:rPr lang="zh-CN" altLang="zh-CN">
                <a:solidFill>
                  <a:srgbClr val="0000FF"/>
                </a:solidFill>
                <a:latin typeface="Consolas" pitchFamily="49" charset="0"/>
                <a:ea typeface="仿宋" pitchFamily="49" charset="-122"/>
              </a:rPr>
              <a:t>★★）。问题描述见第</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章</a:t>
            </a:r>
            <a:r>
              <a:rPr lang="en-US" altLang="zh-CN">
                <a:solidFill>
                  <a:srgbClr val="0000FF"/>
                </a:solidFill>
                <a:latin typeface="Consolas" pitchFamily="49" charset="0"/>
                <a:ea typeface="仿宋" pitchFamily="49" charset="-122"/>
              </a:rPr>
              <a:t>1.3.2</a:t>
            </a:r>
            <a:r>
              <a:rPr lang="zh-CN" altLang="zh-CN">
                <a:solidFill>
                  <a:srgbClr val="0000FF"/>
                </a:solidFill>
                <a:latin typeface="Consolas" pitchFamily="49" charset="0"/>
                <a:ea typeface="仿宋" pitchFamily="49" charset="-122"/>
              </a:rPr>
              <a:t>节例</a:t>
            </a:r>
            <a:r>
              <a:rPr lang="en-US" altLang="zh-CN">
                <a:solidFill>
                  <a:srgbClr val="0000FF"/>
                </a:solidFill>
                <a:latin typeface="Consolas" pitchFamily="49" charset="0"/>
                <a:ea typeface="仿宋" pitchFamily="49" charset="-122"/>
              </a:rPr>
              <a:t>1.6</a:t>
            </a:r>
            <a:r>
              <a:rPr lang="zh-CN" altLang="zh-CN">
                <a:solidFill>
                  <a:srgbClr val="0000FF"/>
                </a:solidFill>
                <a:latin typeface="Consolas" pitchFamily="49" charset="0"/>
                <a:ea typeface="仿宋" pitchFamily="49" charset="-122"/>
              </a:rPr>
              <a:t>。这里采用基于随机性的快速排序方法求解。</a:t>
            </a:r>
          </a:p>
        </p:txBody>
      </p:sp>
      <p:sp>
        <p:nvSpPr>
          <p:cNvPr id="6" name="上箭头 5"/>
          <p:cNvSpPr/>
          <p:nvPr/>
        </p:nvSpPr>
        <p:spPr>
          <a:xfrm>
            <a:off x="3714744" y="2428868"/>
            <a:ext cx="285752" cy="285752"/>
          </a:xfrm>
          <a:prstGeom prst="up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nvGrpSpPr>
          <p:cNvPr id="2" name="组合 6"/>
          <p:cNvGrpSpPr/>
          <p:nvPr/>
        </p:nvGrpSpPr>
        <p:grpSpPr>
          <a:xfrm>
            <a:off x="642910" y="98409"/>
            <a:ext cx="1041400" cy="1044575"/>
            <a:chOff x="857224" y="1071546"/>
            <a:chExt cx="1041400" cy="1044575"/>
          </a:xfrm>
        </p:grpSpPr>
        <p:sp>
          <p:nvSpPr>
            <p:cNvPr id="8" name="Freeform 8"/>
            <p:cNvSpPr>
              <a:spLocks noEditPoints="1"/>
            </p:cNvSpPr>
            <p:nvPr/>
          </p:nvSpPr>
          <p:spPr bwMode="auto">
            <a:xfrm>
              <a:off x="857224" y="1071546"/>
              <a:ext cx="1041400" cy="1044575"/>
            </a:xfrm>
            <a:custGeom>
              <a:avLst/>
              <a:gdLst>
                <a:gd name="T0" fmla="*/ 964145 w 337"/>
                <a:gd name="T1" fmla="*/ 540830 h 338"/>
                <a:gd name="T2" fmla="*/ 964145 w 337"/>
                <a:gd name="T3" fmla="*/ 494473 h 338"/>
                <a:gd name="T4" fmla="*/ 1041400 w 337"/>
                <a:gd name="T5" fmla="*/ 441936 h 338"/>
                <a:gd name="T6" fmla="*/ 1007408 w 337"/>
                <a:gd name="T7" fmla="*/ 321408 h 338"/>
                <a:gd name="T8" fmla="*/ 914701 w 337"/>
                <a:gd name="T9" fmla="*/ 318317 h 338"/>
                <a:gd name="T10" fmla="*/ 889980 w 337"/>
                <a:gd name="T11" fmla="*/ 275051 h 338"/>
                <a:gd name="T12" fmla="*/ 930153 w 337"/>
                <a:gd name="T13" fmla="*/ 191608 h 338"/>
                <a:gd name="T14" fmla="*/ 843627 w 337"/>
                <a:gd name="T15" fmla="*/ 105076 h 338"/>
                <a:gd name="T16" fmla="*/ 760191 w 337"/>
                <a:gd name="T17" fmla="*/ 148342 h 338"/>
                <a:gd name="T18" fmla="*/ 716928 w 337"/>
                <a:gd name="T19" fmla="*/ 123618 h 338"/>
                <a:gd name="T20" fmla="*/ 710748 w 337"/>
                <a:gd name="T21" fmla="*/ 30905 h 338"/>
                <a:gd name="T22" fmla="*/ 652034 w 337"/>
                <a:gd name="T23" fmla="*/ 15452 h 338"/>
                <a:gd name="T24" fmla="*/ 590230 w 337"/>
                <a:gd name="T25" fmla="*/ 0 h 338"/>
                <a:gd name="T26" fmla="*/ 540786 w 337"/>
                <a:gd name="T27" fmla="*/ 77261 h 338"/>
                <a:gd name="T28" fmla="*/ 494433 w 337"/>
                <a:gd name="T29" fmla="*/ 77261 h 338"/>
                <a:gd name="T30" fmla="*/ 441900 w 337"/>
                <a:gd name="T31" fmla="*/ 3090 h 338"/>
                <a:gd name="T32" fmla="*/ 321382 w 337"/>
                <a:gd name="T33" fmla="*/ 33995 h 338"/>
                <a:gd name="T34" fmla="*/ 318291 w 337"/>
                <a:gd name="T35" fmla="*/ 126709 h 338"/>
                <a:gd name="T36" fmla="*/ 275028 w 337"/>
                <a:gd name="T37" fmla="*/ 151432 h 338"/>
                <a:gd name="T38" fmla="*/ 191593 w 337"/>
                <a:gd name="T39" fmla="*/ 111257 h 338"/>
                <a:gd name="T40" fmla="*/ 105067 w 337"/>
                <a:gd name="T41" fmla="*/ 200880 h 338"/>
                <a:gd name="T42" fmla="*/ 148330 w 337"/>
                <a:gd name="T43" fmla="*/ 281232 h 338"/>
                <a:gd name="T44" fmla="*/ 123608 w 337"/>
                <a:gd name="T45" fmla="*/ 324498 h 338"/>
                <a:gd name="T46" fmla="*/ 30902 w 337"/>
                <a:gd name="T47" fmla="*/ 330679 h 338"/>
                <a:gd name="T48" fmla="*/ 15451 w 337"/>
                <a:gd name="T49" fmla="*/ 392488 h 338"/>
                <a:gd name="T50" fmla="*/ 0 w 337"/>
                <a:gd name="T51" fmla="*/ 451207 h 338"/>
                <a:gd name="T52" fmla="*/ 77255 w 337"/>
                <a:gd name="T53" fmla="*/ 500654 h 338"/>
                <a:gd name="T54" fmla="*/ 77255 w 337"/>
                <a:gd name="T55" fmla="*/ 550102 h 338"/>
                <a:gd name="T56" fmla="*/ 0 w 337"/>
                <a:gd name="T57" fmla="*/ 602639 h 338"/>
                <a:gd name="T58" fmla="*/ 33992 w 337"/>
                <a:gd name="T59" fmla="*/ 723167 h 338"/>
                <a:gd name="T60" fmla="*/ 126699 w 337"/>
                <a:gd name="T61" fmla="*/ 726258 h 338"/>
                <a:gd name="T62" fmla="*/ 151420 w 337"/>
                <a:gd name="T63" fmla="*/ 766434 h 338"/>
                <a:gd name="T64" fmla="*/ 111247 w 337"/>
                <a:gd name="T65" fmla="*/ 849876 h 338"/>
                <a:gd name="T66" fmla="*/ 200864 w 337"/>
                <a:gd name="T67" fmla="*/ 939499 h 338"/>
                <a:gd name="T68" fmla="*/ 281209 w 337"/>
                <a:gd name="T69" fmla="*/ 896233 h 338"/>
                <a:gd name="T70" fmla="*/ 324472 w 337"/>
                <a:gd name="T71" fmla="*/ 920957 h 338"/>
                <a:gd name="T72" fmla="*/ 330652 w 337"/>
                <a:gd name="T73" fmla="*/ 1013670 h 338"/>
                <a:gd name="T74" fmla="*/ 389366 w 337"/>
                <a:gd name="T75" fmla="*/ 1029123 h 338"/>
                <a:gd name="T76" fmla="*/ 451170 w 337"/>
                <a:gd name="T77" fmla="*/ 1044575 h 338"/>
                <a:gd name="T78" fmla="*/ 500614 w 337"/>
                <a:gd name="T79" fmla="*/ 964223 h 338"/>
                <a:gd name="T80" fmla="*/ 550057 w 337"/>
                <a:gd name="T81" fmla="*/ 964223 h 338"/>
                <a:gd name="T82" fmla="*/ 602591 w 337"/>
                <a:gd name="T83" fmla="*/ 1041485 h 338"/>
                <a:gd name="T84" fmla="*/ 720018 w 337"/>
                <a:gd name="T85" fmla="*/ 1007489 h 338"/>
                <a:gd name="T86" fmla="*/ 726199 w 337"/>
                <a:gd name="T87" fmla="*/ 914776 h 338"/>
                <a:gd name="T88" fmla="*/ 766372 w 337"/>
                <a:gd name="T89" fmla="*/ 890052 h 338"/>
                <a:gd name="T90" fmla="*/ 849807 w 337"/>
                <a:gd name="T91" fmla="*/ 933318 h 338"/>
                <a:gd name="T92" fmla="*/ 936333 w 337"/>
                <a:gd name="T93" fmla="*/ 843695 h 338"/>
                <a:gd name="T94" fmla="*/ 896160 w 337"/>
                <a:gd name="T95" fmla="*/ 760253 h 338"/>
                <a:gd name="T96" fmla="*/ 917792 w 337"/>
                <a:gd name="T97" fmla="*/ 720077 h 338"/>
                <a:gd name="T98" fmla="*/ 1010498 w 337"/>
                <a:gd name="T99" fmla="*/ 713896 h 338"/>
                <a:gd name="T100" fmla="*/ 1025949 w 337"/>
                <a:gd name="T101" fmla="*/ 652087 h 338"/>
                <a:gd name="T102" fmla="*/ 1041400 w 337"/>
                <a:gd name="T103" fmla="*/ 593368 h 338"/>
                <a:gd name="T104" fmla="*/ 964145 w 337"/>
                <a:gd name="T105" fmla="*/ 540830 h 338"/>
                <a:gd name="T106" fmla="*/ 432629 w 337"/>
                <a:gd name="T107" fmla="*/ 868419 h 338"/>
                <a:gd name="T108" fmla="*/ 176142 w 337"/>
                <a:gd name="T109" fmla="*/ 432664 h 338"/>
                <a:gd name="T110" fmla="*/ 611861 w 337"/>
                <a:gd name="T111" fmla="*/ 176156 h 338"/>
                <a:gd name="T112" fmla="*/ 868348 w 337"/>
                <a:gd name="T113" fmla="*/ 611911 h 338"/>
                <a:gd name="T114" fmla="*/ 432629 w 337"/>
                <a:gd name="T115" fmla="*/ 868419 h 33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337" h="338">
                  <a:moveTo>
                    <a:pt x="312" y="175"/>
                  </a:moveTo>
                  <a:cubicBezTo>
                    <a:pt x="312" y="170"/>
                    <a:pt x="312" y="165"/>
                    <a:pt x="312" y="160"/>
                  </a:cubicBezTo>
                  <a:cubicBezTo>
                    <a:pt x="337" y="143"/>
                    <a:pt x="337" y="143"/>
                    <a:pt x="337" y="143"/>
                  </a:cubicBezTo>
                  <a:cubicBezTo>
                    <a:pt x="326" y="104"/>
                    <a:pt x="326" y="104"/>
                    <a:pt x="326" y="104"/>
                  </a:cubicBezTo>
                  <a:cubicBezTo>
                    <a:pt x="296" y="103"/>
                    <a:pt x="296" y="103"/>
                    <a:pt x="296" y="103"/>
                  </a:cubicBezTo>
                  <a:cubicBezTo>
                    <a:pt x="294" y="98"/>
                    <a:pt x="291" y="94"/>
                    <a:pt x="288" y="89"/>
                  </a:cubicBezTo>
                  <a:cubicBezTo>
                    <a:pt x="301" y="62"/>
                    <a:pt x="301" y="62"/>
                    <a:pt x="301" y="62"/>
                  </a:cubicBezTo>
                  <a:cubicBezTo>
                    <a:pt x="273" y="34"/>
                    <a:pt x="273" y="34"/>
                    <a:pt x="273" y="34"/>
                  </a:cubicBezTo>
                  <a:cubicBezTo>
                    <a:pt x="246" y="48"/>
                    <a:pt x="246" y="48"/>
                    <a:pt x="246" y="48"/>
                  </a:cubicBezTo>
                  <a:cubicBezTo>
                    <a:pt x="242" y="45"/>
                    <a:pt x="237" y="42"/>
                    <a:pt x="232" y="40"/>
                  </a:cubicBezTo>
                  <a:cubicBezTo>
                    <a:pt x="230" y="10"/>
                    <a:pt x="230" y="10"/>
                    <a:pt x="230" y="10"/>
                  </a:cubicBezTo>
                  <a:cubicBezTo>
                    <a:pt x="211" y="5"/>
                    <a:pt x="211" y="5"/>
                    <a:pt x="211" y="5"/>
                  </a:cubicBezTo>
                  <a:cubicBezTo>
                    <a:pt x="191" y="0"/>
                    <a:pt x="191" y="0"/>
                    <a:pt x="191" y="0"/>
                  </a:cubicBezTo>
                  <a:cubicBezTo>
                    <a:pt x="175" y="25"/>
                    <a:pt x="175" y="25"/>
                    <a:pt x="175" y="25"/>
                  </a:cubicBezTo>
                  <a:cubicBezTo>
                    <a:pt x="170" y="25"/>
                    <a:pt x="165" y="25"/>
                    <a:pt x="160" y="25"/>
                  </a:cubicBezTo>
                  <a:cubicBezTo>
                    <a:pt x="143" y="1"/>
                    <a:pt x="143" y="1"/>
                    <a:pt x="143" y="1"/>
                  </a:cubicBezTo>
                  <a:cubicBezTo>
                    <a:pt x="104" y="11"/>
                    <a:pt x="104" y="11"/>
                    <a:pt x="104" y="11"/>
                  </a:cubicBezTo>
                  <a:cubicBezTo>
                    <a:pt x="103" y="41"/>
                    <a:pt x="103" y="41"/>
                    <a:pt x="103" y="41"/>
                  </a:cubicBezTo>
                  <a:cubicBezTo>
                    <a:pt x="98" y="44"/>
                    <a:pt x="93" y="46"/>
                    <a:pt x="89" y="49"/>
                  </a:cubicBezTo>
                  <a:cubicBezTo>
                    <a:pt x="62" y="36"/>
                    <a:pt x="62" y="36"/>
                    <a:pt x="62" y="36"/>
                  </a:cubicBezTo>
                  <a:cubicBezTo>
                    <a:pt x="34" y="65"/>
                    <a:pt x="34" y="65"/>
                    <a:pt x="34" y="65"/>
                  </a:cubicBezTo>
                  <a:cubicBezTo>
                    <a:pt x="48" y="91"/>
                    <a:pt x="48" y="91"/>
                    <a:pt x="48" y="91"/>
                  </a:cubicBezTo>
                  <a:cubicBezTo>
                    <a:pt x="45" y="96"/>
                    <a:pt x="42" y="100"/>
                    <a:pt x="40" y="105"/>
                  </a:cubicBezTo>
                  <a:cubicBezTo>
                    <a:pt x="10" y="107"/>
                    <a:pt x="10" y="107"/>
                    <a:pt x="10" y="107"/>
                  </a:cubicBezTo>
                  <a:cubicBezTo>
                    <a:pt x="5" y="127"/>
                    <a:pt x="5" y="127"/>
                    <a:pt x="5" y="127"/>
                  </a:cubicBezTo>
                  <a:cubicBezTo>
                    <a:pt x="0" y="146"/>
                    <a:pt x="0" y="146"/>
                    <a:pt x="0" y="146"/>
                  </a:cubicBezTo>
                  <a:cubicBezTo>
                    <a:pt x="25" y="162"/>
                    <a:pt x="25" y="162"/>
                    <a:pt x="25" y="162"/>
                  </a:cubicBezTo>
                  <a:cubicBezTo>
                    <a:pt x="25" y="168"/>
                    <a:pt x="25" y="173"/>
                    <a:pt x="25" y="178"/>
                  </a:cubicBezTo>
                  <a:cubicBezTo>
                    <a:pt x="0" y="195"/>
                    <a:pt x="0" y="195"/>
                    <a:pt x="0" y="195"/>
                  </a:cubicBezTo>
                  <a:cubicBezTo>
                    <a:pt x="11" y="234"/>
                    <a:pt x="11" y="234"/>
                    <a:pt x="11" y="234"/>
                  </a:cubicBezTo>
                  <a:cubicBezTo>
                    <a:pt x="41" y="235"/>
                    <a:pt x="41" y="235"/>
                    <a:pt x="41" y="235"/>
                  </a:cubicBezTo>
                  <a:cubicBezTo>
                    <a:pt x="44" y="240"/>
                    <a:pt x="46" y="244"/>
                    <a:pt x="49" y="248"/>
                  </a:cubicBezTo>
                  <a:cubicBezTo>
                    <a:pt x="36" y="275"/>
                    <a:pt x="36" y="275"/>
                    <a:pt x="36" y="275"/>
                  </a:cubicBezTo>
                  <a:cubicBezTo>
                    <a:pt x="65" y="304"/>
                    <a:pt x="65" y="304"/>
                    <a:pt x="65" y="304"/>
                  </a:cubicBezTo>
                  <a:cubicBezTo>
                    <a:pt x="91" y="290"/>
                    <a:pt x="91" y="290"/>
                    <a:pt x="91" y="290"/>
                  </a:cubicBezTo>
                  <a:cubicBezTo>
                    <a:pt x="96" y="293"/>
                    <a:pt x="100" y="295"/>
                    <a:pt x="105" y="298"/>
                  </a:cubicBezTo>
                  <a:cubicBezTo>
                    <a:pt x="107" y="328"/>
                    <a:pt x="107" y="328"/>
                    <a:pt x="107" y="328"/>
                  </a:cubicBezTo>
                  <a:cubicBezTo>
                    <a:pt x="126" y="333"/>
                    <a:pt x="126" y="333"/>
                    <a:pt x="126" y="333"/>
                  </a:cubicBezTo>
                  <a:cubicBezTo>
                    <a:pt x="146" y="338"/>
                    <a:pt x="146" y="338"/>
                    <a:pt x="146" y="338"/>
                  </a:cubicBezTo>
                  <a:cubicBezTo>
                    <a:pt x="162" y="312"/>
                    <a:pt x="162" y="312"/>
                    <a:pt x="162" y="312"/>
                  </a:cubicBezTo>
                  <a:cubicBezTo>
                    <a:pt x="167" y="313"/>
                    <a:pt x="173" y="313"/>
                    <a:pt x="178" y="312"/>
                  </a:cubicBezTo>
                  <a:cubicBezTo>
                    <a:pt x="195" y="337"/>
                    <a:pt x="195" y="337"/>
                    <a:pt x="195" y="337"/>
                  </a:cubicBezTo>
                  <a:cubicBezTo>
                    <a:pt x="233" y="326"/>
                    <a:pt x="233" y="326"/>
                    <a:pt x="233" y="326"/>
                  </a:cubicBezTo>
                  <a:cubicBezTo>
                    <a:pt x="235" y="296"/>
                    <a:pt x="235" y="296"/>
                    <a:pt x="235" y="296"/>
                  </a:cubicBezTo>
                  <a:cubicBezTo>
                    <a:pt x="239" y="294"/>
                    <a:pt x="244" y="291"/>
                    <a:pt x="248" y="288"/>
                  </a:cubicBezTo>
                  <a:cubicBezTo>
                    <a:pt x="275" y="302"/>
                    <a:pt x="275" y="302"/>
                    <a:pt x="275" y="302"/>
                  </a:cubicBezTo>
                  <a:cubicBezTo>
                    <a:pt x="303" y="273"/>
                    <a:pt x="303" y="273"/>
                    <a:pt x="303" y="273"/>
                  </a:cubicBezTo>
                  <a:cubicBezTo>
                    <a:pt x="290" y="246"/>
                    <a:pt x="290" y="246"/>
                    <a:pt x="290" y="246"/>
                  </a:cubicBezTo>
                  <a:cubicBezTo>
                    <a:pt x="293" y="242"/>
                    <a:pt x="295" y="237"/>
                    <a:pt x="297" y="233"/>
                  </a:cubicBezTo>
                  <a:cubicBezTo>
                    <a:pt x="327" y="231"/>
                    <a:pt x="327" y="231"/>
                    <a:pt x="327" y="231"/>
                  </a:cubicBezTo>
                  <a:cubicBezTo>
                    <a:pt x="332" y="211"/>
                    <a:pt x="332" y="211"/>
                    <a:pt x="332" y="211"/>
                  </a:cubicBezTo>
                  <a:cubicBezTo>
                    <a:pt x="337" y="192"/>
                    <a:pt x="337" y="192"/>
                    <a:pt x="337" y="192"/>
                  </a:cubicBezTo>
                  <a:lnTo>
                    <a:pt x="312" y="175"/>
                  </a:lnTo>
                  <a:close/>
                  <a:moveTo>
                    <a:pt x="140" y="281"/>
                  </a:moveTo>
                  <a:cubicBezTo>
                    <a:pt x="78" y="265"/>
                    <a:pt x="41" y="202"/>
                    <a:pt x="57" y="140"/>
                  </a:cubicBezTo>
                  <a:cubicBezTo>
                    <a:pt x="73" y="78"/>
                    <a:pt x="136" y="41"/>
                    <a:pt x="198" y="57"/>
                  </a:cubicBezTo>
                  <a:cubicBezTo>
                    <a:pt x="259" y="73"/>
                    <a:pt x="297" y="136"/>
                    <a:pt x="281" y="198"/>
                  </a:cubicBezTo>
                  <a:cubicBezTo>
                    <a:pt x="265" y="260"/>
                    <a:pt x="202" y="297"/>
                    <a:pt x="140" y="281"/>
                  </a:cubicBezTo>
                  <a:close/>
                </a:path>
              </a:pathLst>
            </a:custGeom>
            <a:solidFill>
              <a:srgbClr val="1848C0"/>
            </a:solidFill>
            <a:ln>
              <a:noFill/>
            </a:ln>
          </p:spPr>
          <p:txBody>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endParaRPr lang="zh-CN" altLang="en-US"/>
            </a:p>
          </p:txBody>
        </p:sp>
        <p:sp>
          <p:nvSpPr>
            <p:cNvPr id="9" name="Rectangle 16"/>
            <p:cNvSpPr>
              <a:spLocks noChangeArrowheads="1"/>
            </p:cNvSpPr>
            <p:nvPr/>
          </p:nvSpPr>
          <p:spPr bwMode="auto">
            <a:xfrm>
              <a:off x="1066774" y="1399481"/>
              <a:ext cx="66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gn="ctr">
                <a:lnSpc>
                  <a:spcPct val="120000"/>
                </a:lnSpc>
              </a:pPr>
              <a:r>
                <a:rPr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rPr>
                <a:t>实例</a:t>
              </a:r>
              <a:endParaRPr lang="zh-CN" altLang="zh-CN"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endParaRPr>
            </a:p>
          </p:txBody>
        </p:sp>
      </p:grpSp>
      <p:sp>
        <p:nvSpPr>
          <p:cNvPr id="11" name="TextBox 10"/>
          <p:cNvSpPr txBox="1"/>
          <p:nvPr/>
        </p:nvSpPr>
        <p:spPr>
          <a:xfrm>
            <a:off x="285720" y="2806762"/>
            <a:ext cx="8643998" cy="3836948"/>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1200"/>
              </a:spcBef>
            </a:pPr>
            <a:r>
              <a:rPr lang="zh-CN" altLang="zh-CN">
                <a:solidFill>
                  <a:srgbClr val="FF0000"/>
                </a:solidFill>
                <a:latin typeface="Consolas" pitchFamily="49" charset="0"/>
                <a:ea typeface="楷体" pitchFamily="49" charset="-122"/>
              </a:rPr>
              <a:t>【例</a:t>
            </a:r>
            <a:r>
              <a:rPr lang="en-US" altLang="zh-CN">
                <a:solidFill>
                  <a:srgbClr val="FF0000"/>
                </a:solidFill>
                <a:latin typeface="Consolas" pitchFamily="49" charset="0"/>
                <a:ea typeface="楷体" pitchFamily="49" charset="-122"/>
              </a:rPr>
              <a:t>1.6</a:t>
            </a:r>
            <a:r>
              <a:rPr lang="zh-CN" altLang="zh-CN">
                <a:solidFill>
                  <a:srgbClr val="FF0000"/>
                </a:solidFill>
                <a:latin typeface="Consolas" pitchFamily="49" charset="0"/>
                <a:ea typeface="楷体" pitchFamily="49" charset="-122"/>
              </a:rPr>
              <a:t>】</a:t>
            </a:r>
            <a:r>
              <a:rPr lang="zh-CN" altLang="zh-CN">
                <a:solidFill>
                  <a:srgbClr val="0000FF"/>
                </a:solidFill>
                <a:latin typeface="Consolas" pitchFamily="49" charset="0"/>
                <a:ea typeface="楷体" pitchFamily="49" charset="-122"/>
              </a:rPr>
              <a:t>数组中的第</a:t>
            </a:r>
            <a:r>
              <a:rPr lang="en-US" altLang="zh-CN" i="1">
                <a:solidFill>
                  <a:srgbClr val="0000FF"/>
                </a:solidFill>
                <a:latin typeface="Consolas" pitchFamily="49" charset="0"/>
                <a:ea typeface="楷体" pitchFamily="49" charset="-122"/>
              </a:rPr>
              <a:t>k</a:t>
            </a:r>
            <a:r>
              <a:rPr lang="zh-CN" altLang="zh-CN">
                <a:solidFill>
                  <a:srgbClr val="0000FF"/>
                </a:solidFill>
                <a:latin typeface="Consolas" pitchFamily="49" charset="0"/>
                <a:ea typeface="楷体" pitchFamily="49" charset="-122"/>
              </a:rPr>
              <a:t>个最大元素（</a:t>
            </a:r>
            <a:r>
              <a:rPr lang="en-US" altLang="zh-CN">
                <a:solidFill>
                  <a:srgbClr val="0000FF"/>
                </a:solidFill>
                <a:latin typeface="Consolas" pitchFamily="49" charset="0"/>
                <a:ea typeface="楷体" pitchFamily="49" charset="-122"/>
              </a:rPr>
              <a:t>LeetCode215</a:t>
            </a:r>
            <a:r>
              <a:rPr lang="zh-CN" altLang="zh-CN">
                <a:solidFill>
                  <a:srgbClr val="0000FF"/>
                </a:solidFill>
                <a:latin typeface="Consolas" pitchFamily="49" charset="0"/>
                <a:ea typeface="楷体" pitchFamily="49" charset="-122"/>
              </a:rPr>
              <a:t>★★）。设计一个算法求无序数组</a:t>
            </a:r>
            <a:r>
              <a:rPr lang="en-US" altLang="zh-CN">
                <a:solidFill>
                  <a:srgbClr val="0000FF"/>
                </a:solidFill>
                <a:latin typeface="Consolas" pitchFamily="49" charset="0"/>
                <a:ea typeface="楷体" pitchFamily="49" charset="-122"/>
              </a:rPr>
              <a:t>nums</a:t>
            </a:r>
            <a:r>
              <a:rPr lang="zh-CN" altLang="zh-CN">
                <a:solidFill>
                  <a:srgbClr val="0000FF"/>
                </a:solidFill>
                <a:latin typeface="Consolas" pitchFamily="49" charset="0"/>
                <a:ea typeface="楷体" pitchFamily="49" charset="-122"/>
              </a:rPr>
              <a:t>中第</a:t>
            </a:r>
            <a:r>
              <a:rPr lang="en-US" altLang="zh-CN" i="1">
                <a:solidFill>
                  <a:srgbClr val="0000FF"/>
                </a:solidFill>
                <a:latin typeface="Consolas" pitchFamily="49" charset="0"/>
                <a:ea typeface="楷体" pitchFamily="49" charset="-122"/>
              </a:rPr>
              <a:t>k</a:t>
            </a:r>
            <a:r>
              <a:rPr lang="zh-CN" altLang="zh-CN">
                <a:solidFill>
                  <a:srgbClr val="0000FF"/>
                </a:solidFill>
                <a:latin typeface="Consolas" pitchFamily="49" charset="0"/>
                <a:ea typeface="楷体" pitchFamily="49" charset="-122"/>
              </a:rPr>
              <a:t>（</a:t>
            </a:r>
            <a:r>
              <a:rPr lang="en-US" altLang="zh-CN">
                <a:solidFill>
                  <a:srgbClr val="0000FF"/>
                </a:solidFill>
                <a:latin typeface="Consolas" pitchFamily="49" charset="0"/>
                <a:ea typeface="楷体" pitchFamily="49" charset="-122"/>
              </a:rPr>
              <a:t>1</a:t>
            </a:r>
            <a:r>
              <a:rPr lang="en-US" altLang="zh-CN">
                <a:solidFill>
                  <a:srgbClr val="0000FF"/>
                </a:solidFill>
                <a:latin typeface="+mj-ea"/>
                <a:ea typeface="+mj-ea"/>
              </a:rPr>
              <a:t>≤</a:t>
            </a:r>
            <a:r>
              <a:rPr lang="en-US" altLang="zh-CN" i="1">
                <a:solidFill>
                  <a:srgbClr val="0000FF"/>
                </a:solidFill>
                <a:latin typeface="Consolas" pitchFamily="49" charset="0"/>
                <a:ea typeface="楷体" pitchFamily="49" charset="-122"/>
              </a:rPr>
              <a:t>k</a:t>
            </a:r>
            <a:r>
              <a:rPr lang="en-US" altLang="zh-CN">
                <a:solidFill>
                  <a:srgbClr val="0000FF"/>
                </a:solidFill>
                <a:latin typeface="+mj-ea"/>
                <a:ea typeface="+mj-ea"/>
              </a:rPr>
              <a:t>≤</a:t>
            </a:r>
            <a:r>
              <a:rPr lang="zh-CN" altLang="zh-CN">
                <a:solidFill>
                  <a:srgbClr val="0000FF"/>
                </a:solidFill>
                <a:latin typeface="Consolas" pitchFamily="49" charset="0"/>
                <a:ea typeface="楷体" pitchFamily="49" charset="-122"/>
              </a:rPr>
              <a:t>数组的长度）大的整数，注意不是第</a:t>
            </a:r>
            <a:r>
              <a:rPr lang="en-US" altLang="zh-CN" i="1">
                <a:solidFill>
                  <a:srgbClr val="0000FF"/>
                </a:solidFill>
                <a:latin typeface="Consolas" pitchFamily="49" charset="0"/>
                <a:ea typeface="楷体" pitchFamily="49" charset="-122"/>
              </a:rPr>
              <a:t>k</a:t>
            </a:r>
            <a:r>
              <a:rPr lang="zh-CN" altLang="zh-CN">
                <a:solidFill>
                  <a:srgbClr val="0000FF"/>
                </a:solidFill>
                <a:latin typeface="Consolas" pitchFamily="49" charset="0"/>
                <a:ea typeface="楷体" pitchFamily="49" charset="-122"/>
              </a:rPr>
              <a:t>个不同的元素，而是数组排序后的第</a:t>
            </a:r>
            <a:r>
              <a:rPr lang="en-US" altLang="zh-CN" i="1">
                <a:solidFill>
                  <a:srgbClr val="0000FF"/>
                </a:solidFill>
                <a:latin typeface="Consolas" pitchFamily="49" charset="0"/>
                <a:ea typeface="楷体" pitchFamily="49" charset="-122"/>
              </a:rPr>
              <a:t>k</a:t>
            </a:r>
            <a:r>
              <a:rPr lang="zh-CN" altLang="zh-CN">
                <a:solidFill>
                  <a:srgbClr val="0000FF"/>
                </a:solidFill>
                <a:latin typeface="Consolas" pitchFamily="49" charset="0"/>
                <a:ea typeface="楷体" pitchFamily="49" charset="-122"/>
              </a:rPr>
              <a:t>个最大的元素。</a:t>
            </a:r>
            <a:endParaRPr lang="en-US" altLang="zh-CN">
              <a:solidFill>
                <a:srgbClr val="0000FF"/>
              </a:solidFill>
              <a:latin typeface="Consolas" pitchFamily="49" charset="0"/>
              <a:ea typeface="楷体" pitchFamily="49" charset="-122"/>
            </a:endParaRPr>
          </a:p>
          <a:p>
            <a:pPr algn="l">
              <a:lnSpc>
                <a:spcPts val="3200"/>
              </a:lnSpc>
              <a:spcBef>
                <a:spcPts val="1200"/>
              </a:spcBef>
            </a:pPr>
            <a:r>
              <a:rPr lang="en-US" altLang="zh-CN">
                <a:solidFill>
                  <a:srgbClr val="0000FF"/>
                </a:solidFill>
                <a:latin typeface="Consolas" pitchFamily="49" charset="0"/>
                <a:ea typeface="楷体" pitchFamily="49" charset="-122"/>
              </a:rPr>
              <a:t>   </a:t>
            </a:r>
            <a:r>
              <a:rPr lang="zh-CN" altLang="zh-CN">
                <a:solidFill>
                  <a:srgbClr val="0000FF"/>
                </a:solidFill>
                <a:latin typeface="Consolas" pitchFamily="49" charset="0"/>
                <a:ea typeface="楷体" pitchFamily="49" charset="-122"/>
              </a:rPr>
              <a:t>例如，</a:t>
            </a:r>
            <a:r>
              <a:rPr lang="en-US" altLang="zh-CN">
                <a:solidFill>
                  <a:srgbClr val="0000FF"/>
                </a:solidFill>
                <a:latin typeface="Consolas" pitchFamily="49" charset="0"/>
                <a:ea typeface="楷体" pitchFamily="49" charset="-122"/>
              </a:rPr>
              <a:t>nums={3</a:t>
            </a:r>
            <a:r>
              <a:rPr lang="zh-CN" altLang="zh-CN">
                <a:solidFill>
                  <a:srgbClr val="0000FF"/>
                </a:solidFill>
                <a:latin typeface="Consolas" pitchFamily="49" charset="0"/>
                <a:ea typeface="楷体" pitchFamily="49" charset="-122"/>
              </a:rPr>
              <a:t>，</a:t>
            </a:r>
            <a:r>
              <a:rPr lang="en-US" altLang="zh-CN">
                <a:solidFill>
                  <a:srgbClr val="0000FF"/>
                </a:solidFill>
                <a:latin typeface="Consolas" pitchFamily="49" charset="0"/>
                <a:ea typeface="楷体" pitchFamily="49" charset="-122"/>
              </a:rPr>
              <a:t>2</a:t>
            </a:r>
            <a:r>
              <a:rPr lang="zh-CN" altLang="zh-CN">
                <a:solidFill>
                  <a:srgbClr val="0000FF"/>
                </a:solidFill>
                <a:latin typeface="Consolas" pitchFamily="49" charset="0"/>
                <a:ea typeface="楷体" pitchFamily="49" charset="-122"/>
              </a:rPr>
              <a:t>，</a:t>
            </a:r>
            <a:r>
              <a:rPr lang="en-US" altLang="zh-CN">
                <a:solidFill>
                  <a:srgbClr val="0000FF"/>
                </a:solidFill>
                <a:latin typeface="Consolas" pitchFamily="49" charset="0"/>
                <a:ea typeface="楷体" pitchFamily="49" charset="-122"/>
              </a:rPr>
              <a:t>1</a:t>
            </a:r>
            <a:r>
              <a:rPr lang="zh-CN" altLang="zh-CN">
                <a:solidFill>
                  <a:srgbClr val="0000FF"/>
                </a:solidFill>
                <a:latin typeface="Consolas" pitchFamily="49" charset="0"/>
                <a:ea typeface="楷体" pitchFamily="49" charset="-122"/>
              </a:rPr>
              <a:t>，</a:t>
            </a:r>
            <a:r>
              <a:rPr lang="en-US" altLang="zh-CN">
                <a:solidFill>
                  <a:srgbClr val="0000FF"/>
                </a:solidFill>
                <a:latin typeface="Consolas" pitchFamily="49" charset="0"/>
                <a:ea typeface="楷体" pitchFamily="49" charset="-122"/>
              </a:rPr>
              <a:t>5</a:t>
            </a:r>
            <a:r>
              <a:rPr lang="zh-CN" altLang="zh-CN">
                <a:solidFill>
                  <a:srgbClr val="0000FF"/>
                </a:solidFill>
                <a:latin typeface="Consolas" pitchFamily="49" charset="0"/>
                <a:ea typeface="楷体" pitchFamily="49" charset="-122"/>
              </a:rPr>
              <a:t>，</a:t>
            </a:r>
            <a:r>
              <a:rPr lang="en-US" altLang="zh-CN">
                <a:solidFill>
                  <a:srgbClr val="0000FF"/>
                </a:solidFill>
                <a:latin typeface="Consolas" pitchFamily="49" charset="0"/>
                <a:ea typeface="楷体" pitchFamily="49" charset="-122"/>
              </a:rPr>
              <a:t>6</a:t>
            </a:r>
            <a:r>
              <a:rPr lang="zh-CN" altLang="zh-CN">
                <a:solidFill>
                  <a:srgbClr val="0000FF"/>
                </a:solidFill>
                <a:latin typeface="Consolas" pitchFamily="49" charset="0"/>
                <a:ea typeface="楷体" pitchFamily="49" charset="-122"/>
              </a:rPr>
              <a:t>，</a:t>
            </a:r>
            <a:r>
              <a:rPr lang="en-US" altLang="zh-CN">
                <a:solidFill>
                  <a:srgbClr val="0000FF"/>
                </a:solidFill>
                <a:latin typeface="Consolas" pitchFamily="49" charset="0"/>
                <a:ea typeface="楷体" pitchFamily="49" charset="-122"/>
              </a:rPr>
              <a:t>4}</a:t>
            </a:r>
            <a:r>
              <a:rPr lang="zh-CN" altLang="zh-CN">
                <a:solidFill>
                  <a:srgbClr val="0000FF"/>
                </a:solidFill>
                <a:latin typeface="Consolas" pitchFamily="49" charset="0"/>
                <a:ea typeface="楷体" pitchFamily="49" charset="-122"/>
              </a:rPr>
              <a:t>，</a:t>
            </a:r>
            <a:r>
              <a:rPr lang="en-US" altLang="zh-CN" i="1">
                <a:solidFill>
                  <a:srgbClr val="FF00FF"/>
                </a:solidFill>
                <a:latin typeface="Consolas" pitchFamily="49" charset="0"/>
                <a:ea typeface="楷体" pitchFamily="49" charset="-122"/>
              </a:rPr>
              <a:t>k</a:t>
            </a:r>
            <a:r>
              <a:rPr lang="en-US" altLang="zh-CN">
                <a:solidFill>
                  <a:srgbClr val="FF00FF"/>
                </a:solidFill>
                <a:latin typeface="Consolas" pitchFamily="49" charset="0"/>
                <a:ea typeface="楷体" pitchFamily="49" charset="-122"/>
              </a:rPr>
              <a:t>=2</a:t>
            </a:r>
            <a:r>
              <a:rPr lang="zh-CN" altLang="zh-CN">
                <a:solidFill>
                  <a:srgbClr val="0000FF"/>
                </a:solidFill>
                <a:latin typeface="Consolas" pitchFamily="49" charset="0"/>
                <a:ea typeface="楷体" pitchFamily="49" charset="-122"/>
              </a:rPr>
              <a:t>，</a:t>
            </a:r>
            <a:r>
              <a:rPr lang="en-US" altLang="zh-CN">
                <a:solidFill>
                  <a:srgbClr val="0000FF"/>
                </a:solidFill>
                <a:latin typeface="Consolas" pitchFamily="49" charset="0"/>
                <a:ea typeface="楷体" pitchFamily="49" charset="-122"/>
              </a:rPr>
              <a:t>nums</a:t>
            </a:r>
            <a:r>
              <a:rPr lang="zh-CN" altLang="zh-CN">
                <a:solidFill>
                  <a:srgbClr val="0000FF"/>
                </a:solidFill>
                <a:latin typeface="Consolas" pitchFamily="49" charset="0"/>
                <a:ea typeface="楷体" pitchFamily="49" charset="-122"/>
              </a:rPr>
              <a:t>递减排序后是</a:t>
            </a:r>
            <a:r>
              <a:rPr lang="en-US" altLang="zh-CN">
                <a:solidFill>
                  <a:srgbClr val="0000FF"/>
                </a:solidFill>
                <a:latin typeface="Consolas" pitchFamily="49" charset="0"/>
                <a:ea typeface="楷体" pitchFamily="49" charset="-122"/>
              </a:rPr>
              <a:t>{6</a:t>
            </a:r>
            <a:r>
              <a:rPr lang="zh-CN" altLang="zh-CN">
                <a:solidFill>
                  <a:srgbClr val="0000FF"/>
                </a:solidFill>
                <a:latin typeface="Consolas" pitchFamily="49" charset="0"/>
                <a:ea typeface="楷体" pitchFamily="49" charset="-122"/>
              </a:rPr>
              <a:t>，</a:t>
            </a:r>
            <a:r>
              <a:rPr lang="en-US" altLang="zh-CN">
                <a:solidFill>
                  <a:srgbClr val="0000FF"/>
                </a:solidFill>
                <a:latin typeface="Consolas" pitchFamily="49" charset="0"/>
                <a:ea typeface="楷体" pitchFamily="49" charset="-122"/>
              </a:rPr>
              <a:t>5</a:t>
            </a:r>
            <a:r>
              <a:rPr lang="zh-CN" altLang="zh-CN">
                <a:solidFill>
                  <a:srgbClr val="0000FF"/>
                </a:solidFill>
                <a:latin typeface="Consolas" pitchFamily="49" charset="0"/>
                <a:ea typeface="楷体" pitchFamily="49" charset="-122"/>
              </a:rPr>
              <a:t>，</a:t>
            </a:r>
            <a:r>
              <a:rPr lang="en-US" altLang="zh-CN">
                <a:solidFill>
                  <a:srgbClr val="0000FF"/>
                </a:solidFill>
                <a:latin typeface="Consolas" pitchFamily="49" charset="0"/>
                <a:ea typeface="楷体" pitchFamily="49" charset="-122"/>
              </a:rPr>
              <a:t>4</a:t>
            </a:r>
            <a:r>
              <a:rPr lang="zh-CN" altLang="zh-CN">
                <a:solidFill>
                  <a:srgbClr val="0000FF"/>
                </a:solidFill>
                <a:latin typeface="Consolas" pitchFamily="49" charset="0"/>
                <a:ea typeface="楷体" pitchFamily="49" charset="-122"/>
              </a:rPr>
              <a:t>，</a:t>
            </a:r>
            <a:r>
              <a:rPr lang="en-US" altLang="zh-CN">
                <a:solidFill>
                  <a:srgbClr val="0000FF"/>
                </a:solidFill>
                <a:latin typeface="Consolas" pitchFamily="49" charset="0"/>
                <a:ea typeface="楷体" pitchFamily="49" charset="-122"/>
              </a:rPr>
              <a:t>3</a:t>
            </a:r>
            <a:r>
              <a:rPr lang="zh-CN" altLang="zh-CN">
                <a:solidFill>
                  <a:srgbClr val="0000FF"/>
                </a:solidFill>
                <a:latin typeface="Consolas" pitchFamily="49" charset="0"/>
                <a:ea typeface="楷体" pitchFamily="49" charset="-122"/>
              </a:rPr>
              <a:t>，</a:t>
            </a:r>
            <a:r>
              <a:rPr lang="en-US" altLang="zh-CN">
                <a:solidFill>
                  <a:srgbClr val="0000FF"/>
                </a:solidFill>
                <a:latin typeface="Consolas" pitchFamily="49" charset="0"/>
                <a:ea typeface="楷体" pitchFamily="49" charset="-122"/>
              </a:rPr>
              <a:t>2</a:t>
            </a:r>
            <a:r>
              <a:rPr lang="zh-CN" altLang="zh-CN">
                <a:solidFill>
                  <a:srgbClr val="0000FF"/>
                </a:solidFill>
                <a:latin typeface="Consolas" pitchFamily="49" charset="0"/>
                <a:ea typeface="楷体" pitchFamily="49" charset="-122"/>
              </a:rPr>
              <a:t>，</a:t>
            </a:r>
            <a:r>
              <a:rPr lang="en-US" altLang="zh-CN">
                <a:solidFill>
                  <a:srgbClr val="0000FF"/>
                </a:solidFill>
                <a:latin typeface="Consolas" pitchFamily="49" charset="0"/>
                <a:ea typeface="楷体" pitchFamily="49" charset="-122"/>
              </a:rPr>
              <a:t>1}</a:t>
            </a:r>
            <a:r>
              <a:rPr lang="zh-CN" altLang="zh-CN">
                <a:solidFill>
                  <a:srgbClr val="0000FF"/>
                </a:solidFill>
                <a:latin typeface="Consolas" pitchFamily="49" charset="0"/>
                <a:ea typeface="楷体" pitchFamily="49" charset="-122"/>
              </a:rPr>
              <a:t>，</a:t>
            </a:r>
            <a:r>
              <a:rPr lang="zh-CN" altLang="zh-CN">
                <a:solidFill>
                  <a:srgbClr val="FF00FF"/>
                </a:solidFill>
                <a:latin typeface="Consolas" pitchFamily="49" charset="0"/>
                <a:ea typeface="楷体" pitchFamily="49" charset="-122"/>
              </a:rPr>
              <a:t>答案为</a:t>
            </a:r>
            <a:r>
              <a:rPr lang="en-US" altLang="zh-CN">
                <a:solidFill>
                  <a:srgbClr val="FF00FF"/>
                </a:solidFill>
                <a:latin typeface="Consolas" pitchFamily="49" charset="0"/>
                <a:ea typeface="楷体" pitchFamily="49" charset="-122"/>
              </a:rPr>
              <a:t>5</a:t>
            </a:r>
            <a:r>
              <a:rPr lang="zh-CN" altLang="zh-CN">
                <a:solidFill>
                  <a:srgbClr val="0000FF"/>
                </a:solidFill>
                <a:latin typeface="Consolas" pitchFamily="49" charset="0"/>
                <a:ea typeface="楷体" pitchFamily="49" charset="-122"/>
              </a:rPr>
              <a:t>，若</a:t>
            </a:r>
            <a:r>
              <a:rPr lang="en-US" altLang="zh-CN" i="1">
                <a:solidFill>
                  <a:srgbClr val="FF00FF"/>
                </a:solidFill>
                <a:latin typeface="Consolas" pitchFamily="49" charset="0"/>
                <a:ea typeface="楷体" pitchFamily="49" charset="-122"/>
              </a:rPr>
              <a:t>k</a:t>
            </a:r>
            <a:r>
              <a:rPr lang="en-US" altLang="zh-CN">
                <a:solidFill>
                  <a:srgbClr val="FF00FF"/>
                </a:solidFill>
                <a:latin typeface="Consolas" pitchFamily="49" charset="0"/>
                <a:ea typeface="楷体" pitchFamily="49" charset="-122"/>
              </a:rPr>
              <a:t>=5</a:t>
            </a:r>
            <a:r>
              <a:rPr lang="zh-CN" altLang="zh-CN">
                <a:solidFill>
                  <a:srgbClr val="FF00FF"/>
                </a:solidFill>
                <a:latin typeface="Consolas" pitchFamily="49" charset="0"/>
                <a:ea typeface="楷体" pitchFamily="49" charset="-122"/>
              </a:rPr>
              <a:t>，答案为</a:t>
            </a:r>
            <a:r>
              <a:rPr lang="en-US" altLang="zh-CN">
                <a:solidFill>
                  <a:srgbClr val="FF00FF"/>
                </a:solidFill>
                <a:latin typeface="Consolas" pitchFamily="49" charset="0"/>
                <a:ea typeface="楷体" pitchFamily="49" charset="-122"/>
              </a:rPr>
              <a:t>2</a:t>
            </a:r>
            <a:r>
              <a:rPr lang="zh-CN" altLang="zh-CN">
                <a:solidFill>
                  <a:srgbClr val="0000FF"/>
                </a:solidFill>
                <a:latin typeface="Consolas" pitchFamily="49" charset="0"/>
                <a:ea typeface="楷体" pitchFamily="49" charset="-122"/>
              </a:rPr>
              <a:t>。</a:t>
            </a:r>
            <a:endParaRPr lang="en-US" altLang="zh-CN">
              <a:solidFill>
                <a:srgbClr val="0000FF"/>
              </a:solidFill>
              <a:latin typeface="Consolas" pitchFamily="49" charset="0"/>
              <a:ea typeface="楷体" pitchFamily="49" charset="-122"/>
            </a:endParaRPr>
          </a:p>
          <a:p>
            <a:pPr algn="l">
              <a:lnSpc>
                <a:spcPts val="3200"/>
              </a:lnSpc>
              <a:spcBef>
                <a:spcPts val="1200"/>
              </a:spcBef>
            </a:pPr>
            <a:r>
              <a:rPr lang="en-US" altLang="zh-CN">
                <a:solidFill>
                  <a:srgbClr val="0000FF"/>
                </a:solidFill>
                <a:latin typeface="Consolas" pitchFamily="49" charset="0"/>
                <a:ea typeface="楷体" pitchFamily="49" charset="-122"/>
              </a:rPr>
              <a:t>   </a:t>
            </a:r>
            <a:r>
              <a:rPr lang="zh-CN" altLang="zh-CN">
                <a:solidFill>
                  <a:srgbClr val="0000FF"/>
                </a:solidFill>
                <a:latin typeface="Consolas" pitchFamily="49" charset="0"/>
                <a:ea typeface="楷体" pitchFamily="49" charset="-122"/>
              </a:rPr>
              <a:t>要求设计如下成员函数：</a:t>
            </a:r>
          </a:p>
          <a:p>
            <a:pPr algn="l">
              <a:lnSpc>
                <a:spcPts val="3200"/>
              </a:lnSpc>
              <a:spcBef>
                <a:spcPts val="1200"/>
              </a:spcBef>
            </a:pPr>
            <a:r>
              <a:rPr lang="en-US" altLang="zh-CN" sz="2000">
                <a:solidFill>
                  <a:srgbClr val="0000FF"/>
                </a:solidFill>
                <a:latin typeface="Consolas" pitchFamily="49" charset="0"/>
                <a:ea typeface="楷体" pitchFamily="49" charset="-122"/>
              </a:rPr>
              <a:t>    </a:t>
            </a:r>
            <a:r>
              <a:rPr lang="en-US" altLang="zh-CN" sz="2000">
                <a:solidFill>
                  <a:srgbClr val="006600"/>
                </a:solidFill>
                <a:latin typeface="Consolas" pitchFamily="49" charset="0"/>
                <a:ea typeface="楷体" pitchFamily="49" charset="-122"/>
              </a:rPr>
              <a:t>int findKthLargest(vector&lt;int&gt;&amp; nums, int k) {  }</a:t>
            </a:r>
            <a:endParaRPr lang="zh-CN" altLang="zh-CN" sz="2000">
              <a:solidFill>
                <a:srgbClr val="006600"/>
              </a:solidFill>
              <a:latin typeface="Consolas" pitchFamily="49" charset="0"/>
              <a:ea typeface="楷体" pitchFamily="49" charset="-122"/>
            </a:endParaRPr>
          </a:p>
        </p:txBody>
      </p:sp>
      <p:sp>
        <p:nvSpPr>
          <p:cNvPr id="12" name="灯片编号占位符 11"/>
          <p:cNvSpPr>
            <a:spLocks noGrp="1"/>
          </p:cNvSpPr>
          <p:nvPr>
            <p:ph type="sldNum" sz="quarter" idx="12"/>
          </p:nvPr>
        </p:nvSpPr>
        <p:spPr/>
        <p:txBody>
          <a:bodyPr/>
          <a:lstStyle/>
          <a:p>
            <a:fld id="{7AF016A1-9F15-429F-9EFD-84004B73C732}" type="slidenum">
              <a:rPr lang="en-US" altLang="zh-CN" smtClean="0"/>
              <a:pPr/>
              <a:t>30</a:t>
            </a:fld>
            <a:r>
              <a:rPr lang="en-US" altLang="zh-CN"/>
              <a:t>/75</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TextBox 4"/>
          <p:cNvSpPr txBox="1"/>
          <p:nvPr/>
        </p:nvSpPr>
        <p:spPr>
          <a:xfrm>
            <a:off x="285720" y="1440311"/>
            <a:ext cx="8643998" cy="3862596"/>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000"/>
              </a:lnSpc>
              <a:spcBef>
                <a:spcPts val="1200"/>
              </a:spcBef>
              <a:buBlip>
                <a:blip r:embed="rId2"/>
              </a:buBlip>
            </a:pPr>
            <a:r>
              <a:rPr lang="zh-CN" altLang="zh-CN">
                <a:solidFill>
                  <a:srgbClr val="0000FF"/>
                </a:solidFill>
                <a:latin typeface="Consolas" pitchFamily="49" charset="0"/>
                <a:ea typeface="仿宋" pitchFamily="49" charset="-122"/>
              </a:rPr>
              <a:t>快速排序算法的关键在于一次划分中选择合适的划分基准元素，如果基准是序列中最小（或最大）元素，则一次划分后，得到的两个子序列不均衡，使得快速排序的时间性能降低。</a:t>
            </a:r>
            <a:endParaRPr lang="en-US" altLang="zh-CN">
              <a:solidFill>
                <a:srgbClr val="0000FF"/>
              </a:solidFill>
              <a:latin typeface="Consolas" pitchFamily="49" charset="0"/>
              <a:ea typeface="仿宋" pitchFamily="49" charset="-122"/>
            </a:endParaRPr>
          </a:p>
          <a:p>
            <a:pPr marL="457200" indent="-457200" algn="l">
              <a:lnSpc>
                <a:spcPts val="3000"/>
              </a:lnSpc>
              <a:spcBef>
                <a:spcPts val="1200"/>
              </a:spcBef>
              <a:buBlip>
                <a:blip r:embed="rId2"/>
              </a:buBlip>
            </a:pPr>
            <a:r>
              <a:rPr lang="zh-CN" altLang="zh-CN">
                <a:solidFill>
                  <a:srgbClr val="0000FF"/>
                </a:solidFill>
                <a:latin typeface="Consolas" pitchFamily="49" charset="0"/>
                <a:ea typeface="仿宋" pitchFamily="49" charset="-122"/>
              </a:rPr>
              <a:t>舍伍德型概率算法在一次划分之前，根据随机数在待划分序列中随机确定一个元素作为基准</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000"/>
              </a:lnSpc>
              <a:spcBef>
                <a:spcPts val="1200"/>
              </a:spcBef>
              <a:buBlip>
                <a:blip r:embed="rId2"/>
              </a:buBlip>
            </a:pPr>
            <a:r>
              <a:rPr lang="zh-CN" altLang="zh-CN">
                <a:solidFill>
                  <a:srgbClr val="0000FF"/>
                </a:solidFill>
                <a:latin typeface="Consolas" pitchFamily="49" charset="0"/>
                <a:ea typeface="仿宋" pitchFamily="49" charset="-122"/>
              </a:rPr>
              <a:t>则一次划分后得到期望均衡的两个子序列，从而使算法的行为不受待排序序列的不同输入实例的影响，使快速排序在最坏情况下的时间性能趋近于平均情况的时间性能即</a:t>
            </a:r>
            <a:r>
              <a:rPr lang="en-US" altLang="zh-CN">
                <a:solidFill>
                  <a:srgbClr val="0000FF"/>
                </a:solidFill>
                <a:latin typeface="Consolas" pitchFamily="49" charset="0"/>
                <a:ea typeface="仿宋" pitchFamily="49" charset="-122"/>
              </a:rPr>
              <a:t>O(</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log</a:t>
            </a:r>
            <a:r>
              <a:rPr lang="en-US" altLang="zh-CN" baseline="-25000">
                <a:solidFill>
                  <a:srgbClr val="0000FF"/>
                </a:solidFill>
                <a:latin typeface="Consolas" pitchFamily="49" charset="0"/>
                <a:ea typeface="仿宋" pitchFamily="49" charset="-122"/>
              </a:rPr>
              <a:t>2</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6" name="TextBox 5"/>
          <p:cNvSpPr txBox="1"/>
          <p:nvPr/>
        </p:nvSpPr>
        <p:spPr>
          <a:xfrm>
            <a:off x="428596" y="642918"/>
            <a:ext cx="714380"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a:solidFill>
                  <a:srgbClr val="FF0000"/>
                </a:solidFill>
                <a:latin typeface="Consolas" pitchFamily="49" charset="0"/>
                <a:ea typeface="微软雅黑" pitchFamily="34" charset="-122"/>
                <a:cs typeface="Consolas" pitchFamily="49" charset="0"/>
              </a:rPr>
              <a:t>解</a:t>
            </a:r>
            <a:endParaRPr lang="zh-CN" altLang="en-US">
              <a:ln w="18415" cmpd="sng">
                <a:solidFill>
                  <a:srgbClr val="FFFFFF"/>
                </a:solidFill>
                <a:prstDash val="solid"/>
              </a:ln>
              <a:solidFill>
                <a:srgbClr val="FF0000"/>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endParaRP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31</a:t>
            </a:fld>
            <a:r>
              <a:rPr lang="en-US" altLang="zh-CN"/>
              <a:t>/75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214282" y="1214422"/>
            <a:ext cx="8786874" cy="380883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class Solution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public:</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int </a:t>
            </a:r>
            <a:r>
              <a:rPr lang="en-US" altLang="zh-CN" sz="2000">
                <a:solidFill>
                  <a:srgbClr val="FF0000"/>
                </a:solidFill>
                <a:latin typeface="Consolas" pitchFamily="49" charset="0"/>
                <a:ea typeface="仿宋" pitchFamily="49" charset="-122"/>
              </a:rPr>
              <a:t>findKthLargest</a:t>
            </a:r>
            <a:r>
              <a:rPr lang="en-US" altLang="zh-CN" sz="2000">
                <a:solidFill>
                  <a:srgbClr val="0000FF"/>
                </a:solidFill>
                <a:latin typeface="Consolas" pitchFamily="49" charset="0"/>
                <a:ea typeface="仿宋" pitchFamily="49" charset="-122"/>
              </a:rPr>
              <a:t>(vector&lt;int&gt;&amp; nums, int k)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int n=nums.size();</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return </a:t>
            </a:r>
            <a:r>
              <a:rPr lang="en-US" altLang="zh-CN" sz="2000">
                <a:solidFill>
                  <a:srgbClr val="FF0000"/>
                </a:solidFill>
                <a:latin typeface="Consolas" pitchFamily="49" charset="0"/>
                <a:ea typeface="仿宋" pitchFamily="49" charset="-122"/>
              </a:rPr>
              <a:t>quickselect</a:t>
            </a:r>
            <a:r>
              <a:rPr lang="en-US" altLang="zh-CN" sz="2000">
                <a:solidFill>
                  <a:srgbClr val="0000FF"/>
                </a:solidFill>
                <a:latin typeface="Consolas" pitchFamily="49" charset="0"/>
                <a:ea typeface="仿宋" pitchFamily="49" charset="-122"/>
              </a:rPr>
              <a:t>(nums,0,n-1,k);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p>
          <a:p>
            <a:pPr algn="l" defTabSz="360000">
              <a:lnSpc>
                <a:spcPts val="2800"/>
              </a:lnSpc>
              <a:spcBef>
                <a:spcPts val="0"/>
              </a:spcBef>
            </a:pPr>
            <a:endParaRPr lang="en-US"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int </a:t>
            </a:r>
            <a:r>
              <a:rPr lang="en-US" altLang="zh-CN" sz="2000">
                <a:solidFill>
                  <a:srgbClr val="FF0000"/>
                </a:solidFill>
                <a:latin typeface="Consolas" pitchFamily="49" charset="0"/>
                <a:ea typeface="仿宋" pitchFamily="49" charset="-122"/>
              </a:rPr>
              <a:t>partition</a:t>
            </a:r>
            <a:r>
              <a:rPr lang="en-US" altLang="zh-CN" sz="2000">
                <a:solidFill>
                  <a:srgbClr val="0000FF"/>
                </a:solidFill>
                <a:latin typeface="Consolas" pitchFamily="49" charset="0"/>
                <a:ea typeface="仿宋" pitchFamily="49" charset="-122"/>
              </a:rPr>
              <a:t>(vector&lt;int&gt;&amp;a,int s,int t) {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划分算法（用于递减排序），见例</a:t>
            </a:r>
            <a:r>
              <a:rPr lang="en-US" altLang="zh-CN" sz="2000">
                <a:solidFill>
                  <a:srgbClr val="00B0F0"/>
                </a:solidFill>
                <a:latin typeface="Consolas" pitchFamily="49" charset="0"/>
                <a:ea typeface="仿宋" pitchFamily="49" charset="-122"/>
              </a:rPr>
              <a:t>4.2</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endParaRPr lang="zh-CN" altLang="zh-CN" sz="2000">
              <a:solidFill>
                <a:srgbClr val="0000FF"/>
              </a:solidFill>
              <a:latin typeface="Consolas" pitchFamily="49" charset="0"/>
              <a:ea typeface="仿宋" pitchFamily="49" charset="-122"/>
            </a:endParaRPr>
          </a:p>
        </p:txBody>
      </p:sp>
      <p:sp>
        <p:nvSpPr>
          <p:cNvPr id="5" name="TextBox 4"/>
          <p:cNvSpPr txBox="1"/>
          <p:nvPr/>
        </p:nvSpPr>
        <p:spPr>
          <a:xfrm>
            <a:off x="285720" y="428604"/>
            <a:ext cx="1285884"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a:solidFill>
                  <a:srgbClr val="FF0000"/>
                </a:solidFill>
                <a:latin typeface="Consolas" pitchFamily="49" charset="0"/>
                <a:ea typeface="微软雅黑" pitchFamily="34" charset="-122"/>
                <a:cs typeface="Consolas" pitchFamily="49" charset="0"/>
              </a:rPr>
              <a:t>解法</a:t>
            </a:r>
            <a:r>
              <a:rPr lang="en-US" altLang="zh-CN">
                <a:solidFill>
                  <a:srgbClr val="FF0000"/>
                </a:solidFill>
                <a:latin typeface="Consolas" pitchFamily="49" charset="0"/>
                <a:ea typeface="微软雅黑" pitchFamily="34" charset="-122"/>
                <a:cs typeface="Consolas" pitchFamily="49" charset="0"/>
              </a:rPr>
              <a:t>1</a:t>
            </a:r>
            <a:endParaRPr lang="zh-CN" altLang="en-US">
              <a:ln w="18415" cmpd="sng">
                <a:solidFill>
                  <a:srgbClr val="FFFFFF"/>
                </a:solidFill>
                <a:prstDash val="solid"/>
              </a:ln>
              <a:solidFill>
                <a:srgbClr val="FF0000"/>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endParaRPr>
          </a:p>
        </p:txBody>
      </p:sp>
      <p:sp>
        <p:nvSpPr>
          <p:cNvPr id="6" name="TextBox 5"/>
          <p:cNvSpPr txBox="1"/>
          <p:nvPr/>
        </p:nvSpPr>
        <p:spPr>
          <a:xfrm>
            <a:off x="1714480" y="462471"/>
            <a:ext cx="3857652"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采用第</a:t>
            </a:r>
            <a:r>
              <a:rPr lang="en-US" altLang="zh-CN">
                <a:solidFill>
                  <a:srgbClr val="0000FF"/>
                </a:solidFill>
                <a:latin typeface="Consolas" pitchFamily="49" charset="0"/>
                <a:ea typeface="仿宋" pitchFamily="49" charset="-122"/>
              </a:rPr>
              <a:t>4</a:t>
            </a:r>
            <a:r>
              <a:rPr lang="zh-CN" altLang="zh-CN">
                <a:solidFill>
                  <a:srgbClr val="0000FF"/>
                </a:solidFill>
                <a:latin typeface="Consolas" pitchFamily="49" charset="0"/>
                <a:ea typeface="仿宋" pitchFamily="49" charset="-122"/>
              </a:rPr>
              <a:t>章例</a:t>
            </a:r>
            <a:r>
              <a:rPr lang="en-US" altLang="zh-CN">
                <a:solidFill>
                  <a:srgbClr val="0000FF"/>
                </a:solidFill>
                <a:latin typeface="Consolas" pitchFamily="49" charset="0"/>
                <a:ea typeface="仿宋" pitchFamily="49" charset="-122"/>
              </a:rPr>
              <a:t>4.2</a:t>
            </a:r>
            <a:r>
              <a:rPr lang="zh-CN" altLang="zh-CN">
                <a:solidFill>
                  <a:srgbClr val="0000FF"/>
                </a:solidFill>
                <a:latin typeface="Consolas" pitchFamily="49" charset="0"/>
                <a:ea typeface="仿宋" pitchFamily="49" charset="-122"/>
              </a:rPr>
              <a:t>的解法</a:t>
            </a:r>
            <a:r>
              <a:rPr lang="en-US" altLang="zh-CN">
                <a:solidFill>
                  <a:srgbClr val="0000FF"/>
                </a:solidFill>
                <a:latin typeface="Consolas" pitchFamily="49" charset="0"/>
                <a:ea typeface="仿宋" pitchFamily="49" charset="-122"/>
              </a:rPr>
              <a:t>1</a:t>
            </a:r>
            <a:endParaRPr lang="zh-CN" altLang="en-US">
              <a:solidFill>
                <a:srgbClr val="0000FF"/>
              </a:solidFill>
              <a:latin typeface="Consolas" pitchFamily="49" charset="0"/>
              <a:ea typeface="仿宋" pitchFamily="49" charset="-122"/>
              <a:cs typeface="Consolas" pitchFamily="49" charset="0"/>
            </a:endParaRP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32</a:t>
            </a:fld>
            <a:r>
              <a:rPr lang="en-US" altLang="zh-CN"/>
              <a:t>/75</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214282" y="651615"/>
            <a:ext cx="8786874" cy="234875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	int </a:t>
            </a:r>
            <a:r>
              <a:rPr lang="en-US" altLang="zh-CN" sz="2000">
                <a:solidFill>
                  <a:srgbClr val="FF0000"/>
                </a:solidFill>
                <a:latin typeface="Consolas" pitchFamily="49" charset="0"/>
                <a:ea typeface="仿宋" pitchFamily="49" charset="-122"/>
              </a:rPr>
              <a:t>quickselect</a:t>
            </a:r>
            <a:r>
              <a:rPr lang="en-US" altLang="zh-CN" sz="2000">
                <a:solidFill>
                  <a:srgbClr val="0000FF"/>
                </a:solidFill>
                <a:latin typeface="Consolas" pitchFamily="49" charset="0"/>
                <a:ea typeface="仿宋" pitchFamily="49" charset="-122"/>
              </a:rPr>
              <a:t>(vector&lt;int&gt;&amp;a,int s,int t,int k) {</a:t>
            </a: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在</a:t>
            </a:r>
            <a:r>
              <a:rPr lang="en-US" altLang="zh-CN" sz="2000">
                <a:solidFill>
                  <a:srgbClr val="00B050"/>
                </a:solidFill>
                <a:latin typeface="Consolas" pitchFamily="49" charset="0"/>
                <a:ea typeface="仿宋" pitchFamily="49" charset="-122"/>
              </a:rPr>
              <a:t>a[s..t]</a:t>
            </a:r>
            <a:r>
              <a:rPr lang="zh-CN" altLang="zh-CN" sz="2000">
                <a:solidFill>
                  <a:srgbClr val="00B050"/>
                </a:solidFill>
                <a:latin typeface="Consolas" pitchFamily="49" charset="0"/>
                <a:ea typeface="仿宋" pitchFamily="49" charset="-122"/>
              </a:rPr>
              <a:t>序列中找第</a:t>
            </a:r>
            <a:r>
              <a:rPr lang="en-US" altLang="zh-CN" sz="2000">
                <a:solidFill>
                  <a:srgbClr val="00B050"/>
                </a:solidFill>
                <a:latin typeface="Consolas" pitchFamily="49" charset="0"/>
                <a:ea typeface="仿宋" pitchFamily="49" charset="-122"/>
              </a:rPr>
              <a:t>k</a:t>
            </a:r>
            <a:r>
              <a:rPr lang="zh-CN" altLang="zh-CN" sz="2000">
                <a:solidFill>
                  <a:srgbClr val="00B050"/>
                </a:solidFill>
                <a:latin typeface="Consolas" pitchFamily="49" charset="0"/>
                <a:ea typeface="仿宋" pitchFamily="49" charset="-122"/>
              </a:rPr>
              <a:t>大的元素</a:t>
            </a:r>
          </a:p>
          <a:p>
            <a:pPr algn="l" defTabSz="360000">
              <a:lnSpc>
                <a:spcPts val="28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s&lt;t</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区间内至少存在</a:t>
            </a:r>
            <a:r>
              <a:rPr lang="en-US" altLang="zh-CN" sz="2000">
                <a:solidFill>
                  <a:srgbClr val="00B0F0"/>
                </a:solidFill>
                <a:latin typeface="Consolas" pitchFamily="49" charset="0"/>
                <a:ea typeface="仿宋" pitchFamily="49" charset="-122"/>
              </a:rPr>
              <a:t>2</a:t>
            </a:r>
            <a:r>
              <a:rPr lang="zh-CN" altLang="zh-CN" sz="2000">
                <a:solidFill>
                  <a:srgbClr val="00B0F0"/>
                </a:solidFill>
                <a:latin typeface="Consolas" pitchFamily="49" charset="0"/>
                <a:ea typeface="仿宋" pitchFamily="49" charset="-122"/>
              </a:rPr>
              <a:t>个元素的情况</a:t>
            </a:r>
          </a:p>
          <a:p>
            <a:pPr algn="l" defTabSz="360000">
              <a:lnSpc>
                <a:spcPts val="2800"/>
              </a:lnSpc>
              <a:spcBef>
                <a:spcPts val="0"/>
              </a:spcBef>
            </a:pPr>
            <a:r>
              <a:rPr lang="en-US" altLang="zh-CN" sz="2000">
                <a:solidFill>
                  <a:srgbClr val="0000FF"/>
                </a:solidFill>
                <a:latin typeface="Consolas" pitchFamily="49" charset="0"/>
                <a:ea typeface="仿宋" pitchFamily="49" charset="-122"/>
              </a:rPr>
              <a:t>     		int j=</a:t>
            </a:r>
            <a:r>
              <a:rPr lang="en-US" altLang="zh-CN" sz="2000">
                <a:solidFill>
                  <a:srgbClr val="FF0000"/>
                </a:solidFill>
                <a:latin typeface="Consolas" pitchFamily="49" charset="0"/>
                <a:ea typeface="仿宋" pitchFamily="49" charset="-122"/>
              </a:rPr>
              <a:t>randa</a:t>
            </a:r>
            <a:r>
              <a:rPr lang="en-US" altLang="zh-CN" sz="2000">
                <a:solidFill>
                  <a:srgbClr val="0000FF"/>
                </a:solidFill>
                <a:latin typeface="Consolas" pitchFamily="49" charset="0"/>
                <a:ea typeface="仿宋" pitchFamily="49" charset="-122"/>
              </a:rPr>
              <a:t>(s,t);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产生</a:t>
            </a:r>
            <a:r>
              <a:rPr lang="en-US" altLang="zh-CN" sz="2000">
                <a:solidFill>
                  <a:srgbClr val="00B0F0"/>
                </a:solidFill>
                <a:latin typeface="Consolas" pitchFamily="49" charset="0"/>
                <a:ea typeface="仿宋" pitchFamily="49" charset="-122"/>
              </a:rPr>
              <a:t>[s,t]</a:t>
            </a:r>
            <a:r>
              <a:rPr lang="zh-CN" altLang="zh-CN" sz="2000">
                <a:solidFill>
                  <a:srgbClr val="00B0F0"/>
                </a:solidFill>
                <a:latin typeface="Consolas" pitchFamily="49" charset="0"/>
                <a:ea typeface="仿宋" pitchFamily="49" charset="-122"/>
              </a:rPr>
              <a:t>的随机数</a:t>
            </a:r>
            <a:r>
              <a:rPr lang="en-US" altLang="zh-CN" sz="2000">
                <a:solidFill>
                  <a:srgbClr val="00B0F0"/>
                </a:solidFill>
                <a:latin typeface="Consolas" pitchFamily="49" charset="0"/>
                <a:ea typeface="仿宋" pitchFamily="49" charset="-122"/>
              </a:rPr>
              <a:t>j</a:t>
            </a: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swap</a:t>
            </a:r>
            <a:r>
              <a:rPr lang="en-US" altLang="zh-CN" sz="2000">
                <a:solidFill>
                  <a:srgbClr val="0000FF"/>
                </a:solidFill>
                <a:latin typeface="Consolas" pitchFamily="49" charset="0"/>
                <a:ea typeface="仿宋" pitchFamily="49" charset="-122"/>
              </a:rPr>
              <a:t>(a[j],a[s]);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将</a:t>
            </a:r>
            <a:r>
              <a:rPr lang="en-US" altLang="zh-CN" sz="2000">
                <a:solidFill>
                  <a:srgbClr val="00B0F0"/>
                </a:solidFill>
                <a:latin typeface="Consolas" pitchFamily="49" charset="0"/>
                <a:ea typeface="仿宋" pitchFamily="49" charset="-122"/>
              </a:rPr>
              <a:t>a[j]</a:t>
            </a:r>
            <a:r>
              <a:rPr lang="zh-CN" altLang="zh-CN" sz="2000">
                <a:solidFill>
                  <a:srgbClr val="00B0F0"/>
                </a:solidFill>
                <a:latin typeface="Consolas" pitchFamily="49" charset="0"/>
                <a:ea typeface="仿宋" pitchFamily="49" charset="-122"/>
              </a:rPr>
              <a:t>作为基准</a:t>
            </a:r>
          </a:p>
          <a:p>
            <a:pPr algn="l" defTabSz="360000">
              <a:lnSpc>
                <a:spcPts val="2800"/>
              </a:lnSpc>
              <a:spcBef>
                <a:spcPts val="0"/>
              </a:spcBef>
            </a:pPr>
            <a:r>
              <a:rPr lang="en-US" altLang="zh-CN" sz="2000">
                <a:solidFill>
                  <a:srgbClr val="0000FF"/>
                </a:solidFill>
                <a:latin typeface="Consolas" pitchFamily="49" charset="0"/>
                <a:ea typeface="仿宋" pitchFamily="49" charset="-122"/>
              </a:rPr>
              <a:t>       	int i=</a:t>
            </a:r>
            <a:r>
              <a:rPr lang="en-US" altLang="zh-CN" sz="2000">
                <a:solidFill>
                  <a:srgbClr val="FF0000"/>
                </a:solidFill>
                <a:latin typeface="Consolas" pitchFamily="49" charset="0"/>
                <a:ea typeface="仿宋" pitchFamily="49" charset="-122"/>
              </a:rPr>
              <a:t>partition</a:t>
            </a:r>
            <a:r>
              <a:rPr lang="en-US" altLang="zh-CN" sz="2000">
                <a:solidFill>
                  <a:srgbClr val="0000FF"/>
                </a:solidFill>
                <a:latin typeface="Consolas" pitchFamily="49" charset="0"/>
                <a:ea typeface="仿宋" pitchFamily="49" charset="-122"/>
              </a:rPr>
              <a:t>(a,s,t);</a:t>
            </a:r>
            <a:endParaRPr lang="zh-CN" altLang="zh-CN" sz="2000">
              <a:solidFill>
                <a:srgbClr val="0000FF"/>
              </a:solidFill>
              <a:latin typeface="Consolas" pitchFamily="49" charset="0"/>
              <a:ea typeface="仿宋" pitchFamily="49" charset="-122"/>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33</a:t>
            </a:fld>
            <a:r>
              <a:rPr lang="en-US" altLang="zh-CN"/>
              <a:t>/75</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214282" y="2376975"/>
            <a:ext cx="8786874" cy="355235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k-1==i</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return a[i];</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else if (</a:t>
            </a:r>
            <a:r>
              <a:rPr lang="en-US" altLang="zh-CN" sz="2000">
                <a:solidFill>
                  <a:srgbClr val="FF00FF"/>
                </a:solidFill>
                <a:latin typeface="Consolas" pitchFamily="49" charset="0"/>
                <a:ea typeface="仿宋" pitchFamily="49" charset="-122"/>
              </a:rPr>
              <a:t>k-1&lt;i</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return </a:t>
            </a:r>
            <a:r>
              <a:rPr lang="en-US" altLang="zh-CN" sz="2000">
                <a:solidFill>
                  <a:srgbClr val="FF0000"/>
                </a:solidFill>
                <a:latin typeface="Consolas" pitchFamily="49" charset="0"/>
                <a:ea typeface="仿宋" pitchFamily="49" charset="-122"/>
              </a:rPr>
              <a:t>quickselect</a:t>
            </a:r>
            <a:r>
              <a:rPr lang="en-US" altLang="zh-CN" sz="2000">
                <a:solidFill>
                  <a:srgbClr val="0000FF"/>
                </a:solidFill>
                <a:latin typeface="Consolas" pitchFamily="49" charset="0"/>
                <a:ea typeface="仿宋" pitchFamily="49" charset="-122"/>
              </a:rPr>
              <a:t>(a,s,i-1,k);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在左区间查找</a:t>
            </a:r>
          </a:p>
          <a:p>
            <a:pPr algn="l" defTabSz="360000">
              <a:lnSpc>
                <a:spcPts val="2600"/>
              </a:lnSpc>
              <a:spcBef>
                <a:spcPts val="0"/>
              </a:spcBef>
            </a:pPr>
            <a:r>
              <a:rPr lang="en-US" altLang="zh-CN" sz="2000">
                <a:solidFill>
                  <a:srgbClr val="0000FF"/>
                </a:solidFill>
                <a:latin typeface="Consolas" pitchFamily="49" charset="0"/>
                <a:ea typeface="仿宋" pitchFamily="49" charset="-122"/>
              </a:rPr>
              <a:t>      	else</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return </a:t>
            </a:r>
            <a:r>
              <a:rPr lang="en-US" altLang="zh-CN" sz="2000">
                <a:solidFill>
                  <a:srgbClr val="FF0000"/>
                </a:solidFill>
                <a:latin typeface="Consolas" pitchFamily="49" charset="0"/>
                <a:ea typeface="仿宋" pitchFamily="49" charset="-122"/>
              </a:rPr>
              <a:t>quickselect</a:t>
            </a:r>
            <a:r>
              <a:rPr lang="en-US" altLang="zh-CN" sz="2000">
                <a:solidFill>
                  <a:srgbClr val="0000FF"/>
                </a:solidFill>
                <a:latin typeface="Consolas" pitchFamily="49" charset="0"/>
                <a:ea typeface="仿宋" pitchFamily="49" charset="-122"/>
              </a:rPr>
              <a:t>(a,i+1,t,k);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在右区间查找</a:t>
            </a: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else return </a:t>
            </a:r>
            <a:r>
              <a:rPr lang="en-US" altLang="zh-CN" sz="2000">
                <a:solidFill>
                  <a:srgbClr val="006600"/>
                </a:solidFill>
                <a:latin typeface="Consolas" pitchFamily="49" charset="0"/>
                <a:ea typeface="仿宋" pitchFamily="49" charset="-122"/>
              </a:rPr>
              <a:t>a[k-1]</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grpSp>
        <p:nvGrpSpPr>
          <p:cNvPr id="2" name="组合 9"/>
          <p:cNvGrpSpPr/>
          <p:nvPr/>
        </p:nvGrpSpPr>
        <p:grpSpPr>
          <a:xfrm>
            <a:off x="857224" y="6143644"/>
            <a:ext cx="7000924" cy="461665"/>
            <a:chOff x="1071538" y="6286520"/>
            <a:chExt cx="7000924" cy="461665"/>
          </a:xfrm>
        </p:grpSpPr>
        <p:sp>
          <p:nvSpPr>
            <p:cNvPr id="8" name="TextBox 7"/>
            <p:cNvSpPr txBox="1"/>
            <p:nvPr/>
          </p:nvSpPr>
          <p:spPr>
            <a:xfrm>
              <a:off x="1857356" y="6286520"/>
              <a:ext cx="621510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执行用时为</a:t>
              </a:r>
              <a:r>
                <a:rPr lang="en-US" altLang="zh-CN">
                  <a:solidFill>
                    <a:srgbClr val="0000FF"/>
                  </a:solidFill>
                  <a:latin typeface="Consolas" pitchFamily="49" charset="0"/>
                  <a:ea typeface="仿宋" pitchFamily="49" charset="-122"/>
                </a:rPr>
                <a:t>72ms</a:t>
              </a:r>
              <a:r>
                <a:rPr lang="zh-CN" altLang="zh-CN">
                  <a:solidFill>
                    <a:srgbClr val="0000FF"/>
                  </a:solidFill>
                  <a:latin typeface="Consolas" pitchFamily="49" charset="0"/>
                  <a:ea typeface="仿宋" pitchFamily="49" charset="-122"/>
                </a:rPr>
                <a:t>，内存消耗为</a:t>
              </a:r>
              <a:r>
                <a:rPr lang="en-US" altLang="zh-CN">
                  <a:solidFill>
                    <a:srgbClr val="0000FF"/>
                  </a:solidFill>
                  <a:latin typeface="Consolas" pitchFamily="49" charset="0"/>
                  <a:ea typeface="仿宋" pitchFamily="49" charset="-122"/>
                </a:rPr>
                <a:t>44.3MB</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9" name="TextBox 8"/>
            <p:cNvSpPr txBox="1"/>
            <p:nvPr/>
          </p:nvSpPr>
          <p:spPr>
            <a:xfrm>
              <a:off x="1071538" y="6286520"/>
              <a:ext cx="785818" cy="443968"/>
            </a:xfrm>
            <a:prstGeom prst="rect">
              <a:avLst/>
            </a:prstGeom>
            <a:ln>
              <a:noFill/>
            </a:ln>
            <a:effectLst>
              <a:outerShdw blurRad="76200" dir="13500000" sy="23000" kx="1200000" algn="br" rotWithShape="0">
                <a:prstClr val="black">
                  <a:alpha val="20000"/>
                </a:prstClr>
              </a:outerShdw>
            </a:effectLst>
            <a:scene3d>
              <a:camera prst="orthographicFront"/>
              <a:lightRig rig="threePt" dir="t"/>
            </a:scene3d>
            <a:sp3d>
              <a:bevelT prst="convex"/>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000"/>
                </a:lnSpc>
                <a:spcBef>
                  <a:spcPts val="0"/>
                </a:spcBef>
              </a:pPr>
              <a:r>
                <a:rPr lang="en-US" altLang="zh-CN" sz="2000">
                  <a:solidFill>
                    <a:srgbClr val="FF3300"/>
                  </a:solidFill>
                  <a:latin typeface="Eras Bold ITC" pitchFamily="34" charset="0"/>
                  <a:ea typeface="仿宋" pitchFamily="49" charset="-122"/>
                  <a:cs typeface="Courier New" pitchFamily="49" charset="0"/>
                </a:rPr>
                <a:t>EXE </a:t>
              </a:r>
              <a:endParaRPr lang="zh-CN" altLang="en-US" sz="2000">
                <a:solidFill>
                  <a:srgbClr val="FF3300"/>
                </a:solidFill>
                <a:latin typeface="Forte" pitchFamily="66" charset="0"/>
                <a:ea typeface="仿宋" pitchFamily="49" charset="-122"/>
                <a:cs typeface="Consolas" pitchFamily="49" charset="0"/>
              </a:endParaRPr>
            </a:p>
          </p:txBody>
        </p:sp>
      </p:grpSp>
      <p:grpSp>
        <p:nvGrpSpPr>
          <p:cNvPr id="21" name="组合 20"/>
          <p:cNvGrpSpPr/>
          <p:nvPr/>
        </p:nvGrpSpPr>
        <p:grpSpPr>
          <a:xfrm>
            <a:off x="928662" y="285728"/>
            <a:ext cx="6119451" cy="1788173"/>
            <a:chOff x="857224" y="1977662"/>
            <a:chExt cx="6119451" cy="1788173"/>
          </a:xfrm>
        </p:grpSpPr>
        <p:sp>
          <p:nvSpPr>
            <p:cNvPr id="22" name="Rectangle 10"/>
            <p:cNvSpPr>
              <a:spLocks noChangeArrowheads="1"/>
            </p:cNvSpPr>
            <p:nvPr/>
          </p:nvSpPr>
          <p:spPr bwMode="auto">
            <a:xfrm>
              <a:off x="857224" y="2696397"/>
              <a:ext cx="2682085" cy="461924"/>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[s]  </a:t>
              </a:r>
              <a:r>
                <a:rPr kumimoji="0" lang="en-US" altLang="zh-CN" sz="2000" b="0" i="0" u="none" strike="noStrike" cap="none" normalizeH="0" baseline="0">
                  <a:ln>
                    <a:noFill/>
                  </a:ln>
                  <a:solidFill>
                    <a:srgbClr val="0000FF"/>
                  </a:solidFill>
                  <a:effectLst/>
                  <a:latin typeface="+mj-ea"/>
                  <a:ea typeface="+mj-ea"/>
                  <a:cs typeface="Times New Roman" pitchFamily="18" charset="0"/>
                </a:rPr>
                <a:t>…</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   </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3" name="Text Box 9"/>
            <p:cNvSpPr txBox="1">
              <a:spLocks noChangeArrowheads="1"/>
            </p:cNvSpPr>
            <p:nvPr/>
          </p:nvSpPr>
          <p:spPr bwMode="auto">
            <a:xfrm>
              <a:off x="3035282" y="1977662"/>
              <a:ext cx="3608420" cy="33368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第</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大的元素（绝对序号</a:t>
              </a:r>
              <a:r>
                <a:rPr kumimoji="0" lang="zh-CN" altLang="en-US" sz="2000" b="0">
                  <a:solidFill>
                    <a:srgbClr val="0000FF"/>
                  </a:solidFill>
                  <a:latin typeface="Consolas" pitchFamily="49" charset="0"/>
                  <a:ea typeface="仿宋" pitchFamily="49" charset="-122"/>
                  <a:cs typeface="Times New Roman" pitchFamily="18" charset="0"/>
                </a:rPr>
                <a:t>为</a:t>
              </a:r>
              <a:r>
                <a:rPr kumimoji="0" lang="en-US" altLang="zh-CN" sz="2000" b="0" i="1">
                  <a:solidFill>
                    <a:srgbClr val="0000FF"/>
                  </a:solidFill>
                  <a:latin typeface="Consolas" pitchFamily="49" charset="0"/>
                  <a:ea typeface="仿宋" pitchFamily="49" charset="-122"/>
                  <a:cs typeface="Times New Roman" pitchFamily="18" charset="0"/>
                </a:rPr>
                <a:t>i</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endParaRPr kumimoji="0" lang="zh-CN" altLang="en-US"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4" name="Oval 8"/>
            <p:cNvSpPr>
              <a:spLocks noChangeArrowheads="1"/>
            </p:cNvSpPr>
            <p:nvPr/>
          </p:nvSpPr>
          <p:spPr bwMode="auto">
            <a:xfrm>
              <a:off x="3664936" y="2649289"/>
              <a:ext cx="643277" cy="557449"/>
            </a:xfrm>
            <a:prstGeom prst="ellipse">
              <a:avLst/>
            </a:prstGeom>
            <a:solidFill>
              <a:srgbClr val="FF0000"/>
            </a:solidFill>
            <a:ln w="9525">
              <a:solidFill>
                <a:srgbClr val="000000"/>
              </a:solidFill>
              <a:round/>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chemeClr val="bg1"/>
                  </a:solidFill>
                  <a:effectLst/>
                  <a:latin typeface="Consolas" pitchFamily="49" charset="0"/>
                  <a:ea typeface="仿宋" pitchFamily="49" charset="-122"/>
                  <a:cs typeface="Times New Roman" pitchFamily="18" charset="0"/>
                </a:rPr>
                <a:t>a</a:t>
              </a:r>
              <a:r>
                <a:rPr kumimoji="0" lang="en-US" altLang="zh-CN" sz="2000" b="0" i="0" u="none" strike="noStrike" cap="none" normalizeH="0" baseline="0">
                  <a:ln>
                    <a:noFill/>
                  </a:ln>
                  <a:solidFill>
                    <a:schemeClr val="bg1"/>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chemeClr val="bg1"/>
                  </a:solidFill>
                  <a:effectLst/>
                  <a:latin typeface="Consolas" pitchFamily="49" charset="0"/>
                  <a:ea typeface="仿宋" pitchFamily="49" charset="-122"/>
                  <a:cs typeface="Times New Roman" pitchFamily="18" charset="0"/>
                </a:rPr>
                <a:t>i</a:t>
              </a:r>
              <a:r>
                <a:rPr kumimoji="0" lang="en-US" altLang="zh-CN" sz="2000" b="0" i="0" u="none" strike="noStrike" cap="none" normalizeH="0" baseline="0">
                  <a:ln>
                    <a:noFill/>
                  </a:ln>
                  <a:solidFill>
                    <a:schemeClr val="bg1"/>
                  </a:solidFill>
                  <a:effectLst/>
                  <a:latin typeface="Consolas" pitchFamily="49" charset="0"/>
                  <a:ea typeface="仿宋" pitchFamily="49" charset="-122"/>
                  <a:cs typeface="Times New Roman" pitchFamily="18" charset="0"/>
                </a:rPr>
                <a:t>]</a:t>
              </a:r>
              <a:endParaRPr kumimoji="0" lang="en-US" altLang="zh-CN" sz="2000" b="0" i="0" u="none" strike="noStrike" cap="none" normalizeH="0" baseline="0">
                <a:ln>
                  <a:noFill/>
                </a:ln>
                <a:solidFill>
                  <a:schemeClr val="bg1"/>
                </a:solidFill>
                <a:effectLst/>
                <a:latin typeface="Consolas" pitchFamily="49" charset="0"/>
                <a:ea typeface="仿宋" pitchFamily="49" charset="-122"/>
                <a:cs typeface="宋体" pitchFamily="2" charset="-122"/>
              </a:endParaRPr>
            </a:p>
          </p:txBody>
        </p:sp>
        <p:sp>
          <p:nvSpPr>
            <p:cNvPr id="25" name="Rectangle 7"/>
            <p:cNvSpPr>
              <a:spLocks noChangeArrowheads="1"/>
            </p:cNvSpPr>
            <p:nvPr/>
          </p:nvSpPr>
          <p:spPr bwMode="auto">
            <a:xfrm>
              <a:off x="4438382" y="2696397"/>
              <a:ext cx="2538293" cy="461924"/>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  </a:t>
              </a:r>
              <a:r>
                <a:rPr kumimoji="0" lang="en-US" altLang="zh-CN" sz="2000" b="0" i="0" u="none" strike="noStrike" cap="none" normalizeH="0" baseline="0">
                  <a:ln>
                    <a:noFill/>
                  </a:ln>
                  <a:solidFill>
                    <a:srgbClr val="0000FF"/>
                  </a:solidFill>
                  <a:effectLst/>
                  <a:latin typeface="+mj-ea"/>
                  <a:ea typeface="+mj-ea"/>
                  <a:cs typeface="Times New Roman" pitchFamily="18" charset="0"/>
                </a:rPr>
                <a:t>…</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 </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[t]</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6" name="Text Box 6"/>
            <p:cNvSpPr txBox="1">
              <a:spLocks noChangeArrowheads="1"/>
            </p:cNvSpPr>
            <p:nvPr/>
          </p:nvSpPr>
          <p:spPr bwMode="auto">
            <a:xfrm>
              <a:off x="4411137" y="3429000"/>
              <a:ext cx="2452019" cy="33683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所有元素不大于</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7" name="AutoShape 5"/>
            <p:cNvSpPr>
              <a:spLocks/>
            </p:cNvSpPr>
            <p:nvPr/>
          </p:nvSpPr>
          <p:spPr bwMode="auto">
            <a:xfrm rot="5400000">
              <a:off x="5559477" y="2084232"/>
              <a:ext cx="187125" cy="2430828"/>
            </a:xfrm>
            <a:prstGeom prst="rightBrace">
              <a:avLst>
                <a:gd name="adj1" fmla="val 93590"/>
                <a:gd name="adj2" fmla="val 50000"/>
              </a:avLst>
            </a:prstGeom>
            <a:noFill/>
            <a:ln w="19050">
              <a:solidFill>
                <a:srgbClr val="339933"/>
              </a:solidFill>
              <a:round/>
              <a:headEnd/>
              <a:tailEn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28" name="Text Box 4"/>
            <p:cNvSpPr txBox="1">
              <a:spLocks noChangeArrowheads="1"/>
            </p:cNvSpPr>
            <p:nvPr/>
          </p:nvSpPr>
          <p:spPr bwMode="auto">
            <a:xfrm>
              <a:off x="1019178" y="3429000"/>
              <a:ext cx="2508022" cy="33683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所有元素不小于</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9" name="AutoShape 3"/>
            <p:cNvSpPr>
              <a:spLocks/>
            </p:cNvSpPr>
            <p:nvPr/>
          </p:nvSpPr>
          <p:spPr bwMode="auto">
            <a:xfrm rot="5400000">
              <a:off x="2119801" y="1973021"/>
              <a:ext cx="187200" cy="2653326"/>
            </a:xfrm>
            <a:prstGeom prst="rightBrace">
              <a:avLst>
                <a:gd name="adj1" fmla="val 64072"/>
                <a:gd name="adj2" fmla="val 50000"/>
              </a:avLst>
            </a:prstGeom>
            <a:noFill/>
            <a:ln w="19050">
              <a:solidFill>
                <a:srgbClr val="339933"/>
              </a:solidFill>
              <a:round/>
              <a:headEnd/>
              <a:tailEn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30" name="AutoShape 2"/>
            <p:cNvSpPr>
              <a:spLocks noChangeShapeType="1"/>
            </p:cNvSpPr>
            <p:nvPr/>
          </p:nvSpPr>
          <p:spPr bwMode="auto">
            <a:xfrm>
              <a:off x="3985818" y="2278965"/>
              <a:ext cx="1514" cy="37032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grpSp>
      <p:sp>
        <p:nvSpPr>
          <p:cNvPr id="19" name="灯片编号占位符 18"/>
          <p:cNvSpPr>
            <a:spLocks noGrp="1"/>
          </p:cNvSpPr>
          <p:nvPr>
            <p:ph type="sldNum" sz="quarter" idx="12"/>
          </p:nvPr>
        </p:nvSpPr>
        <p:spPr/>
        <p:txBody>
          <a:bodyPr/>
          <a:lstStyle/>
          <a:p>
            <a:fld id="{7AF016A1-9F15-429F-9EFD-84004B73C732}" type="slidenum">
              <a:rPr lang="en-US" altLang="zh-CN" smtClean="0"/>
              <a:pPr/>
              <a:t>34</a:t>
            </a:fld>
            <a:r>
              <a:rPr lang="en-US" altLang="zh-CN"/>
              <a:t>/75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214282" y="1214422"/>
            <a:ext cx="8786874" cy="237254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class Solution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public:</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int </a:t>
            </a:r>
            <a:r>
              <a:rPr lang="en-US" altLang="zh-CN" sz="2000">
                <a:solidFill>
                  <a:srgbClr val="FF0000"/>
                </a:solidFill>
                <a:latin typeface="Consolas" pitchFamily="49" charset="0"/>
                <a:ea typeface="仿宋" pitchFamily="49" charset="-122"/>
              </a:rPr>
              <a:t>findKthLargest</a:t>
            </a:r>
            <a:r>
              <a:rPr lang="en-US" altLang="zh-CN" sz="2000">
                <a:solidFill>
                  <a:srgbClr val="0000FF"/>
                </a:solidFill>
                <a:latin typeface="Consolas" pitchFamily="49" charset="0"/>
                <a:ea typeface="仿宋" pitchFamily="49" charset="-122"/>
              </a:rPr>
              <a:t>(vector&lt;int&gt;&amp; nums, int k)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int n=nums.size();</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return </a:t>
            </a:r>
            <a:r>
              <a:rPr lang="en-US" altLang="zh-CN" sz="2000">
                <a:solidFill>
                  <a:srgbClr val="FF0000"/>
                </a:solidFill>
                <a:latin typeface="Consolas" pitchFamily="49" charset="0"/>
                <a:ea typeface="仿宋" pitchFamily="49" charset="-122"/>
              </a:rPr>
              <a:t>quickselect</a:t>
            </a:r>
            <a:r>
              <a:rPr lang="en-US" altLang="zh-CN" sz="2000">
                <a:solidFill>
                  <a:srgbClr val="0000FF"/>
                </a:solidFill>
                <a:latin typeface="Consolas" pitchFamily="49" charset="0"/>
                <a:ea typeface="仿宋" pitchFamily="49" charset="-122"/>
              </a:rPr>
              <a:t>(nums,0,n-1,k);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p>
        </p:txBody>
      </p:sp>
      <p:sp>
        <p:nvSpPr>
          <p:cNvPr id="5" name="TextBox 4"/>
          <p:cNvSpPr txBox="1"/>
          <p:nvPr/>
        </p:nvSpPr>
        <p:spPr>
          <a:xfrm>
            <a:off x="285720" y="428604"/>
            <a:ext cx="1285884"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a:solidFill>
                  <a:srgbClr val="FF0000"/>
                </a:solidFill>
                <a:latin typeface="Consolas" pitchFamily="49" charset="0"/>
                <a:ea typeface="微软雅黑" pitchFamily="34" charset="-122"/>
                <a:cs typeface="Consolas" pitchFamily="49" charset="0"/>
              </a:rPr>
              <a:t>解法</a:t>
            </a:r>
            <a:r>
              <a:rPr lang="en-US" altLang="zh-CN">
                <a:solidFill>
                  <a:srgbClr val="FF0000"/>
                </a:solidFill>
                <a:latin typeface="Consolas" pitchFamily="49" charset="0"/>
                <a:ea typeface="微软雅黑" pitchFamily="34" charset="-122"/>
                <a:cs typeface="Consolas" pitchFamily="49" charset="0"/>
              </a:rPr>
              <a:t>2</a:t>
            </a:r>
            <a:endParaRPr lang="zh-CN" altLang="en-US">
              <a:ln w="18415" cmpd="sng">
                <a:solidFill>
                  <a:srgbClr val="FFFFFF"/>
                </a:solidFill>
                <a:prstDash val="solid"/>
              </a:ln>
              <a:solidFill>
                <a:srgbClr val="FF0000"/>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endParaRPr>
          </a:p>
        </p:txBody>
      </p:sp>
      <p:sp>
        <p:nvSpPr>
          <p:cNvPr id="6" name="TextBox 5"/>
          <p:cNvSpPr txBox="1"/>
          <p:nvPr/>
        </p:nvSpPr>
        <p:spPr>
          <a:xfrm>
            <a:off x="1714480" y="462471"/>
            <a:ext cx="3857652"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采用第</a:t>
            </a:r>
            <a:r>
              <a:rPr lang="en-US" altLang="zh-CN">
                <a:solidFill>
                  <a:srgbClr val="0000FF"/>
                </a:solidFill>
                <a:latin typeface="Consolas" pitchFamily="49" charset="0"/>
                <a:ea typeface="仿宋" pitchFamily="49" charset="-122"/>
              </a:rPr>
              <a:t>4</a:t>
            </a:r>
            <a:r>
              <a:rPr lang="zh-CN" altLang="zh-CN">
                <a:solidFill>
                  <a:srgbClr val="0000FF"/>
                </a:solidFill>
                <a:latin typeface="Consolas" pitchFamily="49" charset="0"/>
                <a:ea typeface="仿宋" pitchFamily="49" charset="-122"/>
              </a:rPr>
              <a:t>章例</a:t>
            </a:r>
            <a:r>
              <a:rPr lang="en-US" altLang="zh-CN">
                <a:solidFill>
                  <a:srgbClr val="0000FF"/>
                </a:solidFill>
                <a:latin typeface="Consolas" pitchFamily="49" charset="0"/>
                <a:ea typeface="仿宋" pitchFamily="49" charset="-122"/>
              </a:rPr>
              <a:t>4.2</a:t>
            </a:r>
            <a:r>
              <a:rPr lang="zh-CN" altLang="zh-CN">
                <a:solidFill>
                  <a:srgbClr val="0000FF"/>
                </a:solidFill>
                <a:latin typeface="Consolas" pitchFamily="49" charset="0"/>
                <a:ea typeface="仿宋" pitchFamily="49" charset="-122"/>
              </a:rPr>
              <a:t>的解法</a:t>
            </a:r>
            <a:r>
              <a:rPr lang="en-US" altLang="zh-CN">
                <a:solidFill>
                  <a:srgbClr val="0000FF"/>
                </a:solidFill>
                <a:latin typeface="Consolas" pitchFamily="49" charset="0"/>
                <a:ea typeface="仿宋" pitchFamily="49" charset="-122"/>
              </a:rPr>
              <a:t>3</a:t>
            </a:r>
            <a:endParaRPr lang="zh-CN" altLang="en-US">
              <a:solidFill>
                <a:srgbClr val="0000FF"/>
              </a:solidFill>
              <a:latin typeface="Consolas" pitchFamily="49" charset="0"/>
              <a:ea typeface="仿宋" pitchFamily="49" charset="-122"/>
              <a:cs typeface="Consolas" pitchFamily="49" charset="0"/>
            </a:endParaRP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35</a:t>
            </a:fld>
            <a:r>
              <a:rPr lang="en-US" altLang="zh-CN"/>
              <a:t>/75</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214282" y="497443"/>
            <a:ext cx="8786874" cy="606586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quickselect</a:t>
            </a:r>
            <a:r>
              <a:rPr lang="en-US" altLang="zh-CN" sz="2000">
                <a:solidFill>
                  <a:srgbClr val="0000FF"/>
                </a:solidFill>
                <a:latin typeface="Consolas" pitchFamily="49" charset="0"/>
                <a:ea typeface="仿宋" pitchFamily="49" charset="-122"/>
              </a:rPr>
              <a:t>(vector&lt;int&gt;&amp;nums,int s,int t,int k)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if (s&gt;=t) return nums[s];</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int i=s, j=t;</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int m=</a:t>
            </a:r>
            <a:r>
              <a:rPr lang="en-US" altLang="zh-CN" sz="2000">
                <a:solidFill>
                  <a:srgbClr val="FF0000"/>
                </a:solidFill>
                <a:latin typeface="Consolas" pitchFamily="49" charset="0"/>
                <a:ea typeface="仿宋" pitchFamily="49" charset="-122"/>
              </a:rPr>
              <a:t>randa</a:t>
            </a:r>
            <a:r>
              <a:rPr lang="en-US" altLang="zh-CN" sz="2000">
                <a:solidFill>
                  <a:srgbClr val="0000FF"/>
                </a:solidFill>
                <a:latin typeface="Consolas" pitchFamily="49" charset="0"/>
                <a:ea typeface="仿宋" pitchFamily="49" charset="-122"/>
              </a:rPr>
              <a:t>(s,t);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int base=nums[m];</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while (</a:t>
            </a:r>
            <a:r>
              <a:rPr lang="en-US" altLang="zh-CN" sz="2000">
                <a:solidFill>
                  <a:srgbClr val="FF00FF"/>
                </a:solidFill>
                <a:latin typeface="Consolas" pitchFamily="49" charset="0"/>
                <a:ea typeface="仿宋" pitchFamily="49" charset="-122"/>
              </a:rPr>
              <a:t>i&lt;=j</a:t>
            </a: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while (i&lt;=j &amp;&amp; </a:t>
            </a:r>
            <a:r>
              <a:rPr lang="en-US" altLang="zh-CN" sz="2000">
                <a:solidFill>
                  <a:srgbClr val="FF00FF"/>
                </a:solidFill>
                <a:latin typeface="Consolas" pitchFamily="49" charset="0"/>
                <a:ea typeface="仿宋" pitchFamily="49" charset="-122"/>
              </a:rPr>
              <a:t>nums[i]&gt;base</a:t>
            </a:r>
            <a:r>
              <a:rPr lang="en-US" altLang="zh-CN" sz="2000">
                <a:solidFill>
                  <a:srgbClr val="0000FF"/>
                </a:solidFill>
                <a:latin typeface="Consolas" pitchFamily="49" charset="0"/>
                <a:ea typeface="仿宋" pitchFamily="49" charset="-122"/>
              </a:rPr>
              <a:t>) {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          </a:t>
            </a:r>
            <a:r>
              <a:rPr lang="en-US" altLang="zh-CN" sz="2000">
                <a:solidFill>
                  <a:srgbClr val="00B0F0"/>
                </a:solidFill>
                <a:latin typeface="Consolas" pitchFamily="49" charset="0"/>
                <a:ea typeface="仿宋" pitchFamily="49" charset="-122"/>
              </a:rPr>
              <a:t> 	//i</a:t>
            </a:r>
            <a:r>
              <a:rPr lang="zh-CN" altLang="zh-CN" sz="2000">
                <a:solidFill>
                  <a:srgbClr val="00B0F0"/>
                </a:solidFill>
                <a:latin typeface="Consolas" pitchFamily="49" charset="0"/>
                <a:ea typeface="仿宋" pitchFamily="49" charset="-122"/>
              </a:rPr>
              <a:t>指向小于等于</a:t>
            </a:r>
            <a:r>
              <a:rPr lang="en-US" altLang="zh-CN" sz="2000">
                <a:solidFill>
                  <a:srgbClr val="00B0F0"/>
                </a:solidFill>
                <a:latin typeface="Consolas" pitchFamily="49" charset="0"/>
                <a:ea typeface="仿宋" pitchFamily="49" charset="-122"/>
              </a:rPr>
              <a:t>base</a:t>
            </a:r>
            <a:r>
              <a:rPr lang="zh-CN" altLang="zh-CN" sz="2000">
                <a:solidFill>
                  <a:srgbClr val="00B0F0"/>
                </a:solidFill>
                <a:latin typeface="Consolas" pitchFamily="49" charset="0"/>
                <a:ea typeface="仿宋" pitchFamily="49" charset="-122"/>
              </a:rPr>
              <a:t>的元素</a:t>
            </a: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while (i&lt;=j &amp;&amp; </a:t>
            </a:r>
            <a:r>
              <a:rPr lang="en-US" altLang="zh-CN" sz="2000">
                <a:solidFill>
                  <a:srgbClr val="FF00FF"/>
                </a:solidFill>
                <a:latin typeface="Consolas" pitchFamily="49" charset="0"/>
                <a:ea typeface="仿宋" pitchFamily="49" charset="-122"/>
              </a:rPr>
              <a:t>nums[j]&lt;base</a:t>
            </a: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j--;      			</a:t>
            </a:r>
            <a:r>
              <a:rPr lang="en-US" altLang="zh-CN" sz="2000">
                <a:solidFill>
                  <a:srgbClr val="00B0F0"/>
                </a:solidFill>
                <a:latin typeface="Consolas" pitchFamily="49" charset="0"/>
                <a:ea typeface="仿宋" pitchFamily="49" charset="-122"/>
              </a:rPr>
              <a:t>//j</a:t>
            </a:r>
            <a:r>
              <a:rPr lang="zh-CN" altLang="zh-CN" sz="2000">
                <a:solidFill>
                  <a:srgbClr val="00B0F0"/>
                </a:solidFill>
                <a:latin typeface="Consolas" pitchFamily="49" charset="0"/>
                <a:ea typeface="仿宋" pitchFamily="49" charset="-122"/>
              </a:rPr>
              <a:t>指向大于等于</a:t>
            </a:r>
            <a:r>
              <a:rPr lang="en-US" altLang="zh-CN" sz="2000">
                <a:solidFill>
                  <a:srgbClr val="00B0F0"/>
                </a:solidFill>
                <a:latin typeface="Consolas" pitchFamily="49" charset="0"/>
                <a:ea typeface="仿宋" pitchFamily="49" charset="-122"/>
              </a:rPr>
              <a:t>base</a:t>
            </a:r>
            <a:r>
              <a:rPr lang="zh-CN" altLang="zh-CN" sz="2000">
                <a:solidFill>
                  <a:srgbClr val="00B0F0"/>
                </a:solidFill>
                <a:latin typeface="Consolas" pitchFamily="49" charset="0"/>
                <a:ea typeface="仿宋" pitchFamily="49" charset="-122"/>
              </a:rPr>
              <a:t>的元素</a:t>
            </a: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p>
          <a:p>
            <a:pPr algn="l" defTabSz="360000">
              <a:lnSpc>
                <a:spcPts val="24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i&lt;=j</a:t>
            </a: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swap</a:t>
            </a:r>
            <a:r>
              <a:rPr lang="en-US" altLang="zh-CN" sz="2000">
                <a:solidFill>
                  <a:srgbClr val="0000FF"/>
                </a:solidFill>
                <a:latin typeface="Consolas" pitchFamily="49" charset="0"/>
                <a:ea typeface="仿宋" pitchFamily="49" charset="-122"/>
              </a:rPr>
              <a:t>(nums[i],nums[j]);</a:t>
            </a:r>
          </a:p>
          <a:p>
            <a:pPr algn="l" defTabSz="360000">
              <a:lnSpc>
                <a:spcPts val="2400"/>
              </a:lnSpc>
              <a:spcBef>
                <a:spcPts val="0"/>
              </a:spcBef>
            </a:pPr>
            <a:r>
              <a:rPr lang="en-US" altLang="zh-CN" sz="2000">
                <a:solidFill>
                  <a:srgbClr val="0000FF"/>
                </a:solidFill>
                <a:latin typeface="Consolas" pitchFamily="49" charset="0"/>
                <a:ea typeface="仿宋" pitchFamily="49" charset="-122"/>
              </a:rPr>
              <a:t>       	i++; j--;</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p:txBody>
      </p:sp>
      <p:grpSp>
        <p:nvGrpSpPr>
          <p:cNvPr id="12" name="组合 11"/>
          <p:cNvGrpSpPr/>
          <p:nvPr/>
        </p:nvGrpSpPr>
        <p:grpSpPr>
          <a:xfrm>
            <a:off x="7429520" y="2428868"/>
            <a:ext cx="857256" cy="3857652"/>
            <a:chOff x="7429520" y="2428868"/>
            <a:chExt cx="857256" cy="3857652"/>
          </a:xfrm>
        </p:grpSpPr>
        <p:sp>
          <p:nvSpPr>
            <p:cNvPr id="10" name="TextBox 9"/>
            <p:cNvSpPr txBox="1"/>
            <p:nvPr/>
          </p:nvSpPr>
          <p:spPr>
            <a:xfrm>
              <a:off x="7858148" y="3677197"/>
              <a:ext cx="428628" cy="1323439"/>
            </a:xfrm>
            <a:prstGeom prst="rect">
              <a:avLst/>
            </a:prstGeom>
            <a:noFill/>
          </p:spPr>
          <p:txBody>
            <a:bodyPr wrap="square" rtlCol="0">
              <a:spAutoFit/>
            </a:bodyPr>
            <a:lstStyle/>
            <a:p>
              <a:pPr algn="l">
                <a:lnSpc>
                  <a:spcPct val="100000"/>
                </a:lnSpc>
                <a:spcBef>
                  <a:spcPts val="0"/>
                </a:spcBef>
              </a:pPr>
              <a:r>
                <a:rPr lang="zh-CN" altLang="en-US" sz="2000">
                  <a:solidFill>
                    <a:srgbClr val="0000FF"/>
                  </a:solidFill>
                  <a:latin typeface="Consolas" pitchFamily="49" charset="0"/>
                  <a:ea typeface="楷体" pitchFamily="49" charset="-122"/>
                  <a:cs typeface="Consolas" pitchFamily="49" charset="0"/>
                </a:rPr>
                <a:t>一次划分</a:t>
              </a:r>
            </a:p>
          </p:txBody>
        </p:sp>
        <p:sp>
          <p:nvSpPr>
            <p:cNvPr id="11" name="右大括号 10"/>
            <p:cNvSpPr/>
            <p:nvPr/>
          </p:nvSpPr>
          <p:spPr>
            <a:xfrm>
              <a:off x="7429520" y="2428868"/>
              <a:ext cx="357190" cy="3857652"/>
            </a:xfrm>
            <a:prstGeom prst="rightBrace">
              <a:avLst/>
            </a:prstGeom>
            <a:ln w="19050">
              <a:solidFill>
                <a:srgbClr val="339933"/>
              </a:solidFill>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grpSp>
      <p:sp>
        <p:nvSpPr>
          <p:cNvPr id="9" name="灯片编号占位符 8"/>
          <p:cNvSpPr>
            <a:spLocks noGrp="1"/>
          </p:cNvSpPr>
          <p:nvPr>
            <p:ph type="sldNum" sz="quarter" idx="12"/>
          </p:nvPr>
        </p:nvSpPr>
        <p:spPr/>
        <p:txBody>
          <a:bodyPr/>
          <a:lstStyle/>
          <a:p>
            <a:fld id="{7AF016A1-9F15-429F-9EFD-84004B73C732}" type="slidenum">
              <a:rPr lang="en-US" altLang="zh-CN" smtClean="0"/>
              <a:pPr/>
              <a:t>36</a:t>
            </a:fld>
            <a:r>
              <a:rPr lang="en-US" altLang="zh-CN"/>
              <a:t>/75</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214282" y="214290"/>
            <a:ext cx="8786874" cy="298809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4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s+k-1&lt;=j</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在左区间查找第</a:t>
            </a:r>
            <a:r>
              <a:rPr lang="en-US" altLang="zh-CN" sz="2000">
                <a:solidFill>
                  <a:srgbClr val="00B0F0"/>
                </a:solidFill>
                <a:latin typeface="Consolas" pitchFamily="49" charset="0"/>
                <a:ea typeface="仿宋" pitchFamily="49" charset="-122"/>
              </a:rPr>
              <a:t>k</a:t>
            </a:r>
            <a:r>
              <a:rPr lang="zh-CN" altLang="zh-CN" sz="2000">
                <a:solidFill>
                  <a:srgbClr val="00B0F0"/>
                </a:solidFill>
                <a:latin typeface="Consolas" pitchFamily="49" charset="0"/>
                <a:ea typeface="仿宋" pitchFamily="49" charset="-122"/>
              </a:rPr>
              <a:t>大元素</a:t>
            </a:r>
          </a:p>
          <a:p>
            <a:pPr algn="l" defTabSz="360000">
              <a:lnSpc>
                <a:spcPts val="2400"/>
              </a:lnSpc>
              <a:spcBef>
                <a:spcPts val="0"/>
              </a:spcBef>
            </a:pPr>
            <a:r>
              <a:rPr lang="en-US" altLang="zh-CN" sz="2000">
                <a:solidFill>
                  <a:srgbClr val="0000FF"/>
                </a:solidFill>
                <a:latin typeface="Consolas" pitchFamily="49" charset="0"/>
                <a:ea typeface="仿宋" pitchFamily="49" charset="-122"/>
              </a:rPr>
              <a:t>     		return </a:t>
            </a:r>
            <a:r>
              <a:rPr lang="en-US" altLang="zh-CN" sz="2000">
                <a:solidFill>
                  <a:srgbClr val="FF0000"/>
                </a:solidFill>
                <a:latin typeface="Consolas" pitchFamily="49" charset="0"/>
                <a:ea typeface="仿宋" pitchFamily="49" charset="-122"/>
              </a:rPr>
              <a:t>quickselect</a:t>
            </a:r>
            <a:r>
              <a:rPr lang="en-US" altLang="zh-CN" sz="2000">
                <a:solidFill>
                  <a:srgbClr val="0000FF"/>
                </a:solidFill>
                <a:latin typeface="Consolas" pitchFamily="49" charset="0"/>
                <a:ea typeface="仿宋" pitchFamily="49" charset="-122"/>
              </a:rPr>
              <a:t>(nums,s,j,k);</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s+k-1&gt;=i</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在右区间查找第</a:t>
            </a:r>
            <a:r>
              <a:rPr lang="en-US" altLang="zh-CN" sz="2000">
                <a:solidFill>
                  <a:srgbClr val="00B0F0"/>
                </a:solidFill>
                <a:latin typeface="Consolas" pitchFamily="49" charset="0"/>
                <a:ea typeface="仿宋" pitchFamily="49" charset="-122"/>
              </a:rPr>
              <a:t>k-(i-s)</a:t>
            </a:r>
            <a:r>
              <a:rPr lang="zh-CN" altLang="zh-CN" sz="2000">
                <a:solidFill>
                  <a:srgbClr val="00B0F0"/>
                </a:solidFill>
                <a:latin typeface="Consolas" pitchFamily="49" charset="0"/>
                <a:ea typeface="仿宋" pitchFamily="49" charset="-122"/>
              </a:rPr>
              <a:t>大元素</a:t>
            </a:r>
          </a:p>
          <a:p>
            <a:pPr algn="l" defTabSz="360000">
              <a:lnSpc>
                <a:spcPts val="2400"/>
              </a:lnSpc>
              <a:spcBef>
                <a:spcPts val="0"/>
              </a:spcBef>
            </a:pPr>
            <a:r>
              <a:rPr lang="en-US" altLang="zh-CN" sz="2000">
                <a:solidFill>
                  <a:srgbClr val="0000FF"/>
                </a:solidFill>
                <a:latin typeface="Consolas" pitchFamily="49" charset="0"/>
                <a:ea typeface="仿宋" pitchFamily="49" charset="-122"/>
              </a:rPr>
              <a:t>     		return </a:t>
            </a:r>
            <a:r>
              <a:rPr lang="en-US" altLang="zh-CN" sz="2000">
                <a:solidFill>
                  <a:srgbClr val="FF0000"/>
                </a:solidFill>
                <a:latin typeface="Consolas" pitchFamily="49" charset="0"/>
                <a:ea typeface="仿宋" pitchFamily="49" charset="-122"/>
              </a:rPr>
              <a:t>quickselect</a:t>
            </a:r>
            <a:r>
              <a:rPr lang="en-US" altLang="zh-CN" sz="2000">
                <a:solidFill>
                  <a:srgbClr val="0000FF"/>
                </a:solidFill>
                <a:latin typeface="Consolas" pitchFamily="49" charset="0"/>
                <a:ea typeface="仿宋" pitchFamily="49" charset="-122"/>
              </a:rPr>
              <a:t>(nums,i,t,k-(i-s));</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return nums[j+1];</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grpSp>
        <p:nvGrpSpPr>
          <p:cNvPr id="2" name="组合 9"/>
          <p:cNvGrpSpPr/>
          <p:nvPr/>
        </p:nvGrpSpPr>
        <p:grpSpPr>
          <a:xfrm>
            <a:off x="642910" y="5681979"/>
            <a:ext cx="7000924" cy="461665"/>
            <a:chOff x="1071538" y="6286520"/>
            <a:chExt cx="7000924" cy="461665"/>
          </a:xfrm>
        </p:grpSpPr>
        <p:sp>
          <p:nvSpPr>
            <p:cNvPr id="8" name="TextBox 7"/>
            <p:cNvSpPr txBox="1"/>
            <p:nvPr/>
          </p:nvSpPr>
          <p:spPr>
            <a:xfrm>
              <a:off x="1857356" y="6286520"/>
              <a:ext cx="621510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执行用时为</a:t>
              </a:r>
              <a:r>
                <a:rPr lang="en-US" altLang="zh-CN">
                  <a:solidFill>
                    <a:srgbClr val="0000FF"/>
                  </a:solidFill>
                  <a:latin typeface="Consolas" pitchFamily="49" charset="0"/>
                  <a:ea typeface="仿宋" pitchFamily="49" charset="-122"/>
                </a:rPr>
                <a:t>60ms</a:t>
              </a:r>
              <a:r>
                <a:rPr lang="zh-CN" altLang="zh-CN">
                  <a:solidFill>
                    <a:srgbClr val="0000FF"/>
                  </a:solidFill>
                  <a:latin typeface="Consolas" pitchFamily="49" charset="0"/>
                  <a:ea typeface="仿宋" pitchFamily="49" charset="-122"/>
                </a:rPr>
                <a:t>，内存消耗为</a:t>
              </a:r>
              <a:r>
                <a:rPr lang="en-US" altLang="zh-CN">
                  <a:solidFill>
                    <a:srgbClr val="0000FF"/>
                  </a:solidFill>
                  <a:latin typeface="Consolas" pitchFamily="49" charset="0"/>
                  <a:ea typeface="仿宋" pitchFamily="49" charset="-122"/>
                </a:rPr>
                <a:t>44.4MB</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9" name="TextBox 8"/>
            <p:cNvSpPr txBox="1"/>
            <p:nvPr/>
          </p:nvSpPr>
          <p:spPr>
            <a:xfrm>
              <a:off x="1071538" y="6286520"/>
              <a:ext cx="785818" cy="443968"/>
            </a:xfrm>
            <a:prstGeom prst="rect">
              <a:avLst/>
            </a:prstGeom>
            <a:ln>
              <a:noFill/>
            </a:ln>
            <a:effectLst>
              <a:outerShdw blurRad="76200" dir="13500000" sy="23000" kx="1200000" algn="br" rotWithShape="0">
                <a:prstClr val="black">
                  <a:alpha val="20000"/>
                </a:prstClr>
              </a:outerShdw>
            </a:effectLst>
            <a:scene3d>
              <a:camera prst="orthographicFront"/>
              <a:lightRig rig="threePt" dir="t"/>
            </a:scene3d>
            <a:sp3d>
              <a:bevelT prst="convex"/>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000"/>
                </a:lnSpc>
                <a:spcBef>
                  <a:spcPts val="0"/>
                </a:spcBef>
              </a:pPr>
              <a:r>
                <a:rPr lang="en-US" altLang="zh-CN" sz="2000">
                  <a:solidFill>
                    <a:srgbClr val="FF3300"/>
                  </a:solidFill>
                  <a:latin typeface="Eras Bold ITC" pitchFamily="34" charset="0"/>
                  <a:ea typeface="仿宋" pitchFamily="49" charset="-122"/>
                  <a:cs typeface="Courier New" pitchFamily="49" charset="0"/>
                </a:rPr>
                <a:t>EXE </a:t>
              </a:r>
              <a:endParaRPr lang="zh-CN" altLang="en-US" sz="2000">
                <a:solidFill>
                  <a:srgbClr val="FF3300"/>
                </a:solidFill>
                <a:latin typeface="Forte" pitchFamily="66" charset="0"/>
                <a:ea typeface="仿宋" pitchFamily="49" charset="-122"/>
                <a:cs typeface="Consolas" pitchFamily="49" charset="0"/>
              </a:endParaRPr>
            </a:p>
          </p:txBody>
        </p:sp>
      </p:grpSp>
      <p:grpSp>
        <p:nvGrpSpPr>
          <p:cNvPr id="17" name="组合 16"/>
          <p:cNvGrpSpPr/>
          <p:nvPr/>
        </p:nvGrpSpPr>
        <p:grpSpPr>
          <a:xfrm>
            <a:off x="1000100" y="3417711"/>
            <a:ext cx="6000792" cy="1868677"/>
            <a:chOff x="1000100" y="4203529"/>
            <a:chExt cx="6000792" cy="1868677"/>
          </a:xfrm>
        </p:grpSpPr>
        <p:sp>
          <p:nvSpPr>
            <p:cNvPr id="18" name="TextBox 17"/>
            <p:cNvSpPr txBox="1"/>
            <p:nvPr/>
          </p:nvSpPr>
          <p:spPr>
            <a:xfrm>
              <a:off x="1357290" y="4714884"/>
              <a:ext cx="5643602" cy="461665"/>
            </a:xfrm>
            <a:prstGeom prst="rect">
              <a:avLst/>
            </a:prstGeom>
            <a:noFill/>
          </p:spPr>
          <p:txBody>
            <a:bodyPr wrap="square" rtlCol="0">
              <a:spAutoFit/>
            </a:bodyPr>
            <a:lstStyle/>
            <a:p>
              <a:pPr algn="l" defTabSz="360000">
                <a:lnSpc>
                  <a:spcPct val="100000"/>
                </a:lnSpc>
                <a:spcBef>
                  <a:spcPts val="0"/>
                </a:spcBef>
              </a:pPr>
              <a:r>
                <a:rPr lang="en-US" altLang="zh-CN" i="1">
                  <a:solidFill>
                    <a:srgbClr val="0000FF"/>
                  </a:solidFill>
                  <a:latin typeface="Consolas" pitchFamily="49" charset="0"/>
                  <a:ea typeface="楷体" pitchFamily="49" charset="-122"/>
                  <a:cs typeface="Consolas" pitchFamily="49" charset="0"/>
                </a:rPr>
                <a:t>a</a:t>
              </a:r>
              <a:r>
                <a:rPr lang="en-US" altLang="zh-CN" i="1" baseline="-25000">
                  <a:solidFill>
                    <a:srgbClr val="0000FF"/>
                  </a:solidFill>
                  <a:latin typeface="Consolas" pitchFamily="49" charset="0"/>
                  <a:ea typeface="楷体" pitchFamily="49" charset="-122"/>
                  <a:cs typeface="Consolas" pitchFamily="49" charset="0"/>
                </a:rPr>
                <a:t>s</a:t>
              </a:r>
              <a:r>
                <a:rPr lang="en-US" altLang="zh-CN">
                  <a:solidFill>
                    <a:srgbClr val="0000FF"/>
                  </a:solidFill>
                  <a:latin typeface="Consolas" pitchFamily="49" charset="0"/>
                  <a:ea typeface="楷体" pitchFamily="49" charset="-122"/>
                  <a:cs typeface="Consolas" pitchFamily="49" charset="0"/>
                </a:rPr>
                <a:t>  </a:t>
              </a:r>
              <a:r>
                <a:rPr lang="en-US" altLang="zh-CN">
                  <a:solidFill>
                    <a:srgbClr val="0000FF"/>
                  </a:solidFill>
                  <a:latin typeface="+mn-ea"/>
                  <a:ea typeface="+mn-ea"/>
                  <a:cs typeface="Consolas" pitchFamily="49" charset="0"/>
                </a:rPr>
                <a:t>…</a:t>
              </a:r>
              <a:r>
                <a:rPr lang="en-US" altLang="zh-CN">
                  <a:solidFill>
                    <a:srgbClr val="0000FF"/>
                  </a:solidFill>
                  <a:latin typeface="Consolas" pitchFamily="49" charset="0"/>
                  <a:ea typeface="楷体" pitchFamily="49" charset="-122"/>
                  <a:cs typeface="Consolas" pitchFamily="49" charset="0"/>
                </a:rPr>
                <a:t>  </a:t>
              </a:r>
              <a:r>
                <a:rPr lang="en-US" altLang="zh-CN" i="1">
                  <a:solidFill>
                    <a:srgbClr val="0000FF"/>
                  </a:solidFill>
                  <a:latin typeface="Consolas" pitchFamily="49" charset="0"/>
                  <a:ea typeface="楷体" pitchFamily="49" charset="-122"/>
                  <a:cs typeface="Consolas" pitchFamily="49" charset="0"/>
                </a:rPr>
                <a:t>a</a:t>
              </a:r>
              <a:r>
                <a:rPr lang="en-US" altLang="zh-CN" i="1" baseline="-25000">
                  <a:solidFill>
                    <a:srgbClr val="0000FF"/>
                  </a:solidFill>
                  <a:latin typeface="Consolas" pitchFamily="49" charset="0"/>
                  <a:ea typeface="楷体" pitchFamily="49" charset="-122"/>
                  <a:cs typeface="Consolas" pitchFamily="49" charset="0"/>
                </a:rPr>
                <a:t>j</a:t>
              </a:r>
              <a:r>
                <a:rPr lang="en-US" altLang="zh-CN">
                  <a:solidFill>
                    <a:srgbClr val="0000FF"/>
                  </a:solidFill>
                  <a:latin typeface="Consolas" pitchFamily="49" charset="0"/>
                  <a:ea typeface="楷体" pitchFamily="49" charset="-122"/>
                  <a:cs typeface="Consolas" pitchFamily="49" charset="0"/>
                </a:rPr>
                <a:t>	</a:t>
              </a:r>
              <a:r>
                <a:rPr lang="en-US" altLang="zh-CN" i="1">
                  <a:solidFill>
                    <a:srgbClr val="FF0000"/>
                  </a:solidFill>
                  <a:latin typeface="Consolas" pitchFamily="49" charset="0"/>
                  <a:ea typeface="楷体" pitchFamily="49" charset="-122"/>
                  <a:cs typeface="Consolas" pitchFamily="49" charset="0"/>
                </a:rPr>
                <a:t>a</a:t>
              </a:r>
              <a:r>
                <a:rPr lang="en-US" altLang="zh-CN" i="1" baseline="-25000">
                  <a:solidFill>
                    <a:srgbClr val="FF0000"/>
                  </a:solidFill>
                  <a:latin typeface="Consolas" pitchFamily="49" charset="0"/>
                  <a:ea typeface="楷体" pitchFamily="49" charset="-122"/>
                  <a:cs typeface="Consolas" pitchFamily="49" charset="0"/>
                </a:rPr>
                <a:t>j</a:t>
              </a:r>
              <a:r>
                <a:rPr lang="en-US" altLang="zh-CN" baseline="-25000">
                  <a:solidFill>
                    <a:srgbClr val="FF0000"/>
                  </a:solidFill>
                  <a:latin typeface="Consolas" pitchFamily="49" charset="0"/>
                  <a:ea typeface="楷体" pitchFamily="49" charset="-122"/>
                  <a:cs typeface="Consolas" pitchFamily="49" charset="0"/>
                </a:rPr>
                <a:t>+1</a:t>
              </a:r>
              <a:r>
                <a:rPr lang="en-US" altLang="zh-CN">
                  <a:solidFill>
                    <a:srgbClr val="0000FF"/>
                  </a:solidFill>
                  <a:latin typeface="Consolas" pitchFamily="49" charset="0"/>
                  <a:ea typeface="楷体" pitchFamily="49" charset="-122"/>
                  <a:cs typeface="Consolas" pitchFamily="49" charset="0"/>
                </a:rPr>
                <a:t>	 </a:t>
              </a:r>
              <a:r>
                <a:rPr lang="en-US" altLang="zh-CN">
                  <a:solidFill>
                    <a:srgbClr val="0000FF"/>
                  </a:solidFill>
                  <a:latin typeface="+mn-ea"/>
                  <a:ea typeface="+mn-ea"/>
                  <a:cs typeface="Consolas" pitchFamily="49" charset="0"/>
                </a:rPr>
                <a:t>…</a:t>
              </a:r>
              <a:r>
                <a:rPr lang="en-US" altLang="zh-CN">
                  <a:solidFill>
                    <a:srgbClr val="0000FF"/>
                  </a:solidFill>
                  <a:latin typeface="Consolas" pitchFamily="49" charset="0"/>
                  <a:ea typeface="楷体" pitchFamily="49" charset="-122"/>
                  <a:cs typeface="Consolas" pitchFamily="49" charset="0"/>
                </a:rPr>
                <a:t>		</a:t>
              </a:r>
              <a:r>
                <a:rPr lang="en-US" altLang="zh-CN" i="1">
                  <a:solidFill>
                    <a:srgbClr val="006600"/>
                  </a:solidFill>
                  <a:latin typeface="Consolas" pitchFamily="49" charset="0"/>
                  <a:ea typeface="楷体" pitchFamily="49" charset="-122"/>
                  <a:cs typeface="Consolas" pitchFamily="49" charset="0"/>
                </a:rPr>
                <a:t>a</a:t>
              </a:r>
              <a:r>
                <a:rPr lang="en-US" altLang="zh-CN" i="1" baseline="-25000">
                  <a:solidFill>
                    <a:srgbClr val="006600"/>
                  </a:solidFill>
                  <a:latin typeface="Consolas" pitchFamily="49" charset="0"/>
                  <a:ea typeface="楷体" pitchFamily="49" charset="-122"/>
                  <a:cs typeface="Consolas" pitchFamily="49" charset="0"/>
                </a:rPr>
                <a:t>i</a:t>
              </a:r>
              <a:r>
                <a:rPr lang="en-US" altLang="zh-CN">
                  <a:solidFill>
                    <a:srgbClr val="006600"/>
                  </a:solidFill>
                  <a:latin typeface="Consolas" pitchFamily="49" charset="0"/>
                  <a:ea typeface="楷体" pitchFamily="49" charset="-122"/>
                  <a:cs typeface="Consolas" pitchFamily="49" charset="0"/>
                </a:rPr>
                <a:t>	 </a:t>
              </a:r>
              <a:r>
                <a:rPr lang="en-US" altLang="zh-CN">
                  <a:solidFill>
                    <a:srgbClr val="006600"/>
                  </a:solidFill>
                  <a:latin typeface="+mn-ea"/>
                  <a:ea typeface="+mn-ea"/>
                  <a:cs typeface="Consolas" pitchFamily="49" charset="0"/>
                </a:rPr>
                <a:t>…</a:t>
              </a:r>
              <a:r>
                <a:rPr lang="en-US" altLang="zh-CN">
                  <a:solidFill>
                    <a:srgbClr val="006600"/>
                  </a:solidFill>
                  <a:latin typeface="Consolas" pitchFamily="49" charset="0"/>
                  <a:ea typeface="楷体" pitchFamily="49" charset="-122"/>
                  <a:cs typeface="Consolas" pitchFamily="49" charset="0"/>
                </a:rPr>
                <a:t>		</a:t>
              </a:r>
              <a:r>
                <a:rPr lang="en-US" altLang="zh-CN" i="1">
                  <a:solidFill>
                    <a:srgbClr val="006600"/>
                  </a:solidFill>
                  <a:latin typeface="Consolas" pitchFamily="49" charset="0"/>
                  <a:ea typeface="楷体" pitchFamily="49" charset="-122"/>
                  <a:cs typeface="Consolas" pitchFamily="49" charset="0"/>
                </a:rPr>
                <a:t>a</a:t>
              </a:r>
              <a:r>
                <a:rPr lang="en-US" altLang="zh-CN" i="1" baseline="-25000">
                  <a:solidFill>
                    <a:srgbClr val="006600"/>
                  </a:solidFill>
                  <a:latin typeface="Consolas" pitchFamily="49" charset="0"/>
                  <a:ea typeface="楷体" pitchFamily="49" charset="-122"/>
                  <a:cs typeface="Consolas" pitchFamily="49" charset="0"/>
                </a:rPr>
                <a:t>t</a:t>
              </a:r>
              <a:endParaRPr lang="zh-CN" altLang="en-US" i="1" baseline="-25000">
                <a:solidFill>
                  <a:srgbClr val="006600"/>
                </a:solidFill>
                <a:latin typeface="Consolas" pitchFamily="49" charset="0"/>
                <a:ea typeface="楷体" pitchFamily="49" charset="-122"/>
                <a:cs typeface="Consolas" pitchFamily="49" charset="0"/>
              </a:endParaRPr>
            </a:p>
          </p:txBody>
        </p:sp>
        <p:sp>
          <p:nvSpPr>
            <p:cNvPr id="19" name="Text Box 4"/>
            <p:cNvSpPr txBox="1">
              <a:spLocks noChangeArrowheads="1"/>
            </p:cNvSpPr>
            <p:nvPr/>
          </p:nvSpPr>
          <p:spPr bwMode="auto">
            <a:xfrm>
              <a:off x="1519244" y="5521057"/>
              <a:ext cx="1552558" cy="55114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ts val="2100"/>
                </a:lnSpc>
                <a:spcBef>
                  <a:spcPct val="0"/>
                </a:spcBef>
                <a:spcAft>
                  <a:spcPct val="0"/>
                </a:spcAft>
                <a:buClrTx/>
                <a:buSzTx/>
                <a:buFontTx/>
                <a:buNone/>
                <a:tabLst/>
              </a:pPr>
              <a:r>
                <a:rPr kumimoji="0" 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不小于</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base</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j</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s</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个）</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0" name="AutoShape 3"/>
            <p:cNvSpPr>
              <a:spLocks/>
            </p:cNvSpPr>
            <p:nvPr/>
          </p:nvSpPr>
          <p:spPr bwMode="auto">
            <a:xfrm rot="5400000">
              <a:off x="2109770" y="4696539"/>
              <a:ext cx="252000" cy="1296000"/>
            </a:xfrm>
            <a:prstGeom prst="rightBrace">
              <a:avLst>
                <a:gd name="adj1" fmla="val 64072"/>
                <a:gd name="adj2" fmla="val 50000"/>
              </a:avLst>
            </a:prstGeom>
            <a:noFill/>
            <a:ln w="19050">
              <a:solidFill>
                <a:srgbClr val="00B0F0"/>
              </a:solidFill>
              <a:round/>
              <a:headEnd/>
              <a:tailEn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sp>
          <p:nvSpPr>
            <p:cNvPr id="21" name="Text Box 4"/>
            <p:cNvSpPr txBox="1">
              <a:spLocks noChangeArrowheads="1"/>
            </p:cNvSpPr>
            <p:nvPr/>
          </p:nvSpPr>
          <p:spPr bwMode="auto">
            <a:xfrm>
              <a:off x="5158878" y="5446031"/>
              <a:ext cx="1552558" cy="48330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ts val="2100"/>
                </a:lnSpc>
                <a:spcBef>
                  <a:spcPct val="0"/>
                </a:spcBef>
                <a:spcAft>
                  <a:spcPct val="0"/>
                </a:spcAft>
                <a:buClrTx/>
                <a:buSzTx/>
                <a:buFontTx/>
                <a:buNone/>
                <a:tabLst/>
              </a:pPr>
              <a:r>
                <a:rPr kumimoji="0" 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不</a:t>
              </a:r>
              <a:r>
                <a:rPr kumimoji="0" lang="zh-CN" altLang="en-US" sz="2000" b="0">
                  <a:solidFill>
                    <a:srgbClr val="0000FF"/>
                  </a:solidFill>
                  <a:latin typeface="Consolas" pitchFamily="49" charset="0"/>
                  <a:ea typeface="仿宋" pitchFamily="49" charset="-122"/>
                  <a:cs typeface="Times New Roman" pitchFamily="18" charset="0"/>
                </a:rPr>
                <a:t>大</a:t>
              </a:r>
              <a:r>
                <a:rPr kumimoji="0" 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于</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base</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t</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i</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个）</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2" name="AutoShape 3"/>
            <p:cNvSpPr>
              <a:spLocks/>
            </p:cNvSpPr>
            <p:nvPr/>
          </p:nvSpPr>
          <p:spPr bwMode="auto">
            <a:xfrm rot="5400000">
              <a:off x="5747258" y="4555132"/>
              <a:ext cx="252000" cy="1428760"/>
            </a:xfrm>
            <a:prstGeom prst="rightBrace">
              <a:avLst>
                <a:gd name="adj1" fmla="val 64072"/>
                <a:gd name="adj2" fmla="val 50000"/>
              </a:avLst>
            </a:prstGeom>
            <a:noFill/>
            <a:ln w="19050">
              <a:solidFill>
                <a:srgbClr val="00B0F0"/>
              </a:solidFill>
              <a:round/>
              <a:headEnd/>
              <a:tailEnd/>
            </a:ln>
          </p:spPr>
          <p:txBody>
            <a:bodyPr vert="horz" wrap="square" lIns="91440" tIns="45720" rIns="91440" bIns="45720" numCol="1" anchor="t" anchorCtr="0" compatLnSpc="1">
              <a:prstTxWarp prst="textNoShape">
                <a:avLst/>
              </a:prstTxWarp>
            </a:bodyPr>
            <a:lstStyle/>
            <a:p>
              <a:endParaRPr lang="zh-CN" altLang="en-US" sz="2000" b="0">
                <a:solidFill>
                  <a:srgbClr val="0000FF"/>
                </a:solidFill>
                <a:latin typeface="Consolas" pitchFamily="49" charset="0"/>
                <a:ea typeface="仿宋" pitchFamily="49" charset="-122"/>
              </a:endParaRPr>
            </a:p>
          </p:txBody>
        </p:sp>
        <p:cxnSp>
          <p:nvCxnSpPr>
            <p:cNvPr id="23" name="直接箭头连接符 22"/>
            <p:cNvCxnSpPr/>
            <p:nvPr/>
          </p:nvCxnSpPr>
          <p:spPr>
            <a:xfrm rot="5400000">
              <a:off x="2690976" y="4693541"/>
              <a:ext cx="214314"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24" name="TextBox 23"/>
            <p:cNvSpPr txBox="1"/>
            <p:nvPr/>
          </p:nvSpPr>
          <p:spPr>
            <a:xfrm>
              <a:off x="2428860" y="4234307"/>
              <a:ext cx="857256" cy="369332"/>
            </a:xfrm>
            <a:prstGeom prst="rect">
              <a:avLst/>
            </a:prstGeom>
            <a:noFill/>
          </p:spPr>
          <p:txBody>
            <a:bodyPr wrap="square" rtlCol="0">
              <a:spAutoFit/>
            </a:bodyPr>
            <a:lstStyle/>
            <a:p>
              <a:pPr algn="l">
                <a:lnSpc>
                  <a:spcPct val="100000"/>
                </a:lnSpc>
                <a:spcBef>
                  <a:spcPts val="0"/>
                </a:spcBef>
              </a:pPr>
              <a:r>
                <a:rPr kumimoji="0" lang="en-US" altLang="zh-CN" sz="1800" b="0" i="1">
                  <a:solidFill>
                    <a:srgbClr val="0000FF"/>
                  </a:solidFill>
                  <a:latin typeface="Consolas" pitchFamily="49" charset="0"/>
                  <a:ea typeface="仿宋" pitchFamily="49" charset="-122"/>
                  <a:cs typeface="Times New Roman" pitchFamily="18" charset="0"/>
                </a:rPr>
                <a:t>j</a:t>
              </a:r>
              <a:r>
                <a:rPr kumimoji="0" lang="en-US" altLang="zh-CN" sz="1800" b="0">
                  <a:solidFill>
                    <a:srgbClr val="0000FF"/>
                  </a:solidFill>
                  <a:latin typeface="Consolas" pitchFamily="49" charset="0"/>
                  <a:ea typeface="仿宋" pitchFamily="49" charset="-122"/>
                  <a:cs typeface="Times New Roman" pitchFamily="18" charset="0"/>
                </a:rPr>
                <a:t>-</a:t>
              </a:r>
              <a:r>
                <a:rPr kumimoji="0" lang="en-US" altLang="zh-CN" sz="1800" b="0" i="1">
                  <a:solidFill>
                    <a:srgbClr val="0000FF"/>
                  </a:solidFill>
                  <a:latin typeface="Consolas" pitchFamily="49" charset="0"/>
                  <a:ea typeface="仿宋" pitchFamily="49" charset="-122"/>
                  <a:cs typeface="Times New Roman" pitchFamily="18" charset="0"/>
                </a:rPr>
                <a:t>s</a:t>
              </a:r>
              <a:r>
                <a:rPr kumimoji="0" lang="en-US" altLang="zh-CN" sz="1800" b="0">
                  <a:solidFill>
                    <a:srgbClr val="0000FF"/>
                  </a:solidFill>
                  <a:latin typeface="Consolas" pitchFamily="49" charset="0"/>
                  <a:ea typeface="仿宋" pitchFamily="49" charset="-122"/>
                  <a:cs typeface="Times New Roman" pitchFamily="18" charset="0"/>
                </a:rPr>
                <a:t>+1</a:t>
              </a:r>
              <a:endParaRPr lang="zh-CN" altLang="en-US" sz="1800">
                <a:solidFill>
                  <a:srgbClr val="0000FF"/>
                </a:solidFill>
                <a:latin typeface="Consolas" pitchFamily="49" charset="0"/>
                <a:ea typeface="楷体" pitchFamily="49" charset="-122"/>
                <a:cs typeface="Consolas" pitchFamily="49" charset="0"/>
              </a:endParaRPr>
            </a:p>
          </p:txBody>
        </p:sp>
        <p:cxnSp>
          <p:nvCxnSpPr>
            <p:cNvPr id="25" name="直接箭头连接符 24"/>
            <p:cNvCxnSpPr/>
            <p:nvPr/>
          </p:nvCxnSpPr>
          <p:spPr>
            <a:xfrm rot="5400000">
              <a:off x="5048430" y="4678371"/>
              <a:ext cx="214314"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26" name="TextBox 25"/>
            <p:cNvSpPr txBox="1"/>
            <p:nvPr/>
          </p:nvSpPr>
          <p:spPr>
            <a:xfrm>
              <a:off x="4786314" y="4234307"/>
              <a:ext cx="857256" cy="369332"/>
            </a:xfrm>
            <a:prstGeom prst="rect">
              <a:avLst/>
            </a:prstGeom>
            <a:noFill/>
          </p:spPr>
          <p:txBody>
            <a:bodyPr wrap="square" rtlCol="0">
              <a:spAutoFit/>
            </a:bodyPr>
            <a:lstStyle/>
            <a:p>
              <a:pPr algn="l">
                <a:lnSpc>
                  <a:spcPct val="100000"/>
                </a:lnSpc>
                <a:spcBef>
                  <a:spcPts val="0"/>
                </a:spcBef>
              </a:pPr>
              <a:r>
                <a:rPr kumimoji="0" lang="en-US" altLang="zh-CN" sz="1800" b="0" i="1">
                  <a:solidFill>
                    <a:srgbClr val="0000FF"/>
                  </a:solidFill>
                  <a:latin typeface="Consolas" pitchFamily="49" charset="0"/>
                  <a:ea typeface="仿宋" pitchFamily="49" charset="-122"/>
                  <a:cs typeface="Times New Roman" pitchFamily="18" charset="0"/>
                </a:rPr>
                <a:t>i</a:t>
              </a:r>
              <a:r>
                <a:rPr kumimoji="0" lang="en-US" altLang="zh-CN" sz="1800" b="0">
                  <a:solidFill>
                    <a:srgbClr val="0000FF"/>
                  </a:solidFill>
                  <a:latin typeface="Consolas" pitchFamily="49" charset="0"/>
                  <a:ea typeface="仿宋" pitchFamily="49" charset="-122"/>
                  <a:cs typeface="Times New Roman" pitchFamily="18" charset="0"/>
                </a:rPr>
                <a:t>-</a:t>
              </a:r>
              <a:r>
                <a:rPr kumimoji="0" lang="en-US" altLang="zh-CN" sz="1800" b="0" i="1">
                  <a:solidFill>
                    <a:srgbClr val="0000FF"/>
                  </a:solidFill>
                  <a:latin typeface="Consolas" pitchFamily="49" charset="0"/>
                  <a:ea typeface="仿宋" pitchFamily="49" charset="-122"/>
                  <a:cs typeface="Times New Roman" pitchFamily="18" charset="0"/>
                </a:rPr>
                <a:t>s</a:t>
              </a:r>
              <a:r>
                <a:rPr kumimoji="0" lang="en-US" altLang="zh-CN" sz="1800" b="0">
                  <a:solidFill>
                    <a:srgbClr val="0000FF"/>
                  </a:solidFill>
                  <a:latin typeface="Consolas" pitchFamily="49" charset="0"/>
                  <a:ea typeface="仿宋" pitchFamily="49" charset="-122"/>
                  <a:cs typeface="Times New Roman" pitchFamily="18" charset="0"/>
                </a:rPr>
                <a:t>+1</a:t>
              </a:r>
              <a:endParaRPr lang="zh-CN" altLang="en-US" sz="1800">
                <a:solidFill>
                  <a:srgbClr val="0000FF"/>
                </a:solidFill>
                <a:latin typeface="Consolas" pitchFamily="49" charset="0"/>
                <a:ea typeface="楷体" pitchFamily="49" charset="-122"/>
                <a:cs typeface="Consolas" pitchFamily="49" charset="0"/>
              </a:endParaRPr>
            </a:p>
          </p:txBody>
        </p:sp>
        <p:sp>
          <p:nvSpPr>
            <p:cNvPr id="27" name="TextBox 26"/>
            <p:cNvSpPr txBox="1"/>
            <p:nvPr/>
          </p:nvSpPr>
          <p:spPr>
            <a:xfrm>
              <a:off x="1000100" y="4203529"/>
              <a:ext cx="1357322" cy="400110"/>
            </a:xfrm>
            <a:prstGeom prst="rect">
              <a:avLst/>
            </a:prstGeom>
            <a:noFill/>
          </p:spPr>
          <p:txBody>
            <a:bodyPr wrap="square" rtlCol="0">
              <a:spAutoFit/>
            </a:bodyPr>
            <a:lstStyle/>
            <a:p>
              <a:pPr algn="l">
                <a:lnSpc>
                  <a:spcPct val="100000"/>
                </a:lnSpc>
                <a:spcBef>
                  <a:spcPts val="0"/>
                </a:spcBef>
              </a:pPr>
              <a:r>
                <a:rPr lang="zh-CN" altLang="en-US" sz="2000">
                  <a:solidFill>
                    <a:srgbClr val="0000FF"/>
                  </a:solidFill>
                  <a:latin typeface="Consolas" pitchFamily="49" charset="0"/>
                  <a:ea typeface="楷体" pitchFamily="49" charset="-122"/>
                  <a:cs typeface="Consolas" pitchFamily="49" charset="0"/>
                </a:rPr>
                <a:t>相对序号：</a:t>
              </a:r>
            </a:p>
          </p:txBody>
        </p:sp>
      </p:grpSp>
      <p:sp>
        <p:nvSpPr>
          <p:cNvPr id="28" name="灯片编号占位符 27"/>
          <p:cNvSpPr>
            <a:spLocks noGrp="1"/>
          </p:cNvSpPr>
          <p:nvPr>
            <p:ph type="sldNum" sz="quarter" idx="12"/>
          </p:nvPr>
        </p:nvSpPr>
        <p:spPr/>
        <p:txBody>
          <a:bodyPr/>
          <a:lstStyle/>
          <a:p>
            <a:fld id="{7AF016A1-9F15-429F-9EFD-84004B73C732}" type="slidenum">
              <a:rPr lang="en-US" altLang="zh-CN" smtClean="0"/>
              <a:pPr/>
              <a:t>37</a:t>
            </a:fld>
            <a:r>
              <a:rPr lang="en-US" altLang="zh-CN"/>
              <a:t>/75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TextBox 9">
            <a:hlinkClick r:id="" action="ppaction://noaction"/>
          </p:cNvPr>
          <p:cNvSpPr txBox="1"/>
          <p:nvPr/>
        </p:nvSpPr>
        <p:spPr>
          <a:xfrm>
            <a:off x="2500298" y="357166"/>
            <a:ext cx="4214842"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12.2 </a:t>
            </a:r>
            <a:r>
              <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近似算法</a:t>
            </a:r>
            <a:endParaRPr lang="zh-CN" altLang="en-US"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11" name="TextBox 10"/>
          <p:cNvSpPr txBox="1"/>
          <p:nvPr/>
        </p:nvSpPr>
        <p:spPr>
          <a:xfrm>
            <a:off x="357158" y="1357298"/>
            <a:ext cx="4572032"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12.2.1 </a:t>
            </a:r>
            <a:r>
              <a:rPr lang="zh-CN" altLang="en-US"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什么是近似算法</a:t>
            </a:r>
            <a:endParaRPr lang="zh-CN"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12" name="TextBox 11"/>
          <p:cNvSpPr txBox="1"/>
          <p:nvPr/>
        </p:nvSpPr>
        <p:spPr>
          <a:xfrm>
            <a:off x="714348" y="2357430"/>
            <a:ext cx="7786742" cy="1477328"/>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2"/>
              </a:buBlip>
            </a:pPr>
            <a:r>
              <a:rPr lang="zh-CN" altLang="zh-CN">
                <a:solidFill>
                  <a:srgbClr val="0000FF"/>
                </a:solidFill>
                <a:latin typeface="Consolas" pitchFamily="49" charset="0"/>
                <a:ea typeface="仿宋" pitchFamily="49" charset="-122"/>
              </a:rPr>
              <a:t>近似算法通常与</a:t>
            </a:r>
            <a:r>
              <a:rPr lang="en-US" altLang="zh-CN">
                <a:solidFill>
                  <a:srgbClr val="0000FF"/>
                </a:solidFill>
                <a:latin typeface="Consolas" pitchFamily="49" charset="0"/>
                <a:ea typeface="仿宋" pitchFamily="49" charset="-122"/>
              </a:rPr>
              <a:t>NP</a:t>
            </a:r>
            <a:r>
              <a:rPr lang="zh-CN" altLang="zh-CN">
                <a:solidFill>
                  <a:srgbClr val="0000FF"/>
                </a:solidFill>
                <a:latin typeface="Consolas" pitchFamily="49" charset="0"/>
                <a:ea typeface="仿宋" pitchFamily="49" charset="-122"/>
              </a:rPr>
              <a:t>完全问题相关</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2"/>
              </a:buBlip>
            </a:pPr>
            <a:r>
              <a:rPr lang="zh-CN" altLang="zh-CN">
                <a:solidFill>
                  <a:srgbClr val="0000FF"/>
                </a:solidFill>
                <a:latin typeface="Consolas" pitchFamily="49" charset="0"/>
                <a:ea typeface="仿宋" pitchFamily="49" charset="-122"/>
              </a:rPr>
              <a:t>由于目前不可能采用有效的多项式时间精确地解决</a:t>
            </a:r>
            <a:r>
              <a:rPr lang="en-US" altLang="zh-CN">
                <a:solidFill>
                  <a:srgbClr val="0000FF"/>
                </a:solidFill>
                <a:latin typeface="Consolas" pitchFamily="49" charset="0"/>
                <a:ea typeface="仿宋" pitchFamily="49" charset="-122"/>
              </a:rPr>
              <a:t>NP</a:t>
            </a:r>
            <a:r>
              <a:rPr lang="zh-CN" altLang="zh-CN">
                <a:solidFill>
                  <a:srgbClr val="0000FF"/>
                </a:solidFill>
                <a:latin typeface="Consolas" pitchFamily="49" charset="0"/>
                <a:ea typeface="仿宋" pitchFamily="49" charset="-122"/>
              </a:rPr>
              <a:t>完全问题，所以采用多项式时间求一个</a:t>
            </a:r>
            <a:r>
              <a:rPr lang="zh-CN" altLang="zh-CN">
                <a:solidFill>
                  <a:srgbClr val="FF0000"/>
                </a:solidFill>
                <a:latin typeface="Consolas" pitchFamily="49" charset="0"/>
                <a:ea typeface="仿宋" pitchFamily="49" charset="-122"/>
              </a:rPr>
              <a:t>次优解</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8" name="灯片编号占位符 7"/>
          <p:cNvSpPr>
            <a:spLocks noGrp="1"/>
          </p:cNvSpPr>
          <p:nvPr>
            <p:ph type="sldNum" sz="quarter" idx="12"/>
          </p:nvPr>
        </p:nvSpPr>
        <p:spPr/>
        <p:txBody>
          <a:bodyPr/>
          <a:lstStyle/>
          <a:p>
            <a:fld id="{7AF016A1-9F15-429F-9EFD-84004B73C732}" type="slidenum">
              <a:rPr lang="en-US" altLang="zh-CN" smtClean="0"/>
              <a:pPr/>
              <a:t>38</a:t>
            </a:fld>
            <a:r>
              <a:rPr lang="en-US" altLang="zh-CN"/>
              <a:t>/75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642910" y="571480"/>
            <a:ext cx="692948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通常采用近似性能比衡量一个</a:t>
            </a:r>
            <a:r>
              <a:rPr lang="zh-CN" altLang="zh-CN">
                <a:solidFill>
                  <a:srgbClr val="FF0000"/>
                </a:solidFill>
                <a:latin typeface="Consolas" pitchFamily="49" charset="0"/>
                <a:ea typeface="仿宋" pitchFamily="49" charset="-122"/>
              </a:rPr>
              <a:t>近似算法</a:t>
            </a:r>
            <a:r>
              <a:rPr lang="en-US" altLang="zh-CN">
                <a:solidFill>
                  <a:srgbClr val="FF0000"/>
                </a:solidFill>
                <a:latin typeface="Consolas" pitchFamily="49" charset="0"/>
                <a:ea typeface="仿宋" pitchFamily="49" charset="-122"/>
              </a:rPr>
              <a:t>A</a:t>
            </a:r>
            <a:r>
              <a:rPr lang="zh-CN" altLang="zh-CN">
                <a:solidFill>
                  <a:srgbClr val="FF0000"/>
                </a:solidFill>
                <a:latin typeface="Consolas" pitchFamily="49" charset="0"/>
                <a:ea typeface="仿宋" pitchFamily="49" charset="-122"/>
              </a:rPr>
              <a:t>的性能</a:t>
            </a:r>
            <a:r>
              <a:rPr lang="zh-CN" altLang="zh-CN">
                <a:solidFill>
                  <a:srgbClr val="0000FF"/>
                </a:solidFill>
                <a:latin typeface="Consolas" pitchFamily="49" charset="0"/>
                <a:ea typeface="仿宋" pitchFamily="49" charset="-122"/>
              </a:rPr>
              <a:t>。</a:t>
            </a:r>
          </a:p>
        </p:txBody>
      </p:sp>
      <p:sp>
        <p:nvSpPr>
          <p:cNvPr id="5" name="TextBox 4"/>
          <p:cNvSpPr txBox="1"/>
          <p:nvPr/>
        </p:nvSpPr>
        <p:spPr>
          <a:xfrm>
            <a:off x="571472" y="1357298"/>
            <a:ext cx="7929618" cy="2631490"/>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）若问题∏是</a:t>
            </a:r>
            <a:r>
              <a:rPr lang="zh-CN" altLang="zh-CN">
                <a:solidFill>
                  <a:srgbClr val="FF0000"/>
                </a:solidFill>
                <a:latin typeface="Consolas" pitchFamily="49" charset="0"/>
                <a:ea typeface="仿宋" pitchFamily="49" charset="-122"/>
              </a:rPr>
              <a:t>最小优化问题</a:t>
            </a:r>
            <a:r>
              <a:rPr lang="zh-CN" altLang="zh-CN">
                <a:solidFill>
                  <a:srgbClr val="0000FF"/>
                </a:solidFill>
                <a:latin typeface="Consolas" pitchFamily="49" charset="0"/>
                <a:ea typeface="仿宋" pitchFamily="49" charset="-122"/>
              </a:rPr>
              <a:t>，假设其最优解为</a:t>
            </a:r>
            <a:r>
              <a:rPr lang="en-US" altLang="zh-CN">
                <a:solidFill>
                  <a:srgbClr val="0000FF"/>
                </a:solidFill>
                <a:latin typeface="Consolas" pitchFamily="49" charset="0"/>
                <a:ea typeface="仿宋" pitchFamily="49" charset="-122"/>
              </a:rPr>
              <a:t>c*</a:t>
            </a:r>
            <a:r>
              <a:rPr lang="zh-CN" altLang="zh-CN">
                <a:solidFill>
                  <a:srgbClr val="0000FF"/>
                </a:solidFill>
                <a:latin typeface="Consolas" pitchFamily="49" charset="0"/>
                <a:ea typeface="仿宋" pitchFamily="49" charset="-122"/>
              </a:rPr>
              <a:t>，近似算法</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求出的近似最优解为</a:t>
            </a:r>
            <a:r>
              <a:rPr lang="en-US" altLang="zh-CN">
                <a:solidFill>
                  <a:srgbClr val="0000FF"/>
                </a:solidFill>
                <a:latin typeface="Consolas" pitchFamily="49" charset="0"/>
                <a:ea typeface="仿宋" pitchFamily="49" charset="-122"/>
              </a:rPr>
              <a:t>c*</a:t>
            </a:r>
            <a:r>
              <a:rPr lang="zh-CN" altLang="zh-CN">
                <a:solidFill>
                  <a:srgbClr val="0000FF"/>
                </a:solidFill>
                <a:latin typeface="Consolas" pitchFamily="49" charset="0"/>
                <a:ea typeface="仿宋" pitchFamily="49" charset="-122"/>
              </a:rPr>
              <a:t>，则算法</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的近似性能比为η</a:t>
            </a:r>
            <a:r>
              <a:rPr lang="en-US" altLang="zh-CN">
                <a:solidFill>
                  <a:srgbClr val="0000FF"/>
                </a:solidFill>
                <a:latin typeface="Consolas" pitchFamily="49" charset="0"/>
                <a:ea typeface="仿宋" pitchFamily="49" charset="-122"/>
              </a:rPr>
              <a:t>=c/c*</a:t>
            </a:r>
            <a:r>
              <a:rPr lang="zh-CN" altLang="zh-CN">
                <a:solidFill>
                  <a:srgbClr val="0000FF"/>
                </a:solidFill>
                <a:latin typeface="Consolas" pitchFamily="49" charset="0"/>
                <a:ea typeface="仿宋" pitchFamily="49" charset="-122"/>
              </a:rPr>
              <a:t>（通常</a:t>
            </a:r>
            <a:r>
              <a:rPr lang="en-US" altLang="zh-CN">
                <a:solidFill>
                  <a:srgbClr val="0000FF"/>
                </a:solidFill>
                <a:latin typeface="Consolas" pitchFamily="49" charset="0"/>
                <a:ea typeface="仿宋" pitchFamily="49" charset="-122"/>
              </a:rPr>
              <a:t>c</a:t>
            </a:r>
            <a:r>
              <a:rPr lang="zh-CN" altLang="zh-CN">
                <a:solidFill>
                  <a:srgbClr val="0000FF"/>
                </a:solidFill>
                <a:latin typeface="+mn-ea"/>
              </a:rPr>
              <a:t>≥</a:t>
            </a:r>
            <a:r>
              <a:rPr lang="en-US" altLang="zh-CN">
                <a:solidFill>
                  <a:srgbClr val="0000FF"/>
                </a:solidFill>
                <a:latin typeface="Consolas" pitchFamily="49" charset="0"/>
                <a:ea typeface="仿宋" pitchFamily="49" charset="-122"/>
              </a:rPr>
              <a:t>c*</a:t>
            </a:r>
            <a:r>
              <a:rPr lang="zh-CN" altLang="zh-CN">
                <a:solidFill>
                  <a:srgbClr val="0000FF"/>
                </a:solidFill>
                <a:latin typeface="Consolas" pitchFamily="49" charset="0"/>
                <a:ea typeface="仿宋" pitchFamily="49" charset="-122"/>
              </a:rPr>
              <a:t>）。</a:t>
            </a:r>
          </a:p>
          <a:p>
            <a:pPr algn="l">
              <a:lnSpc>
                <a:spcPts val="32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）若问题∏是</a:t>
            </a:r>
            <a:r>
              <a:rPr lang="zh-CN" altLang="zh-CN">
                <a:solidFill>
                  <a:srgbClr val="FF0000"/>
                </a:solidFill>
                <a:latin typeface="Consolas" pitchFamily="49" charset="0"/>
                <a:ea typeface="仿宋" pitchFamily="49" charset="-122"/>
              </a:rPr>
              <a:t>最大优化问题</a:t>
            </a:r>
            <a:r>
              <a:rPr lang="zh-CN" altLang="zh-CN">
                <a:solidFill>
                  <a:srgbClr val="0000FF"/>
                </a:solidFill>
                <a:latin typeface="Consolas" pitchFamily="49" charset="0"/>
                <a:ea typeface="仿宋" pitchFamily="49" charset="-122"/>
              </a:rPr>
              <a:t>，假设其最优解为</a:t>
            </a:r>
            <a:r>
              <a:rPr lang="en-US" altLang="zh-CN">
                <a:solidFill>
                  <a:srgbClr val="0000FF"/>
                </a:solidFill>
                <a:latin typeface="Consolas" pitchFamily="49" charset="0"/>
                <a:ea typeface="仿宋" pitchFamily="49" charset="-122"/>
              </a:rPr>
              <a:t>c*</a:t>
            </a:r>
            <a:r>
              <a:rPr lang="zh-CN" altLang="zh-CN">
                <a:solidFill>
                  <a:srgbClr val="0000FF"/>
                </a:solidFill>
                <a:latin typeface="Consolas" pitchFamily="49" charset="0"/>
                <a:ea typeface="仿宋" pitchFamily="49" charset="-122"/>
              </a:rPr>
              <a:t>，近似算法</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求出的近似最优解为</a:t>
            </a:r>
            <a:r>
              <a:rPr lang="en-US" altLang="zh-CN">
                <a:solidFill>
                  <a:srgbClr val="0000FF"/>
                </a:solidFill>
                <a:latin typeface="Consolas" pitchFamily="49" charset="0"/>
                <a:ea typeface="仿宋" pitchFamily="49" charset="-122"/>
              </a:rPr>
              <a:t>c*</a:t>
            </a:r>
            <a:r>
              <a:rPr lang="zh-CN" altLang="zh-CN">
                <a:solidFill>
                  <a:srgbClr val="0000FF"/>
                </a:solidFill>
                <a:latin typeface="Consolas" pitchFamily="49" charset="0"/>
                <a:ea typeface="仿宋" pitchFamily="49" charset="-122"/>
              </a:rPr>
              <a:t>，则算法</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的近似性能比为η</a:t>
            </a:r>
            <a:r>
              <a:rPr lang="en-US" altLang="zh-CN">
                <a:solidFill>
                  <a:srgbClr val="0000FF"/>
                </a:solidFill>
                <a:latin typeface="Consolas" pitchFamily="49" charset="0"/>
                <a:ea typeface="仿宋" pitchFamily="49" charset="-122"/>
              </a:rPr>
              <a:t>=c*/c</a:t>
            </a:r>
            <a:r>
              <a:rPr lang="zh-CN" altLang="zh-CN">
                <a:solidFill>
                  <a:srgbClr val="0000FF"/>
                </a:solidFill>
                <a:latin typeface="Consolas" pitchFamily="49" charset="0"/>
                <a:ea typeface="仿宋" pitchFamily="49" charset="-122"/>
              </a:rPr>
              <a:t>（通常</a:t>
            </a:r>
            <a:r>
              <a:rPr lang="en-US" altLang="zh-CN">
                <a:solidFill>
                  <a:srgbClr val="0000FF"/>
                </a:solidFill>
                <a:latin typeface="Consolas" pitchFamily="49" charset="0"/>
                <a:ea typeface="仿宋" pitchFamily="49" charset="-122"/>
              </a:rPr>
              <a:t>c</a:t>
            </a:r>
            <a:r>
              <a:rPr lang="zh-CN" altLang="zh-CN">
                <a:solidFill>
                  <a:srgbClr val="0000FF"/>
                </a:solidFill>
                <a:latin typeface="+mn-ea"/>
              </a:rPr>
              <a:t>≤</a:t>
            </a:r>
            <a:r>
              <a:rPr lang="en-US" altLang="zh-CN">
                <a:solidFill>
                  <a:srgbClr val="0000FF"/>
                </a:solidFill>
                <a:latin typeface="Consolas" pitchFamily="49" charset="0"/>
                <a:ea typeface="仿宋" pitchFamily="49" charset="-122"/>
              </a:rPr>
              <a:t>c*</a:t>
            </a:r>
            <a:r>
              <a:rPr lang="zh-CN" altLang="zh-CN">
                <a:solidFill>
                  <a:srgbClr val="0000FF"/>
                </a:solidFill>
                <a:latin typeface="Consolas" pitchFamily="49" charset="0"/>
                <a:ea typeface="仿宋" pitchFamily="49" charset="-122"/>
              </a:rPr>
              <a:t>）。</a:t>
            </a:r>
          </a:p>
        </p:txBody>
      </p:sp>
      <p:sp>
        <p:nvSpPr>
          <p:cNvPr id="6" name="TextBox 5"/>
          <p:cNvSpPr txBox="1"/>
          <p:nvPr/>
        </p:nvSpPr>
        <p:spPr>
          <a:xfrm>
            <a:off x="571472" y="4357694"/>
            <a:ext cx="7358114"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算法</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称为</a:t>
            </a:r>
            <a:r>
              <a:rPr lang="zh-CN" altLang="zh-CN">
                <a:solidFill>
                  <a:srgbClr val="FF0000"/>
                </a:solidFill>
                <a:latin typeface="Consolas" pitchFamily="49" charset="0"/>
                <a:ea typeface="仿宋" pitchFamily="49" charset="-122"/>
              </a:rPr>
              <a:t>近似性能比为η</a:t>
            </a:r>
            <a:r>
              <a:rPr lang="zh-CN" altLang="zh-CN">
                <a:solidFill>
                  <a:srgbClr val="0000FF"/>
                </a:solidFill>
                <a:latin typeface="Consolas" pitchFamily="49" charset="0"/>
                <a:ea typeface="仿宋" pitchFamily="49" charset="-122"/>
              </a:rPr>
              <a:t>的相对近似算法。</a:t>
            </a:r>
            <a:endParaRPr lang="zh-CN" altLang="en-US">
              <a:solidFill>
                <a:srgbClr val="0000FF"/>
              </a:solidFill>
              <a:latin typeface="Consolas" pitchFamily="49" charset="0"/>
              <a:ea typeface="仿宋" pitchFamily="49" charset="-122"/>
              <a:cs typeface="Consolas" pitchFamily="49" charset="0"/>
            </a:endParaRP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39</a:t>
            </a:fld>
            <a:r>
              <a:rPr lang="en-US" altLang="zh-CN"/>
              <a:t>/75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714348" y="642918"/>
            <a:ext cx="8001056" cy="861774"/>
          </a:xfrm>
          <a:prstGeom prst="rect">
            <a:avLst/>
          </a:prstGeom>
          <a:noFill/>
        </p:spPr>
        <p:txBody>
          <a:bodyPr wrap="square" rtlCol="0">
            <a:spAutoFit/>
          </a:bodyPr>
          <a:lstStyle/>
          <a:p>
            <a:pPr algn="l">
              <a:lnSpc>
                <a:spcPts val="3000"/>
              </a:lnSpc>
              <a:spcBef>
                <a:spcPts val="0"/>
              </a:spcBef>
            </a:pPr>
            <a:r>
              <a:rPr lang="zh-CN" altLang="zh-CN">
                <a:solidFill>
                  <a:srgbClr val="0000FF"/>
                </a:solidFill>
                <a:latin typeface="Consolas" pitchFamily="49" charset="0"/>
                <a:ea typeface="仿宋" pitchFamily="49" charset="-122"/>
              </a:rPr>
              <a:t>证明相对近似算法的好坏，要找到一个界</a:t>
            </a:r>
            <a:r>
              <a:rPr lang="en-US" altLang="zh-CN">
                <a:solidFill>
                  <a:srgbClr val="0000FF"/>
                </a:solidFill>
                <a:latin typeface="Consolas" pitchFamily="49" charset="0"/>
                <a:ea typeface="仿宋" pitchFamily="49" charset="-122"/>
              </a:rPr>
              <a:t>C</a:t>
            </a:r>
            <a:r>
              <a:rPr lang="zh-CN" altLang="zh-CN">
                <a:solidFill>
                  <a:srgbClr val="0000FF"/>
                </a:solidFill>
                <a:latin typeface="Consolas" pitchFamily="49" charset="0"/>
                <a:ea typeface="仿宋" pitchFamily="49" charset="-122"/>
              </a:rPr>
              <a:t>，使得η</a:t>
            </a:r>
            <a:r>
              <a:rPr lang="zh-CN" altLang="zh-CN">
                <a:solidFill>
                  <a:srgbClr val="0000FF"/>
                </a:solidFill>
                <a:latin typeface="+mn-ea"/>
                <a:ea typeface="+mn-ea"/>
              </a:rPr>
              <a:t>≤</a:t>
            </a:r>
            <a:r>
              <a:rPr lang="en-US" altLang="zh-CN">
                <a:solidFill>
                  <a:srgbClr val="0000FF"/>
                </a:solidFill>
                <a:latin typeface="Consolas" pitchFamily="49" charset="0"/>
                <a:ea typeface="仿宋" pitchFamily="49" charset="-122"/>
              </a:rPr>
              <a:t>C</a:t>
            </a:r>
            <a:r>
              <a:rPr lang="zh-CN" altLang="zh-CN">
                <a:solidFill>
                  <a:srgbClr val="0000FF"/>
                </a:solidFill>
                <a:latin typeface="Consolas" pitchFamily="49" charset="0"/>
                <a:ea typeface="仿宋" pitchFamily="49" charset="-122"/>
              </a:rPr>
              <a:t>。通常找不到比</a:t>
            </a:r>
            <a:r>
              <a:rPr lang="en-US" altLang="zh-CN">
                <a:solidFill>
                  <a:srgbClr val="0000FF"/>
                </a:solidFill>
                <a:latin typeface="Consolas" pitchFamily="49" charset="0"/>
                <a:ea typeface="仿宋" pitchFamily="49" charset="-122"/>
              </a:rPr>
              <a:t>C</a:t>
            </a:r>
            <a:r>
              <a:rPr lang="zh-CN" altLang="zh-CN">
                <a:solidFill>
                  <a:srgbClr val="0000FF"/>
                </a:solidFill>
                <a:latin typeface="Consolas" pitchFamily="49" charset="0"/>
                <a:ea typeface="仿宋" pitchFamily="49" charset="-122"/>
              </a:rPr>
              <a:t>更小的数，就说</a:t>
            </a:r>
            <a:r>
              <a:rPr lang="zh-CN" altLang="zh-CN">
                <a:solidFill>
                  <a:srgbClr val="FF0000"/>
                </a:solidFill>
                <a:latin typeface="Consolas" pitchFamily="49" charset="0"/>
                <a:ea typeface="仿宋" pitchFamily="49" charset="-122"/>
              </a:rPr>
              <a:t>算法</a:t>
            </a:r>
            <a:r>
              <a:rPr lang="en-US" altLang="zh-CN">
                <a:solidFill>
                  <a:srgbClr val="FF0000"/>
                </a:solidFill>
                <a:latin typeface="Consolas" pitchFamily="49" charset="0"/>
                <a:ea typeface="仿宋" pitchFamily="49" charset="-122"/>
              </a:rPr>
              <a:t>A</a:t>
            </a:r>
            <a:r>
              <a:rPr lang="zh-CN" altLang="zh-CN">
                <a:solidFill>
                  <a:srgbClr val="FF0000"/>
                </a:solidFill>
                <a:latin typeface="Consolas" pitchFamily="49" charset="0"/>
                <a:ea typeface="仿宋" pitchFamily="49" charset="-122"/>
              </a:rPr>
              <a:t>的近似比为</a:t>
            </a:r>
            <a:r>
              <a:rPr lang="en-US" altLang="zh-CN">
                <a:solidFill>
                  <a:srgbClr val="FF0000"/>
                </a:solidFill>
                <a:latin typeface="Consolas" pitchFamily="49" charset="0"/>
                <a:ea typeface="仿宋" pitchFamily="49" charset="-122"/>
              </a:rPr>
              <a:t>C</a:t>
            </a:r>
            <a:r>
              <a:rPr lang="zh-CN" altLang="zh-CN">
                <a:solidFill>
                  <a:srgbClr val="0000FF"/>
                </a:solidFill>
                <a:latin typeface="Consolas" pitchFamily="49" charset="0"/>
                <a:ea typeface="仿宋" pitchFamily="49" charset="-122"/>
              </a:rPr>
              <a:t>。</a:t>
            </a:r>
          </a:p>
        </p:txBody>
      </p:sp>
      <p:sp>
        <p:nvSpPr>
          <p:cNvPr id="5" name="TextBox 4"/>
          <p:cNvSpPr txBox="1"/>
          <p:nvPr/>
        </p:nvSpPr>
        <p:spPr>
          <a:xfrm>
            <a:off x="785786" y="2000240"/>
            <a:ext cx="7643866" cy="270843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600"/>
              </a:spcBef>
              <a:buBlip>
                <a:blip r:embed="rId2"/>
              </a:buBlip>
            </a:pPr>
            <a:r>
              <a:rPr lang="zh-CN" altLang="zh-CN">
                <a:solidFill>
                  <a:srgbClr val="0000FF"/>
                </a:solidFill>
                <a:latin typeface="Consolas" pitchFamily="49" charset="0"/>
                <a:ea typeface="仿宋" pitchFamily="49" charset="-122"/>
              </a:rPr>
              <a:t>若</a:t>
            </a:r>
            <a:r>
              <a:rPr lang="en-US" altLang="zh-CN">
                <a:solidFill>
                  <a:srgbClr val="0000FF"/>
                </a:solidFill>
                <a:latin typeface="Consolas" pitchFamily="49" charset="0"/>
                <a:ea typeface="仿宋" pitchFamily="49" charset="-122"/>
              </a:rPr>
              <a:t>C</a:t>
            </a:r>
            <a:r>
              <a:rPr lang="zh-CN" altLang="zh-CN">
                <a:solidFill>
                  <a:srgbClr val="0000FF"/>
                </a:solidFill>
                <a:latin typeface="Consolas" pitchFamily="49" charset="0"/>
                <a:ea typeface="仿宋" pitchFamily="49" charset="-122"/>
              </a:rPr>
              <a:t>是一个常量，算法</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称为常数近似算法，此时称</a:t>
            </a:r>
            <a:r>
              <a:rPr lang="zh-CN" altLang="zh-CN">
                <a:solidFill>
                  <a:srgbClr val="FF0000"/>
                </a:solidFill>
                <a:latin typeface="Consolas" pitchFamily="49" charset="0"/>
                <a:ea typeface="仿宋" pitchFamily="49" charset="-122"/>
              </a:rPr>
              <a:t>问题∏是可近似的</a:t>
            </a:r>
            <a:r>
              <a:rPr lang="zh-CN" altLang="zh-CN">
                <a:solidFill>
                  <a:srgbClr val="0000FF"/>
                </a:solidFill>
                <a:latin typeface="Consolas" pitchFamily="49" charset="0"/>
                <a:ea typeface="仿宋" pitchFamily="49" charset="-122"/>
              </a:rPr>
              <a:t>。</a:t>
            </a:r>
          </a:p>
          <a:p>
            <a:pPr marL="457200" indent="-457200" algn="l">
              <a:lnSpc>
                <a:spcPts val="3200"/>
              </a:lnSpc>
              <a:spcBef>
                <a:spcPts val="600"/>
              </a:spcBef>
              <a:buBlip>
                <a:blip r:embed="rId2"/>
              </a:buBlip>
            </a:pPr>
            <a:r>
              <a:rPr lang="zh-CN" altLang="zh-CN">
                <a:solidFill>
                  <a:srgbClr val="0000FF"/>
                </a:solidFill>
                <a:latin typeface="Consolas" pitchFamily="49" charset="0"/>
                <a:ea typeface="仿宋" pitchFamily="49" charset="-122"/>
              </a:rPr>
              <a:t>对于任意小的ε</a:t>
            </a:r>
            <a:r>
              <a:rPr lang="en-US" altLang="zh-CN">
                <a:solidFill>
                  <a:srgbClr val="0000FF"/>
                </a:solidFill>
                <a:latin typeface="Consolas" pitchFamily="49" charset="0"/>
                <a:ea typeface="仿宋" pitchFamily="49" charset="-122"/>
              </a:rPr>
              <a:t>&gt;0</a:t>
            </a:r>
            <a:r>
              <a:rPr lang="zh-CN" altLang="zh-CN">
                <a:solidFill>
                  <a:srgbClr val="0000FF"/>
                </a:solidFill>
                <a:latin typeface="Consolas" pitchFamily="49" charset="0"/>
                <a:ea typeface="仿宋" pitchFamily="49" charset="-122"/>
              </a:rPr>
              <a:t>，都存在</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ε</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的相对近似算法，此时称</a:t>
            </a:r>
            <a:r>
              <a:rPr lang="zh-CN" altLang="zh-CN">
                <a:solidFill>
                  <a:srgbClr val="FF0000"/>
                </a:solidFill>
                <a:latin typeface="Consolas" pitchFamily="49" charset="0"/>
                <a:ea typeface="仿宋" pitchFamily="49" charset="-122"/>
              </a:rPr>
              <a:t>问题∏是完全可近似的</a:t>
            </a:r>
            <a:r>
              <a:rPr lang="zh-CN" altLang="zh-CN">
                <a:solidFill>
                  <a:srgbClr val="0000FF"/>
                </a:solidFill>
                <a:latin typeface="Consolas" pitchFamily="49" charset="0"/>
                <a:ea typeface="仿宋" pitchFamily="49" charset="-122"/>
              </a:rPr>
              <a:t>。</a:t>
            </a:r>
          </a:p>
          <a:p>
            <a:pPr marL="457200" indent="-457200" algn="l">
              <a:lnSpc>
                <a:spcPts val="3200"/>
              </a:lnSpc>
              <a:spcBef>
                <a:spcPts val="600"/>
              </a:spcBef>
              <a:buBlip>
                <a:blip r:embed="rId2"/>
              </a:buBlip>
            </a:pPr>
            <a:r>
              <a:rPr lang="zh-CN" altLang="zh-CN">
                <a:solidFill>
                  <a:srgbClr val="0000FF"/>
                </a:solidFill>
                <a:latin typeface="Consolas" pitchFamily="49" charset="0"/>
                <a:ea typeface="仿宋" pitchFamily="49" charset="-122"/>
              </a:rPr>
              <a:t>若已经证明不存在η</a:t>
            </a:r>
            <a:r>
              <a:rPr lang="en-US" altLang="zh-CN">
                <a:solidFill>
                  <a:srgbClr val="0000FF"/>
                </a:solidFill>
                <a:latin typeface="Consolas" pitchFamily="49" charset="0"/>
                <a:ea typeface="仿宋" pitchFamily="49" charset="-122"/>
              </a:rPr>
              <a:t>&lt;C</a:t>
            </a:r>
            <a:r>
              <a:rPr lang="zh-CN" altLang="zh-CN">
                <a:solidFill>
                  <a:srgbClr val="0000FF"/>
                </a:solidFill>
                <a:latin typeface="Consolas" pitchFamily="49" charset="0"/>
                <a:ea typeface="仿宋" pitchFamily="49" charset="-122"/>
              </a:rPr>
              <a:t>，除非</a:t>
            </a:r>
            <a:r>
              <a:rPr lang="en-US" altLang="zh-CN">
                <a:solidFill>
                  <a:srgbClr val="0000FF"/>
                </a:solidFill>
                <a:latin typeface="Consolas" pitchFamily="49" charset="0"/>
                <a:ea typeface="仿宋" pitchFamily="49" charset="-122"/>
              </a:rPr>
              <a:t>P=NP</a:t>
            </a:r>
            <a:r>
              <a:rPr lang="zh-CN" altLang="zh-CN">
                <a:solidFill>
                  <a:srgbClr val="0000FF"/>
                </a:solidFill>
                <a:latin typeface="Consolas" pitchFamily="49" charset="0"/>
                <a:ea typeface="仿宋" pitchFamily="49" charset="-122"/>
              </a:rPr>
              <a:t>，此时称</a:t>
            </a:r>
            <a:r>
              <a:rPr lang="zh-CN" altLang="zh-CN">
                <a:solidFill>
                  <a:srgbClr val="FF0000"/>
                </a:solidFill>
                <a:latin typeface="Consolas" pitchFamily="49" charset="0"/>
                <a:ea typeface="仿宋" pitchFamily="49" charset="-122"/>
              </a:rPr>
              <a:t>问题∏是可不近似的</a:t>
            </a:r>
            <a:r>
              <a:rPr lang="zh-CN" altLang="zh-CN">
                <a:solidFill>
                  <a:srgbClr val="0000FF"/>
                </a:solidFill>
                <a:latin typeface="Consolas" pitchFamily="49" charset="0"/>
                <a:ea typeface="仿宋" pitchFamily="49" charset="-122"/>
              </a:rPr>
              <a:t>。</a:t>
            </a:r>
          </a:p>
        </p:txBody>
      </p:sp>
      <p:sp>
        <p:nvSpPr>
          <p:cNvPr id="6" name="下箭头 5"/>
          <p:cNvSpPr/>
          <p:nvPr/>
        </p:nvSpPr>
        <p:spPr>
          <a:xfrm>
            <a:off x="3929058" y="1500174"/>
            <a:ext cx="214314" cy="357190"/>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40</a:t>
            </a:fld>
            <a:r>
              <a:rPr lang="en-US" altLang="zh-CN"/>
              <a:t>/75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357158" y="571480"/>
            <a:ext cx="5786478"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12.2.2 </a:t>
            </a:r>
            <a:r>
              <a:rPr lang="zh-CN" altLang="zh-CN" sz="2800">
                <a:latin typeface="Consolas" pitchFamily="49" charset="0"/>
                <a:ea typeface="微软雅黑" pitchFamily="34" charset="-122"/>
              </a:rPr>
              <a:t>多机调度问题的近似算法</a:t>
            </a:r>
            <a:endParaRPr lang="zh-CN"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5" name="TextBox 4"/>
          <p:cNvSpPr txBox="1"/>
          <p:nvPr/>
        </p:nvSpPr>
        <p:spPr>
          <a:xfrm>
            <a:off x="500034" y="1714488"/>
            <a:ext cx="8072494" cy="3054682"/>
          </a:xfrm>
          <a:prstGeom prst="rect">
            <a:avLst/>
          </a:prstGeom>
          <a:ln>
            <a:solidFill>
              <a:schemeClr val="accent6">
                <a:lumMod val="40000"/>
                <a:lumOff val="6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300"/>
              </a:lnSpc>
              <a:spcBef>
                <a:spcPts val="0"/>
              </a:spcBef>
            </a:pPr>
            <a:r>
              <a:rPr lang="en-US" altLang="zh-CN">
                <a:solidFill>
                  <a:srgbClr val="FF0000"/>
                </a:solidFill>
                <a:latin typeface="Consolas" pitchFamily="49" charset="0"/>
                <a:ea typeface="楷体" pitchFamily="49" charset="-122"/>
                <a:sym typeface="Wingdings"/>
              </a:rPr>
              <a:t></a:t>
            </a:r>
            <a:r>
              <a:rPr lang="zh-CN" altLang="zh-CN">
                <a:solidFill>
                  <a:srgbClr val="FF0000"/>
                </a:solidFill>
                <a:latin typeface="Consolas" pitchFamily="49" charset="0"/>
                <a:ea typeface="楷体" pitchFamily="49" charset="-122"/>
              </a:rPr>
              <a:t>问题描述</a:t>
            </a:r>
            <a:r>
              <a:rPr lang="zh-CN" altLang="zh-CN">
                <a:solidFill>
                  <a:srgbClr val="0000FF"/>
                </a:solidFill>
                <a:latin typeface="Consolas" pitchFamily="49" charset="0"/>
                <a:ea typeface="仿宋" pitchFamily="49" charset="-122"/>
              </a:rPr>
              <a:t>：设有</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个独立的作业，编号为</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，有</a:t>
            </a:r>
            <a:r>
              <a:rPr lang="en-US" altLang="zh-CN" i="1">
                <a:solidFill>
                  <a:srgbClr val="0000FF"/>
                </a:solidFill>
                <a:latin typeface="Consolas" pitchFamily="49" charset="0"/>
                <a:ea typeface="仿宋" pitchFamily="49" charset="-122"/>
              </a:rPr>
              <a:t>m</a:t>
            </a:r>
            <a:r>
              <a:rPr lang="zh-CN" altLang="zh-CN">
                <a:solidFill>
                  <a:srgbClr val="0000FF"/>
                </a:solidFill>
                <a:latin typeface="Consolas" pitchFamily="49" charset="0"/>
                <a:ea typeface="仿宋" pitchFamily="49" charset="-122"/>
              </a:rPr>
              <a:t>台相同的机器，编号为</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m</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。现在由这些机器加工全部作业，作业</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所需的处理时间为</a:t>
            </a:r>
            <a:r>
              <a:rPr lang="en-US" altLang="zh-CN" i="1">
                <a:solidFill>
                  <a:srgbClr val="0000FF"/>
                </a:solidFill>
                <a:latin typeface="Consolas" pitchFamily="49" charset="0"/>
                <a:ea typeface="仿宋" pitchFamily="49" charset="-122"/>
              </a:rPr>
              <a:t>t</a:t>
            </a:r>
            <a:r>
              <a:rPr lang="en-US" altLang="zh-CN" i="1" baseline="-25000">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0</a:t>
            </a:r>
            <a:r>
              <a:rPr lang="zh-CN" altLang="zh-CN">
                <a:solidFill>
                  <a:srgbClr val="0000FF"/>
                </a:solidFill>
                <a:latin typeface="+mj-ea"/>
                <a:ea typeface="+mj-ea"/>
              </a:rPr>
              <a:t>≤</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&lt;</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），每个作业均可在任何一台机器上加工处理，但未完工前不允许中断，任何作业也不能拆分成更小的子作业。</a:t>
            </a:r>
            <a:endParaRPr lang="en-US" altLang="zh-CN">
              <a:solidFill>
                <a:srgbClr val="0000FF"/>
              </a:solidFill>
              <a:latin typeface="Consolas" pitchFamily="49" charset="0"/>
              <a:ea typeface="仿宋" pitchFamily="49" charset="-122"/>
            </a:endParaRPr>
          </a:p>
          <a:p>
            <a:pPr algn="l">
              <a:lnSpc>
                <a:spcPts val="3300"/>
              </a:lnSpc>
              <a:spcBef>
                <a:spcPts val="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求完成全部作业加工所需要的</a:t>
            </a:r>
            <a:r>
              <a:rPr lang="zh-CN" altLang="zh-CN">
                <a:solidFill>
                  <a:srgbClr val="FF0000"/>
                </a:solidFill>
                <a:latin typeface="Consolas" pitchFamily="49" charset="0"/>
                <a:ea typeface="仿宋" pitchFamily="49" charset="-122"/>
              </a:rPr>
              <a:t>最短工期</a:t>
            </a:r>
            <a:r>
              <a:rPr lang="zh-CN" altLang="zh-CN">
                <a:solidFill>
                  <a:srgbClr val="0000FF"/>
                </a:solidFill>
                <a:latin typeface="Consolas" pitchFamily="49" charset="0"/>
                <a:ea typeface="仿宋" pitchFamily="49" charset="-122"/>
              </a:rPr>
              <a:t>及其一个最优分配方案。</a:t>
            </a: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41</a:t>
            </a:fld>
            <a:r>
              <a:rPr lang="en-US" altLang="zh-CN"/>
              <a:t>/75</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285720" y="500042"/>
            <a:ext cx="1285884"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a:solidFill>
                  <a:srgbClr val="FF0000"/>
                </a:solidFill>
                <a:latin typeface="Consolas" pitchFamily="49" charset="0"/>
                <a:ea typeface="微软雅黑" pitchFamily="34" charset="-122"/>
                <a:cs typeface="Consolas" pitchFamily="49" charset="0"/>
              </a:rPr>
              <a:t>解法</a:t>
            </a:r>
            <a:r>
              <a:rPr lang="en-US" altLang="zh-CN">
                <a:solidFill>
                  <a:srgbClr val="FF0000"/>
                </a:solidFill>
                <a:latin typeface="Consolas" pitchFamily="49" charset="0"/>
                <a:ea typeface="微软雅黑" pitchFamily="34" charset="-122"/>
                <a:cs typeface="Consolas" pitchFamily="49" charset="0"/>
              </a:rPr>
              <a:t>1</a:t>
            </a:r>
            <a:endParaRPr lang="zh-CN" altLang="en-US">
              <a:ln w="18415" cmpd="sng">
                <a:solidFill>
                  <a:srgbClr val="FFFFFF"/>
                </a:solidFill>
                <a:prstDash val="solid"/>
              </a:ln>
              <a:solidFill>
                <a:srgbClr val="FF0000"/>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endParaRPr>
          </a:p>
        </p:txBody>
      </p:sp>
      <p:sp>
        <p:nvSpPr>
          <p:cNvPr id="5" name="TextBox 4"/>
          <p:cNvSpPr txBox="1"/>
          <p:nvPr/>
        </p:nvSpPr>
        <p:spPr>
          <a:xfrm>
            <a:off x="428596" y="1357298"/>
            <a:ext cx="8001056" cy="1887696"/>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2"/>
              </a:buBlip>
            </a:pPr>
            <a:r>
              <a:rPr lang="zh-CN" altLang="zh-CN">
                <a:solidFill>
                  <a:srgbClr val="0000FF"/>
                </a:solidFill>
                <a:latin typeface="Consolas" pitchFamily="49" charset="0"/>
                <a:ea typeface="仿宋" pitchFamily="49" charset="-122"/>
              </a:rPr>
              <a:t>已经证明多机调度问题是一个</a:t>
            </a:r>
            <a:r>
              <a:rPr lang="en-US" altLang="zh-CN">
                <a:solidFill>
                  <a:srgbClr val="0000FF"/>
                </a:solidFill>
                <a:latin typeface="Consolas" pitchFamily="49" charset="0"/>
                <a:ea typeface="仿宋" pitchFamily="49" charset="-122"/>
              </a:rPr>
              <a:t>NP</a:t>
            </a:r>
            <a:r>
              <a:rPr lang="zh-CN" altLang="zh-CN">
                <a:solidFill>
                  <a:srgbClr val="0000FF"/>
                </a:solidFill>
                <a:latin typeface="Consolas" pitchFamily="49" charset="0"/>
                <a:ea typeface="仿宋" pitchFamily="49" charset="-122"/>
              </a:rPr>
              <a:t>完全问题，这里利用贪心近似方法求一个近似解</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2"/>
              </a:buBlip>
            </a:pPr>
            <a:r>
              <a:rPr lang="zh-CN" altLang="zh-CN">
                <a:solidFill>
                  <a:srgbClr val="FF0000"/>
                </a:solidFill>
                <a:latin typeface="楷体" pitchFamily="49" charset="-122"/>
                <a:ea typeface="楷体" pitchFamily="49" charset="-122"/>
              </a:rPr>
              <a:t>贪心策略</a:t>
            </a:r>
            <a:r>
              <a:rPr lang="zh-CN" altLang="en-US">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将作业优先分配给最先空闲的机器加工（加工总时间越小越先空闲），以获得尽可能短的工期。</a:t>
            </a: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42</a:t>
            </a:fld>
            <a:r>
              <a:rPr lang="en-US" altLang="zh-CN"/>
              <a:t>/75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500034" y="714356"/>
            <a:ext cx="8001056" cy="2169825"/>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000"/>
              </a:lnSpc>
              <a:spcBef>
                <a:spcPts val="1200"/>
              </a:spcBef>
              <a:buBlip>
                <a:blip r:embed="rId2"/>
              </a:buBlip>
            </a:pPr>
            <a:r>
              <a:rPr lang="zh-CN" altLang="zh-CN">
                <a:solidFill>
                  <a:srgbClr val="0000FF"/>
                </a:solidFill>
                <a:latin typeface="Consolas" pitchFamily="49" charset="0"/>
                <a:ea typeface="仿宋" pitchFamily="49" charset="-122"/>
              </a:rPr>
              <a:t>若</a:t>
            </a:r>
            <a:r>
              <a:rPr lang="en-US" altLang="zh-CN" i="1">
                <a:solidFill>
                  <a:srgbClr val="0000FF"/>
                </a:solidFill>
                <a:latin typeface="Consolas" pitchFamily="49" charset="0"/>
                <a:ea typeface="仿宋" pitchFamily="49" charset="-122"/>
              </a:rPr>
              <a:t>m</a:t>
            </a:r>
            <a:r>
              <a:rPr lang="zh-CN" altLang="zh-CN">
                <a:solidFill>
                  <a:srgbClr val="0000FF"/>
                </a:solidFill>
                <a:latin typeface="+mj-ea"/>
                <a:ea typeface="+mj-ea"/>
              </a:rPr>
              <a:t>≥</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时，直接由机器</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加工作业</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。对应的最短工期</a:t>
            </a:r>
            <a:r>
              <a:rPr lang="en-US" altLang="zh-CN">
                <a:solidFill>
                  <a:srgbClr val="0000FF"/>
                </a:solidFill>
                <a:latin typeface="Consolas" pitchFamily="49" charset="0"/>
                <a:ea typeface="仿宋" pitchFamily="49" charset="-122"/>
              </a:rPr>
              <a:t>ans=max</a:t>
            </a:r>
            <a:r>
              <a:rPr lang="en-US" altLang="zh-CN" baseline="-25000">
                <a:solidFill>
                  <a:srgbClr val="0000FF"/>
                </a:solidFill>
                <a:latin typeface="Consolas" pitchFamily="49" charset="0"/>
                <a:ea typeface="仿宋" pitchFamily="49" charset="-122"/>
              </a:rPr>
              <a:t>0</a:t>
            </a:r>
            <a:r>
              <a:rPr lang="zh-CN" altLang="zh-CN" baseline="-25000">
                <a:solidFill>
                  <a:srgbClr val="0000FF"/>
                </a:solidFill>
                <a:latin typeface="+mj-ea"/>
                <a:ea typeface="+mj-ea"/>
              </a:rPr>
              <a:t>≤</a:t>
            </a:r>
            <a:r>
              <a:rPr lang="en-US" altLang="zh-CN" i="1" baseline="-25000">
                <a:solidFill>
                  <a:srgbClr val="0000FF"/>
                </a:solidFill>
                <a:latin typeface="Consolas" pitchFamily="49" charset="0"/>
                <a:ea typeface="仿宋" pitchFamily="49" charset="-122"/>
              </a:rPr>
              <a:t>j</a:t>
            </a:r>
            <a:r>
              <a:rPr lang="en-US" altLang="zh-CN" baseline="-25000">
                <a:solidFill>
                  <a:srgbClr val="0000FF"/>
                </a:solidFill>
                <a:latin typeface="Consolas" pitchFamily="49" charset="0"/>
                <a:ea typeface="仿宋" pitchFamily="49" charset="-122"/>
              </a:rPr>
              <a:t>&lt;</a:t>
            </a:r>
            <a:r>
              <a:rPr lang="en-US" altLang="zh-CN" i="1" baseline="-25000">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t</a:t>
            </a:r>
            <a:r>
              <a:rPr lang="en-US" altLang="zh-CN" i="1" baseline="-25000">
                <a:solidFill>
                  <a:srgbClr val="0000FF"/>
                </a:solidFill>
                <a:latin typeface="Consolas" pitchFamily="49" charset="0"/>
                <a:ea typeface="仿宋" pitchFamily="49" charset="-122"/>
              </a:rPr>
              <a:t>j</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a:t>
            </a:r>
          </a:p>
          <a:p>
            <a:pPr marL="457200" indent="-457200" algn="l">
              <a:lnSpc>
                <a:spcPts val="3000"/>
              </a:lnSpc>
              <a:spcBef>
                <a:spcPts val="1200"/>
              </a:spcBef>
              <a:buBlip>
                <a:blip r:embed="rId2"/>
              </a:buBlip>
            </a:pPr>
            <a:r>
              <a:rPr lang="zh-CN" altLang="zh-CN">
                <a:solidFill>
                  <a:srgbClr val="0000FF"/>
                </a:solidFill>
                <a:latin typeface="Consolas" pitchFamily="49" charset="0"/>
                <a:ea typeface="仿宋" pitchFamily="49" charset="-122"/>
              </a:rPr>
              <a:t>当</a:t>
            </a:r>
            <a:r>
              <a:rPr lang="en-US" altLang="zh-CN" i="1">
                <a:solidFill>
                  <a:srgbClr val="0000FF"/>
                </a:solidFill>
                <a:latin typeface="Consolas" pitchFamily="49" charset="0"/>
                <a:ea typeface="仿宋" pitchFamily="49" charset="-122"/>
              </a:rPr>
              <a:t>m</a:t>
            </a:r>
            <a:r>
              <a:rPr lang="en-US" altLang="zh-CN">
                <a:solidFill>
                  <a:srgbClr val="0000FF"/>
                </a:solidFill>
                <a:latin typeface="Consolas" pitchFamily="49" charset="0"/>
                <a:ea typeface="仿宋" pitchFamily="49" charset="-122"/>
              </a:rPr>
              <a:t>&lt;</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时，依次将</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个作业分配给加工总时间最小的机器。分配完毕求出所有机器的加工总时间的最大值</a:t>
            </a:r>
            <a:r>
              <a:rPr lang="en-US" altLang="zh-CN">
                <a:solidFill>
                  <a:srgbClr val="0000FF"/>
                </a:solidFill>
                <a:latin typeface="Consolas" pitchFamily="49" charset="0"/>
                <a:ea typeface="仿宋" pitchFamily="49" charset="-122"/>
              </a:rPr>
              <a:t>ans</a:t>
            </a:r>
            <a:r>
              <a:rPr lang="zh-CN" altLang="zh-CN">
                <a:solidFill>
                  <a:srgbClr val="0000FF"/>
                </a:solidFill>
                <a:latin typeface="Consolas" pitchFamily="49" charset="0"/>
                <a:ea typeface="仿宋" pitchFamily="49" charset="-122"/>
              </a:rPr>
              <a:t>即为最短工期。</a:t>
            </a: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43</a:t>
            </a:fld>
            <a:r>
              <a:rPr lang="en-US" altLang="zh-CN"/>
              <a:t>/75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TextBox 4"/>
          <p:cNvSpPr txBox="1"/>
          <p:nvPr/>
        </p:nvSpPr>
        <p:spPr>
          <a:xfrm>
            <a:off x="714348" y="1285860"/>
            <a:ext cx="8001056" cy="830997"/>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有</a:t>
            </a:r>
            <a:r>
              <a:rPr lang="en-US" altLang="zh-CN">
                <a:solidFill>
                  <a:srgbClr val="0000FF"/>
                </a:solidFill>
                <a:latin typeface="Consolas" pitchFamily="49" charset="0"/>
                <a:ea typeface="仿宋" pitchFamily="49" charset="-122"/>
              </a:rPr>
              <a:t>7</a:t>
            </a:r>
            <a:r>
              <a:rPr lang="zh-CN" altLang="zh-CN">
                <a:solidFill>
                  <a:srgbClr val="0000FF"/>
                </a:solidFill>
                <a:latin typeface="Consolas" pitchFamily="49" charset="0"/>
                <a:ea typeface="仿宋" pitchFamily="49" charset="-122"/>
              </a:rPr>
              <a:t>个独立的作业，由</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台机器加工，各作业所需的加工时间如表所示</a:t>
            </a:r>
            <a:r>
              <a:rPr lang="zh-CN" altLang="en-US">
                <a:solidFill>
                  <a:srgbClr val="0000FF"/>
                </a:solidFill>
                <a:latin typeface="Consolas" pitchFamily="49" charset="0"/>
                <a:ea typeface="仿宋" pitchFamily="49" charset="-122"/>
              </a:rPr>
              <a:t>，</a:t>
            </a:r>
            <a:r>
              <a:rPr lang="zh-CN" altLang="zh-CN">
                <a:solidFill>
                  <a:srgbClr val="0000FF"/>
                </a:solidFill>
                <a:latin typeface="仿宋" pitchFamily="49" charset="-122"/>
                <a:ea typeface="仿宋" pitchFamily="49" charset="-122"/>
              </a:rPr>
              <a:t>求最短工期</a:t>
            </a:r>
            <a:r>
              <a:rPr lang="zh-CN" altLang="en-US">
                <a:solidFill>
                  <a:srgbClr val="0000FF"/>
                </a:solidFill>
                <a:latin typeface="仿宋" pitchFamily="49" charset="-122"/>
                <a:ea typeface="仿宋" pitchFamily="49" charset="-122"/>
              </a:rPr>
              <a:t>。</a:t>
            </a:r>
            <a:endParaRPr lang="zh-CN" altLang="zh-CN">
              <a:solidFill>
                <a:srgbClr val="0000FF"/>
              </a:solidFill>
              <a:latin typeface="仿宋" pitchFamily="49" charset="-122"/>
              <a:ea typeface="仿宋" pitchFamily="49" charset="-122"/>
            </a:endParaRPr>
          </a:p>
        </p:txBody>
      </p:sp>
      <p:graphicFrame>
        <p:nvGraphicFramePr>
          <p:cNvPr id="6" name="表格 5"/>
          <p:cNvGraphicFramePr>
            <a:graphicFrameLocks noGrp="1"/>
          </p:cNvGraphicFramePr>
          <p:nvPr/>
        </p:nvGraphicFramePr>
        <p:xfrm>
          <a:off x="1357290" y="2500306"/>
          <a:ext cx="6429418" cy="928694"/>
        </p:xfrm>
        <a:graphic>
          <a:graphicData uri="http://schemas.openxmlformats.org/drawingml/2006/table">
            <a:tbl>
              <a:tblPr>
                <a:tableStyleId>{35758FB7-9AC5-4552-8A53-C91805E547FA}</a:tableStyleId>
              </a:tblPr>
              <a:tblGrid>
                <a:gridCol w="2106683">
                  <a:extLst>
                    <a:ext uri="{9D8B030D-6E8A-4147-A177-3AD203B41FA5}">
                      <a16:colId xmlns:a16="http://schemas.microsoft.com/office/drawing/2014/main" val="20000"/>
                    </a:ext>
                  </a:extLst>
                </a:gridCol>
                <a:gridCol w="536523">
                  <a:extLst>
                    <a:ext uri="{9D8B030D-6E8A-4147-A177-3AD203B41FA5}">
                      <a16:colId xmlns:a16="http://schemas.microsoft.com/office/drawing/2014/main" val="20001"/>
                    </a:ext>
                  </a:extLst>
                </a:gridCol>
                <a:gridCol w="857256">
                  <a:extLst>
                    <a:ext uri="{9D8B030D-6E8A-4147-A177-3AD203B41FA5}">
                      <a16:colId xmlns:a16="http://schemas.microsoft.com/office/drawing/2014/main" val="20002"/>
                    </a:ext>
                  </a:extLst>
                </a:gridCol>
                <a:gridCol w="571504">
                  <a:extLst>
                    <a:ext uri="{9D8B030D-6E8A-4147-A177-3AD203B41FA5}">
                      <a16:colId xmlns:a16="http://schemas.microsoft.com/office/drawing/2014/main" val="20003"/>
                    </a:ext>
                  </a:extLst>
                </a:gridCol>
                <a:gridCol w="642942">
                  <a:extLst>
                    <a:ext uri="{9D8B030D-6E8A-4147-A177-3AD203B41FA5}">
                      <a16:colId xmlns:a16="http://schemas.microsoft.com/office/drawing/2014/main" val="20004"/>
                    </a:ext>
                  </a:extLst>
                </a:gridCol>
                <a:gridCol w="620806">
                  <a:extLst>
                    <a:ext uri="{9D8B030D-6E8A-4147-A177-3AD203B41FA5}">
                      <a16:colId xmlns:a16="http://schemas.microsoft.com/office/drawing/2014/main" val="20005"/>
                    </a:ext>
                  </a:extLst>
                </a:gridCol>
                <a:gridCol w="546852">
                  <a:extLst>
                    <a:ext uri="{9D8B030D-6E8A-4147-A177-3AD203B41FA5}">
                      <a16:colId xmlns:a16="http://schemas.microsoft.com/office/drawing/2014/main" val="20006"/>
                    </a:ext>
                  </a:extLst>
                </a:gridCol>
                <a:gridCol w="546852">
                  <a:extLst>
                    <a:ext uri="{9D8B030D-6E8A-4147-A177-3AD203B41FA5}">
                      <a16:colId xmlns:a16="http://schemas.microsoft.com/office/drawing/2014/main" val="20007"/>
                    </a:ext>
                  </a:extLst>
                </a:gridCol>
              </a:tblGrid>
              <a:tr h="464347">
                <a:tc>
                  <a:txBody>
                    <a:bodyPr/>
                    <a:lstStyle/>
                    <a:p>
                      <a:pPr indent="0" algn="ctr">
                        <a:lnSpc>
                          <a:spcPts val="3000"/>
                        </a:lnSpc>
                        <a:spcAft>
                          <a:spcPts val="0"/>
                        </a:spcAft>
                      </a:pPr>
                      <a:r>
                        <a:rPr lang="zh-CN" sz="2000" kern="100">
                          <a:solidFill>
                            <a:srgbClr val="0000FF"/>
                          </a:solidFill>
                          <a:latin typeface="Consolas" pitchFamily="49" charset="0"/>
                          <a:ea typeface="仿宋" pitchFamily="49" charset="-122"/>
                        </a:rPr>
                        <a:t>作业编号</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chemeClr val="tx1"/>
                          </a:solidFill>
                          <a:latin typeface="Consolas" pitchFamily="49" charset="0"/>
                          <a:ea typeface="仿宋" pitchFamily="49" charset="-122"/>
                        </a:rPr>
                        <a:t>0</a:t>
                      </a:r>
                      <a:endParaRPr lang="zh-CN" sz="2000" kern="100">
                        <a:solidFill>
                          <a:schemeClr val="tx1"/>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chemeClr val="tx1"/>
                          </a:solidFill>
                          <a:latin typeface="Consolas" pitchFamily="49" charset="0"/>
                          <a:ea typeface="仿宋" pitchFamily="49" charset="-122"/>
                        </a:rPr>
                        <a:t>1</a:t>
                      </a:r>
                      <a:endParaRPr lang="zh-CN" sz="2000" kern="100">
                        <a:solidFill>
                          <a:schemeClr val="tx1"/>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chemeClr val="tx1"/>
                          </a:solidFill>
                          <a:latin typeface="Consolas" pitchFamily="49" charset="0"/>
                          <a:ea typeface="仿宋" pitchFamily="49" charset="-122"/>
                        </a:rPr>
                        <a:t>2</a:t>
                      </a:r>
                      <a:endParaRPr lang="zh-CN" sz="2000" kern="100">
                        <a:solidFill>
                          <a:schemeClr val="tx1"/>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chemeClr val="tx1"/>
                          </a:solidFill>
                          <a:latin typeface="Consolas" pitchFamily="49" charset="0"/>
                          <a:ea typeface="仿宋" pitchFamily="49" charset="-122"/>
                        </a:rPr>
                        <a:t>3</a:t>
                      </a:r>
                      <a:endParaRPr lang="zh-CN" sz="2000" kern="100">
                        <a:solidFill>
                          <a:schemeClr val="tx1"/>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chemeClr val="tx1"/>
                          </a:solidFill>
                          <a:latin typeface="Consolas" pitchFamily="49" charset="0"/>
                          <a:ea typeface="仿宋" pitchFamily="49" charset="-122"/>
                        </a:rPr>
                        <a:t>4</a:t>
                      </a:r>
                      <a:endParaRPr lang="zh-CN" sz="2000" kern="100">
                        <a:solidFill>
                          <a:schemeClr val="tx1"/>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chemeClr val="tx1"/>
                          </a:solidFill>
                          <a:latin typeface="Consolas" pitchFamily="49" charset="0"/>
                          <a:ea typeface="仿宋" pitchFamily="49" charset="-122"/>
                        </a:rPr>
                        <a:t>5</a:t>
                      </a:r>
                      <a:endParaRPr lang="zh-CN" sz="2000" kern="100">
                        <a:solidFill>
                          <a:schemeClr val="tx1"/>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chemeClr val="tx1"/>
                          </a:solidFill>
                          <a:latin typeface="Consolas" pitchFamily="49" charset="0"/>
                          <a:ea typeface="仿宋" pitchFamily="49" charset="-122"/>
                        </a:rPr>
                        <a:t>6</a:t>
                      </a:r>
                      <a:endParaRPr lang="zh-CN" sz="2000" kern="100">
                        <a:solidFill>
                          <a:schemeClr val="tx1"/>
                        </a:solidFill>
                        <a:latin typeface="Consolas" pitchFamily="49" charset="0"/>
                        <a:ea typeface="仿宋" pitchFamily="49" charset="-122"/>
                        <a:cs typeface="Times New Roman"/>
                      </a:endParaRPr>
                    </a:p>
                  </a:txBody>
                  <a:tcPr marL="68580" marR="68580" marT="0" marB="0">
                    <a:solidFill>
                      <a:schemeClr val="bg1">
                        <a:lumMod val="95000"/>
                      </a:schemeClr>
                    </a:solidFill>
                  </a:tcPr>
                </a:tc>
                <a:extLst>
                  <a:ext uri="{0D108BD9-81ED-4DB2-BD59-A6C34878D82A}">
                    <a16:rowId xmlns:a16="http://schemas.microsoft.com/office/drawing/2014/main" val="10000"/>
                  </a:ext>
                </a:extLst>
              </a:tr>
              <a:tr h="464347">
                <a:tc>
                  <a:txBody>
                    <a:bodyPr/>
                    <a:lstStyle/>
                    <a:p>
                      <a:pPr indent="0" algn="ctr">
                        <a:lnSpc>
                          <a:spcPts val="3000"/>
                        </a:lnSpc>
                        <a:spcAft>
                          <a:spcPts val="0"/>
                        </a:spcAft>
                      </a:pPr>
                      <a:r>
                        <a:rPr lang="zh-CN" sz="2000" kern="100">
                          <a:solidFill>
                            <a:srgbClr val="0000FF"/>
                          </a:solidFill>
                          <a:latin typeface="Consolas" pitchFamily="49" charset="0"/>
                          <a:ea typeface="仿宋" pitchFamily="49" charset="-122"/>
                        </a:rPr>
                        <a:t>作业的处理时间</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rgbClr val="0000FF"/>
                          </a:solidFill>
                          <a:latin typeface="Consolas" pitchFamily="49" charset="0"/>
                          <a:ea typeface="仿宋" pitchFamily="49" charset="-122"/>
                        </a:rPr>
                        <a:t>8</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rgbClr val="0000FF"/>
                          </a:solidFill>
                          <a:latin typeface="Consolas" pitchFamily="49" charset="0"/>
                          <a:ea typeface="仿宋" pitchFamily="49" charset="-122"/>
                        </a:rPr>
                        <a:t>14</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rgbClr val="0000FF"/>
                          </a:solidFill>
                          <a:latin typeface="Consolas" pitchFamily="49" charset="0"/>
                          <a:ea typeface="仿宋" pitchFamily="49" charset="-122"/>
                        </a:rPr>
                        <a:t>12</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rgbClr val="0000FF"/>
                          </a:solidFill>
                          <a:latin typeface="Consolas" pitchFamily="49" charset="0"/>
                          <a:ea typeface="仿宋" pitchFamily="49" charset="-122"/>
                        </a:rPr>
                        <a:t>11</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rgbClr val="0000FF"/>
                          </a:solidFill>
                          <a:latin typeface="Consolas" pitchFamily="49" charset="0"/>
                          <a:ea typeface="仿宋" pitchFamily="49" charset="-122"/>
                        </a:rPr>
                        <a:t>10</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rgbClr val="0000FF"/>
                          </a:solidFill>
                          <a:latin typeface="Consolas" pitchFamily="49" charset="0"/>
                          <a:ea typeface="仿宋" pitchFamily="49" charset="-122"/>
                        </a:rPr>
                        <a:t>9</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rgbClr val="0000FF"/>
                          </a:solidFill>
                          <a:latin typeface="Consolas" pitchFamily="49" charset="0"/>
                          <a:ea typeface="仿宋" pitchFamily="49" charset="-122"/>
                        </a:rPr>
                        <a:t>16</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extLst>
                  <a:ext uri="{0D108BD9-81ED-4DB2-BD59-A6C34878D82A}">
                    <a16:rowId xmlns:a16="http://schemas.microsoft.com/office/drawing/2014/main" val="10001"/>
                  </a:ext>
                </a:extLst>
              </a:tr>
            </a:tbl>
          </a:graphicData>
        </a:graphic>
      </p:graphicFrame>
      <p:grpSp>
        <p:nvGrpSpPr>
          <p:cNvPr id="7" name="组合 6"/>
          <p:cNvGrpSpPr/>
          <p:nvPr/>
        </p:nvGrpSpPr>
        <p:grpSpPr>
          <a:xfrm>
            <a:off x="714348" y="357166"/>
            <a:ext cx="853211" cy="761171"/>
            <a:chOff x="6862060" y="4310903"/>
            <a:chExt cx="1128915" cy="1130667"/>
          </a:xfrm>
        </p:grpSpPr>
        <p:grpSp>
          <p:nvGrpSpPr>
            <p:cNvPr id="8" name="Group 103"/>
            <p:cNvGrpSpPr>
              <a:grpSpLocks/>
            </p:cNvGrpSpPr>
            <p:nvPr/>
          </p:nvGrpSpPr>
          <p:grpSpPr bwMode="auto">
            <a:xfrm>
              <a:off x="6862060" y="4310903"/>
              <a:ext cx="1128915" cy="1130667"/>
              <a:chOff x="2880" y="1515"/>
              <a:chExt cx="644" cy="645"/>
            </a:xfrm>
          </p:grpSpPr>
          <p:sp>
            <p:nvSpPr>
              <p:cNvPr id="10" name="Oval 104"/>
              <p:cNvSpPr>
                <a:spLocks noChangeArrowheads="1"/>
              </p:cNvSpPr>
              <p:nvPr/>
            </p:nvSpPr>
            <p:spPr bwMode="auto">
              <a:xfrm>
                <a:off x="2880" y="1516"/>
                <a:ext cx="644" cy="644"/>
              </a:xfrm>
              <a:prstGeom prst="ellipse">
                <a:avLst/>
              </a:prstGeom>
              <a:gradFill rotWithShape="1">
                <a:gsLst>
                  <a:gs pos="0">
                    <a:srgbClr val="10942F"/>
                  </a:gs>
                  <a:gs pos="100000">
                    <a:srgbClr val="16D83B"/>
                  </a:gs>
                </a:gsLst>
                <a:lin ang="5400000" scaled="1"/>
              </a:gradFill>
              <a:ln w="9525" algn="ctr">
                <a:noFill/>
                <a:round/>
                <a:headEnd/>
                <a:tailEnd/>
              </a:ln>
              <a:effectLst>
                <a:outerShdw blurRad="76200" dir="18900000" sy="23000" kx="-1200000" algn="bl" rotWithShape="0">
                  <a:prstClr val="black">
                    <a:alpha val="20000"/>
                  </a:prstClr>
                </a:outerShdw>
              </a:effectLst>
            </p:spPr>
            <p:txBody>
              <a:bodyPr wrap="none" anchor="ctr"/>
              <a:lstStyle/>
              <a:p>
                <a:endParaRPr lang="zh-CN" altLang="en-US"/>
              </a:p>
            </p:txBody>
          </p:sp>
          <p:sp>
            <p:nvSpPr>
              <p:cNvPr id="11" name="Freeform 105"/>
              <p:cNvSpPr>
                <a:spLocks/>
              </p:cNvSpPr>
              <p:nvPr/>
            </p:nvSpPr>
            <p:spPr bwMode="auto">
              <a:xfrm>
                <a:off x="2887" y="1515"/>
                <a:ext cx="630" cy="441"/>
              </a:xfrm>
              <a:custGeom>
                <a:avLst/>
                <a:gdLst/>
                <a:ahLst/>
                <a:cxnLst>
                  <a:cxn ang="0">
                    <a:pos x="1400" y="275"/>
                  </a:cxn>
                  <a:cxn ang="0">
                    <a:pos x="1596" y="795"/>
                  </a:cxn>
                  <a:cxn ang="0">
                    <a:pos x="0" y="795"/>
                  </a:cxn>
                  <a:cxn ang="0">
                    <a:pos x="217" y="252"/>
                  </a:cxn>
                  <a:cxn ang="0">
                    <a:pos x="796" y="0"/>
                  </a:cxn>
                  <a:cxn ang="0">
                    <a:pos x="1400" y="275"/>
                  </a:cxn>
                </a:cxnLst>
                <a:rect l="0" t="0" r="r" b="b"/>
                <a:pathLst>
                  <a:path w="1596" h="1118">
                    <a:moveTo>
                      <a:pt x="1400" y="275"/>
                    </a:moveTo>
                    <a:cubicBezTo>
                      <a:pt x="1522" y="417"/>
                      <a:pt x="1596" y="597"/>
                      <a:pt x="1596" y="795"/>
                    </a:cubicBezTo>
                    <a:cubicBezTo>
                      <a:pt x="1037" y="1118"/>
                      <a:pt x="668" y="611"/>
                      <a:pt x="0" y="795"/>
                    </a:cubicBezTo>
                    <a:cubicBezTo>
                      <a:pt x="0" y="585"/>
                      <a:pt x="83" y="392"/>
                      <a:pt x="217" y="252"/>
                    </a:cubicBezTo>
                    <a:cubicBezTo>
                      <a:pt x="364" y="95"/>
                      <a:pt x="570" y="0"/>
                      <a:pt x="796" y="0"/>
                    </a:cubicBezTo>
                    <a:cubicBezTo>
                      <a:pt x="1039" y="0"/>
                      <a:pt x="1253" y="108"/>
                      <a:pt x="1400" y="275"/>
                    </a:cubicBezTo>
                    <a:close/>
                  </a:path>
                </a:pathLst>
              </a:custGeom>
              <a:gradFill rotWithShape="1">
                <a:gsLst>
                  <a:gs pos="0">
                    <a:schemeClr val="bg1">
                      <a:alpha val="53000"/>
                    </a:schemeClr>
                  </a:gs>
                  <a:gs pos="100000">
                    <a:schemeClr val="bg1">
                      <a:gamma/>
                      <a:shade val="46275"/>
                      <a:invGamma/>
                      <a:alpha val="0"/>
                    </a:schemeClr>
                  </a:gs>
                </a:gsLst>
                <a:lin ang="5400000" scaled="1"/>
              </a:gradFill>
              <a:ln w="9525">
                <a:noFill/>
                <a:round/>
                <a:headEnd/>
                <a:tailEnd/>
              </a:ln>
            </p:spPr>
            <p:txBody>
              <a:bodyPr/>
              <a:lstStyle/>
              <a:p>
                <a:endParaRPr lang="zh-CN" altLang="en-US"/>
              </a:p>
            </p:txBody>
          </p:sp>
        </p:grpSp>
        <p:sp>
          <p:nvSpPr>
            <p:cNvPr id="9" name="Text Box 71"/>
            <p:cNvSpPr txBox="1">
              <a:spLocks noChangeArrowheads="1"/>
            </p:cNvSpPr>
            <p:nvPr/>
          </p:nvSpPr>
          <p:spPr bwMode="auto">
            <a:xfrm>
              <a:off x="6923115" y="4640482"/>
              <a:ext cx="1039812" cy="466324"/>
            </a:xfrm>
            <a:prstGeom prst="rect">
              <a:avLst/>
            </a:prstGeom>
            <a:noFill/>
            <a:ln w="9525">
              <a:noFill/>
              <a:miter lim="800000"/>
              <a:headEnd/>
              <a:tailEnd/>
            </a:ln>
            <a:effectLst/>
          </p:spPr>
          <p:txBody>
            <a:bodyPr anchor="ctr">
              <a:spAutoFit/>
            </a:bodyPr>
            <a:lstStyle/>
            <a:p>
              <a:pPr algn="ctr">
                <a:spcBef>
                  <a:spcPct val="50000"/>
                </a:spcBef>
              </a:pPr>
              <a:r>
                <a:rPr lang="zh-CN" altLang="en-US" sz="1800">
                  <a:solidFill>
                    <a:srgbClr val="FF0000"/>
                  </a:solidFill>
                  <a:latin typeface="微软雅黑" pitchFamily="34" charset="-122"/>
                  <a:ea typeface="微软雅黑" pitchFamily="34" charset="-122"/>
                </a:rPr>
                <a:t>示例</a:t>
              </a:r>
              <a:endParaRPr lang="en-GB" altLang="zh-CN" sz="1800">
                <a:solidFill>
                  <a:srgbClr val="FF0000"/>
                </a:solidFill>
                <a:latin typeface="微软雅黑" pitchFamily="34" charset="-122"/>
                <a:ea typeface="微软雅黑" pitchFamily="34" charset="-122"/>
              </a:endParaRPr>
            </a:p>
          </p:txBody>
        </p:sp>
      </p:grpSp>
      <p:sp>
        <p:nvSpPr>
          <p:cNvPr id="12" name="灯片编号占位符 11"/>
          <p:cNvSpPr>
            <a:spLocks noGrp="1"/>
          </p:cNvSpPr>
          <p:nvPr>
            <p:ph type="sldNum" sz="quarter" idx="12"/>
          </p:nvPr>
        </p:nvSpPr>
        <p:spPr/>
        <p:txBody>
          <a:bodyPr/>
          <a:lstStyle/>
          <a:p>
            <a:fld id="{7AF016A1-9F15-429F-9EFD-84004B73C732}" type="slidenum">
              <a:rPr lang="en-US" altLang="zh-CN" smtClean="0"/>
              <a:pPr/>
              <a:t>44</a:t>
            </a:fld>
            <a:r>
              <a:rPr lang="en-US" altLang="zh-CN"/>
              <a:t>/75</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428596" y="1467137"/>
            <a:ext cx="4572032"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仿宋" pitchFamily="49" charset="-122"/>
                <a:ea typeface="仿宋" pitchFamily="49" charset="-122"/>
              </a:rPr>
              <a:t>采用贪心法求解的过程如下</a:t>
            </a:r>
            <a:endParaRPr lang="zh-CN" altLang="en-US">
              <a:solidFill>
                <a:srgbClr val="0000FF"/>
              </a:solidFill>
              <a:latin typeface="仿宋" pitchFamily="49" charset="-122"/>
              <a:ea typeface="仿宋" pitchFamily="49" charset="-122"/>
              <a:cs typeface="Consolas" pitchFamily="49" charset="0"/>
            </a:endParaRPr>
          </a:p>
        </p:txBody>
      </p:sp>
      <p:graphicFrame>
        <p:nvGraphicFramePr>
          <p:cNvPr id="5" name="表格 4"/>
          <p:cNvGraphicFramePr>
            <a:graphicFrameLocks noGrp="1"/>
          </p:cNvGraphicFramePr>
          <p:nvPr/>
        </p:nvGraphicFramePr>
        <p:xfrm>
          <a:off x="1000100" y="285728"/>
          <a:ext cx="6429418" cy="928694"/>
        </p:xfrm>
        <a:graphic>
          <a:graphicData uri="http://schemas.openxmlformats.org/drawingml/2006/table">
            <a:tbl>
              <a:tblPr>
                <a:tableStyleId>{35758FB7-9AC5-4552-8A53-C91805E547FA}</a:tableStyleId>
              </a:tblPr>
              <a:tblGrid>
                <a:gridCol w="2106683">
                  <a:extLst>
                    <a:ext uri="{9D8B030D-6E8A-4147-A177-3AD203B41FA5}">
                      <a16:colId xmlns:a16="http://schemas.microsoft.com/office/drawing/2014/main" val="20000"/>
                    </a:ext>
                  </a:extLst>
                </a:gridCol>
                <a:gridCol w="536523">
                  <a:extLst>
                    <a:ext uri="{9D8B030D-6E8A-4147-A177-3AD203B41FA5}">
                      <a16:colId xmlns:a16="http://schemas.microsoft.com/office/drawing/2014/main" val="20001"/>
                    </a:ext>
                  </a:extLst>
                </a:gridCol>
                <a:gridCol w="857256">
                  <a:extLst>
                    <a:ext uri="{9D8B030D-6E8A-4147-A177-3AD203B41FA5}">
                      <a16:colId xmlns:a16="http://schemas.microsoft.com/office/drawing/2014/main" val="20002"/>
                    </a:ext>
                  </a:extLst>
                </a:gridCol>
                <a:gridCol w="571504">
                  <a:extLst>
                    <a:ext uri="{9D8B030D-6E8A-4147-A177-3AD203B41FA5}">
                      <a16:colId xmlns:a16="http://schemas.microsoft.com/office/drawing/2014/main" val="20003"/>
                    </a:ext>
                  </a:extLst>
                </a:gridCol>
                <a:gridCol w="642942">
                  <a:extLst>
                    <a:ext uri="{9D8B030D-6E8A-4147-A177-3AD203B41FA5}">
                      <a16:colId xmlns:a16="http://schemas.microsoft.com/office/drawing/2014/main" val="20004"/>
                    </a:ext>
                  </a:extLst>
                </a:gridCol>
                <a:gridCol w="620806">
                  <a:extLst>
                    <a:ext uri="{9D8B030D-6E8A-4147-A177-3AD203B41FA5}">
                      <a16:colId xmlns:a16="http://schemas.microsoft.com/office/drawing/2014/main" val="20005"/>
                    </a:ext>
                  </a:extLst>
                </a:gridCol>
                <a:gridCol w="546852">
                  <a:extLst>
                    <a:ext uri="{9D8B030D-6E8A-4147-A177-3AD203B41FA5}">
                      <a16:colId xmlns:a16="http://schemas.microsoft.com/office/drawing/2014/main" val="20006"/>
                    </a:ext>
                  </a:extLst>
                </a:gridCol>
                <a:gridCol w="546852">
                  <a:extLst>
                    <a:ext uri="{9D8B030D-6E8A-4147-A177-3AD203B41FA5}">
                      <a16:colId xmlns:a16="http://schemas.microsoft.com/office/drawing/2014/main" val="20007"/>
                    </a:ext>
                  </a:extLst>
                </a:gridCol>
              </a:tblGrid>
              <a:tr h="464347">
                <a:tc>
                  <a:txBody>
                    <a:bodyPr/>
                    <a:lstStyle/>
                    <a:p>
                      <a:pPr indent="0" algn="ctr">
                        <a:lnSpc>
                          <a:spcPts val="3000"/>
                        </a:lnSpc>
                        <a:spcAft>
                          <a:spcPts val="0"/>
                        </a:spcAft>
                      </a:pPr>
                      <a:r>
                        <a:rPr lang="zh-CN" sz="2000" kern="100">
                          <a:solidFill>
                            <a:srgbClr val="0000FF"/>
                          </a:solidFill>
                          <a:latin typeface="Consolas" pitchFamily="49" charset="0"/>
                          <a:ea typeface="仿宋" pitchFamily="49" charset="-122"/>
                        </a:rPr>
                        <a:t>作业编号</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chemeClr val="tx1"/>
                          </a:solidFill>
                          <a:latin typeface="Consolas" pitchFamily="49" charset="0"/>
                          <a:ea typeface="仿宋" pitchFamily="49" charset="-122"/>
                        </a:rPr>
                        <a:t>0</a:t>
                      </a:r>
                      <a:endParaRPr lang="zh-CN" sz="2000" kern="100">
                        <a:solidFill>
                          <a:schemeClr val="tx1"/>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chemeClr val="tx1"/>
                          </a:solidFill>
                          <a:latin typeface="Consolas" pitchFamily="49" charset="0"/>
                          <a:ea typeface="仿宋" pitchFamily="49" charset="-122"/>
                        </a:rPr>
                        <a:t>1</a:t>
                      </a:r>
                      <a:endParaRPr lang="zh-CN" sz="2000" kern="100">
                        <a:solidFill>
                          <a:schemeClr val="tx1"/>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chemeClr val="tx1"/>
                          </a:solidFill>
                          <a:latin typeface="Consolas" pitchFamily="49" charset="0"/>
                          <a:ea typeface="仿宋" pitchFamily="49" charset="-122"/>
                        </a:rPr>
                        <a:t>2</a:t>
                      </a:r>
                      <a:endParaRPr lang="zh-CN" sz="2000" kern="100">
                        <a:solidFill>
                          <a:schemeClr val="tx1"/>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chemeClr val="tx1"/>
                          </a:solidFill>
                          <a:latin typeface="Consolas" pitchFamily="49" charset="0"/>
                          <a:ea typeface="仿宋" pitchFamily="49" charset="-122"/>
                        </a:rPr>
                        <a:t>3</a:t>
                      </a:r>
                      <a:endParaRPr lang="zh-CN" sz="2000" kern="100">
                        <a:solidFill>
                          <a:schemeClr val="tx1"/>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chemeClr val="tx1"/>
                          </a:solidFill>
                          <a:latin typeface="Consolas" pitchFamily="49" charset="0"/>
                          <a:ea typeface="仿宋" pitchFamily="49" charset="-122"/>
                        </a:rPr>
                        <a:t>4</a:t>
                      </a:r>
                      <a:endParaRPr lang="zh-CN" sz="2000" kern="100">
                        <a:solidFill>
                          <a:schemeClr val="tx1"/>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chemeClr val="tx1"/>
                          </a:solidFill>
                          <a:latin typeface="Consolas" pitchFamily="49" charset="0"/>
                          <a:ea typeface="仿宋" pitchFamily="49" charset="-122"/>
                        </a:rPr>
                        <a:t>5</a:t>
                      </a:r>
                      <a:endParaRPr lang="zh-CN" sz="2000" kern="100">
                        <a:solidFill>
                          <a:schemeClr val="tx1"/>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chemeClr val="tx1"/>
                          </a:solidFill>
                          <a:latin typeface="Consolas" pitchFamily="49" charset="0"/>
                          <a:ea typeface="仿宋" pitchFamily="49" charset="-122"/>
                        </a:rPr>
                        <a:t>6</a:t>
                      </a:r>
                      <a:endParaRPr lang="zh-CN" sz="2000" kern="100">
                        <a:solidFill>
                          <a:schemeClr val="tx1"/>
                        </a:solidFill>
                        <a:latin typeface="Consolas" pitchFamily="49" charset="0"/>
                        <a:ea typeface="仿宋" pitchFamily="49" charset="-122"/>
                        <a:cs typeface="Times New Roman"/>
                      </a:endParaRPr>
                    </a:p>
                  </a:txBody>
                  <a:tcPr marL="68580" marR="68580" marT="0" marB="0">
                    <a:solidFill>
                      <a:schemeClr val="bg1">
                        <a:lumMod val="95000"/>
                      </a:schemeClr>
                    </a:solidFill>
                  </a:tcPr>
                </a:tc>
                <a:extLst>
                  <a:ext uri="{0D108BD9-81ED-4DB2-BD59-A6C34878D82A}">
                    <a16:rowId xmlns:a16="http://schemas.microsoft.com/office/drawing/2014/main" val="10000"/>
                  </a:ext>
                </a:extLst>
              </a:tr>
              <a:tr h="464347">
                <a:tc>
                  <a:txBody>
                    <a:bodyPr/>
                    <a:lstStyle/>
                    <a:p>
                      <a:pPr indent="0" algn="ctr">
                        <a:lnSpc>
                          <a:spcPts val="3000"/>
                        </a:lnSpc>
                        <a:spcAft>
                          <a:spcPts val="0"/>
                        </a:spcAft>
                      </a:pPr>
                      <a:r>
                        <a:rPr lang="zh-CN" sz="2000" kern="100">
                          <a:solidFill>
                            <a:srgbClr val="0000FF"/>
                          </a:solidFill>
                          <a:latin typeface="Consolas" pitchFamily="49" charset="0"/>
                          <a:ea typeface="仿宋" pitchFamily="49" charset="-122"/>
                        </a:rPr>
                        <a:t>作业的处理时间</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rgbClr val="0000FF"/>
                          </a:solidFill>
                          <a:latin typeface="Consolas" pitchFamily="49" charset="0"/>
                          <a:ea typeface="仿宋" pitchFamily="49" charset="-122"/>
                        </a:rPr>
                        <a:t>8</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rgbClr val="0000FF"/>
                          </a:solidFill>
                          <a:latin typeface="Consolas" pitchFamily="49" charset="0"/>
                          <a:ea typeface="仿宋" pitchFamily="49" charset="-122"/>
                        </a:rPr>
                        <a:t>14</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rgbClr val="0000FF"/>
                          </a:solidFill>
                          <a:latin typeface="Consolas" pitchFamily="49" charset="0"/>
                          <a:ea typeface="仿宋" pitchFamily="49" charset="-122"/>
                        </a:rPr>
                        <a:t>12</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rgbClr val="0000FF"/>
                          </a:solidFill>
                          <a:latin typeface="Consolas" pitchFamily="49" charset="0"/>
                          <a:ea typeface="仿宋" pitchFamily="49" charset="-122"/>
                        </a:rPr>
                        <a:t>11</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rgbClr val="0000FF"/>
                          </a:solidFill>
                          <a:latin typeface="Consolas" pitchFamily="49" charset="0"/>
                          <a:ea typeface="仿宋" pitchFamily="49" charset="-122"/>
                        </a:rPr>
                        <a:t>10</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rgbClr val="0000FF"/>
                          </a:solidFill>
                          <a:latin typeface="Consolas" pitchFamily="49" charset="0"/>
                          <a:ea typeface="仿宋" pitchFamily="49" charset="-122"/>
                        </a:rPr>
                        <a:t>9</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rgbClr val="0000FF"/>
                          </a:solidFill>
                          <a:latin typeface="Consolas" pitchFamily="49" charset="0"/>
                          <a:ea typeface="仿宋" pitchFamily="49" charset="-122"/>
                        </a:rPr>
                        <a:t>16</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extLst>
                  <a:ext uri="{0D108BD9-81ED-4DB2-BD59-A6C34878D82A}">
                    <a16:rowId xmlns:a16="http://schemas.microsoft.com/office/drawing/2014/main" val="10001"/>
                  </a:ext>
                </a:extLst>
              </a:tr>
            </a:tbl>
          </a:graphicData>
        </a:graphic>
      </p:graphicFrame>
      <p:sp>
        <p:nvSpPr>
          <p:cNvPr id="6" name="TextBox 5"/>
          <p:cNvSpPr txBox="1"/>
          <p:nvPr/>
        </p:nvSpPr>
        <p:spPr>
          <a:xfrm>
            <a:off x="500034" y="2143116"/>
            <a:ext cx="8286808" cy="3708708"/>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000"/>
              </a:lnSpc>
              <a:spcBef>
                <a:spcPts val="600"/>
              </a:spcBef>
            </a:pP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a:t>
            </a:r>
            <a:r>
              <a:rPr lang="zh-CN" altLang="zh-CN" sz="2200">
                <a:solidFill>
                  <a:srgbClr val="FF0000"/>
                </a:solidFill>
                <a:latin typeface="Consolas" pitchFamily="49" charset="0"/>
                <a:ea typeface="仿宋" pitchFamily="49" charset="-122"/>
              </a:rPr>
              <a:t>分配作业</a:t>
            </a:r>
            <a:r>
              <a:rPr lang="en-US" altLang="zh-CN" sz="2200">
                <a:solidFill>
                  <a:srgbClr val="FF0000"/>
                </a:solidFill>
                <a:latin typeface="Consolas" pitchFamily="49" charset="0"/>
                <a:ea typeface="仿宋" pitchFamily="49" charset="-122"/>
              </a:rPr>
              <a:t>0</a:t>
            </a:r>
            <a:r>
              <a:rPr lang="zh-CN" altLang="zh-CN" sz="2200">
                <a:solidFill>
                  <a:srgbClr val="0000FF"/>
                </a:solidFill>
                <a:latin typeface="Consolas" pitchFamily="49" charset="0"/>
                <a:ea typeface="仿宋" pitchFamily="49" charset="-122"/>
              </a:rPr>
              <a:t>：机器</a:t>
            </a:r>
            <a:r>
              <a:rPr lang="en-US" altLang="zh-CN" sz="2200">
                <a:solidFill>
                  <a:srgbClr val="0000FF"/>
                </a:solidFill>
                <a:latin typeface="Consolas" pitchFamily="49" charset="0"/>
                <a:ea typeface="仿宋" pitchFamily="49" charset="-122"/>
              </a:rPr>
              <a:t>0</a:t>
            </a:r>
            <a:r>
              <a:rPr lang="zh-CN" altLang="zh-CN" sz="2200">
                <a:solidFill>
                  <a:srgbClr val="0000FF"/>
                </a:solidFill>
                <a:latin typeface="Consolas" pitchFamily="49" charset="0"/>
                <a:ea typeface="仿宋" pitchFamily="49" charset="-122"/>
              </a:rPr>
              <a:t>中加工总时间为</a:t>
            </a:r>
            <a:r>
              <a:rPr lang="en-US" altLang="zh-CN" sz="2200">
                <a:solidFill>
                  <a:srgbClr val="0000FF"/>
                </a:solidFill>
                <a:latin typeface="Consolas" pitchFamily="49" charset="0"/>
                <a:ea typeface="仿宋" pitchFamily="49" charset="-122"/>
              </a:rPr>
              <a:t>0</a:t>
            </a:r>
            <a:r>
              <a:rPr lang="zh-CN" altLang="zh-CN" sz="2200">
                <a:solidFill>
                  <a:srgbClr val="0000FF"/>
                </a:solidFill>
                <a:latin typeface="Consolas" pitchFamily="49" charset="0"/>
                <a:ea typeface="仿宋" pitchFamily="49" charset="-122"/>
              </a:rPr>
              <a:t>，将作业</a:t>
            </a:r>
            <a:r>
              <a:rPr lang="en-US" altLang="zh-CN" sz="2200">
                <a:solidFill>
                  <a:srgbClr val="0000FF"/>
                </a:solidFill>
                <a:latin typeface="Consolas" pitchFamily="49" charset="0"/>
                <a:ea typeface="仿宋" pitchFamily="49" charset="-122"/>
              </a:rPr>
              <a:t>0</a:t>
            </a:r>
            <a:r>
              <a:rPr lang="zh-CN" altLang="zh-CN" sz="2200">
                <a:solidFill>
                  <a:srgbClr val="0000FF"/>
                </a:solidFill>
                <a:latin typeface="Consolas" pitchFamily="49" charset="0"/>
                <a:ea typeface="仿宋" pitchFamily="49" charset="-122"/>
              </a:rPr>
              <a:t>分配给它，此时</a:t>
            </a:r>
            <a:r>
              <a:rPr lang="en-US" altLang="zh-CN" sz="2200">
                <a:solidFill>
                  <a:srgbClr val="0000FF"/>
                </a:solidFill>
                <a:latin typeface="Consolas" pitchFamily="49" charset="0"/>
                <a:ea typeface="仿宋" pitchFamily="49" charset="-122"/>
              </a:rPr>
              <a:t>3</a:t>
            </a:r>
            <a:r>
              <a:rPr lang="zh-CN" altLang="zh-CN" sz="2200">
                <a:solidFill>
                  <a:srgbClr val="0000FF"/>
                </a:solidFill>
                <a:latin typeface="Consolas" pitchFamily="49" charset="0"/>
                <a:ea typeface="仿宋" pitchFamily="49" charset="-122"/>
              </a:rPr>
              <a:t>台机器的分配情况为（</a:t>
            </a:r>
            <a:r>
              <a:rPr lang="en-US" altLang="zh-CN" sz="2200">
                <a:solidFill>
                  <a:srgbClr val="0000FF"/>
                </a:solidFill>
                <a:latin typeface="Consolas" pitchFamily="49" charset="0"/>
                <a:ea typeface="仿宋" pitchFamily="49" charset="-122"/>
              </a:rPr>
              <a:t>{0}</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），对应的加工总时间为（</a:t>
            </a:r>
            <a:r>
              <a:rPr lang="en-US" altLang="zh-CN" sz="2200">
                <a:solidFill>
                  <a:srgbClr val="0000FF"/>
                </a:solidFill>
                <a:latin typeface="Consolas" pitchFamily="49" charset="0"/>
                <a:ea typeface="仿宋" pitchFamily="49" charset="-122"/>
              </a:rPr>
              <a:t>8</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0</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0</a:t>
            </a:r>
            <a:r>
              <a:rPr lang="zh-CN" altLang="zh-CN" sz="2200">
                <a:solidFill>
                  <a:srgbClr val="0000FF"/>
                </a:solidFill>
                <a:latin typeface="Consolas" pitchFamily="49" charset="0"/>
                <a:ea typeface="仿宋" pitchFamily="49" charset="-122"/>
              </a:rPr>
              <a:t>）。</a:t>
            </a:r>
          </a:p>
          <a:p>
            <a:pPr algn="l">
              <a:lnSpc>
                <a:spcPts val="3000"/>
              </a:lnSpc>
              <a:spcBef>
                <a:spcPts val="600"/>
              </a:spcBef>
            </a:pP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2</a:t>
            </a:r>
            <a:r>
              <a:rPr lang="zh-CN" altLang="zh-CN" sz="2200">
                <a:solidFill>
                  <a:srgbClr val="0000FF"/>
                </a:solidFill>
                <a:latin typeface="Consolas" pitchFamily="49" charset="0"/>
                <a:ea typeface="仿宋" pitchFamily="49" charset="-122"/>
              </a:rPr>
              <a:t>）</a:t>
            </a:r>
            <a:r>
              <a:rPr lang="zh-CN" altLang="zh-CN" sz="2200">
                <a:solidFill>
                  <a:srgbClr val="FF0000"/>
                </a:solidFill>
                <a:latin typeface="Consolas" pitchFamily="49" charset="0"/>
                <a:ea typeface="仿宋" pitchFamily="49" charset="-122"/>
              </a:rPr>
              <a:t>分配作业</a:t>
            </a:r>
            <a:r>
              <a:rPr lang="en-US" altLang="zh-CN" sz="2200">
                <a:solidFill>
                  <a:srgbClr val="FF0000"/>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：机器</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中加工总时间为</a:t>
            </a:r>
            <a:r>
              <a:rPr lang="en-US" altLang="zh-CN" sz="2200">
                <a:solidFill>
                  <a:srgbClr val="0000FF"/>
                </a:solidFill>
                <a:latin typeface="Consolas" pitchFamily="49" charset="0"/>
                <a:ea typeface="仿宋" pitchFamily="49" charset="-122"/>
              </a:rPr>
              <a:t>0</a:t>
            </a:r>
            <a:r>
              <a:rPr lang="zh-CN" altLang="zh-CN" sz="2200">
                <a:solidFill>
                  <a:srgbClr val="0000FF"/>
                </a:solidFill>
                <a:latin typeface="Consolas" pitchFamily="49" charset="0"/>
                <a:ea typeface="仿宋" pitchFamily="49" charset="-122"/>
              </a:rPr>
              <a:t>，将作业</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分配给它，此时</a:t>
            </a:r>
            <a:r>
              <a:rPr lang="en-US" altLang="zh-CN" sz="2200">
                <a:solidFill>
                  <a:srgbClr val="0000FF"/>
                </a:solidFill>
                <a:latin typeface="Consolas" pitchFamily="49" charset="0"/>
                <a:ea typeface="仿宋" pitchFamily="49" charset="-122"/>
              </a:rPr>
              <a:t>3</a:t>
            </a:r>
            <a:r>
              <a:rPr lang="zh-CN" altLang="zh-CN" sz="2200">
                <a:solidFill>
                  <a:srgbClr val="0000FF"/>
                </a:solidFill>
                <a:latin typeface="Consolas" pitchFamily="49" charset="0"/>
                <a:ea typeface="仿宋" pitchFamily="49" charset="-122"/>
              </a:rPr>
              <a:t>台机器的分配情况为（</a:t>
            </a:r>
            <a:r>
              <a:rPr lang="en-US" altLang="zh-CN" sz="2200">
                <a:solidFill>
                  <a:srgbClr val="0000FF"/>
                </a:solidFill>
                <a:latin typeface="Consolas" pitchFamily="49" charset="0"/>
                <a:ea typeface="仿宋" pitchFamily="49" charset="-122"/>
              </a:rPr>
              <a:t>{0}</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），对应的加工总时间为（</a:t>
            </a:r>
            <a:r>
              <a:rPr lang="en-US" altLang="zh-CN" sz="2200">
                <a:solidFill>
                  <a:srgbClr val="0000FF"/>
                </a:solidFill>
                <a:latin typeface="Consolas" pitchFamily="49" charset="0"/>
                <a:ea typeface="仿宋" pitchFamily="49" charset="-122"/>
              </a:rPr>
              <a:t>8</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14</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0</a:t>
            </a:r>
            <a:r>
              <a:rPr lang="zh-CN" altLang="zh-CN" sz="2200">
                <a:solidFill>
                  <a:srgbClr val="0000FF"/>
                </a:solidFill>
                <a:latin typeface="Consolas" pitchFamily="49" charset="0"/>
                <a:ea typeface="仿宋" pitchFamily="49" charset="-122"/>
              </a:rPr>
              <a:t>）。</a:t>
            </a:r>
          </a:p>
          <a:p>
            <a:pPr algn="l">
              <a:lnSpc>
                <a:spcPts val="3000"/>
              </a:lnSpc>
              <a:spcBef>
                <a:spcPts val="600"/>
              </a:spcBef>
            </a:pP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3</a:t>
            </a:r>
            <a:r>
              <a:rPr lang="zh-CN" altLang="zh-CN" sz="2200">
                <a:solidFill>
                  <a:srgbClr val="0000FF"/>
                </a:solidFill>
                <a:latin typeface="Consolas" pitchFamily="49" charset="0"/>
                <a:ea typeface="仿宋" pitchFamily="49" charset="-122"/>
              </a:rPr>
              <a:t>）</a:t>
            </a:r>
            <a:r>
              <a:rPr lang="zh-CN" altLang="zh-CN" sz="2200">
                <a:solidFill>
                  <a:srgbClr val="FF0000"/>
                </a:solidFill>
                <a:latin typeface="Consolas" pitchFamily="49" charset="0"/>
                <a:ea typeface="仿宋" pitchFamily="49" charset="-122"/>
              </a:rPr>
              <a:t>分配作业</a:t>
            </a:r>
            <a:r>
              <a:rPr lang="en-US" altLang="zh-CN" sz="2200">
                <a:solidFill>
                  <a:srgbClr val="FF0000"/>
                </a:solidFill>
                <a:latin typeface="Consolas" pitchFamily="49" charset="0"/>
                <a:ea typeface="仿宋" pitchFamily="49" charset="-122"/>
              </a:rPr>
              <a:t>2</a:t>
            </a:r>
            <a:r>
              <a:rPr lang="zh-CN" altLang="zh-CN" sz="2200">
                <a:solidFill>
                  <a:srgbClr val="0000FF"/>
                </a:solidFill>
                <a:latin typeface="Consolas" pitchFamily="49" charset="0"/>
                <a:ea typeface="仿宋" pitchFamily="49" charset="-122"/>
              </a:rPr>
              <a:t>：机器</a:t>
            </a:r>
            <a:r>
              <a:rPr lang="en-US" altLang="zh-CN" sz="2200">
                <a:solidFill>
                  <a:srgbClr val="0000FF"/>
                </a:solidFill>
                <a:latin typeface="Consolas" pitchFamily="49" charset="0"/>
                <a:ea typeface="仿宋" pitchFamily="49" charset="-122"/>
              </a:rPr>
              <a:t>2</a:t>
            </a:r>
            <a:r>
              <a:rPr lang="zh-CN" altLang="zh-CN" sz="2200">
                <a:solidFill>
                  <a:srgbClr val="0000FF"/>
                </a:solidFill>
                <a:latin typeface="Consolas" pitchFamily="49" charset="0"/>
                <a:ea typeface="仿宋" pitchFamily="49" charset="-122"/>
              </a:rPr>
              <a:t>中加工总时间为</a:t>
            </a:r>
            <a:r>
              <a:rPr lang="en-US" altLang="zh-CN" sz="2200">
                <a:solidFill>
                  <a:srgbClr val="0000FF"/>
                </a:solidFill>
                <a:latin typeface="Consolas" pitchFamily="49" charset="0"/>
                <a:ea typeface="仿宋" pitchFamily="49" charset="-122"/>
              </a:rPr>
              <a:t>0</a:t>
            </a:r>
            <a:r>
              <a:rPr lang="zh-CN" altLang="zh-CN" sz="2200">
                <a:solidFill>
                  <a:srgbClr val="0000FF"/>
                </a:solidFill>
                <a:latin typeface="Consolas" pitchFamily="49" charset="0"/>
                <a:ea typeface="仿宋" pitchFamily="49" charset="-122"/>
              </a:rPr>
              <a:t>，将作业</a:t>
            </a:r>
            <a:r>
              <a:rPr lang="en-US" altLang="zh-CN" sz="2200">
                <a:solidFill>
                  <a:srgbClr val="0000FF"/>
                </a:solidFill>
                <a:latin typeface="Consolas" pitchFamily="49" charset="0"/>
                <a:ea typeface="仿宋" pitchFamily="49" charset="-122"/>
              </a:rPr>
              <a:t>2</a:t>
            </a:r>
            <a:r>
              <a:rPr lang="zh-CN" altLang="zh-CN" sz="2200">
                <a:solidFill>
                  <a:srgbClr val="0000FF"/>
                </a:solidFill>
                <a:latin typeface="Consolas" pitchFamily="49" charset="0"/>
                <a:ea typeface="仿宋" pitchFamily="49" charset="-122"/>
              </a:rPr>
              <a:t>分配给它，此时</a:t>
            </a:r>
            <a:r>
              <a:rPr lang="en-US" altLang="zh-CN" sz="2200">
                <a:solidFill>
                  <a:srgbClr val="0000FF"/>
                </a:solidFill>
                <a:latin typeface="Consolas" pitchFamily="49" charset="0"/>
                <a:ea typeface="仿宋" pitchFamily="49" charset="-122"/>
              </a:rPr>
              <a:t>3</a:t>
            </a:r>
            <a:r>
              <a:rPr lang="zh-CN" altLang="zh-CN" sz="2200">
                <a:solidFill>
                  <a:srgbClr val="0000FF"/>
                </a:solidFill>
                <a:latin typeface="Consolas" pitchFamily="49" charset="0"/>
                <a:ea typeface="仿宋" pitchFamily="49" charset="-122"/>
              </a:rPr>
              <a:t>台机器的分配情况为（</a:t>
            </a:r>
            <a:r>
              <a:rPr lang="en-US" altLang="zh-CN" sz="2200">
                <a:solidFill>
                  <a:srgbClr val="0000FF"/>
                </a:solidFill>
                <a:latin typeface="Consolas" pitchFamily="49" charset="0"/>
                <a:ea typeface="仿宋" pitchFamily="49" charset="-122"/>
              </a:rPr>
              <a:t>{0}</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{2}</a:t>
            </a:r>
            <a:r>
              <a:rPr lang="zh-CN" altLang="zh-CN" sz="2200">
                <a:solidFill>
                  <a:srgbClr val="0000FF"/>
                </a:solidFill>
                <a:latin typeface="Consolas" pitchFamily="49" charset="0"/>
                <a:ea typeface="仿宋" pitchFamily="49" charset="-122"/>
              </a:rPr>
              <a:t>），对应的加工总时间为（</a:t>
            </a:r>
            <a:r>
              <a:rPr lang="en-US" altLang="zh-CN" sz="2200">
                <a:solidFill>
                  <a:srgbClr val="0000FF"/>
                </a:solidFill>
                <a:latin typeface="Consolas" pitchFamily="49" charset="0"/>
                <a:ea typeface="仿宋" pitchFamily="49" charset="-122"/>
              </a:rPr>
              <a:t>8</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14</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12</a:t>
            </a:r>
            <a:r>
              <a:rPr lang="zh-CN" altLang="zh-CN" sz="2200">
                <a:solidFill>
                  <a:srgbClr val="0000FF"/>
                </a:solidFill>
                <a:latin typeface="Consolas" pitchFamily="49" charset="0"/>
                <a:ea typeface="仿宋" pitchFamily="49" charset="-122"/>
              </a:rPr>
              <a:t>）。</a:t>
            </a: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45</a:t>
            </a:fld>
            <a:r>
              <a:rPr lang="en-US" altLang="zh-CN"/>
              <a:t>/75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357158" y="1428736"/>
            <a:ext cx="8429684" cy="4911216"/>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000"/>
              </a:lnSpc>
              <a:spcBef>
                <a:spcPts val="600"/>
              </a:spcBef>
            </a:pP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4</a:t>
            </a:r>
            <a:r>
              <a:rPr lang="zh-CN" altLang="zh-CN" sz="2200">
                <a:solidFill>
                  <a:srgbClr val="0000FF"/>
                </a:solidFill>
                <a:latin typeface="Consolas" pitchFamily="49" charset="0"/>
                <a:ea typeface="仿宋" pitchFamily="49" charset="-122"/>
              </a:rPr>
              <a:t>）</a:t>
            </a:r>
            <a:r>
              <a:rPr lang="zh-CN" altLang="zh-CN" sz="2200">
                <a:solidFill>
                  <a:srgbClr val="FF0000"/>
                </a:solidFill>
                <a:latin typeface="Consolas" pitchFamily="49" charset="0"/>
                <a:ea typeface="仿宋" pitchFamily="49" charset="-122"/>
              </a:rPr>
              <a:t>分配作业</a:t>
            </a:r>
            <a:r>
              <a:rPr lang="en-US" altLang="zh-CN" sz="2200">
                <a:solidFill>
                  <a:srgbClr val="FF0000"/>
                </a:solidFill>
                <a:latin typeface="Consolas" pitchFamily="49" charset="0"/>
                <a:ea typeface="仿宋" pitchFamily="49" charset="-122"/>
              </a:rPr>
              <a:t>3</a:t>
            </a:r>
            <a:r>
              <a:rPr lang="zh-CN" altLang="zh-CN" sz="2200">
                <a:solidFill>
                  <a:srgbClr val="0000FF"/>
                </a:solidFill>
                <a:latin typeface="Consolas" pitchFamily="49" charset="0"/>
                <a:ea typeface="仿宋" pitchFamily="49" charset="-122"/>
              </a:rPr>
              <a:t>：机器</a:t>
            </a:r>
            <a:r>
              <a:rPr lang="en-US" altLang="zh-CN" sz="2200">
                <a:solidFill>
                  <a:srgbClr val="0000FF"/>
                </a:solidFill>
                <a:latin typeface="Consolas" pitchFamily="49" charset="0"/>
                <a:ea typeface="仿宋" pitchFamily="49" charset="-122"/>
              </a:rPr>
              <a:t>0</a:t>
            </a:r>
            <a:r>
              <a:rPr lang="zh-CN" altLang="zh-CN" sz="2200">
                <a:solidFill>
                  <a:srgbClr val="0000FF"/>
                </a:solidFill>
                <a:latin typeface="Consolas" pitchFamily="49" charset="0"/>
                <a:ea typeface="仿宋" pitchFamily="49" charset="-122"/>
              </a:rPr>
              <a:t>的加工总时间最小，将作业</a:t>
            </a:r>
            <a:r>
              <a:rPr lang="en-US" altLang="zh-CN" sz="2200">
                <a:solidFill>
                  <a:srgbClr val="0000FF"/>
                </a:solidFill>
                <a:latin typeface="Consolas" pitchFamily="49" charset="0"/>
                <a:ea typeface="仿宋" pitchFamily="49" charset="-122"/>
              </a:rPr>
              <a:t>3</a:t>
            </a:r>
            <a:r>
              <a:rPr lang="zh-CN" altLang="zh-CN" sz="2200">
                <a:solidFill>
                  <a:srgbClr val="0000FF"/>
                </a:solidFill>
                <a:latin typeface="Consolas" pitchFamily="49" charset="0"/>
                <a:ea typeface="仿宋" pitchFamily="49" charset="-122"/>
              </a:rPr>
              <a:t>分配给它，此时机器的分配情况为（</a:t>
            </a:r>
            <a:r>
              <a:rPr lang="en-US" altLang="zh-CN" sz="2200">
                <a:solidFill>
                  <a:srgbClr val="0000FF"/>
                </a:solidFill>
                <a:latin typeface="Consolas" pitchFamily="49" charset="0"/>
                <a:ea typeface="仿宋" pitchFamily="49" charset="-122"/>
              </a:rPr>
              <a:t>{0</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3}</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{2}</a:t>
            </a:r>
            <a:r>
              <a:rPr lang="zh-CN" altLang="zh-CN" sz="2200">
                <a:solidFill>
                  <a:srgbClr val="0000FF"/>
                </a:solidFill>
                <a:latin typeface="Consolas" pitchFamily="49" charset="0"/>
                <a:ea typeface="仿宋" pitchFamily="49" charset="-122"/>
              </a:rPr>
              <a:t>），对应的加工总时间为（</a:t>
            </a:r>
            <a:r>
              <a:rPr lang="en-US" altLang="zh-CN" sz="2200">
                <a:solidFill>
                  <a:srgbClr val="0000FF"/>
                </a:solidFill>
                <a:latin typeface="Consolas" pitchFamily="49" charset="0"/>
                <a:ea typeface="仿宋" pitchFamily="49" charset="-122"/>
              </a:rPr>
              <a:t>19</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14</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12</a:t>
            </a:r>
            <a:r>
              <a:rPr lang="zh-CN" altLang="zh-CN" sz="2200">
                <a:solidFill>
                  <a:srgbClr val="0000FF"/>
                </a:solidFill>
                <a:latin typeface="Consolas" pitchFamily="49" charset="0"/>
                <a:ea typeface="仿宋" pitchFamily="49" charset="-122"/>
              </a:rPr>
              <a:t>）。</a:t>
            </a:r>
          </a:p>
          <a:p>
            <a:pPr algn="l">
              <a:lnSpc>
                <a:spcPts val="3000"/>
              </a:lnSpc>
              <a:spcBef>
                <a:spcPts val="600"/>
              </a:spcBef>
            </a:pP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5</a:t>
            </a:r>
            <a:r>
              <a:rPr lang="zh-CN" altLang="zh-CN" sz="2200">
                <a:solidFill>
                  <a:srgbClr val="0000FF"/>
                </a:solidFill>
                <a:latin typeface="Consolas" pitchFamily="49" charset="0"/>
                <a:ea typeface="仿宋" pitchFamily="49" charset="-122"/>
              </a:rPr>
              <a:t>）</a:t>
            </a:r>
            <a:r>
              <a:rPr lang="zh-CN" altLang="zh-CN" sz="2200">
                <a:solidFill>
                  <a:srgbClr val="FF0000"/>
                </a:solidFill>
                <a:latin typeface="Consolas" pitchFamily="49" charset="0"/>
                <a:ea typeface="仿宋" pitchFamily="49" charset="-122"/>
              </a:rPr>
              <a:t>分配作业</a:t>
            </a:r>
            <a:r>
              <a:rPr lang="en-US" altLang="zh-CN" sz="2200">
                <a:solidFill>
                  <a:srgbClr val="FF0000"/>
                </a:solidFill>
                <a:latin typeface="Consolas" pitchFamily="49" charset="0"/>
                <a:ea typeface="仿宋" pitchFamily="49" charset="-122"/>
              </a:rPr>
              <a:t>4</a:t>
            </a:r>
            <a:r>
              <a:rPr lang="zh-CN" altLang="zh-CN" sz="2200">
                <a:solidFill>
                  <a:srgbClr val="0000FF"/>
                </a:solidFill>
                <a:latin typeface="Consolas" pitchFamily="49" charset="0"/>
                <a:ea typeface="仿宋" pitchFamily="49" charset="-122"/>
              </a:rPr>
              <a:t>：机器</a:t>
            </a:r>
            <a:r>
              <a:rPr lang="en-US" altLang="zh-CN" sz="2200">
                <a:solidFill>
                  <a:srgbClr val="0000FF"/>
                </a:solidFill>
                <a:latin typeface="Consolas" pitchFamily="49" charset="0"/>
                <a:ea typeface="仿宋" pitchFamily="49" charset="-122"/>
              </a:rPr>
              <a:t>2</a:t>
            </a:r>
            <a:r>
              <a:rPr lang="zh-CN" altLang="zh-CN" sz="2200">
                <a:solidFill>
                  <a:srgbClr val="0000FF"/>
                </a:solidFill>
                <a:latin typeface="Consolas" pitchFamily="49" charset="0"/>
                <a:ea typeface="仿宋" pitchFamily="49" charset="-122"/>
              </a:rPr>
              <a:t>的加工总时间最小，将作业</a:t>
            </a:r>
            <a:r>
              <a:rPr lang="en-US" altLang="zh-CN" sz="2200">
                <a:solidFill>
                  <a:srgbClr val="0000FF"/>
                </a:solidFill>
                <a:latin typeface="Consolas" pitchFamily="49" charset="0"/>
                <a:ea typeface="仿宋" pitchFamily="49" charset="-122"/>
              </a:rPr>
              <a:t>4</a:t>
            </a:r>
            <a:r>
              <a:rPr lang="zh-CN" altLang="zh-CN" sz="2200">
                <a:solidFill>
                  <a:srgbClr val="0000FF"/>
                </a:solidFill>
                <a:latin typeface="Consolas" pitchFamily="49" charset="0"/>
                <a:ea typeface="仿宋" pitchFamily="49" charset="-122"/>
              </a:rPr>
              <a:t>分配给它，此时机器的分配情况为（</a:t>
            </a:r>
            <a:r>
              <a:rPr lang="en-US" altLang="zh-CN" sz="2200">
                <a:solidFill>
                  <a:srgbClr val="0000FF"/>
                </a:solidFill>
                <a:latin typeface="Consolas" pitchFamily="49" charset="0"/>
                <a:ea typeface="仿宋" pitchFamily="49" charset="-122"/>
              </a:rPr>
              <a:t>{0</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3}</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{2</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4}</a:t>
            </a:r>
            <a:r>
              <a:rPr lang="zh-CN" altLang="zh-CN" sz="2200">
                <a:solidFill>
                  <a:srgbClr val="0000FF"/>
                </a:solidFill>
                <a:latin typeface="Consolas" pitchFamily="49" charset="0"/>
                <a:ea typeface="仿宋" pitchFamily="49" charset="-122"/>
              </a:rPr>
              <a:t>），对应的加工总时间为（</a:t>
            </a:r>
            <a:r>
              <a:rPr lang="en-US" altLang="zh-CN" sz="2200">
                <a:solidFill>
                  <a:srgbClr val="0000FF"/>
                </a:solidFill>
                <a:latin typeface="Consolas" pitchFamily="49" charset="0"/>
                <a:ea typeface="仿宋" pitchFamily="49" charset="-122"/>
              </a:rPr>
              <a:t>19</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14</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22</a:t>
            </a:r>
            <a:r>
              <a:rPr lang="zh-CN" altLang="zh-CN" sz="2200">
                <a:solidFill>
                  <a:srgbClr val="0000FF"/>
                </a:solidFill>
                <a:latin typeface="Consolas" pitchFamily="49" charset="0"/>
                <a:ea typeface="仿宋" pitchFamily="49" charset="-122"/>
              </a:rPr>
              <a:t>）。</a:t>
            </a:r>
          </a:p>
          <a:p>
            <a:pPr algn="l">
              <a:lnSpc>
                <a:spcPts val="3000"/>
              </a:lnSpc>
              <a:spcBef>
                <a:spcPts val="600"/>
              </a:spcBef>
            </a:pP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6</a:t>
            </a:r>
            <a:r>
              <a:rPr lang="zh-CN" altLang="zh-CN" sz="2200">
                <a:solidFill>
                  <a:srgbClr val="0000FF"/>
                </a:solidFill>
                <a:latin typeface="Consolas" pitchFamily="49" charset="0"/>
                <a:ea typeface="仿宋" pitchFamily="49" charset="-122"/>
              </a:rPr>
              <a:t>）</a:t>
            </a:r>
            <a:r>
              <a:rPr lang="zh-CN" altLang="zh-CN" sz="2200">
                <a:solidFill>
                  <a:srgbClr val="FF0000"/>
                </a:solidFill>
                <a:latin typeface="Consolas" pitchFamily="49" charset="0"/>
                <a:ea typeface="仿宋" pitchFamily="49" charset="-122"/>
              </a:rPr>
              <a:t>分配作业</a:t>
            </a:r>
            <a:r>
              <a:rPr lang="en-US" altLang="zh-CN" sz="2200">
                <a:solidFill>
                  <a:srgbClr val="FF0000"/>
                </a:solidFill>
                <a:latin typeface="Consolas" pitchFamily="49" charset="0"/>
                <a:ea typeface="仿宋" pitchFamily="49" charset="-122"/>
              </a:rPr>
              <a:t>5</a:t>
            </a:r>
            <a:r>
              <a:rPr lang="zh-CN" altLang="zh-CN" sz="2200">
                <a:solidFill>
                  <a:srgbClr val="0000FF"/>
                </a:solidFill>
                <a:latin typeface="Consolas" pitchFamily="49" charset="0"/>
                <a:ea typeface="仿宋" pitchFamily="49" charset="-122"/>
              </a:rPr>
              <a:t>：机器</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的加工总时间最小，将作业</a:t>
            </a:r>
            <a:r>
              <a:rPr lang="en-US" altLang="zh-CN" sz="2200">
                <a:solidFill>
                  <a:srgbClr val="0000FF"/>
                </a:solidFill>
                <a:latin typeface="Consolas" pitchFamily="49" charset="0"/>
                <a:ea typeface="仿宋" pitchFamily="49" charset="-122"/>
              </a:rPr>
              <a:t>5</a:t>
            </a:r>
            <a:r>
              <a:rPr lang="zh-CN" altLang="zh-CN" sz="2200">
                <a:solidFill>
                  <a:srgbClr val="0000FF"/>
                </a:solidFill>
                <a:latin typeface="Consolas" pitchFamily="49" charset="0"/>
                <a:ea typeface="仿宋" pitchFamily="49" charset="-122"/>
              </a:rPr>
              <a:t>分配给它，此时机器的分配情况为（</a:t>
            </a:r>
            <a:r>
              <a:rPr lang="en-US" altLang="zh-CN" sz="2200">
                <a:solidFill>
                  <a:srgbClr val="0000FF"/>
                </a:solidFill>
                <a:latin typeface="Consolas" pitchFamily="49" charset="0"/>
                <a:ea typeface="仿宋" pitchFamily="49" charset="-122"/>
              </a:rPr>
              <a:t>{0</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3}</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5}</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{2</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4}</a:t>
            </a:r>
            <a:r>
              <a:rPr lang="zh-CN" altLang="zh-CN" sz="2200">
                <a:solidFill>
                  <a:srgbClr val="0000FF"/>
                </a:solidFill>
                <a:latin typeface="Consolas" pitchFamily="49" charset="0"/>
                <a:ea typeface="仿宋" pitchFamily="49" charset="-122"/>
              </a:rPr>
              <a:t>），对应的加工总时间为（</a:t>
            </a:r>
            <a:r>
              <a:rPr lang="en-US" altLang="zh-CN" sz="2200">
                <a:solidFill>
                  <a:srgbClr val="0000FF"/>
                </a:solidFill>
                <a:latin typeface="Consolas" pitchFamily="49" charset="0"/>
                <a:ea typeface="仿宋" pitchFamily="49" charset="-122"/>
              </a:rPr>
              <a:t>19</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23</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22</a:t>
            </a:r>
            <a:r>
              <a:rPr lang="zh-CN" altLang="zh-CN" sz="2200">
                <a:solidFill>
                  <a:srgbClr val="0000FF"/>
                </a:solidFill>
                <a:latin typeface="Consolas" pitchFamily="49" charset="0"/>
                <a:ea typeface="仿宋" pitchFamily="49" charset="-122"/>
              </a:rPr>
              <a:t>）。</a:t>
            </a:r>
          </a:p>
          <a:p>
            <a:pPr algn="l">
              <a:lnSpc>
                <a:spcPts val="3000"/>
              </a:lnSpc>
              <a:spcBef>
                <a:spcPts val="600"/>
              </a:spcBef>
            </a:pP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7</a:t>
            </a:r>
            <a:r>
              <a:rPr lang="zh-CN" altLang="zh-CN" sz="2200">
                <a:solidFill>
                  <a:srgbClr val="0000FF"/>
                </a:solidFill>
                <a:latin typeface="Consolas" pitchFamily="49" charset="0"/>
                <a:ea typeface="仿宋" pitchFamily="49" charset="-122"/>
              </a:rPr>
              <a:t>）</a:t>
            </a:r>
            <a:r>
              <a:rPr lang="zh-CN" altLang="zh-CN" sz="2200">
                <a:solidFill>
                  <a:srgbClr val="FF0000"/>
                </a:solidFill>
                <a:latin typeface="Consolas" pitchFamily="49" charset="0"/>
                <a:ea typeface="仿宋" pitchFamily="49" charset="-122"/>
              </a:rPr>
              <a:t>分配作业</a:t>
            </a:r>
            <a:r>
              <a:rPr lang="en-US" altLang="zh-CN" sz="2200">
                <a:solidFill>
                  <a:srgbClr val="FF0000"/>
                </a:solidFill>
                <a:latin typeface="Consolas" pitchFamily="49" charset="0"/>
                <a:ea typeface="仿宋" pitchFamily="49" charset="-122"/>
              </a:rPr>
              <a:t>6</a:t>
            </a:r>
            <a:r>
              <a:rPr lang="zh-CN" altLang="zh-CN" sz="2200">
                <a:solidFill>
                  <a:srgbClr val="0000FF"/>
                </a:solidFill>
                <a:latin typeface="Consolas" pitchFamily="49" charset="0"/>
                <a:ea typeface="仿宋" pitchFamily="49" charset="-122"/>
              </a:rPr>
              <a:t>：机器</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的加工总时间最小，将作业</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分配给它，此时机器的分配情况为（</a:t>
            </a:r>
            <a:r>
              <a:rPr lang="en-US" altLang="zh-CN" sz="2200">
                <a:solidFill>
                  <a:srgbClr val="0000FF"/>
                </a:solidFill>
                <a:latin typeface="Consolas" pitchFamily="49" charset="0"/>
                <a:ea typeface="仿宋" pitchFamily="49" charset="-122"/>
              </a:rPr>
              <a:t>{0</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3</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6}</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5}</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{2</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4}</a:t>
            </a:r>
            <a:r>
              <a:rPr lang="zh-CN" altLang="zh-CN" sz="2200">
                <a:solidFill>
                  <a:srgbClr val="0000FF"/>
                </a:solidFill>
                <a:latin typeface="Consolas" pitchFamily="49" charset="0"/>
                <a:ea typeface="仿宋" pitchFamily="49" charset="-122"/>
              </a:rPr>
              <a:t>），对应的加工总时间为（</a:t>
            </a:r>
            <a:r>
              <a:rPr lang="en-US" altLang="zh-CN" sz="2200">
                <a:solidFill>
                  <a:srgbClr val="0000FF"/>
                </a:solidFill>
                <a:latin typeface="Consolas" pitchFamily="49" charset="0"/>
                <a:ea typeface="仿宋" pitchFamily="49" charset="-122"/>
              </a:rPr>
              <a:t>35</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23</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22</a:t>
            </a:r>
            <a:r>
              <a:rPr lang="zh-CN" altLang="zh-CN" sz="2200">
                <a:solidFill>
                  <a:srgbClr val="0000FF"/>
                </a:solidFill>
                <a:latin typeface="Consolas" pitchFamily="49" charset="0"/>
                <a:ea typeface="仿宋" pitchFamily="49" charset="-122"/>
              </a:rPr>
              <a:t>）。</a:t>
            </a:r>
          </a:p>
        </p:txBody>
      </p:sp>
      <p:graphicFrame>
        <p:nvGraphicFramePr>
          <p:cNvPr id="5" name="表格 4"/>
          <p:cNvGraphicFramePr>
            <a:graphicFrameLocks noGrp="1"/>
          </p:cNvGraphicFramePr>
          <p:nvPr/>
        </p:nvGraphicFramePr>
        <p:xfrm>
          <a:off x="1000100" y="285728"/>
          <a:ext cx="6429418" cy="928694"/>
        </p:xfrm>
        <a:graphic>
          <a:graphicData uri="http://schemas.openxmlformats.org/drawingml/2006/table">
            <a:tbl>
              <a:tblPr>
                <a:tableStyleId>{35758FB7-9AC5-4552-8A53-C91805E547FA}</a:tableStyleId>
              </a:tblPr>
              <a:tblGrid>
                <a:gridCol w="2106683">
                  <a:extLst>
                    <a:ext uri="{9D8B030D-6E8A-4147-A177-3AD203B41FA5}">
                      <a16:colId xmlns:a16="http://schemas.microsoft.com/office/drawing/2014/main" val="20000"/>
                    </a:ext>
                  </a:extLst>
                </a:gridCol>
                <a:gridCol w="536523">
                  <a:extLst>
                    <a:ext uri="{9D8B030D-6E8A-4147-A177-3AD203B41FA5}">
                      <a16:colId xmlns:a16="http://schemas.microsoft.com/office/drawing/2014/main" val="20001"/>
                    </a:ext>
                  </a:extLst>
                </a:gridCol>
                <a:gridCol w="857256">
                  <a:extLst>
                    <a:ext uri="{9D8B030D-6E8A-4147-A177-3AD203B41FA5}">
                      <a16:colId xmlns:a16="http://schemas.microsoft.com/office/drawing/2014/main" val="20002"/>
                    </a:ext>
                  </a:extLst>
                </a:gridCol>
                <a:gridCol w="571504">
                  <a:extLst>
                    <a:ext uri="{9D8B030D-6E8A-4147-A177-3AD203B41FA5}">
                      <a16:colId xmlns:a16="http://schemas.microsoft.com/office/drawing/2014/main" val="20003"/>
                    </a:ext>
                  </a:extLst>
                </a:gridCol>
                <a:gridCol w="642942">
                  <a:extLst>
                    <a:ext uri="{9D8B030D-6E8A-4147-A177-3AD203B41FA5}">
                      <a16:colId xmlns:a16="http://schemas.microsoft.com/office/drawing/2014/main" val="20004"/>
                    </a:ext>
                  </a:extLst>
                </a:gridCol>
                <a:gridCol w="620806">
                  <a:extLst>
                    <a:ext uri="{9D8B030D-6E8A-4147-A177-3AD203B41FA5}">
                      <a16:colId xmlns:a16="http://schemas.microsoft.com/office/drawing/2014/main" val="20005"/>
                    </a:ext>
                  </a:extLst>
                </a:gridCol>
                <a:gridCol w="546852">
                  <a:extLst>
                    <a:ext uri="{9D8B030D-6E8A-4147-A177-3AD203B41FA5}">
                      <a16:colId xmlns:a16="http://schemas.microsoft.com/office/drawing/2014/main" val="20006"/>
                    </a:ext>
                  </a:extLst>
                </a:gridCol>
                <a:gridCol w="546852">
                  <a:extLst>
                    <a:ext uri="{9D8B030D-6E8A-4147-A177-3AD203B41FA5}">
                      <a16:colId xmlns:a16="http://schemas.microsoft.com/office/drawing/2014/main" val="20007"/>
                    </a:ext>
                  </a:extLst>
                </a:gridCol>
              </a:tblGrid>
              <a:tr h="464347">
                <a:tc>
                  <a:txBody>
                    <a:bodyPr/>
                    <a:lstStyle/>
                    <a:p>
                      <a:pPr indent="0" algn="ctr">
                        <a:lnSpc>
                          <a:spcPts val="3000"/>
                        </a:lnSpc>
                        <a:spcAft>
                          <a:spcPts val="0"/>
                        </a:spcAft>
                      </a:pPr>
                      <a:r>
                        <a:rPr lang="zh-CN" sz="2000" kern="100">
                          <a:solidFill>
                            <a:srgbClr val="0000FF"/>
                          </a:solidFill>
                          <a:latin typeface="Consolas" pitchFamily="49" charset="0"/>
                          <a:ea typeface="仿宋" pitchFamily="49" charset="-122"/>
                        </a:rPr>
                        <a:t>作业编号</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chemeClr val="bg1">
                              <a:lumMod val="65000"/>
                            </a:schemeClr>
                          </a:solidFill>
                          <a:latin typeface="Consolas" pitchFamily="49" charset="0"/>
                          <a:ea typeface="仿宋" pitchFamily="49" charset="-122"/>
                        </a:rPr>
                        <a:t>0</a:t>
                      </a:r>
                      <a:endParaRPr lang="zh-CN" sz="2000" kern="100">
                        <a:solidFill>
                          <a:schemeClr val="bg1">
                            <a:lumMod val="65000"/>
                          </a:schemeClr>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chemeClr val="bg1">
                              <a:lumMod val="65000"/>
                            </a:schemeClr>
                          </a:solidFill>
                          <a:latin typeface="Consolas" pitchFamily="49" charset="0"/>
                          <a:ea typeface="仿宋" pitchFamily="49" charset="-122"/>
                        </a:rPr>
                        <a:t>1</a:t>
                      </a:r>
                      <a:endParaRPr lang="zh-CN" sz="2000" kern="100">
                        <a:solidFill>
                          <a:schemeClr val="bg1">
                            <a:lumMod val="65000"/>
                          </a:schemeClr>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chemeClr val="bg1">
                              <a:lumMod val="65000"/>
                            </a:schemeClr>
                          </a:solidFill>
                          <a:latin typeface="Consolas" pitchFamily="49" charset="0"/>
                          <a:ea typeface="仿宋" pitchFamily="49" charset="-122"/>
                        </a:rPr>
                        <a:t>2</a:t>
                      </a:r>
                      <a:endParaRPr lang="zh-CN" sz="2000" kern="100">
                        <a:solidFill>
                          <a:schemeClr val="bg1">
                            <a:lumMod val="65000"/>
                          </a:schemeClr>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chemeClr val="tx1"/>
                          </a:solidFill>
                          <a:latin typeface="Consolas" pitchFamily="49" charset="0"/>
                          <a:ea typeface="仿宋" pitchFamily="49" charset="-122"/>
                        </a:rPr>
                        <a:t>3</a:t>
                      </a:r>
                      <a:endParaRPr lang="zh-CN" sz="2000" kern="100">
                        <a:solidFill>
                          <a:schemeClr val="tx1"/>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chemeClr val="tx1"/>
                          </a:solidFill>
                          <a:latin typeface="Consolas" pitchFamily="49" charset="0"/>
                          <a:ea typeface="仿宋" pitchFamily="49" charset="-122"/>
                        </a:rPr>
                        <a:t>4</a:t>
                      </a:r>
                      <a:endParaRPr lang="zh-CN" sz="2000" kern="100">
                        <a:solidFill>
                          <a:schemeClr val="tx1"/>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chemeClr val="tx1"/>
                          </a:solidFill>
                          <a:latin typeface="Consolas" pitchFamily="49" charset="0"/>
                          <a:ea typeface="仿宋" pitchFamily="49" charset="-122"/>
                        </a:rPr>
                        <a:t>5</a:t>
                      </a:r>
                      <a:endParaRPr lang="zh-CN" sz="2000" kern="100">
                        <a:solidFill>
                          <a:schemeClr val="tx1"/>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chemeClr val="tx1"/>
                          </a:solidFill>
                          <a:latin typeface="Consolas" pitchFamily="49" charset="0"/>
                          <a:ea typeface="仿宋" pitchFamily="49" charset="-122"/>
                        </a:rPr>
                        <a:t>6</a:t>
                      </a:r>
                      <a:endParaRPr lang="zh-CN" sz="2000" kern="100">
                        <a:solidFill>
                          <a:schemeClr val="tx1"/>
                        </a:solidFill>
                        <a:latin typeface="Consolas" pitchFamily="49" charset="0"/>
                        <a:ea typeface="仿宋" pitchFamily="49" charset="-122"/>
                        <a:cs typeface="Times New Roman"/>
                      </a:endParaRPr>
                    </a:p>
                  </a:txBody>
                  <a:tcPr marL="68580" marR="68580" marT="0" marB="0">
                    <a:solidFill>
                      <a:schemeClr val="bg1">
                        <a:lumMod val="95000"/>
                      </a:schemeClr>
                    </a:solidFill>
                  </a:tcPr>
                </a:tc>
                <a:extLst>
                  <a:ext uri="{0D108BD9-81ED-4DB2-BD59-A6C34878D82A}">
                    <a16:rowId xmlns:a16="http://schemas.microsoft.com/office/drawing/2014/main" val="10000"/>
                  </a:ext>
                </a:extLst>
              </a:tr>
              <a:tr h="464347">
                <a:tc>
                  <a:txBody>
                    <a:bodyPr/>
                    <a:lstStyle/>
                    <a:p>
                      <a:pPr indent="0" algn="ctr">
                        <a:lnSpc>
                          <a:spcPts val="3000"/>
                        </a:lnSpc>
                        <a:spcAft>
                          <a:spcPts val="0"/>
                        </a:spcAft>
                      </a:pPr>
                      <a:r>
                        <a:rPr lang="zh-CN" sz="2000" kern="100">
                          <a:solidFill>
                            <a:srgbClr val="0000FF"/>
                          </a:solidFill>
                          <a:latin typeface="Consolas" pitchFamily="49" charset="0"/>
                          <a:ea typeface="仿宋" pitchFamily="49" charset="-122"/>
                        </a:rPr>
                        <a:t>作业的处理时间</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chemeClr val="bg1">
                              <a:lumMod val="65000"/>
                            </a:schemeClr>
                          </a:solidFill>
                          <a:latin typeface="Consolas" pitchFamily="49" charset="0"/>
                          <a:ea typeface="仿宋" pitchFamily="49" charset="-122"/>
                        </a:rPr>
                        <a:t>8</a:t>
                      </a:r>
                      <a:endParaRPr lang="zh-CN" sz="2000" kern="100">
                        <a:solidFill>
                          <a:schemeClr val="bg1">
                            <a:lumMod val="65000"/>
                          </a:schemeClr>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chemeClr val="bg1">
                              <a:lumMod val="65000"/>
                            </a:schemeClr>
                          </a:solidFill>
                          <a:latin typeface="Consolas" pitchFamily="49" charset="0"/>
                          <a:ea typeface="仿宋" pitchFamily="49" charset="-122"/>
                        </a:rPr>
                        <a:t>14</a:t>
                      </a:r>
                      <a:endParaRPr lang="zh-CN" sz="2000" kern="100">
                        <a:solidFill>
                          <a:schemeClr val="bg1">
                            <a:lumMod val="65000"/>
                          </a:schemeClr>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chemeClr val="bg1">
                              <a:lumMod val="65000"/>
                            </a:schemeClr>
                          </a:solidFill>
                          <a:latin typeface="Consolas" pitchFamily="49" charset="0"/>
                          <a:ea typeface="仿宋" pitchFamily="49" charset="-122"/>
                        </a:rPr>
                        <a:t>12</a:t>
                      </a:r>
                      <a:endParaRPr lang="zh-CN" sz="2000" kern="100">
                        <a:solidFill>
                          <a:schemeClr val="bg1">
                            <a:lumMod val="65000"/>
                          </a:schemeClr>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rgbClr val="0000FF"/>
                          </a:solidFill>
                          <a:latin typeface="Consolas" pitchFamily="49" charset="0"/>
                          <a:ea typeface="仿宋" pitchFamily="49" charset="-122"/>
                        </a:rPr>
                        <a:t>11</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rgbClr val="0000FF"/>
                          </a:solidFill>
                          <a:latin typeface="Consolas" pitchFamily="49" charset="0"/>
                          <a:ea typeface="仿宋" pitchFamily="49" charset="-122"/>
                        </a:rPr>
                        <a:t>10</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rgbClr val="0000FF"/>
                          </a:solidFill>
                          <a:latin typeface="Consolas" pitchFamily="49" charset="0"/>
                          <a:ea typeface="仿宋" pitchFamily="49" charset="-122"/>
                        </a:rPr>
                        <a:t>9</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rgbClr val="0000FF"/>
                          </a:solidFill>
                          <a:latin typeface="Consolas" pitchFamily="49" charset="0"/>
                          <a:ea typeface="仿宋" pitchFamily="49" charset="-122"/>
                        </a:rPr>
                        <a:t>16</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extLst>
                  <a:ext uri="{0D108BD9-81ED-4DB2-BD59-A6C34878D82A}">
                    <a16:rowId xmlns:a16="http://schemas.microsoft.com/office/drawing/2014/main" val="10001"/>
                  </a:ext>
                </a:extLst>
              </a:tr>
            </a:tbl>
          </a:graphicData>
        </a:graphic>
      </p:graphicFrame>
      <p:sp>
        <p:nvSpPr>
          <p:cNvPr id="6" name="灯片编号占位符 5"/>
          <p:cNvSpPr>
            <a:spLocks noGrp="1"/>
          </p:cNvSpPr>
          <p:nvPr>
            <p:ph type="sldNum" sz="quarter" idx="12"/>
          </p:nvPr>
        </p:nvSpPr>
        <p:spPr/>
        <p:txBody>
          <a:bodyPr/>
          <a:lstStyle/>
          <a:p>
            <a:fld id="{7AF016A1-9F15-429F-9EFD-84004B73C732}" type="slidenum">
              <a:rPr lang="en-US" altLang="zh-CN" smtClean="0"/>
              <a:pPr/>
              <a:t>46</a:t>
            </a:fld>
            <a:r>
              <a:rPr lang="en-US" altLang="zh-CN"/>
              <a:t>/75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714348" y="714356"/>
            <a:ext cx="3857652"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仿宋" pitchFamily="49" charset="-122"/>
                <a:ea typeface="仿宋" pitchFamily="49" charset="-122"/>
              </a:rPr>
              <a:t>最后的答案如下：</a:t>
            </a:r>
          </a:p>
        </p:txBody>
      </p:sp>
      <p:sp>
        <p:nvSpPr>
          <p:cNvPr id="5" name="TextBox 4"/>
          <p:cNvSpPr txBox="1"/>
          <p:nvPr/>
        </p:nvSpPr>
        <p:spPr>
          <a:xfrm>
            <a:off x="1000100" y="1500174"/>
            <a:ext cx="4357718" cy="1803159"/>
          </a:xfrm>
          <a:prstGeom prst="rect">
            <a:avLst/>
          </a:prstGeom>
          <a:ln>
            <a:solidFill>
              <a:schemeClr val="accent6">
                <a:lumMod val="40000"/>
                <a:lumOff val="6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ct val="100000"/>
              </a:lnSpc>
              <a:spcBef>
                <a:spcPts val="600"/>
              </a:spcBef>
            </a:pPr>
            <a:r>
              <a:rPr lang="zh-CN" altLang="zh-CN" sz="2200">
                <a:solidFill>
                  <a:srgbClr val="0000FF"/>
                </a:solidFill>
                <a:latin typeface="Consolas" pitchFamily="49" charset="0"/>
                <a:ea typeface="仿宋" pitchFamily="49" charset="-122"/>
              </a:rPr>
              <a:t>机器</a:t>
            </a:r>
            <a:r>
              <a:rPr lang="en-US" altLang="zh-CN" sz="2200">
                <a:solidFill>
                  <a:srgbClr val="0000FF"/>
                </a:solidFill>
                <a:latin typeface="Consolas" pitchFamily="49" charset="0"/>
                <a:ea typeface="仿宋" pitchFamily="49" charset="-122"/>
              </a:rPr>
              <a:t>0: 0[8] 3[11] 6[16] </a:t>
            </a:r>
            <a:endParaRPr lang="zh-CN" altLang="zh-CN" sz="2200">
              <a:solidFill>
                <a:srgbClr val="0000FF"/>
              </a:solidFill>
              <a:latin typeface="Consolas" pitchFamily="49" charset="0"/>
              <a:ea typeface="仿宋" pitchFamily="49" charset="-122"/>
            </a:endParaRPr>
          </a:p>
          <a:p>
            <a:pPr algn="l">
              <a:lnSpc>
                <a:spcPct val="100000"/>
              </a:lnSpc>
              <a:spcBef>
                <a:spcPts val="600"/>
              </a:spcBef>
            </a:pPr>
            <a:r>
              <a:rPr lang="zh-CN" altLang="zh-CN" sz="2200">
                <a:solidFill>
                  <a:srgbClr val="0000FF"/>
                </a:solidFill>
                <a:latin typeface="Consolas" pitchFamily="49" charset="0"/>
                <a:ea typeface="仿宋" pitchFamily="49" charset="-122"/>
              </a:rPr>
              <a:t>机器</a:t>
            </a:r>
            <a:r>
              <a:rPr lang="en-US" altLang="zh-CN" sz="2200">
                <a:solidFill>
                  <a:srgbClr val="0000FF"/>
                </a:solidFill>
                <a:latin typeface="Consolas" pitchFamily="49" charset="0"/>
                <a:ea typeface="仿宋" pitchFamily="49" charset="-122"/>
              </a:rPr>
              <a:t>1: 1[14] 5[9] </a:t>
            </a:r>
            <a:endParaRPr lang="zh-CN" altLang="zh-CN" sz="2200">
              <a:solidFill>
                <a:srgbClr val="0000FF"/>
              </a:solidFill>
              <a:latin typeface="Consolas" pitchFamily="49" charset="0"/>
              <a:ea typeface="仿宋" pitchFamily="49" charset="-122"/>
            </a:endParaRPr>
          </a:p>
          <a:p>
            <a:pPr algn="l">
              <a:lnSpc>
                <a:spcPct val="100000"/>
              </a:lnSpc>
              <a:spcBef>
                <a:spcPts val="600"/>
              </a:spcBef>
            </a:pPr>
            <a:r>
              <a:rPr lang="zh-CN" altLang="zh-CN" sz="2200">
                <a:solidFill>
                  <a:srgbClr val="0000FF"/>
                </a:solidFill>
                <a:latin typeface="Consolas" pitchFamily="49" charset="0"/>
                <a:ea typeface="仿宋" pitchFamily="49" charset="-122"/>
              </a:rPr>
              <a:t>机器</a:t>
            </a:r>
            <a:r>
              <a:rPr lang="en-US" altLang="zh-CN" sz="2200">
                <a:solidFill>
                  <a:srgbClr val="0000FF"/>
                </a:solidFill>
                <a:latin typeface="Consolas" pitchFamily="49" charset="0"/>
                <a:ea typeface="仿宋" pitchFamily="49" charset="-122"/>
              </a:rPr>
              <a:t>2: 2[12] 4[10] </a:t>
            </a:r>
            <a:endParaRPr lang="zh-CN" altLang="zh-CN" sz="2200">
              <a:solidFill>
                <a:srgbClr val="0000FF"/>
              </a:solidFill>
              <a:latin typeface="Consolas" pitchFamily="49" charset="0"/>
              <a:ea typeface="仿宋" pitchFamily="49" charset="-122"/>
            </a:endParaRPr>
          </a:p>
          <a:p>
            <a:pPr algn="l">
              <a:lnSpc>
                <a:spcPct val="100000"/>
              </a:lnSpc>
              <a:spcBef>
                <a:spcPts val="600"/>
              </a:spcBef>
            </a:pPr>
            <a:r>
              <a:rPr lang="zh-CN" altLang="zh-CN" sz="2200">
                <a:solidFill>
                  <a:srgbClr val="0000FF"/>
                </a:solidFill>
                <a:latin typeface="Consolas" pitchFamily="49" charset="0"/>
                <a:ea typeface="仿宋" pitchFamily="49" charset="-122"/>
              </a:rPr>
              <a:t>最短工期</a:t>
            </a:r>
            <a:r>
              <a:rPr lang="en-US" altLang="zh-CN" sz="2200">
                <a:solidFill>
                  <a:srgbClr val="0000FF"/>
                </a:solidFill>
                <a:latin typeface="Consolas" pitchFamily="49" charset="0"/>
                <a:ea typeface="仿宋" pitchFamily="49" charset="-122"/>
              </a:rPr>
              <a:t>=35</a:t>
            </a:r>
            <a:endParaRPr lang="zh-CN" altLang="zh-CN" sz="2200">
              <a:solidFill>
                <a:srgbClr val="0000FF"/>
              </a:solidFill>
              <a:latin typeface="Consolas" pitchFamily="49" charset="0"/>
              <a:ea typeface="仿宋" pitchFamily="49" charset="-122"/>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47</a:t>
            </a:fld>
            <a:r>
              <a:rPr lang="en-US" altLang="zh-CN"/>
              <a:t>/75</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642910" y="1562911"/>
            <a:ext cx="8001056" cy="1294585"/>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0"/>
              </a:spcBef>
              <a:buBlip>
                <a:blip r:embed="rId2"/>
              </a:buBlip>
            </a:pPr>
            <a:r>
              <a:rPr lang="zh-CN" altLang="zh-CN">
                <a:solidFill>
                  <a:srgbClr val="0000FF"/>
                </a:solidFill>
                <a:latin typeface="Consolas" pitchFamily="49" charset="0"/>
                <a:ea typeface="仿宋" pitchFamily="49" charset="-122"/>
              </a:rPr>
              <a:t>由于每次都需要求出加工总时间最小的机器，为此用</a:t>
            </a:r>
            <a:r>
              <a:rPr lang="en-US" altLang="zh-CN">
                <a:solidFill>
                  <a:srgbClr val="0000FF"/>
                </a:solidFill>
                <a:latin typeface="Consolas" pitchFamily="49" charset="0"/>
                <a:ea typeface="仿宋" pitchFamily="49" charset="-122"/>
              </a:rPr>
              <a:t>sumt</a:t>
            </a:r>
            <a:r>
              <a:rPr lang="zh-CN" altLang="zh-CN">
                <a:solidFill>
                  <a:srgbClr val="0000FF"/>
                </a:solidFill>
                <a:latin typeface="Consolas" pitchFamily="49" charset="0"/>
                <a:ea typeface="仿宋" pitchFamily="49" charset="-122"/>
              </a:rPr>
              <a:t>表示机器的加工总时间，采用一个小根堆，即按</a:t>
            </a:r>
            <a:r>
              <a:rPr lang="en-US" altLang="zh-CN">
                <a:solidFill>
                  <a:srgbClr val="0000FF"/>
                </a:solidFill>
                <a:latin typeface="Consolas" pitchFamily="49" charset="0"/>
                <a:ea typeface="仿宋" pitchFamily="49" charset="-122"/>
              </a:rPr>
              <a:t>sumt</a:t>
            </a:r>
            <a:r>
              <a:rPr lang="zh-CN" altLang="zh-CN">
                <a:solidFill>
                  <a:srgbClr val="0000FF"/>
                </a:solidFill>
                <a:latin typeface="Consolas" pitchFamily="49" charset="0"/>
                <a:ea typeface="仿宋" pitchFamily="49" charset="-122"/>
              </a:rPr>
              <a:t>越小越优先出队。</a:t>
            </a:r>
            <a:endParaRPr lang="zh-CN" altLang="en-US">
              <a:solidFill>
                <a:srgbClr val="0000FF"/>
              </a:solidFill>
              <a:latin typeface="Consolas" pitchFamily="49" charset="0"/>
              <a:ea typeface="仿宋" pitchFamily="49" charset="-122"/>
              <a:cs typeface="Consolas" pitchFamily="49" charset="0"/>
            </a:endParaRPr>
          </a:p>
        </p:txBody>
      </p:sp>
      <p:sp>
        <p:nvSpPr>
          <p:cNvPr id="5" name="TextBox 4"/>
          <p:cNvSpPr txBox="1"/>
          <p:nvPr/>
        </p:nvSpPr>
        <p:spPr>
          <a:xfrm>
            <a:off x="642910" y="634217"/>
            <a:ext cx="1928826" cy="461665"/>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pPr>
              <a:lnSpc>
                <a:spcPct val="100000"/>
              </a:lnSpc>
              <a:spcBef>
                <a:spcPts val="0"/>
              </a:spcBef>
            </a:pPr>
            <a:r>
              <a:rPr lang="zh-CN" altLang="en-US">
                <a:solidFill>
                  <a:schemeClr val="bg1"/>
                </a:solidFill>
                <a:latin typeface="微软雅黑" pitchFamily="34" charset="-122"/>
                <a:ea typeface="微软雅黑" pitchFamily="34" charset="-122"/>
                <a:cs typeface="Consolas" pitchFamily="49" charset="0"/>
              </a:rPr>
              <a:t>算法实现</a:t>
            </a:r>
          </a:p>
        </p:txBody>
      </p:sp>
      <p:sp>
        <p:nvSpPr>
          <p:cNvPr id="6" name="TextBox 5"/>
          <p:cNvSpPr txBox="1"/>
          <p:nvPr/>
        </p:nvSpPr>
        <p:spPr>
          <a:xfrm>
            <a:off x="1214414" y="3357562"/>
            <a:ext cx="1285884" cy="430887"/>
          </a:xfrm>
          <a:prstGeom prst="rect">
            <a:avLst/>
          </a:prstGeom>
          <a:noFill/>
        </p:spPr>
        <p:txBody>
          <a:bodyPr wrap="square" rtlCol="0">
            <a:spAutoFit/>
          </a:bodyPr>
          <a:lstStyle/>
          <a:p>
            <a:pPr algn="l">
              <a:lnSpc>
                <a:spcPct val="100000"/>
              </a:lnSpc>
              <a:spcBef>
                <a:spcPts val="0"/>
              </a:spcBef>
            </a:pPr>
            <a:r>
              <a:rPr lang="zh-CN" altLang="en-US" sz="2200">
                <a:solidFill>
                  <a:srgbClr val="0000FF"/>
                </a:solidFill>
                <a:latin typeface="Consolas" pitchFamily="49" charset="0"/>
                <a:ea typeface="楷体" pitchFamily="49" charset="-122"/>
                <a:cs typeface="Consolas" pitchFamily="49" charset="0"/>
              </a:rPr>
              <a:t>代码略</a:t>
            </a:r>
          </a:p>
        </p:txBody>
      </p:sp>
      <p:sp>
        <p:nvSpPr>
          <p:cNvPr id="7" name="TextBox 6"/>
          <p:cNvSpPr txBox="1"/>
          <p:nvPr/>
        </p:nvSpPr>
        <p:spPr>
          <a:xfrm>
            <a:off x="642910" y="4214818"/>
            <a:ext cx="8001056" cy="86177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000"/>
              </a:lnSpc>
              <a:spcBef>
                <a:spcPts val="0"/>
              </a:spcBef>
            </a:pPr>
            <a:r>
              <a:rPr lang="en-US" altLang="zh-CN" sz="2200">
                <a:solidFill>
                  <a:srgbClr val="FF0000"/>
                </a:solidFill>
                <a:latin typeface="Consolas" pitchFamily="49" charset="0"/>
                <a:ea typeface="楷体" pitchFamily="49" charset="-122"/>
                <a:sym typeface="Wingdings"/>
              </a:rPr>
              <a:t></a:t>
            </a:r>
            <a:r>
              <a:rPr lang="en-US" altLang="zh-CN" sz="2200">
                <a:solidFill>
                  <a:srgbClr val="FF0000"/>
                </a:solidFill>
                <a:latin typeface="Consolas" pitchFamily="49" charset="0"/>
                <a:ea typeface="楷体" pitchFamily="49" charset="-122"/>
              </a:rPr>
              <a:t>schedule1</a:t>
            </a:r>
            <a:r>
              <a:rPr lang="zh-CN" altLang="zh-CN" sz="2200">
                <a:solidFill>
                  <a:srgbClr val="FF0000"/>
                </a:solidFill>
                <a:latin typeface="Consolas" pitchFamily="49" charset="0"/>
                <a:ea typeface="楷体" pitchFamily="49" charset="-122"/>
              </a:rPr>
              <a:t>算法分析</a:t>
            </a:r>
            <a:r>
              <a:rPr lang="zh-CN" altLang="zh-CN" sz="2200">
                <a:solidFill>
                  <a:srgbClr val="0000FF"/>
                </a:solidFill>
                <a:latin typeface="Consolas" pitchFamily="49" charset="0"/>
                <a:ea typeface="仿宋" pitchFamily="49" charset="-122"/>
              </a:rPr>
              <a:t>：该算法中遍历</a:t>
            </a:r>
            <a:r>
              <a:rPr lang="en-US" altLang="zh-CN" sz="2200" i="1">
                <a:solidFill>
                  <a:srgbClr val="0000FF"/>
                </a:solidFill>
                <a:latin typeface="Consolas" pitchFamily="49" charset="0"/>
                <a:ea typeface="仿宋" pitchFamily="49" charset="-122"/>
              </a:rPr>
              <a:t>n</a:t>
            </a:r>
            <a:r>
              <a:rPr lang="zh-CN" altLang="zh-CN" sz="2200">
                <a:solidFill>
                  <a:srgbClr val="0000FF"/>
                </a:solidFill>
                <a:latin typeface="Consolas" pitchFamily="49" charset="0"/>
                <a:ea typeface="仿宋" pitchFamily="49" charset="-122"/>
              </a:rPr>
              <a:t>个作业，优先队列中最多</a:t>
            </a:r>
            <a:r>
              <a:rPr lang="en-US" altLang="zh-CN" sz="2200" i="1">
                <a:solidFill>
                  <a:srgbClr val="0000FF"/>
                </a:solidFill>
                <a:latin typeface="Consolas" pitchFamily="49" charset="0"/>
                <a:ea typeface="仿宋" pitchFamily="49" charset="-122"/>
              </a:rPr>
              <a:t>m</a:t>
            </a:r>
            <a:r>
              <a:rPr lang="zh-CN" altLang="zh-CN" sz="2200">
                <a:solidFill>
                  <a:srgbClr val="0000FF"/>
                </a:solidFill>
                <a:latin typeface="Consolas" pitchFamily="49" charset="0"/>
                <a:ea typeface="仿宋" pitchFamily="49" charset="-122"/>
              </a:rPr>
              <a:t>个元素，所以算法的时间复杂度为</a:t>
            </a:r>
            <a:r>
              <a:rPr lang="en-US" altLang="zh-CN" sz="2200">
                <a:solidFill>
                  <a:srgbClr val="0000FF"/>
                </a:solidFill>
                <a:latin typeface="Consolas" pitchFamily="49" charset="0"/>
                <a:ea typeface="仿宋" pitchFamily="49" charset="-122"/>
              </a:rPr>
              <a:t>O(</a:t>
            </a:r>
            <a:r>
              <a:rPr lang="en-US" altLang="zh-CN" sz="2200" i="1">
                <a:solidFill>
                  <a:srgbClr val="0000FF"/>
                </a:solidFill>
                <a:latin typeface="Consolas" pitchFamily="49" charset="0"/>
                <a:ea typeface="仿宋" pitchFamily="49" charset="-122"/>
              </a:rPr>
              <a:t>n</a:t>
            </a:r>
            <a:r>
              <a:rPr lang="en-US" altLang="zh-CN" sz="2200">
                <a:solidFill>
                  <a:srgbClr val="0000FF"/>
                </a:solidFill>
                <a:latin typeface="Consolas" pitchFamily="49" charset="0"/>
                <a:ea typeface="仿宋" pitchFamily="49" charset="-122"/>
              </a:rPr>
              <a:t>log</a:t>
            </a:r>
            <a:r>
              <a:rPr lang="en-US" altLang="zh-CN" sz="2200" baseline="-25000">
                <a:solidFill>
                  <a:srgbClr val="0000FF"/>
                </a:solidFill>
                <a:latin typeface="Consolas" pitchFamily="49" charset="0"/>
                <a:ea typeface="仿宋" pitchFamily="49" charset="-122"/>
              </a:rPr>
              <a:t>2</a:t>
            </a:r>
            <a:r>
              <a:rPr lang="en-US" altLang="zh-CN" sz="2200" i="1">
                <a:solidFill>
                  <a:srgbClr val="0000FF"/>
                </a:solidFill>
                <a:latin typeface="Consolas" pitchFamily="49" charset="0"/>
                <a:ea typeface="仿宋" pitchFamily="49" charset="-122"/>
              </a:rPr>
              <a:t>m</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a:t>
            </a:r>
          </a:p>
        </p:txBody>
      </p:sp>
      <p:sp>
        <p:nvSpPr>
          <p:cNvPr id="8" name="灯片编号占位符 7"/>
          <p:cNvSpPr>
            <a:spLocks noGrp="1"/>
          </p:cNvSpPr>
          <p:nvPr>
            <p:ph type="sldNum" sz="quarter" idx="12"/>
          </p:nvPr>
        </p:nvSpPr>
        <p:spPr/>
        <p:txBody>
          <a:bodyPr/>
          <a:lstStyle/>
          <a:p>
            <a:fld id="{7AF016A1-9F15-429F-9EFD-84004B73C732}" type="slidenum">
              <a:rPr lang="en-US" altLang="zh-CN" smtClean="0"/>
              <a:pPr/>
              <a:t>48</a:t>
            </a:fld>
            <a:r>
              <a:rPr lang="en-US" altLang="zh-CN"/>
              <a:t>/75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500034" y="500042"/>
            <a:ext cx="2500330" cy="461665"/>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pPr>
              <a:lnSpc>
                <a:spcPct val="100000"/>
              </a:lnSpc>
              <a:spcBef>
                <a:spcPts val="0"/>
              </a:spcBef>
            </a:pPr>
            <a:r>
              <a:rPr lang="zh-CN" altLang="en-US">
                <a:solidFill>
                  <a:schemeClr val="bg1"/>
                </a:solidFill>
                <a:latin typeface="Consolas" pitchFamily="49" charset="0"/>
                <a:ea typeface="微软雅黑" pitchFamily="34" charset="-122"/>
                <a:cs typeface="Consolas" pitchFamily="49" charset="0"/>
              </a:rPr>
              <a:t>求</a:t>
            </a:r>
            <a:r>
              <a:rPr lang="zh-CN" altLang="zh-CN">
                <a:solidFill>
                  <a:schemeClr val="bg1"/>
                </a:solidFill>
                <a:latin typeface="Consolas" pitchFamily="49" charset="0"/>
                <a:ea typeface="微软雅黑" pitchFamily="34" charset="-122"/>
              </a:rPr>
              <a:t>近似性能比</a:t>
            </a:r>
            <a:endParaRPr lang="zh-CN" altLang="en-US">
              <a:solidFill>
                <a:schemeClr val="bg1"/>
              </a:solidFill>
              <a:latin typeface="Consolas" pitchFamily="49" charset="0"/>
              <a:ea typeface="微软雅黑" pitchFamily="34" charset="-122"/>
              <a:cs typeface="Consolas" pitchFamily="49" charset="0"/>
            </a:endParaRPr>
          </a:p>
        </p:txBody>
      </p:sp>
      <p:sp>
        <p:nvSpPr>
          <p:cNvPr id="5" name="TextBox 4"/>
          <p:cNvSpPr txBox="1"/>
          <p:nvPr/>
        </p:nvSpPr>
        <p:spPr>
          <a:xfrm>
            <a:off x="428596" y="1357298"/>
            <a:ext cx="8286808" cy="4326240"/>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tIns="108000" bIns="468000" rtlCol="0">
            <a:spAutoFit/>
          </a:bodyPr>
          <a:lstStyle/>
          <a:p>
            <a:pPr marL="457200" indent="-457200" algn="l">
              <a:lnSpc>
                <a:spcPts val="4000"/>
              </a:lnSpc>
              <a:spcBef>
                <a:spcPts val="600"/>
              </a:spcBef>
              <a:buBlip>
                <a:blip r:embed="rId2"/>
              </a:buBlip>
            </a:pPr>
            <a:r>
              <a:rPr lang="zh-CN" altLang="zh-CN">
                <a:solidFill>
                  <a:srgbClr val="0000FF"/>
                </a:solidFill>
                <a:latin typeface="Consolas" pitchFamily="49" charset="0"/>
                <a:ea typeface="仿宋" pitchFamily="49" charset="-122"/>
              </a:rPr>
              <a:t>共有</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个作业，设作业</a:t>
            </a:r>
            <a:r>
              <a:rPr lang="en-US" altLang="zh-CN" i="1">
                <a:solidFill>
                  <a:srgbClr val="0000FF"/>
                </a:solidFill>
                <a:latin typeface="Consolas" pitchFamily="49" charset="0"/>
                <a:ea typeface="仿宋" pitchFamily="49" charset="-122"/>
              </a:rPr>
              <a:t>j</a:t>
            </a:r>
            <a:r>
              <a:rPr lang="zh-CN" altLang="zh-CN">
                <a:solidFill>
                  <a:srgbClr val="0000FF"/>
                </a:solidFill>
                <a:latin typeface="Consolas" pitchFamily="49" charset="0"/>
                <a:ea typeface="仿宋" pitchFamily="49" charset="-122"/>
              </a:rPr>
              <a:t>的执行时间为</a:t>
            </a:r>
            <a:r>
              <a:rPr lang="en-US" altLang="zh-CN" i="1">
                <a:solidFill>
                  <a:srgbClr val="0000FF"/>
                </a:solidFill>
                <a:latin typeface="Consolas" pitchFamily="49" charset="0"/>
                <a:ea typeface="仿宋" pitchFamily="49" charset="-122"/>
              </a:rPr>
              <a:t>t</a:t>
            </a:r>
            <a:r>
              <a:rPr lang="en-US" altLang="zh-CN" i="1" baseline="-25000">
                <a:solidFill>
                  <a:srgbClr val="0000FF"/>
                </a:solidFill>
                <a:latin typeface="Consolas" pitchFamily="49" charset="0"/>
                <a:ea typeface="仿宋" pitchFamily="49" charset="-122"/>
              </a:rPr>
              <a:t>j</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J</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为机器</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分配的作业集合，则机器</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的执行时间长度</a:t>
            </a: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，整个工期是所有机器的最大加工时间即</a:t>
            </a:r>
            <a:r>
              <a:rPr lang="en-US" altLang="zh-CN">
                <a:solidFill>
                  <a:srgbClr val="0000FF"/>
                </a:solidFill>
                <a:latin typeface="Consolas" pitchFamily="49" charset="0"/>
                <a:ea typeface="仿宋" pitchFamily="49" charset="-122"/>
              </a:rPr>
              <a:t>max</a:t>
            </a:r>
            <a:r>
              <a:rPr lang="en-US" altLang="zh-CN" baseline="-25000">
                <a:solidFill>
                  <a:srgbClr val="0000FF"/>
                </a:solidFill>
                <a:latin typeface="Consolas" pitchFamily="49" charset="0"/>
                <a:ea typeface="仿宋" pitchFamily="49" charset="-122"/>
              </a:rPr>
              <a:t>0</a:t>
            </a:r>
            <a:r>
              <a:rPr lang="zh-CN" altLang="zh-CN" baseline="-25000">
                <a:solidFill>
                  <a:srgbClr val="0000FF"/>
                </a:solidFill>
                <a:latin typeface="+mj-ea"/>
                <a:ea typeface="+mj-ea"/>
              </a:rPr>
              <a:t>≤</a:t>
            </a:r>
            <a:r>
              <a:rPr lang="en-US" altLang="zh-CN" i="1" baseline="-25000">
                <a:solidFill>
                  <a:srgbClr val="0000FF"/>
                </a:solidFill>
                <a:latin typeface="Consolas" pitchFamily="49" charset="0"/>
                <a:ea typeface="仿宋" pitchFamily="49" charset="-122"/>
              </a:rPr>
              <a:t>j</a:t>
            </a:r>
            <a:r>
              <a:rPr lang="en-US" altLang="zh-CN" baseline="-25000">
                <a:solidFill>
                  <a:srgbClr val="0000FF"/>
                </a:solidFill>
                <a:latin typeface="Consolas" pitchFamily="49" charset="0"/>
                <a:ea typeface="仿宋" pitchFamily="49" charset="-122"/>
              </a:rPr>
              <a:t>&lt;</a:t>
            </a:r>
            <a:r>
              <a:rPr lang="en-US" altLang="zh-CN" i="1" baseline="-25000">
                <a:solidFill>
                  <a:srgbClr val="0000FF"/>
                </a:solidFill>
                <a:latin typeface="Consolas" pitchFamily="49" charset="0"/>
                <a:ea typeface="仿宋" pitchFamily="49" charset="-122"/>
              </a:rPr>
              <a:t>m</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L</a:t>
            </a:r>
            <a:r>
              <a:rPr lang="en-US" altLang="zh-CN" i="1" baseline="-25000">
                <a:solidFill>
                  <a:srgbClr val="0000FF"/>
                </a:solidFill>
                <a:latin typeface="Consolas" pitchFamily="49" charset="0"/>
                <a:ea typeface="仿宋" pitchFamily="49" charset="-122"/>
              </a:rPr>
              <a:t>j</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a:t>
            </a:r>
          </a:p>
          <a:p>
            <a:pPr marL="457200" indent="-457200" algn="l">
              <a:lnSpc>
                <a:spcPts val="4000"/>
              </a:lnSpc>
              <a:spcBef>
                <a:spcPts val="600"/>
              </a:spcBef>
              <a:buBlip>
                <a:blip r:embed="rId2"/>
              </a:buBlip>
            </a:pPr>
            <a:r>
              <a:rPr lang="zh-CN" altLang="zh-CN">
                <a:solidFill>
                  <a:srgbClr val="0000FF"/>
                </a:solidFill>
                <a:latin typeface="Consolas" pitchFamily="49" charset="0"/>
                <a:ea typeface="仿宋" pitchFamily="49" charset="-122"/>
              </a:rPr>
              <a:t>设最优工期为</a:t>
            </a:r>
            <a:r>
              <a:rPr lang="en-US" altLang="zh-CN" i="1">
                <a:solidFill>
                  <a:srgbClr val="0000FF"/>
                </a:solidFill>
                <a:latin typeface="Consolas" pitchFamily="49" charset="0"/>
                <a:ea typeface="仿宋" pitchFamily="49" charset="-122"/>
              </a:rPr>
              <a:t>L</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，加工全部作业的时间为</a:t>
            </a: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，即使</a:t>
            </a:r>
            <a:r>
              <a:rPr lang="en-US" altLang="zh-CN" i="1">
                <a:solidFill>
                  <a:srgbClr val="0000FF"/>
                </a:solidFill>
                <a:latin typeface="Consolas" pitchFamily="49" charset="0"/>
                <a:ea typeface="仿宋" pitchFamily="49" charset="-122"/>
              </a:rPr>
              <a:t>m</a:t>
            </a:r>
            <a:r>
              <a:rPr lang="zh-CN" altLang="zh-CN">
                <a:solidFill>
                  <a:srgbClr val="0000FF"/>
                </a:solidFill>
                <a:latin typeface="Consolas" pitchFamily="49" charset="0"/>
                <a:ea typeface="仿宋" pitchFamily="49" charset="-122"/>
              </a:rPr>
              <a:t>台机器平均分配这些作业，每台机器的加工总时间至少为</a:t>
            </a:r>
            <a:r>
              <a:rPr lang="en-US" altLang="zh-CN">
                <a:solidFill>
                  <a:srgbClr val="0000FF"/>
                </a:solidFill>
                <a:latin typeface="Consolas" pitchFamily="49" charset="0"/>
                <a:ea typeface="仿宋" pitchFamily="49" charset="-122"/>
              </a:rPr>
              <a:t>        </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4000"/>
              </a:lnSpc>
              <a:spcBef>
                <a:spcPts val="600"/>
              </a:spcBef>
              <a:buBlip>
                <a:blip r:embed="rId2"/>
              </a:buBlip>
            </a:pPr>
            <a:r>
              <a:rPr lang="zh-CN" altLang="zh-CN">
                <a:solidFill>
                  <a:srgbClr val="0000FF"/>
                </a:solidFill>
                <a:latin typeface="Consolas" pitchFamily="49" charset="0"/>
                <a:ea typeface="仿宋" pitchFamily="49" charset="-122"/>
              </a:rPr>
              <a:t>所以最优工期为</a:t>
            </a:r>
            <a:r>
              <a:rPr lang="en-US" altLang="zh-CN">
                <a:solidFill>
                  <a:srgbClr val="0000FF"/>
                </a:solidFill>
                <a:latin typeface="Consolas" pitchFamily="49" charset="0"/>
                <a:ea typeface="仿宋" pitchFamily="49" charset="-122"/>
              </a:rPr>
              <a:t>           </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p:txBody>
      </p:sp>
      <p:pic>
        <p:nvPicPr>
          <p:cNvPr id="19457" name="Picture 1"/>
          <p:cNvPicPr>
            <a:picLocks noChangeAspect="1" noChangeArrowheads="1"/>
          </p:cNvPicPr>
          <p:nvPr/>
        </p:nvPicPr>
        <p:blipFill>
          <a:blip r:embed="rId3" cstate="print"/>
          <a:srcRect/>
          <a:stretch>
            <a:fillRect/>
          </a:stretch>
        </p:blipFill>
        <p:spPr bwMode="auto">
          <a:xfrm>
            <a:off x="6426811" y="2067974"/>
            <a:ext cx="1634362" cy="500066"/>
          </a:xfrm>
          <a:prstGeom prst="rect">
            <a:avLst/>
          </a:prstGeom>
          <a:noFill/>
          <a:ln w="9525">
            <a:noFill/>
            <a:miter lim="800000"/>
            <a:headEnd/>
            <a:tailEnd/>
          </a:ln>
        </p:spPr>
      </p:pic>
      <p:pic>
        <p:nvPicPr>
          <p:cNvPr id="9" name="Picture 2"/>
          <p:cNvPicPr>
            <a:picLocks noChangeAspect="1" noChangeArrowheads="1"/>
          </p:cNvPicPr>
          <p:nvPr/>
        </p:nvPicPr>
        <p:blipFill>
          <a:blip r:embed="rId4" cstate="print"/>
          <a:srcRect/>
          <a:stretch>
            <a:fillRect/>
          </a:stretch>
        </p:blipFill>
        <p:spPr bwMode="auto">
          <a:xfrm>
            <a:off x="3143240" y="4714884"/>
            <a:ext cx="1714512" cy="571504"/>
          </a:xfrm>
          <a:prstGeom prst="rect">
            <a:avLst/>
          </a:prstGeom>
          <a:noFill/>
          <a:ln w="9525">
            <a:noFill/>
            <a:miter lim="800000"/>
            <a:headEnd/>
            <a:tailEnd/>
          </a:ln>
        </p:spPr>
      </p:pic>
      <p:sp>
        <p:nvSpPr>
          <p:cNvPr id="921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12" name="Picture 3"/>
          <p:cNvPicPr>
            <a:picLocks noChangeAspect="1" noChangeArrowheads="1"/>
          </p:cNvPicPr>
          <p:nvPr/>
        </p:nvPicPr>
        <p:blipFill>
          <a:blip r:embed="rId5" cstate="print"/>
          <a:srcRect/>
          <a:stretch>
            <a:fillRect/>
          </a:stretch>
        </p:blipFill>
        <p:spPr bwMode="auto">
          <a:xfrm>
            <a:off x="1357290" y="4129096"/>
            <a:ext cx="1123950" cy="514350"/>
          </a:xfrm>
          <a:prstGeom prst="rect">
            <a:avLst/>
          </a:prstGeom>
          <a:noFill/>
          <a:ln w="9525">
            <a:noFill/>
            <a:miter lim="800000"/>
            <a:headEnd/>
            <a:tailEnd/>
          </a:ln>
        </p:spPr>
      </p:pic>
      <p:pic>
        <p:nvPicPr>
          <p:cNvPr id="9220" name="Picture 4"/>
          <p:cNvPicPr>
            <a:picLocks noChangeAspect="1" noChangeArrowheads="1"/>
          </p:cNvPicPr>
          <p:nvPr/>
        </p:nvPicPr>
        <p:blipFill>
          <a:blip r:embed="rId6" cstate="print"/>
          <a:srcRect/>
          <a:stretch>
            <a:fillRect/>
          </a:stretch>
        </p:blipFill>
        <p:spPr bwMode="auto">
          <a:xfrm>
            <a:off x="6572264" y="3143248"/>
            <a:ext cx="866775" cy="428625"/>
          </a:xfrm>
          <a:prstGeom prst="rect">
            <a:avLst/>
          </a:prstGeom>
          <a:noFill/>
          <a:ln w="9525">
            <a:noFill/>
            <a:miter lim="800000"/>
            <a:headEnd/>
            <a:tailEnd/>
          </a:ln>
        </p:spPr>
      </p:pic>
      <p:sp>
        <p:nvSpPr>
          <p:cNvPr id="11" name="灯片编号占位符 10"/>
          <p:cNvSpPr>
            <a:spLocks noGrp="1"/>
          </p:cNvSpPr>
          <p:nvPr>
            <p:ph type="sldNum" sz="quarter" idx="12"/>
          </p:nvPr>
        </p:nvSpPr>
        <p:spPr/>
        <p:txBody>
          <a:bodyPr/>
          <a:lstStyle/>
          <a:p>
            <a:fld id="{7AF016A1-9F15-429F-9EFD-84004B73C732}" type="slidenum">
              <a:rPr lang="en-US" altLang="zh-CN" smtClean="0"/>
              <a:pPr/>
              <a:t>49</a:t>
            </a:fld>
            <a:r>
              <a:rPr lang="en-US" altLang="zh-CN"/>
              <a:t>/75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9220"/>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nodeType="afterEffect">
                                  <p:stCondLst>
                                    <p:cond delay="0"/>
                                  </p:stCondLst>
                                  <p:childTnLst>
                                    <p:set>
                                      <p:cBhvr>
                                        <p:cTn id="19"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285720" y="571480"/>
            <a:ext cx="8715436" cy="4747453"/>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500"/>
              </a:lnSpc>
              <a:spcBef>
                <a:spcPts val="1200"/>
              </a:spcBef>
              <a:buBlip>
                <a:blip r:embed="rId2"/>
              </a:buBlip>
            </a:pPr>
            <a:r>
              <a:rPr lang="zh-CN" altLang="zh-CN">
                <a:solidFill>
                  <a:srgbClr val="0000FF"/>
                </a:solidFill>
                <a:latin typeface="Consolas" pitchFamily="49" charset="0"/>
                <a:ea typeface="仿宋" pitchFamily="49" charset="-122"/>
              </a:rPr>
              <a:t>假设上述贪心算法得到的工期为</a:t>
            </a:r>
            <a:r>
              <a:rPr lang="en-US" altLang="zh-CN" i="1">
                <a:solidFill>
                  <a:srgbClr val="0000FF"/>
                </a:solidFill>
                <a:latin typeface="Consolas" pitchFamily="49" charset="0"/>
                <a:ea typeface="仿宋" pitchFamily="49" charset="-122"/>
              </a:rPr>
              <a:t>L</a:t>
            </a:r>
            <a:r>
              <a:rPr lang="zh-CN" altLang="zh-CN">
                <a:solidFill>
                  <a:srgbClr val="0000FF"/>
                </a:solidFill>
                <a:latin typeface="Consolas" pitchFamily="49" charset="0"/>
                <a:ea typeface="仿宋" pitchFamily="49" charset="-122"/>
              </a:rPr>
              <a:t>，最后一步是将任务</a:t>
            </a:r>
            <a:r>
              <a:rPr lang="en-US" altLang="zh-CN" i="1">
                <a:solidFill>
                  <a:srgbClr val="0000FF"/>
                </a:solidFill>
                <a:latin typeface="Consolas" pitchFamily="49" charset="0"/>
                <a:ea typeface="仿宋" pitchFamily="49" charset="-122"/>
              </a:rPr>
              <a:t>j</a:t>
            </a:r>
            <a:r>
              <a:rPr lang="zh-CN" altLang="zh-CN">
                <a:solidFill>
                  <a:srgbClr val="0000FF"/>
                </a:solidFill>
                <a:latin typeface="Consolas" pitchFamily="49" charset="0"/>
                <a:ea typeface="仿宋" pitchFamily="49" charset="-122"/>
              </a:rPr>
              <a:t>分配给机器</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加工，则</a:t>
            </a:r>
            <a:r>
              <a:rPr lang="en-US" altLang="zh-CN" i="1">
                <a:solidFill>
                  <a:srgbClr val="0000FF"/>
                </a:solidFill>
                <a:latin typeface="Consolas" pitchFamily="49" charset="0"/>
                <a:ea typeface="仿宋" pitchFamily="49" charset="-122"/>
              </a:rPr>
              <a:t>L</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L</a:t>
            </a:r>
            <a:r>
              <a:rPr lang="en-US" altLang="zh-CN" i="1" baseline="-25000">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a:t>
            </a:r>
            <a:r>
              <a:rPr lang="zh-CN" altLang="en-US">
                <a:solidFill>
                  <a:srgbClr val="0000FF"/>
                </a:solidFill>
                <a:latin typeface="Consolas" pitchFamily="49" charset="0"/>
                <a:ea typeface="仿宋" pitchFamily="49" charset="-122"/>
              </a:rPr>
              <a:t>这样</a:t>
            </a:r>
            <a:r>
              <a:rPr lang="zh-CN" altLang="zh-CN">
                <a:solidFill>
                  <a:srgbClr val="0000FF"/>
                </a:solidFill>
                <a:latin typeface="Consolas" pitchFamily="49" charset="0"/>
                <a:ea typeface="仿宋" pitchFamily="49" charset="-122"/>
              </a:rPr>
              <a:t>说明在此之前机器</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的加工总时间最小</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500"/>
              </a:lnSpc>
              <a:spcBef>
                <a:spcPts val="1200"/>
              </a:spcBef>
              <a:buBlip>
                <a:blip r:embed="rId2"/>
              </a:buBlip>
            </a:pPr>
            <a:r>
              <a:rPr lang="zh-CN" altLang="zh-CN">
                <a:solidFill>
                  <a:srgbClr val="0000FF"/>
                </a:solidFill>
                <a:latin typeface="Consolas" pitchFamily="49" charset="0"/>
                <a:ea typeface="仿宋" pitchFamily="49" charset="-122"/>
              </a:rPr>
              <a:t>而在分配作业</a:t>
            </a:r>
            <a:r>
              <a:rPr lang="en-US" altLang="zh-CN" i="1">
                <a:solidFill>
                  <a:srgbClr val="0000FF"/>
                </a:solidFill>
                <a:latin typeface="Consolas" pitchFamily="49" charset="0"/>
                <a:ea typeface="仿宋" pitchFamily="49" charset="-122"/>
              </a:rPr>
              <a:t>j</a:t>
            </a:r>
            <a:r>
              <a:rPr lang="zh-CN" altLang="zh-CN">
                <a:solidFill>
                  <a:srgbClr val="0000FF"/>
                </a:solidFill>
                <a:latin typeface="Consolas" pitchFamily="49" charset="0"/>
                <a:ea typeface="仿宋" pitchFamily="49" charset="-122"/>
              </a:rPr>
              <a:t>之前机器</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的加工总时间为</a:t>
            </a:r>
            <a:r>
              <a:rPr lang="en-US" altLang="zh-CN" i="1">
                <a:solidFill>
                  <a:srgbClr val="0000FF"/>
                </a:solidFill>
                <a:latin typeface="Consolas" pitchFamily="49" charset="0"/>
                <a:ea typeface="仿宋" pitchFamily="49" charset="-122"/>
              </a:rPr>
              <a:t>L</a:t>
            </a:r>
            <a:r>
              <a:rPr lang="en-US" altLang="zh-CN" i="1" baseline="-25000">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t</a:t>
            </a:r>
            <a:r>
              <a:rPr lang="en-US" altLang="zh-CN" i="1" baseline="-25000">
                <a:solidFill>
                  <a:srgbClr val="0000FF"/>
                </a:solidFill>
                <a:latin typeface="Consolas" pitchFamily="49" charset="0"/>
                <a:ea typeface="仿宋" pitchFamily="49" charset="-122"/>
              </a:rPr>
              <a:t>j</a:t>
            </a:r>
            <a:r>
              <a:rPr lang="zh-CN" altLang="zh-CN">
                <a:solidFill>
                  <a:srgbClr val="0000FF"/>
                </a:solidFill>
                <a:latin typeface="Consolas" pitchFamily="49" charset="0"/>
                <a:ea typeface="仿宋" pitchFamily="49" charset="-122"/>
              </a:rPr>
              <a:t>，所以有</a:t>
            </a:r>
            <a:r>
              <a:rPr lang="en-US" altLang="zh-CN" i="1">
                <a:solidFill>
                  <a:srgbClr val="0000FF"/>
                </a:solidFill>
                <a:latin typeface="Consolas" pitchFamily="49" charset="0"/>
                <a:ea typeface="仿宋" pitchFamily="49" charset="-122"/>
              </a:rPr>
              <a:t>L</a:t>
            </a:r>
            <a:r>
              <a:rPr lang="en-US" altLang="zh-CN" i="1" baseline="-25000">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t</a:t>
            </a:r>
            <a:r>
              <a:rPr lang="en-US" altLang="zh-CN" i="1" baseline="-25000">
                <a:solidFill>
                  <a:srgbClr val="0000FF"/>
                </a:solidFill>
                <a:latin typeface="Consolas" pitchFamily="49" charset="0"/>
                <a:ea typeface="仿宋" pitchFamily="49" charset="-122"/>
              </a:rPr>
              <a:t>j</a:t>
            </a:r>
            <a:r>
              <a:rPr lang="zh-CN" altLang="zh-CN">
                <a:solidFill>
                  <a:srgbClr val="0000FF"/>
                </a:solidFill>
                <a:latin typeface="+mj-ea"/>
                <a:ea typeface="+mj-ea"/>
              </a:rPr>
              <a:t>≤</a:t>
            </a:r>
            <a:r>
              <a:rPr lang="en-US" altLang="zh-CN" i="1">
                <a:solidFill>
                  <a:srgbClr val="0000FF"/>
                </a:solidFill>
                <a:latin typeface="Consolas" pitchFamily="49" charset="0"/>
                <a:ea typeface="仿宋" pitchFamily="49" charset="-122"/>
              </a:rPr>
              <a:t>L</a:t>
            </a:r>
            <a:r>
              <a:rPr lang="en-US" altLang="zh-CN" i="1" baseline="-25000">
                <a:solidFill>
                  <a:srgbClr val="0000FF"/>
                </a:solidFill>
                <a:latin typeface="Consolas" pitchFamily="49" charset="0"/>
                <a:ea typeface="仿宋" pitchFamily="49" charset="-122"/>
              </a:rPr>
              <a:t>k</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0</a:t>
            </a:r>
            <a:r>
              <a:rPr lang="zh-CN" altLang="zh-CN">
                <a:solidFill>
                  <a:srgbClr val="0000FF"/>
                </a:solidFill>
                <a:latin typeface="+mj-ea"/>
                <a:ea typeface="+mj-ea"/>
              </a:rPr>
              <a:t>≤</a:t>
            </a:r>
            <a:r>
              <a:rPr lang="en-US" altLang="zh-CN" i="1">
                <a:solidFill>
                  <a:srgbClr val="0000FF"/>
                </a:solidFill>
                <a:latin typeface="Consolas" pitchFamily="49" charset="0"/>
                <a:ea typeface="仿宋" pitchFamily="49" charset="-122"/>
              </a:rPr>
              <a:t>k</a:t>
            </a:r>
            <a:r>
              <a:rPr lang="en-US" altLang="zh-CN">
                <a:solidFill>
                  <a:srgbClr val="0000FF"/>
                </a:solidFill>
                <a:latin typeface="Consolas" pitchFamily="49" charset="0"/>
                <a:ea typeface="仿宋" pitchFamily="49" charset="-122"/>
              </a:rPr>
              <a:t>&lt;</a:t>
            </a:r>
            <a:r>
              <a:rPr lang="en-US" altLang="zh-CN" i="1">
                <a:solidFill>
                  <a:srgbClr val="0000FF"/>
                </a:solidFill>
                <a:latin typeface="Consolas" pitchFamily="49" charset="0"/>
                <a:ea typeface="仿宋" pitchFamily="49" charset="-122"/>
              </a:rPr>
              <a:t>m</a:t>
            </a:r>
            <a:r>
              <a:rPr lang="zh-CN" altLang="zh-CN">
                <a:solidFill>
                  <a:srgbClr val="0000FF"/>
                </a:solidFill>
                <a:latin typeface="Consolas" pitchFamily="49" charset="0"/>
                <a:ea typeface="仿宋" pitchFamily="49" charset="-122"/>
              </a:rPr>
              <a:t>），即</a:t>
            </a:r>
            <a:r>
              <a:rPr lang="en-US" altLang="zh-CN" i="1">
                <a:solidFill>
                  <a:srgbClr val="0000FF"/>
                </a:solidFill>
                <a:latin typeface="Consolas" pitchFamily="49" charset="0"/>
                <a:ea typeface="仿宋" pitchFamily="49" charset="-122"/>
              </a:rPr>
              <a:t>m</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L</a:t>
            </a:r>
            <a:r>
              <a:rPr lang="en-US" altLang="zh-CN" i="1" baseline="-25000">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t</a:t>
            </a:r>
            <a:r>
              <a:rPr lang="en-US" altLang="zh-CN" i="1" baseline="-25000">
                <a:solidFill>
                  <a:srgbClr val="0000FF"/>
                </a:solidFill>
                <a:latin typeface="Consolas" pitchFamily="49" charset="0"/>
                <a:ea typeface="仿宋" pitchFamily="49" charset="-122"/>
              </a:rPr>
              <a:t>j</a:t>
            </a:r>
            <a:r>
              <a:rPr lang="en-US" altLang="zh-CN">
                <a:solidFill>
                  <a:srgbClr val="0000FF"/>
                </a:solidFill>
                <a:latin typeface="Consolas" pitchFamily="49" charset="0"/>
                <a:ea typeface="仿宋" pitchFamily="49" charset="-122"/>
              </a:rPr>
              <a:t>)</a:t>
            </a:r>
            <a:r>
              <a:rPr lang="zh-CN" altLang="zh-CN">
                <a:solidFill>
                  <a:srgbClr val="0000FF"/>
                </a:solidFill>
                <a:latin typeface="+mj-ea"/>
                <a:ea typeface="+mj-ea"/>
              </a:rPr>
              <a:t>≤</a:t>
            </a:r>
            <a:r>
              <a:rPr lang="en-US" altLang="zh-CN" i="1">
                <a:solidFill>
                  <a:srgbClr val="0000FF"/>
                </a:solidFill>
                <a:latin typeface="Consolas" pitchFamily="49" charset="0"/>
                <a:ea typeface="仿宋" pitchFamily="49" charset="-122"/>
              </a:rPr>
              <a:t>L</a:t>
            </a:r>
            <a:r>
              <a:rPr lang="en-US" altLang="zh-CN" baseline="-25000">
                <a:solidFill>
                  <a:srgbClr val="0000FF"/>
                </a:solidFill>
                <a:latin typeface="Consolas" pitchFamily="49" charset="0"/>
                <a:ea typeface="仿宋" pitchFamily="49" charset="-122"/>
              </a:rPr>
              <a:t>0</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L</a:t>
            </a:r>
            <a:r>
              <a:rPr lang="en-US" altLang="zh-CN" baseline="-25000">
                <a:solidFill>
                  <a:srgbClr val="0000FF"/>
                </a:solidFill>
                <a:latin typeface="Consolas" pitchFamily="49" charset="0"/>
                <a:ea typeface="仿宋" pitchFamily="49" charset="-122"/>
              </a:rPr>
              <a:t>1</a:t>
            </a:r>
            <a:r>
              <a:rPr lang="en-US" altLang="zh-CN">
                <a:solidFill>
                  <a:srgbClr val="0000FF"/>
                </a:solidFill>
                <a:latin typeface="Consolas" pitchFamily="49" charset="0"/>
                <a:ea typeface="仿宋" pitchFamily="49" charset="-122"/>
              </a:rPr>
              <a:t>+</a:t>
            </a:r>
            <a:r>
              <a:rPr lang="zh-CN" altLang="zh-CN">
                <a:solidFill>
                  <a:srgbClr val="0000FF"/>
                </a:solidFill>
                <a:latin typeface="+mj-ea"/>
                <a:ea typeface="+mj-ea"/>
              </a:rPr>
              <a:t>…</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L</a:t>
            </a:r>
            <a:r>
              <a:rPr lang="en-US" altLang="zh-CN" i="1" baseline="-25000">
                <a:solidFill>
                  <a:srgbClr val="0000FF"/>
                </a:solidFill>
                <a:latin typeface="Consolas" pitchFamily="49" charset="0"/>
                <a:ea typeface="仿宋" pitchFamily="49" charset="-122"/>
              </a:rPr>
              <a:t>m</a:t>
            </a:r>
            <a:r>
              <a:rPr lang="en-US" altLang="zh-CN" baseline="-25000">
                <a:solidFill>
                  <a:srgbClr val="0000FF"/>
                </a:solidFill>
                <a:latin typeface="Consolas" pitchFamily="49" charset="0"/>
                <a:ea typeface="仿宋" pitchFamily="49" charset="-122"/>
              </a:rPr>
              <a:t>-1</a:t>
            </a:r>
            <a:r>
              <a:rPr lang="en-US" altLang="zh-CN">
                <a:solidFill>
                  <a:srgbClr val="0000FF"/>
                </a:solidFill>
                <a:latin typeface="Consolas" pitchFamily="49" charset="0"/>
                <a:ea typeface="仿宋" pitchFamily="49" charset="-122"/>
              </a:rPr>
              <a:t>=      </a:t>
            </a:r>
            <a:r>
              <a:rPr lang="zh-CN" altLang="en-US">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 </a:t>
            </a:r>
          </a:p>
          <a:p>
            <a:pPr marL="457200" indent="-457200" algn="l">
              <a:lnSpc>
                <a:spcPts val="3500"/>
              </a:lnSpc>
              <a:spcBef>
                <a:spcPts val="1200"/>
              </a:spcBef>
              <a:buBlip>
                <a:blip r:embed="rId2"/>
              </a:buBlip>
            </a:pPr>
            <a:r>
              <a:rPr lang="zh-CN" altLang="zh-CN">
                <a:solidFill>
                  <a:srgbClr val="0000FF"/>
                </a:solidFill>
                <a:latin typeface="Consolas" pitchFamily="49" charset="0"/>
                <a:ea typeface="仿宋" pitchFamily="49" charset="-122"/>
              </a:rPr>
              <a:t>这样得到</a:t>
            </a: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，也就是说</a:t>
            </a:r>
            <a:endParaRPr lang="en-US" altLang="zh-CN">
              <a:solidFill>
                <a:srgbClr val="0000FF"/>
              </a:solidFill>
              <a:latin typeface="Consolas" pitchFamily="49" charset="0"/>
              <a:ea typeface="仿宋" pitchFamily="49" charset="-122"/>
            </a:endParaRPr>
          </a:p>
          <a:p>
            <a:pPr marL="457200" indent="-457200" algn="l">
              <a:lnSpc>
                <a:spcPts val="3500"/>
              </a:lnSpc>
              <a:spcBef>
                <a:spcPts val="1200"/>
              </a:spcBef>
              <a:buBlip>
                <a:blip r:embed="rId2"/>
              </a:buBlip>
            </a:pPr>
            <a:endParaRPr lang="en-US" altLang="zh-CN">
              <a:solidFill>
                <a:srgbClr val="0000FF"/>
              </a:solidFill>
              <a:latin typeface="Consolas" pitchFamily="49" charset="0"/>
              <a:ea typeface="仿宋" pitchFamily="49" charset="-122"/>
            </a:endParaRPr>
          </a:p>
          <a:p>
            <a:pPr marL="457200" indent="-457200" algn="l">
              <a:lnSpc>
                <a:spcPts val="3500"/>
              </a:lnSpc>
              <a:spcBef>
                <a:spcPts val="1200"/>
              </a:spcBef>
              <a:buBlip>
                <a:blip r:embed="rId2"/>
              </a:buBlip>
            </a:pPr>
            <a:r>
              <a:rPr lang="zh-CN" altLang="zh-CN">
                <a:solidFill>
                  <a:srgbClr val="0000FF"/>
                </a:solidFill>
                <a:latin typeface="Consolas" pitchFamily="49" charset="0"/>
                <a:ea typeface="仿宋" pitchFamily="49" charset="-122"/>
              </a:rPr>
              <a:t>而</a:t>
            </a:r>
            <a:r>
              <a:rPr lang="en-US" altLang="zh-CN" i="1">
                <a:solidFill>
                  <a:srgbClr val="0000FF"/>
                </a:solidFill>
                <a:latin typeface="Consolas" pitchFamily="49" charset="0"/>
                <a:ea typeface="仿宋" pitchFamily="49" charset="-122"/>
              </a:rPr>
              <a:t>L</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L</a:t>
            </a:r>
            <a:r>
              <a:rPr lang="en-US" altLang="zh-CN" i="1" baseline="-25000">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，所以</a:t>
            </a:r>
            <a:r>
              <a:rPr lang="en-US" altLang="zh-CN" i="1">
                <a:solidFill>
                  <a:srgbClr val="0000FF"/>
                </a:solidFill>
                <a:latin typeface="Consolas" pitchFamily="49" charset="0"/>
                <a:ea typeface="仿宋" pitchFamily="49" charset="-122"/>
              </a:rPr>
              <a:t>L</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L</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L</a:t>
            </a:r>
            <a:r>
              <a:rPr lang="en-US" altLang="zh-CN" i="1" baseline="-25000">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L</a:t>
            </a:r>
            <a:r>
              <a:rPr lang="en-US" altLang="zh-CN">
                <a:solidFill>
                  <a:srgbClr val="0000FF"/>
                </a:solidFill>
                <a:latin typeface="Consolas" pitchFamily="49" charset="0"/>
                <a:ea typeface="仿宋" pitchFamily="49" charset="-122"/>
              </a:rPr>
              <a:t>*</a:t>
            </a:r>
            <a:r>
              <a:rPr lang="zh-CN" altLang="zh-CN">
                <a:solidFill>
                  <a:srgbClr val="0000FF"/>
                </a:solidFill>
                <a:latin typeface="+mn-ea"/>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，即η</a:t>
            </a:r>
            <a:r>
              <a:rPr lang="zh-CN" altLang="zh-CN">
                <a:solidFill>
                  <a:srgbClr val="0000FF"/>
                </a:solidFill>
                <a:latin typeface="+mj-ea"/>
                <a:ea typeface="+mj-ea"/>
              </a:rPr>
              <a:t>≤</a:t>
            </a:r>
            <a:r>
              <a:rPr lang="en-US" altLang="zh-CN">
                <a:solidFill>
                  <a:srgbClr val="0000FF"/>
                </a:solidFill>
                <a:latin typeface="Consolas" pitchFamily="49" charset="0"/>
                <a:ea typeface="仿宋" pitchFamily="49" charset="-122"/>
              </a:rPr>
              <a:t>C=2</a:t>
            </a:r>
            <a:r>
              <a:rPr lang="zh-CN" altLang="zh-CN">
                <a:solidFill>
                  <a:srgbClr val="0000FF"/>
                </a:solidFill>
                <a:latin typeface="Consolas" pitchFamily="49" charset="0"/>
                <a:ea typeface="仿宋" pitchFamily="49" charset="-122"/>
              </a:rPr>
              <a:t>，即本近似算法的近似性能比为</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pic>
        <p:nvPicPr>
          <p:cNvPr id="18433" name="Picture 1"/>
          <p:cNvPicPr>
            <a:picLocks noChangeAspect="1" noChangeArrowheads="1"/>
          </p:cNvPicPr>
          <p:nvPr/>
        </p:nvPicPr>
        <p:blipFill>
          <a:blip r:embed="rId3" cstate="print"/>
          <a:srcRect/>
          <a:stretch>
            <a:fillRect/>
          </a:stretch>
        </p:blipFill>
        <p:spPr bwMode="auto">
          <a:xfrm>
            <a:off x="7500958" y="2571744"/>
            <a:ext cx="1238259" cy="500066"/>
          </a:xfrm>
          <a:prstGeom prst="rect">
            <a:avLst/>
          </a:prstGeom>
          <a:noFill/>
          <a:ln w="9525">
            <a:noFill/>
            <a:miter lim="800000"/>
            <a:headEnd/>
            <a:tailEnd/>
          </a:ln>
        </p:spPr>
      </p:pic>
      <p:pic>
        <p:nvPicPr>
          <p:cNvPr id="18434" name="Picture 2"/>
          <p:cNvPicPr>
            <a:picLocks noChangeAspect="1" noChangeArrowheads="1"/>
          </p:cNvPicPr>
          <p:nvPr/>
        </p:nvPicPr>
        <p:blipFill>
          <a:blip r:embed="rId4" cstate="print"/>
          <a:srcRect/>
          <a:stretch>
            <a:fillRect/>
          </a:stretch>
        </p:blipFill>
        <p:spPr bwMode="auto">
          <a:xfrm>
            <a:off x="2071670" y="3071810"/>
            <a:ext cx="4023388" cy="571504"/>
          </a:xfrm>
          <a:prstGeom prst="rect">
            <a:avLst/>
          </a:prstGeom>
          <a:noFill/>
          <a:ln w="9525">
            <a:noFill/>
            <a:miter lim="800000"/>
            <a:headEnd/>
            <a:tailEnd/>
          </a:ln>
        </p:spPr>
      </p:pic>
      <p:sp>
        <p:nvSpPr>
          <p:cNvPr id="8" name="灯片编号占位符 7"/>
          <p:cNvSpPr>
            <a:spLocks noGrp="1"/>
          </p:cNvSpPr>
          <p:nvPr>
            <p:ph type="sldNum" sz="quarter" idx="12"/>
          </p:nvPr>
        </p:nvSpPr>
        <p:spPr/>
        <p:txBody>
          <a:bodyPr/>
          <a:lstStyle/>
          <a:p>
            <a:fld id="{7AF016A1-9F15-429F-9EFD-84004B73C732}" type="slidenum">
              <a:rPr lang="en-US" altLang="zh-CN" smtClean="0"/>
              <a:pPr/>
              <a:t>50</a:t>
            </a:fld>
            <a:r>
              <a:rPr lang="en-US" altLang="zh-CN"/>
              <a:t>/75</a:t>
            </a:r>
          </a:p>
        </p:txBody>
      </p:sp>
      <p:pic>
        <p:nvPicPr>
          <p:cNvPr id="10" name="Picture 1"/>
          <p:cNvPicPr>
            <a:picLocks noChangeAspect="1" noChangeArrowheads="1"/>
          </p:cNvPicPr>
          <p:nvPr/>
        </p:nvPicPr>
        <p:blipFill>
          <a:blip r:embed="rId5" cstate="print"/>
          <a:srcRect/>
          <a:stretch>
            <a:fillRect/>
          </a:stretch>
        </p:blipFill>
        <p:spPr bwMode="auto">
          <a:xfrm>
            <a:off x="2928926" y="3714752"/>
            <a:ext cx="3891491" cy="428628"/>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18433"/>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4">
                                            <p:txEl>
                                              <p:pRg st="2" end="2"/>
                                            </p:txEl>
                                          </p:spTgt>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nodeType="afterEffect">
                                  <p:stCondLst>
                                    <p:cond delay="0"/>
                                  </p:stCondLst>
                                  <p:childTnLst>
                                    <p:set>
                                      <p:cBhvr>
                                        <p:cTn id="16" dur="1" fill="hold">
                                          <p:stCondLst>
                                            <p:cond delay="0"/>
                                          </p:stCondLst>
                                        </p:cTn>
                                        <p:tgtEl>
                                          <p:spTgt spid="18434"/>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nodeType="after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285720" y="500042"/>
            <a:ext cx="1285884"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a:solidFill>
                  <a:srgbClr val="FF0000"/>
                </a:solidFill>
                <a:latin typeface="Consolas" pitchFamily="49" charset="0"/>
                <a:ea typeface="微软雅黑" pitchFamily="34" charset="-122"/>
                <a:cs typeface="Consolas" pitchFamily="49" charset="0"/>
              </a:rPr>
              <a:t>解法</a:t>
            </a:r>
            <a:r>
              <a:rPr lang="en-US" altLang="zh-CN">
                <a:solidFill>
                  <a:srgbClr val="FF0000"/>
                </a:solidFill>
                <a:latin typeface="Consolas" pitchFamily="49" charset="0"/>
                <a:ea typeface="微软雅黑" pitchFamily="34" charset="-122"/>
                <a:cs typeface="Consolas" pitchFamily="49" charset="0"/>
              </a:rPr>
              <a:t>2</a:t>
            </a:r>
            <a:endParaRPr lang="zh-CN" altLang="en-US">
              <a:ln w="18415" cmpd="sng">
                <a:solidFill>
                  <a:srgbClr val="FFFFFF"/>
                </a:solidFill>
                <a:prstDash val="solid"/>
              </a:ln>
              <a:solidFill>
                <a:srgbClr val="FF0000"/>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endParaRPr>
          </a:p>
        </p:txBody>
      </p:sp>
      <p:sp>
        <p:nvSpPr>
          <p:cNvPr id="5" name="TextBox 4"/>
          <p:cNvSpPr txBox="1"/>
          <p:nvPr/>
        </p:nvSpPr>
        <p:spPr>
          <a:xfrm>
            <a:off x="428596" y="1357298"/>
            <a:ext cx="8001056" cy="1887696"/>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2"/>
              </a:buBlip>
            </a:pPr>
            <a:r>
              <a:rPr lang="zh-CN" altLang="zh-CN">
                <a:solidFill>
                  <a:srgbClr val="0000FF"/>
                </a:solidFill>
                <a:latin typeface="Consolas" pitchFamily="49" charset="0"/>
                <a:ea typeface="仿宋" pitchFamily="49" charset="-122"/>
              </a:rPr>
              <a:t>首先将</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个作业依其</a:t>
            </a:r>
            <a:r>
              <a:rPr lang="zh-CN" altLang="zh-CN">
                <a:solidFill>
                  <a:srgbClr val="FF0000"/>
                </a:solidFill>
                <a:latin typeface="Consolas" pitchFamily="49" charset="0"/>
                <a:ea typeface="仿宋" pitchFamily="49" charset="-122"/>
              </a:rPr>
              <a:t>加工时间递减排序</a:t>
            </a:r>
            <a:r>
              <a:rPr lang="zh-CN" altLang="zh-CN">
                <a:solidFill>
                  <a:srgbClr val="0000FF"/>
                </a:solidFill>
                <a:latin typeface="Consolas" pitchFamily="49" charset="0"/>
                <a:ea typeface="仿宋" pitchFamily="49" charset="-122"/>
              </a:rPr>
              <a:t>，然后依此顺序将</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个作业分配给加工总时间最小的机器。</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2"/>
              </a:buBlip>
            </a:pPr>
            <a:r>
              <a:rPr lang="zh-CN" altLang="zh-CN">
                <a:solidFill>
                  <a:srgbClr val="0000FF"/>
                </a:solidFill>
                <a:latin typeface="Consolas" pitchFamily="49" charset="0"/>
                <a:ea typeface="仿宋" pitchFamily="49" charset="-122"/>
              </a:rPr>
              <a:t>分配完毕求出所有机器的加工总时间的最大值</a:t>
            </a:r>
            <a:r>
              <a:rPr lang="en-US" altLang="zh-CN">
                <a:solidFill>
                  <a:srgbClr val="0000FF"/>
                </a:solidFill>
                <a:latin typeface="Consolas" pitchFamily="49" charset="0"/>
                <a:ea typeface="仿宋" pitchFamily="49" charset="-122"/>
              </a:rPr>
              <a:t>ans</a:t>
            </a:r>
            <a:r>
              <a:rPr lang="zh-CN" altLang="zh-CN">
                <a:solidFill>
                  <a:srgbClr val="0000FF"/>
                </a:solidFill>
                <a:latin typeface="Consolas" pitchFamily="49" charset="0"/>
                <a:ea typeface="仿宋" pitchFamily="49" charset="-122"/>
              </a:rPr>
              <a:t>即为最短工期。</a:t>
            </a: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51</a:t>
            </a:fld>
            <a:r>
              <a:rPr lang="en-US" altLang="zh-CN"/>
              <a:t>/75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TextBox 4"/>
          <p:cNvSpPr txBox="1"/>
          <p:nvPr/>
        </p:nvSpPr>
        <p:spPr>
          <a:xfrm>
            <a:off x="714348" y="1285860"/>
            <a:ext cx="8001056" cy="830997"/>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有</a:t>
            </a:r>
            <a:r>
              <a:rPr lang="en-US" altLang="zh-CN">
                <a:solidFill>
                  <a:srgbClr val="0000FF"/>
                </a:solidFill>
                <a:latin typeface="Consolas" pitchFamily="49" charset="0"/>
                <a:ea typeface="仿宋" pitchFamily="49" charset="-122"/>
              </a:rPr>
              <a:t>7</a:t>
            </a:r>
            <a:r>
              <a:rPr lang="zh-CN" altLang="zh-CN">
                <a:solidFill>
                  <a:srgbClr val="0000FF"/>
                </a:solidFill>
                <a:latin typeface="Consolas" pitchFamily="49" charset="0"/>
                <a:ea typeface="仿宋" pitchFamily="49" charset="-122"/>
              </a:rPr>
              <a:t>个独立的作业，由</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台机器加工，各作业所需的加工时间如表所示</a:t>
            </a:r>
            <a:r>
              <a:rPr lang="zh-CN" altLang="en-US">
                <a:solidFill>
                  <a:srgbClr val="0000FF"/>
                </a:solidFill>
                <a:latin typeface="Consolas" pitchFamily="49" charset="0"/>
                <a:ea typeface="仿宋" pitchFamily="49" charset="-122"/>
              </a:rPr>
              <a:t>，</a:t>
            </a:r>
            <a:r>
              <a:rPr lang="zh-CN" altLang="zh-CN">
                <a:solidFill>
                  <a:srgbClr val="0000FF"/>
                </a:solidFill>
                <a:latin typeface="仿宋" pitchFamily="49" charset="-122"/>
                <a:ea typeface="仿宋" pitchFamily="49" charset="-122"/>
              </a:rPr>
              <a:t>求最短工期</a:t>
            </a:r>
            <a:r>
              <a:rPr lang="zh-CN" altLang="en-US">
                <a:solidFill>
                  <a:srgbClr val="0000FF"/>
                </a:solidFill>
                <a:latin typeface="仿宋" pitchFamily="49" charset="-122"/>
                <a:ea typeface="仿宋" pitchFamily="49" charset="-122"/>
              </a:rPr>
              <a:t>。</a:t>
            </a:r>
            <a:endParaRPr lang="zh-CN" altLang="zh-CN">
              <a:solidFill>
                <a:srgbClr val="0000FF"/>
              </a:solidFill>
              <a:latin typeface="仿宋" pitchFamily="49" charset="-122"/>
              <a:ea typeface="仿宋" pitchFamily="49" charset="-122"/>
            </a:endParaRPr>
          </a:p>
        </p:txBody>
      </p:sp>
      <p:graphicFrame>
        <p:nvGraphicFramePr>
          <p:cNvPr id="6" name="表格 5"/>
          <p:cNvGraphicFramePr>
            <a:graphicFrameLocks noGrp="1"/>
          </p:cNvGraphicFramePr>
          <p:nvPr/>
        </p:nvGraphicFramePr>
        <p:xfrm>
          <a:off x="1357290" y="2500306"/>
          <a:ext cx="6429418" cy="928694"/>
        </p:xfrm>
        <a:graphic>
          <a:graphicData uri="http://schemas.openxmlformats.org/drawingml/2006/table">
            <a:tbl>
              <a:tblPr>
                <a:tableStyleId>{35758FB7-9AC5-4552-8A53-C91805E547FA}</a:tableStyleId>
              </a:tblPr>
              <a:tblGrid>
                <a:gridCol w="2106683">
                  <a:extLst>
                    <a:ext uri="{9D8B030D-6E8A-4147-A177-3AD203B41FA5}">
                      <a16:colId xmlns:a16="http://schemas.microsoft.com/office/drawing/2014/main" val="20000"/>
                    </a:ext>
                  </a:extLst>
                </a:gridCol>
                <a:gridCol w="536523">
                  <a:extLst>
                    <a:ext uri="{9D8B030D-6E8A-4147-A177-3AD203B41FA5}">
                      <a16:colId xmlns:a16="http://schemas.microsoft.com/office/drawing/2014/main" val="20001"/>
                    </a:ext>
                  </a:extLst>
                </a:gridCol>
                <a:gridCol w="857256">
                  <a:extLst>
                    <a:ext uri="{9D8B030D-6E8A-4147-A177-3AD203B41FA5}">
                      <a16:colId xmlns:a16="http://schemas.microsoft.com/office/drawing/2014/main" val="20002"/>
                    </a:ext>
                  </a:extLst>
                </a:gridCol>
                <a:gridCol w="571504">
                  <a:extLst>
                    <a:ext uri="{9D8B030D-6E8A-4147-A177-3AD203B41FA5}">
                      <a16:colId xmlns:a16="http://schemas.microsoft.com/office/drawing/2014/main" val="20003"/>
                    </a:ext>
                  </a:extLst>
                </a:gridCol>
                <a:gridCol w="642942">
                  <a:extLst>
                    <a:ext uri="{9D8B030D-6E8A-4147-A177-3AD203B41FA5}">
                      <a16:colId xmlns:a16="http://schemas.microsoft.com/office/drawing/2014/main" val="20004"/>
                    </a:ext>
                  </a:extLst>
                </a:gridCol>
                <a:gridCol w="620806">
                  <a:extLst>
                    <a:ext uri="{9D8B030D-6E8A-4147-A177-3AD203B41FA5}">
                      <a16:colId xmlns:a16="http://schemas.microsoft.com/office/drawing/2014/main" val="20005"/>
                    </a:ext>
                  </a:extLst>
                </a:gridCol>
                <a:gridCol w="546852">
                  <a:extLst>
                    <a:ext uri="{9D8B030D-6E8A-4147-A177-3AD203B41FA5}">
                      <a16:colId xmlns:a16="http://schemas.microsoft.com/office/drawing/2014/main" val="20006"/>
                    </a:ext>
                  </a:extLst>
                </a:gridCol>
                <a:gridCol w="546852">
                  <a:extLst>
                    <a:ext uri="{9D8B030D-6E8A-4147-A177-3AD203B41FA5}">
                      <a16:colId xmlns:a16="http://schemas.microsoft.com/office/drawing/2014/main" val="20007"/>
                    </a:ext>
                  </a:extLst>
                </a:gridCol>
              </a:tblGrid>
              <a:tr h="464347">
                <a:tc>
                  <a:txBody>
                    <a:bodyPr/>
                    <a:lstStyle/>
                    <a:p>
                      <a:pPr indent="0" algn="ctr">
                        <a:lnSpc>
                          <a:spcPts val="3000"/>
                        </a:lnSpc>
                        <a:spcAft>
                          <a:spcPts val="0"/>
                        </a:spcAft>
                      </a:pPr>
                      <a:r>
                        <a:rPr lang="zh-CN" sz="2000" kern="100">
                          <a:solidFill>
                            <a:srgbClr val="0000FF"/>
                          </a:solidFill>
                          <a:latin typeface="Consolas" pitchFamily="49" charset="0"/>
                          <a:ea typeface="仿宋" pitchFamily="49" charset="-122"/>
                        </a:rPr>
                        <a:t>作业编号</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chemeClr val="tx1"/>
                          </a:solidFill>
                          <a:latin typeface="Consolas" pitchFamily="49" charset="0"/>
                          <a:ea typeface="仿宋" pitchFamily="49" charset="-122"/>
                        </a:rPr>
                        <a:t>0</a:t>
                      </a:r>
                      <a:endParaRPr lang="zh-CN" sz="2000" kern="100">
                        <a:solidFill>
                          <a:schemeClr val="tx1"/>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chemeClr val="tx1"/>
                          </a:solidFill>
                          <a:latin typeface="Consolas" pitchFamily="49" charset="0"/>
                          <a:ea typeface="仿宋" pitchFamily="49" charset="-122"/>
                        </a:rPr>
                        <a:t>1</a:t>
                      </a:r>
                      <a:endParaRPr lang="zh-CN" sz="2000" kern="100">
                        <a:solidFill>
                          <a:schemeClr val="tx1"/>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chemeClr val="tx1"/>
                          </a:solidFill>
                          <a:latin typeface="Consolas" pitchFamily="49" charset="0"/>
                          <a:ea typeface="仿宋" pitchFamily="49" charset="-122"/>
                        </a:rPr>
                        <a:t>2</a:t>
                      </a:r>
                      <a:endParaRPr lang="zh-CN" sz="2000" kern="100">
                        <a:solidFill>
                          <a:schemeClr val="tx1"/>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chemeClr val="tx1"/>
                          </a:solidFill>
                          <a:latin typeface="Consolas" pitchFamily="49" charset="0"/>
                          <a:ea typeface="仿宋" pitchFamily="49" charset="-122"/>
                        </a:rPr>
                        <a:t>3</a:t>
                      </a:r>
                      <a:endParaRPr lang="zh-CN" sz="2000" kern="100">
                        <a:solidFill>
                          <a:schemeClr val="tx1"/>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chemeClr val="tx1"/>
                          </a:solidFill>
                          <a:latin typeface="Consolas" pitchFamily="49" charset="0"/>
                          <a:ea typeface="仿宋" pitchFamily="49" charset="-122"/>
                        </a:rPr>
                        <a:t>4</a:t>
                      </a:r>
                      <a:endParaRPr lang="zh-CN" sz="2000" kern="100">
                        <a:solidFill>
                          <a:schemeClr val="tx1"/>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chemeClr val="tx1"/>
                          </a:solidFill>
                          <a:latin typeface="Consolas" pitchFamily="49" charset="0"/>
                          <a:ea typeface="仿宋" pitchFamily="49" charset="-122"/>
                        </a:rPr>
                        <a:t>5</a:t>
                      </a:r>
                      <a:endParaRPr lang="zh-CN" sz="2000" kern="100">
                        <a:solidFill>
                          <a:schemeClr val="tx1"/>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chemeClr val="tx1"/>
                          </a:solidFill>
                          <a:latin typeface="Consolas" pitchFamily="49" charset="0"/>
                          <a:ea typeface="仿宋" pitchFamily="49" charset="-122"/>
                        </a:rPr>
                        <a:t>6</a:t>
                      </a:r>
                      <a:endParaRPr lang="zh-CN" sz="2000" kern="100">
                        <a:solidFill>
                          <a:schemeClr val="tx1"/>
                        </a:solidFill>
                        <a:latin typeface="Consolas" pitchFamily="49" charset="0"/>
                        <a:ea typeface="仿宋" pitchFamily="49" charset="-122"/>
                        <a:cs typeface="Times New Roman"/>
                      </a:endParaRPr>
                    </a:p>
                  </a:txBody>
                  <a:tcPr marL="68580" marR="68580" marT="0" marB="0">
                    <a:solidFill>
                      <a:schemeClr val="bg1">
                        <a:lumMod val="95000"/>
                      </a:schemeClr>
                    </a:solidFill>
                  </a:tcPr>
                </a:tc>
                <a:extLst>
                  <a:ext uri="{0D108BD9-81ED-4DB2-BD59-A6C34878D82A}">
                    <a16:rowId xmlns:a16="http://schemas.microsoft.com/office/drawing/2014/main" val="10000"/>
                  </a:ext>
                </a:extLst>
              </a:tr>
              <a:tr h="464347">
                <a:tc>
                  <a:txBody>
                    <a:bodyPr/>
                    <a:lstStyle/>
                    <a:p>
                      <a:pPr indent="0" algn="ctr">
                        <a:lnSpc>
                          <a:spcPts val="3000"/>
                        </a:lnSpc>
                        <a:spcAft>
                          <a:spcPts val="0"/>
                        </a:spcAft>
                      </a:pPr>
                      <a:r>
                        <a:rPr lang="zh-CN" sz="2000" kern="100">
                          <a:solidFill>
                            <a:srgbClr val="0000FF"/>
                          </a:solidFill>
                          <a:latin typeface="Consolas" pitchFamily="49" charset="0"/>
                          <a:ea typeface="仿宋" pitchFamily="49" charset="-122"/>
                        </a:rPr>
                        <a:t>作业的处理时间</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rgbClr val="0000FF"/>
                          </a:solidFill>
                          <a:latin typeface="Consolas" pitchFamily="49" charset="0"/>
                          <a:ea typeface="仿宋" pitchFamily="49" charset="-122"/>
                        </a:rPr>
                        <a:t>8</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rgbClr val="0000FF"/>
                          </a:solidFill>
                          <a:latin typeface="Consolas" pitchFamily="49" charset="0"/>
                          <a:ea typeface="仿宋" pitchFamily="49" charset="-122"/>
                        </a:rPr>
                        <a:t>14</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rgbClr val="0000FF"/>
                          </a:solidFill>
                          <a:latin typeface="Consolas" pitchFamily="49" charset="0"/>
                          <a:ea typeface="仿宋" pitchFamily="49" charset="-122"/>
                        </a:rPr>
                        <a:t>12</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rgbClr val="0000FF"/>
                          </a:solidFill>
                          <a:latin typeface="Consolas" pitchFamily="49" charset="0"/>
                          <a:ea typeface="仿宋" pitchFamily="49" charset="-122"/>
                        </a:rPr>
                        <a:t>11</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rgbClr val="0000FF"/>
                          </a:solidFill>
                          <a:latin typeface="Consolas" pitchFamily="49" charset="0"/>
                          <a:ea typeface="仿宋" pitchFamily="49" charset="-122"/>
                        </a:rPr>
                        <a:t>10</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rgbClr val="0000FF"/>
                          </a:solidFill>
                          <a:latin typeface="Consolas" pitchFamily="49" charset="0"/>
                          <a:ea typeface="仿宋" pitchFamily="49" charset="-122"/>
                        </a:rPr>
                        <a:t>9</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rgbClr val="0000FF"/>
                          </a:solidFill>
                          <a:latin typeface="Consolas" pitchFamily="49" charset="0"/>
                          <a:ea typeface="仿宋" pitchFamily="49" charset="-122"/>
                        </a:rPr>
                        <a:t>16</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extLst>
                  <a:ext uri="{0D108BD9-81ED-4DB2-BD59-A6C34878D82A}">
                    <a16:rowId xmlns:a16="http://schemas.microsoft.com/office/drawing/2014/main" val="10001"/>
                  </a:ext>
                </a:extLst>
              </a:tr>
            </a:tbl>
          </a:graphicData>
        </a:graphic>
      </p:graphicFrame>
      <p:grpSp>
        <p:nvGrpSpPr>
          <p:cNvPr id="2" name="组合 6"/>
          <p:cNvGrpSpPr/>
          <p:nvPr/>
        </p:nvGrpSpPr>
        <p:grpSpPr>
          <a:xfrm>
            <a:off x="714348" y="357166"/>
            <a:ext cx="853211" cy="761171"/>
            <a:chOff x="6862060" y="4310903"/>
            <a:chExt cx="1128915" cy="1130667"/>
          </a:xfrm>
        </p:grpSpPr>
        <p:grpSp>
          <p:nvGrpSpPr>
            <p:cNvPr id="3" name="Group 103"/>
            <p:cNvGrpSpPr>
              <a:grpSpLocks/>
            </p:cNvGrpSpPr>
            <p:nvPr/>
          </p:nvGrpSpPr>
          <p:grpSpPr bwMode="auto">
            <a:xfrm>
              <a:off x="6862060" y="4310903"/>
              <a:ext cx="1128915" cy="1130667"/>
              <a:chOff x="2880" y="1515"/>
              <a:chExt cx="644" cy="645"/>
            </a:xfrm>
          </p:grpSpPr>
          <p:sp>
            <p:nvSpPr>
              <p:cNvPr id="10" name="Oval 104"/>
              <p:cNvSpPr>
                <a:spLocks noChangeArrowheads="1"/>
              </p:cNvSpPr>
              <p:nvPr/>
            </p:nvSpPr>
            <p:spPr bwMode="auto">
              <a:xfrm>
                <a:off x="2880" y="1516"/>
                <a:ext cx="644" cy="644"/>
              </a:xfrm>
              <a:prstGeom prst="ellipse">
                <a:avLst/>
              </a:prstGeom>
              <a:gradFill rotWithShape="1">
                <a:gsLst>
                  <a:gs pos="0">
                    <a:srgbClr val="10942F"/>
                  </a:gs>
                  <a:gs pos="100000">
                    <a:srgbClr val="16D83B"/>
                  </a:gs>
                </a:gsLst>
                <a:lin ang="5400000" scaled="1"/>
              </a:gradFill>
              <a:ln w="9525" algn="ctr">
                <a:noFill/>
                <a:round/>
                <a:headEnd/>
                <a:tailEnd/>
              </a:ln>
              <a:effectLst>
                <a:outerShdw blurRad="76200" dir="18900000" sy="23000" kx="-1200000" algn="bl" rotWithShape="0">
                  <a:prstClr val="black">
                    <a:alpha val="20000"/>
                  </a:prstClr>
                </a:outerShdw>
              </a:effectLst>
            </p:spPr>
            <p:txBody>
              <a:bodyPr wrap="none" anchor="ctr"/>
              <a:lstStyle/>
              <a:p>
                <a:endParaRPr lang="zh-CN" altLang="en-US"/>
              </a:p>
            </p:txBody>
          </p:sp>
          <p:sp>
            <p:nvSpPr>
              <p:cNvPr id="11" name="Freeform 105"/>
              <p:cNvSpPr>
                <a:spLocks/>
              </p:cNvSpPr>
              <p:nvPr/>
            </p:nvSpPr>
            <p:spPr bwMode="auto">
              <a:xfrm>
                <a:off x="2887" y="1515"/>
                <a:ext cx="630" cy="441"/>
              </a:xfrm>
              <a:custGeom>
                <a:avLst/>
                <a:gdLst/>
                <a:ahLst/>
                <a:cxnLst>
                  <a:cxn ang="0">
                    <a:pos x="1400" y="275"/>
                  </a:cxn>
                  <a:cxn ang="0">
                    <a:pos x="1596" y="795"/>
                  </a:cxn>
                  <a:cxn ang="0">
                    <a:pos x="0" y="795"/>
                  </a:cxn>
                  <a:cxn ang="0">
                    <a:pos x="217" y="252"/>
                  </a:cxn>
                  <a:cxn ang="0">
                    <a:pos x="796" y="0"/>
                  </a:cxn>
                  <a:cxn ang="0">
                    <a:pos x="1400" y="275"/>
                  </a:cxn>
                </a:cxnLst>
                <a:rect l="0" t="0" r="r" b="b"/>
                <a:pathLst>
                  <a:path w="1596" h="1118">
                    <a:moveTo>
                      <a:pt x="1400" y="275"/>
                    </a:moveTo>
                    <a:cubicBezTo>
                      <a:pt x="1522" y="417"/>
                      <a:pt x="1596" y="597"/>
                      <a:pt x="1596" y="795"/>
                    </a:cubicBezTo>
                    <a:cubicBezTo>
                      <a:pt x="1037" y="1118"/>
                      <a:pt x="668" y="611"/>
                      <a:pt x="0" y="795"/>
                    </a:cubicBezTo>
                    <a:cubicBezTo>
                      <a:pt x="0" y="585"/>
                      <a:pt x="83" y="392"/>
                      <a:pt x="217" y="252"/>
                    </a:cubicBezTo>
                    <a:cubicBezTo>
                      <a:pt x="364" y="95"/>
                      <a:pt x="570" y="0"/>
                      <a:pt x="796" y="0"/>
                    </a:cubicBezTo>
                    <a:cubicBezTo>
                      <a:pt x="1039" y="0"/>
                      <a:pt x="1253" y="108"/>
                      <a:pt x="1400" y="275"/>
                    </a:cubicBezTo>
                    <a:close/>
                  </a:path>
                </a:pathLst>
              </a:custGeom>
              <a:gradFill rotWithShape="1">
                <a:gsLst>
                  <a:gs pos="0">
                    <a:schemeClr val="bg1">
                      <a:alpha val="53000"/>
                    </a:schemeClr>
                  </a:gs>
                  <a:gs pos="100000">
                    <a:schemeClr val="bg1">
                      <a:gamma/>
                      <a:shade val="46275"/>
                      <a:invGamma/>
                      <a:alpha val="0"/>
                    </a:schemeClr>
                  </a:gs>
                </a:gsLst>
                <a:lin ang="5400000" scaled="1"/>
              </a:gradFill>
              <a:ln w="9525">
                <a:noFill/>
                <a:round/>
                <a:headEnd/>
                <a:tailEnd/>
              </a:ln>
            </p:spPr>
            <p:txBody>
              <a:bodyPr/>
              <a:lstStyle/>
              <a:p>
                <a:endParaRPr lang="zh-CN" altLang="en-US"/>
              </a:p>
            </p:txBody>
          </p:sp>
        </p:grpSp>
        <p:sp>
          <p:nvSpPr>
            <p:cNvPr id="9" name="Text Box 71"/>
            <p:cNvSpPr txBox="1">
              <a:spLocks noChangeArrowheads="1"/>
            </p:cNvSpPr>
            <p:nvPr/>
          </p:nvSpPr>
          <p:spPr bwMode="auto">
            <a:xfrm>
              <a:off x="6923115" y="4640482"/>
              <a:ext cx="1039812" cy="466324"/>
            </a:xfrm>
            <a:prstGeom prst="rect">
              <a:avLst/>
            </a:prstGeom>
            <a:noFill/>
            <a:ln w="9525">
              <a:noFill/>
              <a:miter lim="800000"/>
              <a:headEnd/>
              <a:tailEnd/>
            </a:ln>
            <a:effectLst/>
          </p:spPr>
          <p:txBody>
            <a:bodyPr anchor="ctr">
              <a:spAutoFit/>
            </a:bodyPr>
            <a:lstStyle/>
            <a:p>
              <a:pPr algn="ctr">
                <a:spcBef>
                  <a:spcPct val="50000"/>
                </a:spcBef>
              </a:pPr>
              <a:r>
                <a:rPr lang="zh-CN" altLang="en-US" sz="1800">
                  <a:solidFill>
                    <a:srgbClr val="FF0000"/>
                  </a:solidFill>
                  <a:latin typeface="微软雅黑" pitchFamily="34" charset="-122"/>
                  <a:ea typeface="微软雅黑" pitchFamily="34" charset="-122"/>
                </a:rPr>
                <a:t>示例</a:t>
              </a:r>
              <a:endParaRPr lang="en-GB" altLang="zh-CN" sz="1800">
                <a:solidFill>
                  <a:srgbClr val="FF0000"/>
                </a:solidFill>
                <a:latin typeface="微软雅黑" pitchFamily="34" charset="-122"/>
                <a:ea typeface="微软雅黑" pitchFamily="34" charset="-122"/>
              </a:endParaRPr>
            </a:p>
          </p:txBody>
        </p:sp>
      </p:grpSp>
      <p:sp>
        <p:nvSpPr>
          <p:cNvPr id="12" name="下箭头 11"/>
          <p:cNvSpPr/>
          <p:nvPr/>
        </p:nvSpPr>
        <p:spPr>
          <a:xfrm>
            <a:off x="3786182" y="3571876"/>
            <a:ext cx="285752" cy="500066"/>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4" name="TextBox 13"/>
          <p:cNvSpPr txBox="1"/>
          <p:nvPr/>
        </p:nvSpPr>
        <p:spPr>
          <a:xfrm>
            <a:off x="4214810" y="3571876"/>
            <a:ext cx="2857520" cy="430887"/>
          </a:xfrm>
          <a:prstGeom prst="rect">
            <a:avLst/>
          </a:prstGeom>
          <a:noFill/>
        </p:spPr>
        <p:txBody>
          <a:bodyPr wrap="square" rtlCol="0">
            <a:spAutoFit/>
          </a:bodyPr>
          <a:lstStyle/>
          <a:p>
            <a:pPr algn="l">
              <a:lnSpc>
                <a:spcPct val="100000"/>
              </a:lnSpc>
              <a:spcBef>
                <a:spcPts val="0"/>
              </a:spcBef>
            </a:pPr>
            <a:r>
              <a:rPr lang="zh-CN" altLang="zh-CN" sz="2200">
                <a:solidFill>
                  <a:srgbClr val="0000FF"/>
                </a:solidFill>
                <a:latin typeface="仿宋" pitchFamily="49" charset="-122"/>
                <a:ea typeface="仿宋" pitchFamily="49" charset="-122"/>
              </a:rPr>
              <a:t>按处理时间递减排序</a:t>
            </a:r>
            <a:endParaRPr lang="zh-CN" altLang="en-US" sz="2200">
              <a:solidFill>
                <a:srgbClr val="0000FF"/>
              </a:solidFill>
              <a:latin typeface="仿宋" pitchFamily="49" charset="-122"/>
              <a:ea typeface="仿宋" pitchFamily="49" charset="-122"/>
              <a:cs typeface="Consolas" pitchFamily="49" charset="0"/>
            </a:endParaRPr>
          </a:p>
        </p:txBody>
      </p:sp>
      <p:graphicFrame>
        <p:nvGraphicFramePr>
          <p:cNvPr id="15" name="表格 14"/>
          <p:cNvGraphicFramePr>
            <a:graphicFrameLocks noGrp="1"/>
          </p:cNvGraphicFramePr>
          <p:nvPr/>
        </p:nvGraphicFramePr>
        <p:xfrm>
          <a:off x="1357292" y="4286256"/>
          <a:ext cx="6429418" cy="928694"/>
        </p:xfrm>
        <a:graphic>
          <a:graphicData uri="http://schemas.openxmlformats.org/drawingml/2006/table">
            <a:tbl>
              <a:tblPr>
                <a:tableStyleId>{35758FB7-9AC5-4552-8A53-C91805E547FA}</a:tableStyleId>
              </a:tblPr>
              <a:tblGrid>
                <a:gridCol w="2106683">
                  <a:extLst>
                    <a:ext uri="{9D8B030D-6E8A-4147-A177-3AD203B41FA5}">
                      <a16:colId xmlns:a16="http://schemas.microsoft.com/office/drawing/2014/main" val="20000"/>
                    </a:ext>
                  </a:extLst>
                </a:gridCol>
                <a:gridCol w="536523">
                  <a:extLst>
                    <a:ext uri="{9D8B030D-6E8A-4147-A177-3AD203B41FA5}">
                      <a16:colId xmlns:a16="http://schemas.microsoft.com/office/drawing/2014/main" val="20001"/>
                    </a:ext>
                  </a:extLst>
                </a:gridCol>
                <a:gridCol w="857256">
                  <a:extLst>
                    <a:ext uri="{9D8B030D-6E8A-4147-A177-3AD203B41FA5}">
                      <a16:colId xmlns:a16="http://schemas.microsoft.com/office/drawing/2014/main" val="20002"/>
                    </a:ext>
                  </a:extLst>
                </a:gridCol>
                <a:gridCol w="571504">
                  <a:extLst>
                    <a:ext uri="{9D8B030D-6E8A-4147-A177-3AD203B41FA5}">
                      <a16:colId xmlns:a16="http://schemas.microsoft.com/office/drawing/2014/main" val="20003"/>
                    </a:ext>
                  </a:extLst>
                </a:gridCol>
                <a:gridCol w="642942">
                  <a:extLst>
                    <a:ext uri="{9D8B030D-6E8A-4147-A177-3AD203B41FA5}">
                      <a16:colId xmlns:a16="http://schemas.microsoft.com/office/drawing/2014/main" val="20004"/>
                    </a:ext>
                  </a:extLst>
                </a:gridCol>
                <a:gridCol w="620806">
                  <a:extLst>
                    <a:ext uri="{9D8B030D-6E8A-4147-A177-3AD203B41FA5}">
                      <a16:colId xmlns:a16="http://schemas.microsoft.com/office/drawing/2014/main" val="20005"/>
                    </a:ext>
                  </a:extLst>
                </a:gridCol>
                <a:gridCol w="546852">
                  <a:extLst>
                    <a:ext uri="{9D8B030D-6E8A-4147-A177-3AD203B41FA5}">
                      <a16:colId xmlns:a16="http://schemas.microsoft.com/office/drawing/2014/main" val="20006"/>
                    </a:ext>
                  </a:extLst>
                </a:gridCol>
                <a:gridCol w="546852">
                  <a:extLst>
                    <a:ext uri="{9D8B030D-6E8A-4147-A177-3AD203B41FA5}">
                      <a16:colId xmlns:a16="http://schemas.microsoft.com/office/drawing/2014/main" val="20007"/>
                    </a:ext>
                  </a:extLst>
                </a:gridCol>
              </a:tblGrid>
              <a:tr h="464347">
                <a:tc>
                  <a:txBody>
                    <a:bodyPr/>
                    <a:lstStyle/>
                    <a:p>
                      <a:pPr indent="0" algn="ctr">
                        <a:lnSpc>
                          <a:spcPts val="3000"/>
                        </a:lnSpc>
                        <a:spcAft>
                          <a:spcPts val="0"/>
                        </a:spcAft>
                      </a:pPr>
                      <a:r>
                        <a:rPr lang="zh-CN" sz="2000" kern="100">
                          <a:solidFill>
                            <a:srgbClr val="0000FF"/>
                          </a:solidFill>
                          <a:latin typeface="Consolas" pitchFamily="49" charset="0"/>
                          <a:ea typeface="仿宋" pitchFamily="49" charset="-122"/>
                        </a:rPr>
                        <a:t>作业编号</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chemeClr val="tx1"/>
                          </a:solidFill>
                          <a:latin typeface="Consolas" pitchFamily="49" charset="0"/>
                          <a:ea typeface="仿宋" pitchFamily="49" charset="-122"/>
                        </a:rPr>
                        <a:t>6</a:t>
                      </a:r>
                      <a:endParaRPr lang="zh-CN" sz="2000" kern="100">
                        <a:solidFill>
                          <a:schemeClr val="tx1"/>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chemeClr val="tx1"/>
                          </a:solidFill>
                          <a:latin typeface="Consolas" pitchFamily="49" charset="0"/>
                          <a:ea typeface="仿宋" pitchFamily="49" charset="-122"/>
                        </a:rPr>
                        <a:t>1</a:t>
                      </a:r>
                      <a:endParaRPr lang="zh-CN" sz="2000" kern="100">
                        <a:solidFill>
                          <a:schemeClr val="tx1"/>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chemeClr val="tx1"/>
                          </a:solidFill>
                          <a:latin typeface="Consolas" pitchFamily="49" charset="0"/>
                          <a:ea typeface="仿宋" pitchFamily="49" charset="-122"/>
                        </a:rPr>
                        <a:t>2</a:t>
                      </a:r>
                      <a:endParaRPr lang="zh-CN" sz="2000" kern="100">
                        <a:solidFill>
                          <a:schemeClr val="tx1"/>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chemeClr val="tx1"/>
                          </a:solidFill>
                          <a:latin typeface="Consolas" pitchFamily="49" charset="0"/>
                          <a:ea typeface="仿宋" pitchFamily="49" charset="-122"/>
                        </a:rPr>
                        <a:t>3</a:t>
                      </a:r>
                      <a:endParaRPr lang="zh-CN" sz="2000" kern="100">
                        <a:solidFill>
                          <a:schemeClr val="tx1"/>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chemeClr val="tx1"/>
                          </a:solidFill>
                          <a:latin typeface="Consolas" pitchFamily="49" charset="0"/>
                          <a:ea typeface="仿宋" pitchFamily="49" charset="-122"/>
                        </a:rPr>
                        <a:t>4</a:t>
                      </a:r>
                      <a:endParaRPr lang="zh-CN" sz="2000" kern="100">
                        <a:solidFill>
                          <a:schemeClr val="tx1"/>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chemeClr val="tx1"/>
                          </a:solidFill>
                          <a:latin typeface="Consolas" pitchFamily="49" charset="0"/>
                          <a:ea typeface="仿宋" pitchFamily="49" charset="-122"/>
                        </a:rPr>
                        <a:t>5</a:t>
                      </a:r>
                      <a:endParaRPr lang="zh-CN" sz="2000" kern="100">
                        <a:solidFill>
                          <a:schemeClr val="tx1"/>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chemeClr val="tx1"/>
                          </a:solidFill>
                          <a:latin typeface="Consolas" pitchFamily="49" charset="0"/>
                          <a:ea typeface="仿宋" pitchFamily="49" charset="-122"/>
                        </a:rPr>
                        <a:t>0</a:t>
                      </a:r>
                      <a:endParaRPr lang="zh-CN" sz="2000" kern="100">
                        <a:solidFill>
                          <a:schemeClr val="tx1"/>
                        </a:solidFill>
                        <a:latin typeface="Consolas" pitchFamily="49" charset="0"/>
                        <a:ea typeface="仿宋" pitchFamily="49" charset="-122"/>
                        <a:cs typeface="Times New Roman"/>
                      </a:endParaRPr>
                    </a:p>
                  </a:txBody>
                  <a:tcPr marL="68580" marR="68580" marT="0" marB="0">
                    <a:solidFill>
                      <a:schemeClr val="bg1">
                        <a:lumMod val="95000"/>
                      </a:schemeClr>
                    </a:solidFill>
                  </a:tcPr>
                </a:tc>
                <a:extLst>
                  <a:ext uri="{0D108BD9-81ED-4DB2-BD59-A6C34878D82A}">
                    <a16:rowId xmlns:a16="http://schemas.microsoft.com/office/drawing/2014/main" val="10000"/>
                  </a:ext>
                </a:extLst>
              </a:tr>
              <a:tr h="464347">
                <a:tc>
                  <a:txBody>
                    <a:bodyPr/>
                    <a:lstStyle/>
                    <a:p>
                      <a:pPr indent="0" algn="ctr">
                        <a:lnSpc>
                          <a:spcPts val="3000"/>
                        </a:lnSpc>
                        <a:spcAft>
                          <a:spcPts val="0"/>
                        </a:spcAft>
                      </a:pPr>
                      <a:r>
                        <a:rPr lang="zh-CN" sz="2000" kern="100">
                          <a:solidFill>
                            <a:srgbClr val="0000FF"/>
                          </a:solidFill>
                          <a:latin typeface="Consolas" pitchFamily="49" charset="0"/>
                          <a:ea typeface="仿宋" pitchFamily="49" charset="-122"/>
                        </a:rPr>
                        <a:t>作业的处理时间</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altLang="zh-CN" sz="2000" kern="100">
                          <a:solidFill>
                            <a:srgbClr val="0000FF"/>
                          </a:solidFill>
                          <a:latin typeface="Consolas" pitchFamily="49" charset="0"/>
                          <a:ea typeface="仿宋" pitchFamily="49" charset="-122"/>
                          <a:cs typeface="+mn-cs"/>
                        </a:rPr>
                        <a:t>16</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rgbClr val="0000FF"/>
                          </a:solidFill>
                          <a:latin typeface="Consolas" pitchFamily="49" charset="0"/>
                          <a:ea typeface="仿宋" pitchFamily="49" charset="-122"/>
                        </a:rPr>
                        <a:t>14</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rgbClr val="0000FF"/>
                          </a:solidFill>
                          <a:latin typeface="Consolas" pitchFamily="49" charset="0"/>
                          <a:ea typeface="仿宋" pitchFamily="49" charset="-122"/>
                        </a:rPr>
                        <a:t>12</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rgbClr val="0000FF"/>
                          </a:solidFill>
                          <a:latin typeface="Consolas" pitchFamily="49" charset="0"/>
                          <a:ea typeface="仿宋" pitchFamily="49" charset="-122"/>
                        </a:rPr>
                        <a:t>11</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rgbClr val="0000FF"/>
                          </a:solidFill>
                          <a:latin typeface="Consolas" pitchFamily="49" charset="0"/>
                          <a:ea typeface="仿宋" pitchFamily="49" charset="-122"/>
                        </a:rPr>
                        <a:t>10</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rgbClr val="0000FF"/>
                          </a:solidFill>
                          <a:latin typeface="Consolas" pitchFamily="49" charset="0"/>
                          <a:ea typeface="仿宋" pitchFamily="49" charset="-122"/>
                        </a:rPr>
                        <a:t>9</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rgbClr val="0000FF"/>
                          </a:solidFill>
                          <a:latin typeface="Consolas" pitchFamily="49" charset="0"/>
                          <a:ea typeface="仿宋" pitchFamily="49" charset="-122"/>
                        </a:rPr>
                        <a:t>8</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extLst>
                  <a:ext uri="{0D108BD9-81ED-4DB2-BD59-A6C34878D82A}">
                    <a16:rowId xmlns:a16="http://schemas.microsoft.com/office/drawing/2014/main" val="10001"/>
                  </a:ext>
                </a:extLst>
              </a:tr>
            </a:tbl>
          </a:graphicData>
        </a:graphic>
      </p:graphicFrame>
      <p:sp>
        <p:nvSpPr>
          <p:cNvPr id="17" name="灯片编号占位符 16"/>
          <p:cNvSpPr>
            <a:spLocks noGrp="1"/>
          </p:cNvSpPr>
          <p:nvPr>
            <p:ph type="sldNum" sz="quarter" idx="12"/>
          </p:nvPr>
        </p:nvSpPr>
        <p:spPr/>
        <p:txBody>
          <a:bodyPr/>
          <a:lstStyle/>
          <a:p>
            <a:fld id="{7AF016A1-9F15-429F-9EFD-84004B73C732}" type="slidenum">
              <a:rPr lang="en-US" altLang="zh-CN" smtClean="0"/>
              <a:pPr/>
              <a:t>52</a:t>
            </a:fld>
            <a:r>
              <a:rPr lang="en-US" altLang="zh-CN"/>
              <a:t>/75</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428596" y="1467137"/>
            <a:ext cx="4572032"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仿宋" pitchFamily="49" charset="-122"/>
                <a:ea typeface="仿宋" pitchFamily="49" charset="-122"/>
              </a:rPr>
              <a:t>采用贪心法求解的过程如下</a:t>
            </a:r>
            <a:endParaRPr lang="zh-CN" altLang="en-US">
              <a:solidFill>
                <a:srgbClr val="0000FF"/>
              </a:solidFill>
              <a:latin typeface="仿宋" pitchFamily="49" charset="-122"/>
              <a:ea typeface="仿宋" pitchFamily="49" charset="-122"/>
              <a:cs typeface="Consolas" pitchFamily="49" charset="0"/>
            </a:endParaRPr>
          </a:p>
        </p:txBody>
      </p:sp>
      <p:sp>
        <p:nvSpPr>
          <p:cNvPr id="6" name="TextBox 5"/>
          <p:cNvSpPr txBox="1"/>
          <p:nvPr/>
        </p:nvSpPr>
        <p:spPr>
          <a:xfrm>
            <a:off x="500034" y="2143116"/>
            <a:ext cx="8286808" cy="3904530"/>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600"/>
              </a:spcBef>
            </a:pPr>
            <a:r>
              <a:rPr lang="en-US" altLang="zh-CN" sz="2200">
                <a:solidFill>
                  <a:srgbClr val="0000FF"/>
                </a:solidFill>
                <a:latin typeface="Consolas" pitchFamily="49" charset="0"/>
                <a:ea typeface="仿宋" pitchFamily="49" charset="-122"/>
              </a:rPr>
              <a:t> </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a:t>
            </a:r>
            <a:r>
              <a:rPr lang="zh-CN" altLang="zh-CN" sz="2200">
                <a:solidFill>
                  <a:srgbClr val="FF0000"/>
                </a:solidFill>
                <a:latin typeface="Consolas" pitchFamily="49" charset="0"/>
                <a:ea typeface="仿宋" pitchFamily="49" charset="-122"/>
              </a:rPr>
              <a:t>分配作业</a:t>
            </a:r>
            <a:r>
              <a:rPr lang="en-US" altLang="zh-CN" sz="2200">
                <a:solidFill>
                  <a:srgbClr val="FF0000"/>
                </a:solidFill>
                <a:latin typeface="Consolas" pitchFamily="49" charset="0"/>
                <a:ea typeface="仿宋" pitchFamily="49" charset="-122"/>
              </a:rPr>
              <a:t>6</a:t>
            </a:r>
            <a:r>
              <a:rPr lang="zh-CN" altLang="zh-CN" sz="2200">
                <a:solidFill>
                  <a:srgbClr val="0000FF"/>
                </a:solidFill>
                <a:latin typeface="Consolas" pitchFamily="49" charset="0"/>
                <a:ea typeface="仿宋" pitchFamily="49" charset="-122"/>
              </a:rPr>
              <a:t>：机器</a:t>
            </a:r>
            <a:r>
              <a:rPr lang="en-US" altLang="zh-CN" sz="2200">
                <a:solidFill>
                  <a:srgbClr val="0000FF"/>
                </a:solidFill>
                <a:latin typeface="Consolas" pitchFamily="49" charset="0"/>
                <a:ea typeface="仿宋" pitchFamily="49" charset="-122"/>
              </a:rPr>
              <a:t>0</a:t>
            </a:r>
            <a:r>
              <a:rPr lang="zh-CN" altLang="zh-CN" sz="2200">
                <a:solidFill>
                  <a:srgbClr val="0000FF"/>
                </a:solidFill>
                <a:latin typeface="Consolas" pitchFamily="49" charset="0"/>
                <a:ea typeface="仿宋" pitchFamily="49" charset="-122"/>
              </a:rPr>
              <a:t>中加工总时间为</a:t>
            </a:r>
            <a:r>
              <a:rPr lang="en-US" altLang="zh-CN" sz="2200">
                <a:solidFill>
                  <a:srgbClr val="0000FF"/>
                </a:solidFill>
                <a:latin typeface="Consolas" pitchFamily="49" charset="0"/>
                <a:ea typeface="仿宋" pitchFamily="49" charset="-122"/>
              </a:rPr>
              <a:t>0</a:t>
            </a:r>
            <a:r>
              <a:rPr lang="zh-CN" altLang="zh-CN" sz="2200">
                <a:solidFill>
                  <a:srgbClr val="0000FF"/>
                </a:solidFill>
                <a:latin typeface="Consolas" pitchFamily="49" charset="0"/>
                <a:ea typeface="仿宋" pitchFamily="49" charset="-122"/>
              </a:rPr>
              <a:t>，将作业</a:t>
            </a:r>
            <a:r>
              <a:rPr lang="en-US" altLang="zh-CN" sz="2200">
                <a:solidFill>
                  <a:srgbClr val="0000FF"/>
                </a:solidFill>
                <a:latin typeface="Consolas" pitchFamily="49" charset="0"/>
                <a:ea typeface="仿宋" pitchFamily="49" charset="-122"/>
              </a:rPr>
              <a:t>6</a:t>
            </a:r>
            <a:r>
              <a:rPr lang="zh-CN" altLang="zh-CN" sz="2200">
                <a:solidFill>
                  <a:srgbClr val="0000FF"/>
                </a:solidFill>
                <a:latin typeface="Consolas" pitchFamily="49" charset="0"/>
                <a:ea typeface="仿宋" pitchFamily="49" charset="-122"/>
              </a:rPr>
              <a:t>分配给它，此时</a:t>
            </a:r>
            <a:r>
              <a:rPr lang="en-US" altLang="zh-CN" sz="2200">
                <a:solidFill>
                  <a:srgbClr val="0000FF"/>
                </a:solidFill>
                <a:latin typeface="Consolas" pitchFamily="49" charset="0"/>
                <a:ea typeface="仿宋" pitchFamily="49" charset="-122"/>
              </a:rPr>
              <a:t>3</a:t>
            </a:r>
            <a:r>
              <a:rPr lang="zh-CN" altLang="zh-CN" sz="2200">
                <a:solidFill>
                  <a:srgbClr val="0000FF"/>
                </a:solidFill>
                <a:latin typeface="Consolas" pitchFamily="49" charset="0"/>
                <a:ea typeface="仿宋" pitchFamily="49" charset="-122"/>
              </a:rPr>
              <a:t>台机器的分配情况为（</a:t>
            </a:r>
            <a:r>
              <a:rPr lang="en-US" altLang="zh-CN" sz="2200">
                <a:solidFill>
                  <a:srgbClr val="0000FF"/>
                </a:solidFill>
                <a:latin typeface="Consolas" pitchFamily="49" charset="0"/>
                <a:ea typeface="仿宋" pitchFamily="49" charset="-122"/>
              </a:rPr>
              <a:t>{6}</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），对应的加工总时间为（</a:t>
            </a:r>
            <a:r>
              <a:rPr lang="en-US" altLang="zh-CN" sz="2200">
                <a:solidFill>
                  <a:srgbClr val="0000FF"/>
                </a:solidFill>
                <a:latin typeface="Consolas" pitchFamily="49" charset="0"/>
                <a:ea typeface="仿宋" pitchFamily="49" charset="-122"/>
              </a:rPr>
              <a:t>16</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0</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0</a:t>
            </a:r>
            <a:r>
              <a:rPr lang="zh-CN" altLang="zh-CN" sz="2200">
                <a:solidFill>
                  <a:srgbClr val="0000FF"/>
                </a:solidFill>
                <a:latin typeface="Consolas" pitchFamily="49" charset="0"/>
                <a:ea typeface="仿宋" pitchFamily="49" charset="-122"/>
              </a:rPr>
              <a:t>）。</a:t>
            </a:r>
          </a:p>
          <a:p>
            <a:pPr algn="l">
              <a:lnSpc>
                <a:spcPts val="3200"/>
              </a:lnSpc>
              <a:spcBef>
                <a:spcPts val="600"/>
              </a:spcBef>
            </a:pPr>
            <a:r>
              <a:rPr lang="en-US" altLang="zh-CN" sz="2200">
                <a:solidFill>
                  <a:srgbClr val="0000FF"/>
                </a:solidFill>
                <a:latin typeface="Consolas" pitchFamily="49" charset="0"/>
                <a:ea typeface="仿宋" pitchFamily="49" charset="-122"/>
              </a:rPr>
              <a:t> </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2</a:t>
            </a:r>
            <a:r>
              <a:rPr lang="zh-CN" altLang="zh-CN" sz="2200">
                <a:solidFill>
                  <a:srgbClr val="0000FF"/>
                </a:solidFill>
                <a:latin typeface="Consolas" pitchFamily="49" charset="0"/>
                <a:ea typeface="仿宋" pitchFamily="49" charset="-122"/>
              </a:rPr>
              <a:t>）</a:t>
            </a:r>
            <a:r>
              <a:rPr lang="zh-CN" altLang="zh-CN" sz="2200">
                <a:solidFill>
                  <a:srgbClr val="FF0000"/>
                </a:solidFill>
                <a:latin typeface="Consolas" pitchFamily="49" charset="0"/>
                <a:ea typeface="仿宋" pitchFamily="49" charset="-122"/>
              </a:rPr>
              <a:t>分配作业</a:t>
            </a:r>
            <a:r>
              <a:rPr lang="en-US" altLang="zh-CN" sz="2200">
                <a:solidFill>
                  <a:srgbClr val="FF0000"/>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：机器</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中加工总时间为</a:t>
            </a:r>
            <a:r>
              <a:rPr lang="en-US" altLang="zh-CN" sz="2200">
                <a:solidFill>
                  <a:srgbClr val="0000FF"/>
                </a:solidFill>
                <a:latin typeface="Consolas" pitchFamily="49" charset="0"/>
                <a:ea typeface="仿宋" pitchFamily="49" charset="-122"/>
              </a:rPr>
              <a:t>0</a:t>
            </a:r>
            <a:r>
              <a:rPr lang="zh-CN" altLang="zh-CN" sz="2200">
                <a:solidFill>
                  <a:srgbClr val="0000FF"/>
                </a:solidFill>
                <a:latin typeface="Consolas" pitchFamily="49" charset="0"/>
                <a:ea typeface="仿宋" pitchFamily="49" charset="-122"/>
              </a:rPr>
              <a:t>，将作业</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分配给它，此时</a:t>
            </a:r>
            <a:r>
              <a:rPr lang="en-US" altLang="zh-CN" sz="2200">
                <a:solidFill>
                  <a:srgbClr val="0000FF"/>
                </a:solidFill>
                <a:latin typeface="Consolas" pitchFamily="49" charset="0"/>
                <a:ea typeface="仿宋" pitchFamily="49" charset="-122"/>
              </a:rPr>
              <a:t>3</a:t>
            </a:r>
            <a:r>
              <a:rPr lang="zh-CN" altLang="zh-CN" sz="2200">
                <a:solidFill>
                  <a:srgbClr val="0000FF"/>
                </a:solidFill>
                <a:latin typeface="Consolas" pitchFamily="49" charset="0"/>
                <a:ea typeface="仿宋" pitchFamily="49" charset="-122"/>
              </a:rPr>
              <a:t>台机器的分配情况为（</a:t>
            </a:r>
            <a:r>
              <a:rPr lang="en-US" altLang="zh-CN" sz="2200">
                <a:solidFill>
                  <a:srgbClr val="0000FF"/>
                </a:solidFill>
                <a:latin typeface="Consolas" pitchFamily="49" charset="0"/>
                <a:ea typeface="仿宋" pitchFamily="49" charset="-122"/>
              </a:rPr>
              <a:t>{6}</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），对应的加工总时间为（</a:t>
            </a:r>
            <a:r>
              <a:rPr lang="en-US" altLang="zh-CN" sz="2200">
                <a:solidFill>
                  <a:srgbClr val="0000FF"/>
                </a:solidFill>
                <a:latin typeface="Consolas" pitchFamily="49" charset="0"/>
                <a:ea typeface="仿宋" pitchFamily="49" charset="-122"/>
              </a:rPr>
              <a:t>16</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14</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0</a:t>
            </a:r>
            <a:r>
              <a:rPr lang="zh-CN" altLang="zh-CN" sz="2200">
                <a:solidFill>
                  <a:srgbClr val="0000FF"/>
                </a:solidFill>
                <a:latin typeface="Consolas" pitchFamily="49" charset="0"/>
                <a:ea typeface="仿宋" pitchFamily="49" charset="-122"/>
              </a:rPr>
              <a:t>）。</a:t>
            </a:r>
          </a:p>
          <a:p>
            <a:pPr algn="l">
              <a:lnSpc>
                <a:spcPts val="3200"/>
              </a:lnSpc>
              <a:spcBef>
                <a:spcPts val="600"/>
              </a:spcBef>
            </a:pPr>
            <a:r>
              <a:rPr lang="en-US" altLang="zh-CN" sz="2200">
                <a:solidFill>
                  <a:srgbClr val="0000FF"/>
                </a:solidFill>
                <a:latin typeface="Consolas" pitchFamily="49" charset="0"/>
                <a:ea typeface="仿宋" pitchFamily="49" charset="-122"/>
              </a:rPr>
              <a:t> </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3</a:t>
            </a:r>
            <a:r>
              <a:rPr lang="zh-CN" altLang="zh-CN" sz="2200">
                <a:solidFill>
                  <a:srgbClr val="0000FF"/>
                </a:solidFill>
                <a:latin typeface="Consolas" pitchFamily="49" charset="0"/>
                <a:ea typeface="仿宋" pitchFamily="49" charset="-122"/>
              </a:rPr>
              <a:t>）</a:t>
            </a:r>
            <a:r>
              <a:rPr lang="zh-CN" altLang="zh-CN" sz="2200">
                <a:solidFill>
                  <a:srgbClr val="FF0000"/>
                </a:solidFill>
                <a:latin typeface="Consolas" pitchFamily="49" charset="0"/>
                <a:ea typeface="仿宋" pitchFamily="49" charset="-122"/>
              </a:rPr>
              <a:t>分配作业</a:t>
            </a:r>
            <a:r>
              <a:rPr lang="en-US" altLang="zh-CN" sz="2200">
                <a:solidFill>
                  <a:srgbClr val="FF0000"/>
                </a:solidFill>
                <a:latin typeface="Consolas" pitchFamily="49" charset="0"/>
                <a:ea typeface="仿宋" pitchFamily="49" charset="-122"/>
              </a:rPr>
              <a:t>2</a:t>
            </a:r>
            <a:r>
              <a:rPr lang="zh-CN" altLang="zh-CN" sz="2200">
                <a:solidFill>
                  <a:srgbClr val="0000FF"/>
                </a:solidFill>
                <a:latin typeface="Consolas" pitchFamily="49" charset="0"/>
                <a:ea typeface="仿宋" pitchFamily="49" charset="-122"/>
              </a:rPr>
              <a:t>：机器</a:t>
            </a:r>
            <a:r>
              <a:rPr lang="en-US" altLang="zh-CN" sz="2200">
                <a:solidFill>
                  <a:srgbClr val="0000FF"/>
                </a:solidFill>
                <a:latin typeface="Consolas" pitchFamily="49" charset="0"/>
                <a:ea typeface="仿宋" pitchFamily="49" charset="-122"/>
              </a:rPr>
              <a:t>2</a:t>
            </a:r>
            <a:r>
              <a:rPr lang="zh-CN" altLang="zh-CN" sz="2200">
                <a:solidFill>
                  <a:srgbClr val="0000FF"/>
                </a:solidFill>
                <a:latin typeface="Consolas" pitchFamily="49" charset="0"/>
                <a:ea typeface="仿宋" pitchFamily="49" charset="-122"/>
              </a:rPr>
              <a:t>中加工总时间为</a:t>
            </a:r>
            <a:r>
              <a:rPr lang="en-US" altLang="zh-CN" sz="2200">
                <a:solidFill>
                  <a:srgbClr val="0000FF"/>
                </a:solidFill>
                <a:latin typeface="Consolas" pitchFamily="49" charset="0"/>
                <a:ea typeface="仿宋" pitchFamily="49" charset="-122"/>
              </a:rPr>
              <a:t>0</a:t>
            </a:r>
            <a:r>
              <a:rPr lang="zh-CN" altLang="zh-CN" sz="2200">
                <a:solidFill>
                  <a:srgbClr val="0000FF"/>
                </a:solidFill>
                <a:latin typeface="Consolas" pitchFamily="49" charset="0"/>
                <a:ea typeface="仿宋" pitchFamily="49" charset="-122"/>
              </a:rPr>
              <a:t>，将作业</a:t>
            </a:r>
            <a:r>
              <a:rPr lang="en-US" altLang="zh-CN" sz="2200">
                <a:solidFill>
                  <a:srgbClr val="0000FF"/>
                </a:solidFill>
                <a:latin typeface="Consolas" pitchFamily="49" charset="0"/>
                <a:ea typeface="仿宋" pitchFamily="49" charset="-122"/>
              </a:rPr>
              <a:t>2</a:t>
            </a:r>
            <a:r>
              <a:rPr lang="zh-CN" altLang="zh-CN" sz="2200">
                <a:solidFill>
                  <a:srgbClr val="0000FF"/>
                </a:solidFill>
                <a:latin typeface="Consolas" pitchFamily="49" charset="0"/>
                <a:ea typeface="仿宋" pitchFamily="49" charset="-122"/>
              </a:rPr>
              <a:t>分配给它，此时</a:t>
            </a:r>
            <a:r>
              <a:rPr lang="en-US" altLang="zh-CN" sz="2200">
                <a:solidFill>
                  <a:srgbClr val="0000FF"/>
                </a:solidFill>
                <a:latin typeface="Consolas" pitchFamily="49" charset="0"/>
                <a:ea typeface="仿宋" pitchFamily="49" charset="-122"/>
              </a:rPr>
              <a:t>3</a:t>
            </a:r>
            <a:r>
              <a:rPr lang="zh-CN" altLang="zh-CN" sz="2200">
                <a:solidFill>
                  <a:srgbClr val="0000FF"/>
                </a:solidFill>
                <a:latin typeface="Consolas" pitchFamily="49" charset="0"/>
                <a:ea typeface="仿宋" pitchFamily="49" charset="-122"/>
              </a:rPr>
              <a:t>台机器的分配情况为（</a:t>
            </a:r>
            <a:r>
              <a:rPr lang="en-US" altLang="zh-CN" sz="2200">
                <a:solidFill>
                  <a:srgbClr val="0000FF"/>
                </a:solidFill>
                <a:latin typeface="Consolas" pitchFamily="49" charset="0"/>
                <a:ea typeface="仿宋" pitchFamily="49" charset="-122"/>
              </a:rPr>
              <a:t>{6}</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{2}</a:t>
            </a:r>
            <a:r>
              <a:rPr lang="zh-CN" altLang="zh-CN" sz="2200">
                <a:solidFill>
                  <a:srgbClr val="0000FF"/>
                </a:solidFill>
                <a:latin typeface="Consolas" pitchFamily="49" charset="0"/>
                <a:ea typeface="仿宋" pitchFamily="49" charset="-122"/>
              </a:rPr>
              <a:t>），对应的加工总时间为（</a:t>
            </a:r>
            <a:r>
              <a:rPr lang="en-US" altLang="zh-CN" sz="2200">
                <a:solidFill>
                  <a:srgbClr val="0000FF"/>
                </a:solidFill>
                <a:latin typeface="Consolas" pitchFamily="49" charset="0"/>
                <a:ea typeface="仿宋" pitchFamily="49" charset="-122"/>
              </a:rPr>
              <a:t>16</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14</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12</a:t>
            </a:r>
            <a:r>
              <a:rPr lang="zh-CN" altLang="zh-CN" sz="2200">
                <a:solidFill>
                  <a:srgbClr val="0000FF"/>
                </a:solidFill>
                <a:latin typeface="Consolas" pitchFamily="49" charset="0"/>
                <a:ea typeface="仿宋" pitchFamily="49" charset="-122"/>
              </a:rPr>
              <a:t>）。</a:t>
            </a:r>
          </a:p>
        </p:txBody>
      </p:sp>
      <p:graphicFrame>
        <p:nvGraphicFramePr>
          <p:cNvPr id="7" name="表格 6"/>
          <p:cNvGraphicFramePr>
            <a:graphicFrameLocks noGrp="1"/>
          </p:cNvGraphicFramePr>
          <p:nvPr/>
        </p:nvGraphicFramePr>
        <p:xfrm>
          <a:off x="1071540" y="357166"/>
          <a:ext cx="6429418" cy="928694"/>
        </p:xfrm>
        <a:graphic>
          <a:graphicData uri="http://schemas.openxmlformats.org/drawingml/2006/table">
            <a:tbl>
              <a:tblPr>
                <a:tableStyleId>{35758FB7-9AC5-4552-8A53-C91805E547FA}</a:tableStyleId>
              </a:tblPr>
              <a:tblGrid>
                <a:gridCol w="2106683">
                  <a:extLst>
                    <a:ext uri="{9D8B030D-6E8A-4147-A177-3AD203B41FA5}">
                      <a16:colId xmlns:a16="http://schemas.microsoft.com/office/drawing/2014/main" val="20000"/>
                    </a:ext>
                  </a:extLst>
                </a:gridCol>
                <a:gridCol w="536523">
                  <a:extLst>
                    <a:ext uri="{9D8B030D-6E8A-4147-A177-3AD203B41FA5}">
                      <a16:colId xmlns:a16="http://schemas.microsoft.com/office/drawing/2014/main" val="20001"/>
                    </a:ext>
                  </a:extLst>
                </a:gridCol>
                <a:gridCol w="857256">
                  <a:extLst>
                    <a:ext uri="{9D8B030D-6E8A-4147-A177-3AD203B41FA5}">
                      <a16:colId xmlns:a16="http://schemas.microsoft.com/office/drawing/2014/main" val="20002"/>
                    </a:ext>
                  </a:extLst>
                </a:gridCol>
                <a:gridCol w="571504">
                  <a:extLst>
                    <a:ext uri="{9D8B030D-6E8A-4147-A177-3AD203B41FA5}">
                      <a16:colId xmlns:a16="http://schemas.microsoft.com/office/drawing/2014/main" val="20003"/>
                    </a:ext>
                  </a:extLst>
                </a:gridCol>
                <a:gridCol w="642942">
                  <a:extLst>
                    <a:ext uri="{9D8B030D-6E8A-4147-A177-3AD203B41FA5}">
                      <a16:colId xmlns:a16="http://schemas.microsoft.com/office/drawing/2014/main" val="20004"/>
                    </a:ext>
                  </a:extLst>
                </a:gridCol>
                <a:gridCol w="620806">
                  <a:extLst>
                    <a:ext uri="{9D8B030D-6E8A-4147-A177-3AD203B41FA5}">
                      <a16:colId xmlns:a16="http://schemas.microsoft.com/office/drawing/2014/main" val="20005"/>
                    </a:ext>
                  </a:extLst>
                </a:gridCol>
                <a:gridCol w="546852">
                  <a:extLst>
                    <a:ext uri="{9D8B030D-6E8A-4147-A177-3AD203B41FA5}">
                      <a16:colId xmlns:a16="http://schemas.microsoft.com/office/drawing/2014/main" val="20006"/>
                    </a:ext>
                  </a:extLst>
                </a:gridCol>
                <a:gridCol w="546852">
                  <a:extLst>
                    <a:ext uri="{9D8B030D-6E8A-4147-A177-3AD203B41FA5}">
                      <a16:colId xmlns:a16="http://schemas.microsoft.com/office/drawing/2014/main" val="20007"/>
                    </a:ext>
                  </a:extLst>
                </a:gridCol>
              </a:tblGrid>
              <a:tr h="464347">
                <a:tc>
                  <a:txBody>
                    <a:bodyPr/>
                    <a:lstStyle/>
                    <a:p>
                      <a:pPr indent="0" algn="ctr">
                        <a:lnSpc>
                          <a:spcPts val="3000"/>
                        </a:lnSpc>
                        <a:spcAft>
                          <a:spcPts val="0"/>
                        </a:spcAft>
                      </a:pPr>
                      <a:r>
                        <a:rPr lang="zh-CN" sz="2000" kern="100">
                          <a:solidFill>
                            <a:srgbClr val="0000FF"/>
                          </a:solidFill>
                          <a:latin typeface="Consolas" pitchFamily="49" charset="0"/>
                          <a:ea typeface="仿宋" pitchFamily="49" charset="-122"/>
                        </a:rPr>
                        <a:t>作业编号</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chemeClr val="tx1"/>
                          </a:solidFill>
                          <a:latin typeface="Consolas" pitchFamily="49" charset="0"/>
                          <a:ea typeface="仿宋" pitchFamily="49" charset="-122"/>
                        </a:rPr>
                        <a:t>6</a:t>
                      </a:r>
                      <a:endParaRPr lang="zh-CN" sz="2000" kern="100">
                        <a:solidFill>
                          <a:schemeClr val="tx1"/>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chemeClr val="tx1"/>
                          </a:solidFill>
                          <a:latin typeface="Consolas" pitchFamily="49" charset="0"/>
                          <a:ea typeface="仿宋" pitchFamily="49" charset="-122"/>
                        </a:rPr>
                        <a:t>1</a:t>
                      </a:r>
                      <a:endParaRPr lang="zh-CN" sz="2000" kern="100">
                        <a:solidFill>
                          <a:schemeClr val="tx1"/>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chemeClr val="tx1"/>
                          </a:solidFill>
                          <a:latin typeface="Consolas" pitchFamily="49" charset="0"/>
                          <a:ea typeface="仿宋" pitchFamily="49" charset="-122"/>
                        </a:rPr>
                        <a:t>2</a:t>
                      </a:r>
                      <a:endParaRPr lang="zh-CN" sz="2000" kern="100">
                        <a:solidFill>
                          <a:schemeClr val="tx1"/>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chemeClr val="tx1"/>
                          </a:solidFill>
                          <a:latin typeface="Consolas" pitchFamily="49" charset="0"/>
                          <a:ea typeface="仿宋" pitchFamily="49" charset="-122"/>
                        </a:rPr>
                        <a:t>3</a:t>
                      </a:r>
                      <a:endParaRPr lang="zh-CN" sz="2000" kern="100">
                        <a:solidFill>
                          <a:schemeClr val="tx1"/>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chemeClr val="tx1"/>
                          </a:solidFill>
                          <a:latin typeface="Consolas" pitchFamily="49" charset="0"/>
                          <a:ea typeface="仿宋" pitchFamily="49" charset="-122"/>
                        </a:rPr>
                        <a:t>4</a:t>
                      </a:r>
                      <a:endParaRPr lang="zh-CN" sz="2000" kern="100">
                        <a:solidFill>
                          <a:schemeClr val="tx1"/>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chemeClr val="tx1"/>
                          </a:solidFill>
                          <a:latin typeface="Consolas" pitchFamily="49" charset="0"/>
                          <a:ea typeface="仿宋" pitchFamily="49" charset="-122"/>
                        </a:rPr>
                        <a:t>5</a:t>
                      </a:r>
                      <a:endParaRPr lang="zh-CN" sz="2000" kern="100">
                        <a:solidFill>
                          <a:schemeClr val="tx1"/>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chemeClr val="tx1"/>
                          </a:solidFill>
                          <a:latin typeface="Consolas" pitchFamily="49" charset="0"/>
                          <a:ea typeface="仿宋" pitchFamily="49" charset="-122"/>
                        </a:rPr>
                        <a:t>0</a:t>
                      </a:r>
                      <a:endParaRPr lang="zh-CN" sz="2000" kern="100">
                        <a:solidFill>
                          <a:schemeClr val="tx1"/>
                        </a:solidFill>
                        <a:latin typeface="Consolas" pitchFamily="49" charset="0"/>
                        <a:ea typeface="仿宋" pitchFamily="49" charset="-122"/>
                        <a:cs typeface="Times New Roman"/>
                      </a:endParaRPr>
                    </a:p>
                  </a:txBody>
                  <a:tcPr marL="68580" marR="68580" marT="0" marB="0">
                    <a:solidFill>
                      <a:schemeClr val="bg1">
                        <a:lumMod val="95000"/>
                      </a:schemeClr>
                    </a:solidFill>
                  </a:tcPr>
                </a:tc>
                <a:extLst>
                  <a:ext uri="{0D108BD9-81ED-4DB2-BD59-A6C34878D82A}">
                    <a16:rowId xmlns:a16="http://schemas.microsoft.com/office/drawing/2014/main" val="10000"/>
                  </a:ext>
                </a:extLst>
              </a:tr>
              <a:tr h="464347">
                <a:tc>
                  <a:txBody>
                    <a:bodyPr/>
                    <a:lstStyle/>
                    <a:p>
                      <a:pPr indent="0" algn="ctr">
                        <a:lnSpc>
                          <a:spcPts val="3000"/>
                        </a:lnSpc>
                        <a:spcAft>
                          <a:spcPts val="0"/>
                        </a:spcAft>
                      </a:pPr>
                      <a:r>
                        <a:rPr lang="zh-CN" sz="2000" kern="100">
                          <a:solidFill>
                            <a:srgbClr val="0000FF"/>
                          </a:solidFill>
                          <a:latin typeface="Consolas" pitchFamily="49" charset="0"/>
                          <a:ea typeface="仿宋" pitchFamily="49" charset="-122"/>
                        </a:rPr>
                        <a:t>作业的处理时间</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altLang="zh-CN" sz="2000" kern="100">
                          <a:solidFill>
                            <a:srgbClr val="0000FF"/>
                          </a:solidFill>
                          <a:latin typeface="Consolas" pitchFamily="49" charset="0"/>
                          <a:ea typeface="仿宋" pitchFamily="49" charset="-122"/>
                          <a:cs typeface="+mn-cs"/>
                        </a:rPr>
                        <a:t>16</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rgbClr val="0000FF"/>
                          </a:solidFill>
                          <a:latin typeface="Consolas" pitchFamily="49" charset="0"/>
                          <a:ea typeface="仿宋" pitchFamily="49" charset="-122"/>
                        </a:rPr>
                        <a:t>14</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rgbClr val="0000FF"/>
                          </a:solidFill>
                          <a:latin typeface="Consolas" pitchFamily="49" charset="0"/>
                          <a:ea typeface="仿宋" pitchFamily="49" charset="-122"/>
                        </a:rPr>
                        <a:t>12</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rgbClr val="0000FF"/>
                          </a:solidFill>
                          <a:latin typeface="Consolas" pitchFamily="49" charset="0"/>
                          <a:ea typeface="仿宋" pitchFamily="49" charset="-122"/>
                        </a:rPr>
                        <a:t>11</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rgbClr val="0000FF"/>
                          </a:solidFill>
                          <a:latin typeface="Consolas" pitchFamily="49" charset="0"/>
                          <a:ea typeface="仿宋" pitchFamily="49" charset="-122"/>
                        </a:rPr>
                        <a:t>10</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rgbClr val="0000FF"/>
                          </a:solidFill>
                          <a:latin typeface="Consolas" pitchFamily="49" charset="0"/>
                          <a:ea typeface="仿宋" pitchFamily="49" charset="-122"/>
                        </a:rPr>
                        <a:t>9</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rgbClr val="0000FF"/>
                          </a:solidFill>
                          <a:latin typeface="Consolas" pitchFamily="49" charset="0"/>
                          <a:ea typeface="仿宋" pitchFamily="49" charset="-122"/>
                        </a:rPr>
                        <a:t>8</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extLst>
                  <a:ext uri="{0D108BD9-81ED-4DB2-BD59-A6C34878D82A}">
                    <a16:rowId xmlns:a16="http://schemas.microsoft.com/office/drawing/2014/main" val="10001"/>
                  </a:ext>
                </a:extLst>
              </a:tr>
            </a:tbl>
          </a:graphicData>
        </a:graphic>
      </p:graphicFrame>
      <p:sp>
        <p:nvSpPr>
          <p:cNvPr id="8" name="灯片编号占位符 7"/>
          <p:cNvSpPr>
            <a:spLocks noGrp="1"/>
          </p:cNvSpPr>
          <p:nvPr>
            <p:ph type="sldNum" sz="quarter" idx="12"/>
          </p:nvPr>
        </p:nvSpPr>
        <p:spPr/>
        <p:txBody>
          <a:bodyPr/>
          <a:lstStyle/>
          <a:p>
            <a:fld id="{7AF016A1-9F15-429F-9EFD-84004B73C732}" type="slidenum">
              <a:rPr lang="en-US" altLang="zh-CN" smtClean="0"/>
              <a:pPr/>
              <a:t>53</a:t>
            </a:fld>
            <a:r>
              <a:rPr lang="en-US" altLang="zh-CN"/>
              <a:t>/75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TextBox 5"/>
          <p:cNvSpPr txBox="1"/>
          <p:nvPr/>
        </p:nvSpPr>
        <p:spPr>
          <a:xfrm>
            <a:off x="571472" y="1591094"/>
            <a:ext cx="8286808" cy="4911216"/>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000"/>
              </a:lnSpc>
              <a:spcBef>
                <a:spcPts val="600"/>
              </a:spcBef>
            </a:pPr>
            <a:r>
              <a:rPr lang="en-US" altLang="zh-CN" sz="2200">
                <a:solidFill>
                  <a:srgbClr val="0000FF"/>
                </a:solidFill>
                <a:latin typeface="Consolas" pitchFamily="49" charset="0"/>
                <a:ea typeface="仿宋" pitchFamily="49" charset="-122"/>
              </a:rPr>
              <a:t> </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4</a:t>
            </a:r>
            <a:r>
              <a:rPr lang="zh-CN" altLang="zh-CN" sz="2200">
                <a:solidFill>
                  <a:srgbClr val="0000FF"/>
                </a:solidFill>
                <a:latin typeface="Consolas" pitchFamily="49" charset="0"/>
                <a:ea typeface="仿宋" pitchFamily="49" charset="-122"/>
              </a:rPr>
              <a:t>）</a:t>
            </a:r>
            <a:r>
              <a:rPr lang="zh-CN" altLang="zh-CN" sz="2200">
                <a:solidFill>
                  <a:srgbClr val="FF0000"/>
                </a:solidFill>
                <a:latin typeface="Consolas" pitchFamily="49" charset="0"/>
                <a:ea typeface="仿宋" pitchFamily="49" charset="-122"/>
              </a:rPr>
              <a:t>分配作业</a:t>
            </a:r>
            <a:r>
              <a:rPr lang="en-US" altLang="zh-CN" sz="2200">
                <a:solidFill>
                  <a:srgbClr val="FF0000"/>
                </a:solidFill>
                <a:latin typeface="Consolas" pitchFamily="49" charset="0"/>
                <a:ea typeface="仿宋" pitchFamily="49" charset="-122"/>
              </a:rPr>
              <a:t>3</a:t>
            </a:r>
            <a:r>
              <a:rPr lang="zh-CN" altLang="zh-CN" sz="2200">
                <a:solidFill>
                  <a:srgbClr val="0000FF"/>
                </a:solidFill>
                <a:latin typeface="Consolas" pitchFamily="49" charset="0"/>
                <a:ea typeface="仿宋" pitchFamily="49" charset="-122"/>
              </a:rPr>
              <a:t>：机器</a:t>
            </a:r>
            <a:r>
              <a:rPr lang="en-US" altLang="zh-CN" sz="2200">
                <a:solidFill>
                  <a:srgbClr val="0000FF"/>
                </a:solidFill>
                <a:latin typeface="Consolas" pitchFamily="49" charset="0"/>
                <a:ea typeface="仿宋" pitchFamily="49" charset="-122"/>
              </a:rPr>
              <a:t>2</a:t>
            </a:r>
            <a:r>
              <a:rPr lang="zh-CN" altLang="zh-CN" sz="2200">
                <a:solidFill>
                  <a:srgbClr val="0000FF"/>
                </a:solidFill>
                <a:latin typeface="Consolas" pitchFamily="49" charset="0"/>
                <a:ea typeface="仿宋" pitchFamily="49" charset="-122"/>
              </a:rPr>
              <a:t>的加工总时间最小，将作业</a:t>
            </a:r>
            <a:r>
              <a:rPr lang="en-US" altLang="zh-CN" sz="2200">
                <a:solidFill>
                  <a:srgbClr val="0000FF"/>
                </a:solidFill>
                <a:latin typeface="Consolas" pitchFamily="49" charset="0"/>
                <a:ea typeface="仿宋" pitchFamily="49" charset="-122"/>
              </a:rPr>
              <a:t>3</a:t>
            </a:r>
            <a:r>
              <a:rPr lang="zh-CN" altLang="zh-CN" sz="2200">
                <a:solidFill>
                  <a:srgbClr val="0000FF"/>
                </a:solidFill>
                <a:latin typeface="Consolas" pitchFamily="49" charset="0"/>
                <a:ea typeface="仿宋" pitchFamily="49" charset="-122"/>
              </a:rPr>
              <a:t>分配给它，此时机器的分配情况为（</a:t>
            </a:r>
            <a:r>
              <a:rPr lang="en-US" altLang="zh-CN" sz="2200">
                <a:solidFill>
                  <a:srgbClr val="0000FF"/>
                </a:solidFill>
                <a:latin typeface="Consolas" pitchFamily="49" charset="0"/>
                <a:ea typeface="仿宋" pitchFamily="49" charset="-122"/>
              </a:rPr>
              <a:t>{6}</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{2</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3}</a:t>
            </a:r>
            <a:r>
              <a:rPr lang="zh-CN" altLang="zh-CN" sz="2200">
                <a:solidFill>
                  <a:srgbClr val="0000FF"/>
                </a:solidFill>
                <a:latin typeface="Consolas" pitchFamily="49" charset="0"/>
                <a:ea typeface="仿宋" pitchFamily="49" charset="-122"/>
              </a:rPr>
              <a:t>），对应的加工总时间为（</a:t>
            </a:r>
            <a:r>
              <a:rPr lang="en-US" altLang="zh-CN" sz="2200">
                <a:solidFill>
                  <a:srgbClr val="0000FF"/>
                </a:solidFill>
                <a:latin typeface="Consolas" pitchFamily="49" charset="0"/>
                <a:ea typeface="仿宋" pitchFamily="49" charset="-122"/>
              </a:rPr>
              <a:t>16</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14</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23</a:t>
            </a:r>
            <a:r>
              <a:rPr lang="zh-CN" altLang="zh-CN" sz="2200">
                <a:solidFill>
                  <a:srgbClr val="0000FF"/>
                </a:solidFill>
                <a:latin typeface="Consolas" pitchFamily="49" charset="0"/>
                <a:ea typeface="仿宋" pitchFamily="49" charset="-122"/>
              </a:rPr>
              <a:t>）。</a:t>
            </a:r>
          </a:p>
          <a:p>
            <a:pPr algn="l">
              <a:lnSpc>
                <a:spcPts val="3000"/>
              </a:lnSpc>
              <a:spcBef>
                <a:spcPts val="600"/>
              </a:spcBef>
            </a:pPr>
            <a:r>
              <a:rPr lang="en-US" altLang="zh-CN" sz="2200">
                <a:solidFill>
                  <a:srgbClr val="0000FF"/>
                </a:solidFill>
                <a:latin typeface="Consolas" pitchFamily="49" charset="0"/>
                <a:ea typeface="仿宋" pitchFamily="49" charset="-122"/>
              </a:rPr>
              <a:t> </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5</a:t>
            </a:r>
            <a:r>
              <a:rPr lang="zh-CN" altLang="zh-CN" sz="2200">
                <a:solidFill>
                  <a:srgbClr val="0000FF"/>
                </a:solidFill>
                <a:latin typeface="Consolas" pitchFamily="49" charset="0"/>
                <a:ea typeface="仿宋" pitchFamily="49" charset="-122"/>
              </a:rPr>
              <a:t>）</a:t>
            </a:r>
            <a:r>
              <a:rPr lang="zh-CN" altLang="zh-CN" sz="2200">
                <a:solidFill>
                  <a:srgbClr val="FF0000"/>
                </a:solidFill>
                <a:latin typeface="Consolas" pitchFamily="49" charset="0"/>
                <a:ea typeface="仿宋" pitchFamily="49" charset="-122"/>
              </a:rPr>
              <a:t>分配作业</a:t>
            </a:r>
            <a:r>
              <a:rPr lang="en-US" altLang="zh-CN" sz="2200">
                <a:solidFill>
                  <a:srgbClr val="FF0000"/>
                </a:solidFill>
                <a:latin typeface="Consolas" pitchFamily="49" charset="0"/>
                <a:ea typeface="仿宋" pitchFamily="49" charset="-122"/>
              </a:rPr>
              <a:t>4</a:t>
            </a:r>
            <a:r>
              <a:rPr lang="zh-CN" altLang="zh-CN" sz="2200">
                <a:solidFill>
                  <a:srgbClr val="0000FF"/>
                </a:solidFill>
                <a:latin typeface="Consolas" pitchFamily="49" charset="0"/>
                <a:ea typeface="仿宋" pitchFamily="49" charset="-122"/>
              </a:rPr>
              <a:t>：机器</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的加工总时间最小，将作业</a:t>
            </a:r>
            <a:r>
              <a:rPr lang="en-US" altLang="zh-CN" sz="2200">
                <a:solidFill>
                  <a:srgbClr val="0000FF"/>
                </a:solidFill>
                <a:latin typeface="Consolas" pitchFamily="49" charset="0"/>
                <a:ea typeface="仿宋" pitchFamily="49" charset="-122"/>
              </a:rPr>
              <a:t>4</a:t>
            </a:r>
            <a:r>
              <a:rPr lang="zh-CN" altLang="zh-CN" sz="2200">
                <a:solidFill>
                  <a:srgbClr val="0000FF"/>
                </a:solidFill>
                <a:latin typeface="Consolas" pitchFamily="49" charset="0"/>
                <a:ea typeface="仿宋" pitchFamily="49" charset="-122"/>
              </a:rPr>
              <a:t>分配给它，此时机器的分配情况为（</a:t>
            </a:r>
            <a:r>
              <a:rPr lang="en-US" altLang="zh-CN" sz="2200">
                <a:solidFill>
                  <a:srgbClr val="0000FF"/>
                </a:solidFill>
                <a:latin typeface="Consolas" pitchFamily="49" charset="0"/>
                <a:ea typeface="仿宋" pitchFamily="49" charset="-122"/>
              </a:rPr>
              <a:t>{6}</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4}</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{2</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3}</a:t>
            </a:r>
            <a:r>
              <a:rPr lang="zh-CN" altLang="zh-CN" sz="2200">
                <a:solidFill>
                  <a:srgbClr val="0000FF"/>
                </a:solidFill>
                <a:latin typeface="Consolas" pitchFamily="49" charset="0"/>
                <a:ea typeface="仿宋" pitchFamily="49" charset="-122"/>
              </a:rPr>
              <a:t>），对应的加工总时间为（</a:t>
            </a:r>
            <a:r>
              <a:rPr lang="en-US" altLang="zh-CN" sz="2200">
                <a:solidFill>
                  <a:srgbClr val="0000FF"/>
                </a:solidFill>
                <a:latin typeface="Consolas" pitchFamily="49" charset="0"/>
                <a:ea typeface="仿宋" pitchFamily="49" charset="-122"/>
              </a:rPr>
              <a:t>16</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24</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23</a:t>
            </a:r>
            <a:r>
              <a:rPr lang="zh-CN" altLang="zh-CN" sz="2200">
                <a:solidFill>
                  <a:srgbClr val="0000FF"/>
                </a:solidFill>
                <a:latin typeface="Consolas" pitchFamily="49" charset="0"/>
                <a:ea typeface="仿宋" pitchFamily="49" charset="-122"/>
              </a:rPr>
              <a:t>）。</a:t>
            </a:r>
          </a:p>
          <a:p>
            <a:pPr algn="l">
              <a:lnSpc>
                <a:spcPts val="3000"/>
              </a:lnSpc>
              <a:spcBef>
                <a:spcPts val="600"/>
              </a:spcBef>
            </a:pPr>
            <a:r>
              <a:rPr lang="en-US" altLang="zh-CN" sz="2200">
                <a:solidFill>
                  <a:srgbClr val="0000FF"/>
                </a:solidFill>
                <a:latin typeface="Consolas" pitchFamily="49" charset="0"/>
                <a:ea typeface="仿宋" pitchFamily="49" charset="-122"/>
              </a:rPr>
              <a:t> </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6</a:t>
            </a:r>
            <a:r>
              <a:rPr lang="zh-CN" altLang="zh-CN" sz="2200">
                <a:solidFill>
                  <a:srgbClr val="0000FF"/>
                </a:solidFill>
                <a:latin typeface="Consolas" pitchFamily="49" charset="0"/>
                <a:ea typeface="仿宋" pitchFamily="49" charset="-122"/>
              </a:rPr>
              <a:t>）</a:t>
            </a:r>
            <a:r>
              <a:rPr lang="zh-CN" altLang="zh-CN" sz="2200">
                <a:solidFill>
                  <a:srgbClr val="FF0000"/>
                </a:solidFill>
                <a:latin typeface="Consolas" pitchFamily="49" charset="0"/>
                <a:ea typeface="仿宋" pitchFamily="49" charset="-122"/>
              </a:rPr>
              <a:t>分配作业</a:t>
            </a:r>
            <a:r>
              <a:rPr lang="en-US" altLang="zh-CN" sz="2200">
                <a:solidFill>
                  <a:srgbClr val="FF0000"/>
                </a:solidFill>
                <a:latin typeface="Consolas" pitchFamily="49" charset="0"/>
                <a:ea typeface="仿宋" pitchFamily="49" charset="-122"/>
              </a:rPr>
              <a:t>5</a:t>
            </a:r>
            <a:r>
              <a:rPr lang="zh-CN" altLang="zh-CN" sz="2200">
                <a:solidFill>
                  <a:srgbClr val="0000FF"/>
                </a:solidFill>
                <a:latin typeface="Consolas" pitchFamily="49" charset="0"/>
                <a:ea typeface="仿宋" pitchFamily="49" charset="-122"/>
              </a:rPr>
              <a:t>：机器</a:t>
            </a:r>
            <a:r>
              <a:rPr lang="en-US" altLang="zh-CN" sz="2200">
                <a:solidFill>
                  <a:srgbClr val="0000FF"/>
                </a:solidFill>
                <a:latin typeface="Consolas" pitchFamily="49" charset="0"/>
                <a:ea typeface="仿宋" pitchFamily="49" charset="-122"/>
              </a:rPr>
              <a:t>0</a:t>
            </a:r>
            <a:r>
              <a:rPr lang="zh-CN" altLang="zh-CN" sz="2200">
                <a:solidFill>
                  <a:srgbClr val="0000FF"/>
                </a:solidFill>
                <a:latin typeface="Consolas" pitchFamily="49" charset="0"/>
                <a:ea typeface="仿宋" pitchFamily="49" charset="-122"/>
              </a:rPr>
              <a:t>的加工总时间最小，将作业</a:t>
            </a:r>
            <a:r>
              <a:rPr lang="en-US" altLang="zh-CN" sz="2200">
                <a:solidFill>
                  <a:srgbClr val="0000FF"/>
                </a:solidFill>
                <a:latin typeface="Consolas" pitchFamily="49" charset="0"/>
                <a:ea typeface="仿宋" pitchFamily="49" charset="-122"/>
              </a:rPr>
              <a:t>5</a:t>
            </a:r>
            <a:r>
              <a:rPr lang="zh-CN" altLang="zh-CN" sz="2200">
                <a:solidFill>
                  <a:srgbClr val="0000FF"/>
                </a:solidFill>
                <a:latin typeface="Consolas" pitchFamily="49" charset="0"/>
                <a:ea typeface="仿宋" pitchFamily="49" charset="-122"/>
              </a:rPr>
              <a:t>分配给它，此时机器的分配情况为（</a:t>
            </a:r>
            <a:r>
              <a:rPr lang="en-US" altLang="zh-CN" sz="2200">
                <a:solidFill>
                  <a:srgbClr val="0000FF"/>
                </a:solidFill>
                <a:latin typeface="Consolas" pitchFamily="49" charset="0"/>
                <a:ea typeface="仿宋" pitchFamily="49" charset="-122"/>
              </a:rPr>
              <a:t>{6</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5}</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4}</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{2</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3}</a:t>
            </a:r>
            <a:r>
              <a:rPr lang="zh-CN" altLang="zh-CN" sz="2200">
                <a:solidFill>
                  <a:srgbClr val="0000FF"/>
                </a:solidFill>
                <a:latin typeface="Consolas" pitchFamily="49" charset="0"/>
                <a:ea typeface="仿宋" pitchFamily="49" charset="-122"/>
              </a:rPr>
              <a:t>），对应的加工总时间为（</a:t>
            </a:r>
            <a:r>
              <a:rPr lang="en-US" altLang="zh-CN" sz="2200">
                <a:solidFill>
                  <a:srgbClr val="0000FF"/>
                </a:solidFill>
                <a:latin typeface="Consolas" pitchFamily="49" charset="0"/>
                <a:ea typeface="仿宋" pitchFamily="49" charset="-122"/>
              </a:rPr>
              <a:t>25</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24</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23</a:t>
            </a:r>
            <a:r>
              <a:rPr lang="zh-CN" altLang="zh-CN" sz="2200">
                <a:solidFill>
                  <a:srgbClr val="0000FF"/>
                </a:solidFill>
                <a:latin typeface="Consolas" pitchFamily="49" charset="0"/>
                <a:ea typeface="仿宋" pitchFamily="49" charset="-122"/>
              </a:rPr>
              <a:t>）。</a:t>
            </a:r>
          </a:p>
          <a:p>
            <a:pPr algn="l">
              <a:lnSpc>
                <a:spcPts val="3000"/>
              </a:lnSpc>
              <a:spcBef>
                <a:spcPts val="600"/>
              </a:spcBef>
            </a:pPr>
            <a:r>
              <a:rPr lang="en-US" altLang="zh-CN" sz="2200">
                <a:solidFill>
                  <a:srgbClr val="0000FF"/>
                </a:solidFill>
                <a:latin typeface="Consolas" pitchFamily="49" charset="0"/>
                <a:ea typeface="仿宋" pitchFamily="49" charset="-122"/>
              </a:rPr>
              <a:t> </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7</a:t>
            </a:r>
            <a:r>
              <a:rPr lang="zh-CN" altLang="zh-CN" sz="2200">
                <a:solidFill>
                  <a:srgbClr val="0000FF"/>
                </a:solidFill>
                <a:latin typeface="Consolas" pitchFamily="49" charset="0"/>
                <a:ea typeface="仿宋" pitchFamily="49" charset="-122"/>
              </a:rPr>
              <a:t>）</a:t>
            </a:r>
            <a:r>
              <a:rPr lang="zh-CN" altLang="zh-CN" sz="2200">
                <a:solidFill>
                  <a:srgbClr val="FF0000"/>
                </a:solidFill>
                <a:latin typeface="Consolas" pitchFamily="49" charset="0"/>
                <a:ea typeface="仿宋" pitchFamily="49" charset="-122"/>
              </a:rPr>
              <a:t>分配作业</a:t>
            </a:r>
            <a:r>
              <a:rPr lang="en-US" altLang="zh-CN" sz="2200">
                <a:solidFill>
                  <a:srgbClr val="FF0000"/>
                </a:solidFill>
                <a:latin typeface="Consolas" pitchFamily="49" charset="0"/>
                <a:ea typeface="仿宋" pitchFamily="49" charset="-122"/>
              </a:rPr>
              <a:t>0</a:t>
            </a:r>
            <a:r>
              <a:rPr lang="zh-CN" altLang="zh-CN" sz="2200">
                <a:solidFill>
                  <a:srgbClr val="0000FF"/>
                </a:solidFill>
                <a:latin typeface="Consolas" pitchFamily="49" charset="0"/>
                <a:ea typeface="仿宋" pitchFamily="49" charset="-122"/>
              </a:rPr>
              <a:t>：机器</a:t>
            </a:r>
            <a:r>
              <a:rPr lang="en-US" altLang="zh-CN" sz="2200">
                <a:solidFill>
                  <a:srgbClr val="0000FF"/>
                </a:solidFill>
                <a:latin typeface="Consolas" pitchFamily="49" charset="0"/>
                <a:ea typeface="仿宋" pitchFamily="49" charset="-122"/>
              </a:rPr>
              <a:t>2</a:t>
            </a:r>
            <a:r>
              <a:rPr lang="zh-CN" altLang="zh-CN" sz="2200">
                <a:solidFill>
                  <a:srgbClr val="0000FF"/>
                </a:solidFill>
                <a:latin typeface="Consolas" pitchFamily="49" charset="0"/>
                <a:ea typeface="仿宋" pitchFamily="49" charset="-122"/>
              </a:rPr>
              <a:t>的加工总时间最小，将作业</a:t>
            </a:r>
            <a:r>
              <a:rPr lang="en-US" altLang="zh-CN" sz="2200">
                <a:solidFill>
                  <a:srgbClr val="0000FF"/>
                </a:solidFill>
                <a:latin typeface="Consolas" pitchFamily="49" charset="0"/>
                <a:ea typeface="仿宋" pitchFamily="49" charset="-122"/>
              </a:rPr>
              <a:t>0</a:t>
            </a:r>
            <a:r>
              <a:rPr lang="zh-CN" altLang="zh-CN" sz="2200">
                <a:solidFill>
                  <a:srgbClr val="0000FF"/>
                </a:solidFill>
                <a:latin typeface="Consolas" pitchFamily="49" charset="0"/>
                <a:ea typeface="仿宋" pitchFamily="49" charset="-122"/>
              </a:rPr>
              <a:t>分配给它，此时机器的分配情况为（</a:t>
            </a:r>
            <a:r>
              <a:rPr lang="en-US" altLang="zh-CN" sz="2200">
                <a:solidFill>
                  <a:srgbClr val="0000FF"/>
                </a:solidFill>
                <a:latin typeface="Consolas" pitchFamily="49" charset="0"/>
                <a:ea typeface="仿宋" pitchFamily="49" charset="-122"/>
              </a:rPr>
              <a:t>{6</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5}</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4}</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{2</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3</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0}</a:t>
            </a:r>
            <a:r>
              <a:rPr lang="zh-CN" altLang="zh-CN" sz="2200">
                <a:solidFill>
                  <a:srgbClr val="0000FF"/>
                </a:solidFill>
                <a:latin typeface="Consolas" pitchFamily="49" charset="0"/>
                <a:ea typeface="仿宋" pitchFamily="49" charset="-122"/>
              </a:rPr>
              <a:t>），对应的加工总时间为（</a:t>
            </a:r>
            <a:r>
              <a:rPr lang="en-US" altLang="zh-CN" sz="2200">
                <a:solidFill>
                  <a:srgbClr val="0000FF"/>
                </a:solidFill>
                <a:latin typeface="Consolas" pitchFamily="49" charset="0"/>
                <a:ea typeface="仿宋" pitchFamily="49" charset="-122"/>
              </a:rPr>
              <a:t>25</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24</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31</a:t>
            </a:r>
            <a:r>
              <a:rPr lang="zh-CN" altLang="zh-CN" sz="2200">
                <a:solidFill>
                  <a:srgbClr val="0000FF"/>
                </a:solidFill>
                <a:latin typeface="Consolas" pitchFamily="49" charset="0"/>
                <a:ea typeface="仿宋" pitchFamily="49" charset="-122"/>
              </a:rPr>
              <a:t>）。</a:t>
            </a:r>
          </a:p>
        </p:txBody>
      </p:sp>
      <p:graphicFrame>
        <p:nvGraphicFramePr>
          <p:cNvPr id="7" name="表格 6"/>
          <p:cNvGraphicFramePr>
            <a:graphicFrameLocks noGrp="1"/>
          </p:cNvGraphicFramePr>
          <p:nvPr/>
        </p:nvGraphicFramePr>
        <p:xfrm>
          <a:off x="1071540" y="357166"/>
          <a:ext cx="6429418" cy="928694"/>
        </p:xfrm>
        <a:graphic>
          <a:graphicData uri="http://schemas.openxmlformats.org/drawingml/2006/table">
            <a:tbl>
              <a:tblPr>
                <a:tableStyleId>{35758FB7-9AC5-4552-8A53-C91805E547FA}</a:tableStyleId>
              </a:tblPr>
              <a:tblGrid>
                <a:gridCol w="2106683">
                  <a:extLst>
                    <a:ext uri="{9D8B030D-6E8A-4147-A177-3AD203B41FA5}">
                      <a16:colId xmlns:a16="http://schemas.microsoft.com/office/drawing/2014/main" val="20000"/>
                    </a:ext>
                  </a:extLst>
                </a:gridCol>
                <a:gridCol w="536523">
                  <a:extLst>
                    <a:ext uri="{9D8B030D-6E8A-4147-A177-3AD203B41FA5}">
                      <a16:colId xmlns:a16="http://schemas.microsoft.com/office/drawing/2014/main" val="20001"/>
                    </a:ext>
                  </a:extLst>
                </a:gridCol>
                <a:gridCol w="857256">
                  <a:extLst>
                    <a:ext uri="{9D8B030D-6E8A-4147-A177-3AD203B41FA5}">
                      <a16:colId xmlns:a16="http://schemas.microsoft.com/office/drawing/2014/main" val="20002"/>
                    </a:ext>
                  </a:extLst>
                </a:gridCol>
                <a:gridCol w="571504">
                  <a:extLst>
                    <a:ext uri="{9D8B030D-6E8A-4147-A177-3AD203B41FA5}">
                      <a16:colId xmlns:a16="http://schemas.microsoft.com/office/drawing/2014/main" val="20003"/>
                    </a:ext>
                  </a:extLst>
                </a:gridCol>
                <a:gridCol w="642942">
                  <a:extLst>
                    <a:ext uri="{9D8B030D-6E8A-4147-A177-3AD203B41FA5}">
                      <a16:colId xmlns:a16="http://schemas.microsoft.com/office/drawing/2014/main" val="20004"/>
                    </a:ext>
                  </a:extLst>
                </a:gridCol>
                <a:gridCol w="620806">
                  <a:extLst>
                    <a:ext uri="{9D8B030D-6E8A-4147-A177-3AD203B41FA5}">
                      <a16:colId xmlns:a16="http://schemas.microsoft.com/office/drawing/2014/main" val="20005"/>
                    </a:ext>
                  </a:extLst>
                </a:gridCol>
                <a:gridCol w="546852">
                  <a:extLst>
                    <a:ext uri="{9D8B030D-6E8A-4147-A177-3AD203B41FA5}">
                      <a16:colId xmlns:a16="http://schemas.microsoft.com/office/drawing/2014/main" val="20006"/>
                    </a:ext>
                  </a:extLst>
                </a:gridCol>
                <a:gridCol w="546852">
                  <a:extLst>
                    <a:ext uri="{9D8B030D-6E8A-4147-A177-3AD203B41FA5}">
                      <a16:colId xmlns:a16="http://schemas.microsoft.com/office/drawing/2014/main" val="20007"/>
                    </a:ext>
                  </a:extLst>
                </a:gridCol>
              </a:tblGrid>
              <a:tr h="464347">
                <a:tc>
                  <a:txBody>
                    <a:bodyPr/>
                    <a:lstStyle/>
                    <a:p>
                      <a:pPr indent="0" algn="ctr">
                        <a:lnSpc>
                          <a:spcPts val="3000"/>
                        </a:lnSpc>
                        <a:spcAft>
                          <a:spcPts val="0"/>
                        </a:spcAft>
                      </a:pPr>
                      <a:r>
                        <a:rPr lang="zh-CN" sz="2000" kern="100">
                          <a:solidFill>
                            <a:srgbClr val="0000FF"/>
                          </a:solidFill>
                          <a:latin typeface="Consolas" pitchFamily="49" charset="0"/>
                          <a:ea typeface="仿宋" pitchFamily="49" charset="-122"/>
                        </a:rPr>
                        <a:t>作业编号</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chemeClr val="tx1"/>
                          </a:solidFill>
                          <a:latin typeface="Consolas" pitchFamily="49" charset="0"/>
                          <a:ea typeface="仿宋" pitchFamily="49" charset="-122"/>
                        </a:rPr>
                        <a:t>6</a:t>
                      </a:r>
                      <a:endParaRPr lang="zh-CN" sz="2000" kern="100">
                        <a:solidFill>
                          <a:schemeClr val="tx1"/>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chemeClr val="tx1"/>
                          </a:solidFill>
                          <a:latin typeface="Consolas" pitchFamily="49" charset="0"/>
                          <a:ea typeface="仿宋" pitchFamily="49" charset="-122"/>
                        </a:rPr>
                        <a:t>1</a:t>
                      </a:r>
                      <a:endParaRPr lang="zh-CN" sz="2000" kern="100">
                        <a:solidFill>
                          <a:schemeClr val="tx1"/>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chemeClr val="tx1"/>
                          </a:solidFill>
                          <a:latin typeface="Consolas" pitchFamily="49" charset="0"/>
                          <a:ea typeface="仿宋" pitchFamily="49" charset="-122"/>
                        </a:rPr>
                        <a:t>2</a:t>
                      </a:r>
                      <a:endParaRPr lang="zh-CN" sz="2000" kern="100">
                        <a:solidFill>
                          <a:schemeClr val="tx1"/>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chemeClr val="tx1"/>
                          </a:solidFill>
                          <a:latin typeface="Consolas" pitchFamily="49" charset="0"/>
                          <a:ea typeface="仿宋" pitchFamily="49" charset="-122"/>
                        </a:rPr>
                        <a:t>3</a:t>
                      </a:r>
                      <a:endParaRPr lang="zh-CN" sz="2000" kern="100">
                        <a:solidFill>
                          <a:schemeClr val="tx1"/>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chemeClr val="tx1"/>
                          </a:solidFill>
                          <a:latin typeface="Consolas" pitchFamily="49" charset="0"/>
                          <a:ea typeface="仿宋" pitchFamily="49" charset="-122"/>
                        </a:rPr>
                        <a:t>4</a:t>
                      </a:r>
                      <a:endParaRPr lang="zh-CN" sz="2000" kern="100">
                        <a:solidFill>
                          <a:schemeClr val="tx1"/>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chemeClr val="tx1"/>
                          </a:solidFill>
                          <a:latin typeface="Consolas" pitchFamily="49" charset="0"/>
                          <a:ea typeface="仿宋" pitchFamily="49" charset="-122"/>
                        </a:rPr>
                        <a:t>5</a:t>
                      </a:r>
                      <a:endParaRPr lang="zh-CN" sz="2000" kern="100">
                        <a:solidFill>
                          <a:schemeClr val="tx1"/>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chemeClr val="tx1"/>
                          </a:solidFill>
                          <a:latin typeface="Consolas" pitchFamily="49" charset="0"/>
                          <a:ea typeface="仿宋" pitchFamily="49" charset="-122"/>
                        </a:rPr>
                        <a:t>0</a:t>
                      </a:r>
                      <a:endParaRPr lang="zh-CN" sz="2000" kern="100">
                        <a:solidFill>
                          <a:schemeClr val="tx1"/>
                        </a:solidFill>
                        <a:latin typeface="Consolas" pitchFamily="49" charset="0"/>
                        <a:ea typeface="仿宋" pitchFamily="49" charset="-122"/>
                        <a:cs typeface="Times New Roman"/>
                      </a:endParaRPr>
                    </a:p>
                  </a:txBody>
                  <a:tcPr marL="68580" marR="68580" marT="0" marB="0">
                    <a:solidFill>
                      <a:schemeClr val="bg1">
                        <a:lumMod val="95000"/>
                      </a:schemeClr>
                    </a:solidFill>
                  </a:tcPr>
                </a:tc>
                <a:extLst>
                  <a:ext uri="{0D108BD9-81ED-4DB2-BD59-A6C34878D82A}">
                    <a16:rowId xmlns:a16="http://schemas.microsoft.com/office/drawing/2014/main" val="10000"/>
                  </a:ext>
                </a:extLst>
              </a:tr>
              <a:tr h="464347">
                <a:tc>
                  <a:txBody>
                    <a:bodyPr/>
                    <a:lstStyle/>
                    <a:p>
                      <a:pPr indent="0" algn="ctr">
                        <a:lnSpc>
                          <a:spcPts val="3000"/>
                        </a:lnSpc>
                        <a:spcAft>
                          <a:spcPts val="0"/>
                        </a:spcAft>
                      </a:pPr>
                      <a:r>
                        <a:rPr lang="zh-CN" sz="2000" kern="100">
                          <a:solidFill>
                            <a:srgbClr val="0000FF"/>
                          </a:solidFill>
                          <a:latin typeface="Consolas" pitchFamily="49" charset="0"/>
                          <a:ea typeface="仿宋" pitchFamily="49" charset="-122"/>
                        </a:rPr>
                        <a:t>作业的处理时间</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altLang="zh-CN" sz="2000" kern="100">
                          <a:solidFill>
                            <a:srgbClr val="0000FF"/>
                          </a:solidFill>
                          <a:latin typeface="Consolas" pitchFamily="49" charset="0"/>
                          <a:ea typeface="仿宋" pitchFamily="49" charset="-122"/>
                          <a:cs typeface="+mn-cs"/>
                        </a:rPr>
                        <a:t>16</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rgbClr val="0000FF"/>
                          </a:solidFill>
                          <a:latin typeface="Consolas" pitchFamily="49" charset="0"/>
                          <a:ea typeface="仿宋" pitchFamily="49" charset="-122"/>
                        </a:rPr>
                        <a:t>14</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rgbClr val="0000FF"/>
                          </a:solidFill>
                          <a:latin typeface="Consolas" pitchFamily="49" charset="0"/>
                          <a:ea typeface="仿宋" pitchFamily="49" charset="-122"/>
                        </a:rPr>
                        <a:t>12</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rgbClr val="0000FF"/>
                          </a:solidFill>
                          <a:latin typeface="Consolas" pitchFamily="49" charset="0"/>
                          <a:ea typeface="仿宋" pitchFamily="49" charset="-122"/>
                        </a:rPr>
                        <a:t>11</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rgbClr val="0000FF"/>
                          </a:solidFill>
                          <a:latin typeface="Consolas" pitchFamily="49" charset="0"/>
                          <a:ea typeface="仿宋" pitchFamily="49" charset="-122"/>
                        </a:rPr>
                        <a:t>10</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rgbClr val="0000FF"/>
                          </a:solidFill>
                          <a:latin typeface="Consolas" pitchFamily="49" charset="0"/>
                          <a:ea typeface="仿宋" pitchFamily="49" charset="-122"/>
                        </a:rPr>
                        <a:t>9</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3000"/>
                        </a:lnSpc>
                        <a:spcAft>
                          <a:spcPts val="0"/>
                        </a:spcAft>
                      </a:pPr>
                      <a:r>
                        <a:rPr lang="en-US" sz="2000" kern="100">
                          <a:solidFill>
                            <a:srgbClr val="0000FF"/>
                          </a:solidFill>
                          <a:latin typeface="Consolas" pitchFamily="49" charset="0"/>
                          <a:ea typeface="仿宋" pitchFamily="49" charset="-122"/>
                        </a:rPr>
                        <a:t>8</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extLst>
                  <a:ext uri="{0D108BD9-81ED-4DB2-BD59-A6C34878D82A}">
                    <a16:rowId xmlns:a16="http://schemas.microsoft.com/office/drawing/2014/main" val="10001"/>
                  </a:ext>
                </a:extLst>
              </a:tr>
            </a:tbl>
          </a:graphicData>
        </a:graphic>
      </p:graphicFrame>
      <p:sp>
        <p:nvSpPr>
          <p:cNvPr id="8" name="灯片编号占位符 7"/>
          <p:cNvSpPr>
            <a:spLocks noGrp="1"/>
          </p:cNvSpPr>
          <p:nvPr>
            <p:ph type="sldNum" sz="quarter" idx="12"/>
          </p:nvPr>
        </p:nvSpPr>
        <p:spPr/>
        <p:txBody>
          <a:bodyPr/>
          <a:lstStyle/>
          <a:p>
            <a:fld id="{7AF016A1-9F15-429F-9EFD-84004B73C732}" type="slidenum">
              <a:rPr lang="en-US" altLang="zh-CN" smtClean="0"/>
              <a:pPr/>
              <a:t>54</a:t>
            </a:fld>
            <a:r>
              <a:rPr lang="en-US" altLang="zh-CN"/>
              <a:t>/75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714348" y="714356"/>
            <a:ext cx="3857652"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仿宋" pitchFamily="49" charset="-122"/>
                <a:ea typeface="仿宋" pitchFamily="49" charset="-122"/>
              </a:rPr>
              <a:t>最后的答案如下：</a:t>
            </a:r>
          </a:p>
        </p:txBody>
      </p:sp>
      <p:sp>
        <p:nvSpPr>
          <p:cNvPr id="5" name="TextBox 4"/>
          <p:cNvSpPr txBox="1"/>
          <p:nvPr/>
        </p:nvSpPr>
        <p:spPr>
          <a:xfrm>
            <a:off x="214282" y="1500174"/>
            <a:ext cx="4143404" cy="1803159"/>
          </a:xfrm>
          <a:prstGeom prst="rect">
            <a:avLst/>
          </a:prstGeom>
          <a:ln>
            <a:solidFill>
              <a:schemeClr val="accent6">
                <a:lumMod val="40000"/>
                <a:lumOff val="6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ct val="100000"/>
              </a:lnSpc>
              <a:spcBef>
                <a:spcPts val="600"/>
              </a:spcBef>
            </a:pPr>
            <a:r>
              <a:rPr lang="zh-CN" altLang="zh-CN" sz="2200">
                <a:solidFill>
                  <a:srgbClr val="0000FF"/>
                </a:solidFill>
                <a:latin typeface="Consolas" pitchFamily="49" charset="0"/>
                <a:ea typeface="仿宋" pitchFamily="49" charset="-122"/>
              </a:rPr>
              <a:t>机器</a:t>
            </a:r>
            <a:r>
              <a:rPr lang="en-US" altLang="zh-CN" sz="2200">
                <a:solidFill>
                  <a:srgbClr val="0000FF"/>
                </a:solidFill>
                <a:latin typeface="Consolas" pitchFamily="49" charset="0"/>
                <a:ea typeface="仿宋" pitchFamily="49" charset="-122"/>
              </a:rPr>
              <a:t>0: 6[16] 5[9] </a:t>
            </a:r>
            <a:endParaRPr lang="zh-CN" altLang="zh-CN" sz="2200">
              <a:solidFill>
                <a:srgbClr val="0000FF"/>
              </a:solidFill>
              <a:latin typeface="Consolas" pitchFamily="49" charset="0"/>
              <a:ea typeface="仿宋" pitchFamily="49" charset="-122"/>
            </a:endParaRPr>
          </a:p>
          <a:p>
            <a:pPr algn="l">
              <a:lnSpc>
                <a:spcPct val="100000"/>
              </a:lnSpc>
              <a:spcBef>
                <a:spcPts val="600"/>
              </a:spcBef>
            </a:pPr>
            <a:r>
              <a:rPr lang="zh-CN" altLang="zh-CN" sz="2200">
                <a:solidFill>
                  <a:srgbClr val="0000FF"/>
                </a:solidFill>
                <a:latin typeface="Consolas" pitchFamily="49" charset="0"/>
                <a:ea typeface="仿宋" pitchFamily="49" charset="-122"/>
              </a:rPr>
              <a:t>机器</a:t>
            </a:r>
            <a:r>
              <a:rPr lang="en-US" altLang="zh-CN" sz="2200">
                <a:solidFill>
                  <a:srgbClr val="0000FF"/>
                </a:solidFill>
                <a:latin typeface="Consolas" pitchFamily="49" charset="0"/>
                <a:ea typeface="仿宋" pitchFamily="49" charset="-122"/>
              </a:rPr>
              <a:t>1: 1[14] 4[10] </a:t>
            </a:r>
            <a:endParaRPr lang="zh-CN" altLang="zh-CN" sz="2200">
              <a:solidFill>
                <a:srgbClr val="0000FF"/>
              </a:solidFill>
              <a:latin typeface="Consolas" pitchFamily="49" charset="0"/>
              <a:ea typeface="仿宋" pitchFamily="49" charset="-122"/>
            </a:endParaRPr>
          </a:p>
          <a:p>
            <a:pPr algn="l">
              <a:lnSpc>
                <a:spcPct val="100000"/>
              </a:lnSpc>
              <a:spcBef>
                <a:spcPts val="600"/>
              </a:spcBef>
            </a:pPr>
            <a:r>
              <a:rPr lang="zh-CN" altLang="zh-CN" sz="2200">
                <a:solidFill>
                  <a:srgbClr val="0000FF"/>
                </a:solidFill>
                <a:latin typeface="Consolas" pitchFamily="49" charset="0"/>
                <a:ea typeface="仿宋" pitchFamily="49" charset="-122"/>
              </a:rPr>
              <a:t>机器</a:t>
            </a:r>
            <a:r>
              <a:rPr lang="en-US" altLang="zh-CN" sz="2200">
                <a:solidFill>
                  <a:srgbClr val="0000FF"/>
                </a:solidFill>
                <a:latin typeface="Consolas" pitchFamily="49" charset="0"/>
                <a:ea typeface="仿宋" pitchFamily="49" charset="-122"/>
              </a:rPr>
              <a:t>2: 2[12] 3[11] 0[8] </a:t>
            </a:r>
            <a:endParaRPr lang="zh-CN" altLang="zh-CN" sz="2200">
              <a:solidFill>
                <a:srgbClr val="0000FF"/>
              </a:solidFill>
              <a:latin typeface="Consolas" pitchFamily="49" charset="0"/>
              <a:ea typeface="仿宋" pitchFamily="49" charset="-122"/>
            </a:endParaRPr>
          </a:p>
          <a:p>
            <a:pPr algn="l">
              <a:lnSpc>
                <a:spcPct val="100000"/>
              </a:lnSpc>
              <a:spcBef>
                <a:spcPts val="600"/>
              </a:spcBef>
            </a:pPr>
            <a:r>
              <a:rPr lang="zh-CN" altLang="zh-CN" sz="2200">
                <a:solidFill>
                  <a:srgbClr val="0000FF"/>
                </a:solidFill>
                <a:latin typeface="Consolas" pitchFamily="49" charset="0"/>
                <a:ea typeface="仿宋" pitchFamily="49" charset="-122"/>
              </a:rPr>
              <a:t>最短工期</a:t>
            </a:r>
            <a:r>
              <a:rPr lang="en-US" altLang="zh-CN" sz="2200">
                <a:solidFill>
                  <a:srgbClr val="0000FF"/>
                </a:solidFill>
                <a:latin typeface="Consolas" pitchFamily="49" charset="0"/>
                <a:ea typeface="仿宋" pitchFamily="49" charset="-122"/>
              </a:rPr>
              <a:t>=31</a:t>
            </a:r>
            <a:endParaRPr lang="zh-CN" altLang="zh-CN" sz="2200">
              <a:solidFill>
                <a:srgbClr val="0000FF"/>
              </a:solidFill>
              <a:latin typeface="Consolas" pitchFamily="49" charset="0"/>
              <a:ea typeface="仿宋" pitchFamily="49" charset="-122"/>
            </a:endParaRPr>
          </a:p>
        </p:txBody>
      </p:sp>
      <p:grpSp>
        <p:nvGrpSpPr>
          <p:cNvPr id="10" name="组合 9"/>
          <p:cNvGrpSpPr/>
          <p:nvPr/>
        </p:nvGrpSpPr>
        <p:grpSpPr>
          <a:xfrm>
            <a:off x="1357290" y="1500174"/>
            <a:ext cx="7572428" cy="2400374"/>
            <a:chOff x="1357290" y="1500174"/>
            <a:chExt cx="7572428" cy="2400374"/>
          </a:xfrm>
        </p:grpSpPr>
        <p:sp>
          <p:nvSpPr>
            <p:cNvPr id="7" name="TextBox 6"/>
            <p:cNvSpPr txBox="1"/>
            <p:nvPr/>
          </p:nvSpPr>
          <p:spPr>
            <a:xfrm>
              <a:off x="4786282" y="1500174"/>
              <a:ext cx="4143436" cy="1803159"/>
            </a:xfrm>
            <a:prstGeom prst="rect">
              <a:avLst/>
            </a:prstGeom>
            <a:ln>
              <a:solidFill>
                <a:schemeClr val="accent6">
                  <a:lumMod val="40000"/>
                  <a:lumOff val="6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ct val="100000"/>
                </a:lnSpc>
                <a:spcBef>
                  <a:spcPts val="600"/>
                </a:spcBef>
              </a:pPr>
              <a:r>
                <a:rPr lang="zh-CN" altLang="zh-CN" sz="2200">
                  <a:solidFill>
                    <a:srgbClr val="0000FF"/>
                  </a:solidFill>
                  <a:latin typeface="Consolas" pitchFamily="49" charset="0"/>
                  <a:ea typeface="仿宋" pitchFamily="49" charset="-122"/>
                </a:rPr>
                <a:t>机器</a:t>
              </a:r>
              <a:r>
                <a:rPr lang="en-US" altLang="zh-CN" sz="2200">
                  <a:solidFill>
                    <a:srgbClr val="0000FF"/>
                  </a:solidFill>
                  <a:latin typeface="Consolas" pitchFamily="49" charset="0"/>
                  <a:ea typeface="仿宋" pitchFamily="49" charset="-122"/>
                </a:rPr>
                <a:t>0: 0[8] 3[11] 6[16] </a:t>
              </a:r>
              <a:endParaRPr lang="zh-CN" altLang="zh-CN" sz="2200">
                <a:solidFill>
                  <a:srgbClr val="0000FF"/>
                </a:solidFill>
                <a:latin typeface="Consolas" pitchFamily="49" charset="0"/>
                <a:ea typeface="仿宋" pitchFamily="49" charset="-122"/>
              </a:endParaRPr>
            </a:p>
            <a:p>
              <a:pPr algn="l">
                <a:lnSpc>
                  <a:spcPct val="100000"/>
                </a:lnSpc>
                <a:spcBef>
                  <a:spcPts val="600"/>
                </a:spcBef>
              </a:pPr>
              <a:r>
                <a:rPr lang="zh-CN" altLang="zh-CN" sz="2200">
                  <a:solidFill>
                    <a:srgbClr val="0000FF"/>
                  </a:solidFill>
                  <a:latin typeface="Consolas" pitchFamily="49" charset="0"/>
                  <a:ea typeface="仿宋" pitchFamily="49" charset="-122"/>
                </a:rPr>
                <a:t>机器</a:t>
              </a:r>
              <a:r>
                <a:rPr lang="en-US" altLang="zh-CN" sz="2200">
                  <a:solidFill>
                    <a:srgbClr val="0000FF"/>
                  </a:solidFill>
                  <a:latin typeface="Consolas" pitchFamily="49" charset="0"/>
                  <a:ea typeface="仿宋" pitchFamily="49" charset="-122"/>
                </a:rPr>
                <a:t>1: 1[14] 5[9] </a:t>
              </a:r>
              <a:endParaRPr lang="zh-CN" altLang="zh-CN" sz="2200">
                <a:solidFill>
                  <a:srgbClr val="0000FF"/>
                </a:solidFill>
                <a:latin typeface="Consolas" pitchFamily="49" charset="0"/>
                <a:ea typeface="仿宋" pitchFamily="49" charset="-122"/>
              </a:endParaRPr>
            </a:p>
            <a:p>
              <a:pPr algn="l">
                <a:lnSpc>
                  <a:spcPct val="100000"/>
                </a:lnSpc>
                <a:spcBef>
                  <a:spcPts val="600"/>
                </a:spcBef>
              </a:pPr>
              <a:r>
                <a:rPr lang="zh-CN" altLang="zh-CN" sz="2200">
                  <a:solidFill>
                    <a:srgbClr val="0000FF"/>
                  </a:solidFill>
                  <a:latin typeface="Consolas" pitchFamily="49" charset="0"/>
                  <a:ea typeface="仿宋" pitchFamily="49" charset="-122"/>
                </a:rPr>
                <a:t>机器</a:t>
              </a:r>
              <a:r>
                <a:rPr lang="en-US" altLang="zh-CN" sz="2200">
                  <a:solidFill>
                    <a:srgbClr val="0000FF"/>
                  </a:solidFill>
                  <a:latin typeface="Consolas" pitchFamily="49" charset="0"/>
                  <a:ea typeface="仿宋" pitchFamily="49" charset="-122"/>
                </a:rPr>
                <a:t>2: 2[12] 4[10] </a:t>
              </a:r>
              <a:endParaRPr lang="zh-CN" altLang="zh-CN" sz="2200">
                <a:solidFill>
                  <a:srgbClr val="0000FF"/>
                </a:solidFill>
                <a:latin typeface="Consolas" pitchFamily="49" charset="0"/>
                <a:ea typeface="仿宋" pitchFamily="49" charset="-122"/>
              </a:endParaRPr>
            </a:p>
            <a:p>
              <a:pPr algn="l">
                <a:lnSpc>
                  <a:spcPct val="100000"/>
                </a:lnSpc>
                <a:spcBef>
                  <a:spcPts val="600"/>
                </a:spcBef>
              </a:pPr>
              <a:r>
                <a:rPr lang="zh-CN" altLang="zh-CN" sz="2200">
                  <a:solidFill>
                    <a:srgbClr val="0000FF"/>
                  </a:solidFill>
                  <a:latin typeface="Consolas" pitchFamily="49" charset="0"/>
                  <a:ea typeface="仿宋" pitchFamily="49" charset="-122"/>
                </a:rPr>
                <a:t>最短工期</a:t>
              </a:r>
              <a:r>
                <a:rPr lang="en-US" altLang="zh-CN" sz="2200">
                  <a:solidFill>
                    <a:srgbClr val="0000FF"/>
                  </a:solidFill>
                  <a:latin typeface="Consolas" pitchFamily="49" charset="0"/>
                  <a:ea typeface="仿宋" pitchFamily="49" charset="-122"/>
                </a:rPr>
                <a:t>=35</a:t>
              </a:r>
              <a:endParaRPr lang="zh-CN" altLang="zh-CN" sz="2200">
                <a:solidFill>
                  <a:srgbClr val="0000FF"/>
                </a:solidFill>
                <a:latin typeface="Consolas" pitchFamily="49" charset="0"/>
                <a:ea typeface="仿宋" pitchFamily="49" charset="-122"/>
              </a:endParaRPr>
            </a:p>
          </p:txBody>
        </p:sp>
        <p:sp>
          <p:nvSpPr>
            <p:cNvPr id="8" name="TextBox 7"/>
            <p:cNvSpPr txBox="1"/>
            <p:nvPr/>
          </p:nvSpPr>
          <p:spPr>
            <a:xfrm>
              <a:off x="1357290" y="3500438"/>
              <a:ext cx="1500198" cy="400110"/>
            </a:xfrm>
            <a:prstGeom prst="rect">
              <a:avLst/>
            </a:prstGeom>
            <a:noFill/>
          </p:spPr>
          <p:txBody>
            <a:bodyPr wrap="square" rtlCol="0">
              <a:spAutoFit/>
            </a:bodyPr>
            <a:lstStyle/>
            <a:p>
              <a:pPr algn="l">
                <a:lnSpc>
                  <a:spcPct val="100000"/>
                </a:lnSpc>
                <a:spcBef>
                  <a:spcPts val="0"/>
                </a:spcBef>
              </a:pPr>
              <a:r>
                <a:rPr lang="zh-CN" altLang="en-US" sz="2000">
                  <a:solidFill>
                    <a:srgbClr val="0000FF"/>
                  </a:solidFill>
                  <a:latin typeface="Consolas" pitchFamily="49" charset="0"/>
                  <a:ea typeface="楷体" pitchFamily="49" charset="-122"/>
                  <a:cs typeface="Consolas" pitchFamily="49" charset="0"/>
                </a:rPr>
                <a:t>解法</a:t>
              </a:r>
              <a:r>
                <a:rPr lang="en-US" altLang="zh-CN" sz="2000">
                  <a:solidFill>
                    <a:srgbClr val="0000FF"/>
                  </a:solidFill>
                  <a:latin typeface="Consolas" pitchFamily="49" charset="0"/>
                  <a:ea typeface="楷体" pitchFamily="49" charset="-122"/>
                  <a:cs typeface="Consolas" pitchFamily="49" charset="0"/>
                </a:rPr>
                <a:t>2</a:t>
              </a:r>
              <a:endParaRPr lang="zh-CN" altLang="en-US" sz="2000">
                <a:solidFill>
                  <a:srgbClr val="0000FF"/>
                </a:solidFill>
                <a:latin typeface="Consolas" pitchFamily="49" charset="0"/>
                <a:ea typeface="楷体" pitchFamily="49" charset="-122"/>
                <a:cs typeface="Consolas" pitchFamily="49" charset="0"/>
              </a:endParaRPr>
            </a:p>
          </p:txBody>
        </p:sp>
        <p:sp>
          <p:nvSpPr>
            <p:cNvPr id="9" name="TextBox 8"/>
            <p:cNvSpPr txBox="1"/>
            <p:nvPr/>
          </p:nvSpPr>
          <p:spPr>
            <a:xfrm>
              <a:off x="5500694" y="3500438"/>
              <a:ext cx="1500198" cy="400110"/>
            </a:xfrm>
            <a:prstGeom prst="rect">
              <a:avLst/>
            </a:prstGeom>
            <a:noFill/>
          </p:spPr>
          <p:txBody>
            <a:bodyPr wrap="square" rtlCol="0">
              <a:spAutoFit/>
            </a:bodyPr>
            <a:lstStyle/>
            <a:p>
              <a:pPr algn="l">
                <a:lnSpc>
                  <a:spcPct val="100000"/>
                </a:lnSpc>
                <a:spcBef>
                  <a:spcPts val="0"/>
                </a:spcBef>
              </a:pPr>
              <a:r>
                <a:rPr lang="zh-CN" altLang="en-US" sz="2000">
                  <a:solidFill>
                    <a:srgbClr val="0000FF"/>
                  </a:solidFill>
                  <a:latin typeface="Consolas" pitchFamily="49" charset="0"/>
                  <a:ea typeface="楷体" pitchFamily="49" charset="-122"/>
                  <a:cs typeface="Consolas" pitchFamily="49" charset="0"/>
                </a:rPr>
                <a:t>解法</a:t>
              </a:r>
              <a:r>
                <a:rPr lang="en-US" altLang="zh-CN" sz="2000">
                  <a:solidFill>
                    <a:srgbClr val="0000FF"/>
                  </a:solidFill>
                  <a:latin typeface="Consolas" pitchFamily="49" charset="0"/>
                  <a:ea typeface="楷体" pitchFamily="49" charset="-122"/>
                  <a:cs typeface="Consolas" pitchFamily="49" charset="0"/>
                </a:rPr>
                <a:t>1</a:t>
              </a:r>
              <a:endParaRPr lang="zh-CN" altLang="en-US" sz="2000">
                <a:solidFill>
                  <a:srgbClr val="0000FF"/>
                </a:solidFill>
                <a:latin typeface="Consolas" pitchFamily="49" charset="0"/>
                <a:ea typeface="楷体" pitchFamily="49" charset="-122"/>
                <a:cs typeface="Consolas" pitchFamily="49" charset="0"/>
              </a:endParaRPr>
            </a:p>
          </p:txBody>
        </p:sp>
      </p:grpSp>
      <p:sp>
        <p:nvSpPr>
          <p:cNvPr id="11" name="灯片编号占位符 10"/>
          <p:cNvSpPr>
            <a:spLocks noGrp="1"/>
          </p:cNvSpPr>
          <p:nvPr>
            <p:ph type="sldNum" sz="quarter" idx="12"/>
          </p:nvPr>
        </p:nvSpPr>
        <p:spPr/>
        <p:txBody>
          <a:bodyPr/>
          <a:lstStyle/>
          <a:p>
            <a:fld id="{7AF016A1-9F15-429F-9EFD-84004B73C732}" type="slidenum">
              <a:rPr lang="en-US" altLang="zh-CN" smtClean="0"/>
              <a:pPr/>
              <a:t>55</a:t>
            </a:fld>
            <a:r>
              <a:rPr lang="en-US" altLang="zh-CN"/>
              <a:t>/75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642910" y="1562911"/>
            <a:ext cx="8001056" cy="884216"/>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0"/>
              </a:spcBef>
              <a:buBlip>
                <a:blip r:embed="rId2"/>
              </a:buBlip>
            </a:pP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个作业按结果时间递减排序</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0"/>
              </a:spcBef>
              <a:buBlip>
                <a:blip r:embed="rId2"/>
              </a:buBlip>
            </a:pPr>
            <a:r>
              <a:rPr lang="zh-CN" altLang="en-US">
                <a:solidFill>
                  <a:srgbClr val="0000FF"/>
                </a:solidFill>
                <a:latin typeface="Consolas" pitchFamily="49" charset="0"/>
                <a:ea typeface="仿宋" pitchFamily="49" charset="-122"/>
              </a:rPr>
              <a:t>其他同解法</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5" name="TextBox 4"/>
          <p:cNvSpPr txBox="1"/>
          <p:nvPr/>
        </p:nvSpPr>
        <p:spPr>
          <a:xfrm>
            <a:off x="642910" y="634217"/>
            <a:ext cx="1928826" cy="461665"/>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pPr>
              <a:lnSpc>
                <a:spcPct val="100000"/>
              </a:lnSpc>
              <a:spcBef>
                <a:spcPts val="0"/>
              </a:spcBef>
            </a:pPr>
            <a:r>
              <a:rPr lang="zh-CN" altLang="en-US">
                <a:solidFill>
                  <a:schemeClr val="bg1"/>
                </a:solidFill>
                <a:latin typeface="微软雅黑" pitchFamily="34" charset="-122"/>
                <a:ea typeface="微软雅黑" pitchFamily="34" charset="-122"/>
                <a:cs typeface="Consolas" pitchFamily="49" charset="0"/>
              </a:rPr>
              <a:t>算法实现</a:t>
            </a:r>
          </a:p>
        </p:txBody>
      </p:sp>
      <p:sp>
        <p:nvSpPr>
          <p:cNvPr id="6" name="TextBox 5"/>
          <p:cNvSpPr txBox="1"/>
          <p:nvPr/>
        </p:nvSpPr>
        <p:spPr>
          <a:xfrm>
            <a:off x="1071538" y="2786058"/>
            <a:ext cx="1285884" cy="430887"/>
          </a:xfrm>
          <a:prstGeom prst="rect">
            <a:avLst/>
          </a:prstGeom>
          <a:noFill/>
        </p:spPr>
        <p:txBody>
          <a:bodyPr wrap="square" rtlCol="0">
            <a:spAutoFit/>
          </a:bodyPr>
          <a:lstStyle/>
          <a:p>
            <a:pPr algn="l">
              <a:lnSpc>
                <a:spcPct val="100000"/>
              </a:lnSpc>
              <a:spcBef>
                <a:spcPts val="0"/>
              </a:spcBef>
            </a:pPr>
            <a:r>
              <a:rPr lang="zh-CN" altLang="en-US" sz="2200">
                <a:solidFill>
                  <a:srgbClr val="0000FF"/>
                </a:solidFill>
                <a:latin typeface="Consolas" pitchFamily="49" charset="0"/>
                <a:ea typeface="楷体" pitchFamily="49" charset="-122"/>
                <a:cs typeface="Consolas" pitchFamily="49" charset="0"/>
              </a:rPr>
              <a:t>代码略</a:t>
            </a:r>
          </a:p>
        </p:txBody>
      </p:sp>
      <p:sp>
        <p:nvSpPr>
          <p:cNvPr id="7" name="TextBox 6"/>
          <p:cNvSpPr txBox="1"/>
          <p:nvPr/>
        </p:nvSpPr>
        <p:spPr>
          <a:xfrm>
            <a:off x="642910" y="4214818"/>
            <a:ext cx="8001056" cy="1219373"/>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000"/>
              </a:lnSpc>
              <a:spcBef>
                <a:spcPts val="0"/>
              </a:spcBef>
            </a:pPr>
            <a:r>
              <a:rPr lang="en-US" altLang="zh-CN" sz="2200">
                <a:solidFill>
                  <a:srgbClr val="FF0000"/>
                </a:solidFill>
                <a:latin typeface="Consolas" pitchFamily="49" charset="0"/>
                <a:ea typeface="楷体" pitchFamily="49" charset="-122"/>
                <a:sym typeface="Wingdings"/>
              </a:rPr>
              <a:t></a:t>
            </a:r>
            <a:r>
              <a:rPr lang="en-US" altLang="zh-CN" sz="2200">
                <a:solidFill>
                  <a:srgbClr val="FF0000"/>
                </a:solidFill>
                <a:latin typeface="Consolas" pitchFamily="49" charset="0"/>
                <a:ea typeface="楷体" pitchFamily="49" charset="-122"/>
              </a:rPr>
              <a:t>schedule2</a:t>
            </a:r>
            <a:r>
              <a:rPr lang="zh-CN" altLang="zh-CN" sz="2200">
                <a:solidFill>
                  <a:srgbClr val="FF0000"/>
                </a:solidFill>
                <a:latin typeface="Consolas" pitchFamily="49" charset="0"/>
                <a:ea typeface="楷体" pitchFamily="49" charset="-122"/>
              </a:rPr>
              <a:t>算法分析</a:t>
            </a:r>
            <a:r>
              <a:rPr lang="zh-CN" altLang="zh-CN" sz="2200">
                <a:solidFill>
                  <a:srgbClr val="0000FF"/>
                </a:solidFill>
                <a:latin typeface="Consolas" pitchFamily="49" charset="0"/>
                <a:ea typeface="仿宋" pitchFamily="49" charset="-122"/>
              </a:rPr>
              <a:t>：该算法的主要时间花费在排序上，排序的时间复杂度为</a:t>
            </a:r>
            <a:r>
              <a:rPr lang="en-US" altLang="zh-CN" sz="2200">
                <a:solidFill>
                  <a:srgbClr val="0000FF"/>
                </a:solidFill>
                <a:latin typeface="Consolas" pitchFamily="49" charset="0"/>
                <a:ea typeface="仿宋" pitchFamily="49" charset="-122"/>
              </a:rPr>
              <a:t>O(</a:t>
            </a:r>
            <a:r>
              <a:rPr lang="en-US" altLang="zh-CN" sz="2200" i="1">
                <a:solidFill>
                  <a:srgbClr val="0000FF"/>
                </a:solidFill>
                <a:latin typeface="Consolas" pitchFamily="49" charset="0"/>
                <a:ea typeface="仿宋" pitchFamily="49" charset="-122"/>
              </a:rPr>
              <a:t>n</a:t>
            </a:r>
            <a:r>
              <a:rPr lang="en-US" altLang="zh-CN" sz="2200">
                <a:solidFill>
                  <a:srgbClr val="0000FF"/>
                </a:solidFill>
                <a:latin typeface="Consolas" pitchFamily="49" charset="0"/>
                <a:ea typeface="仿宋" pitchFamily="49" charset="-122"/>
              </a:rPr>
              <a:t>log</a:t>
            </a:r>
            <a:r>
              <a:rPr lang="en-US" altLang="zh-CN" sz="2200" baseline="-25000">
                <a:solidFill>
                  <a:srgbClr val="0000FF"/>
                </a:solidFill>
                <a:latin typeface="Consolas" pitchFamily="49" charset="0"/>
                <a:ea typeface="仿宋" pitchFamily="49" charset="-122"/>
              </a:rPr>
              <a:t>2</a:t>
            </a:r>
            <a:r>
              <a:rPr lang="en-US" altLang="zh-CN" sz="2200" i="1">
                <a:solidFill>
                  <a:srgbClr val="0000FF"/>
                </a:solidFill>
                <a:latin typeface="Consolas" pitchFamily="49" charset="0"/>
                <a:ea typeface="仿宋" pitchFamily="49" charset="-122"/>
              </a:rPr>
              <a:t>n</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，所以本算法的时间复杂度为</a:t>
            </a:r>
            <a:r>
              <a:rPr lang="en-US" altLang="zh-CN" sz="2200">
                <a:solidFill>
                  <a:srgbClr val="0000FF"/>
                </a:solidFill>
                <a:latin typeface="Consolas" pitchFamily="49" charset="0"/>
                <a:ea typeface="仿宋" pitchFamily="49" charset="-122"/>
              </a:rPr>
              <a:t>O(</a:t>
            </a:r>
            <a:r>
              <a:rPr lang="en-US" altLang="zh-CN" sz="2200" i="1">
                <a:solidFill>
                  <a:srgbClr val="0000FF"/>
                </a:solidFill>
                <a:latin typeface="Consolas" pitchFamily="49" charset="0"/>
                <a:ea typeface="仿宋" pitchFamily="49" charset="-122"/>
              </a:rPr>
              <a:t>n</a:t>
            </a:r>
            <a:r>
              <a:rPr lang="en-US" altLang="zh-CN" sz="2200">
                <a:solidFill>
                  <a:srgbClr val="0000FF"/>
                </a:solidFill>
                <a:latin typeface="Consolas" pitchFamily="49" charset="0"/>
                <a:ea typeface="仿宋" pitchFamily="49" charset="-122"/>
              </a:rPr>
              <a:t>log</a:t>
            </a:r>
            <a:r>
              <a:rPr lang="en-US" altLang="zh-CN" sz="2200" baseline="-25000">
                <a:solidFill>
                  <a:srgbClr val="0000FF"/>
                </a:solidFill>
                <a:latin typeface="Consolas" pitchFamily="49" charset="0"/>
                <a:ea typeface="仿宋" pitchFamily="49" charset="-122"/>
              </a:rPr>
              <a:t>2</a:t>
            </a:r>
            <a:r>
              <a:rPr lang="en-US" altLang="zh-CN" sz="2200" i="1">
                <a:solidFill>
                  <a:srgbClr val="0000FF"/>
                </a:solidFill>
                <a:latin typeface="Consolas" pitchFamily="49" charset="0"/>
                <a:ea typeface="仿宋" pitchFamily="49" charset="-122"/>
              </a:rPr>
              <a:t>n</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a:t>
            </a:r>
          </a:p>
        </p:txBody>
      </p:sp>
      <p:sp>
        <p:nvSpPr>
          <p:cNvPr id="8" name="灯片编号占位符 7"/>
          <p:cNvSpPr>
            <a:spLocks noGrp="1"/>
          </p:cNvSpPr>
          <p:nvPr>
            <p:ph type="sldNum" sz="quarter" idx="12"/>
          </p:nvPr>
        </p:nvSpPr>
        <p:spPr/>
        <p:txBody>
          <a:bodyPr/>
          <a:lstStyle/>
          <a:p>
            <a:fld id="{7AF016A1-9F15-429F-9EFD-84004B73C732}" type="slidenum">
              <a:rPr lang="en-US" altLang="zh-CN" smtClean="0"/>
              <a:pPr/>
              <a:t>56</a:t>
            </a:fld>
            <a:r>
              <a:rPr lang="en-US" altLang="zh-CN"/>
              <a:t>/75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571472" y="785794"/>
            <a:ext cx="2500330" cy="461665"/>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pPr>
              <a:lnSpc>
                <a:spcPct val="100000"/>
              </a:lnSpc>
              <a:spcBef>
                <a:spcPts val="0"/>
              </a:spcBef>
            </a:pPr>
            <a:r>
              <a:rPr lang="zh-CN" altLang="en-US">
                <a:solidFill>
                  <a:schemeClr val="bg1"/>
                </a:solidFill>
                <a:latin typeface="Consolas" pitchFamily="49" charset="0"/>
                <a:ea typeface="微软雅黑" pitchFamily="34" charset="-122"/>
                <a:cs typeface="Consolas" pitchFamily="49" charset="0"/>
              </a:rPr>
              <a:t>求</a:t>
            </a:r>
            <a:r>
              <a:rPr lang="zh-CN" altLang="zh-CN">
                <a:solidFill>
                  <a:schemeClr val="bg1"/>
                </a:solidFill>
                <a:latin typeface="Consolas" pitchFamily="49" charset="0"/>
                <a:ea typeface="微软雅黑" pitchFamily="34" charset="-122"/>
              </a:rPr>
              <a:t>近似性能比</a:t>
            </a:r>
            <a:endParaRPr lang="zh-CN" altLang="en-US">
              <a:solidFill>
                <a:schemeClr val="bg1"/>
              </a:solidFill>
              <a:latin typeface="Consolas" pitchFamily="49" charset="0"/>
              <a:ea typeface="微软雅黑" pitchFamily="34" charset="-122"/>
              <a:cs typeface="Consolas" pitchFamily="49" charset="0"/>
            </a:endParaRPr>
          </a:p>
        </p:txBody>
      </p:sp>
      <p:sp>
        <p:nvSpPr>
          <p:cNvPr id="8" name="TextBox 7"/>
          <p:cNvSpPr txBox="1"/>
          <p:nvPr/>
        </p:nvSpPr>
        <p:spPr>
          <a:xfrm>
            <a:off x="785786" y="1785926"/>
            <a:ext cx="7215238" cy="461665"/>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本近似算法的近似性能比为</a:t>
            </a:r>
            <a:r>
              <a:rPr lang="en-US" altLang="zh-CN">
                <a:solidFill>
                  <a:srgbClr val="0000FF"/>
                </a:solidFill>
                <a:latin typeface="Consolas" pitchFamily="49" charset="0"/>
                <a:ea typeface="仿宋" pitchFamily="49" charset="-122"/>
              </a:rPr>
              <a:t>3/2</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57</a:t>
            </a:fld>
            <a:r>
              <a:rPr lang="en-US" altLang="zh-CN"/>
              <a:t>/75</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TextBox 5"/>
          <p:cNvSpPr txBox="1"/>
          <p:nvPr/>
        </p:nvSpPr>
        <p:spPr>
          <a:xfrm>
            <a:off x="357158" y="571480"/>
            <a:ext cx="5786478"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12.2.3 </a:t>
            </a:r>
            <a:r>
              <a:rPr lang="en-US" altLang="zh-CN" sz="2800">
                <a:latin typeface="Consolas" pitchFamily="49" charset="0"/>
                <a:ea typeface="微软雅黑" pitchFamily="34" charset="-122"/>
              </a:rPr>
              <a:t>0/1</a:t>
            </a:r>
            <a:r>
              <a:rPr lang="zh-CN" altLang="zh-CN" sz="2800">
                <a:latin typeface="Consolas" pitchFamily="49" charset="0"/>
                <a:ea typeface="微软雅黑" pitchFamily="34" charset="-122"/>
              </a:rPr>
              <a:t>背包问题的近似算法</a:t>
            </a:r>
            <a:endParaRPr lang="en-US" altLang="zh-CN" sz="2800">
              <a:latin typeface="Consolas" pitchFamily="49" charset="0"/>
              <a:ea typeface="微软雅黑" pitchFamily="34" charset="-122"/>
            </a:endParaRPr>
          </a:p>
        </p:txBody>
      </p:sp>
      <p:sp>
        <p:nvSpPr>
          <p:cNvPr id="7" name="TextBox 6"/>
          <p:cNvSpPr txBox="1"/>
          <p:nvPr/>
        </p:nvSpPr>
        <p:spPr>
          <a:xfrm>
            <a:off x="428596" y="1500174"/>
            <a:ext cx="8215370" cy="2208297"/>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300"/>
              </a:lnSpc>
              <a:spcBef>
                <a:spcPts val="0"/>
              </a:spcBef>
            </a:pPr>
            <a:r>
              <a:rPr lang="en-US" altLang="zh-CN">
                <a:solidFill>
                  <a:srgbClr val="FF0000"/>
                </a:solidFill>
                <a:latin typeface="Consolas" pitchFamily="49" charset="0"/>
                <a:ea typeface="楷体" pitchFamily="49" charset="-122"/>
                <a:sym typeface="Wingdings"/>
              </a:rPr>
              <a:t></a:t>
            </a:r>
            <a:r>
              <a:rPr lang="zh-CN" altLang="zh-CN">
                <a:solidFill>
                  <a:srgbClr val="FF0000"/>
                </a:solidFill>
                <a:latin typeface="Consolas" pitchFamily="49" charset="0"/>
                <a:ea typeface="楷体" pitchFamily="49" charset="-122"/>
              </a:rPr>
              <a:t>问题描述</a:t>
            </a:r>
            <a:r>
              <a:rPr lang="zh-CN" altLang="zh-CN">
                <a:solidFill>
                  <a:srgbClr val="0000FF"/>
                </a:solidFill>
                <a:latin typeface="Consolas" pitchFamily="49" charset="0"/>
                <a:ea typeface="楷体" pitchFamily="49" charset="-122"/>
              </a:rPr>
              <a:t>：</a:t>
            </a:r>
            <a:r>
              <a:rPr lang="zh-CN" altLang="zh-CN">
                <a:solidFill>
                  <a:srgbClr val="0000FF"/>
                </a:solidFill>
                <a:latin typeface="Consolas" pitchFamily="49" charset="0"/>
                <a:ea typeface="仿宋" pitchFamily="49" charset="-122"/>
              </a:rPr>
              <a:t>有</a:t>
            </a:r>
            <a:r>
              <a:rPr lang="pt-BR"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个物品，物品编号为</a:t>
            </a:r>
            <a:r>
              <a:rPr lang="pt-BR"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n</a:t>
            </a:r>
            <a:r>
              <a:rPr lang="pt-BR"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，重量为</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w</a:t>
            </a:r>
            <a:r>
              <a:rPr lang="pt-BR" altLang="zh-CN" baseline="-25000">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w</a:t>
            </a:r>
            <a:r>
              <a:rPr lang="pt-BR" altLang="zh-CN" baseline="-25000">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zh-CN" altLang="zh-CN">
                <a:solidFill>
                  <a:srgbClr val="0000FF"/>
                </a:solidFill>
                <a:latin typeface="+mj-ea"/>
                <a:ea typeface="+mj-ea"/>
              </a:rPr>
              <a:t>…</a:t>
            </a:r>
            <a:r>
              <a:rPr lang="zh-CN"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w</a:t>
            </a:r>
            <a:r>
              <a:rPr lang="pt-BR" altLang="zh-CN" i="1" baseline="-25000">
                <a:solidFill>
                  <a:srgbClr val="0000FF"/>
                </a:solidFill>
                <a:latin typeface="Consolas" pitchFamily="49" charset="0"/>
                <a:ea typeface="仿宋" pitchFamily="49" charset="-122"/>
              </a:rPr>
              <a:t>n</a:t>
            </a:r>
            <a:r>
              <a:rPr lang="pt-BR" altLang="zh-CN" baseline="-25000">
                <a:solidFill>
                  <a:srgbClr val="0000FF"/>
                </a:solidFill>
                <a:latin typeface="Consolas" pitchFamily="49" charset="0"/>
                <a:ea typeface="仿宋" pitchFamily="49" charset="-122"/>
              </a:rPr>
              <a:t>-1</a:t>
            </a:r>
            <a:r>
              <a:rPr lang="pt-BR"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，价值为</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v</a:t>
            </a:r>
            <a:r>
              <a:rPr lang="pt-BR" altLang="zh-CN" baseline="-25000">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v</a:t>
            </a:r>
            <a:r>
              <a:rPr lang="pt-BR" altLang="zh-CN" baseline="-25000">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zh-CN" altLang="zh-CN">
                <a:solidFill>
                  <a:srgbClr val="0000FF"/>
                </a:solidFill>
                <a:latin typeface="+mn-ea"/>
              </a:rPr>
              <a:t>…</a:t>
            </a:r>
            <a:r>
              <a:rPr lang="zh-CN"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v</a:t>
            </a:r>
            <a:r>
              <a:rPr lang="pt-BR" altLang="zh-CN" i="1" baseline="-25000">
                <a:solidFill>
                  <a:srgbClr val="0000FF"/>
                </a:solidFill>
                <a:latin typeface="Consolas" pitchFamily="49" charset="0"/>
                <a:ea typeface="仿宋" pitchFamily="49" charset="-122"/>
              </a:rPr>
              <a:t>n</a:t>
            </a:r>
            <a:r>
              <a:rPr lang="pt-BR" altLang="zh-CN" baseline="-25000">
                <a:solidFill>
                  <a:srgbClr val="0000FF"/>
                </a:solidFill>
                <a:latin typeface="Consolas" pitchFamily="49" charset="0"/>
                <a:ea typeface="仿宋" pitchFamily="49" charset="-122"/>
              </a:rPr>
              <a:t>-1</a:t>
            </a:r>
            <a:r>
              <a:rPr lang="pt-BR"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，给定一个容量为</a:t>
            </a:r>
            <a:r>
              <a:rPr lang="pt-BR" altLang="zh-CN">
                <a:solidFill>
                  <a:srgbClr val="0000FF"/>
                </a:solidFill>
                <a:latin typeface="Consolas" pitchFamily="49" charset="0"/>
                <a:ea typeface="仿宋" pitchFamily="49" charset="-122"/>
              </a:rPr>
              <a:t>W</a:t>
            </a:r>
            <a:r>
              <a:rPr lang="zh-CN" altLang="zh-CN">
                <a:solidFill>
                  <a:srgbClr val="0000FF"/>
                </a:solidFill>
                <a:latin typeface="Consolas" pitchFamily="49" charset="0"/>
                <a:ea typeface="仿宋" pitchFamily="49" charset="-122"/>
              </a:rPr>
              <a:t>的背包。现在从这些物品中选取若干物品装入该背包的方案，每个物品要么选中要么不选中，要求选中的物品总重量不超过背包容量并且具有最大的价值。</a:t>
            </a:r>
          </a:p>
        </p:txBody>
      </p:sp>
      <p:sp>
        <p:nvSpPr>
          <p:cNvPr id="8" name="灯片编号占位符 7"/>
          <p:cNvSpPr>
            <a:spLocks noGrp="1"/>
          </p:cNvSpPr>
          <p:nvPr>
            <p:ph type="sldNum" sz="quarter" idx="12"/>
          </p:nvPr>
        </p:nvSpPr>
        <p:spPr/>
        <p:txBody>
          <a:bodyPr/>
          <a:lstStyle/>
          <a:p>
            <a:fld id="{7AF016A1-9F15-429F-9EFD-84004B73C732}" type="slidenum">
              <a:rPr lang="en-US" altLang="zh-CN" smtClean="0"/>
              <a:pPr/>
              <a:t>58</a:t>
            </a:fld>
            <a:r>
              <a:rPr lang="en-US" altLang="zh-CN"/>
              <a:t>/75</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428596" y="714356"/>
            <a:ext cx="857256"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a:solidFill>
                  <a:srgbClr val="FF0000"/>
                </a:solidFill>
                <a:latin typeface="Consolas" pitchFamily="49" charset="0"/>
                <a:ea typeface="微软雅黑" pitchFamily="34" charset="-122"/>
                <a:cs typeface="Consolas" pitchFamily="49" charset="0"/>
              </a:rPr>
              <a:t>解</a:t>
            </a:r>
            <a:endParaRPr lang="zh-CN" altLang="en-US">
              <a:ln w="18415" cmpd="sng">
                <a:solidFill>
                  <a:srgbClr val="FFFFFF"/>
                </a:solidFill>
                <a:prstDash val="solid"/>
              </a:ln>
              <a:solidFill>
                <a:srgbClr val="FF0000"/>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endParaRPr>
          </a:p>
        </p:txBody>
      </p:sp>
      <p:sp>
        <p:nvSpPr>
          <p:cNvPr id="5" name="TextBox 4"/>
          <p:cNvSpPr txBox="1"/>
          <p:nvPr/>
        </p:nvSpPr>
        <p:spPr>
          <a:xfrm>
            <a:off x="857224" y="1428736"/>
            <a:ext cx="7572428" cy="1858842"/>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2"/>
              </a:buBlip>
            </a:pPr>
            <a:r>
              <a:rPr lang="en-US" altLang="zh-CN">
                <a:solidFill>
                  <a:srgbClr val="0000FF"/>
                </a:solidFill>
                <a:latin typeface="Consolas" pitchFamily="49" charset="0"/>
                <a:ea typeface="仿宋" pitchFamily="49" charset="-122"/>
              </a:rPr>
              <a:t>0/1</a:t>
            </a:r>
            <a:r>
              <a:rPr lang="zh-CN" altLang="zh-CN">
                <a:solidFill>
                  <a:srgbClr val="0000FF"/>
                </a:solidFill>
                <a:latin typeface="Consolas" pitchFamily="49" charset="0"/>
                <a:ea typeface="仿宋" pitchFamily="49" charset="-122"/>
              </a:rPr>
              <a:t>背包问题是一个</a:t>
            </a:r>
            <a:r>
              <a:rPr lang="en-US" altLang="zh-CN">
                <a:solidFill>
                  <a:srgbClr val="0000FF"/>
                </a:solidFill>
                <a:latin typeface="Consolas" pitchFamily="49" charset="0"/>
                <a:ea typeface="仿宋" pitchFamily="49" charset="-122"/>
              </a:rPr>
              <a:t>NP</a:t>
            </a:r>
            <a:r>
              <a:rPr lang="zh-CN" altLang="zh-CN">
                <a:solidFill>
                  <a:srgbClr val="0000FF"/>
                </a:solidFill>
                <a:latin typeface="Consolas" pitchFamily="49" charset="0"/>
                <a:ea typeface="仿宋" pitchFamily="49" charset="-122"/>
              </a:rPr>
              <a:t>完全问题</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2"/>
              </a:buBlip>
            </a:pPr>
            <a:r>
              <a:rPr lang="zh-CN" altLang="zh-CN">
                <a:solidFill>
                  <a:srgbClr val="0000FF"/>
                </a:solidFill>
                <a:latin typeface="Consolas" pitchFamily="49" charset="0"/>
                <a:ea typeface="仿宋" pitchFamily="49" charset="-122"/>
              </a:rPr>
              <a:t>同样利用贪心近似方法求一个近似解，采用的贪心策略是优先选取单位重量价值最大的并且能够装入背包的物品。</a:t>
            </a:r>
            <a:endParaRPr lang="zh-CN" altLang="en-US">
              <a:solidFill>
                <a:srgbClr val="0000FF"/>
              </a:solidFill>
              <a:latin typeface="Consolas" pitchFamily="49" charset="0"/>
              <a:ea typeface="仿宋" pitchFamily="49" charset="-122"/>
              <a:cs typeface="Consolas"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59</a:t>
            </a:fld>
            <a:r>
              <a:rPr lang="en-US" altLang="zh-CN"/>
              <a:t>/75</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428596" y="1285860"/>
            <a:ext cx="8215370" cy="2862322"/>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）将全部物品按单位重量价值</a:t>
            </a:r>
            <a:r>
              <a:rPr lang="zh-CN" altLang="zh-CN">
                <a:solidFill>
                  <a:srgbClr val="FF00FF"/>
                </a:solidFill>
                <a:latin typeface="Consolas" pitchFamily="49" charset="0"/>
                <a:ea typeface="仿宋" pitchFamily="49" charset="-122"/>
              </a:rPr>
              <a:t>递减排序</a:t>
            </a:r>
            <a:r>
              <a:rPr lang="zh-CN" altLang="zh-CN">
                <a:solidFill>
                  <a:srgbClr val="0000FF"/>
                </a:solidFill>
                <a:latin typeface="Consolas" pitchFamily="49" charset="0"/>
                <a:ea typeface="仿宋" pitchFamily="49" charset="-122"/>
              </a:rPr>
              <a:t>。</a:t>
            </a:r>
          </a:p>
          <a:p>
            <a:pPr algn="l">
              <a:lnSpc>
                <a:spcPts val="32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）按排序后的顺序选择能够装入背包的物品，得到一个可行解即最大价值</a:t>
            </a:r>
            <a:r>
              <a:rPr lang="en-US" altLang="zh-CN">
                <a:solidFill>
                  <a:srgbClr val="006600"/>
                </a:solidFill>
                <a:latin typeface="Consolas" pitchFamily="49" charset="0"/>
                <a:ea typeface="仿宋" pitchFamily="49" charset="-122"/>
              </a:rPr>
              <a:t>bestv</a:t>
            </a:r>
            <a:r>
              <a:rPr lang="zh-CN" altLang="zh-CN">
                <a:solidFill>
                  <a:srgbClr val="0000FF"/>
                </a:solidFill>
                <a:latin typeface="Consolas" pitchFamily="49" charset="0"/>
                <a:ea typeface="仿宋" pitchFamily="49" charset="-122"/>
              </a:rPr>
              <a:t>。</a:t>
            </a:r>
          </a:p>
          <a:p>
            <a:pPr algn="l">
              <a:lnSpc>
                <a:spcPts val="32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）考虑单个物品，求能够装入背包的单个物品的最大价值</a:t>
            </a:r>
            <a:r>
              <a:rPr lang="en-US" altLang="zh-CN">
                <a:solidFill>
                  <a:srgbClr val="0000FF"/>
                </a:solidFill>
                <a:latin typeface="Consolas" pitchFamily="49" charset="0"/>
                <a:ea typeface="仿宋" pitchFamily="49" charset="-122"/>
              </a:rPr>
              <a:t>maxv</a:t>
            </a:r>
            <a:r>
              <a:rPr lang="zh-CN" altLang="zh-CN">
                <a:solidFill>
                  <a:srgbClr val="0000FF"/>
                </a:solidFill>
                <a:latin typeface="Consolas" pitchFamily="49" charset="0"/>
                <a:ea typeface="仿宋" pitchFamily="49" charset="-122"/>
              </a:rPr>
              <a:t>。置</a:t>
            </a:r>
            <a:r>
              <a:rPr lang="en-US" altLang="zh-CN">
                <a:solidFill>
                  <a:srgbClr val="006600"/>
                </a:solidFill>
                <a:latin typeface="Consolas" pitchFamily="49" charset="0"/>
                <a:ea typeface="仿宋" pitchFamily="49" charset="-122"/>
              </a:rPr>
              <a:t>bestv</a:t>
            </a:r>
            <a:r>
              <a:rPr lang="en-US" altLang="zh-CN">
                <a:solidFill>
                  <a:srgbClr val="0000FF"/>
                </a:solidFill>
                <a:latin typeface="Consolas" pitchFamily="49" charset="0"/>
                <a:ea typeface="仿宋" pitchFamily="49" charset="-122"/>
              </a:rPr>
              <a:t>=max(bestv</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maxv)</a:t>
            </a:r>
            <a:r>
              <a:rPr lang="zh-CN" altLang="zh-CN">
                <a:solidFill>
                  <a:srgbClr val="0000FF"/>
                </a:solidFill>
                <a:latin typeface="Consolas" pitchFamily="49" charset="0"/>
                <a:ea typeface="仿宋" pitchFamily="49" charset="-122"/>
              </a:rPr>
              <a:t>。</a:t>
            </a:r>
          </a:p>
          <a:p>
            <a:pPr algn="l">
              <a:lnSpc>
                <a:spcPts val="32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最后得到的</a:t>
            </a:r>
            <a:r>
              <a:rPr lang="en-US" altLang="zh-CN">
                <a:solidFill>
                  <a:srgbClr val="006600"/>
                </a:solidFill>
                <a:latin typeface="Consolas" pitchFamily="49" charset="0"/>
                <a:ea typeface="仿宋" pitchFamily="49" charset="-122"/>
              </a:rPr>
              <a:t>bestv</a:t>
            </a:r>
            <a:r>
              <a:rPr lang="zh-CN" altLang="zh-CN">
                <a:solidFill>
                  <a:srgbClr val="0000FF"/>
                </a:solidFill>
                <a:latin typeface="Consolas" pitchFamily="49" charset="0"/>
                <a:ea typeface="仿宋" pitchFamily="49" charset="-122"/>
              </a:rPr>
              <a:t>就是最优近似解。</a:t>
            </a:r>
            <a:endParaRPr lang="zh-CN" altLang="en-US">
              <a:solidFill>
                <a:srgbClr val="0000FF"/>
              </a:solidFill>
              <a:latin typeface="Consolas" pitchFamily="49" charset="0"/>
              <a:ea typeface="仿宋" pitchFamily="49" charset="-122"/>
              <a:cs typeface="Consolas" pitchFamily="49" charset="0"/>
            </a:endParaRPr>
          </a:p>
        </p:txBody>
      </p:sp>
      <p:sp>
        <p:nvSpPr>
          <p:cNvPr id="5" name="TextBox 4"/>
          <p:cNvSpPr txBox="1"/>
          <p:nvPr/>
        </p:nvSpPr>
        <p:spPr>
          <a:xfrm>
            <a:off x="714348" y="428604"/>
            <a:ext cx="2071702"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楷体" pitchFamily="49" charset="-122"/>
                <a:ea typeface="楷体" pitchFamily="49" charset="-122"/>
              </a:rPr>
              <a:t>贪心近似</a:t>
            </a:r>
            <a:r>
              <a:rPr lang="zh-CN" altLang="en-US">
                <a:solidFill>
                  <a:srgbClr val="0000FF"/>
                </a:solidFill>
                <a:latin typeface="楷体" pitchFamily="49" charset="-122"/>
                <a:ea typeface="楷体" pitchFamily="49" charset="-122"/>
              </a:rPr>
              <a:t>算法</a:t>
            </a:r>
            <a:endParaRPr lang="zh-CN" altLang="en-US">
              <a:solidFill>
                <a:srgbClr val="0000FF"/>
              </a:solidFill>
              <a:latin typeface="楷体" pitchFamily="49" charset="-122"/>
              <a:ea typeface="楷体" pitchFamily="49" charset="-122"/>
              <a:cs typeface="Consolas"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60</a:t>
            </a:fld>
            <a:r>
              <a:rPr lang="en-US" altLang="zh-CN"/>
              <a:t>/75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642910" y="1285860"/>
            <a:ext cx="7572428"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对于如表所示的</a:t>
            </a:r>
            <a:r>
              <a:rPr lang="en-US" altLang="zh-CN">
                <a:solidFill>
                  <a:srgbClr val="0000FF"/>
                </a:solidFill>
                <a:latin typeface="Consolas" pitchFamily="49" charset="0"/>
                <a:ea typeface="仿宋" pitchFamily="49" charset="-122"/>
              </a:rPr>
              <a:t>4</a:t>
            </a:r>
            <a:r>
              <a:rPr lang="zh-CN" altLang="zh-CN">
                <a:solidFill>
                  <a:srgbClr val="0000FF"/>
                </a:solidFill>
                <a:latin typeface="Consolas" pitchFamily="49" charset="0"/>
                <a:ea typeface="仿宋" pitchFamily="49" charset="-122"/>
              </a:rPr>
              <a:t>个物品，</a:t>
            </a:r>
            <a:r>
              <a:rPr lang="en-US" altLang="zh-CN">
                <a:solidFill>
                  <a:srgbClr val="0000FF"/>
                </a:solidFill>
                <a:latin typeface="Consolas" pitchFamily="49" charset="0"/>
                <a:ea typeface="仿宋" pitchFamily="49" charset="-122"/>
              </a:rPr>
              <a:t>W=6</a:t>
            </a:r>
            <a:r>
              <a:rPr lang="zh-CN" altLang="zh-CN">
                <a:solidFill>
                  <a:srgbClr val="0000FF"/>
                </a:solidFill>
                <a:latin typeface="Consolas" pitchFamily="49" charset="0"/>
                <a:ea typeface="仿宋" pitchFamily="49" charset="-122"/>
              </a:rPr>
              <a:t>，采用近似算法的求解</a:t>
            </a:r>
            <a:r>
              <a:rPr lang="zh-CN" altLang="en-US">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grpSp>
        <p:nvGrpSpPr>
          <p:cNvPr id="5" name="组合 6"/>
          <p:cNvGrpSpPr/>
          <p:nvPr/>
        </p:nvGrpSpPr>
        <p:grpSpPr>
          <a:xfrm>
            <a:off x="714348" y="357166"/>
            <a:ext cx="853211" cy="761171"/>
            <a:chOff x="6862060" y="4310903"/>
            <a:chExt cx="1128915" cy="1130667"/>
          </a:xfrm>
        </p:grpSpPr>
        <p:grpSp>
          <p:nvGrpSpPr>
            <p:cNvPr id="6" name="Group 103"/>
            <p:cNvGrpSpPr>
              <a:grpSpLocks/>
            </p:cNvGrpSpPr>
            <p:nvPr/>
          </p:nvGrpSpPr>
          <p:grpSpPr bwMode="auto">
            <a:xfrm>
              <a:off x="6862060" y="4310903"/>
              <a:ext cx="1128915" cy="1130667"/>
              <a:chOff x="2880" y="1515"/>
              <a:chExt cx="644" cy="645"/>
            </a:xfrm>
          </p:grpSpPr>
          <p:sp>
            <p:nvSpPr>
              <p:cNvPr id="8" name="Oval 104"/>
              <p:cNvSpPr>
                <a:spLocks noChangeArrowheads="1"/>
              </p:cNvSpPr>
              <p:nvPr/>
            </p:nvSpPr>
            <p:spPr bwMode="auto">
              <a:xfrm>
                <a:off x="2880" y="1516"/>
                <a:ext cx="644" cy="644"/>
              </a:xfrm>
              <a:prstGeom prst="ellipse">
                <a:avLst/>
              </a:prstGeom>
              <a:gradFill rotWithShape="1">
                <a:gsLst>
                  <a:gs pos="0">
                    <a:srgbClr val="10942F"/>
                  </a:gs>
                  <a:gs pos="100000">
                    <a:srgbClr val="16D83B"/>
                  </a:gs>
                </a:gsLst>
                <a:lin ang="5400000" scaled="1"/>
              </a:gradFill>
              <a:ln w="9525" algn="ctr">
                <a:noFill/>
                <a:round/>
                <a:headEnd/>
                <a:tailEnd/>
              </a:ln>
              <a:effectLst>
                <a:outerShdw blurRad="76200" dir="18900000" sy="23000" kx="-1200000" algn="bl" rotWithShape="0">
                  <a:prstClr val="black">
                    <a:alpha val="20000"/>
                  </a:prstClr>
                </a:outerShdw>
              </a:effectLst>
            </p:spPr>
            <p:txBody>
              <a:bodyPr wrap="none" anchor="ctr"/>
              <a:lstStyle/>
              <a:p>
                <a:endParaRPr lang="zh-CN" altLang="en-US"/>
              </a:p>
            </p:txBody>
          </p:sp>
          <p:sp>
            <p:nvSpPr>
              <p:cNvPr id="9" name="Freeform 105"/>
              <p:cNvSpPr>
                <a:spLocks/>
              </p:cNvSpPr>
              <p:nvPr/>
            </p:nvSpPr>
            <p:spPr bwMode="auto">
              <a:xfrm>
                <a:off x="2887" y="1515"/>
                <a:ext cx="630" cy="441"/>
              </a:xfrm>
              <a:custGeom>
                <a:avLst/>
                <a:gdLst/>
                <a:ahLst/>
                <a:cxnLst>
                  <a:cxn ang="0">
                    <a:pos x="1400" y="275"/>
                  </a:cxn>
                  <a:cxn ang="0">
                    <a:pos x="1596" y="795"/>
                  </a:cxn>
                  <a:cxn ang="0">
                    <a:pos x="0" y="795"/>
                  </a:cxn>
                  <a:cxn ang="0">
                    <a:pos x="217" y="252"/>
                  </a:cxn>
                  <a:cxn ang="0">
                    <a:pos x="796" y="0"/>
                  </a:cxn>
                  <a:cxn ang="0">
                    <a:pos x="1400" y="275"/>
                  </a:cxn>
                </a:cxnLst>
                <a:rect l="0" t="0" r="r" b="b"/>
                <a:pathLst>
                  <a:path w="1596" h="1118">
                    <a:moveTo>
                      <a:pt x="1400" y="275"/>
                    </a:moveTo>
                    <a:cubicBezTo>
                      <a:pt x="1522" y="417"/>
                      <a:pt x="1596" y="597"/>
                      <a:pt x="1596" y="795"/>
                    </a:cubicBezTo>
                    <a:cubicBezTo>
                      <a:pt x="1037" y="1118"/>
                      <a:pt x="668" y="611"/>
                      <a:pt x="0" y="795"/>
                    </a:cubicBezTo>
                    <a:cubicBezTo>
                      <a:pt x="0" y="585"/>
                      <a:pt x="83" y="392"/>
                      <a:pt x="217" y="252"/>
                    </a:cubicBezTo>
                    <a:cubicBezTo>
                      <a:pt x="364" y="95"/>
                      <a:pt x="570" y="0"/>
                      <a:pt x="796" y="0"/>
                    </a:cubicBezTo>
                    <a:cubicBezTo>
                      <a:pt x="1039" y="0"/>
                      <a:pt x="1253" y="108"/>
                      <a:pt x="1400" y="275"/>
                    </a:cubicBezTo>
                    <a:close/>
                  </a:path>
                </a:pathLst>
              </a:custGeom>
              <a:gradFill rotWithShape="1">
                <a:gsLst>
                  <a:gs pos="0">
                    <a:schemeClr val="bg1">
                      <a:alpha val="53000"/>
                    </a:schemeClr>
                  </a:gs>
                  <a:gs pos="100000">
                    <a:schemeClr val="bg1">
                      <a:gamma/>
                      <a:shade val="46275"/>
                      <a:invGamma/>
                      <a:alpha val="0"/>
                    </a:schemeClr>
                  </a:gs>
                </a:gsLst>
                <a:lin ang="5400000" scaled="1"/>
              </a:gradFill>
              <a:ln w="9525">
                <a:noFill/>
                <a:round/>
                <a:headEnd/>
                <a:tailEnd/>
              </a:ln>
            </p:spPr>
            <p:txBody>
              <a:bodyPr/>
              <a:lstStyle/>
              <a:p>
                <a:endParaRPr lang="zh-CN" altLang="en-US"/>
              </a:p>
            </p:txBody>
          </p:sp>
        </p:grpSp>
        <p:sp>
          <p:nvSpPr>
            <p:cNvPr id="7" name="Text Box 71"/>
            <p:cNvSpPr txBox="1">
              <a:spLocks noChangeArrowheads="1"/>
            </p:cNvSpPr>
            <p:nvPr/>
          </p:nvSpPr>
          <p:spPr bwMode="auto">
            <a:xfrm>
              <a:off x="6923115" y="4640482"/>
              <a:ext cx="1039812" cy="466324"/>
            </a:xfrm>
            <a:prstGeom prst="rect">
              <a:avLst/>
            </a:prstGeom>
            <a:noFill/>
            <a:ln w="9525">
              <a:noFill/>
              <a:miter lim="800000"/>
              <a:headEnd/>
              <a:tailEnd/>
            </a:ln>
            <a:effectLst/>
          </p:spPr>
          <p:txBody>
            <a:bodyPr anchor="ctr">
              <a:spAutoFit/>
            </a:bodyPr>
            <a:lstStyle/>
            <a:p>
              <a:pPr algn="ctr">
                <a:spcBef>
                  <a:spcPct val="50000"/>
                </a:spcBef>
              </a:pPr>
              <a:r>
                <a:rPr lang="zh-CN" altLang="en-US" sz="1800">
                  <a:solidFill>
                    <a:srgbClr val="FF0000"/>
                  </a:solidFill>
                  <a:latin typeface="微软雅黑" pitchFamily="34" charset="-122"/>
                  <a:ea typeface="微软雅黑" pitchFamily="34" charset="-122"/>
                </a:rPr>
                <a:t>示例</a:t>
              </a:r>
              <a:endParaRPr lang="en-GB" altLang="zh-CN" sz="1800">
                <a:solidFill>
                  <a:srgbClr val="FF0000"/>
                </a:solidFill>
                <a:latin typeface="微软雅黑" pitchFamily="34" charset="-122"/>
                <a:ea typeface="微软雅黑" pitchFamily="34" charset="-122"/>
              </a:endParaRPr>
            </a:p>
          </p:txBody>
        </p:sp>
      </p:grpSp>
      <p:graphicFrame>
        <p:nvGraphicFramePr>
          <p:cNvPr id="10" name="表格 9"/>
          <p:cNvGraphicFramePr>
            <a:graphicFrameLocks noGrp="1"/>
          </p:cNvGraphicFramePr>
          <p:nvPr/>
        </p:nvGraphicFramePr>
        <p:xfrm>
          <a:off x="1643042" y="2143116"/>
          <a:ext cx="4786345" cy="2071700"/>
        </p:xfrm>
        <a:graphic>
          <a:graphicData uri="http://schemas.openxmlformats.org/drawingml/2006/table">
            <a:tbl>
              <a:tblPr>
                <a:tableStyleId>{35758FB7-9AC5-4552-8A53-C91805E547FA}</a:tableStyleId>
              </a:tblPr>
              <a:tblGrid>
                <a:gridCol w="1819296">
                  <a:extLst>
                    <a:ext uri="{9D8B030D-6E8A-4147-A177-3AD203B41FA5}">
                      <a16:colId xmlns:a16="http://schemas.microsoft.com/office/drawing/2014/main" val="20000"/>
                    </a:ext>
                  </a:extLst>
                </a:gridCol>
                <a:gridCol w="1625389">
                  <a:extLst>
                    <a:ext uri="{9D8B030D-6E8A-4147-A177-3AD203B41FA5}">
                      <a16:colId xmlns:a16="http://schemas.microsoft.com/office/drawing/2014/main" val="20001"/>
                    </a:ext>
                  </a:extLst>
                </a:gridCol>
                <a:gridCol w="1341660">
                  <a:extLst>
                    <a:ext uri="{9D8B030D-6E8A-4147-A177-3AD203B41FA5}">
                      <a16:colId xmlns:a16="http://schemas.microsoft.com/office/drawing/2014/main" val="20002"/>
                    </a:ext>
                  </a:extLst>
                </a:gridCol>
              </a:tblGrid>
              <a:tr h="414340">
                <a:tc>
                  <a:txBody>
                    <a:bodyPr/>
                    <a:lstStyle/>
                    <a:p>
                      <a:pPr indent="0" algn="ctr">
                        <a:lnSpc>
                          <a:spcPts val="2800"/>
                        </a:lnSpc>
                        <a:spcAft>
                          <a:spcPts val="0"/>
                        </a:spcAft>
                      </a:pPr>
                      <a:r>
                        <a:rPr lang="zh-CN" sz="2000" b="1" kern="100">
                          <a:solidFill>
                            <a:srgbClr val="FF0000"/>
                          </a:solidFill>
                          <a:latin typeface="Consolas" pitchFamily="49" charset="0"/>
                          <a:ea typeface="仿宋" pitchFamily="49" charset="-122"/>
                        </a:rPr>
                        <a:t>物品编号</a:t>
                      </a:r>
                      <a:r>
                        <a:rPr lang="en-US" sz="2000" b="1" kern="100">
                          <a:solidFill>
                            <a:srgbClr val="FF0000"/>
                          </a:solidFill>
                          <a:latin typeface="Consolas" pitchFamily="49" charset="0"/>
                          <a:ea typeface="仿宋" pitchFamily="49" charset="-122"/>
                        </a:rPr>
                        <a:t>no</a:t>
                      </a:r>
                      <a:endParaRPr lang="zh-CN" sz="2000" b="1" kern="100">
                        <a:solidFill>
                          <a:srgbClr val="FF0000"/>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2800"/>
                        </a:lnSpc>
                        <a:spcAft>
                          <a:spcPts val="0"/>
                        </a:spcAft>
                      </a:pPr>
                      <a:r>
                        <a:rPr lang="zh-CN" sz="2000" b="1" kern="100">
                          <a:solidFill>
                            <a:srgbClr val="FF0000"/>
                          </a:solidFill>
                          <a:latin typeface="Consolas" pitchFamily="49" charset="0"/>
                          <a:ea typeface="仿宋" pitchFamily="49" charset="-122"/>
                        </a:rPr>
                        <a:t>重量</a:t>
                      </a:r>
                      <a:r>
                        <a:rPr lang="en-US" sz="2000" b="1" kern="100">
                          <a:solidFill>
                            <a:srgbClr val="FF0000"/>
                          </a:solidFill>
                          <a:latin typeface="Consolas" pitchFamily="49" charset="0"/>
                          <a:ea typeface="仿宋" pitchFamily="49" charset="-122"/>
                        </a:rPr>
                        <a:t>w</a:t>
                      </a:r>
                      <a:endParaRPr lang="zh-CN" sz="2000" b="1" kern="100">
                        <a:solidFill>
                          <a:srgbClr val="FF0000"/>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2800"/>
                        </a:lnSpc>
                        <a:spcAft>
                          <a:spcPts val="0"/>
                        </a:spcAft>
                      </a:pPr>
                      <a:r>
                        <a:rPr lang="zh-CN" sz="2000" b="1" kern="100">
                          <a:solidFill>
                            <a:srgbClr val="FF0000"/>
                          </a:solidFill>
                          <a:latin typeface="Consolas" pitchFamily="49" charset="0"/>
                          <a:ea typeface="仿宋" pitchFamily="49" charset="-122"/>
                        </a:rPr>
                        <a:t>价值</a:t>
                      </a:r>
                      <a:r>
                        <a:rPr lang="en-US" sz="2000" b="1" kern="100">
                          <a:solidFill>
                            <a:srgbClr val="FF0000"/>
                          </a:solidFill>
                          <a:latin typeface="Consolas" pitchFamily="49" charset="0"/>
                          <a:ea typeface="仿宋" pitchFamily="49" charset="-122"/>
                        </a:rPr>
                        <a:t>v</a:t>
                      </a:r>
                      <a:endParaRPr lang="zh-CN" sz="2000" b="1" kern="100">
                        <a:solidFill>
                          <a:srgbClr val="FF0000"/>
                        </a:solidFill>
                        <a:latin typeface="Consolas" pitchFamily="49" charset="0"/>
                        <a:ea typeface="仿宋" pitchFamily="49" charset="-122"/>
                        <a:cs typeface="Times New Roman"/>
                      </a:endParaRPr>
                    </a:p>
                  </a:txBody>
                  <a:tcPr marL="68580" marR="68580" marT="0" marB="0">
                    <a:solidFill>
                      <a:schemeClr val="bg1">
                        <a:lumMod val="95000"/>
                      </a:schemeClr>
                    </a:solidFill>
                  </a:tcPr>
                </a:tc>
                <a:extLst>
                  <a:ext uri="{0D108BD9-81ED-4DB2-BD59-A6C34878D82A}">
                    <a16:rowId xmlns:a16="http://schemas.microsoft.com/office/drawing/2014/main" val="10000"/>
                  </a:ext>
                </a:extLst>
              </a:tr>
              <a:tr h="414340">
                <a:tc>
                  <a:txBody>
                    <a:bodyPr/>
                    <a:lstStyle/>
                    <a:p>
                      <a:pPr indent="0" algn="ctr">
                        <a:lnSpc>
                          <a:spcPts val="2800"/>
                        </a:lnSpc>
                        <a:spcAft>
                          <a:spcPts val="0"/>
                        </a:spcAft>
                      </a:pPr>
                      <a:r>
                        <a:rPr lang="en-US" sz="2000" kern="100">
                          <a:solidFill>
                            <a:srgbClr val="0000FF"/>
                          </a:solidFill>
                          <a:latin typeface="Consolas" pitchFamily="49" charset="0"/>
                          <a:ea typeface="仿宋" pitchFamily="49" charset="-122"/>
                        </a:rPr>
                        <a:t>0</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2800"/>
                        </a:lnSpc>
                        <a:spcAft>
                          <a:spcPts val="0"/>
                        </a:spcAft>
                      </a:pPr>
                      <a:r>
                        <a:rPr lang="en-US" sz="2000" kern="100">
                          <a:solidFill>
                            <a:srgbClr val="0000FF"/>
                          </a:solidFill>
                          <a:latin typeface="Consolas" pitchFamily="49" charset="0"/>
                          <a:ea typeface="仿宋" pitchFamily="49" charset="-122"/>
                        </a:rPr>
                        <a:t>3</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2800"/>
                        </a:lnSpc>
                        <a:spcAft>
                          <a:spcPts val="0"/>
                        </a:spcAft>
                      </a:pPr>
                      <a:r>
                        <a:rPr lang="en-US" sz="2000" kern="100">
                          <a:solidFill>
                            <a:srgbClr val="0000FF"/>
                          </a:solidFill>
                          <a:latin typeface="Consolas" pitchFamily="49" charset="0"/>
                          <a:ea typeface="仿宋" pitchFamily="49" charset="-122"/>
                        </a:rPr>
                        <a:t>7</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extLst>
                  <a:ext uri="{0D108BD9-81ED-4DB2-BD59-A6C34878D82A}">
                    <a16:rowId xmlns:a16="http://schemas.microsoft.com/office/drawing/2014/main" val="10001"/>
                  </a:ext>
                </a:extLst>
              </a:tr>
              <a:tr h="414340">
                <a:tc>
                  <a:txBody>
                    <a:bodyPr/>
                    <a:lstStyle/>
                    <a:p>
                      <a:pPr indent="0" algn="ctr">
                        <a:lnSpc>
                          <a:spcPts val="2800"/>
                        </a:lnSpc>
                        <a:spcAft>
                          <a:spcPts val="0"/>
                        </a:spcAft>
                      </a:pPr>
                      <a:r>
                        <a:rPr lang="en-US" sz="2000" kern="100">
                          <a:solidFill>
                            <a:srgbClr val="0000FF"/>
                          </a:solidFill>
                          <a:latin typeface="Consolas" pitchFamily="49" charset="0"/>
                          <a:ea typeface="仿宋" pitchFamily="49" charset="-122"/>
                        </a:rPr>
                        <a:t>1</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2800"/>
                        </a:lnSpc>
                        <a:spcAft>
                          <a:spcPts val="0"/>
                        </a:spcAft>
                      </a:pPr>
                      <a:r>
                        <a:rPr lang="en-US" sz="2000" kern="100">
                          <a:solidFill>
                            <a:srgbClr val="0000FF"/>
                          </a:solidFill>
                          <a:latin typeface="Consolas" pitchFamily="49" charset="0"/>
                          <a:ea typeface="仿宋" pitchFamily="49" charset="-122"/>
                        </a:rPr>
                        <a:t>4</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2800"/>
                        </a:lnSpc>
                        <a:spcAft>
                          <a:spcPts val="0"/>
                        </a:spcAft>
                      </a:pPr>
                      <a:r>
                        <a:rPr lang="en-US" sz="2000" kern="100">
                          <a:solidFill>
                            <a:srgbClr val="0000FF"/>
                          </a:solidFill>
                          <a:latin typeface="Consolas" pitchFamily="49" charset="0"/>
                          <a:ea typeface="仿宋" pitchFamily="49" charset="-122"/>
                        </a:rPr>
                        <a:t>9</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extLst>
                  <a:ext uri="{0D108BD9-81ED-4DB2-BD59-A6C34878D82A}">
                    <a16:rowId xmlns:a16="http://schemas.microsoft.com/office/drawing/2014/main" val="10002"/>
                  </a:ext>
                </a:extLst>
              </a:tr>
              <a:tr h="414340">
                <a:tc>
                  <a:txBody>
                    <a:bodyPr/>
                    <a:lstStyle/>
                    <a:p>
                      <a:pPr indent="0" algn="ctr">
                        <a:lnSpc>
                          <a:spcPts val="2800"/>
                        </a:lnSpc>
                        <a:spcAft>
                          <a:spcPts val="0"/>
                        </a:spcAft>
                      </a:pPr>
                      <a:r>
                        <a:rPr lang="en-US" sz="2000" kern="100">
                          <a:solidFill>
                            <a:srgbClr val="0000FF"/>
                          </a:solidFill>
                          <a:latin typeface="Consolas" pitchFamily="49" charset="0"/>
                          <a:ea typeface="仿宋" pitchFamily="49" charset="-122"/>
                        </a:rPr>
                        <a:t>2</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2800"/>
                        </a:lnSpc>
                        <a:spcAft>
                          <a:spcPts val="0"/>
                        </a:spcAft>
                      </a:pPr>
                      <a:r>
                        <a:rPr lang="en-US" sz="2000" kern="100">
                          <a:solidFill>
                            <a:srgbClr val="0000FF"/>
                          </a:solidFill>
                          <a:latin typeface="Consolas" pitchFamily="49" charset="0"/>
                          <a:ea typeface="仿宋" pitchFamily="49" charset="-122"/>
                        </a:rPr>
                        <a:t>2</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2800"/>
                        </a:lnSpc>
                        <a:spcAft>
                          <a:spcPts val="0"/>
                        </a:spcAft>
                      </a:pPr>
                      <a:r>
                        <a:rPr lang="en-US" sz="2000" kern="100">
                          <a:solidFill>
                            <a:srgbClr val="0000FF"/>
                          </a:solidFill>
                          <a:latin typeface="Consolas" pitchFamily="49" charset="0"/>
                          <a:ea typeface="仿宋" pitchFamily="49" charset="-122"/>
                        </a:rPr>
                        <a:t>2</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extLst>
                  <a:ext uri="{0D108BD9-81ED-4DB2-BD59-A6C34878D82A}">
                    <a16:rowId xmlns:a16="http://schemas.microsoft.com/office/drawing/2014/main" val="10003"/>
                  </a:ext>
                </a:extLst>
              </a:tr>
              <a:tr h="414340">
                <a:tc>
                  <a:txBody>
                    <a:bodyPr/>
                    <a:lstStyle/>
                    <a:p>
                      <a:pPr indent="0" algn="ctr">
                        <a:lnSpc>
                          <a:spcPts val="2800"/>
                        </a:lnSpc>
                        <a:spcAft>
                          <a:spcPts val="0"/>
                        </a:spcAft>
                      </a:pPr>
                      <a:r>
                        <a:rPr lang="en-US" sz="2000" kern="100">
                          <a:solidFill>
                            <a:srgbClr val="0000FF"/>
                          </a:solidFill>
                          <a:latin typeface="Consolas" pitchFamily="49" charset="0"/>
                          <a:ea typeface="仿宋" pitchFamily="49" charset="-122"/>
                        </a:rPr>
                        <a:t>3</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2800"/>
                        </a:lnSpc>
                        <a:spcAft>
                          <a:spcPts val="0"/>
                        </a:spcAft>
                      </a:pPr>
                      <a:r>
                        <a:rPr lang="en-US" sz="2000" kern="100">
                          <a:solidFill>
                            <a:srgbClr val="0000FF"/>
                          </a:solidFill>
                          <a:latin typeface="Consolas" pitchFamily="49" charset="0"/>
                          <a:ea typeface="仿宋" pitchFamily="49" charset="-122"/>
                        </a:rPr>
                        <a:t>5</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2800"/>
                        </a:lnSpc>
                        <a:spcAft>
                          <a:spcPts val="0"/>
                        </a:spcAft>
                      </a:pPr>
                      <a:r>
                        <a:rPr lang="en-US" sz="2000" kern="100">
                          <a:solidFill>
                            <a:srgbClr val="0000FF"/>
                          </a:solidFill>
                          <a:latin typeface="Consolas" pitchFamily="49" charset="0"/>
                          <a:ea typeface="仿宋" pitchFamily="49" charset="-122"/>
                        </a:rPr>
                        <a:t>10</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extLst>
                  <a:ext uri="{0D108BD9-81ED-4DB2-BD59-A6C34878D82A}">
                    <a16:rowId xmlns:a16="http://schemas.microsoft.com/office/drawing/2014/main" val="10004"/>
                  </a:ext>
                </a:extLst>
              </a:tr>
            </a:tbl>
          </a:graphicData>
        </a:graphic>
      </p:graphicFrame>
      <p:sp>
        <p:nvSpPr>
          <p:cNvPr id="11" name="灯片编号占位符 10"/>
          <p:cNvSpPr>
            <a:spLocks noGrp="1"/>
          </p:cNvSpPr>
          <p:nvPr>
            <p:ph type="sldNum" sz="quarter" idx="12"/>
          </p:nvPr>
        </p:nvSpPr>
        <p:spPr/>
        <p:txBody>
          <a:bodyPr/>
          <a:lstStyle/>
          <a:p>
            <a:fld id="{7AF016A1-9F15-429F-9EFD-84004B73C732}" type="slidenum">
              <a:rPr lang="en-US" altLang="zh-CN" smtClean="0"/>
              <a:pPr/>
              <a:t>61</a:t>
            </a:fld>
            <a:r>
              <a:rPr lang="en-US" altLang="zh-CN"/>
              <a:t>/75</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571472" y="500042"/>
            <a:ext cx="7000924" cy="461665"/>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ct val="100000"/>
              </a:lnSpc>
              <a:spcBef>
                <a:spcPts val="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）按单位重量就是递减排序的结果如表所示。</a:t>
            </a:r>
          </a:p>
        </p:txBody>
      </p:sp>
      <p:graphicFrame>
        <p:nvGraphicFramePr>
          <p:cNvPr id="5" name="表格 4"/>
          <p:cNvGraphicFramePr>
            <a:graphicFrameLocks noGrp="1"/>
          </p:cNvGraphicFramePr>
          <p:nvPr/>
        </p:nvGraphicFramePr>
        <p:xfrm>
          <a:off x="1071538" y="1357299"/>
          <a:ext cx="6500858" cy="1928825"/>
        </p:xfrm>
        <a:graphic>
          <a:graphicData uri="http://schemas.openxmlformats.org/drawingml/2006/table">
            <a:tbl>
              <a:tblPr>
                <a:tableStyleId>{35758FB7-9AC5-4552-8A53-C91805E547FA}</a:tableStyleId>
              </a:tblPr>
              <a:tblGrid>
                <a:gridCol w="1214446">
                  <a:extLst>
                    <a:ext uri="{9D8B030D-6E8A-4147-A177-3AD203B41FA5}">
                      <a16:colId xmlns:a16="http://schemas.microsoft.com/office/drawing/2014/main" val="20000"/>
                    </a:ext>
                  </a:extLst>
                </a:gridCol>
                <a:gridCol w="1632281">
                  <a:extLst>
                    <a:ext uri="{9D8B030D-6E8A-4147-A177-3AD203B41FA5}">
                      <a16:colId xmlns:a16="http://schemas.microsoft.com/office/drawing/2014/main" val="20001"/>
                    </a:ext>
                  </a:extLst>
                </a:gridCol>
                <a:gridCol w="1355584">
                  <a:extLst>
                    <a:ext uri="{9D8B030D-6E8A-4147-A177-3AD203B41FA5}">
                      <a16:colId xmlns:a16="http://schemas.microsoft.com/office/drawing/2014/main" val="20002"/>
                    </a:ext>
                  </a:extLst>
                </a:gridCol>
                <a:gridCol w="1118951">
                  <a:extLst>
                    <a:ext uri="{9D8B030D-6E8A-4147-A177-3AD203B41FA5}">
                      <a16:colId xmlns:a16="http://schemas.microsoft.com/office/drawing/2014/main" val="20003"/>
                    </a:ext>
                  </a:extLst>
                </a:gridCol>
                <a:gridCol w="1179596">
                  <a:extLst>
                    <a:ext uri="{9D8B030D-6E8A-4147-A177-3AD203B41FA5}">
                      <a16:colId xmlns:a16="http://schemas.microsoft.com/office/drawing/2014/main" val="20004"/>
                    </a:ext>
                  </a:extLst>
                </a:gridCol>
              </a:tblGrid>
              <a:tr h="385765">
                <a:tc>
                  <a:txBody>
                    <a:bodyPr/>
                    <a:lstStyle/>
                    <a:p>
                      <a:pPr indent="0" algn="ctr">
                        <a:lnSpc>
                          <a:spcPts val="2800"/>
                        </a:lnSpc>
                        <a:spcAft>
                          <a:spcPts val="0"/>
                        </a:spcAft>
                      </a:pPr>
                      <a:r>
                        <a:rPr lang="zh-CN" sz="2000" b="1" kern="100">
                          <a:solidFill>
                            <a:srgbClr val="FF0000"/>
                          </a:solidFill>
                          <a:latin typeface="Consolas" pitchFamily="49" charset="0"/>
                          <a:ea typeface="仿宋" pitchFamily="49" charset="-122"/>
                        </a:rPr>
                        <a:t>序号</a:t>
                      </a:r>
                      <a:r>
                        <a:rPr lang="en-US" sz="2000" b="1" kern="100">
                          <a:solidFill>
                            <a:srgbClr val="FF0000"/>
                          </a:solidFill>
                          <a:latin typeface="Consolas" pitchFamily="49" charset="0"/>
                          <a:ea typeface="仿宋" pitchFamily="49" charset="-122"/>
                        </a:rPr>
                        <a:t>i</a:t>
                      </a:r>
                      <a:endParaRPr lang="zh-CN" sz="2000" b="1" kern="100">
                        <a:solidFill>
                          <a:srgbClr val="FF0000"/>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2800"/>
                        </a:lnSpc>
                        <a:spcAft>
                          <a:spcPts val="0"/>
                        </a:spcAft>
                      </a:pPr>
                      <a:r>
                        <a:rPr lang="zh-CN" sz="2000" b="1" kern="100">
                          <a:solidFill>
                            <a:srgbClr val="FF0000"/>
                          </a:solidFill>
                          <a:latin typeface="Consolas" pitchFamily="49" charset="0"/>
                          <a:ea typeface="仿宋" pitchFamily="49" charset="-122"/>
                        </a:rPr>
                        <a:t>物品编号</a:t>
                      </a:r>
                      <a:r>
                        <a:rPr lang="en-US" sz="2000" b="1" kern="100">
                          <a:solidFill>
                            <a:srgbClr val="FF0000"/>
                          </a:solidFill>
                          <a:latin typeface="Consolas" pitchFamily="49" charset="0"/>
                          <a:ea typeface="仿宋" pitchFamily="49" charset="-122"/>
                        </a:rPr>
                        <a:t>no</a:t>
                      </a:r>
                      <a:endParaRPr lang="zh-CN" sz="2000" b="1" kern="100">
                        <a:solidFill>
                          <a:srgbClr val="FF0000"/>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2800"/>
                        </a:lnSpc>
                        <a:spcAft>
                          <a:spcPts val="0"/>
                        </a:spcAft>
                      </a:pPr>
                      <a:r>
                        <a:rPr lang="zh-CN" sz="2000" b="1" kern="100">
                          <a:solidFill>
                            <a:srgbClr val="FF0000"/>
                          </a:solidFill>
                          <a:latin typeface="Consolas" pitchFamily="49" charset="0"/>
                          <a:ea typeface="仿宋" pitchFamily="49" charset="-122"/>
                        </a:rPr>
                        <a:t>重量</a:t>
                      </a:r>
                      <a:r>
                        <a:rPr lang="en-US" sz="2000" b="1" kern="100">
                          <a:solidFill>
                            <a:srgbClr val="FF0000"/>
                          </a:solidFill>
                          <a:latin typeface="Consolas" pitchFamily="49" charset="0"/>
                          <a:ea typeface="仿宋" pitchFamily="49" charset="-122"/>
                        </a:rPr>
                        <a:t>w</a:t>
                      </a:r>
                      <a:endParaRPr lang="zh-CN" sz="2000" b="1" kern="100">
                        <a:solidFill>
                          <a:srgbClr val="FF0000"/>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2800"/>
                        </a:lnSpc>
                        <a:spcAft>
                          <a:spcPts val="0"/>
                        </a:spcAft>
                      </a:pPr>
                      <a:r>
                        <a:rPr lang="zh-CN" sz="2000" b="1" kern="100">
                          <a:solidFill>
                            <a:srgbClr val="FF0000"/>
                          </a:solidFill>
                          <a:latin typeface="Consolas" pitchFamily="49" charset="0"/>
                          <a:ea typeface="仿宋" pitchFamily="49" charset="-122"/>
                        </a:rPr>
                        <a:t>价值</a:t>
                      </a:r>
                      <a:r>
                        <a:rPr lang="en-US" sz="2000" b="1" kern="100">
                          <a:solidFill>
                            <a:srgbClr val="FF0000"/>
                          </a:solidFill>
                          <a:latin typeface="Consolas" pitchFamily="49" charset="0"/>
                          <a:ea typeface="仿宋" pitchFamily="49" charset="-122"/>
                        </a:rPr>
                        <a:t>v</a:t>
                      </a:r>
                      <a:endParaRPr lang="zh-CN" sz="2000" b="1" kern="100">
                        <a:solidFill>
                          <a:srgbClr val="FF0000"/>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2800"/>
                        </a:lnSpc>
                        <a:spcAft>
                          <a:spcPts val="0"/>
                        </a:spcAft>
                      </a:pPr>
                      <a:r>
                        <a:rPr lang="en-US" sz="2000" b="1" kern="100">
                          <a:solidFill>
                            <a:srgbClr val="FF0000"/>
                          </a:solidFill>
                          <a:latin typeface="Consolas" pitchFamily="49" charset="0"/>
                          <a:ea typeface="仿宋" pitchFamily="49" charset="-122"/>
                        </a:rPr>
                        <a:t>v/w</a:t>
                      </a:r>
                      <a:endParaRPr lang="zh-CN" sz="2000" b="1" kern="100">
                        <a:solidFill>
                          <a:srgbClr val="FF0000"/>
                        </a:solidFill>
                        <a:latin typeface="Consolas" pitchFamily="49" charset="0"/>
                        <a:ea typeface="仿宋" pitchFamily="49" charset="-122"/>
                        <a:cs typeface="Times New Roman"/>
                      </a:endParaRPr>
                    </a:p>
                  </a:txBody>
                  <a:tcPr marL="68580" marR="68580" marT="0" marB="0">
                    <a:solidFill>
                      <a:schemeClr val="bg1">
                        <a:lumMod val="95000"/>
                      </a:schemeClr>
                    </a:solidFill>
                  </a:tcPr>
                </a:tc>
                <a:extLst>
                  <a:ext uri="{0D108BD9-81ED-4DB2-BD59-A6C34878D82A}">
                    <a16:rowId xmlns:a16="http://schemas.microsoft.com/office/drawing/2014/main" val="10000"/>
                  </a:ext>
                </a:extLst>
              </a:tr>
              <a:tr h="385765">
                <a:tc>
                  <a:txBody>
                    <a:bodyPr/>
                    <a:lstStyle/>
                    <a:p>
                      <a:pPr indent="0" algn="ctr">
                        <a:lnSpc>
                          <a:spcPts val="2800"/>
                        </a:lnSpc>
                        <a:spcAft>
                          <a:spcPts val="0"/>
                        </a:spcAft>
                      </a:pPr>
                      <a:r>
                        <a:rPr lang="en-US" sz="2000" kern="100">
                          <a:solidFill>
                            <a:srgbClr val="0000FF"/>
                          </a:solidFill>
                          <a:latin typeface="Consolas" pitchFamily="49" charset="0"/>
                          <a:ea typeface="仿宋" pitchFamily="49" charset="-122"/>
                        </a:rPr>
                        <a:t>0</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2800"/>
                        </a:lnSpc>
                        <a:spcAft>
                          <a:spcPts val="0"/>
                        </a:spcAft>
                      </a:pPr>
                      <a:r>
                        <a:rPr lang="en-US" sz="2000" kern="100">
                          <a:solidFill>
                            <a:srgbClr val="0000FF"/>
                          </a:solidFill>
                          <a:latin typeface="Consolas" pitchFamily="49" charset="0"/>
                          <a:ea typeface="仿宋" pitchFamily="49" charset="-122"/>
                        </a:rPr>
                        <a:t>0</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2800"/>
                        </a:lnSpc>
                        <a:spcAft>
                          <a:spcPts val="0"/>
                        </a:spcAft>
                      </a:pPr>
                      <a:r>
                        <a:rPr lang="en-US" sz="2000" kern="100">
                          <a:solidFill>
                            <a:srgbClr val="0000FF"/>
                          </a:solidFill>
                          <a:latin typeface="Consolas" pitchFamily="49" charset="0"/>
                          <a:ea typeface="仿宋" pitchFamily="49" charset="-122"/>
                        </a:rPr>
                        <a:t>3</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2800"/>
                        </a:lnSpc>
                        <a:spcAft>
                          <a:spcPts val="0"/>
                        </a:spcAft>
                      </a:pPr>
                      <a:r>
                        <a:rPr lang="en-US" sz="2000" kern="100">
                          <a:solidFill>
                            <a:srgbClr val="0000FF"/>
                          </a:solidFill>
                          <a:latin typeface="Consolas" pitchFamily="49" charset="0"/>
                          <a:ea typeface="仿宋" pitchFamily="49" charset="-122"/>
                        </a:rPr>
                        <a:t>7</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2800"/>
                        </a:lnSpc>
                        <a:spcAft>
                          <a:spcPts val="0"/>
                        </a:spcAft>
                      </a:pPr>
                      <a:r>
                        <a:rPr lang="en-US" sz="2000" kern="100">
                          <a:solidFill>
                            <a:srgbClr val="0000FF"/>
                          </a:solidFill>
                          <a:latin typeface="Consolas" pitchFamily="49" charset="0"/>
                          <a:ea typeface="仿宋" pitchFamily="49" charset="-122"/>
                        </a:rPr>
                        <a:t>2.33</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extLst>
                  <a:ext uri="{0D108BD9-81ED-4DB2-BD59-A6C34878D82A}">
                    <a16:rowId xmlns:a16="http://schemas.microsoft.com/office/drawing/2014/main" val="10001"/>
                  </a:ext>
                </a:extLst>
              </a:tr>
              <a:tr h="385765">
                <a:tc>
                  <a:txBody>
                    <a:bodyPr/>
                    <a:lstStyle/>
                    <a:p>
                      <a:pPr indent="0" algn="ctr">
                        <a:lnSpc>
                          <a:spcPts val="2800"/>
                        </a:lnSpc>
                        <a:spcAft>
                          <a:spcPts val="0"/>
                        </a:spcAft>
                      </a:pPr>
                      <a:r>
                        <a:rPr lang="en-US" sz="2000" kern="100">
                          <a:solidFill>
                            <a:srgbClr val="0000FF"/>
                          </a:solidFill>
                          <a:latin typeface="Consolas" pitchFamily="49" charset="0"/>
                          <a:ea typeface="仿宋" pitchFamily="49" charset="-122"/>
                        </a:rPr>
                        <a:t>1</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2800"/>
                        </a:lnSpc>
                        <a:spcAft>
                          <a:spcPts val="0"/>
                        </a:spcAft>
                      </a:pPr>
                      <a:r>
                        <a:rPr lang="en-US" sz="2000" kern="100">
                          <a:solidFill>
                            <a:srgbClr val="0000FF"/>
                          </a:solidFill>
                          <a:latin typeface="Consolas" pitchFamily="49" charset="0"/>
                          <a:ea typeface="仿宋" pitchFamily="49" charset="-122"/>
                        </a:rPr>
                        <a:t>1</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2800"/>
                        </a:lnSpc>
                        <a:spcAft>
                          <a:spcPts val="0"/>
                        </a:spcAft>
                      </a:pPr>
                      <a:r>
                        <a:rPr lang="en-US" sz="2000" kern="100">
                          <a:solidFill>
                            <a:srgbClr val="0000FF"/>
                          </a:solidFill>
                          <a:latin typeface="Consolas" pitchFamily="49" charset="0"/>
                          <a:ea typeface="仿宋" pitchFamily="49" charset="-122"/>
                        </a:rPr>
                        <a:t>4</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2800"/>
                        </a:lnSpc>
                        <a:spcAft>
                          <a:spcPts val="0"/>
                        </a:spcAft>
                      </a:pPr>
                      <a:r>
                        <a:rPr lang="en-US" sz="2000" kern="100">
                          <a:solidFill>
                            <a:srgbClr val="0000FF"/>
                          </a:solidFill>
                          <a:latin typeface="Consolas" pitchFamily="49" charset="0"/>
                          <a:ea typeface="仿宋" pitchFamily="49" charset="-122"/>
                        </a:rPr>
                        <a:t>9</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2800"/>
                        </a:lnSpc>
                        <a:spcAft>
                          <a:spcPts val="0"/>
                        </a:spcAft>
                      </a:pPr>
                      <a:r>
                        <a:rPr lang="en-US" sz="2000" kern="100">
                          <a:solidFill>
                            <a:srgbClr val="0000FF"/>
                          </a:solidFill>
                          <a:latin typeface="Consolas" pitchFamily="49" charset="0"/>
                          <a:ea typeface="仿宋" pitchFamily="49" charset="-122"/>
                        </a:rPr>
                        <a:t>2.25</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extLst>
                  <a:ext uri="{0D108BD9-81ED-4DB2-BD59-A6C34878D82A}">
                    <a16:rowId xmlns:a16="http://schemas.microsoft.com/office/drawing/2014/main" val="10002"/>
                  </a:ext>
                </a:extLst>
              </a:tr>
              <a:tr h="385765">
                <a:tc>
                  <a:txBody>
                    <a:bodyPr/>
                    <a:lstStyle/>
                    <a:p>
                      <a:pPr indent="0" algn="ctr">
                        <a:lnSpc>
                          <a:spcPts val="2800"/>
                        </a:lnSpc>
                        <a:spcAft>
                          <a:spcPts val="0"/>
                        </a:spcAft>
                      </a:pPr>
                      <a:r>
                        <a:rPr lang="en-US" sz="2000" kern="100">
                          <a:solidFill>
                            <a:srgbClr val="0000FF"/>
                          </a:solidFill>
                          <a:latin typeface="Consolas" pitchFamily="49" charset="0"/>
                          <a:ea typeface="仿宋" pitchFamily="49" charset="-122"/>
                        </a:rPr>
                        <a:t>2</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2800"/>
                        </a:lnSpc>
                        <a:spcAft>
                          <a:spcPts val="0"/>
                        </a:spcAft>
                      </a:pPr>
                      <a:r>
                        <a:rPr lang="en-US" sz="2000" kern="100">
                          <a:solidFill>
                            <a:srgbClr val="0000FF"/>
                          </a:solidFill>
                          <a:latin typeface="Consolas" pitchFamily="49" charset="0"/>
                          <a:ea typeface="仿宋" pitchFamily="49" charset="-122"/>
                        </a:rPr>
                        <a:t>3</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2800"/>
                        </a:lnSpc>
                        <a:spcAft>
                          <a:spcPts val="0"/>
                        </a:spcAft>
                      </a:pPr>
                      <a:r>
                        <a:rPr lang="en-US" sz="2000" kern="100">
                          <a:solidFill>
                            <a:srgbClr val="0000FF"/>
                          </a:solidFill>
                          <a:latin typeface="Consolas" pitchFamily="49" charset="0"/>
                          <a:ea typeface="仿宋" pitchFamily="49" charset="-122"/>
                        </a:rPr>
                        <a:t>5</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2800"/>
                        </a:lnSpc>
                        <a:spcAft>
                          <a:spcPts val="0"/>
                        </a:spcAft>
                      </a:pPr>
                      <a:r>
                        <a:rPr lang="en-US" sz="2000" kern="100">
                          <a:solidFill>
                            <a:srgbClr val="0000FF"/>
                          </a:solidFill>
                          <a:latin typeface="Consolas" pitchFamily="49" charset="0"/>
                          <a:ea typeface="仿宋" pitchFamily="49" charset="-122"/>
                        </a:rPr>
                        <a:t>10</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2800"/>
                        </a:lnSpc>
                        <a:spcAft>
                          <a:spcPts val="0"/>
                        </a:spcAft>
                      </a:pPr>
                      <a:r>
                        <a:rPr lang="en-US" sz="2000" kern="100">
                          <a:solidFill>
                            <a:srgbClr val="0000FF"/>
                          </a:solidFill>
                          <a:latin typeface="Consolas" pitchFamily="49" charset="0"/>
                          <a:ea typeface="仿宋" pitchFamily="49" charset="-122"/>
                        </a:rPr>
                        <a:t>2.0</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extLst>
                  <a:ext uri="{0D108BD9-81ED-4DB2-BD59-A6C34878D82A}">
                    <a16:rowId xmlns:a16="http://schemas.microsoft.com/office/drawing/2014/main" val="10003"/>
                  </a:ext>
                </a:extLst>
              </a:tr>
              <a:tr h="385765">
                <a:tc>
                  <a:txBody>
                    <a:bodyPr/>
                    <a:lstStyle/>
                    <a:p>
                      <a:pPr indent="0" algn="ctr">
                        <a:lnSpc>
                          <a:spcPts val="2800"/>
                        </a:lnSpc>
                        <a:spcAft>
                          <a:spcPts val="0"/>
                        </a:spcAft>
                      </a:pPr>
                      <a:r>
                        <a:rPr lang="en-US" sz="2000" kern="100">
                          <a:solidFill>
                            <a:srgbClr val="0000FF"/>
                          </a:solidFill>
                          <a:latin typeface="Consolas" pitchFamily="49" charset="0"/>
                          <a:ea typeface="仿宋" pitchFamily="49" charset="-122"/>
                        </a:rPr>
                        <a:t>3</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2800"/>
                        </a:lnSpc>
                        <a:spcAft>
                          <a:spcPts val="0"/>
                        </a:spcAft>
                      </a:pPr>
                      <a:r>
                        <a:rPr lang="en-US" sz="2000" kern="100">
                          <a:solidFill>
                            <a:srgbClr val="0000FF"/>
                          </a:solidFill>
                          <a:latin typeface="Consolas" pitchFamily="49" charset="0"/>
                          <a:ea typeface="仿宋" pitchFamily="49" charset="-122"/>
                        </a:rPr>
                        <a:t>2</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2800"/>
                        </a:lnSpc>
                        <a:spcAft>
                          <a:spcPts val="0"/>
                        </a:spcAft>
                      </a:pPr>
                      <a:r>
                        <a:rPr lang="en-US" sz="2000" kern="100">
                          <a:solidFill>
                            <a:srgbClr val="0000FF"/>
                          </a:solidFill>
                          <a:latin typeface="Consolas" pitchFamily="49" charset="0"/>
                          <a:ea typeface="仿宋" pitchFamily="49" charset="-122"/>
                        </a:rPr>
                        <a:t>2</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2800"/>
                        </a:lnSpc>
                        <a:spcAft>
                          <a:spcPts val="0"/>
                        </a:spcAft>
                      </a:pPr>
                      <a:r>
                        <a:rPr lang="en-US" sz="2000" kern="100">
                          <a:solidFill>
                            <a:srgbClr val="0000FF"/>
                          </a:solidFill>
                          <a:latin typeface="Consolas" pitchFamily="49" charset="0"/>
                          <a:ea typeface="仿宋" pitchFamily="49" charset="-122"/>
                        </a:rPr>
                        <a:t>2</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tc>
                  <a:txBody>
                    <a:bodyPr/>
                    <a:lstStyle/>
                    <a:p>
                      <a:pPr indent="0" algn="ctr">
                        <a:lnSpc>
                          <a:spcPts val="2800"/>
                        </a:lnSpc>
                        <a:spcAft>
                          <a:spcPts val="0"/>
                        </a:spcAft>
                      </a:pPr>
                      <a:r>
                        <a:rPr lang="en-US" sz="2000" kern="100">
                          <a:solidFill>
                            <a:srgbClr val="0000FF"/>
                          </a:solidFill>
                          <a:latin typeface="Consolas" pitchFamily="49" charset="0"/>
                          <a:ea typeface="仿宋" pitchFamily="49" charset="-122"/>
                        </a:rPr>
                        <a:t>1.0</a:t>
                      </a:r>
                      <a:endParaRPr lang="zh-CN" sz="2000" kern="100">
                        <a:solidFill>
                          <a:srgbClr val="0000FF"/>
                        </a:solidFill>
                        <a:latin typeface="Consolas" pitchFamily="49" charset="0"/>
                        <a:ea typeface="仿宋" pitchFamily="49" charset="-122"/>
                        <a:cs typeface="Times New Roman"/>
                      </a:endParaRPr>
                    </a:p>
                  </a:txBody>
                  <a:tcPr marL="68580" marR="68580" marT="0" marB="0">
                    <a:solidFill>
                      <a:schemeClr val="bg1">
                        <a:lumMod val="95000"/>
                      </a:schemeClr>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571472" y="3786190"/>
            <a:ext cx="8072494" cy="2221121"/>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en-US" altLang="zh-CN">
                <a:solidFill>
                  <a:srgbClr val="006600"/>
                </a:solidFill>
                <a:latin typeface="Consolas" pitchFamily="49" charset="0"/>
                <a:ea typeface="仿宋" pitchFamily="49" charset="-122"/>
              </a:rPr>
              <a:t>bestv</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，取</a:t>
            </a:r>
            <a:r>
              <a:rPr lang="zh-CN" altLang="zh-CN">
                <a:solidFill>
                  <a:srgbClr val="FF0000"/>
                </a:solidFill>
                <a:latin typeface="Consolas" pitchFamily="49" charset="0"/>
                <a:ea typeface="仿宋" pitchFamily="49" charset="-122"/>
              </a:rPr>
              <a:t>序号</a:t>
            </a:r>
            <a:r>
              <a:rPr lang="en-US" altLang="zh-CN">
                <a:solidFill>
                  <a:srgbClr val="FF0000"/>
                </a:solidFill>
                <a:latin typeface="Consolas" pitchFamily="49" charset="0"/>
                <a:ea typeface="仿宋" pitchFamily="49" charset="-122"/>
              </a:rPr>
              <a:t>0</a:t>
            </a:r>
            <a:r>
              <a:rPr lang="zh-CN" altLang="zh-CN">
                <a:solidFill>
                  <a:srgbClr val="FF0000"/>
                </a:solidFill>
                <a:latin typeface="Consolas" pitchFamily="49" charset="0"/>
                <a:ea typeface="仿宋" pitchFamily="49" charset="-122"/>
              </a:rPr>
              <a:t>的物品</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bestv=7</a:t>
            </a:r>
            <a:r>
              <a:rPr lang="zh-CN" altLang="zh-CN">
                <a:solidFill>
                  <a:srgbClr val="0000FF"/>
                </a:solidFill>
                <a:latin typeface="Consolas" pitchFamily="49" charset="0"/>
                <a:ea typeface="仿宋" pitchFamily="49" charset="-122"/>
              </a:rPr>
              <a:t>，剩余容量</a:t>
            </a:r>
            <a:r>
              <a:rPr lang="en-US" altLang="zh-CN">
                <a:solidFill>
                  <a:srgbClr val="0000FF"/>
                </a:solidFill>
                <a:latin typeface="Consolas" pitchFamily="49" charset="0"/>
                <a:ea typeface="仿宋" pitchFamily="49" charset="-122"/>
              </a:rPr>
              <a:t>rw=6-3=3</a:t>
            </a:r>
            <a:r>
              <a:rPr lang="zh-CN" altLang="zh-CN">
                <a:solidFill>
                  <a:srgbClr val="0000FF"/>
                </a:solidFill>
                <a:latin typeface="Consolas" pitchFamily="49" charset="0"/>
                <a:ea typeface="仿宋" pitchFamily="49" charset="-122"/>
              </a:rPr>
              <a:t>。序号</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和</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的物品不能装入背包。取</a:t>
            </a:r>
            <a:r>
              <a:rPr lang="zh-CN" altLang="zh-CN">
                <a:solidFill>
                  <a:srgbClr val="FF0000"/>
                </a:solidFill>
                <a:latin typeface="Consolas" pitchFamily="49" charset="0"/>
                <a:ea typeface="仿宋" pitchFamily="49" charset="-122"/>
              </a:rPr>
              <a:t>序号</a:t>
            </a:r>
            <a:r>
              <a:rPr lang="en-US" altLang="zh-CN">
                <a:solidFill>
                  <a:srgbClr val="FF0000"/>
                </a:solidFill>
                <a:latin typeface="Consolas" pitchFamily="49" charset="0"/>
                <a:ea typeface="仿宋" pitchFamily="49" charset="-122"/>
              </a:rPr>
              <a:t>3</a:t>
            </a:r>
            <a:r>
              <a:rPr lang="zh-CN" altLang="zh-CN">
                <a:solidFill>
                  <a:srgbClr val="FF0000"/>
                </a:solidFill>
                <a:latin typeface="Consolas" pitchFamily="49" charset="0"/>
                <a:ea typeface="仿宋" pitchFamily="49" charset="-122"/>
              </a:rPr>
              <a:t>的物品</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bestv=7+2=9</a:t>
            </a:r>
            <a:r>
              <a:rPr lang="zh-CN" altLang="zh-CN">
                <a:solidFill>
                  <a:srgbClr val="0000FF"/>
                </a:solidFill>
                <a:latin typeface="Consolas" pitchFamily="49" charset="0"/>
                <a:ea typeface="仿宋" pitchFamily="49" charset="-122"/>
              </a:rPr>
              <a:t>，剩余容量</a:t>
            </a:r>
            <a:r>
              <a:rPr lang="en-US" altLang="zh-CN">
                <a:solidFill>
                  <a:srgbClr val="0000FF"/>
                </a:solidFill>
                <a:latin typeface="Consolas" pitchFamily="49" charset="0"/>
                <a:ea typeface="仿宋" pitchFamily="49" charset="-122"/>
              </a:rPr>
              <a:t>rw=3-2=1</a:t>
            </a:r>
            <a:r>
              <a:rPr lang="zh-CN" altLang="zh-CN">
                <a:solidFill>
                  <a:srgbClr val="0000FF"/>
                </a:solidFill>
                <a:latin typeface="Consolas" pitchFamily="49" charset="0"/>
                <a:ea typeface="仿宋" pitchFamily="49" charset="-122"/>
              </a:rPr>
              <a:t>。得到</a:t>
            </a:r>
            <a:r>
              <a:rPr lang="en-US" altLang="zh-CN">
                <a:solidFill>
                  <a:srgbClr val="006600"/>
                </a:solidFill>
                <a:latin typeface="Consolas" pitchFamily="49" charset="0"/>
                <a:ea typeface="仿宋" pitchFamily="49" charset="-122"/>
              </a:rPr>
              <a:t>bestv</a:t>
            </a:r>
            <a:r>
              <a:rPr lang="en-US" altLang="zh-CN">
                <a:solidFill>
                  <a:srgbClr val="0000FF"/>
                </a:solidFill>
                <a:latin typeface="Consolas" pitchFamily="49" charset="0"/>
                <a:ea typeface="仿宋" pitchFamily="49" charset="-122"/>
              </a:rPr>
              <a:t>=9</a:t>
            </a:r>
            <a:r>
              <a:rPr lang="zh-CN" altLang="zh-CN">
                <a:solidFill>
                  <a:srgbClr val="0000FF"/>
                </a:solidFill>
                <a:latin typeface="Consolas" pitchFamily="49" charset="0"/>
                <a:ea typeface="仿宋" pitchFamily="49" charset="-122"/>
              </a:rPr>
              <a:t>。</a:t>
            </a:r>
          </a:p>
          <a:p>
            <a:pPr algn="l">
              <a:lnSpc>
                <a:spcPts val="32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）所有单个物品均可以装入背包，求出最大单个物品的价值</a:t>
            </a:r>
            <a:r>
              <a:rPr lang="en-US" altLang="zh-CN">
                <a:solidFill>
                  <a:srgbClr val="006600"/>
                </a:solidFill>
                <a:latin typeface="Consolas" pitchFamily="49" charset="0"/>
                <a:ea typeface="仿宋" pitchFamily="49" charset="-122"/>
              </a:rPr>
              <a:t>maxv</a:t>
            </a:r>
            <a:r>
              <a:rPr lang="en-US" altLang="zh-CN">
                <a:solidFill>
                  <a:srgbClr val="0000FF"/>
                </a:solidFill>
                <a:latin typeface="Consolas" pitchFamily="49" charset="0"/>
                <a:ea typeface="仿宋" pitchFamily="49" charset="-122"/>
              </a:rPr>
              <a:t>=10</a:t>
            </a:r>
            <a:r>
              <a:rPr lang="zh-CN" altLang="zh-CN">
                <a:solidFill>
                  <a:srgbClr val="0000FF"/>
                </a:solidFill>
                <a:latin typeface="Consolas" pitchFamily="49" charset="0"/>
                <a:ea typeface="仿宋" pitchFamily="49" charset="-122"/>
              </a:rPr>
              <a:t>。置</a:t>
            </a:r>
            <a:r>
              <a:rPr lang="en-US" altLang="zh-CN">
                <a:solidFill>
                  <a:srgbClr val="006600"/>
                </a:solidFill>
                <a:latin typeface="Consolas" pitchFamily="49" charset="0"/>
                <a:ea typeface="仿宋" pitchFamily="49" charset="-122"/>
              </a:rPr>
              <a:t>bestv</a:t>
            </a:r>
            <a:r>
              <a:rPr lang="en-US" altLang="zh-CN">
                <a:solidFill>
                  <a:srgbClr val="0000FF"/>
                </a:solidFill>
                <a:latin typeface="Consolas" pitchFamily="49" charset="0"/>
                <a:ea typeface="仿宋" pitchFamily="49" charset="-122"/>
              </a:rPr>
              <a:t>=max(bestv</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maxv)=10</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62</a:t>
            </a:fld>
            <a:r>
              <a:rPr lang="en-US" altLang="zh-CN"/>
              <a:t>/75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500034" y="1571612"/>
            <a:ext cx="8286808" cy="884216"/>
          </a:xfrm>
          <a:prstGeom prst="rect">
            <a:avLst/>
          </a:prstGeom>
          <a:noFill/>
        </p:spPr>
        <p:txBody>
          <a:bodyPr wrap="square" rtlCol="0">
            <a:spAutoFit/>
          </a:bodyPr>
          <a:lstStyle/>
          <a:p>
            <a:pPr algn="l">
              <a:lnSpc>
                <a:spcPts val="3200"/>
              </a:lnSpc>
              <a:spcBef>
                <a:spcPts val="0"/>
              </a:spcBef>
            </a:pPr>
            <a:r>
              <a:rPr lang="zh-CN" altLang="zh-CN">
                <a:solidFill>
                  <a:srgbClr val="0000FF"/>
                </a:solidFill>
                <a:latin typeface="Consolas" pitchFamily="49" charset="0"/>
                <a:ea typeface="仿宋" pitchFamily="49" charset="-122"/>
              </a:rPr>
              <a:t>设</a:t>
            </a:r>
            <a:r>
              <a:rPr lang="en-US" altLang="zh-CN">
                <a:solidFill>
                  <a:srgbClr val="0000FF"/>
                </a:solidFill>
                <a:latin typeface="Consolas" pitchFamily="49" charset="0"/>
                <a:ea typeface="仿宋" pitchFamily="49" charset="-122"/>
              </a:rPr>
              <a:t>0/1</a:t>
            </a:r>
            <a:r>
              <a:rPr lang="zh-CN" altLang="zh-CN">
                <a:solidFill>
                  <a:srgbClr val="0000FF"/>
                </a:solidFill>
                <a:latin typeface="Consolas" pitchFamily="49" charset="0"/>
                <a:ea typeface="仿宋" pitchFamily="49" charset="-122"/>
              </a:rPr>
              <a:t>背包问题的最优解（最大价值）为</a:t>
            </a:r>
            <a:r>
              <a:rPr lang="en-US" altLang="zh-CN">
                <a:solidFill>
                  <a:srgbClr val="0000FF"/>
                </a:solidFill>
                <a:latin typeface="Consolas" pitchFamily="49" charset="0"/>
                <a:ea typeface="仿宋" pitchFamily="49" charset="-122"/>
              </a:rPr>
              <a:t>L*</a:t>
            </a:r>
            <a:r>
              <a:rPr lang="zh-CN" altLang="zh-CN">
                <a:solidFill>
                  <a:srgbClr val="0000FF"/>
                </a:solidFill>
                <a:latin typeface="Consolas" pitchFamily="49" charset="0"/>
                <a:ea typeface="仿宋" pitchFamily="49" charset="-122"/>
              </a:rPr>
              <a:t>，上述近似算法求出的解为</a:t>
            </a:r>
            <a:r>
              <a:rPr lang="en-US" altLang="zh-CN">
                <a:solidFill>
                  <a:srgbClr val="0000FF"/>
                </a:solidFill>
                <a:latin typeface="Consolas" pitchFamily="49" charset="0"/>
                <a:ea typeface="仿宋" pitchFamily="49" charset="-122"/>
              </a:rPr>
              <a:t>L</a:t>
            </a:r>
            <a:r>
              <a:rPr lang="zh-CN" altLang="zh-CN">
                <a:solidFill>
                  <a:srgbClr val="0000FF"/>
                </a:solidFill>
                <a:latin typeface="Consolas" pitchFamily="49" charset="0"/>
                <a:ea typeface="仿宋" pitchFamily="49" charset="-122"/>
              </a:rPr>
              <a:t>，不妨假设选择的</a:t>
            </a:r>
            <a:r>
              <a:rPr lang="en-US" altLang="zh-CN" i="1">
                <a:solidFill>
                  <a:srgbClr val="0000FF"/>
                </a:solidFill>
                <a:latin typeface="Consolas" pitchFamily="49" charset="0"/>
                <a:ea typeface="仿宋" pitchFamily="49" charset="-122"/>
              </a:rPr>
              <a:t>k</a:t>
            </a:r>
            <a:r>
              <a:rPr lang="zh-CN" altLang="zh-CN">
                <a:solidFill>
                  <a:srgbClr val="0000FF"/>
                </a:solidFill>
                <a:latin typeface="Consolas" pitchFamily="49" charset="0"/>
                <a:ea typeface="仿宋" pitchFamily="49" charset="-122"/>
              </a:rPr>
              <a:t>个物品是物品是</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k</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，则</a:t>
            </a:r>
          </a:p>
        </p:txBody>
      </p:sp>
      <p:sp>
        <p:nvSpPr>
          <p:cNvPr id="5" name="TextBox 4"/>
          <p:cNvSpPr txBox="1"/>
          <p:nvPr/>
        </p:nvSpPr>
        <p:spPr>
          <a:xfrm>
            <a:off x="500034" y="752757"/>
            <a:ext cx="2500330" cy="461665"/>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pPr>
              <a:lnSpc>
                <a:spcPct val="100000"/>
              </a:lnSpc>
              <a:spcBef>
                <a:spcPts val="0"/>
              </a:spcBef>
            </a:pPr>
            <a:r>
              <a:rPr lang="zh-CN" altLang="en-US">
                <a:solidFill>
                  <a:schemeClr val="bg1"/>
                </a:solidFill>
                <a:latin typeface="Consolas" pitchFamily="49" charset="0"/>
                <a:ea typeface="微软雅黑" pitchFamily="34" charset="-122"/>
                <a:cs typeface="Consolas" pitchFamily="49" charset="0"/>
              </a:rPr>
              <a:t>求</a:t>
            </a:r>
            <a:r>
              <a:rPr lang="zh-CN" altLang="zh-CN">
                <a:solidFill>
                  <a:schemeClr val="bg1"/>
                </a:solidFill>
                <a:latin typeface="Consolas" pitchFamily="49" charset="0"/>
                <a:ea typeface="微软雅黑" pitchFamily="34" charset="-122"/>
              </a:rPr>
              <a:t>近似性能比</a:t>
            </a:r>
            <a:endParaRPr lang="zh-CN" altLang="en-US">
              <a:solidFill>
                <a:schemeClr val="bg1"/>
              </a:solidFill>
              <a:latin typeface="Consolas" pitchFamily="49" charset="0"/>
              <a:ea typeface="微软雅黑" pitchFamily="34" charset="-122"/>
              <a:cs typeface="Consolas" pitchFamily="49" charset="0"/>
            </a:endParaRPr>
          </a:p>
        </p:txBody>
      </p:sp>
      <p:pic>
        <p:nvPicPr>
          <p:cNvPr id="13313" name="Picture 1"/>
          <p:cNvPicPr>
            <a:picLocks noChangeAspect="1" noChangeArrowheads="1"/>
          </p:cNvPicPr>
          <p:nvPr/>
        </p:nvPicPr>
        <p:blipFill>
          <a:blip r:embed="rId2" cstate="print"/>
          <a:srcRect/>
          <a:stretch>
            <a:fillRect/>
          </a:stretch>
        </p:blipFill>
        <p:spPr bwMode="auto">
          <a:xfrm>
            <a:off x="2214545" y="2571744"/>
            <a:ext cx="4239215" cy="928694"/>
          </a:xfrm>
          <a:prstGeom prst="rect">
            <a:avLst/>
          </a:prstGeom>
          <a:noFill/>
          <a:ln w="9525">
            <a:noFill/>
            <a:miter lim="800000"/>
            <a:headEnd/>
            <a:tailEnd/>
          </a:ln>
        </p:spPr>
      </p:pic>
      <p:sp>
        <p:nvSpPr>
          <p:cNvPr id="7" name="TextBox 6"/>
          <p:cNvSpPr txBox="1"/>
          <p:nvPr/>
        </p:nvSpPr>
        <p:spPr>
          <a:xfrm>
            <a:off x="714348" y="4000504"/>
            <a:ext cx="7143800"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所以</a:t>
            </a:r>
            <a:r>
              <a:rPr lang="en-US" altLang="zh-CN">
                <a:solidFill>
                  <a:srgbClr val="0000FF"/>
                </a:solidFill>
                <a:latin typeface="Consolas" pitchFamily="49" charset="0"/>
                <a:ea typeface="仿宋" pitchFamily="49" charset="-122"/>
              </a:rPr>
              <a:t>L*/L</a:t>
            </a:r>
            <a:r>
              <a:rPr lang="zh-CN" altLang="zh-CN">
                <a:solidFill>
                  <a:srgbClr val="0000FF"/>
                </a:solidFill>
                <a:latin typeface="+mn-ea"/>
                <a:ea typeface="+mn-ea"/>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。即本近似算法的近似性能比为</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p>
        </p:txBody>
      </p:sp>
      <p:sp>
        <p:nvSpPr>
          <p:cNvPr id="8" name="灯片编号占位符 7"/>
          <p:cNvSpPr>
            <a:spLocks noGrp="1"/>
          </p:cNvSpPr>
          <p:nvPr>
            <p:ph type="sldNum" sz="quarter" idx="12"/>
          </p:nvPr>
        </p:nvSpPr>
        <p:spPr/>
        <p:txBody>
          <a:bodyPr/>
          <a:lstStyle/>
          <a:p>
            <a:fld id="{7AF016A1-9F15-429F-9EFD-84004B73C732}" type="slidenum">
              <a:rPr lang="en-US" altLang="zh-CN" smtClean="0"/>
              <a:pPr/>
              <a:t>63</a:t>
            </a:fld>
            <a:r>
              <a:rPr lang="en-US" altLang="zh-CN"/>
              <a:t>/75</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357158" y="571480"/>
            <a:ext cx="5572164"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12.2.4 </a:t>
            </a:r>
            <a:r>
              <a:rPr lang="zh-CN" altLang="en-US" sz="2800">
                <a:latin typeface="Consolas" pitchFamily="49" charset="0"/>
                <a:ea typeface="微软雅黑" pitchFamily="34" charset="-122"/>
              </a:rPr>
              <a:t>旅行商</a:t>
            </a:r>
            <a:r>
              <a:rPr lang="zh-CN" altLang="zh-CN" sz="2800">
                <a:latin typeface="Consolas" pitchFamily="49" charset="0"/>
                <a:ea typeface="微软雅黑" pitchFamily="34" charset="-122"/>
              </a:rPr>
              <a:t>问题的近似算法</a:t>
            </a:r>
            <a:endParaRPr lang="en-US" altLang="zh-CN" sz="2800">
              <a:latin typeface="Consolas" pitchFamily="49" charset="0"/>
              <a:ea typeface="微软雅黑" pitchFamily="34" charset="-122"/>
            </a:endParaRPr>
          </a:p>
        </p:txBody>
      </p:sp>
      <p:sp>
        <p:nvSpPr>
          <p:cNvPr id="5" name="TextBox 4"/>
          <p:cNvSpPr txBox="1"/>
          <p:nvPr/>
        </p:nvSpPr>
        <p:spPr>
          <a:xfrm>
            <a:off x="428596" y="1643050"/>
            <a:ext cx="8215370" cy="2144177"/>
          </a:xfrm>
          <a:prstGeom prst="rect">
            <a:avLst/>
          </a:prstGeom>
          <a:ln>
            <a:solidFill>
              <a:schemeClr val="accent6">
                <a:lumMod val="40000"/>
                <a:lumOff val="6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0"/>
              </a:spcBef>
            </a:pPr>
            <a:r>
              <a:rPr lang="en-US" altLang="zh-CN">
                <a:solidFill>
                  <a:srgbClr val="FF0000"/>
                </a:solidFill>
                <a:latin typeface="Consolas" pitchFamily="49" charset="0"/>
                <a:ea typeface="楷体" pitchFamily="49" charset="-122"/>
                <a:sym typeface="Wingdings"/>
              </a:rPr>
              <a:t></a:t>
            </a:r>
            <a:r>
              <a:rPr lang="zh-CN" altLang="zh-CN">
                <a:solidFill>
                  <a:srgbClr val="FF0000"/>
                </a:solidFill>
                <a:latin typeface="Consolas" pitchFamily="49" charset="0"/>
                <a:ea typeface="楷体" pitchFamily="49" charset="-122"/>
              </a:rPr>
              <a:t>问题描述</a:t>
            </a:r>
            <a:r>
              <a:rPr lang="zh-CN" altLang="zh-CN">
                <a:solidFill>
                  <a:srgbClr val="0000FF"/>
                </a:solidFill>
                <a:latin typeface="Consolas" pitchFamily="49" charset="0"/>
                <a:ea typeface="仿宋" pitchFamily="49" charset="-122"/>
              </a:rPr>
              <a:t>：给定一个带权连通图</a:t>
            </a:r>
            <a:r>
              <a:rPr lang="en-US" altLang="zh-CN" i="1">
                <a:solidFill>
                  <a:srgbClr val="0000FF"/>
                </a:solidFill>
                <a:latin typeface="Consolas" pitchFamily="49" charset="0"/>
                <a:ea typeface="仿宋" pitchFamily="49" charset="-122"/>
              </a:rPr>
              <a:t>G</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V</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E</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，其每一边</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u</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v</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E</a:t>
            </a:r>
            <a:r>
              <a:rPr lang="zh-CN" altLang="zh-CN">
                <a:solidFill>
                  <a:srgbClr val="0000FF"/>
                </a:solidFill>
                <a:latin typeface="Consolas" pitchFamily="49" charset="0"/>
                <a:ea typeface="仿宋" pitchFamily="49" charset="-122"/>
              </a:rPr>
              <a:t>有一个非负整数表示的费用</a:t>
            </a:r>
            <a:r>
              <a:rPr lang="en-US" altLang="zh-CN" i="1">
                <a:solidFill>
                  <a:srgbClr val="0000FF"/>
                </a:solidFill>
                <a:latin typeface="Consolas" pitchFamily="49" charset="0"/>
                <a:ea typeface="仿宋" pitchFamily="49" charset="-122"/>
              </a:rPr>
              <a:t>c</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u</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v</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，假设费用函数</a:t>
            </a:r>
            <a:r>
              <a:rPr lang="en-US" altLang="zh-CN" i="1">
                <a:solidFill>
                  <a:srgbClr val="0000FF"/>
                </a:solidFill>
                <a:latin typeface="Consolas" pitchFamily="49" charset="0"/>
                <a:ea typeface="仿宋" pitchFamily="49" charset="-122"/>
              </a:rPr>
              <a:t>c</a:t>
            </a:r>
            <a:r>
              <a:rPr lang="zh-CN" altLang="zh-CN">
                <a:solidFill>
                  <a:srgbClr val="0000FF"/>
                </a:solidFill>
                <a:latin typeface="Consolas" pitchFamily="49" charset="0"/>
                <a:ea typeface="仿宋" pitchFamily="49" charset="-122"/>
              </a:rPr>
              <a:t>具有三角不等式性质，即对任意的</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个顶点</a:t>
            </a:r>
            <a:r>
              <a:rPr lang="en-US" altLang="zh-CN" i="1">
                <a:solidFill>
                  <a:srgbClr val="0000FF"/>
                </a:solidFill>
                <a:latin typeface="Consolas" pitchFamily="49" charset="0"/>
                <a:ea typeface="仿宋" pitchFamily="49" charset="-122"/>
              </a:rPr>
              <a:t>u</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v</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w</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V</a:t>
            </a:r>
            <a:r>
              <a:rPr lang="zh-CN" altLang="zh-CN">
                <a:solidFill>
                  <a:srgbClr val="0000FF"/>
                </a:solidFill>
                <a:latin typeface="Consolas" pitchFamily="49" charset="0"/>
                <a:ea typeface="仿宋" pitchFamily="49" charset="-122"/>
              </a:rPr>
              <a:t>，有</a:t>
            </a:r>
            <a:r>
              <a:rPr lang="en-US" altLang="zh-CN" i="1">
                <a:solidFill>
                  <a:srgbClr val="006600"/>
                </a:solidFill>
                <a:latin typeface="Consolas" pitchFamily="49" charset="0"/>
                <a:ea typeface="仿宋" pitchFamily="49" charset="-122"/>
              </a:rPr>
              <a:t>c</a:t>
            </a:r>
            <a:r>
              <a:rPr lang="en-US" altLang="zh-CN">
                <a:solidFill>
                  <a:srgbClr val="006600"/>
                </a:solidFill>
                <a:latin typeface="Consolas" pitchFamily="49" charset="0"/>
                <a:ea typeface="仿宋" pitchFamily="49" charset="-122"/>
              </a:rPr>
              <a:t>(</a:t>
            </a:r>
            <a:r>
              <a:rPr lang="en-US" altLang="zh-CN" i="1">
                <a:solidFill>
                  <a:srgbClr val="006600"/>
                </a:solidFill>
                <a:latin typeface="Consolas" pitchFamily="49" charset="0"/>
                <a:ea typeface="仿宋" pitchFamily="49" charset="-122"/>
              </a:rPr>
              <a:t>u</a:t>
            </a:r>
            <a:r>
              <a:rPr lang="zh-CN" altLang="zh-CN">
                <a:solidFill>
                  <a:srgbClr val="006600"/>
                </a:solidFill>
                <a:latin typeface="Consolas" pitchFamily="49" charset="0"/>
                <a:ea typeface="仿宋" pitchFamily="49" charset="-122"/>
              </a:rPr>
              <a:t>，</a:t>
            </a:r>
            <a:r>
              <a:rPr lang="en-US" altLang="zh-CN" i="1">
                <a:solidFill>
                  <a:srgbClr val="006600"/>
                </a:solidFill>
                <a:latin typeface="Consolas" pitchFamily="49" charset="0"/>
                <a:ea typeface="仿宋" pitchFamily="49" charset="-122"/>
              </a:rPr>
              <a:t>w</a:t>
            </a:r>
            <a:r>
              <a:rPr lang="en-US" altLang="zh-CN">
                <a:solidFill>
                  <a:srgbClr val="006600"/>
                </a:solidFill>
                <a:latin typeface="Consolas" pitchFamily="49" charset="0"/>
                <a:ea typeface="仿宋" pitchFamily="49" charset="-122"/>
              </a:rPr>
              <a:t>)</a:t>
            </a:r>
            <a:r>
              <a:rPr lang="en-US" altLang="zh-CN">
                <a:solidFill>
                  <a:srgbClr val="006600"/>
                </a:solidFill>
                <a:latin typeface="+mn-ea"/>
              </a:rPr>
              <a:t>≤</a:t>
            </a:r>
            <a:r>
              <a:rPr lang="en-US" altLang="zh-CN" i="1">
                <a:solidFill>
                  <a:srgbClr val="006600"/>
                </a:solidFill>
                <a:latin typeface="Consolas" pitchFamily="49" charset="0"/>
                <a:ea typeface="仿宋" pitchFamily="49" charset="-122"/>
              </a:rPr>
              <a:t>c</a:t>
            </a:r>
            <a:r>
              <a:rPr lang="en-US" altLang="zh-CN">
                <a:solidFill>
                  <a:srgbClr val="006600"/>
                </a:solidFill>
                <a:latin typeface="Consolas" pitchFamily="49" charset="0"/>
                <a:ea typeface="仿宋" pitchFamily="49" charset="-122"/>
              </a:rPr>
              <a:t>(</a:t>
            </a:r>
            <a:r>
              <a:rPr lang="en-US" altLang="zh-CN" i="1">
                <a:solidFill>
                  <a:srgbClr val="006600"/>
                </a:solidFill>
                <a:latin typeface="Consolas" pitchFamily="49" charset="0"/>
                <a:ea typeface="仿宋" pitchFamily="49" charset="-122"/>
              </a:rPr>
              <a:t>u</a:t>
            </a:r>
            <a:r>
              <a:rPr lang="zh-CN" altLang="zh-CN">
                <a:solidFill>
                  <a:srgbClr val="006600"/>
                </a:solidFill>
                <a:latin typeface="Consolas" pitchFamily="49" charset="0"/>
                <a:ea typeface="仿宋" pitchFamily="49" charset="-122"/>
              </a:rPr>
              <a:t>，</a:t>
            </a:r>
            <a:r>
              <a:rPr lang="en-US" altLang="zh-CN" i="1">
                <a:solidFill>
                  <a:srgbClr val="006600"/>
                </a:solidFill>
                <a:latin typeface="Consolas" pitchFamily="49" charset="0"/>
                <a:ea typeface="仿宋" pitchFamily="49" charset="-122"/>
              </a:rPr>
              <a:t>v</a:t>
            </a:r>
            <a:r>
              <a:rPr lang="en-US" altLang="zh-CN">
                <a:solidFill>
                  <a:srgbClr val="006600"/>
                </a:solidFill>
                <a:latin typeface="Consolas" pitchFamily="49" charset="0"/>
                <a:ea typeface="仿宋" pitchFamily="49" charset="-122"/>
              </a:rPr>
              <a:t>)+</a:t>
            </a:r>
            <a:r>
              <a:rPr lang="en-US" altLang="zh-CN" i="1">
                <a:solidFill>
                  <a:srgbClr val="006600"/>
                </a:solidFill>
                <a:latin typeface="Consolas" pitchFamily="49" charset="0"/>
                <a:ea typeface="仿宋" pitchFamily="49" charset="-122"/>
              </a:rPr>
              <a:t>c</a:t>
            </a:r>
            <a:r>
              <a:rPr lang="en-US" altLang="zh-CN">
                <a:solidFill>
                  <a:srgbClr val="006600"/>
                </a:solidFill>
                <a:latin typeface="Consolas" pitchFamily="49" charset="0"/>
                <a:ea typeface="仿宋" pitchFamily="49" charset="-122"/>
              </a:rPr>
              <a:t>(</a:t>
            </a:r>
            <a:r>
              <a:rPr lang="en-US" altLang="zh-CN" i="1">
                <a:solidFill>
                  <a:srgbClr val="006600"/>
                </a:solidFill>
                <a:latin typeface="Consolas" pitchFamily="49" charset="0"/>
                <a:ea typeface="仿宋" pitchFamily="49" charset="-122"/>
              </a:rPr>
              <a:t>v</a:t>
            </a:r>
            <a:r>
              <a:rPr lang="zh-CN" altLang="zh-CN">
                <a:solidFill>
                  <a:srgbClr val="006600"/>
                </a:solidFill>
                <a:latin typeface="Consolas" pitchFamily="49" charset="0"/>
                <a:ea typeface="仿宋" pitchFamily="49" charset="-122"/>
              </a:rPr>
              <a:t>，</a:t>
            </a:r>
            <a:r>
              <a:rPr lang="en-US" altLang="zh-CN" i="1">
                <a:solidFill>
                  <a:srgbClr val="006600"/>
                </a:solidFill>
                <a:latin typeface="Consolas" pitchFamily="49" charset="0"/>
                <a:ea typeface="仿宋" pitchFamily="49" charset="-122"/>
              </a:rPr>
              <a:t>w</a:t>
            </a:r>
            <a:r>
              <a:rPr lang="en-US" altLang="zh-CN">
                <a:solidFill>
                  <a:srgbClr val="006600"/>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algn="l">
              <a:lnSpc>
                <a:spcPts val="3200"/>
              </a:lnSpc>
              <a:spcBef>
                <a:spcPts val="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设计一个近似算法求出</a:t>
            </a:r>
            <a:r>
              <a:rPr lang="en-US" altLang="zh-CN">
                <a:solidFill>
                  <a:srgbClr val="0000FF"/>
                </a:solidFill>
                <a:latin typeface="Consolas" pitchFamily="49" charset="0"/>
                <a:ea typeface="仿宋" pitchFamily="49" charset="-122"/>
              </a:rPr>
              <a:t>G</a:t>
            </a:r>
            <a:r>
              <a:rPr lang="zh-CN" altLang="zh-CN">
                <a:solidFill>
                  <a:srgbClr val="0000FF"/>
                </a:solidFill>
                <a:latin typeface="Consolas" pitchFamily="49" charset="0"/>
                <a:ea typeface="仿宋" pitchFamily="49" charset="-122"/>
              </a:rPr>
              <a:t>的最小费用的</a:t>
            </a:r>
            <a:r>
              <a:rPr lang="en-US" altLang="zh-CN">
                <a:solidFill>
                  <a:srgbClr val="0000FF"/>
                </a:solidFill>
                <a:latin typeface="Consolas" pitchFamily="49" charset="0"/>
                <a:ea typeface="仿宋" pitchFamily="49" charset="-122"/>
              </a:rPr>
              <a:t>TSP</a:t>
            </a:r>
            <a:r>
              <a:rPr lang="zh-CN" altLang="zh-CN">
                <a:solidFill>
                  <a:srgbClr val="0000FF"/>
                </a:solidFill>
                <a:latin typeface="Consolas" pitchFamily="49" charset="0"/>
                <a:ea typeface="仿宋" pitchFamily="49" charset="-122"/>
              </a:rPr>
              <a:t>回路。</a:t>
            </a:r>
            <a:endParaRPr lang="zh-CN" altLang="en-US">
              <a:solidFill>
                <a:srgbClr val="0000FF"/>
              </a:solidFill>
              <a:latin typeface="Consolas" pitchFamily="49" charset="0"/>
              <a:ea typeface="仿宋" pitchFamily="49" charset="-122"/>
              <a:cs typeface="Consolas"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64</a:t>
            </a:fld>
            <a:r>
              <a:rPr lang="en-US" altLang="zh-CN"/>
              <a:t>/75</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428596" y="714356"/>
            <a:ext cx="857256"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a:solidFill>
                  <a:srgbClr val="FF0000"/>
                </a:solidFill>
                <a:latin typeface="Consolas" pitchFamily="49" charset="0"/>
                <a:ea typeface="微软雅黑" pitchFamily="34" charset="-122"/>
                <a:cs typeface="Consolas" pitchFamily="49" charset="0"/>
              </a:rPr>
              <a:t>解</a:t>
            </a:r>
            <a:endParaRPr lang="zh-CN" altLang="en-US">
              <a:ln w="18415" cmpd="sng">
                <a:solidFill>
                  <a:srgbClr val="FFFFFF"/>
                </a:solidFill>
                <a:prstDash val="solid"/>
              </a:ln>
              <a:solidFill>
                <a:srgbClr val="FF0000"/>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endParaRPr>
          </a:p>
        </p:txBody>
      </p:sp>
      <p:sp>
        <p:nvSpPr>
          <p:cNvPr id="5" name="TextBox 4"/>
          <p:cNvSpPr txBox="1"/>
          <p:nvPr/>
        </p:nvSpPr>
        <p:spPr>
          <a:xfrm>
            <a:off x="857224" y="1500174"/>
            <a:ext cx="7572428" cy="1887696"/>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2"/>
              </a:buBlip>
            </a:pPr>
            <a:r>
              <a:rPr lang="en-US" altLang="zh-CN">
                <a:solidFill>
                  <a:srgbClr val="0000FF"/>
                </a:solidFill>
                <a:latin typeface="Consolas" pitchFamily="49" charset="0"/>
                <a:ea typeface="仿宋" pitchFamily="49" charset="-122"/>
              </a:rPr>
              <a:t>TSP</a:t>
            </a:r>
            <a:r>
              <a:rPr lang="zh-CN" altLang="zh-CN">
                <a:solidFill>
                  <a:srgbClr val="0000FF"/>
                </a:solidFill>
                <a:latin typeface="Consolas" pitchFamily="49" charset="0"/>
                <a:ea typeface="仿宋" pitchFamily="49" charset="-122"/>
              </a:rPr>
              <a:t>问题是一个典型的</a:t>
            </a:r>
            <a:r>
              <a:rPr lang="en-US" altLang="zh-CN">
                <a:solidFill>
                  <a:srgbClr val="0000FF"/>
                </a:solidFill>
                <a:latin typeface="Consolas" pitchFamily="49" charset="0"/>
                <a:ea typeface="仿宋" pitchFamily="49" charset="-122"/>
              </a:rPr>
              <a:t>NP</a:t>
            </a:r>
            <a:r>
              <a:rPr lang="zh-CN" altLang="zh-CN">
                <a:solidFill>
                  <a:srgbClr val="0000FF"/>
                </a:solidFill>
                <a:latin typeface="Consolas" pitchFamily="49" charset="0"/>
                <a:ea typeface="仿宋" pitchFamily="49" charset="-122"/>
              </a:rPr>
              <a:t>完全问题，目前没有多项式级的求解算法</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2"/>
              </a:buBlip>
            </a:pPr>
            <a:r>
              <a:rPr lang="zh-CN" altLang="zh-CN">
                <a:solidFill>
                  <a:srgbClr val="0000FF"/>
                </a:solidFill>
                <a:latin typeface="Consolas" pitchFamily="49" charset="0"/>
                <a:ea typeface="仿宋" pitchFamily="49" charset="-122"/>
              </a:rPr>
              <a:t>这里采用组合技术设计其近似算法。所谓组合技术就是利用问题自身性质设计近似算法。</a:t>
            </a:r>
            <a:endParaRPr lang="zh-CN" altLang="en-US">
              <a:solidFill>
                <a:srgbClr val="0000FF"/>
              </a:solidFill>
              <a:latin typeface="Consolas" pitchFamily="49" charset="0"/>
              <a:ea typeface="仿宋" pitchFamily="49" charset="-122"/>
              <a:cs typeface="Consolas"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65</a:t>
            </a:fld>
            <a:r>
              <a:rPr lang="en-US" altLang="zh-CN"/>
              <a:t>/75</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642910" y="571480"/>
            <a:ext cx="2071702"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楷体" pitchFamily="49" charset="-122"/>
                <a:ea typeface="楷体" pitchFamily="49" charset="-122"/>
              </a:rPr>
              <a:t>贪心近似</a:t>
            </a:r>
            <a:r>
              <a:rPr lang="zh-CN" altLang="en-US">
                <a:solidFill>
                  <a:srgbClr val="0000FF"/>
                </a:solidFill>
                <a:latin typeface="楷体" pitchFamily="49" charset="-122"/>
                <a:ea typeface="楷体" pitchFamily="49" charset="-122"/>
              </a:rPr>
              <a:t>算法</a:t>
            </a:r>
            <a:endParaRPr lang="zh-CN" altLang="en-US">
              <a:solidFill>
                <a:srgbClr val="0000FF"/>
              </a:solidFill>
              <a:latin typeface="楷体" pitchFamily="49" charset="-122"/>
              <a:ea typeface="楷体" pitchFamily="49" charset="-122"/>
              <a:cs typeface="Consolas" pitchFamily="49" charset="0"/>
            </a:endParaRPr>
          </a:p>
        </p:txBody>
      </p:sp>
      <p:sp>
        <p:nvSpPr>
          <p:cNvPr id="5" name="TextBox 4"/>
          <p:cNvSpPr txBox="1"/>
          <p:nvPr/>
        </p:nvSpPr>
        <p:spPr>
          <a:xfrm>
            <a:off x="571472" y="1428736"/>
            <a:ext cx="8072494" cy="230832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）选择</a:t>
            </a:r>
            <a:r>
              <a:rPr lang="en-US" altLang="zh-CN">
                <a:solidFill>
                  <a:srgbClr val="0000FF"/>
                </a:solidFill>
                <a:latin typeface="Consolas" pitchFamily="49" charset="0"/>
                <a:ea typeface="仿宋" pitchFamily="49" charset="-122"/>
              </a:rPr>
              <a:t>G</a:t>
            </a:r>
            <a:r>
              <a:rPr lang="zh-CN" altLang="zh-CN">
                <a:solidFill>
                  <a:srgbClr val="0000FF"/>
                </a:solidFill>
                <a:latin typeface="Consolas" pitchFamily="49" charset="0"/>
                <a:ea typeface="仿宋" pitchFamily="49" charset="-122"/>
              </a:rPr>
              <a:t>的任一顶点</a:t>
            </a:r>
            <a:r>
              <a:rPr lang="en-US" altLang="zh-CN" i="1">
                <a:solidFill>
                  <a:srgbClr val="0000FF"/>
                </a:solidFill>
                <a:latin typeface="Consolas" pitchFamily="49" charset="0"/>
                <a:ea typeface="仿宋" pitchFamily="49" charset="-122"/>
              </a:rPr>
              <a:t>v</a:t>
            </a:r>
            <a:r>
              <a:rPr lang="zh-CN" altLang="zh-CN">
                <a:solidFill>
                  <a:srgbClr val="0000FF"/>
                </a:solidFill>
                <a:latin typeface="Consolas" pitchFamily="49" charset="0"/>
                <a:ea typeface="仿宋" pitchFamily="49" charset="-122"/>
              </a:rPr>
              <a:t>，用</a:t>
            </a:r>
            <a:r>
              <a:rPr lang="en-US" altLang="zh-CN">
                <a:solidFill>
                  <a:srgbClr val="FF0000"/>
                </a:solidFill>
                <a:latin typeface="Consolas" pitchFamily="49" charset="0"/>
                <a:ea typeface="仿宋" pitchFamily="49" charset="-122"/>
              </a:rPr>
              <a:t>Prim</a:t>
            </a:r>
            <a:r>
              <a:rPr lang="zh-CN" altLang="zh-CN">
                <a:solidFill>
                  <a:srgbClr val="FF0000"/>
                </a:solidFill>
                <a:latin typeface="Consolas" pitchFamily="49" charset="0"/>
                <a:ea typeface="仿宋" pitchFamily="49" charset="-122"/>
              </a:rPr>
              <a:t>算</a:t>
            </a:r>
            <a:r>
              <a:rPr lang="zh-CN" altLang="zh-CN">
                <a:solidFill>
                  <a:srgbClr val="0000FF"/>
                </a:solidFill>
                <a:latin typeface="Consolas" pitchFamily="49" charset="0"/>
                <a:ea typeface="仿宋" pitchFamily="49" charset="-122"/>
              </a:rPr>
              <a:t>法构造一棵以</a:t>
            </a:r>
            <a:r>
              <a:rPr lang="en-US" altLang="zh-CN" i="1">
                <a:solidFill>
                  <a:srgbClr val="0000FF"/>
                </a:solidFill>
                <a:latin typeface="Consolas" pitchFamily="49" charset="0"/>
                <a:ea typeface="仿宋" pitchFamily="49" charset="-122"/>
              </a:rPr>
              <a:t>v</a:t>
            </a:r>
            <a:r>
              <a:rPr lang="zh-CN" altLang="zh-CN">
                <a:solidFill>
                  <a:srgbClr val="0000FF"/>
                </a:solidFill>
                <a:latin typeface="Consolas" pitchFamily="49" charset="0"/>
                <a:ea typeface="仿宋" pitchFamily="49" charset="-122"/>
              </a:rPr>
              <a:t>为根的最小生成树</a:t>
            </a:r>
            <a:r>
              <a:rPr lang="en-US" altLang="zh-CN">
                <a:solidFill>
                  <a:srgbClr val="0000FF"/>
                </a:solidFill>
                <a:latin typeface="Consolas" pitchFamily="49" charset="0"/>
                <a:ea typeface="仿宋" pitchFamily="49" charset="-122"/>
              </a:rPr>
              <a:t>T</a:t>
            </a:r>
            <a:r>
              <a:rPr lang="zh-CN" altLang="zh-CN">
                <a:solidFill>
                  <a:srgbClr val="0000FF"/>
                </a:solidFill>
                <a:latin typeface="Consolas" pitchFamily="49" charset="0"/>
                <a:ea typeface="仿宋" pitchFamily="49" charset="-122"/>
              </a:rPr>
              <a:t>。</a:t>
            </a:r>
          </a:p>
          <a:p>
            <a:pPr algn="l">
              <a:lnSpc>
                <a:spcPts val="32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）采用先根遍历生成树</a:t>
            </a:r>
            <a:r>
              <a:rPr lang="en-US" altLang="zh-CN">
                <a:solidFill>
                  <a:srgbClr val="0000FF"/>
                </a:solidFill>
                <a:latin typeface="Consolas" pitchFamily="49" charset="0"/>
                <a:ea typeface="仿宋" pitchFamily="49" charset="-122"/>
              </a:rPr>
              <a:t>T</a:t>
            </a:r>
            <a:r>
              <a:rPr lang="zh-CN" altLang="zh-CN">
                <a:solidFill>
                  <a:srgbClr val="0000FF"/>
                </a:solidFill>
                <a:latin typeface="Consolas" pitchFamily="49" charset="0"/>
                <a:ea typeface="仿宋" pitchFamily="49" charset="-122"/>
              </a:rPr>
              <a:t>得到一个顶点表</a:t>
            </a:r>
            <a:r>
              <a:rPr lang="en-US" altLang="zh-CN">
                <a:solidFill>
                  <a:srgbClr val="006600"/>
                </a:solidFill>
                <a:latin typeface="Consolas" pitchFamily="49" charset="0"/>
                <a:ea typeface="仿宋" pitchFamily="49" charset="-122"/>
              </a:rPr>
              <a:t>path</a:t>
            </a:r>
            <a:r>
              <a:rPr lang="zh-CN" altLang="zh-CN">
                <a:solidFill>
                  <a:srgbClr val="0000FF"/>
                </a:solidFill>
                <a:latin typeface="Consolas" pitchFamily="49" charset="0"/>
                <a:ea typeface="仿宋" pitchFamily="49" charset="-122"/>
              </a:rPr>
              <a:t>。</a:t>
            </a:r>
          </a:p>
          <a:p>
            <a:pPr algn="l">
              <a:lnSpc>
                <a:spcPts val="32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）将顶点</a:t>
            </a:r>
            <a:r>
              <a:rPr lang="en-US" altLang="zh-CN" i="1">
                <a:solidFill>
                  <a:srgbClr val="0000FF"/>
                </a:solidFill>
                <a:latin typeface="Consolas" pitchFamily="49" charset="0"/>
                <a:ea typeface="仿宋" pitchFamily="49" charset="-122"/>
              </a:rPr>
              <a:t>v</a:t>
            </a:r>
            <a:r>
              <a:rPr lang="zh-CN" altLang="zh-CN">
                <a:solidFill>
                  <a:srgbClr val="0000FF"/>
                </a:solidFill>
                <a:latin typeface="Consolas" pitchFamily="49" charset="0"/>
                <a:ea typeface="仿宋" pitchFamily="49" charset="-122"/>
              </a:rPr>
              <a:t>添加到表</a:t>
            </a:r>
            <a:r>
              <a:rPr lang="en-US" altLang="zh-CN">
                <a:solidFill>
                  <a:srgbClr val="006600"/>
                </a:solidFill>
                <a:latin typeface="Consolas" pitchFamily="49" charset="0"/>
                <a:ea typeface="仿宋" pitchFamily="49" charset="-122"/>
              </a:rPr>
              <a:t>path</a:t>
            </a:r>
            <a:r>
              <a:rPr lang="zh-CN" altLang="zh-CN">
                <a:solidFill>
                  <a:srgbClr val="0000FF"/>
                </a:solidFill>
                <a:latin typeface="Consolas" pitchFamily="49" charset="0"/>
                <a:ea typeface="仿宋" pitchFamily="49" charset="-122"/>
              </a:rPr>
              <a:t>的末尾，按表</a:t>
            </a:r>
            <a:r>
              <a:rPr lang="en-US" altLang="zh-CN">
                <a:solidFill>
                  <a:srgbClr val="006600"/>
                </a:solidFill>
                <a:latin typeface="Consolas" pitchFamily="49" charset="0"/>
                <a:ea typeface="仿宋" pitchFamily="49" charset="-122"/>
              </a:rPr>
              <a:t>path</a:t>
            </a:r>
            <a:r>
              <a:rPr lang="zh-CN" altLang="zh-CN">
                <a:solidFill>
                  <a:srgbClr val="0000FF"/>
                </a:solidFill>
                <a:latin typeface="Consolas" pitchFamily="49" charset="0"/>
                <a:ea typeface="仿宋" pitchFamily="49" charset="-122"/>
              </a:rPr>
              <a:t>中顶点次序组成</a:t>
            </a:r>
            <a:r>
              <a:rPr lang="zh-CN" altLang="zh-CN">
                <a:solidFill>
                  <a:srgbClr val="006600"/>
                </a:solidFill>
                <a:latin typeface="Consolas" pitchFamily="49" charset="0"/>
                <a:ea typeface="仿宋" pitchFamily="49" charset="-122"/>
              </a:rPr>
              <a:t>回路</a:t>
            </a:r>
            <a:r>
              <a:rPr lang="en-US" altLang="zh-CN">
                <a:solidFill>
                  <a:srgbClr val="006600"/>
                </a:solidFill>
                <a:latin typeface="Consolas" pitchFamily="49" charset="0"/>
                <a:ea typeface="仿宋" pitchFamily="49" charset="-122"/>
              </a:rPr>
              <a:t>H</a:t>
            </a:r>
            <a:r>
              <a:rPr lang="zh-CN" altLang="zh-CN">
                <a:solidFill>
                  <a:srgbClr val="0000FF"/>
                </a:solidFill>
                <a:latin typeface="Consolas" pitchFamily="49" charset="0"/>
                <a:ea typeface="仿宋" pitchFamily="49" charset="-122"/>
              </a:rPr>
              <a:t>，作为计算结果返回。</a:t>
            </a:r>
            <a:endParaRPr lang="zh-CN" altLang="en-US">
              <a:solidFill>
                <a:srgbClr val="0000FF"/>
              </a:solidFill>
              <a:latin typeface="Consolas" pitchFamily="49" charset="0"/>
              <a:ea typeface="仿宋" pitchFamily="49" charset="-122"/>
              <a:cs typeface="Consolas"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66</a:t>
            </a:fld>
            <a:r>
              <a:rPr lang="en-US" altLang="zh-CN"/>
              <a:t>/75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4" name="组合 6"/>
          <p:cNvGrpSpPr/>
          <p:nvPr/>
        </p:nvGrpSpPr>
        <p:grpSpPr>
          <a:xfrm>
            <a:off x="714348" y="357166"/>
            <a:ext cx="853211" cy="761171"/>
            <a:chOff x="6862060" y="4310903"/>
            <a:chExt cx="1128915" cy="1130667"/>
          </a:xfrm>
        </p:grpSpPr>
        <p:grpSp>
          <p:nvGrpSpPr>
            <p:cNvPr id="5" name="Group 103"/>
            <p:cNvGrpSpPr>
              <a:grpSpLocks/>
            </p:cNvGrpSpPr>
            <p:nvPr/>
          </p:nvGrpSpPr>
          <p:grpSpPr bwMode="auto">
            <a:xfrm>
              <a:off x="6862060" y="4310903"/>
              <a:ext cx="1128915" cy="1130667"/>
              <a:chOff x="2880" y="1515"/>
              <a:chExt cx="644" cy="645"/>
            </a:xfrm>
          </p:grpSpPr>
          <p:sp>
            <p:nvSpPr>
              <p:cNvPr id="7" name="Oval 104"/>
              <p:cNvSpPr>
                <a:spLocks noChangeArrowheads="1"/>
              </p:cNvSpPr>
              <p:nvPr/>
            </p:nvSpPr>
            <p:spPr bwMode="auto">
              <a:xfrm>
                <a:off x="2880" y="1516"/>
                <a:ext cx="644" cy="644"/>
              </a:xfrm>
              <a:prstGeom prst="ellipse">
                <a:avLst/>
              </a:prstGeom>
              <a:gradFill rotWithShape="1">
                <a:gsLst>
                  <a:gs pos="0">
                    <a:srgbClr val="10942F"/>
                  </a:gs>
                  <a:gs pos="100000">
                    <a:srgbClr val="16D83B"/>
                  </a:gs>
                </a:gsLst>
                <a:lin ang="5400000" scaled="1"/>
              </a:gradFill>
              <a:ln w="9525" algn="ctr">
                <a:noFill/>
                <a:round/>
                <a:headEnd/>
                <a:tailEnd/>
              </a:ln>
              <a:effectLst>
                <a:outerShdw blurRad="76200" dir="18900000" sy="23000" kx="-1200000" algn="bl" rotWithShape="0">
                  <a:prstClr val="black">
                    <a:alpha val="20000"/>
                  </a:prstClr>
                </a:outerShdw>
              </a:effectLst>
            </p:spPr>
            <p:txBody>
              <a:bodyPr wrap="none" anchor="ctr"/>
              <a:lstStyle/>
              <a:p>
                <a:endParaRPr lang="zh-CN" altLang="en-US"/>
              </a:p>
            </p:txBody>
          </p:sp>
          <p:sp>
            <p:nvSpPr>
              <p:cNvPr id="8" name="Freeform 105"/>
              <p:cNvSpPr>
                <a:spLocks/>
              </p:cNvSpPr>
              <p:nvPr/>
            </p:nvSpPr>
            <p:spPr bwMode="auto">
              <a:xfrm>
                <a:off x="2887" y="1515"/>
                <a:ext cx="630" cy="441"/>
              </a:xfrm>
              <a:custGeom>
                <a:avLst/>
                <a:gdLst/>
                <a:ahLst/>
                <a:cxnLst>
                  <a:cxn ang="0">
                    <a:pos x="1400" y="275"/>
                  </a:cxn>
                  <a:cxn ang="0">
                    <a:pos x="1596" y="795"/>
                  </a:cxn>
                  <a:cxn ang="0">
                    <a:pos x="0" y="795"/>
                  </a:cxn>
                  <a:cxn ang="0">
                    <a:pos x="217" y="252"/>
                  </a:cxn>
                  <a:cxn ang="0">
                    <a:pos x="796" y="0"/>
                  </a:cxn>
                  <a:cxn ang="0">
                    <a:pos x="1400" y="275"/>
                  </a:cxn>
                </a:cxnLst>
                <a:rect l="0" t="0" r="r" b="b"/>
                <a:pathLst>
                  <a:path w="1596" h="1118">
                    <a:moveTo>
                      <a:pt x="1400" y="275"/>
                    </a:moveTo>
                    <a:cubicBezTo>
                      <a:pt x="1522" y="417"/>
                      <a:pt x="1596" y="597"/>
                      <a:pt x="1596" y="795"/>
                    </a:cubicBezTo>
                    <a:cubicBezTo>
                      <a:pt x="1037" y="1118"/>
                      <a:pt x="668" y="611"/>
                      <a:pt x="0" y="795"/>
                    </a:cubicBezTo>
                    <a:cubicBezTo>
                      <a:pt x="0" y="585"/>
                      <a:pt x="83" y="392"/>
                      <a:pt x="217" y="252"/>
                    </a:cubicBezTo>
                    <a:cubicBezTo>
                      <a:pt x="364" y="95"/>
                      <a:pt x="570" y="0"/>
                      <a:pt x="796" y="0"/>
                    </a:cubicBezTo>
                    <a:cubicBezTo>
                      <a:pt x="1039" y="0"/>
                      <a:pt x="1253" y="108"/>
                      <a:pt x="1400" y="275"/>
                    </a:cubicBezTo>
                    <a:close/>
                  </a:path>
                </a:pathLst>
              </a:custGeom>
              <a:gradFill rotWithShape="1">
                <a:gsLst>
                  <a:gs pos="0">
                    <a:schemeClr val="bg1">
                      <a:alpha val="53000"/>
                    </a:schemeClr>
                  </a:gs>
                  <a:gs pos="100000">
                    <a:schemeClr val="bg1">
                      <a:gamma/>
                      <a:shade val="46275"/>
                      <a:invGamma/>
                      <a:alpha val="0"/>
                    </a:schemeClr>
                  </a:gs>
                </a:gsLst>
                <a:lin ang="5400000" scaled="1"/>
              </a:gradFill>
              <a:ln w="9525">
                <a:noFill/>
                <a:round/>
                <a:headEnd/>
                <a:tailEnd/>
              </a:ln>
            </p:spPr>
            <p:txBody>
              <a:bodyPr/>
              <a:lstStyle/>
              <a:p>
                <a:endParaRPr lang="zh-CN" altLang="en-US"/>
              </a:p>
            </p:txBody>
          </p:sp>
        </p:grpSp>
        <p:sp>
          <p:nvSpPr>
            <p:cNvPr id="6" name="Text Box 71"/>
            <p:cNvSpPr txBox="1">
              <a:spLocks noChangeArrowheads="1"/>
            </p:cNvSpPr>
            <p:nvPr/>
          </p:nvSpPr>
          <p:spPr bwMode="auto">
            <a:xfrm>
              <a:off x="6923115" y="4640482"/>
              <a:ext cx="1039812" cy="466324"/>
            </a:xfrm>
            <a:prstGeom prst="rect">
              <a:avLst/>
            </a:prstGeom>
            <a:noFill/>
            <a:ln w="9525">
              <a:noFill/>
              <a:miter lim="800000"/>
              <a:headEnd/>
              <a:tailEnd/>
            </a:ln>
            <a:effectLst/>
          </p:spPr>
          <p:txBody>
            <a:bodyPr anchor="ctr">
              <a:spAutoFit/>
            </a:bodyPr>
            <a:lstStyle/>
            <a:p>
              <a:pPr algn="ctr">
                <a:spcBef>
                  <a:spcPct val="50000"/>
                </a:spcBef>
              </a:pPr>
              <a:r>
                <a:rPr lang="zh-CN" altLang="en-US" sz="1800">
                  <a:solidFill>
                    <a:srgbClr val="FF0000"/>
                  </a:solidFill>
                  <a:latin typeface="微软雅黑" pitchFamily="34" charset="-122"/>
                  <a:ea typeface="微软雅黑" pitchFamily="34" charset="-122"/>
                </a:rPr>
                <a:t>示例</a:t>
              </a:r>
              <a:endParaRPr lang="en-GB" altLang="zh-CN" sz="1800">
                <a:solidFill>
                  <a:srgbClr val="FF0000"/>
                </a:solidFill>
                <a:latin typeface="微软雅黑" pitchFamily="34" charset="-122"/>
                <a:ea typeface="微软雅黑" pitchFamily="34" charset="-122"/>
              </a:endParaRPr>
            </a:p>
          </p:txBody>
        </p:sp>
      </p:grpSp>
      <p:sp>
        <p:nvSpPr>
          <p:cNvPr id="9" name="TextBox 8"/>
          <p:cNvSpPr txBox="1"/>
          <p:nvPr/>
        </p:nvSpPr>
        <p:spPr>
          <a:xfrm>
            <a:off x="428596" y="1428736"/>
            <a:ext cx="8215370"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对于如图所示带权连通图，假设顶点</a:t>
            </a:r>
            <a:r>
              <a:rPr lang="en-US" altLang="zh-CN" i="1">
                <a:solidFill>
                  <a:srgbClr val="0000FF"/>
                </a:solidFill>
                <a:latin typeface="Consolas" pitchFamily="49" charset="0"/>
                <a:ea typeface="仿宋" pitchFamily="49" charset="-122"/>
              </a:rPr>
              <a:t>v</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，找近似</a:t>
            </a:r>
            <a:r>
              <a:rPr lang="en-US" altLang="zh-CN">
                <a:solidFill>
                  <a:srgbClr val="0000FF"/>
                </a:solidFill>
                <a:latin typeface="Consolas" pitchFamily="49" charset="0"/>
                <a:ea typeface="仿宋" pitchFamily="49" charset="-122"/>
              </a:rPr>
              <a:t>TSP</a:t>
            </a:r>
            <a:r>
              <a:rPr lang="zh-CN" altLang="zh-CN">
                <a:solidFill>
                  <a:srgbClr val="0000FF"/>
                </a:solidFill>
                <a:latin typeface="Consolas" pitchFamily="49" charset="0"/>
                <a:ea typeface="仿宋" pitchFamily="49" charset="-122"/>
              </a:rPr>
              <a:t>回路</a:t>
            </a:r>
            <a:r>
              <a:rPr lang="zh-CN" altLang="en-US">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9240" name="Rectangle 2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34" name="组合 33"/>
          <p:cNvGrpSpPr/>
          <p:nvPr/>
        </p:nvGrpSpPr>
        <p:grpSpPr>
          <a:xfrm>
            <a:off x="1714480" y="2214554"/>
            <a:ext cx="2784384" cy="2124958"/>
            <a:chOff x="1580696" y="2652273"/>
            <a:chExt cx="2784384" cy="2124958"/>
          </a:xfrm>
        </p:grpSpPr>
        <p:sp>
          <p:nvSpPr>
            <p:cNvPr id="9238" name="Rectangle 22"/>
            <p:cNvSpPr>
              <a:spLocks noChangeArrowheads="1"/>
            </p:cNvSpPr>
            <p:nvPr/>
          </p:nvSpPr>
          <p:spPr bwMode="auto">
            <a:xfrm>
              <a:off x="3430891" y="4054518"/>
              <a:ext cx="204567" cy="21590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237" name="Oval 21"/>
            <p:cNvSpPr>
              <a:spLocks noChangeArrowheads="1"/>
            </p:cNvSpPr>
            <p:nvPr/>
          </p:nvSpPr>
          <p:spPr bwMode="auto">
            <a:xfrm>
              <a:off x="1580696" y="3538619"/>
              <a:ext cx="386404" cy="386356"/>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236" name="Oval 20"/>
            <p:cNvSpPr>
              <a:spLocks noChangeArrowheads="1"/>
            </p:cNvSpPr>
            <p:nvPr/>
          </p:nvSpPr>
          <p:spPr bwMode="auto">
            <a:xfrm>
              <a:off x="2797870" y="3538619"/>
              <a:ext cx="385268" cy="38635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235" name="Oval 19"/>
            <p:cNvSpPr>
              <a:spLocks noChangeArrowheads="1"/>
            </p:cNvSpPr>
            <p:nvPr/>
          </p:nvSpPr>
          <p:spPr bwMode="auto">
            <a:xfrm>
              <a:off x="3978676" y="3538619"/>
              <a:ext cx="386404" cy="38635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234" name="Oval 18"/>
            <p:cNvSpPr>
              <a:spLocks noChangeArrowheads="1"/>
            </p:cNvSpPr>
            <p:nvPr/>
          </p:nvSpPr>
          <p:spPr bwMode="auto">
            <a:xfrm>
              <a:off x="2797870" y="2652273"/>
              <a:ext cx="385268" cy="38749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233" name="Oval 17"/>
            <p:cNvSpPr>
              <a:spLocks noChangeArrowheads="1"/>
            </p:cNvSpPr>
            <p:nvPr/>
          </p:nvSpPr>
          <p:spPr bwMode="auto">
            <a:xfrm>
              <a:off x="2797870" y="4390875"/>
              <a:ext cx="385268" cy="38635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232" name="AutoShape 16"/>
            <p:cNvSpPr>
              <a:spLocks noChangeShapeType="1"/>
            </p:cNvSpPr>
            <p:nvPr/>
          </p:nvSpPr>
          <p:spPr bwMode="auto">
            <a:xfrm flipV="1">
              <a:off x="1910276" y="2846587"/>
              <a:ext cx="887594" cy="748849"/>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9231" name="AutoShape 15"/>
            <p:cNvSpPr>
              <a:spLocks noChangeShapeType="1"/>
            </p:cNvSpPr>
            <p:nvPr/>
          </p:nvSpPr>
          <p:spPr bwMode="auto">
            <a:xfrm>
              <a:off x="3183137" y="2846587"/>
              <a:ext cx="852363" cy="748849"/>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9230" name="AutoShape 14"/>
            <p:cNvSpPr>
              <a:spLocks noChangeShapeType="1"/>
            </p:cNvSpPr>
            <p:nvPr/>
          </p:nvSpPr>
          <p:spPr bwMode="auto">
            <a:xfrm>
              <a:off x="1967100" y="3731797"/>
              <a:ext cx="830769" cy="1136"/>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9229" name="AutoShape 13"/>
            <p:cNvSpPr>
              <a:spLocks noChangeShapeType="1"/>
            </p:cNvSpPr>
            <p:nvPr/>
          </p:nvSpPr>
          <p:spPr bwMode="auto">
            <a:xfrm>
              <a:off x="3183137" y="3731797"/>
              <a:ext cx="795538" cy="1136"/>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9228" name="AutoShape 12"/>
            <p:cNvSpPr>
              <a:spLocks noChangeShapeType="1"/>
            </p:cNvSpPr>
            <p:nvPr/>
          </p:nvSpPr>
          <p:spPr bwMode="auto">
            <a:xfrm>
              <a:off x="1910276" y="3868158"/>
              <a:ext cx="887594" cy="715895"/>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9227" name="AutoShape 11"/>
            <p:cNvSpPr>
              <a:spLocks noChangeShapeType="1"/>
            </p:cNvSpPr>
            <p:nvPr/>
          </p:nvSpPr>
          <p:spPr bwMode="auto">
            <a:xfrm flipH="1">
              <a:off x="3183137" y="3868158"/>
              <a:ext cx="852363" cy="715895"/>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9226" name="AutoShape 10"/>
            <p:cNvSpPr>
              <a:spLocks noChangeShapeType="1"/>
            </p:cNvSpPr>
            <p:nvPr/>
          </p:nvSpPr>
          <p:spPr bwMode="auto">
            <a:xfrm>
              <a:off x="2991072" y="3039765"/>
              <a:ext cx="1136" cy="498854"/>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9225" name="AutoShape 9"/>
            <p:cNvSpPr>
              <a:spLocks noChangeShapeType="1"/>
            </p:cNvSpPr>
            <p:nvPr/>
          </p:nvSpPr>
          <p:spPr bwMode="auto">
            <a:xfrm>
              <a:off x="2991072" y="3924975"/>
              <a:ext cx="1136" cy="465900"/>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9224" name="Rectangle 8"/>
            <p:cNvSpPr>
              <a:spLocks noChangeArrowheads="1"/>
            </p:cNvSpPr>
            <p:nvPr/>
          </p:nvSpPr>
          <p:spPr bwMode="auto">
            <a:xfrm>
              <a:off x="2125071" y="2981812"/>
              <a:ext cx="204567" cy="21590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223" name="Rectangle 7"/>
            <p:cNvSpPr>
              <a:spLocks noChangeArrowheads="1"/>
            </p:cNvSpPr>
            <p:nvPr/>
          </p:nvSpPr>
          <p:spPr bwMode="auto">
            <a:xfrm>
              <a:off x="2352368" y="3459075"/>
              <a:ext cx="204567" cy="21590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222" name="Rectangle 6"/>
            <p:cNvSpPr>
              <a:spLocks noChangeArrowheads="1"/>
            </p:cNvSpPr>
            <p:nvPr/>
          </p:nvSpPr>
          <p:spPr bwMode="auto">
            <a:xfrm>
              <a:off x="2102342" y="4209061"/>
              <a:ext cx="204567" cy="21590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221" name="Rectangle 5"/>
            <p:cNvSpPr>
              <a:spLocks noChangeArrowheads="1"/>
            </p:cNvSpPr>
            <p:nvPr/>
          </p:nvSpPr>
          <p:spPr bwMode="auto">
            <a:xfrm>
              <a:off x="3034258" y="3220443"/>
              <a:ext cx="204567" cy="21590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800" b="0">
                  <a:solidFill>
                    <a:srgbClr val="0000FF"/>
                  </a:solidFill>
                  <a:latin typeface="Consolas" pitchFamily="49" charset="0"/>
                  <a:ea typeface="宋体" pitchFamily="2"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220" name="Rectangle 4"/>
            <p:cNvSpPr>
              <a:spLocks noChangeArrowheads="1"/>
            </p:cNvSpPr>
            <p:nvPr/>
          </p:nvSpPr>
          <p:spPr bwMode="auto">
            <a:xfrm>
              <a:off x="3045623" y="4038609"/>
              <a:ext cx="204567" cy="21590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219" name="Rectangle 3"/>
            <p:cNvSpPr>
              <a:spLocks noChangeArrowheads="1"/>
            </p:cNvSpPr>
            <p:nvPr/>
          </p:nvSpPr>
          <p:spPr bwMode="auto">
            <a:xfrm>
              <a:off x="3636594" y="2970448"/>
              <a:ext cx="204567" cy="21590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218" name="Rectangle 2"/>
            <p:cNvSpPr>
              <a:spLocks noChangeArrowheads="1"/>
            </p:cNvSpPr>
            <p:nvPr/>
          </p:nvSpPr>
          <p:spPr bwMode="auto">
            <a:xfrm>
              <a:off x="3466122" y="3481802"/>
              <a:ext cx="204567" cy="21590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grpSp>
      <p:sp>
        <p:nvSpPr>
          <p:cNvPr id="35" name="灯片编号占位符 34"/>
          <p:cNvSpPr>
            <a:spLocks noGrp="1"/>
          </p:cNvSpPr>
          <p:nvPr>
            <p:ph type="sldNum" sz="quarter" idx="12"/>
          </p:nvPr>
        </p:nvSpPr>
        <p:spPr/>
        <p:txBody>
          <a:bodyPr/>
          <a:lstStyle/>
          <a:p>
            <a:fld id="{7AF016A1-9F15-429F-9EFD-84004B73C732}" type="slidenum">
              <a:rPr lang="en-US" altLang="zh-CN" smtClean="0"/>
              <a:pPr/>
              <a:t>67</a:t>
            </a:fld>
            <a:r>
              <a:rPr lang="en-US" altLang="zh-CN"/>
              <a:t>/75</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357158" y="642918"/>
            <a:ext cx="8286808" cy="461665"/>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）采用</a:t>
            </a:r>
            <a:r>
              <a:rPr lang="en-US" altLang="zh-CN">
                <a:solidFill>
                  <a:srgbClr val="0000FF"/>
                </a:solidFill>
                <a:latin typeface="Consolas" pitchFamily="49" charset="0"/>
                <a:ea typeface="仿宋" pitchFamily="49" charset="-122"/>
              </a:rPr>
              <a:t>Prim()</a:t>
            </a:r>
            <a:r>
              <a:rPr lang="zh-CN" altLang="zh-CN">
                <a:solidFill>
                  <a:srgbClr val="0000FF"/>
                </a:solidFill>
                <a:latin typeface="Consolas" pitchFamily="49" charset="0"/>
                <a:ea typeface="仿宋" pitchFamily="49" charset="-122"/>
              </a:rPr>
              <a:t>算法求出从顶点</a:t>
            </a:r>
            <a:r>
              <a:rPr lang="en-US" altLang="zh-CN" i="1">
                <a:solidFill>
                  <a:srgbClr val="0000FF"/>
                </a:solidFill>
                <a:latin typeface="Consolas" pitchFamily="49" charset="0"/>
                <a:ea typeface="仿宋" pitchFamily="49" charset="-122"/>
              </a:rPr>
              <a:t>v</a:t>
            </a:r>
            <a:r>
              <a:rPr lang="zh-CN" altLang="zh-CN">
                <a:solidFill>
                  <a:srgbClr val="0000FF"/>
                </a:solidFill>
                <a:latin typeface="Consolas" pitchFamily="49" charset="0"/>
                <a:ea typeface="仿宋" pitchFamily="49" charset="-122"/>
              </a:rPr>
              <a:t>出发产生的最小生成树</a:t>
            </a:r>
            <a:r>
              <a:rPr lang="en-US" altLang="zh-CN">
                <a:solidFill>
                  <a:srgbClr val="0000FF"/>
                </a:solidFill>
                <a:latin typeface="Consolas" pitchFamily="49" charset="0"/>
                <a:ea typeface="仿宋" pitchFamily="49" charset="-122"/>
              </a:rPr>
              <a:t>T</a:t>
            </a:r>
            <a:r>
              <a:rPr lang="zh-CN" altLang="zh-CN">
                <a:solidFill>
                  <a:srgbClr val="0000FF"/>
                </a:solidFill>
                <a:latin typeface="Consolas" pitchFamily="49" charset="0"/>
                <a:ea typeface="仿宋" pitchFamily="49" charset="-122"/>
              </a:rPr>
              <a:t>。</a:t>
            </a:r>
          </a:p>
        </p:txBody>
      </p:sp>
      <p:sp>
        <p:nvSpPr>
          <p:cNvPr id="8208" name="Rectangle 1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1" name="组合 20"/>
          <p:cNvGrpSpPr/>
          <p:nvPr/>
        </p:nvGrpSpPr>
        <p:grpSpPr>
          <a:xfrm>
            <a:off x="5019168" y="2030012"/>
            <a:ext cx="2838980" cy="2166624"/>
            <a:chOff x="1652312" y="1795195"/>
            <a:chExt cx="2838980" cy="2166624"/>
          </a:xfrm>
        </p:grpSpPr>
        <p:sp>
          <p:nvSpPr>
            <p:cNvPr id="8206" name="Rectangle 14"/>
            <p:cNvSpPr>
              <a:spLocks noChangeArrowheads="1"/>
            </p:cNvSpPr>
            <p:nvPr/>
          </p:nvSpPr>
          <p:spPr bwMode="auto">
            <a:xfrm>
              <a:off x="3497070" y="3245790"/>
              <a:ext cx="208578" cy="22013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205" name="Oval 13"/>
            <p:cNvSpPr>
              <a:spLocks noChangeArrowheads="1"/>
            </p:cNvSpPr>
            <p:nvPr/>
          </p:nvSpPr>
          <p:spPr bwMode="auto">
            <a:xfrm>
              <a:off x="1652312" y="2698921"/>
              <a:ext cx="393981" cy="39393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0</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204" name="Oval 12"/>
            <p:cNvSpPr>
              <a:spLocks noChangeArrowheads="1"/>
            </p:cNvSpPr>
            <p:nvPr/>
          </p:nvSpPr>
          <p:spPr bwMode="auto">
            <a:xfrm>
              <a:off x="2893352" y="2698921"/>
              <a:ext cx="392822" cy="39393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203" name="Oval 11"/>
            <p:cNvSpPr>
              <a:spLocks noChangeArrowheads="1"/>
            </p:cNvSpPr>
            <p:nvPr/>
          </p:nvSpPr>
          <p:spPr bwMode="auto">
            <a:xfrm>
              <a:off x="4097311" y="2698921"/>
              <a:ext cx="393981" cy="39393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202" name="Oval 10"/>
            <p:cNvSpPr>
              <a:spLocks noChangeArrowheads="1"/>
            </p:cNvSpPr>
            <p:nvPr/>
          </p:nvSpPr>
          <p:spPr bwMode="auto">
            <a:xfrm>
              <a:off x="2893352" y="1795195"/>
              <a:ext cx="392822" cy="39509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201" name="Oval 9"/>
            <p:cNvSpPr>
              <a:spLocks noChangeArrowheads="1"/>
            </p:cNvSpPr>
            <p:nvPr/>
          </p:nvSpPr>
          <p:spPr bwMode="auto">
            <a:xfrm>
              <a:off x="2893352" y="3567887"/>
              <a:ext cx="392822" cy="39393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200" name="AutoShape 8"/>
            <p:cNvSpPr>
              <a:spLocks noChangeShapeType="1"/>
            </p:cNvSpPr>
            <p:nvPr/>
          </p:nvSpPr>
          <p:spPr bwMode="auto">
            <a:xfrm flipV="1">
              <a:off x="1988355" y="1993319"/>
              <a:ext cx="904997" cy="763532"/>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nSpc>
                  <a:spcPts val="2400"/>
                </a:lnSpc>
              </a:pPr>
              <a:endParaRPr lang="zh-CN" altLang="en-US" sz="1800">
                <a:solidFill>
                  <a:srgbClr val="0000FF"/>
                </a:solidFill>
                <a:latin typeface="Consolas" pitchFamily="49" charset="0"/>
                <a:ea typeface="仿宋" pitchFamily="49" charset="-122"/>
              </a:endParaRPr>
            </a:p>
          </p:txBody>
        </p:sp>
        <p:sp>
          <p:nvSpPr>
            <p:cNvPr id="8199" name="AutoShape 7"/>
            <p:cNvSpPr>
              <a:spLocks noChangeShapeType="1"/>
            </p:cNvSpPr>
            <p:nvPr/>
          </p:nvSpPr>
          <p:spPr bwMode="auto">
            <a:xfrm>
              <a:off x="2046293" y="2895886"/>
              <a:ext cx="847059" cy="1159"/>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nSpc>
                  <a:spcPts val="2400"/>
                </a:lnSpc>
              </a:pPr>
              <a:endParaRPr lang="zh-CN" altLang="en-US" sz="1800">
                <a:solidFill>
                  <a:srgbClr val="0000FF"/>
                </a:solidFill>
                <a:latin typeface="Consolas" pitchFamily="49" charset="0"/>
                <a:ea typeface="仿宋" pitchFamily="49" charset="-122"/>
              </a:endParaRPr>
            </a:p>
          </p:txBody>
        </p:sp>
        <p:sp>
          <p:nvSpPr>
            <p:cNvPr id="8198" name="AutoShape 6"/>
            <p:cNvSpPr>
              <a:spLocks noChangeShapeType="1"/>
            </p:cNvSpPr>
            <p:nvPr/>
          </p:nvSpPr>
          <p:spPr bwMode="auto">
            <a:xfrm>
              <a:off x="3286174" y="2895886"/>
              <a:ext cx="811137" cy="1159"/>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nSpc>
                  <a:spcPts val="2400"/>
                </a:lnSpc>
              </a:pPr>
              <a:endParaRPr lang="zh-CN" altLang="en-US" sz="1800">
                <a:solidFill>
                  <a:srgbClr val="0000FF"/>
                </a:solidFill>
                <a:latin typeface="Consolas" pitchFamily="49" charset="0"/>
                <a:ea typeface="仿宋" pitchFamily="49" charset="-122"/>
              </a:endParaRPr>
            </a:p>
          </p:txBody>
        </p:sp>
        <p:sp>
          <p:nvSpPr>
            <p:cNvPr id="8197" name="AutoShape 5"/>
            <p:cNvSpPr>
              <a:spLocks noChangeShapeType="1"/>
            </p:cNvSpPr>
            <p:nvPr/>
          </p:nvSpPr>
          <p:spPr bwMode="auto">
            <a:xfrm flipH="1">
              <a:off x="3286174" y="3034921"/>
              <a:ext cx="869075" cy="729932"/>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nSpc>
                  <a:spcPts val="2400"/>
                </a:lnSpc>
              </a:pPr>
              <a:endParaRPr lang="zh-CN" altLang="en-US" sz="1800">
                <a:solidFill>
                  <a:srgbClr val="0000FF"/>
                </a:solidFill>
                <a:latin typeface="Consolas" pitchFamily="49" charset="0"/>
                <a:ea typeface="仿宋" pitchFamily="49" charset="-122"/>
              </a:endParaRPr>
            </a:p>
          </p:txBody>
        </p:sp>
        <p:sp>
          <p:nvSpPr>
            <p:cNvPr id="8196" name="Rectangle 4"/>
            <p:cNvSpPr>
              <a:spLocks noChangeArrowheads="1"/>
            </p:cNvSpPr>
            <p:nvPr/>
          </p:nvSpPr>
          <p:spPr bwMode="auto">
            <a:xfrm>
              <a:off x="2207362" y="2131195"/>
              <a:ext cx="208578" cy="22013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195" name="Rectangle 3"/>
            <p:cNvSpPr>
              <a:spLocks noChangeArrowheads="1"/>
            </p:cNvSpPr>
            <p:nvPr/>
          </p:nvSpPr>
          <p:spPr bwMode="auto">
            <a:xfrm>
              <a:off x="2439115" y="2617817"/>
              <a:ext cx="208578" cy="22013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194" name="Rectangle 2"/>
            <p:cNvSpPr>
              <a:spLocks noChangeArrowheads="1"/>
            </p:cNvSpPr>
            <p:nvPr/>
          </p:nvSpPr>
          <p:spPr bwMode="auto">
            <a:xfrm>
              <a:off x="3574707" y="2640989"/>
              <a:ext cx="208578" cy="22013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grpSp>
      <p:grpSp>
        <p:nvGrpSpPr>
          <p:cNvPr id="22" name="组合 21"/>
          <p:cNvGrpSpPr/>
          <p:nvPr/>
        </p:nvGrpSpPr>
        <p:grpSpPr>
          <a:xfrm>
            <a:off x="500034" y="2071678"/>
            <a:ext cx="2784384" cy="2124958"/>
            <a:chOff x="1580696" y="2652273"/>
            <a:chExt cx="2784384" cy="2124958"/>
          </a:xfrm>
        </p:grpSpPr>
        <p:sp>
          <p:nvSpPr>
            <p:cNvPr id="23" name="Rectangle 22"/>
            <p:cNvSpPr>
              <a:spLocks noChangeArrowheads="1"/>
            </p:cNvSpPr>
            <p:nvPr/>
          </p:nvSpPr>
          <p:spPr bwMode="auto">
            <a:xfrm>
              <a:off x="3430891" y="4054518"/>
              <a:ext cx="204567" cy="21590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4" name="Oval 21"/>
            <p:cNvSpPr>
              <a:spLocks noChangeArrowheads="1"/>
            </p:cNvSpPr>
            <p:nvPr/>
          </p:nvSpPr>
          <p:spPr bwMode="auto">
            <a:xfrm>
              <a:off x="1580696" y="3538619"/>
              <a:ext cx="386404" cy="386356"/>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5" name="Oval 20"/>
            <p:cNvSpPr>
              <a:spLocks noChangeArrowheads="1"/>
            </p:cNvSpPr>
            <p:nvPr/>
          </p:nvSpPr>
          <p:spPr bwMode="auto">
            <a:xfrm>
              <a:off x="2797870" y="3538619"/>
              <a:ext cx="385268" cy="38635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6" name="Oval 19"/>
            <p:cNvSpPr>
              <a:spLocks noChangeArrowheads="1"/>
            </p:cNvSpPr>
            <p:nvPr/>
          </p:nvSpPr>
          <p:spPr bwMode="auto">
            <a:xfrm>
              <a:off x="3978676" y="3538619"/>
              <a:ext cx="386404" cy="38635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7" name="Oval 18"/>
            <p:cNvSpPr>
              <a:spLocks noChangeArrowheads="1"/>
            </p:cNvSpPr>
            <p:nvPr/>
          </p:nvSpPr>
          <p:spPr bwMode="auto">
            <a:xfrm>
              <a:off x="2797870" y="2652273"/>
              <a:ext cx="385268" cy="38749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8" name="Oval 17"/>
            <p:cNvSpPr>
              <a:spLocks noChangeArrowheads="1"/>
            </p:cNvSpPr>
            <p:nvPr/>
          </p:nvSpPr>
          <p:spPr bwMode="auto">
            <a:xfrm>
              <a:off x="2797870" y="4390875"/>
              <a:ext cx="385268" cy="38635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9" name="AutoShape 16"/>
            <p:cNvSpPr>
              <a:spLocks noChangeShapeType="1"/>
            </p:cNvSpPr>
            <p:nvPr/>
          </p:nvSpPr>
          <p:spPr bwMode="auto">
            <a:xfrm flipV="1">
              <a:off x="1910276" y="2846587"/>
              <a:ext cx="887594" cy="748849"/>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30" name="AutoShape 15"/>
            <p:cNvSpPr>
              <a:spLocks noChangeShapeType="1"/>
            </p:cNvSpPr>
            <p:nvPr/>
          </p:nvSpPr>
          <p:spPr bwMode="auto">
            <a:xfrm>
              <a:off x="3183137" y="2846587"/>
              <a:ext cx="852363" cy="748849"/>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31" name="AutoShape 14"/>
            <p:cNvSpPr>
              <a:spLocks noChangeShapeType="1"/>
            </p:cNvSpPr>
            <p:nvPr/>
          </p:nvSpPr>
          <p:spPr bwMode="auto">
            <a:xfrm>
              <a:off x="1967100" y="3731797"/>
              <a:ext cx="830769" cy="1136"/>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32" name="AutoShape 13"/>
            <p:cNvSpPr>
              <a:spLocks noChangeShapeType="1"/>
            </p:cNvSpPr>
            <p:nvPr/>
          </p:nvSpPr>
          <p:spPr bwMode="auto">
            <a:xfrm>
              <a:off x="3183137" y="3731797"/>
              <a:ext cx="795538" cy="1136"/>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33" name="AutoShape 12"/>
            <p:cNvSpPr>
              <a:spLocks noChangeShapeType="1"/>
            </p:cNvSpPr>
            <p:nvPr/>
          </p:nvSpPr>
          <p:spPr bwMode="auto">
            <a:xfrm>
              <a:off x="1910276" y="3868158"/>
              <a:ext cx="887594" cy="715895"/>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34" name="AutoShape 11"/>
            <p:cNvSpPr>
              <a:spLocks noChangeShapeType="1"/>
            </p:cNvSpPr>
            <p:nvPr/>
          </p:nvSpPr>
          <p:spPr bwMode="auto">
            <a:xfrm flipH="1">
              <a:off x="3183137" y="3868158"/>
              <a:ext cx="852363" cy="715895"/>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35" name="AutoShape 10"/>
            <p:cNvSpPr>
              <a:spLocks noChangeShapeType="1"/>
            </p:cNvSpPr>
            <p:nvPr/>
          </p:nvSpPr>
          <p:spPr bwMode="auto">
            <a:xfrm>
              <a:off x="2991072" y="3039765"/>
              <a:ext cx="1136" cy="498854"/>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36" name="AutoShape 9"/>
            <p:cNvSpPr>
              <a:spLocks noChangeShapeType="1"/>
            </p:cNvSpPr>
            <p:nvPr/>
          </p:nvSpPr>
          <p:spPr bwMode="auto">
            <a:xfrm>
              <a:off x="2991072" y="3924975"/>
              <a:ext cx="1136" cy="465900"/>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37" name="Rectangle 8"/>
            <p:cNvSpPr>
              <a:spLocks noChangeArrowheads="1"/>
            </p:cNvSpPr>
            <p:nvPr/>
          </p:nvSpPr>
          <p:spPr bwMode="auto">
            <a:xfrm>
              <a:off x="2125071" y="2981812"/>
              <a:ext cx="204567" cy="21590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8" name="Rectangle 7"/>
            <p:cNvSpPr>
              <a:spLocks noChangeArrowheads="1"/>
            </p:cNvSpPr>
            <p:nvPr/>
          </p:nvSpPr>
          <p:spPr bwMode="auto">
            <a:xfrm>
              <a:off x="2352368" y="3459075"/>
              <a:ext cx="204567" cy="21590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9" name="Rectangle 6"/>
            <p:cNvSpPr>
              <a:spLocks noChangeArrowheads="1"/>
            </p:cNvSpPr>
            <p:nvPr/>
          </p:nvSpPr>
          <p:spPr bwMode="auto">
            <a:xfrm>
              <a:off x="2102342" y="4209061"/>
              <a:ext cx="204567" cy="21590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0" name="Rectangle 5"/>
            <p:cNvSpPr>
              <a:spLocks noChangeArrowheads="1"/>
            </p:cNvSpPr>
            <p:nvPr/>
          </p:nvSpPr>
          <p:spPr bwMode="auto">
            <a:xfrm>
              <a:off x="3034258" y="3220443"/>
              <a:ext cx="204567" cy="21590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800" b="0">
                  <a:solidFill>
                    <a:srgbClr val="0000FF"/>
                  </a:solidFill>
                  <a:latin typeface="Consolas" pitchFamily="49" charset="0"/>
                  <a:ea typeface="宋体" pitchFamily="2"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1" name="Rectangle 4"/>
            <p:cNvSpPr>
              <a:spLocks noChangeArrowheads="1"/>
            </p:cNvSpPr>
            <p:nvPr/>
          </p:nvSpPr>
          <p:spPr bwMode="auto">
            <a:xfrm>
              <a:off x="3045623" y="4038609"/>
              <a:ext cx="204567" cy="21590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2" name="Rectangle 3"/>
            <p:cNvSpPr>
              <a:spLocks noChangeArrowheads="1"/>
            </p:cNvSpPr>
            <p:nvPr/>
          </p:nvSpPr>
          <p:spPr bwMode="auto">
            <a:xfrm>
              <a:off x="3636594" y="2970448"/>
              <a:ext cx="204567" cy="21590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3" name="Rectangle 2"/>
            <p:cNvSpPr>
              <a:spLocks noChangeArrowheads="1"/>
            </p:cNvSpPr>
            <p:nvPr/>
          </p:nvSpPr>
          <p:spPr bwMode="auto">
            <a:xfrm>
              <a:off x="3466122" y="3481802"/>
              <a:ext cx="204567" cy="21590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grpSp>
      <p:sp>
        <p:nvSpPr>
          <p:cNvPr id="44" name="右箭头 43"/>
          <p:cNvSpPr/>
          <p:nvPr/>
        </p:nvSpPr>
        <p:spPr>
          <a:xfrm>
            <a:off x="3786182" y="2928934"/>
            <a:ext cx="500066" cy="357190"/>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45" name="灯片编号占位符 44"/>
          <p:cNvSpPr>
            <a:spLocks noGrp="1"/>
          </p:cNvSpPr>
          <p:nvPr>
            <p:ph type="sldNum" sz="quarter" idx="12"/>
          </p:nvPr>
        </p:nvSpPr>
        <p:spPr/>
        <p:txBody>
          <a:bodyPr/>
          <a:lstStyle/>
          <a:p>
            <a:fld id="{7AF016A1-9F15-429F-9EFD-84004B73C732}" type="slidenum">
              <a:rPr lang="en-US" altLang="zh-CN" smtClean="0"/>
              <a:pPr/>
              <a:t>68</a:t>
            </a:fld>
            <a:r>
              <a:rPr lang="en-US" altLang="zh-CN"/>
              <a:t>/75</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500034" y="642918"/>
            <a:ext cx="8286808" cy="1200329"/>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ct val="100000"/>
              </a:lnSpc>
              <a:spcBef>
                <a:spcPts val="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）对于</a:t>
            </a:r>
            <a:r>
              <a:rPr lang="en-US" altLang="zh-CN">
                <a:solidFill>
                  <a:srgbClr val="0000FF"/>
                </a:solidFill>
                <a:latin typeface="Consolas" pitchFamily="49" charset="0"/>
                <a:ea typeface="仿宋" pitchFamily="49" charset="-122"/>
              </a:rPr>
              <a:t>T</a:t>
            </a:r>
            <a:r>
              <a:rPr lang="zh-CN" altLang="zh-CN">
                <a:solidFill>
                  <a:srgbClr val="0000FF"/>
                </a:solidFill>
                <a:latin typeface="Consolas" pitchFamily="49" charset="0"/>
                <a:ea typeface="仿宋" pitchFamily="49" charset="-122"/>
              </a:rPr>
              <a:t>从顶点</a:t>
            </a:r>
            <a:r>
              <a:rPr lang="en-US" altLang="zh-CN" i="1">
                <a:solidFill>
                  <a:srgbClr val="0000FF"/>
                </a:solidFill>
                <a:latin typeface="Consolas" pitchFamily="49" charset="0"/>
                <a:ea typeface="仿宋" pitchFamily="49" charset="-122"/>
              </a:rPr>
              <a:t>v</a:t>
            </a:r>
            <a:r>
              <a:rPr lang="zh-CN" altLang="zh-CN">
                <a:solidFill>
                  <a:srgbClr val="0000FF"/>
                </a:solidFill>
                <a:latin typeface="Consolas" pitchFamily="49" charset="0"/>
                <a:ea typeface="仿宋" pitchFamily="49" charset="-122"/>
              </a:rPr>
              <a:t>出发进行先根遍历，完全遍历序列是</a:t>
            </a:r>
            <a:r>
              <a:rPr lang="en-US" altLang="zh-CN">
                <a:solidFill>
                  <a:srgbClr val="FF00FF"/>
                </a:solidFill>
                <a:latin typeface="Consolas" pitchFamily="49" charset="0"/>
                <a:ea typeface="仿宋" pitchFamily="49" charset="-122"/>
              </a:rPr>
              <a:t>010342430</a:t>
            </a:r>
            <a:r>
              <a:rPr lang="zh-CN" altLang="zh-CN">
                <a:solidFill>
                  <a:srgbClr val="0000FF"/>
                </a:solidFill>
                <a:latin typeface="Consolas" pitchFamily="49" charset="0"/>
                <a:ea typeface="仿宋" pitchFamily="49" charset="-122"/>
              </a:rPr>
              <a:t>，它恰好是</a:t>
            </a:r>
            <a:r>
              <a:rPr lang="en-US" altLang="zh-CN">
                <a:solidFill>
                  <a:srgbClr val="0000FF"/>
                </a:solidFill>
                <a:latin typeface="Consolas" pitchFamily="49" charset="0"/>
                <a:ea typeface="仿宋" pitchFamily="49" charset="-122"/>
              </a:rPr>
              <a:t>T</a:t>
            </a:r>
            <a:r>
              <a:rPr lang="zh-CN" altLang="zh-CN">
                <a:solidFill>
                  <a:srgbClr val="0000FF"/>
                </a:solidFill>
                <a:latin typeface="Consolas" pitchFamily="49" charset="0"/>
                <a:ea typeface="仿宋" pitchFamily="49" charset="-122"/>
              </a:rPr>
              <a:t>的两倍，如图所示，图中虚线边表示在遍历过程中的回边。</a:t>
            </a:r>
          </a:p>
        </p:txBody>
      </p:sp>
      <p:sp>
        <p:nvSpPr>
          <p:cNvPr id="7188" name="Rectangle 2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5" name="组合 24"/>
          <p:cNvGrpSpPr/>
          <p:nvPr/>
        </p:nvGrpSpPr>
        <p:grpSpPr>
          <a:xfrm>
            <a:off x="5089679" y="2285992"/>
            <a:ext cx="2911345" cy="2286016"/>
            <a:chOff x="1866163" y="2795452"/>
            <a:chExt cx="2697031" cy="2195791"/>
          </a:xfrm>
        </p:grpSpPr>
        <p:sp>
          <p:nvSpPr>
            <p:cNvPr id="7186" name="Rectangle 18"/>
            <p:cNvSpPr>
              <a:spLocks noChangeArrowheads="1"/>
            </p:cNvSpPr>
            <p:nvPr/>
          </p:nvSpPr>
          <p:spPr bwMode="auto">
            <a:xfrm>
              <a:off x="3692438" y="3631496"/>
              <a:ext cx="198149" cy="22310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185" name="Oval 17"/>
            <p:cNvSpPr>
              <a:spLocks noChangeArrowheads="1"/>
            </p:cNvSpPr>
            <p:nvPr/>
          </p:nvSpPr>
          <p:spPr bwMode="auto">
            <a:xfrm>
              <a:off x="3045150" y="3711343"/>
              <a:ext cx="373181" cy="399235"/>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184" name="Oval 16"/>
            <p:cNvSpPr>
              <a:spLocks noChangeArrowheads="1"/>
            </p:cNvSpPr>
            <p:nvPr/>
          </p:nvSpPr>
          <p:spPr bwMode="auto">
            <a:xfrm>
              <a:off x="3045150" y="2795452"/>
              <a:ext cx="373181" cy="40040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183" name="Oval 15"/>
            <p:cNvSpPr>
              <a:spLocks noChangeArrowheads="1"/>
            </p:cNvSpPr>
            <p:nvPr/>
          </p:nvSpPr>
          <p:spPr bwMode="auto">
            <a:xfrm>
              <a:off x="3045150" y="4592008"/>
              <a:ext cx="373181" cy="399235"/>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182" name="AutoShape 14"/>
            <p:cNvSpPr>
              <a:spLocks noChangeShapeType="1"/>
            </p:cNvSpPr>
            <p:nvPr/>
          </p:nvSpPr>
          <p:spPr bwMode="auto">
            <a:xfrm flipV="1">
              <a:off x="2175496" y="2996243"/>
              <a:ext cx="859747" cy="773811"/>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7181" name="AutoShape 13"/>
            <p:cNvSpPr>
              <a:spLocks noChangeShapeType="1"/>
            </p:cNvSpPr>
            <p:nvPr/>
          </p:nvSpPr>
          <p:spPr bwMode="auto">
            <a:xfrm>
              <a:off x="2240444" y="3879256"/>
              <a:ext cx="804706" cy="1174"/>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7180" name="AutoShape 12"/>
            <p:cNvSpPr>
              <a:spLocks noChangeShapeType="1"/>
            </p:cNvSpPr>
            <p:nvPr/>
          </p:nvSpPr>
          <p:spPr bwMode="auto">
            <a:xfrm>
              <a:off x="3418331" y="3879256"/>
              <a:ext cx="770580" cy="1174"/>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7179" name="AutoShape 11"/>
            <p:cNvSpPr>
              <a:spLocks noChangeShapeType="1"/>
            </p:cNvSpPr>
            <p:nvPr/>
          </p:nvSpPr>
          <p:spPr bwMode="auto">
            <a:xfrm flipH="1">
              <a:off x="3418331" y="4051867"/>
              <a:ext cx="825622" cy="739758"/>
            </a:xfrm>
            <a:prstGeom prst="straightConnector1">
              <a:avLst/>
            </a:prstGeom>
            <a:noFill/>
            <a:ln w="19050">
              <a:solidFill>
                <a:srgbClr val="FF00FF"/>
              </a:solidFill>
              <a:prstDash val="dash"/>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7178" name="Rectangle 10"/>
            <p:cNvSpPr>
              <a:spLocks noChangeArrowheads="1"/>
            </p:cNvSpPr>
            <p:nvPr/>
          </p:nvSpPr>
          <p:spPr bwMode="auto">
            <a:xfrm>
              <a:off x="2393460" y="3135975"/>
              <a:ext cx="198149" cy="22310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177" name="Rectangle 9"/>
            <p:cNvSpPr>
              <a:spLocks noChangeArrowheads="1"/>
            </p:cNvSpPr>
            <p:nvPr/>
          </p:nvSpPr>
          <p:spPr bwMode="auto">
            <a:xfrm>
              <a:off x="2613625" y="3629148"/>
              <a:ext cx="198149" cy="22310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176" name="Rectangle 8"/>
            <p:cNvSpPr>
              <a:spLocks noChangeArrowheads="1"/>
            </p:cNvSpPr>
            <p:nvPr/>
          </p:nvSpPr>
          <p:spPr bwMode="auto">
            <a:xfrm>
              <a:off x="3588960" y="4202167"/>
              <a:ext cx="198149" cy="22310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175" name="AutoShape 7"/>
            <p:cNvSpPr>
              <a:spLocks noChangeShapeType="1"/>
            </p:cNvSpPr>
            <p:nvPr/>
          </p:nvSpPr>
          <p:spPr bwMode="auto">
            <a:xfrm flipV="1">
              <a:off x="2201915" y="3077264"/>
              <a:ext cx="859747" cy="773811"/>
            </a:xfrm>
            <a:prstGeom prst="straightConnector1">
              <a:avLst/>
            </a:prstGeom>
            <a:noFill/>
            <a:ln w="19050">
              <a:solidFill>
                <a:srgbClr val="FF00FF"/>
              </a:solidFill>
              <a:prstDash val="dash"/>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7174" name="AutoShape 6"/>
            <p:cNvSpPr>
              <a:spLocks noChangeShapeType="1"/>
            </p:cNvSpPr>
            <p:nvPr/>
          </p:nvSpPr>
          <p:spPr bwMode="auto">
            <a:xfrm>
              <a:off x="2237142" y="3949710"/>
              <a:ext cx="804706" cy="1174"/>
            </a:xfrm>
            <a:prstGeom prst="straightConnector1">
              <a:avLst/>
            </a:prstGeom>
            <a:noFill/>
            <a:ln w="19050">
              <a:solidFill>
                <a:srgbClr val="FF00FF"/>
              </a:solidFill>
              <a:prstDash val="dash"/>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7173" name="AutoShape 5"/>
            <p:cNvSpPr>
              <a:spLocks noChangeShapeType="1"/>
            </p:cNvSpPr>
            <p:nvPr/>
          </p:nvSpPr>
          <p:spPr bwMode="auto">
            <a:xfrm>
              <a:off x="3424936" y="3949710"/>
              <a:ext cx="770580" cy="1174"/>
            </a:xfrm>
            <a:prstGeom prst="straightConnector1">
              <a:avLst/>
            </a:prstGeom>
            <a:noFill/>
            <a:ln w="19050">
              <a:solidFill>
                <a:srgbClr val="FF00FF"/>
              </a:solidFill>
              <a:prstDash val="dash"/>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7172" name="AutoShape 4"/>
            <p:cNvSpPr>
              <a:spLocks noChangeShapeType="1"/>
            </p:cNvSpPr>
            <p:nvPr/>
          </p:nvSpPr>
          <p:spPr bwMode="auto">
            <a:xfrm flipH="1">
              <a:off x="3405121" y="3964974"/>
              <a:ext cx="825622" cy="739758"/>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7171" name="Oval 3"/>
            <p:cNvSpPr>
              <a:spLocks noChangeArrowheads="1"/>
            </p:cNvSpPr>
            <p:nvPr/>
          </p:nvSpPr>
          <p:spPr bwMode="auto">
            <a:xfrm>
              <a:off x="4188912" y="3711343"/>
              <a:ext cx="374282" cy="399235"/>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170" name="Oval 2"/>
            <p:cNvSpPr>
              <a:spLocks noChangeArrowheads="1"/>
            </p:cNvSpPr>
            <p:nvPr/>
          </p:nvSpPr>
          <p:spPr bwMode="auto">
            <a:xfrm>
              <a:off x="1866163" y="3711343"/>
              <a:ext cx="374282" cy="399235"/>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grpSp>
      <p:sp>
        <p:nvSpPr>
          <p:cNvPr id="26" name="右箭头 25"/>
          <p:cNvSpPr/>
          <p:nvPr/>
        </p:nvSpPr>
        <p:spPr>
          <a:xfrm>
            <a:off x="4071934" y="3214686"/>
            <a:ext cx="500066" cy="357190"/>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nvGrpSpPr>
          <p:cNvPr id="27" name="组合 26"/>
          <p:cNvGrpSpPr/>
          <p:nvPr/>
        </p:nvGrpSpPr>
        <p:grpSpPr>
          <a:xfrm>
            <a:off x="714348" y="2357430"/>
            <a:ext cx="2838980" cy="2166624"/>
            <a:chOff x="1652312" y="1795195"/>
            <a:chExt cx="2838980" cy="2166624"/>
          </a:xfrm>
        </p:grpSpPr>
        <p:sp>
          <p:nvSpPr>
            <p:cNvPr id="28" name="Rectangle 14"/>
            <p:cNvSpPr>
              <a:spLocks noChangeArrowheads="1"/>
            </p:cNvSpPr>
            <p:nvPr/>
          </p:nvSpPr>
          <p:spPr bwMode="auto">
            <a:xfrm>
              <a:off x="3497070" y="3245790"/>
              <a:ext cx="208578" cy="22013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9" name="Oval 13"/>
            <p:cNvSpPr>
              <a:spLocks noChangeArrowheads="1"/>
            </p:cNvSpPr>
            <p:nvPr/>
          </p:nvSpPr>
          <p:spPr bwMode="auto">
            <a:xfrm>
              <a:off x="1652312" y="2698921"/>
              <a:ext cx="393981" cy="393932"/>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0</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0" name="Oval 12"/>
            <p:cNvSpPr>
              <a:spLocks noChangeArrowheads="1"/>
            </p:cNvSpPr>
            <p:nvPr/>
          </p:nvSpPr>
          <p:spPr bwMode="auto">
            <a:xfrm>
              <a:off x="2893352" y="2698921"/>
              <a:ext cx="392822" cy="39393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1" name="Oval 11"/>
            <p:cNvSpPr>
              <a:spLocks noChangeArrowheads="1"/>
            </p:cNvSpPr>
            <p:nvPr/>
          </p:nvSpPr>
          <p:spPr bwMode="auto">
            <a:xfrm>
              <a:off x="4097311" y="2698921"/>
              <a:ext cx="393981" cy="39393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2" name="Oval 10"/>
            <p:cNvSpPr>
              <a:spLocks noChangeArrowheads="1"/>
            </p:cNvSpPr>
            <p:nvPr/>
          </p:nvSpPr>
          <p:spPr bwMode="auto">
            <a:xfrm>
              <a:off x="2893352" y="1795195"/>
              <a:ext cx="392822" cy="39509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3" name="Oval 9"/>
            <p:cNvSpPr>
              <a:spLocks noChangeArrowheads="1"/>
            </p:cNvSpPr>
            <p:nvPr/>
          </p:nvSpPr>
          <p:spPr bwMode="auto">
            <a:xfrm>
              <a:off x="2893352" y="3567887"/>
              <a:ext cx="392822" cy="39393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4" name="AutoShape 8"/>
            <p:cNvSpPr>
              <a:spLocks noChangeShapeType="1"/>
            </p:cNvSpPr>
            <p:nvPr/>
          </p:nvSpPr>
          <p:spPr bwMode="auto">
            <a:xfrm flipV="1">
              <a:off x="1988355" y="1993319"/>
              <a:ext cx="904997" cy="763532"/>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nSpc>
                  <a:spcPts val="2400"/>
                </a:lnSpc>
              </a:pPr>
              <a:endParaRPr lang="zh-CN" altLang="en-US" sz="1800">
                <a:solidFill>
                  <a:srgbClr val="0000FF"/>
                </a:solidFill>
                <a:latin typeface="Consolas" pitchFamily="49" charset="0"/>
                <a:ea typeface="仿宋" pitchFamily="49" charset="-122"/>
              </a:endParaRPr>
            </a:p>
          </p:txBody>
        </p:sp>
        <p:sp>
          <p:nvSpPr>
            <p:cNvPr id="35" name="AutoShape 7"/>
            <p:cNvSpPr>
              <a:spLocks noChangeShapeType="1"/>
            </p:cNvSpPr>
            <p:nvPr/>
          </p:nvSpPr>
          <p:spPr bwMode="auto">
            <a:xfrm>
              <a:off x="2046293" y="2895886"/>
              <a:ext cx="847059" cy="1159"/>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nSpc>
                  <a:spcPts val="2400"/>
                </a:lnSpc>
              </a:pPr>
              <a:endParaRPr lang="zh-CN" altLang="en-US" sz="1800">
                <a:solidFill>
                  <a:srgbClr val="0000FF"/>
                </a:solidFill>
                <a:latin typeface="Consolas" pitchFamily="49" charset="0"/>
                <a:ea typeface="仿宋" pitchFamily="49" charset="-122"/>
              </a:endParaRPr>
            </a:p>
          </p:txBody>
        </p:sp>
        <p:sp>
          <p:nvSpPr>
            <p:cNvPr id="36" name="AutoShape 6"/>
            <p:cNvSpPr>
              <a:spLocks noChangeShapeType="1"/>
            </p:cNvSpPr>
            <p:nvPr/>
          </p:nvSpPr>
          <p:spPr bwMode="auto">
            <a:xfrm>
              <a:off x="3286174" y="2895886"/>
              <a:ext cx="811137" cy="1159"/>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nSpc>
                  <a:spcPts val="2400"/>
                </a:lnSpc>
              </a:pPr>
              <a:endParaRPr lang="zh-CN" altLang="en-US" sz="1800">
                <a:solidFill>
                  <a:srgbClr val="0000FF"/>
                </a:solidFill>
                <a:latin typeface="Consolas" pitchFamily="49" charset="0"/>
                <a:ea typeface="仿宋" pitchFamily="49" charset="-122"/>
              </a:endParaRPr>
            </a:p>
          </p:txBody>
        </p:sp>
        <p:sp>
          <p:nvSpPr>
            <p:cNvPr id="37" name="AutoShape 5"/>
            <p:cNvSpPr>
              <a:spLocks noChangeShapeType="1"/>
            </p:cNvSpPr>
            <p:nvPr/>
          </p:nvSpPr>
          <p:spPr bwMode="auto">
            <a:xfrm flipH="1">
              <a:off x="3286174" y="3034921"/>
              <a:ext cx="869075" cy="729932"/>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nSpc>
                  <a:spcPts val="2400"/>
                </a:lnSpc>
              </a:pPr>
              <a:endParaRPr lang="zh-CN" altLang="en-US" sz="1800">
                <a:solidFill>
                  <a:srgbClr val="0000FF"/>
                </a:solidFill>
                <a:latin typeface="Consolas" pitchFamily="49" charset="0"/>
                <a:ea typeface="仿宋" pitchFamily="49" charset="-122"/>
              </a:endParaRPr>
            </a:p>
          </p:txBody>
        </p:sp>
        <p:sp>
          <p:nvSpPr>
            <p:cNvPr id="38" name="Rectangle 4"/>
            <p:cNvSpPr>
              <a:spLocks noChangeArrowheads="1"/>
            </p:cNvSpPr>
            <p:nvPr/>
          </p:nvSpPr>
          <p:spPr bwMode="auto">
            <a:xfrm>
              <a:off x="2207362" y="2131195"/>
              <a:ext cx="208578" cy="22013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9" name="Rectangle 3"/>
            <p:cNvSpPr>
              <a:spLocks noChangeArrowheads="1"/>
            </p:cNvSpPr>
            <p:nvPr/>
          </p:nvSpPr>
          <p:spPr bwMode="auto">
            <a:xfrm>
              <a:off x="2439115" y="2617817"/>
              <a:ext cx="208578" cy="22013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0" name="Rectangle 2"/>
            <p:cNvSpPr>
              <a:spLocks noChangeArrowheads="1"/>
            </p:cNvSpPr>
            <p:nvPr/>
          </p:nvSpPr>
          <p:spPr bwMode="auto">
            <a:xfrm>
              <a:off x="3574707" y="2640989"/>
              <a:ext cx="208578" cy="22013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grpSp>
      <p:sp>
        <p:nvSpPr>
          <p:cNvPr id="41" name="灯片编号占位符 40"/>
          <p:cNvSpPr>
            <a:spLocks noGrp="1"/>
          </p:cNvSpPr>
          <p:nvPr>
            <p:ph type="sldNum" sz="quarter" idx="12"/>
          </p:nvPr>
        </p:nvSpPr>
        <p:spPr/>
        <p:txBody>
          <a:bodyPr/>
          <a:lstStyle/>
          <a:p>
            <a:fld id="{7AF016A1-9F15-429F-9EFD-84004B73C732}" type="slidenum">
              <a:rPr lang="en-US" altLang="zh-CN" smtClean="0"/>
              <a:pPr/>
              <a:t>69</a:t>
            </a:fld>
            <a:r>
              <a:rPr lang="en-US" altLang="zh-CN"/>
              <a:t>/75</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500034" y="500042"/>
            <a:ext cx="8286808" cy="1323439"/>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）删除完全遍历序列中重复的顶点得到</a:t>
            </a:r>
            <a:r>
              <a:rPr lang="en-US" altLang="zh-CN">
                <a:solidFill>
                  <a:srgbClr val="0000FF"/>
                </a:solidFill>
                <a:latin typeface="Consolas" pitchFamily="49" charset="0"/>
                <a:ea typeface="仿宋" pitchFamily="49" charset="-122"/>
              </a:rPr>
              <a:t>path</a:t>
            </a:r>
            <a:r>
              <a:rPr lang="zh-CN" altLang="zh-CN">
                <a:solidFill>
                  <a:srgbClr val="0000FF"/>
                </a:solidFill>
                <a:latin typeface="Consolas" pitchFamily="49" charset="0"/>
                <a:ea typeface="仿宋" pitchFamily="49" charset="-122"/>
              </a:rPr>
              <a:t>，例如若顶点</a:t>
            </a:r>
            <a:r>
              <a:rPr lang="en-US" altLang="zh-CN" i="1">
                <a:solidFill>
                  <a:srgbClr val="0000FF"/>
                </a:solidFill>
                <a:latin typeface="Consolas" pitchFamily="49" charset="0"/>
                <a:ea typeface="仿宋" pitchFamily="49" charset="-122"/>
              </a:rPr>
              <a:t>b</a:t>
            </a:r>
            <a:r>
              <a:rPr lang="zh-CN" altLang="zh-CN">
                <a:solidFill>
                  <a:srgbClr val="0000FF"/>
                </a:solidFill>
                <a:latin typeface="Consolas" pitchFamily="49" charset="0"/>
                <a:ea typeface="仿宋" pitchFamily="49" charset="-122"/>
              </a:rPr>
              <a:t>重复，则从</a:t>
            </a:r>
            <a:r>
              <a:rPr lang="en-US" altLang="zh-CN">
                <a:solidFill>
                  <a:srgbClr val="0000FF"/>
                </a:solidFill>
                <a:latin typeface="+mn-ea"/>
              </a:rPr>
              <a:t>…</a:t>
            </a:r>
            <a:r>
              <a:rPr lang="en-US" altLang="zh-CN" i="1">
                <a:solidFill>
                  <a:srgbClr val="0000FF"/>
                </a:solidFill>
                <a:latin typeface="Consolas" pitchFamily="49" charset="0"/>
                <a:ea typeface="仿宋" pitchFamily="49" charset="-122"/>
              </a:rPr>
              <a:t>abc</a:t>
            </a:r>
            <a:r>
              <a:rPr lang="zh-CN" altLang="zh-CN">
                <a:solidFill>
                  <a:srgbClr val="0000FF"/>
                </a:solidFill>
                <a:latin typeface="Consolas" pitchFamily="49" charset="0"/>
                <a:ea typeface="仿宋" pitchFamily="49" charset="-122"/>
              </a:rPr>
              <a:t>中删除</a:t>
            </a:r>
            <a:r>
              <a:rPr lang="en-US" altLang="zh-CN" i="1">
                <a:solidFill>
                  <a:srgbClr val="0000FF"/>
                </a:solidFill>
                <a:latin typeface="Consolas" pitchFamily="49" charset="0"/>
                <a:ea typeface="仿宋" pitchFamily="49" charset="-122"/>
              </a:rPr>
              <a:t>b</a:t>
            </a:r>
            <a:r>
              <a:rPr lang="zh-CN" altLang="zh-CN">
                <a:solidFill>
                  <a:srgbClr val="0000FF"/>
                </a:solidFill>
                <a:latin typeface="Consolas" pitchFamily="49" charset="0"/>
                <a:ea typeface="仿宋" pitchFamily="49" charset="-122"/>
              </a:rPr>
              <a:t>得到</a:t>
            </a:r>
            <a:r>
              <a:rPr lang="zh-CN" altLang="zh-CN">
                <a:solidFill>
                  <a:srgbClr val="0000FF"/>
                </a:solidFill>
                <a:latin typeface="+mj-ea"/>
                <a:ea typeface="+mj-ea"/>
              </a:rPr>
              <a:t>…</a:t>
            </a:r>
            <a:r>
              <a:rPr lang="en-US" altLang="zh-CN" i="1">
                <a:solidFill>
                  <a:srgbClr val="0000FF"/>
                </a:solidFill>
                <a:latin typeface="Consolas" pitchFamily="49" charset="0"/>
                <a:ea typeface="仿宋" pitchFamily="49" charset="-122"/>
              </a:rPr>
              <a:t>ac</a:t>
            </a:r>
            <a:r>
              <a:rPr lang="zh-CN" altLang="zh-CN">
                <a:solidFill>
                  <a:srgbClr val="0000FF"/>
                </a:solidFill>
                <a:latin typeface="Consolas" pitchFamily="49" charset="0"/>
                <a:ea typeface="仿宋" pitchFamily="49" charset="-122"/>
              </a:rPr>
              <a:t>，这里由</a:t>
            </a:r>
            <a:r>
              <a:rPr lang="en-US" altLang="zh-CN">
                <a:solidFill>
                  <a:srgbClr val="0000FF"/>
                </a:solidFill>
                <a:latin typeface="Consolas" pitchFamily="49" charset="0"/>
                <a:ea typeface="仿宋" pitchFamily="49" charset="-122"/>
              </a:rPr>
              <a:t>01</a:t>
            </a:r>
            <a:r>
              <a:rPr lang="en-US" altLang="zh-CN">
                <a:solidFill>
                  <a:schemeClr val="bg1">
                    <a:lumMod val="50000"/>
                  </a:schemeClr>
                </a:solidFill>
                <a:latin typeface="Consolas" pitchFamily="49" charset="0"/>
                <a:ea typeface="仿宋" pitchFamily="49" charset="-122"/>
              </a:rPr>
              <a:t>0</a:t>
            </a:r>
            <a:r>
              <a:rPr lang="en-US" altLang="zh-CN">
                <a:solidFill>
                  <a:srgbClr val="0000FF"/>
                </a:solidFill>
                <a:latin typeface="Consolas" pitchFamily="49" charset="0"/>
                <a:ea typeface="仿宋" pitchFamily="49" charset="-122"/>
              </a:rPr>
              <a:t>342</a:t>
            </a:r>
            <a:r>
              <a:rPr lang="en-US" altLang="zh-CN">
                <a:solidFill>
                  <a:schemeClr val="bg1">
                    <a:lumMod val="50000"/>
                  </a:schemeClr>
                </a:solidFill>
                <a:latin typeface="Consolas" pitchFamily="49" charset="0"/>
                <a:ea typeface="仿宋" pitchFamily="49" charset="-122"/>
              </a:rPr>
              <a:t>430</a:t>
            </a:r>
            <a:r>
              <a:rPr lang="zh-CN" altLang="zh-CN">
                <a:solidFill>
                  <a:srgbClr val="0000FF"/>
                </a:solidFill>
                <a:latin typeface="Consolas" pitchFamily="49" charset="0"/>
                <a:ea typeface="仿宋" pitchFamily="49" charset="-122"/>
              </a:rPr>
              <a:t>得到</a:t>
            </a:r>
            <a:r>
              <a:rPr lang="en-US" altLang="zh-CN">
                <a:solidFill>
                  <a:srgbClr val="FF0000"/>
                </a:solidFill>
                <a:latin typeface="Consolas" pitchFamily="49" charset="0"/>
                <a:ea typeface="仿宋" pitchFamily="49" charset="-122"/>
              </a:rPr>
              <a:t>01342</a:t>
            </a:r>
            <a:r>
              <a:rPr lang="zh-CN" altLang="zh-CN">
                <a:solidFill>
                  <a:srgbClr val="0000FF"/>
                </a:solidFill>
                <a:latin typeface="Consolas" pitchFamily="49" charset="0"/>
                <a:ea typeface="仿宋" pitchFamily="49" charset="-122"/>
              </a:rPr>
              <a:t>，也就是说</a:t>
            </a:r>
            <a:r>
              <a:rPr lang="en-US" altLang="zh-CN">
                <a:solidFill>
                  <a:srgbClr val="0000FF"/>
                </a:solidFill>
                <a:latin typeface="Consolas" pitchFamily="49" charset="0"/>
                <a:ea typeface="仿宋" pitchFamily="49" charset="-122"/>
              </a:rPr>
              <a:t>path={0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4</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p>
        </p:txBody>
      </p:sp>
      <p:sp>
        <p:nvSpPr>
          <p:cNvPr id="6160" name="Rectangle 1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1" name="组合 20"/>
          <p:cNvGrpSpPr/>
          <p:nvPr/>
        </p:nvGrpSpPr>
        <p:grpSpPr>
          <a:xfrm>
            <a:off x="4929190" y="2357430"/>
            <a:ext cx="2928958" cy="2286016"/>
            <a:chOff x="2366460" y="2366824"/>
            <a:chExt cx="2768005" cy="2195791"/>
          </a:xfrm>
        </p:grpSpPr>
        <p:sp>
          <p:nvSpPr>
            <p:cNvPr id="6158" name="Oval 14"/>
            <p:cNvSpPr>
              <a:spLocks noChangeArrowheads="1"/>
            </p:cNvSpPr>
            <p:nvPr/>
          </p:nvSpPr>
          <p:spPr bwMode="auto">
            <a:xfrm>
              <a:off x="2366460" y="3282715"/>
              <a:ext cx="384131" cy="399235"/>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157" name="Oval 13"/>
            <p:cNvSpPr>
              <a:spLocks noChangeArrowheads="1"/>
            </p:cNvSpPr>
            <p:nvPr/>
          </p:nvSpPr>
          <p:spPr bwMode="auto">
            <a:xfrm>
              <a:off x="3576474" y="3282715"/>
              <a:ext cx="383002" cy="399235"/>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156" name="Oval 12"/>
            <p:cNvSpPr>
              <a:spLocks noChangeArrowheads="1"/>
            </p:cNvSpPr>
            <p:nvPr/>
          </p:nvSpPr>
          <p:spPr bwMode="auto">
            <a:xfrm>
              <a:off x="4750334" y="3282715"/>
              <a:ext cx="384131" cy="399235"/>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155" name="Oval 11"/>
            <p:cNvSpPr>
              <a:spLocks noChangeArrowheads="1"/>
            </p:cNvSpPr>
            <p:nvPr/>
          </p:nvSpPr>
          <p:spPr bwMode="auto">
            <a:xfrm>
              <a:off x="3576474" y="2366824"/>
              <a:ext cx="383002" cy="40040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154" name="Oval 10"/>
            <p:cNvSpPr>
              <a:spLocks noChangeArrowheads="1"/>
            </p:cNvSpPr>
            <p:nvPr/>
          </p:nvSpPr>
          <p:spPr bwMode="auto">
            <a:xfrm>
              <a:off x="3576474" y="4163380"/>
              <a:ext cx="383002" cy="399235"/>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153" name="AutoShape 9"/>
            <p:cNvSpPr>
              <a:spLocks noChangeShapeType="1"/>
            </p:cNvSpPr>
            <p:nvPr/>
          </p:nvSpPr>
          <p:spPr bwMode="auto">
            <a:xfrm flipV="1">
              <a:off x="2694102" y="2567615"/>
              <a:ext cx="882372" cy="773811"/>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6152" name="AutoShape 8"/>
            <p:cNvSpPr>
              <a:spLocks noChangeShapeType="1"/>
            </p:cNvSpPr>
            <p:nvPr/>
          </p:nvSpPr>
          <p:spPr bwMode="auto">
            <a:xfrm>
              <a:off x="3959476" y="3482332"/>
              <a:ext cx="790859" cy="1174"/>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6151" name="AutoShape 7"/>
            <p:cNvSpPr>
              <a:spLocks noChangeShapeType="1"/>
            </p:cNvSpPr>
            <p:nvPr/>
          </p:nvSpPr>
          <p:spPr bwMode="auto">
            <a:xfrm flipH="1">
              <a:off x="3959476" y="3623239"/>
              <a:ext cx="847349" cy="739758"/>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6150" name="Rectangle 6"/>
            <p:cNvSpPr>
              <a:spLocks noChangeArrowheads="1"/>
            </p:cNvSpPr>
            <p:nvPr/>
          </p:nvSpPr>
          <p:spPr bwMode="auto">
            <a:xfrm>
              <a:off x="2907634" y="2707347"/>
              <a:ext cx="203364" cy="22310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149" name="Rectangle 5"/>
            <p:cNvSpPr>
              <a:spLocks noChangeArrowheads="1"/>
            </p:cNvSpPr>
            <p:nvPr/>
          </p:nvSpPr>
          <p:spPr bwMode="auto">
            <a:xfrm>
              <a:off x="4240795" y="3224004"/>
              <a:ext cx="203364" cy="22310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148" name="Rectangle 4"/>
            <p:cNvSpPr>
              <a:spLocks noChangeArrowheads="1"/>
            </p:cNvSpPr>
            <p:nvPr/>
          </p:nvSpPr>
          <p:spPr bwMode="auto">
            <a:xfrm>
              <a:off x="4500649" y="3963762"/>
              <a:ext cx="203364" cy="22310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147" name="AutoShape 3"/>
            <p:cNvSpPr>
              <a:spLocks noChangeShapeType="1"/>
            </p:cNvSpPr>
            <p:nvPr/>
          </p:nvSpPr>
          <p:spPr bwMode="auto">
            <a:xfrm>
              <a:off x="3762891" y="2760187"/>
              <a:ext cx="1130" cy="515482"/>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6146" name="Rectangle 2"/>
            <p:cNvSpPr>
              <a:spLocks noChangeArrowheads="1"/>
            </p:cNvSpPr>
            <p:nvPr/>
          </p:nvSpPr>
          <p:spPr bwMode="auto">
            <a:xfrm>
              <a:off x="3805823" y="2946888"/>
              <a:ext cx="203364" cy="22310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160"/>
                </a:lnSpc>
                <a:spcBef>
                  <a:spcPct val="0"/>
                </a:spcBef>
                <a:spcAft>
                  <a:spcPct val="0"/>
                </a:spcAft>
                <a:buClrTx/>
                <a:buSzTx/>
                <a:buFontTx/>
                <a:buNone/>
                <a:tabLst/>
              </a:pPr>
              <a:r>
                <a:rPr kumimoji="0" lang="en-US" altLang="zh-CN" sz="1800" b="0">
                  <a:solidFill>
                    <a:srgbClr val="0000FF"/>
                  </a:solidFill>
                  <a:latin typeface="Consolas" pitchFamily="49" charset="0"/>
                  <a:ea typeface="宋体" pitchFamily="2"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grpSp>
      <p:grpSp>
        <p:nvGrpSpPr>
          <p:cNvPr id="22" name="组合 21"/>
          <p:cNvGrpSpPr/>
          <p:nvPr/>
        </p:nvGrpSpPr>
        <p:grpSpPr>
          <a:xfrm>
            <a:off x="857224" y="2357430"/>
            <a:ext cx="2911345" cy="2286016"/>
            <a:chOff x="1866163" y="2795452"/>
            <a:chExt cx="2697031" cy="2195791"/>
          </a:xfrm>
        </p:grpSpPr>
        <p:sp>
          <p:nvSpPr>
            <p:cNvPr id="23" name="Rectangle 18"/>
            <p:cNvSpPr>
              <a:spLocks noChangeArrowheads="1"/>
            </p:cNvSpPr>
            <p:nvPr/>
          </p:nvSpPr>
          <p:spPr bwMode="auto">
            <a:xfrm>
              <a:off x="3692438" y="3631496"/>
              <a:ext cx="198149" cy="22310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4" name="Oval 17"/>
            <p:cNvSpPr>
              <a:spLocks noChangeArrowheads="1"/>
            </p:cNvSpPr>
            <p:nvPr/>
          </p:nvSpPr>
          <p:spPr bwMode="auto">
            <a:xfrm>
              <a:off x="3045150" y="3711343"/>
              <a:ext cx="373181" cy="399235"/>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5" name="Oval 16"/>
            <p:cNvSpPr>
              <a:spLocks noChangeArrowheads="1"/>
            </p:cNvSpPr>
            <p:nvPr/>
          </p:nvSpPr>
          <p:spPr bwMode="auto">
            <a:xfrm>
              <a:off x="3045150" y="2795452"/>
              <a:ext cx="373181" cy="40040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6" name="Oval 15"/>
            <p:cNvSpPr>
              <a:spLocks noChangeArrowheads="1"/>
            </p:cNvSpPr>
            <p:nvPr/>
          </p:nvSpPr>
          <p:spPr bwMode="auto">
            <a:xfrm>
              <a:off x="3045150" y="4592008"/>
              <a:ext cx="373181" cy="399235"/>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7" name="AutoShape 14"/>
            <p:cNvSpPr>
              <a:spLocks noChangeShapeType="1"/>
            </p:cNvSpPr>
            <p:nvPr/>
          </p:nvSpPr>
          <p:spPr bwMode="auto">
            <a:xfrm flipV="1">
              <a:off x="2175496" y="2996243"/>
              <a:ext cx="859747" cy="773811"/>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28" name="AutoShape 13"/>
            <p:cNvSpPr>
              <a:spLocks noChangeShapeType="1"/>
            </p:cNvSpPr>
            <p:nvPr/>
          </p:nvSpPr>
          <p:spPr bwMode="auto">
            <a:xfrm>
              <a:off x="2240444" y="3879256"/>
              <a:ext cx="804706" cy="1174"/>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29" name="AutoShape 12"/>
            <p:cNvSpPr>
              <a:spLocks noChangeShapeType="1"/>
            </p:cNvSpPr>
            <p:nvPr/>
          </p:nvSpPr>
          <p:spPr bwMode="auto">
            <a:xfrm>
              <a:off x="3418331" y="3879256"/>
              <a:ext cx="770580" cy="1174"/>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30" name="AutoShape 11"/>
            <p:cNvSpPr>
              <a:spLocks noChangeShapeType="1"/>
            </p:cNvSpPr>
            <p:nvPr/>
          </p:nvSpPr>
          <p:spPr bwMode="auto">
            <a:xfrm flipH="1">
              <a:off x="3418331" y="4051867"/>
              <a:ext cx="825622" cy="739758"/>
            </a:xfrm>
            <a:prstGeom prst="straightConnector1">
              <a:avLst/>
            </a:prstGeom>
            <a:noFill/>
            <a:ln w="19050">
              <a:solidFill>
                <a:srgbClr val="FF00FF"/>
              </a:solidFill>
              <a:prstDash val="dash"/>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31" name="Rectangle 10"/>
            <p:cNvSpPr>
              <a:spLocks noChangeArrowheads="1"/>
            </p:cNvSpPr>
            <p:nvPr/>
          </p:nvSpPr>
          <p:spPr bwMode="auto">
            <a:xfrm>
              <a:off x="2393460" y="3135975"/>
              <a:ext cx="198149" cy="22310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2" name="Rectangle 9"/>
            <p:cNvSpPr>
              <a:spLocks noChangeArrowheads="1"/>
            </p:cNvSpPr>
            <p:nvPr/>
          </p:nvSpPr>
          <p:spPr bwMode="auto">
            <a:xfrm>
              <a:off x="2613625" y="3629148"/>
              <a:ext cx="198149" cy="22310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3" name="Rectangle 8"/>
            <p:cNvSpPr>
              <a:spLocks noChangeArrowheads="1"/>
            </p:cNvSpPr>
            <p:nvPr/>
          </p:nvSpPr>
          <p:spPr bwMode="auto">
            <a:xfrm>
              <a:off x="3588960" y="4202167"/>
              <a:ext cx="198149" cy="22310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4" name="AutoShape 7"/>
            <p:cNvSpPr>
              <a:spLocks noChangeShapeType="1"/>
            </p:cNvSpPr>
            <p:nvPr/>
          </p:nvSpPr>
          <p:spPr bwMode="auto">
            <a:xfrm flipV="1">
              <a:off x="2201915" y="3077264"/>
              <a:ext cx="859747" cy="773811"/>
            </a:xfrm>
            <a:prstGeom prst="straightConnector1">
              <a:avLst/>
            </a:prstGeom>
            <a:noFill/>
            <a:ln w="19050">
              <a:solidFill>
                <a:srgbClr val="FF00FF"/>
              </a:solidFill>
              <a:prstDash val="dash"/>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35" name="AutoShape 6"/>
            <p:cNvSpPr>
              <a:spLocks noChangeShapeType="1"/>
            </p:cNvSpPr>
            <p:nvPr/>
          </p:nvSpPr>
          <p:spPr bwMode="auto">
            <a:xfrm>
              <a:off x="2237142" y="3949710"/>
              <a:ext cx="804706" cy="1174"/>
            </a:xfrm>
            <a:prstGeom prst="straightConnector1">
              <a:avLst/>
            </a:prstGeom>
            <a:noFill/>
            <a:ln w="19050">
              <a:solidFill>
                <a:srgbClr val="FF00FF"/>
              </a:solidFill>
              <a:prstDash val="dash"/>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36" name="AutoShape 5"/>
            <p:cNvSpPr>
              <a:spLocks noChangeShapeType="1"/>
            </p:cNvSpPr>
            <p:nvPr/>
          </p:nvSpPr>
          <p:spPr bwMode="auto">
            <a:xfrm>
              <a:off x="3424936" y="3949710"/>
              <a:ext cx="770580" cy="1174"/>
            </a:xfrm>
            <a:prstGeom prst="straightConnector1">
              <a:avLst/>
            </a:prstGeom>
            <a:noFill/>
            <a:ln w="19050">
              <a:solidFill>
                <a:srgbClr val="FF00FF"/>
              </a:solidFill>
              <a:prstDash val="dash"/>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37" name="AutoShape 4"/>
            <p:cNvSpPr>
              <a:spLocks noChangeShapeType="1"/>
            </p:cNvSpPr>
            <p:nvPr/>
          </p:nvSpPr>
          <p:spPr bwMode="auto">
            <a:xfrm flipH="1">
              <a:off x="3405121" y="3964974"/>
              <a:ext cx="825622" cy="739758"/>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38" name="Oval 3"/>
            <p:cNvSpPr>
              <a:spLocks noChangeArrowheads="1"/>
            </p:cNvSpPr>
            <p:nvPr/>
          </p:nvSpPr>
          <p:spPr bwMode="auto">
            <a:xfrm>
              <a:off x="4188912" y="3711343"/>
              <a:ext cx="374282" cy="399235"/>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9" name="Oval 2"/>
            <p:cNvSpPr>
              <a:spLocks noChangeArrowheads="1"/>
            </p:cNvSpPr>
            <p:nvPr/>
          </p:nvSpPr>
          <p:spPr bwMode="auto">
            <a:xfrm>
              <a:off x="1866163" y="3711343"/>
              <a:ext cx="374282" cy="399235"/>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grpSp>
      <p:sp>
        <p:nvSpPr>
          <p:cNvPr id="40" name="右箭头 39"/>
          <p:cNvSpPr/>
          <p:nvPr/>
        </p:nvSpPr>
        <p:spPr>
          <a:xfrm>
            <a:off x="4071934" y="3214686"/>
            <a:ext cx="500066" cy="357190"/>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41" name="灯片编号占位符 40"/>
          <p:cNvSpPr>
            <a:spLocks noGrp="1"/>
          </p:cNvSpPr>
          <p:nvPr>
            <p:ph type="sldNum" sz="quarter" idx="12"/>
          </p:nvPr>
        </p:nvSpPr>
        <p:spPr/>
        <p:txBody>
          <a:bodyPr/>
          <a:lstStyle/>
          <a:p>
            <a:fld id="{7AF016A1-9F15-429F-9EFD-84004B73C732}" type="slidenum">
              <a:rPr lang="en-US" altLang="zh-CN" smtClean="0"/>
              <a:pPr/>
              <a:t>70</a:t>
            </a:fld>
            <a:r>
              <a:rPr lang="en-US" altLang="zh-CN"/>
              <a:t>/75</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642910" y="714356"/>
            <a:ext cx="7786742" cy="913070"/>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4</a:t>
            </a:r>
            <a:r>
              <a:rPr lang="zh-CN" altLang="zh-CN">
                <a:solidFill>
                  <a:srgbClr val="0000FF"/>
                </a:solidFill>
                <a:latin typeface="Consolas" pitchFamily="49" charset="0"/>
                <a:ea typeface="仿宋" pitchFamily="49" charset="-122"/>
              </a:rPr>
              <a:t>）将</a:t>
            </a:r>
            <a:r>
              <a:rPr lang="en-US" altLang="zh-CN" i="1">
                <a:solidFill>
                  <a:srgbClr val="0000FF"/>
                </a:solidFill>
                <a:latin typeface="Consolas" pitchFamily="49" charset="0"/>
                <a:ea typeface="仿宋" pitchFamily="49" charset="-122"/>
              </a:rPr>
              <a:t>v</a:t>
            </a:r>
            <a:r>
              <a:rPr lang="zh-CN" altLang="zh-CN">
                <a:solidFill>
                  <a:srgbClr val="0000FF"/>
                </a:solidFill>
                <a:latin typeface="Consolas" pitchFamily="49" charset="0"/>
                <a:ea typeface="仿宋" pitchFamily="49" charset="-122"/>
              </a:rPr>
              <a:t>加到表</a:t>
            </a:r>
            <a:r>
              <a:rPr lang="en-US" altLang="zh-CN">
                <a:solidFill>
                  <a:srgbClr val="0000FF"/>
                </a:solidFill>
                <a:latin typeface="Consolas" pitchFamily="49" charset="0"/>
                <a:ea typeface="仿宋" pitchFamily="49" charset="-122"/>
              </a:rPr>
              <a:t>path</a:t>
            </a:r>
            <a:r>
              <a:rPr lang="zh-CN" altLang="zh-CN">
                <a:solidFill>
                  <a:srgbClr val="0000FF"/>
                </a:solidFill>
                <a:latin typeface="Consolas" pitchFamily="49" charset="0"/>
                <a:ea typeface="仿宋" pitchFamily="49" charset="-122"/>
              </a:rPr>
              <a:t>的末尾，如图所示。得到的</a:t>
            </a:r>
            <a:r>
              <a:rPr lang="en-US" altLang="zh-CN">
                <a:solidFill>
                  <a:srgbClr val="0000FF"/>
                </a:solidFill>
                <a:latin typeface="Consolas" pitchFamily="49" charset="0"/>
                <a:ea typeface="仿宋" pitchFamily="49" charset="-122"/>
              </a:rPr>
              <a:t>TSP</a:t>
            </a:r>
            <a:r>
              <a:rPr lang="zh-CN" altLang="zh-CN">
                <a:solidFill>
                  <a:srgbClr val="0000FF"/>
                </a:solidFill>
                <a:latin typeface="Consolas" pitchFamily="49" charset="0"/>
                <a:ea typeface="仿宋" pitchFamily="49" charset="-122"/>
              </a:rPr>
              <a:t>回路为</a:t>
            </a:r>
            <a:r>
              <a:rPr lang="en-US" altLang="zh-CN">
                <a:solidFill>
                  <a:srgbClr val="FF0000"/>
                </a:solidFill>
                <a:latin typeface="Consolas" pitchFamily="49" charset="0"/>
                <a:ea typeface="仿宋" pitchFamily="49" charset="-122"/>
              </a:rPr>
              <a:t>0→1→3→4→2→0</a:t>
            </a:r>
            <a:r>
              <a:rPr lang="zh-CN" altLang="zh-CN">
                <a:solidFill>
                  <a:srgbClr val="0000FF"/>
                </a:solidFill>
                <a:latin typeface="Consolas" pitchFamily="49" charset="0"/>
                <a:ea typeface="仿宋" pitchFamily="49" charset="-122"/>
              </a:rPr>
              <a:t>，路径长度</a:t>
            </a:r>
            <a:r>
              <a:rPr lang="en-US" altLang="zh-CN">
                <a:solidFill>
                  <a:srgbClr val="0000FF"/>
                </a:solidFill>
                <a:latin typeface="Consolas" pitchFamily="49" charset="0"/>
                <a:ea typeface="仿宋" pitchFamily="49" charset="-122"/>
              </a:rPr>
              <a:t>=</a:t>
            </a:r>
            <a:r>
              <a:rPr lang="en-US" altLang="zh-CN">
                <a:solidFill>
                  <a:srgbClr val="FF0000"/>
                </a:solidFill>
                <a:latin typeface="Consolas" pitchFamily="49" charset="0"/>
                <a:ea typeface="仿宋" pitchFamily="49" charset="-122"/>
              </a:rPr>
              <a:t>1+3+2+3+5</a:t>
            </a:r>
            <a:r>
              <a:rPr lang="en-US" altLang="zh-CN">
                <a:solidFill>
                  <a:srgbClr val="0000FF"/>
                </a:solidFill>
                <a:latin typeface="Consolas" pitchFamily="49" charset="0"/>
                <a:ea typeface="仿宋" pitchFamily="49" charset="-122"/>
              </a:rPr>
              <a:t>=</a:t>
            </a:r>
            <a:r>
              <a:rPr lang="en-US" altLang="zh-CN">
                <a:solidFill>
                  <a:srgbClr val="FF0000"/>
                </a:solidFill>
                <a:latin typeface="Consolas" pitchFamily="49" charset="0"/>
                <a:ea typeface="仿宋" pitchFamily="49" charset="-122"/>
              </a:rPr>
              <a:t>14</a:t>
            </a:r>
            <a:r>
              <a:rPr lang="zh-CN" altLang="zh-CN">
                <a:solidFill>
                  <a:srgbClr val="0000FF"/>
                </a:solidFill>
                <a:latin typeface="Consolas" pitchFamily="49" charset="0"/>
                <a:ea typeface="仿宋" pitchFamily="49" charset="-122"/>
              </a:rPr>
              <a:t>。</a:t>
            </a:r>
          </a:p>
        </p:txBody>
      </p:sp>
      <p:sp>
        <p:nvSpPr>
          <p:cNvPr id="5138" name="Rectangle 1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3" name="组合 22"/>
          <p:cNvGrpSpPr/>
          <p:nvPr/>
        </p:nvGrpSpPr>
        <p:grpSpPr>
          <a:xfrm>
            <a:off x="4929190" y="2143116"/>
            <a:ext cx="3000396" cy="2214578"/>
            <a:chOff x="2580543" y="2366236"/>
            <a:chExt cx="2697031" cy="2058292"/>
          </a:xfrm>
        </p:grpSpPr>
        <p:sp>
          <p:nvSpPr>
            <p:cNvPr id="5136" name="Oval 16"/>
            <p:cNvSpPr>
              <a:spLocks noChangeArrowheads="1"/>
            </p:cNvSpPr>
            <p:nvPr/>
          </p:nvSpPr>
          <p:spPr bwMode="auto">
            <a:xfrm>
              <a:off x="2580543" y="3224775"/>
              <a:ext cx="374282" cy="374235"/>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35" name="Oval 15"/>
            <p:cNvSpPr>
              <a:spLocks noChangeArrowheads="1"/>
            </p:cNvSpPr>
            <p:nvPr/>
          </p:nvSpPr>
          <p:spPr bwMode="auto">
            <a:xfrm>
              <a:off x="3759530" y="3224775"/>
              <a:ext cx="373181" cy="374235"/>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34" name="Oval 14"/>
            <p:cNvSpPr>
              <a:spLocks noChangeArrowheads="1"/>
            </p:cNvSpPr>
            <p:nvPr/>
          </p:nvSpPr>
          <p:spPr bwMode="auto">
            <a:xfrm>
              <a:off x="4903292" y="3224775"/>
              <a:ext cx="374282" cy="374235"/>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33" name="Oval 13"/>
            <p:cNvSpPr>
              <a:spLocks noChangeArrowheads="1"/>
            </p:cNvSpPr>
            <p:nvPr/>
          </p:nvSpPr>
          <p:spPr bwMode="auto">
            <a:xfrm>
              <a:off x="3759530" y="2366236"/>
              <a:ext cx="373181" cy="375336"/>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32" name="Oval 12"/>
            <p:cNvSpPr>
              <a:spLocks noChangeArrowheads="1"/>
            </p:cNvSpPr>
            <p:nvPr/>
          </p:nvSpPr>
          <p:spPr bwMode="auto">
            <a:xfrm>
              <a:off x="3759530" y="4050293"/>
              <a:ext cx="373181" cy="374235"/>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31" name="AutoShape 11"/>
            <p:cNvSpPr>
              <a:spLocks noChangeShapeType="1"/>
            </p:cNvSpPr>
            <p:nvPr/>
          </p:nvSpPr>
          <p:spPr bwMode="auto">
            <a:xfrm flipV="1">
              <a:off x="2899783" y="2554454"/>
              <a:ext cx="859747" cy="725356"/>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5130" name="AutoShape 10"/>
            <p:cNvSpPr>
              <a:spLocks noChangeShapeType="1"/>
            </p:cNvSpPr>
            <p:nvPr/>
          </p:nvSpPr>
          <p:spPr bwMode="auto">
            <a:xfrm>
              <a:off x="4132711" y="3411892"/>
              <a:ext cx="770580" cy="1101"/>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5129" name="AutoShape 9"/>
            <p:cNvSpPr>
              <a:spLocks noChangeShapeType="1"/>
            </p:cNvSpPr>
            <p:nvPr/>
          </p:nvSpPr>
          <p:spPr bwMode="auto">
            <a:xfrm flipH="1">
              <a:off x="4132711" y="3543975"/>
              <a:ext cx="825622" cy="693436"/>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5128" name="Rectangle 8"/>
            <p:cNvSpPr>
              <a:spLocks noChangeArrowheads="1"/>
            </p:cNvSpPr>
            <p:nvPr/>
          </p:nvSpPr>
          <p:spPr bwMode="auto">
            <a:xfrm>
              <a:off x="3107840" y="2685436"/>
              <a:ext cx="198149" cy="20913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27" name="Rectangle 7"/>
            <p:cNvSpPr>
              <a:spLocks noChangeArrowheads="1"/>
            </p:cNvSpPr>
            <p:nvPr/>
          </p:nvSpPr>
          <p:spPr bwMode="auto">
            <a:xfrm>
              <a:off x="4406818" y="3169740"/>
              <a:ext cx="198149" cy="20913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26" name="Rectangle 6"/>
            <p:cNvSpPr>
              <a:spLocks noChangeArrowheads="1"/>
            </p:cNvSpPr>
            <p:nvPr/>
          </p:nvSpPr>
          <p:spPr bwMode="auto">
            <a:xfrm>
              <a:off x="4660008" y="3863176"/>
              <a:ext cx="198149" cy="20913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25" name="AutoShape 5"/>
            <p:cNvSpPr>
              <a:spLocks noChangeShapeType="1"/>
            </p:cNvSpPr>
            <p:nvPr/>
          </p:nvSpPr>
          <p:spPr bwMode="auto">
            <a:xfrm>
              <a:off x="2904186" y="3521962"/>
              <a:ext cx="859747" cy="693436"/>
            </a:xfrm>
            <a:prstGeom prst="straightConnector1">
              <a:avLst/>
            </a:prstGeom>
            <a:noFill/>
            <a:ln w="38100">
              <a:solidFill>
                <a:srgbClr val="FF00FF"/>
              </a:solidFill>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5124" name="Rectangle 4"/>
            <p:cNvSpPr>
              <a:spLocks noChangeArrowheads="1"/>
            </p:cNvSpPr>
            <p:nvPr/>
          </p:nvSpPr>
          <p:spPr bwMode="auto">
            <a:xfrm>
              <a:off x="3090226" y="3852169"/>
              <a:ext cx="198149" cy="20913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23" name="AutoShape 3"/>
            <p:cNvSpPr>
              <a:spLocks noChangeShapeType="1"/>
            </p:cNvSpPr>
            <p:nvPr/>
          </p:nvSpPr>
          <p:spPr bwMode="auto">
            <a:xfrm>
              <a:off x="3941167" y="2734967"/>
              <a:ext cx="1101" cy="483204"/>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5122" name="Rectangle 2"/>
            <p:cNvSpPr>
              <a:spLocks noChangeArrowheads="1"/>
            </p:cNvSpPr>
            <p:nvPr/>
          </p:nvSpPr>
          <p:spPr bwMode="auto">
            <a:xfrm>
              <a:off x="3982999" y="2909977"/>
              <a:ext cx="198149" cy="20913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160"/>
                </a:lnSpc>
                <a:spcBef>
                  <a:spcPct val="0"/>
                </a:spcBef>
                <a:spcAft>
                  <a:spcPct val="0"/>
                </a:spcAft>
                <a:buClrTx/>
                <a:buSzTx/>
                <a:buFontTx/>
                <a:buNone/>
                <a:tabLst/>
              </a:pPr>
              <a:r>
                <a:rPr kumimoji="0" lang="en-US" altLang="zh-CN" sz="1800" b="0">
                  <a:solidFill>
                    <a:srgbClr val="0000FF"/>
                  </a:solidFill>
                  <a:latin typeface="Consolas" pitchFamily="49" charset="0"/>
                  <a:ea typeface="宋体" pitchFamily="2"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grpSp>
      <p:grpSp>
        <p:nvGrpSpPr>
          <p:cNvPr id="24" name="组合 23"/>
          <p:cNvGrpSpPr/>
          <p:nvPr/>
        </p:nvGrpSpPr>
        <p:grpSpPr>
          <a:xfrm>
            <a:off x="785786" y="2214554"/>
            <a:ext cx="2768005" cy="2195791"/>
            <a:chOff x="2366460" y="2366824"/>
            <a:chExt cx="2768005" cy="2195791"/>
          </a:xfrm>
        </p:grpSpPr>
        <p:sp>
          <p:nvSpPr>
            <p:cNvPr id="25" name="Oval 14"/>
            <p:cNvSpPr>
              <a:spLocks noChangeArrowheads="1"/>
            </p:cNvSpPr>
            <p:nvPr/>
          </p:nvSpPr>
          <p:spPr bwMode="auto">
            <a:xfrm>
              <a:off x="2366460" y="3282715"/>
              <a:ext cx="384131" cy="399235"/>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6" name="Oval 13"/>
            <p:cNvSpPr>
              <a:spLocks noChangeArrowheads="1"/>
            </p:cNvSpPr>
            <p:nvPr/>
          </p:nvSpPr>
          <p:spPr bwMode="auto">
            <a:xfrm>
              <a:off x="3576474" y="3282715"/>
              <a:ext cx="383002" cy="399235"/>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7" name="Oval 12"/>
            <p:cNvSpPr>
              <a:spLocks noChangeArrowheads="1"/>
            </p:cNvSpPr>
            <p:nvPr/>
          </p:nvSpPr>
          <p:spPr bwMode="auto">
            <a:xfrm>
              <a:off x="4750334" y="3282715"/>
              <a:ext cx="384131" cy="399235"/>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8" name="Oval 11"/>
            <p:cNvSpPr>
              <a:spLocks noChangeArrowheads="1"/>
            </p:cNvSpPr>
            <p:nvPr/>
          </p:nvSpPr>
          <p:spPr bwMode="auto">
            <a:xfrm>
              <a:off x="3576474" y="2366824"/>
              <a:ext cx="383002" cy="40040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9" name="Oval 10"/>
            <p:cNvSpPr>
              <a:spLocks noChangeArrowheads="1"/>
            </p:cNvSpPr>
            <p:nvPr/>
          </p:nvSpPr>
          <p:spPr bwMode="auto">
            <a:xfrm>
              <a:off x="3576474" y="4163380"/>
              <a:ext cx="383002" cy="399235"/>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0" name="AutoShape 9"/>
            <p:cNvSpPr>
              <a:spLocks noChangeShapeType="1"/>
            </p:cNvSpPr>
            <p:nvPr/>
          </p:nvSpPr>
          <p:spPr bwMode="auto">
            <a:xfrm flipV="1">
              <a:off x="2694102" y="2567615"/>
              <a:ext cx="882372" cy="773811"/>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31" name="AutoShape 8"/>
            <p:cNvSpPr>
              <a:spLocks noChangeShapeType="1"/>
            </p:cNvSpPr>
            <p:nvPr/>
          </p:nvSpPr>
          <p:spPr bwMode="auto">
            <a:xfrm>
              <a:off x="3959476" y="3482332"/>
              <a:ext cx="790859" cy="1174"/>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32" name="AutoShape 7"/>
            <p:cNvSpPr>
              <a:spLocks noChangeShapeType="1"/>
            </p:cNvSpPr>
            <p:nvPr/>
          </p:nvSpPr>
          <p:spPr bwMode="auto">
            <a:xfrm flipH="1">
              <a:off x="3959476" y="3623239"/>
              <a:ext cx="847349" cy="739758"/>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33" name="Rectangle 6"/>
            <p:cNvSpPr>
              <a:spLocks noChangeArrowheads="1"/>
            </p:cNvSpPr>
            <p:nvPr/>
          </p:nvSpPr>
          <p:spPr bwMode="auto">
            <a:xfrm>
              <a:off x="2907634" y="2707347"/>
              <a:ext cx="203364" cy="22310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4" name="Rectangle 5"/>
            <p:cNvSpPr>
              <a:spLocks noChangeArrowheads="1"/>
            </p:cNvSpPr>
            <p:nvPr/>
          </p:nvSpPr>
          <p:spPr bwMode="auto">
            <a:xfrm>
              <a:off x="4240795" y="3224004"/>
              <a:ext cx="203364" cy="22310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5" name="Rectangle 4"/>
            <p:cNvSpPr>
              <a:spLocks noChangeArrowheads="1"/>
            </p:cNvSpPr>
            <p:nvPr/>
          </p:nvSpPr>
          <p:spPr bwMode="auto">
            <a:xfrm>
              <a:off x="4500649" y="3963762"/>
              <a:ext cx="203364" cy="22310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6" name="AutoShape 3"/>
            <p:cNvSpPr>
              <a:spLocks noChangeShapeType="1"/>
            </p:cNvSpPr>
            <p:nvPr/>
          </p:nvSpPr>
          <p:spPr bwMode="auto">
            <a:xfrm>
              <a:off x="3762891" y="2760187"/>
              <a:ext cx="1130" cy="515482"/>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37" name="Rectangle 2"/>
            <p:cNvSpPr>
              <a:spLocks noChangeArrowheads="1"/>
            </p:cNvSpPr>
            <p:nvPr/>
          </p:nvSpPr>
          <p:spPr bwMode="auto">
            <a:xfrm>
              <a:off x="3805823" y="2946888"/>
              <a:ext cx="203364" cy="22310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160"/>
                </a:lnSpc>
                <a:spcBef>
                  <a:spcPct val="0"/>
                </a:spcBef>
                <a:spcAft>
                  <a:spcPct val="0"/>
                </a:spcAft>
                <a:buClrTx/>
                <a:buSzTx/>
                <a:buFontTx/>
                <a:buNone/>
                <a:tabLst/>
              </a:pPr>
              <a:r>
                <a:rPr kumimoji="0" lang="en-US" altLang="zh-CN" sz="1800" b="0">
                  <a:solidFill>
                    <a:srgbClr val="0000FF"/>
                  </a:solidFill>
                  <a:latin typeface="Consolas" pitchFamily="49" charset="0"/>
                  <a:ea typeface="宋体" pitchFamily="2"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grpSp>
      <p:sp>
        <p:nvSpPr>
          <p:cNvPr id="38" name="右箭头 37"/>
          <p:cNvSpPr/>
          <p:nvPr/>
        </p:nvSpPr>
        <p:spPr>
          <a:xfrm>
            <a:off x="4000496" y="3143248"/>
            <a:ext cx="500066" cy="357190"/>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39" name="灯片编号占位符 38"/>
          <p:cNvSpPr>
            <a:spLocks noGrp="1"/>
          </p:cNvSpPr>
          <p:nvPr>
            <p:ph type="sldNum" sz="quarter" idx="12"/>
          </p:nvPr>
        </p:nvSpPr>
        <p:spPr/>
        <p:txBody>
          <a:bodyPr/>
          <a:lstStyle/>
          <a:p>
            <a:fld id="{7AF016A1-9F15-429F-9EFD-84004B73C732}" type="slidenum">
              <a:rPr lang="en-US" altLang="zh-CN" smtClean="0"/>
              <a:pPr/>
              <a:t>71</a:t>
            </a:fld>
            <a:r>
              <a:rPr lang="en-US" altLang="zh-CN"/>
              <a:t>/75</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642910" y="634217"/>
            <a:ext cx="1928826" cy="461665"/>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pPr>
              <a:lnSpc>
                <a:spcPct val="100000"/>
              </a:lnSpc>
              <a:spcBef>
                <a:spcPts val="0"/>
              </a:spcBef>
            </a:pPr>
            <a:r>
              <a:rPr lang="zh-CN" altLang="en-US">
                <a:solidFill>
                  <a:schemeClr val="bg1"/>
                </a:solidFill>
                <a:latin typeface="微软雅黑" pitchFamily="34" charset="-122"/>
                <a:ea typeface="微软雅黑" pitchFamily="34" charset="-122"/>
                <a:cs typeface="Consolas" pitchFamily="49" charset="0"/>
              </a:rPr>
              <a:t>算法实现</a:t>
            </a:r>
          </a:p>
        </p:txBody>
      </p:sp>
      <p:sp>
        <p:nvSpPr>
          <p:cNvPr id="5" name="TextBox 4"/>
          <p:cNvSpPr txBox="1"/>
          <p:nvPr/>
        </p:nvSpPr>
        <p:spPr>
          <a:xfrm>
            <a:off x="571472" y="3714752"/>
            <a:ext cx="8286808" cy="913070"/>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0"/>
              </a:spcBef>
            </a:pPr>
            <a:r>
              <a:rPr lang="en-US" altLang="zh-CN" sz="2200">
                <a:solidFill>
                  <a:srgbClr val="FF0000"/>
                </a:solidFill>
                <a:latin typeface="Consolas" pitchFamily="49" charset="0"/>
                <a:ea typeface="楷体" pitchFamily="49" charset="-122"/>
                <a:sym typeface="Wingdings"/>
              </a:rPr>
              <a:t></a:t>
            </a:r>
            <a:r>
              <a:rPr lang="en-US" altLang="zh-CN" sz="2200">
                <a:solidFill>
                  <a:srgbClr val="FF0000"/>
                </a:solidFill>
                <a:latin typeface="Consolas" pitchFamily="49" charset="0"/>
                <a:ea typeface="楷体" pitchFamily="49" charset="-122"/>
              </a:rPr>
              <a:t>TSP</a:t>
            </a:r>
            <a:r>
              <a:rPr lang="zh-CN" altLang="zh-CN" sz="2200">
                <a:solidFill>
                  <a:srgbClr val="FF0000"/>
                </a:solidFill>
                <a:latin typeface="Consolas" pitchFamily="49" charset="0"/>
                <a:ea typeface="楷体" pitchFamily="49" charset="-122"/>
              </a:rPr>
              <a:t>算法分析：</a:t>
            </a:r>
            <a:r>
              <a:rPr lang="zh-CN" altLang="zh-CN" sz="2200">
                <a:solidFill>
                  <a:srgbClr val="0000FF"/>
                </a:solidFill>
                <a:latin typeface="Consolas" pitchFamily="49" charset="0"/>
                <a:ea typeface="仿宋" pitchFamily="49" charset="-122"/>
              </a:rPr>
              <a:t>由于</a:t>
            </a:r>
            <a:r>
              <a:rPr lang="en-US" altLang="zh-CN" sz="2200">
                <a:solidFill>
                  <a:srgbClr val="0000FF"/>
                </a:solidFill>
                <a:latin typeface="Consolas" pitchFamily="49" charset="0"/>
                <a:ea typeface="仿宋" pitchFamily="49" charset="-122"/>
              </a:rPr>
              <a:t>Prim()</a:t>
            </a:r>
            <a:r>
              <a:rPr lang="zh-CN" altLang="zh-CN" sz="2200">
                <a:solidFill>
                  <a:srgbClr val="0000FF"/>
                </a:solidFill>
                <a:latin typeface="Consolas" pitchFamily="49" charset="0"/>
                <a:ea typeface="仿宋" pitchFamily="49" charset="-122"/>
              </a:rPr>
              <a:t>和</a:t>
            </a:r>
            <a:r>
              <a:rPr lang="en-US" altLang="zh-CN" sz="2200">
                <a:solidFill>
                  <a:srgbClr val="0000FF"/>
                </a:solidFill>
                <a:latin typeface="Consolas" pitchFamily="49" charset="0"/>
                <a:ea typeface="仿宋" pitchFamily="49" charset="-122"/>
              </a:rPr>
              <a:t>DFS</a:t>
            </a:r>
            <a:r>
              <a:rPr lang="zh-CN" altLang="zh-CN" sz="2200">
                <a:solidFill>
                  <a:srgbClr val="0000FF"/>
                </a:solidFill>
                <a:latin typeface="Consolas" pitchFamily="49" charset="0"/>
                <a:ea typeface="仿宋" pitchFamily="49" charset="-122"/>
              </a:rPr>
              <a:t>算法的时间复杂度都是多项式级，所以该算法的时间复杂度也是多项式级即</a:t>
            </a:r>
            <a:r>
              <a:rPr lang="en-US" altLang="zh-CN" sz="2200">
                <a:solidFill>
                  <a:srgbClr val="0000FF"/>
                </a:solidFill>
                <a:latin typeface="Consolas" pitchFamily="49" charset="0"/>
                <a:ea typeface="仿宋" pitchFamily="49" charset="-122"/>
              </a:rPr>
              <a:t>O(</a:t>
            </a:r>
            <a:r>
              <a:rPr lang="en-US" altLang="zh-CN" sz="2200" i="1">
                <a:solidFill>
                  <a:srgbClr val="0000FF"/>
                </a:solidFill>
                <a:latin typeface="Consolas" pitchFamily="49" charset="0"/>
                <a:ea typeface="仿宋" pitchFamily="49" charset="-122"/>
              </a:rPr>
              <a:t>n</a:t>
            </a:r>
            <a:r>
              <a:rPr lang="en-US" altLang="zh-CN" sz="2200" baseline="30000">
                <a:solidFill>
                  <a:srgbClr val="0000FF"/>
                </a:solidFill>
                <a:latin typeface="Consolas" pitchFamily="49" charset="0"/>
                <a:ea typeface="仿宋" pitchFamily="49" charset="-122"/>
              </a:rPr>
              <a:t>2</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a:t>
            </a:r>
            <a:endParaRPr lang="zh-CN" altLang="en-US" sz="2200">
              <a:solidFill>
                <a:srgbClr val="0000FF"/>
              </a:solidFill>
              <a:latin typeface="Consolas" pitchFamily="49" charset="0"/>
              <a:ea typeface="仿宋" pitchFamily="49" charset="-122"/>
              <a:cs typeface="Consolas" pitchFamily="49" charset="0"/>
            </a:endParaRPr>
          </a:p>
        </p:txBody>
      </p:sp>
      <p:sp>
        <p:nvSpPr>
          <p:cNvPr id="6" name="TextBox 5"/>
          <p:cNvSpPr txBox="1"/>
          <p:nvPr/>
        </p:nvSpPr>
        <p:spPr>
          <a:xfrm>
            <a:off x="571472" y="1562911"/>
            <a:ext cx="8001056" cy="913070"/>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0"/>
              </a:spcBef>
              <a:buBlip>
                <a:blip r:embed="rId2"/>
              </a:buBlip>
            </a:pPr>
            <a:r>
              <a:rPr lang="en-US" altLang="zh-CN">
                <a:solidFill>
                  <a:srgbClr val="0000FF"/>
                </a:solidFill>
                <a:latin typeface="Consolas" pitchFamily="49" charset="0"/>
                <a:ea typeface="仿宋" pitchFamily="49" charset="-122"/>
              </a:rPr>
              <a:t>Prim</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0"/>
              </a:spcBef>
              <a:buBlip>
                <a:blip r:embed="rId2"/>
              </a:buBlip>
            </a:pPr>
            <a:r>
              <a:rPr lang="en-US" altLang="zh-CN">
                <a:solidFill>
                  <a:srgbClr val="0000FF"/>
                </a:solidFill>
                <a:latin typeface="Consolas" pitchFamily="49" charset="0"/>
                <a:ea typeface="仿宋" pitchFamily="49" charset="-122"/>
              </a:rPr>
              <a:t>DFS</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7" name="TextBox 6"/>
          <p:cNvSpPr txBox="1"/>
          <p:nvPr/>
        </p:nvSpPr>
        <p:spPr>
          <a:xfrm>
            <a:off x="1071538" y="2786058"/>
            <a:ext cx="1285884" cy="430887"/>
          </a:xfrm>
          <a:prstGeom prst="rect">
            <a:avLst/>
          </a:prstGeom>
          <a:noFill/>
        </p:spPr>
        <p:txBody>
          <a:bodyPr wrap="square" rtlCol="0">
            <a:spAutoFit/>
          </a:bodyPr>
          <a:lstStyle/>
          <a:p>
            <a:pPr algn="l">
              <a:lnSpc>
                <a:spcPct val="100000"/>
              </a:lnSpc>
              <a:spcBef>
                <a:spcPts val="0"/>
              </a:spcBef>
            </a:pPr>
            <a:r>
              <a:rPr lang="zh-CN" altLang="en-US" sz="2200">
                <a:solidFill>
                  <a:srgbClr val="0000FF"/>
                </a:solidFill>
                <a:latin typeface="Consolas" pitchFamily="49" charset="0"/>
                <a:ea typeface="楷体" pitchFamily="49" charset="-122"/>
                <a:cs typeface="Consolas" pitchFamily="49" charset="0"/>
              </a:rPr>
              <a:t>代码略</a:t>
            </a:r>
          </a:p>
        </p:txBody>
      </p:sp>
      <p:sp>
        <p:nvSpPr>
          <p:cNvPr id="8" name="灯片编号占位符 7"/>
          <p:cNvSpPr>
            <a:spLocks noGrp="1"/>
          </p:cNvSpPr>
          <p:nvPr>
            <p:ph type="sldNum" sz="quarter" idx="12"/>
          </p:nvPr>
        </p:nvSpPr>
        <p:spPr/>
        <p:txBody>
          <a:bodyPr/>
          <a:lstStyle/>
          <a:p>
            <a:fld id="{7AF016A1-9F15-429F-9EFD-84004B73C732}" type="slidenum">
              <a:rPr lang="en-US" altLang="zh-CN" smtClean="0"/>
              <a:pPr/>
              <a:t>72</a:t>
            </a:fld>
            <a:r>
              <a:rPr lang="en-US" altLang="zh-CN"/>
              <a:t>/75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500034" y="571480"/>
            <a:ext cx="2500330" cy="461665"/>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pPr>
              <a:lnSpc>
                <a:spcPct val="100000"/>
              </a:lnSpc>
              <a:spcBef>
                <a:spcPts val="0"/>
              </a:spcBef>
            </a:pPr>
            <a:r>
              <a:rPr lang="zh-CN" altLang="en-US">
                <a:solidFill>
                  <a:schemeClr val="bg1"/>
                </a:solidFill>
                <a:latin typeface="Consolas" pitchFamily="49" charset="0"/>
                <a:ea typeface="微软雅黑" pitchFamily="34" charset="-122"/>
                <a:cs typeface="Consolas" pitchFamily="49" charset="0"/>
              </a:rPr>
              <a:t>求</a:t>
            </a:r>
            <a:r>
              <a:rPr lang="zh-CN" altLang="zh-CN">
                <a:solidFill>
                  <a:schemeClr val="bg1"/>
                </a:solidFill>
                <a:latin typeface="Consolas" pitchFamily="49" charset="0"/>
                <a:ea typeface="微软雅黑" pitchFamily="34" charset="-122"/>
              </a:rPr>
              <a:t>近似性能比</a:t>
            </a:r>
            <a:endParaRPr lang="zh-CN" altLang="en-US">
              <a:solidFill>
                <a:schemeClr val="bg1"/>
              </a:solidFill>
              <a:latin typeface="Consolas" pitchFamily="49" charset="0"/>
              <a:ea typeface="微软雅黑" pitchFamily="34" charset="-122"/>
              <a:cs typeface="Consolas" pitchFamily="49" charset="0"/>
            </a:endParaRPr>
          </a:p>
        </p:txBody>
      </p:sp>
      <p:sp>
        <p:nvSpPr>
          <p:cNvPr id="5" name="TextBox 4"/>
          <p:cNvSpPr txBox="1"/>
          <p:nvPr/>
        </p:nvSpPr>
        <p:spPr>
          <a:xfrm>
            <a:off x="571472" y="1541304"/>
            <a:ext cx="8072494" cy="2003112"/>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500"/>
              </a:lnSpc>
              <a:spcBef>
                <a:spcPts val="1200"/>
              </a:spcBef>
              <a:buBlip>
                <a:blip r:embed="rId2"/>
              </a:buBlip>
            </a:pPr>
            <a:r>
              <a:rPr lang="zh-CN" altLang="zh-CN">
                <a:solidFill>
                  <a:srgbClr val="0000FF"/>
                </a:solidFill>
                <a:latin typeface="Consolas" pitchFamily="49" charset="0"/>
                <a:ea typeface="仿宋" pitchFamily="49" charset="-122"/>
              </a:rPr>
              <a:t>用</a:t>
            </a:r>
            <a:r>
              <a:rPr lang="en-US" altLang="zh-CN">
                <a:solidFill>
                  <a:srgbClr val="0000FF"/>
                </a:solidFill>
                <a:latin typeface="Consolas" pitchFamily="49" charset="0"/>
                <a:ea typeface="仿宋" pitchFamily="49" charset="-122"/>
              </a:rPr>
              <a:t>MSTL</a:t>
            </a:r>
            <a:r>
              <a:rPr lang="zh-CN" altLang="zh-CN">
                <a:solidFill>
                  <a:srgbClr val="0000FF"/>
                </a:solidFill>
                <a:latin typeface="Consolas" pitchFamily="49" charset="0"/>
                <a:ea typeface="仿宋" pitchFamily="49" charset="-122"/>
              </a:rPr>
              <a:t>表示产生的最小生成树</a:t>
            </a:r>
            <a:r>
              <a:rPr lang="en-US" altLang="zh-CN">
                <a:solidFill>
                  <a:srgbClr val="0000FF"/>
                </a:solidFill>
                <a:latin typeface="Consolas" pitchFamily="49" charset="0"/>
                <a:ea typeface="仿宋" pitchFamily="49" charset="-122"/>
              </a:rPr>
              <a:t>T</a:t>
            </a:r>
            <a:r>
              <a:rPr lang="zh-CN" altLang="zh-CN">
                <a:solidFill>
                  <a:srgbClr val="0000FF"/>
                </a:solidFill>
                <a:latin typeface="Consolas" pitchFamily="49" charset="0"/>
                <a:ea typeface="仿宋" pitchFamily="49" charset="-122"/>
              </a:rPr>
              <a:t>的全部费用和，</a:t>
            </a:r>
            <a:r>
              <a:rPr lang="en-US" altLang="zh-CN">
                <a:solidFill>
                  <a:srgbClr val="0000FF"/>
                </a:solidFill>
                <a:latin typeface="Consolas" pitchFamily="49" charset="0"/>
                <a:ea typeface="仿宋" pitchFamily="49" charset="-122"/>
              </a:rPr>
              <a:t>L*</a:t>
            </a:r>
            <a:r>
              <a:rPr lang="zh-CN" altLang="zh-CN">
                <a:solidFill>
                  <a:srgbClr val="0000FF"/>
                </a:solidFill>
                <a:latin typeface="Consolas" pitchFamily="49" charset="0"/>
                <a:ea typeface="仿宋" pitchFamily="49" charset="-122"/>
              </a:rPr>
              <a:t>表示最优解即</a:t>
            </a:r>
            <a:r>
              <a:rPr lang="en-US" altLang="zh-CN">
                <a:solidFill>
                  <a:srgbClr val="0000FF"/>
                </a:solidFill>
                <a:latin typeface="Consolas" pitchFamily="49" charset="0"/>
                <a:ea typeface="仿宋" pitchFamily="49" charset="-122"/>
              </a:rPr>
              <a:t>TSP</a:t>
            </a:r>
            <a:r>
              <a:rPr lang="zh-CN" altLang="zh-CN">
                <a:solidFill>
                  <a:srgbClr val="0000FF"/>
                </a:solidFill>
                <a:latin typeface="Consolas" pitchFamily="49" charset="0"/>
                <a:ea typeface="仿宋" pitchFamily="49" charset="-122"/>
              </a:rPr>
              <a:t>回路的长度，显然</a:t>
            </a:r>
            <a:r>
              <a:rPr lang="en-US" altLang="zh-CN">
                <a:solidFill>
                  <a:srgbClr val="0000FF"/>
                </a:solidFill>
                <a:latin typeface="Consolas" pitchFamily="49" charset="0"/>
                <a:ea typeface="仿宋" pitchFamily="49" charset="-122"/>
              </a:rPr>
              <a:t>MSTL</a:t>
            </a:r>
            <a:r>
              <a:rPr lang="zh-CN" altLang="zh-CN">
                <a:solidFill>
                  <a:srgbClr val="0000FF"/>
                </a:solidFill>
                <a:latin typeface="+mn-ea"/>
              </a:rPr>
              <a:t>≤</a:t>
            </a:r>
            <a:r>
              <a:rPr lang="en-US" altLang="zh-CN">
                <a:solidFill>
                  <a:srgbClr val="0000FF"/>
                </a:solidFill>
                <a:latin typeface="Consolas" pitchFamily="49" charset="0"/>
                <a:ea typeface="仿宋" pitchFamily="49" charset="-122"/>
              </a:rPr>
              <a:t>L*</a:t>
            </a:r>
            <a:r>
              <a:rPr lang="zh-CN" altLang="zh-CN">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500"/>
              </a:lnSpc>
              <a:spcBef>
                <a:spcPts val="1200"/>
              </a:spcBef>
              <a:buBlip>
                <a:blip r:embed="rId2"/>
              </a:buBlip>
            </a:pPr>
            <a:r>
              <a:rPr lang="zh-CN" altLang="zh-CN">
                <a:solidFill>
                  <a:srgbClr val="0000FF"/>
                </a:solidFill>
                <a:latin typeface="Consolas" pitchFamily="49" charset="0"/>
                <a:ea typeface="仿宋" pitchFamily="49" charset="-122"/>
              </a:rPr>
              <a:t>从</a:t>
            </a:r>
            <a:r>
              <a:rPr lang="zh-CN" altLang="en-US">
                <a:solidFill>
                  <a:srgbClr val="0000FF"/>
                </a:solidFill>
                <a:latin typeface="Consolas" pitchFamily="49" charset="0"/>
                <a:ea typeface="仿宋" pitchFamily="49" charset="-122"/>
              </a:rPr>
              <a:t>求解</a:t>
            </a:r>
            <a:r>
              <a:rPr lang="zh-CN" altLang="zh-CN">
                <a:solidFill>
                  <a:srgbClr val="0000FF"/>
                </a:solidFill>
                <a:latin typeface="Consolas" pitchFamily="49" charset="0"/>
                <a:ea typeface="仿宋" pitchFamily="49" charset="-122"/>
              </a:rPr>
              <a:t>过程</a:t>
            </a:r>
            <a:r>
              <a:rPr lang="zh-CN" altLang="en-US">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费用函数</a:t>
            </a:r>
            <a:r>
              <a:rPr lang="en-US" altLang="zh-CN" i="1">
                <a:solidFill>
                  <a:srgbClr val="0000FF"/>
                </a:solidFill>
                <a:latin typeface="Consolas" pitchFamily="49" charset="0"/>
                <a:ea typeface="仿宋" pitchFamily="49" charset="-122"/>
              </a:rPr>
              <a:t>c</a:t>
            </a:r>
            <a:r>
              <a:rPr lang="zh-CN" altLang="zh-CN">
                <a:solidFill>
                  <a:srgbClr val="0000FF"/>
                </a:solidFill>
                <a:latin typeface="Consolas" pitchFamily="49" charset="0"/>
                <a:ea typeface="仿宋" pitchFamily="49" charset="-122"/>
              </a:rPr>
              <a:t>具有三角不等式性质</a:t>
            </a:r>
            <a:r>
              <a:rPr lang="zh-CN" altLang="en-US">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可以看出近似算法的解</a:t>
            </a:r>
            <a:r>
              <a:rPr lang="en-US" altLang="zh-CN">
                <a:solidFill>
                  <a:srgbClr val="FF0000"/>
                </a:solidFill>
                <a:latin typeface="Consolas" pitchFamily="49" charset="0"/>
                <a:ea typeface="仿宋" pitchFamily="49" charset="-122"/>
              </a:rPr>
              <a:t>L</a:t>
            </a:r>
            <a:r>
              <a:rPr lang="zh-CN" altLang="zh-CN">
                <a:solidFill>
                  <a:srgbClr val="FF0000"/>
                </a:solidFill>
                <a:latin typeface="+mn-ea"/>
              </a:rPr>
              <a:t>≤</a:t>
            </a:r>
            <a:r>
              <a:rPr lang="en-US" altLang="zh-CN">
                <a:solidFill>
                  <a:srgbClr val="FF0000"/>
                </a:solidFill>
                <a:latin typeface="Consolas" pitchFamily="49" charset="0"/>
                <a:ea typeface="仿宋" pitchFamily="49" charset="-122"/>
              </a:rPr>
              <a:t>2MSTL</a:t>
            </a:r>
            <a:r>
              <a:rPr lang="zh-CN" altLang="zh-CN">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73</a:t>
            </a:fld>
            <a:r>
              <a:rPr lang="en-US" altLang="zh-CN"/>
              <a:t>/75</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6" name="矩形 75"/>
          <p:cNvSpPr/>
          <p:nvPr/>
        </p:nvSpPr>
        <p:spPr>
          <a:xfrm>
            <a:off x="214282" y="285728"/>
            <a:ext cx="2487926" cy="363176"/>
          </a:xfrm>
          <a:prstGeom prst="rect">
            <a:avLst/>
          </a:prstGeom>
        </p:spPr>
        <p:txBody>
          <a:bodyPr wrap="square">
            <a:spAutoFit/>
          </a:bodyPr>
          <a:lstStyle/>
          <a:p>
            <a:pPr algn="l"/>
            <a:r>
              <a:rPr lang="zh-CN" altLang="en-US"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1</a:t>
            </a:r>
            <a:r>
              <a:rPr lang="zh-CN" altLang="en-US"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01</a:t>
            </a:r>
            <a:r>
              <a:rPr lang="en-US" altLang="zh-CN" sz="2200">
                <a:solidFill>
                  <a:schemeClr val="bg1">
                    <a:lumMod val="50000"/>
                  </a:schemeClr>
                </a:solidFill>
                <a:latin typeface="Consolas" pitchFamily="49" charset="0"/>
                <a:ea typeface="仿宋" pitchFamily="49" charset="-122"/>
              </a:rPr>
              <a:t>0</a:t>
            </a:r>
            <a:r>
              <a:rPr lang="en-US" altLang="zh-CN" sz="2200">
                <a:solidFill>
                  <a:srgbClr val="0000FF"/>
                </a:solidFill>
                <a:latin typeface="Consolas" pitchFamily="49" charset="0"/>
                <a:ea typeface="仿宋" pitchFamily="49" charset="-122"/>
              </a:rPr>
              <a:t>342</a:t>
            </a:r>
            <a:endParaRPr lang="zh-CN" altLang="en-US" sz="2200"/>
          </a:p>
        </p:txBody>
      </p:sp>
      <p:cxnSp>
        <p:nvCxnSpPr>
          <p:cNvPr id="78" name="直接箭头连接符 77"/>
          <p:cNvCxnSpPr/>
          <p:nvPr/>
        </p:nvCxnSpPr>
        <p:spPr>
          <a:xfrm rot="5400000" flipH="1" flipV="1">
            <a:off x="1200215" y="830950"/>
            <a:ext cx="428628"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grpSp>
        <p:nvGrpSpPr>
          <p:cNvPr id="119" name="组合 118"/>
          <p:cNvGrpSpPr/>
          <p:nvPr/>
        </p:nvGrpSpPr>
        <p:grpSpPr>
          <a:xfrm>
            <a:off x="1928794" y="642918"/>
            <a:ext cx="6357982" cy="2214578"/>
            <a:chOff x="1928794" y="642918"/>
            <a:chExt cx="6357982" cy="2214578"/>
          </a:xfrm>
        </p:grpSpPr>
        <p:sp>
          <p:nvSpPr>
            <p:cNvPr id="40" name="Oval 14"/>
            <p:cNvSpPr>
              <a:spLocks noChangeArrowheads="1"/>
            </p:cNvSpPr>
            <p:nvPr/>
          </p:nvSpPr>
          <p:spPr bwMode="auto">
            <a:xfrm>
              <a:off x="5626804" y="1566645"/>
              <a:ext cx="369138" cy="402651"/>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1" name="Oval 13"/>
            <p:cNvSpPr>
              <a:spLocks noChangeArrowheads="1"/>
            </p:cNvSpPr>
            <p:nvPr/>
          </p:nvSpPr>
          <p:spPr bwMode="auto">
            <a:xfrm>
              <a:off x="6789592" y="1566645"/>
              <a:ext cx="368054" cy="402651"/>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2" name="Oval 12"/>
            <p:cNvSpPr>
              <a:spLocks noChangeArrowheads="1"/>
            </p:cNvSpPr>
            <p:nvPr/>
          </p:nvSpPr>
          <p:spPr bwMode="auto">
            <a:xfrm>
              <a:off x="7917638" y="1566645"/>
              <a:ext cx="369138" cy="402651"/>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3" name="Oval 11"/>
            <p:cNvSpPr>
              <a:spLocks noChangeArrowheads="1"/>
            </p:cNvSpPr>
            <p:nvPr/>
          </p:nvSpPr>
          <p:spPr bwMode="auto">
            <a:xfrm>
              <a:off x="6789592" y="642918"/>
              <a:ext cx="368054" cy="403835"/>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4" name="Oval 10"/>
            <p:cNvSpPr>
              <a:spLocks noChangeArrowheads="1"/>
            </p:cNvSpPr>
            <p:nvPr/>
          </p:nvSpPr>
          <p:spPr bwMode="auto">
            <a:xfrm>
              <a:off x="6789592" y="2454845"/>
              <a:ext cx="368054" cy="402651"/>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5" name="AutoShape 9"/>
            <p:cNvSpPr>
              <a:spLocks noChangeShapeType="1"/>
            </p:cNvSpPr>
            <p:nvPr/>
          </p:nvSpPr>
          <p:spPr bwMode="auto">
            <a:xfrm flipV="1">
              <a:off x="5941659" y="845426"/>
              <a:ext cx="847934" cy="780432"/>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46" name="AutoShape 8"/>
            <p:cNvSpPr>
              <a:spLocks noChangeShapeType="1"/>
            </p:cNvSpPr>
            <p:nvPr/>
          </p:nvSpPr>
          <p:spPr bwMode="auto">
            <a:xfrm>
              <a:off x="7157646" y="1767970"/>
              <a:ext cx="759993" cy="1184"/>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47" name="AutoShape 7"/>
            <p:cNvSpPr>
              <a:spLocks noChangeShapeType="1"/>
            </p:cNvSpPr>
            <p:nvPr/>
          </p:nvSpPr>
          <p:spPr bwMode="auto">
            <a:xfrm flipH="1">
              <a:off x="7157646" y="1910083"/>
              <a:ext cx="814277" cy="746088"/>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48" name="Rectangle 6"/>
            <p:cNvSpPr>
              <a:spLocks noChangeArrowheads="1"/>
            </p:cNvSpPr>
            <p:nvPr/>
          </p:nvSpPr>
          <p:spPr bwMode="auto">
            <a:xfrm>
              <a:off x="6146856" y="986354"/>
              <a:ext cx="195427" cy="2250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9" name="Rectangle 5"/>
            <p:cNvSpPr>
              <a:spLocks noChangeArrowheads="1"/>
            </p:cNvSpPr>
            <p:nvPr/>
          </p:nvSpPr>
          <p:spPr bwMode="auto">
            <a:xfrm>
              <a:off x="7427985" y="1507432"/>
              <a:ext cx="195427" cy="2250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0" name="Rectangle 4"/>
            <p:cNvSpPr>
              <a:spLocks noChangeArrowheads="1"/>
            </p:cNvSpPr>
            <p:nvPr/>
          </p:nvSpPr>
          <p:spPr bwMode="auto">
            <a:xfrm>
              <a:off x="7677697" y="2253519"/>
              <a:ext cx="195427" cy="2250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 name="AutoShape 3"/>
            <p:cNvSpPr>
              <a:spLocks noChangeShapeType="1"/>
            </p:cNvSpPr>
            <p:nvPr/>
          </p:nvSpPr>
          <p:spPr bwMode="auto">
            <a:xfrm>
              <a:off x="6968733" y="1039646"/>
              <a:ext cx="1086" cy="519892"/>
            </a:xfrm>
            <a:prstGeom prst="straightConnector1">
              <a:avLst/>
            </a:prstGeom>
            <a:noFill/>
            <a:ln w="57150">
              <a:solidFill>
                <a:srgbClr val="FF0000"/>
              </a:solidFill>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52" name="Rectangle 2"/>
            <p:cNvSpPr>
              <a:spLocks noChangeArrowheads="1"/>
            </p:cNvSpPr>
            <p:nvPr/>
          </p:nvSpPr>
          <p:spPr bwMode="auto">
            <a:xfrm>
              <a:off x="7072330" y="1227945"/>
              <a:ext cx="195427" cy="2250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6</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4" name="Rectangle 18"/>
            <p:cNvSpPr>
              <a:spLocks noChangeArrowheads="1"/>
            </p:cNvSpPr>
            <p:nvPr/>
          </p:nvSpPr>
          <p:spPr bwMode="auto">
            <a:xfrm>
              <a:off x="3719144" y="1486115"/>
              <a:ext cx="194252" cy="2250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5" name="Oval 17"/>
            <p:cNvSpPr>
              <a:spLocks noChangeArrowheads="1"/>
            </p:cNvSpPr>
            <p:nvPr/>
          </p:nvSpPr>
          <p:spPr bwMode="auto">
            <a:xfrm>
              <a:off x="3084589" y="1566645"/>
              <a:ext cx="365840" cy="402651"/>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6" name="Oval 16"/>
            <p:cNvSpPr>
              <a:spLocks noChangeArrowheads="1"/>
            </p:cNvSpPr>
            <p:nvPr/>
          </p:nvSpPr>
          <p:spPr bwMode="auto">
            <a:xfrm>
              <a:off x="3084589" y="642918"/>
              <a:ext cx="365840" cy="403835"/>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7" name="Oval 15"/>
            <p:cNvSpPr>
              <a:spLocks noChangeArrowheads="1"/>
            </p:cNvSpPr>
            <p:nvPr/>
          </p:nvSpPr>
          <p:spPr bwMode="auto">
            <a:xfrm>
              <a:off x="3084589" y="2454845"/>
              <a:ext cx="365840" cy="402651"/>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8" name="AutoShape 14"/>
            <p:cNvSpPr>
              <a:spLocks noChangeShapeType="1"/>
            </p:cNvSpPr>
            <p:nvPr/>
          </p:nvSpPr>
          <p:spPr bwMode="auto">
            <a:xfrm flipV="1">
              <a:off x="2232042" y="845426"/>
              <a:ext cx="842835" cy="780432"/>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59" name="AutoShape 13"/>
            <p:cNvSpPr>
              <a:spLocks noChangeShapeType="1"/>
            </p:cNvSpPr>
            <p:nvPr/>
          </p:nvSpPr>
          <p:spPr bwMode="auto">
            <a:xfrm>
              <a:off x="2295712" y="1724705"/>
              <a:ext cx="788876" cy="1184"/>
            </a:xfrm>
            <a:prstGeom prst="straightConnector1">
              <a:avLst/>
            </a:prstGeom>
            <a:noFill/>
            <a:ln w="57150">
              <a:solidFill>
                <a:srgbClr val="FF0000"/>
              </a:solidFill>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60" name="AutoShape 12"/>
            <p:cNvSpPr>
              <a:spLocks noChangeShapeType="1"/>
            </p:cNvSpPr>
            <p:nvPr/>
          </p:nvSpPr>
          <p:spPr bwMode="auto">
            <a:xfrm>
              <a:off x="3450429" y="1735994"/>
              <a:ext cx="755422" cy="1184"/>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61" name="AutoShape 11"/>
            <p:cNvSpPr>
              <a:spLocks noChangeShapeType="1"/>
            </p:cNvSpPr>
            <p:nvPr/>
          </p:nvSpPr>
          <p:spPr bwMode="auto">
            <a:xfrm flipH="1">
              <a:off x="3450429" y="1910083"/>
              <a:ext cx="809381" cy="746088"/>
            </a:xfrm>
            <a:prstGeom prst="straightConnector1">
              <a:avLst/>
            </a:prstGeom>
            <a:noFill/>
            <a:ln w="19050">
              <a:solidFill>
                <a:srgbClr val="FF00FF"/>
              </a:solidFill>
              <a:prstDash val="dash"/>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62" name="Rectangle 10"/>
            <p:cNvSpPr>
              <a:spLocks noChangeArrowheads="1"/>
            </p:cNvSpPr>
            <p:nvPr/>
          </p:nvSpPr>
          <p:spPr bwMode="auto">
            <a:xfrm>
              <a:off x="2445719" y="986354"/>
              <a:ext cx="194252" cy="2250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3" name="Rectangle 9"/>
            <p:cNvSpPr>
              <a:spLocks noChangeArrowheads="1"/>
            </p:cNvSpPr>
            <p:nvPr/>
          </p:nvSpPr>
          <p:spPr bwMode="auto">
            <a:xfrm>
              <a:off x="2661553" y="1449880"/>
              <a:ext cx="194252" cy="2250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4" name="Rectangle 8"/>
            <p:cNvSpPr>
              <a:spLocks noChangeArrowheads="1"/>
            </p:cNvSpPr>
            <p:nvPr/>
          </p:nvSpPr>
          <p:spPr bwMode="auto">
            <a:xfrm>
              <a:off x="3617702" y="2061669"/>
              <a:ext cx="194252" cy="2250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5" name="AutoShape 7"/>
            <p:cNvSpPr>
              <a:spLocks noChangeShapeType="1"/>
            </p:cNvSpPr>
            <p:nvPr/>
          </p:nvSpPr>
          <p:spPr bwMode="auto">
            <a:xfrm flipV="1">
              <a:off x="2257941" y="927142"/>
              <a:ext cx="842835" cy="780432"/>
            </a:xfrm>
            <a:prstGeom prst="straightConnector1">
              <a:avLst/>
            </a:prstGeom>
            <a:noFill/>
            <a:ln w="57150">
              <a:solidFill>
                <a:srgbClr val="FF0000"/>
              </a:solidFill>
              <a:prstDash val="sysDash"/>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66" name="AutoShape 6"/>
            <p:cNvSpPr>
              <a:spLocks noChangeShapeType="1"/>
            </p:cNvSpPr>
            <p:nvPr/>
          </p:nvSpPr>
          <p:spPr bwMode="auto">
            <a:xfrm>
              <a:off x="2292475" y="1807051"/>
              <a:ext cx="788876" cy="1184"/>
            </a:xfrm>
            <a:prstGeom prst="straightConnector1">
              <a:avLst/>
            </a:prstGeom>
            <a:noFill/>
            <a:ln w="19050">
              <a:solidFill>
                <a:srgbClr val="FF00FF"/>
              </a:solidFill>
              <a:prstDash val="dash"/>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67" name="AutoShape 5"/>
            <p:cNvSpPr>
              <a:spLocks noChangeShapeType="1"/>
            </p:cNvSpPr>
            <p:nvPr/>
          </p:nvSpPr>
          <p:spPr bwMode="auto">
            <a:xfrm>
              <a:off x="3456904" y="1807051"/>
              <a:ext cx="755422" cy="1184"/>
            </a:xfrm>
            <a:prstGeom prst="straightConnector1">
              <a:avLst/>
            </a:prstGeom>
            <a:noFill/>
            <a:ln w="19050">
              <a:solidFill>
                <a:srgbClr val="FF00FF"/>
              </a:solidFill>
              <a:prstDash val="dash"/>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68" name="AutoShape 4"/>
            <p:cNvSpPr>
              <a:spLocks noChangeShapeType="1"/>
            </p:cNvSpPr>
            <p:nvPr/>
          </p:nvSpPr>
          <p:spPr bwMode="auto">
            <a:xfrm flipH="1">
              <a:off x="3437479" y="1822447"/>
              <a:ext cx="809381" cy="746088"/>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69" name="Oval 3"/>
            <p:cNvSpPr>
              <a:spLocks noChangeArrowheads="1"/>
            </p:cNvSpPr>
            <p:nvPr/>
          </p:nvSpPr>
          <p:spPr bwMode="auto">
            <a:xfrm>
              <a:off x="4205851" y="1566645"/>
              <a:ext cx="366920" cy="402651"/>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0" name="Oval 2"/>
            <p:cNvSpPr>
              <a:spLocks noChangeArrowheads="1"/>
            </p:cNvSpPr>
            <p:nvPr/>
          </p:nvSpPr>
          <p:spPr bwMode="auto">
            <a:xfrm>
              <a:off x="1928794" y="1566645"/>
              <a:ext cx="366920" cy="402651"/>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1" name="右箭头 70"/>
            <p:cNvSpPr/>
            <p:nvPr/>
          </p:nvSpPr>
          <p:spPr>
            <a:xfrm>
              <a:off x="4857752" y="1571612"/>
              <a:ext cx="500066" cy="357190"/>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79" name="AutoShape 11"/>
            <p:cNvSpPr>
              <a:spLocks noChangeShapeType="1"/>
            </p:cNvSpPr>
            <p:nvPr/>
          </p:nvSpPr>
          <p:spPr bwMode="auto">
            <a:xfrm flipH="1">
              <a:off x="7105212" y="1878220"/>
              <a:ext cx="809381" cy="746088"/>
            </a:xfrm>
            <a:prstGeom prst="straightConnector1">
              <a:avLst/>
            </a:prstGeom>
            <a:noFill/>
            <a:ln w="19050">
              <a:solidFill>
                <a:srgbClr val="FF00FF"/>
              </a:solidFill>
              <a:prstDash val="dash"/>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80" name="AutoShape 6"/>
            <p:cNvSpPr>
              <a:spLocks noChangeShapeType="1"/>
            </p:cNvSpPr>
            <p:nvPr/>
          </p:nvSpPr>
          <p:spPr bwMode="auto">
            <a:xfrm>
              <a:off x="6014992" y="1809055"/>
              <a:ext cx="788876" cy="1184"/>
            </a:xfrm>
            <a:prstGeom prst="straightConnector1">
              <a:avLst/>
            </a:prstGeom>
            <a:noFill/>
            <a:ln w="19050">
              <a:solidFill>
                <a:srgbClr val="FF00FF"/>
              </a:solidFill>
              <a:prstDash val="dash"/>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81" name="AutoShape 5"/>
            <p:cNvSpPr>
              <a:spLocks noChangeShapeType="1"/>
            </p:cNvSpPr>
            <p:nvPr/>
          </p:nvSpPr>
          <p:spPr bwMode="auto">
            <a:xfrm>
              <a:off x="7145554" y="1842922"/>
              <a:ext cx="755422" cy="1184"/>
            </a:xfrm>
            <a:prstGeom prst="straightConnector1">
              <a:avLst/>
            </a:prstGeom>
            <a:noFill/>
            <a:ln w="19050">
              <a:solidFill>
                <a:srgbClr val="FF00FF"/>
              </a:solidFill>
              <a:prstDash val="dash"/>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grpSp>
      <p:sp>
        <p:nvSpPr>
          <p:cNvPr id="82" name="TextBox 81"/>
          <p:cNvSpPr txBox="1"/>
          <p:nvPr/>
        </p:nvSpPr>
        <p:spPr>
          <a:xfrm>
            <a:off x="428596" y="3212427"/>
            <a:ext cx="3000396" cy="430887"/>
          </a:xfrm>
          <a:prstGeom prst="rect">
            <a:avLst/>
          </a:prstGeom>
          <a:noFill/>
        </p:spPr>
        <p:txBody>
          <a:bodyPr wrap="square" rtlCol="0">
            <a:spAutoFit/>
          </a:bodyPr>
          <a:lstStyle/>
          <a:p>
            <a:pPr algn="l">
              <a:lnSpc>
                <a:spcPct val="100000"/>
              </a:lnSpc>
              <a:spcBef>
                <a:spcPts val="0"/>
              </a:spcBef>
            </a:pPr>
            <a:r>
              <a:rPr lang="zh-CN" altLang="en-US"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2</a:t>
            </a:r>
            <a:r>
              <a:rPr lang="zh-CN" altLang="en-US"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表</a:t>
            </a:r>
            <a:r>
              <a:rPr lang="en-US" altLang="zh-CN" sz="2200">
                <a:solidFill>
                  <a:srgbClr val="0000FF"/>
                </a:solidFill>
                <a:latin typeface="Consolas" pitchFamily="49" charset="0"/>
                <a:ea typeface="仿宋" pitchFamily="49" charset="-122"/>
              </a:rPr>
              <a:t>path</a:t>
            </a:r>
            <a:r>
              <a:rPr lang="zh-CN" altLang="zh-CN" sz="2200">
                <a:solidFill>
                  <a:srgbClr val="0000FF"/>
                </a:solidFill>
                <a:latin typeface="Consolas" pitchFamily="49" charset="0"/>
                <a:ea typeface="仿宋" pitchFamily="49" charset="-122"/>
              </a:rPr>
              <a:t>的末尾</a:t>
            </a:r>
            <a:r>
              <a:rPr lang="en-US" altLang="zh-CN" sz="2200">
                <a:solidFill>
                  <a:srgbClr val="0000FF"/>
                </a:solidFill>
                <a:latin typeface="Consolas" pitchFamily="49" charset="0"/>
                <a:ea typeface="仿宋" pitchFamily="49" charset="-122"/>
              </a:rPr>
              <a:t>0</a:t>
            </a:r>
            <a:endParaRPr lang="zh-CN" altLang="en-US" sz="2200">
              <a:solidFill>
                <a:srgbClr val="0000FF"/>
              </a:solidFill>
              <a:latin typeface="Consolas" pitchFamily="49" charset="0"/>
              <a:ea typeface="楷体" pitchFamily="49" charset="-122"/>
              <a:cs typeface="Consolas" pitchFamily="49" charset="0"/>
            </a:endParaRPr>
          </a:p>
        </p:txBody>
      </p:sp>
      <p:grpSp>
        <p:nvGrpSpPr>
          <p:cNvPr id="120" name="组合 119"/>
          <p:cNvGrpSpPr/>
          <p:nvPr/>
        </p:nvGrpSpPr>
        <p:grpSpPr>
          <a:xfrm>
            <a:off x="1857356" y="3857628"/>
            <a:ext cx="6589062" cy="2214578"/>
            <a:chOff x="1857356" y="3857628"/>
            <a:chExt cx="6589062" cy="2214578"/>
          </a:xfrm>
        </p:grpSpPr>
        <p:sp>
          <p:nvSpPr>
            <p:cNvPr id="37" name="右箭头 36"/>
            <p:cNvSpPr/>
            <p:nvPr/>
          </p:nvSpPr>
          <p:spPr>
            <a:xfrm>
              <a:off x="4857752" y="4786322"/>
              <a:ext cx="470062" cy="326386"/>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83" name="Oval 14"/>
            <p:cNvSpPr>
              <a:spLocks noChangeArrowheads="1"/>
            </p:cNvSpPr>
            <p:nvPr/>
          </p:nvSpPr>
          <p:spPr bwMode="auto">
            <a:xfrm>
              <a:off x="1857356" y="4781355"/>
              <a:ext cx="369138" cy="402651"/>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84" name="Oval 13"/>
            <p:cNvSpPr>
              <a:spLocks noChangeArrowheads="1"/>
            </p:cNvSpPr>
            <p:nvPr/>
          </p:nvSpPr>
          <p:spPr bwMode="auto">
            <a:xfrm>
              <a:off x="3020144" y="4781355"/>
              <a:ext cx="368054" cy="402651"/>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85" name="Oval 12"/>
            <p:cNvSpPr>
              <a:spLocks noChangeArrowheads="1"/>
            </p:cNvSpPr>
            <p:nvPr/>
          </p:nvSpPr>
          <p:spPr bwMode="auto">
            <a:xfrm>
              <a:off x="4148190" y="4781355"/>
              <a:ext cx="369138" cy="402651"/>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86" name="Oval 11"/>
            <p:cNvSpPr>
              <a:spLocks noChangeArrowheads="1"/>
            </p:cNvSpPr>
            <p:nvPr/>
          </p:nvSpPr>
          <p:spPr bwMode="auto">
            <a:xfrm>
              <a:off x="3020144" y="3857628"/>
              <a:ext cx="368054" cy="403835"/>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87" name="Oval 10"/>
            <p:cNvSpPr>
              <a:spLocks noChangeArrowheads="1"/>
            </p:cNvSpPr>
            <p:nvPr/>
          </p:nvSpPr>
          <p:spPr bwMode="auto">
            <a:xfrm>
              <a:off x="3020144" y="5669555"/>
              <a:ext cx="368054" cy="402651"/>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88" name="AutoShape 9"/>
            <p:cNvSpPr>
              <a:spLocks noChangeShapeType="1"/>
            </p:cNvSpPr>
            <p:nvPr/>
          </p:nvSpPr>
          <p:spPr bwMode="auto">
            <a:xfrm flipV="1">
              <a:off x="2172211" y="4060136"/>
              <a:ext cx="847934" cy="780432"/>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89" name="AutoShape 8"/>
            <p:cNvSpPr>
              <a:spLocks noChangeShapeType="1"/>
            </p:cNvSpPr>
            <p:nvPr/>
          </p:nvSpPr>
          <p:spPr bwMode="auto">
            <a:xfrm>
              <a:off x="3388198" y="4982680"/>
              <a:ext cx="759993" cy="1184"/>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90" name="AutoShape 7"/>
            <p:cNvSpPr>
              <a:spLocks noChangeShapeType="1"/>
            </p:cNvSpPr>
            <p:nvPr/>
          </p:nvSpPr>
          <p:spPr bwMode="auto">
            <a:xfrm flipH="1">
              <a:off x="3388198" y="5124793"/>
              <a:ext cx="814277" cy="746088"/>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91" name="Rectangle 6"/>
            <p:cNvSpPr>
              <a:spLocks noChangeArrowheads="1"/>
            </p:cNvSpPr>
            <p:nvPr/>
          </p:nvSpPr>
          <p:spPr bwMode="auto">
            <a:xfrm>
              <a:off x="2377408" y="4201064"/>
              <a:ext cx="195427" cy="2250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2" name="Rectangle 5"/>
            <p:cNvSpPr>
              <a:spLocks noChangeArrowheads="1"/>
            </p:cNvSpPr>
            <p:nvPr/>
          </p:nvSpPr>
          <p:spPr bwMode="auto">
            <a:xfrm>
              <a:off x="3658537" y="4722142"/>
              <a:ext cx="195427" cy="2250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3" name="Rectangle 4"/>
            <p:cNvSpPr>
              <a:spLocks noChangeArrowheads="1"/>
            </p:cNvSpPr>
            <p:nvPr/>
          </p:nvSpPr>
          <p:spPr bwMode="auto">
            <a:xfrm>
              <a:off x="3908249" y="5468229"/>
              <a:ext cx="195427" cy="2250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4" name="AutoShape 3"/>
            <p:cNvSpPr>
              <a:spLocks noChangeShapeType="1"/>
            </p:cNvSpPr>
            <p:nvPr/>
          </p:nvSpPr>
          <p:spPr bwMode="auto">
            <a:xfrm>
              <a:off x="3199285" y="4254356"/>
              <a:ext cx="1086" cy="519892"/>
            </a:xfrm>
            <a:prstGeom prst="straightConnector1">
              <a:avLst/>
            </a:prstGeom>
            <a:noFill/>
            <a:ln w="19050">
              <a:solidFill>
                <a:schemeClr val="tx1"/>
              </a:solidFill>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95" name="Rectangle 2"/>
            <p:cNvSpPr>
              <a:spLocks noChangeArrowheads="1"/>
            </p:cNvSpPr>
            <p:nvPr/>
          </p:nvSpPr>
          <p:spPr bwMode="auto">
            <a:xfrm>
              <a:off x="3302882" y="4442655"/>
              <a:ext cx="195427" cy="2250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6</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6" name="AutoShape 11"/>
            <p:cNvSpPr>
              <a:spLocks noChangeShapeType="1"/>
            </p:cNvSpPr>
            <p:nvPr/>
          </p:nvSpPr>
          <p:spPr bwMode="auto">
            <a:xfrm flipH="1">
              <a:off x="3324475" y="5081641"/>
              <a:ext cx="809381" cy="746088"/>
            </a:xfrm>
            <a:prstGeom prst="straightConnector1">
              <a:avLst/>
            </a:prstGeom>
            <a:noFill/>
            <a:ln w="57150">
              <a:solidFill>
                <a:srgbClr val="FF0000"/>
              </a:solidFill>
              <a:prstDash val="sysDash"/>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97" name="AutoShape 6"/>
            <p:cNvSpPr>
              <a:spLocks noChangeShapeType="1"/>
            </p:cNvSpPr>
            <p:nvPr/>
          </p:nvSpPr>
          <p:spPr bwMode="auto">
            <a:xfrm>
              <a:off x="2245544" y="5023765"/>
              <a:ext cx="788876" cy="1184"/>
            </a:xfrm>
            <a:prstGeom prst="straightConnector1">
              <a:avLst/>
            </a:prstGeom>
            <a:noFill/>
            <a:ln w="57150">
              <a:solidFill>
                <a:srgbClr val="FF0000"/>
              </a:solidFill>
              <a:prstDash val="sysDash"/>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98" name="AutoShape 5"/>
            <p:cNvSpPr>
              <a:spLocks noChangeShapeType="1"/>
            </p:cNvSpPr>
            <p:nvPr/>
          </p:nvSpPr>
          <p:spPr bwMode="auto">
            <a:xfrm>
              <a:off x="3376106" y="5057632"/>
              <a:ext cx="755422" cy="1184"/>
            </a:xfrm>
            <a:prstGeom prst="straightConnector1">
              <a:avLst/>
            </a:prstGeom>
            <a:noFill/>
            <a:ln w="57150">
              <a:solidFill>
                <a:srgbClr val="FF0000"/>
              </a:solidFill>
              <a:prstDash val="sysDash"/>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101" name="Oval 14"/>
            <p:cNvSpPr>
              <a:spLocks noChangeArrowheads="1"/>
            </p:cNvSpPr>
            <p:nvPr/>
          </p:nvSpPr>
          <p:spPr bwMode="auto">
            <a:xfrm>
              <a:off x="5786446" y="4781355"/>
              <a:ext cx="369138" cy="402651"/>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02" name="Oval 13"/>
            <p:cNvSpPr>
              <a:spLocks noChangeArrowheads="1"/>
            </p:cNvSpPr>
            <p:nvPr/>
          </p:nvSpPr>
          <p:spPr bwMode="auto">
            <a:xfrm>
              <a:off x="6949234" y="4781355"/>
              <a:ext cx="368054" cy="402651"/>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03" name="Oval 12"/>
            <p:cNvSpPr>
              <a:spLocks noChangeArrowheads="1"/>
            </p:cNvSpPr>
            <p:nvPr/>
          </p:nvSpPr>
          <p:spPr bwMode="auto">
            <a:xfrm>
              <a:off x="8077280" y="4781355"/>
              <a:ext cx="369138" cy="402651"/>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04" name="Oval 11"/>
            <p:cNvSpPr>
              <a:spLocks noChangeArrowheads="1"/>
            </p:cNvSpPr>
            <p:nvPr/>
          </p:nvSpPr>
          <p:spPr bwMode="auto">
            <a:xfrm>
              <a:off x="6949234" y="3857628"/>
              <a:ext cx="368054" cy="403835"/>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05" name="Oval 10"/>
            <p:cNvSpPr>
              <a:spLocks noChangeArrowheads="1"/>
            </p:cNvSpPr>
            <p:nvPr/>
          </p:nvSpPr>
          <p:spPr bwMode="auto">
            <a:xfrm>
              <a:off x="6949234" y="5669555"/>
              <a:ext cx="368054" cy="402651"/>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06" name="AutoShape 9"/>
            <p:cNvSpPr>
              <a:spLocks noChangeShapeType="1"/>
            </p:cNvSpPr>
            <p:nvPr/>
          </p:nvSpPr>
          <p:spPr bwMode="auto">
            <a:xfrm flipV="1">
              <a:off x="6101301" y="4060136"/>
              <a:ext cx="847934" cy="780432"/>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107" name="AutoShape 8"/>
            <p:cNvSpPr>
              <a:spLocks noChangeShapeType="1"/>
            </p:cNvSpPr>
            <p:nvPr/>
          </p:nvSpPr>
          <p:spPr bwMode="auto">
            <a:xfrm>
              <a:off x="7317288" y="4982680"/>
              <a:ext cx="759993" cy="1184"/>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108" name="AutoShape 7"/>
            <p:cNvSpPr>
              <a:spLocks noChangeShapeType="1"/>
            </p:cNvSpPr>
            <p:nvPr/>
          </p:nvSpPr>
          <p:spPr bwMode="auto">
            <a:xfrm flipH="1">
              <a:off x="7317288" y="5124793"/>
              <a:ext cx="814277" cy="746088"/>
            </a:xfrm>
            <a:prstGeom prst="straightConnector1">
              <a:avLst/>
            </a:pr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109" name="Rectangle 6"/>
            <p:cNvSpPr>
              <a:spLocks noChangeArrowheads="1"/>
            </p:cNvSpPr>
            <p:nvPr/>
          </p:nvSpPr>
          <p:spPr bwMode="auto">
            <a:xfrm>
              <a:off x="6306498" y="4201064"/>
              <a:ext cx="195427" cy="2250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10" name="Rectangle 5"/>
            <p:cNvSpPr>
              <a:spLocks noChangeArrowheads="1"/>
            </p:cNvSpPr>
            <p:nvPr/>
          </p:nvSpPr>
          <p:spPr bwMode="auto">
            <a:xfrm>
              <a:off x="7587627" y="4722142"/>
              <a:ext cx="195427" cy="2250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11" name="Rectangle 4"/>
            <p:cNvSpPr>
              <a:spLocks noChangeArrowheads="1"/>
            </p:cNvSpPr>
            <p:nvPr/>
          </p:nvSpPr>
          <p:spPr bwMode="auto">
            <a:xfrm>
              <a:off x="7837339" y="5468229"/>
              <a:ext cx="195427" cy="2250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12" name="AutoShape 3"/>
            <p:cNvSpPr>
              <a:spLocks noChangeShapeType="1"/>
            </p:cNvSpPr>
            <p:nvPr/>
          </p:nvSpPr>
          <p:spPr bwMode="auto">
            <a:xfrm>
              <a:off x="7128375" y="4254356"/>
              <a:ext cx="1086" cy="519892"/>
            </a:xfrm>
            <a:prstGeom prst="straightConnector1">
              <a:avLst/>
            </a:prstGeom>
            <a:noFill/>
            <a:ln w="19050">
              <a:solidFill>
                <a:schemeClr val="tx1"/>
              </a:solidFill>
              <a:round/>
              <a:headEnd/>
              <a:tailEnd/>
            </a:ln>
          </p:spPr>
          <p:txBody>
            <a:bodyPr vert="horz" wrap="square" lIns="91440" tIns="45720" rIns="91440" bIns="45720" numCol="1" anchor="t" anchorCtr="0" compatLnSpc="1">
              <a:prstTxWarp prst="textNoShape">
                <a:avLst/>
              </a:prstTxWarp>
            </a:bodyPr>
            <a:lstStyle/>
            <a:p>
              <a:pPr>
                <a:lnSpc>
                  <a:spcPts val="2160"/>
                </a:lnSpc>
              </a:pPr>
              <a:endParaRPr lang="zh-CN" altLang="en-US" sz="1800">
                <a:solidFill>
                  <a:srgbClr val="0000FF"/>
                </a:solidFill>
                <a:latin typeface="Consolas" pitchFamily="49" charset="0"/>
              </a:endParaRPr>
            </a:p>
          </p:txBody>
        </p:sp>
        <p:sp>
          <p:nvSpPr>
            <p:cNvPr id="113" name="Rectangle 2"/>
            <p:cNvSpPr>
              <a:spLocks noChangeArrowheads="1"/>
            </p:cNvSpPr>
            <p:nvPr/>
          </p:nvSpPr>
          <p:spPr bwMode="auto">
            <a:xfrm>
              <a:off x="7231972" y="4442655"/>
              <a:ext cx="195427" cy="2250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16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6</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cxnSp>
          <p:nvCxnSpPr>
            <p:cNvPr id="118" name="直接连接符 117"/>
            <p:cNvCxnSpPr>
              <a:stCxn id="101" idx="5"/>
              <a:endCxn id="105" idx="1"/>
            </p:cNvCxnSpPr>
            <p:nvPr/>
          </p:nvCxnSpPr>
          <p:spPr>
            <a:xfrm rot="16200000" flipH="1">
              <a:off x="6250588" y="4975975"/>
              <a:ext cx="603483" cy="901609"/>
            </a:xfrm>
            <a:prstGeom prst="line">
              <a:avLst/>
            </a:prstGeom>
            <a:ln w="57150">
              <a:solidFill>
                <a:srgbClr val="FF0000"/>
              </a:solidFill>
              <a:tailEnd type="none"/>
            </a:ln>
          </p:spPr>
          <p:style>
            <a:lnRef idx="2">
              <a:schemeClr val="dk1"/>
            </a:lnRef>
            <a:fillRef idx="0">
              <a:schemeClr val="dk1"/>
            </a:fillRef>
            <a:effectRef idx="1">
              <a:schemeClr val="dk1"/>
            </a:effectRef>
            <a:fontRef idx="minor">
              <a:schemeClr val="tx1"/>
            </a:fontRef>
          </p:style>
        </p:cxnSp>
      </p:grpSp>
      <p:sp>
        <p:nvSpPr>
          <p:cNvPr id="74" name="灯片编号占位符 73"/>
          <p:cNvSpPr>
            <a:spLocks noGrp="1"/>
          </p:cNvSpPr>
          <p:nvPr>
            <p:ph type="sldNum" sz="quarter" idx="12"/>
          </p:nvPr>
        </p:nvSpPr>
        <p:spPr/>
        <p:txBody>
          <a:bodyPr/>
          <a:lstStyle/>
          <a:p>
            <a:fld id="{7AF016A1-9F15-429F-9EFD-84004B73C732}" type="slidenum">
              <a:rPr lang="en-US" altLang="zh-CN" smtClean="0"/>
              <a:pPr/>
              <a:t>74</a:t>
            </a:fld>
            <a:r>
              <a:rPr lang="en-US" altLang="zh-CN"/>
              <a:t>/75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59"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TextBox 4"/>
          <p:cNvSpPr txBox="1"/>
          <p:nvPr/>
        </p:nvSpPr>
        <p:spPr>
          <a:xfrm>
            <a:off x="571472" y="1857364"/>
            <a:ext cx="8072494" cy="996427"/>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700"/>
              </a:lnSpc>
              <a:spcBef>
                <a:spcPts val="1200"/>
              </a:spcBef>
              <a:buBlip>
                <a:blip r:embed="rId2"/>
              </a:buBlip>
            </a:pPr>
            <a:r>
              <a:rPr lang="zh-CN" altLang="zh-CN">
                <a:solidFill>
                  <a:srgbClr val="0000FF"/>
                </a:solidFill>
                <a:latin typeface="Consolas" pitchFamily="49" charset="0"/>
                <a:ea typeface="仿宋" pitchFamily="49" charset="-122"/>
              </a:rPr>
              <a:t>这样有</a:t>
            </a:r>
            <a:r>
              <a:rPr lang="en-US" altLang="zh-CN">
                <a:solidFill>
                  <a:srgbClr val="0000FF"/>
                </a:solidFill>
                <a:latin typeface="Consolas" pitchFamily="49" charset="0"/>
                <a:ea typeface="仿宋" pitchFamily="49" charset="-122"/>
              </a:rPr>
              <a:t>L</a:t>
            </a:r>
            <a:r>
              <a:rPr lang="zh-CN" altLang="zh-CN">
                <a:solidFill>
                  <a:srgbClr val="0000FF"/>
                </a:solidFill>
                <a:latin typeface="+mn-ea"/>
              </a:rPr>
              <a:t>≤</a:t>
            </a:r>
            <a:r>
              <a:rPr lang="en-US" altLang="zh-CN">
                <a:solidFill>
                  <a:srgbClr val="0000FF"/>
                </a:solidFill>
                <a:latin typeface="Consolas" pitchFamily="49" charset="0"/>
                <a:ea typeface="仿宋" pitchFamily="49" charset="-122"/>
              </a:rPr>
              <a:t>2MSTL</a:t>
            </a:r>
            <a:r>
              <a:rPr lang="zh-CN" altLang="zh-CN">
                <a:solidFill>
                  <a:srgbClr val="0000FF"/>
                </a:solidFill>
                <a:latin typeface="+mn-ea"/>
              </a:rPr>
              <a:t>≤</a:t>
            </a:r>
            <a:r>
              <a:rPr lang="en-US" altLang="zh-CN">
                <a:solidFill>
                  <a:srgbClr val="0000FF"/>
                </a:solidFill>
                <a:latin typeface="Consolas" pitchFamily="49" charset="0"/>
                <a:ea typeface="仿宋" pitchFamily="49" charset="-122"/>
              </a:rPr>
              <a:t>2L*</a:t>
            </a:r>
            <a:r>
              <a:rPr lang="zh-CN" altLang="zh-CN">
                <a:solidFill>
                  <a:srgbClr val="0000FF"/>
                </a:solidFill>
                <a:latin typeface="Consolas" pitchFamily="49" charset="0"/>
                <a:ea typeface="仿宋" pitchFamily="49" charset="-122"/>
              </a:rPr>
              <a:t>，即</a:t>
            </a:r>
            <a:r>
              <a:rPr lang="en-US" altLang="zh-CN">
                <a:solidFill>
                  <a:srgbClr val="0000FF"/>
                </a:solidFill>
                <a:latin typeface="Consolas" pitchFamily="49" charset="0"/>
                <a:ea typeface="仿宋" pitchFamily="49" charset="-122"/>
              </a:rPr>
              <a:t>L/L*</a:t>
            </a:r>
            <a:r>
              <a:rPr lang="zh-CN" altLang="zh-CN">
                <a:solidFill>
                  <a:srgbClr val="0000FF"/>
                </a:solidFill>
                <a:latin typeface="+mn-ea"/>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，即上述近似算法的</a:t>
            </a:r>
            <a:r>
              <a:rPr lang="zh-CN" altLang="zh-CN">
                <a:solidFill>
                  <a:srgbClr val="FF0000"/>
                </a:solidFill>
                <a:latin typeface="Consolas" pitchFamily="49" charset="0"/>
                <a:ea typeface="仿宋" pitchFamily="49" charset="-122"/>
              </a:rPr>
              <a:t>近似性能比为</a:t>
            </a:r>
            <a:r>
              <a:rPr lang="en-US" altLang="zh-CN">
                <a:solidFill>
                  <a:srgbClr val="FF0000"/>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75</a:t>
            </a:fld>
            <a:r>
              <a:rPr lang="en-US" altLang="zh-CN"/>
              <a:t>/75</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44686B80-A7FC-6EB7-2E14-A80C218BD9CD}"/>
              </a:ext>
            </a:extLst>
          </p:cNvPr>
          <p:cNvSpPr>
            <a:spLocks noGrp="1"/>
          </p:cNvSpPr>
          <p:nvPr>
            <p:ph type="sldNum" sz="quarter" idx="12"/>
          </p:nvPr>
        </p:nvSpPr>
        <p:spPr/>
        <p:txBody>
          <a:bodyPr/>
          <a:lstStyle/>
          <a:p>
            <a:fld id="{7AF016A1-9F15-429F-9EFD-84004B73C732}" type="slidenum">
              <a:rPr lang="en-US" altLang="zh-CN" smtClean="0"/>
              <a:pPr/>
              <a:t>76</a:t>
            </a:fld>
            <a:r>
              <a:rPr lang="en-US" altLang="zh-CN"/>
              <a:t>/75</a:t>
            </a:r>
          </a:p>
        </p:txBody>
      </p:sp>
      <p:pic>
        <p:nvPicPr>
          <p:cNvPr id="1026" name="Picture 2">
            <a:extLst>
              <a:ext uri="{FF2B5EF4-FFF2-40B4-BE49-F238E27FC236}">
                <a16:creationId xmlns:a16="http://schemas.microsoft.com/office/drawing/2014/main" id="{2E652265-5B48-7C25-DCE7-4576AE307D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0" y="2286000"/>
            <a:ext cx="2286000" cy="2286000"/>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5F81ADDF-7583-DB23-376B-8C2023CE850A}"/>
              </a:ext>
            </a:extLst>
          </p:cNvPr>
          <p:cNvSpPr txBox="1"/>
          <p:nvPr/>
        </p:nvSpPr>
        <p:spPr>
          <a:xfrm>
            <a:off x="4067944" y="4797152"/>
            <a:ext cx="649537" cy="369332"/>
          </a:xfrm>
          <a:prstGeom prst="rect">
            <a:avLst/>
          </a:prstGeom>
          <a:noFill/>
        </p:spPr>
        <p:txBody>
          <a:bodyPr wrap="none" rtlCol="0">
            <a:spAutoFit/>
          </a:bodyPr>
          <a:lstStyle/>
          <a:p>
            <a:pPr algn="l">
              <a:lnSpc>
                <a:spcPct val="100000"/>
              </a:lnSpc>
              <a:spcBef>
                <a:spcPts val="0"/>
              </a:spcBef>
            </a:pPr>
            <a:r>
              <a:rPr lang="zh-CN" altLang="en-US" sz="1800">
                <a:solidFill>
                  <a:srgbClr val="0000FF"/>
                </a:solidFill>
                <a:latin typeface="Consolas" pitchFamily="49" charset="0"/>
                <a:ea typeface="楷体" pitchFamily="49" charset="-122"/>
                <a:cs typeface="Consolas" pitchFamily="49" charset="0"/>
              </a:rPr>
              <a:t>思政</a:t>
            </a:r>
          </a:p>
        </p:txBody>
      </p:sp>
    </p:spTree>
    <p:extLst>
      <p:ext uri="{BB962C8B-B14F-4D97-AF65-F5344CB8AC3E}">
        <p14:creationId xmlns:p14="http://schemas.microsoft.com/office/powerpoint/2010/main" val="425840104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19050">
          <a:tailEnd type="none"/>
        </a:ln>
      </a:spPr>
      <a:bodyPr rtlCol="0" anchor="ctr"/>
      <a:lstStyle>
        <a:defPPr algn="ctr">
          <a:defRPr/>
        </a:defPPr>
      </a:lstStyle>
      <a:style>
        <a:lnRef idx="2">
          <a:schemeClr val="dk1"/>
        </a:lnRef>
        <a:fillRef idx="0">
          <a:schemeClr val="dk1"/>
        </a:fillRef>
        <a:effectRef idx="1">
          <a:schemeClr val="dk1"/>
        </a:effectRef>
        <a:fontRef idx="minor">
          <a:schemeClr val="tx1"/>
        </a:fontRef>
      </a:style>
    </a:spDef>
    <a:lnDef>
      <a:spPr>
        <a:ln w="19050">
          <a:tailEnd type="arrow"/>
        </a:ln>
      </a:spPr>
      <a:bodyPr/>
      <a:lstStyle/>
      <a:style>
        <a:lnRef idx="2">
          <a:schemeClr val="dk1"/>
        </a:lnRef>
        <a:fillRef idx="0">
          <a:schemeClr val="dk1"/>
        </a:fillRef>
        <a:effectRef idx="1">
          <a:schemeClr val="dk1"/>
        </a:effectRef>
        <a:fontRef idx="minor">
          <a:schemeClr val="tx1"/>
        </a:fontRef>
      </a:style>
    </a:lnDef>
    <a:txDef>
      <a:spPr>
        <a:noFill/>
      </a:spPr>
      <a:bodyPr wrap="square" rtlCol="0">
        <a:spAutoFit/>
      </a:bodyPr>
      <a:lstStyle>
        <a:defPPr algn="l">
          <a:lnSpc>
            <a:spcPct val="100000"/>
          </a:lnSpc>
          <a:spcBef>
            <a:spcPts val="0"/>
          </a:spcBef>
          <a:defRPr sz="1800" smtClean="0">
            <a:solidFill>
              <a:srgbClr val="0000FF"/>
            </a:solidFill>
            <a:latin typeface="Consolas" pitchFamily="49" charset="0"/>
            <a:ea typeface="楷体" pitchFamily="49" charset="-122"/>
            <a:cs typeface="Consolas" pitchFamily="49" charset="0"/>
          </a:defRPr>
        </a:defPPr>
      </a:lstStyle>
    </a:txDef>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4678</TotalTime>
  <Words>6852</Words>
  <Application>Microsoft Office PowerPoint</Application>
  <PresentationFormat>全屏显示(4:3)</PresentationFormat>
  <Paragraphs>765</Paragraphs>
  <Slides>76</Slides>
  <Notes>2</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76</vt:i4>
      </vt:variant>
    </vt:vector>
  </HeadingPairs>
  <TitlesOfParts>
    <vt:vector size="88" baseType="lpstr">
      <vt:lpstr>仿宋</vt:lpstr>
      <vt:lpstr>华文中宋</vt:lpstr>
      <vt:lpstr>楷体</vt:lpstr>
      <vt:lpstr>宋体</vt:lpstr>
      <vt:lpstr>微软雅黑</vt:lpstr>
      <vt:lpstr>Arial</vt:lpstr>
      <vt:lpstr>Calibri</vt:lpstr>
      <vt:lpstr>Consolas</vt:lpstr>
      <vt:lpstr>Eras Bold ITC</vt:lpstr>
      <vt:lpstr>Forte</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lcb; wbh</dc:creator>
  <cp:lastModifiedBy>jj wei</cp:lastModifiedBy>
  <cp:revision>1861</cp:revision>
  <dcterms:created xsi:type="dcterms:W3CDTF">2004-03-31T23:50:14Z</dcterms:created>
  <dcterms:modified xsi:type="dcterms:W3CDTF">2024-01-28T08:47:13Z</dcterms:modified>
</cp:coreProperties>
</file>