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129"/>
  </p:notesMasterIdLst>
  <p:handoutMasterIdLst>
    <p:handoutMasterId r:id="rId130"/>
  </p:handoutMasterIdLst>
  <p:sldIdLst>
    <p:sldId id="522" r:id="rId2"/>
    <p:sldId id="365" r:id="rId3"/>
    <p:sldId id="533" r:id="rId4"/>
    <p:sldId id="523" r:id="rId5"/>
    <p:sldId id="525" r:id="rId6"/>
    <p:sldId id="534" r:id="rId7"/>
    <p:sldId id="535" r:id="rId8"/>
    <p:sldId id="536" r:id="rId9"/>
    <p:sldId id="537" r:id="rId10"/>
    <p:sldId id="538" r:id="rId11"/>
    <p:sldId id="539" r:id="rId12"/>
    <p:sldId id="532" r:id="rId13"/>
    <p:sldId id="531" r:id="rId14"/>
    <p:sldId id="540" r:id="rId15"/>
    <p:sldId id="544" r:id="rId16"/>
    <p:sldId id="541" r:id="rId17"/>
    <p:sldId id="542" r:id="rId18"/>
    <p:sldId id="545" r:id="rId19"/>
    <p:sldId id="543" r:id="rId20"/>
    <p:sldId id="546" r:id="rId21"/>
    <p:sldId id="524" r:id="rId22"/>
    <p:sldId id="548" r:id="rId23"/>
    <p:sldId id="549" r:id="rId24"/>
    <p:sldId id="550" r:id="rId25"/>
    <p:sldId id="551" r:id="rId26"/>
    <p:sldId id="552" r:id="rId27"/>
    <p:sldId id="553" r:id="rId28"/>
    <p:sldId id="554" r:id="rId29"/>
    <p:sldId id="555" r:id="rId30"/>
    <p:sldId id="556" r:id="rId31"/>
    <p:sldId id="557" r:id="rId32"/>
    <p:sldId id="558" r:id="rId33"/>
    <p:sldId id="559" r:id="rId34"/>
    <p:sldId id="560" r:id="rId35"/>
    <p:sldId id="561" r:id="rId36"/>
    <p:sldId id="562" r:id="rId37"/>
    <p:sldId id="526" r:id="rId38"/>
    <p:sldId id="563" r:id="rId39"/>
    <p:sldId id="527" r:id="rId40"/>
    <p:sldId id="528" r:id="rId41"/>
    <p:sldId id="580" r:id="rId42"/>
    <p:sldId id="590" r:id="rId43"/>
    <p:sldId id="583" r:id="rId44"/>
    <p:sldId id="584" r:id="rId45"/>
    <p:sldId id="585" r:id="rId46"/>
    <p:sldId id="588" r:id="rId47"/>
    <p:sldId id="589" r:id="rId48"/>
    <p:sldId id="529" r:id="rId49"/>
    <p:sldId id="564" r:id="rId50"/>
    <p:sldId id="565" r:id="rId51"/>
    <p:sldId id="566" r:id="rId52"/>
    <p:sldId id="591" r:id="rId53"/>
    <p:sldId id="592" r:id="rId54"/>
    <p:sldId id="567" r:id="rId55"/>
    <p:sldId id="530" r:id="rId56"/>
    <p:sldId id="568" r:id="rId57"/>
    <p:sldId id="569" r:id="rId58"/>
    <p:sldId id="593" r:id="rId59"/>
    <p:sldId id="594" r:id="rId60"/>
    <p:sldId id="595" r:id="rId61"/>
    <p:sldId id="570" r:id="rId62"/>
    <p:sldId id="596" r:id="rId63"/>
    <p:sldId id="597" r:id="rId64"/>
    <p:sldId id="598" r:id="rId65"/>
    <p:sldId id="599" r:id="rId66"/>
    <p:sldId id="571" r:id="rId67"/>
    <p:sldId id="572" r:id="rId68"/>
    <p:sldId id="600" r:id="rId69"/>
    <p:sldId id="573" r:id="rId70"/>
    <p:sldId id="601" r:id="rId71"/>
    <p:sldId id="602" r:id="rId72"/>
    <p:sldId id="603" r:id="rId73"/>
    <p:sldId id="604" r:id="rId74"/>
    <p:sldId id="605" r:id="rId75"/>
    <p:sldId id="606" r:id="rId76"/>
    <p:sldId id="607" r:id="rId77"/>
    <p:sldId id="608" r:id="rId78"/>
    <p:sldId id="611" r:id="rId79"/>
    <p:sldId id="612" r:id="rId80"/>
    <p:sldId id="613" r:id="rId81"/>
    <p:sldId id="614" r:id="rId82"/>
    <p:sldId id="615" r:id="rId83"/>
    <p:sldId id="616" r:id="rId84"/>
    <p:sldId id="617" r:id="rId85"/>
    <p:sldId id="618" r:id="rId86"/>
    <p:sldId id="619" r:id="rId87"/>
    <p:sldId id="578" r:id="rId88"/>
    <p:sldId id="621" r:id="rId89"/>
    <p:sldId id="622" r:id="rId90"/>
    <p:sldId id="623" r:id="rId91"/>
    <p:sldId id="624" r:id="rId92"/>
    <p:sldId id="625" r:id="rId93"/>
    <p:sldId id="626" r:id="rId94"/>
    <p:sldId id="609" r:id="rId95"/>
    <p:sldId id="627" r:id="rId96"/>
    <p:sldId id="628" r:id="rId97"/>
    <p:sldId id="632" r:id="rId98"/>
    <p:sldId id="629" r:id="rId99"/>
    <p:sldId id="630" r:id="rId100"/>
    <p:sldId id="633" r:id="rId101"/>
    <p:sldId id="634" r:id="rId102"/>
    <p:sldId id="635" r:id="rId103"/>
    <p:sldId id="636" r:id="rId104"/>
    <p:sldId id="637" r:id="rId105"/>
    <p:sldId id="638" r:id="rId106"/>
    <p:sldId id="579" r:id="rId107"/>
    <p:sldId id="610" r:id="rId108"/>
    <p:sldId id="639" r:id="rId109"/>
    <p:sldId id="640" r:id="rId110"/>
    <p:sldId id="641" r:id="rId111"/>
    <p:sldId id="642" r:id="rId112"/>
    <p:sldId id="646" r:id="rId113"/>
    <p:sldId id="643" r:id="rId114"/>
    <p:sldId id="647" r:id="rId115"/>
    <p:sldId id="648" r:id="rId116"/>
    <p:sldId id="644" r:id="rId117"/>
    <p:sldId id="645" r:id="rId118"/>
    <p:sldId id="650" r:id="rId119"/>
    <p:sldId id="656" r:id="rId120"/>
    <p:sldId id="649" r:id="rId121"/>
    <p:sldId id="651" r:id="rId122"/>
    <p:sldId id="652" r:id="rId123"/>
    <p:sldId id="653" r:id="rId124"/>
    <p:sldId id="654" r:id="rId125"/>
    <p:sldId id="655" r:id="rId126"/>
    <p:sldId id="631" r:id="rId127"/>
    <p:sldId id="657" r:id="rId128"/>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006600"/>
    <a:srgbClr val="FF3300"/>
    <a:srgbClr val="FF3399"/>
    <a:srgbClr val="339933"/>
    <a:srgbClr val="000000"/>
    <a:srgbClr val="3333FF"/>
    <a:srgbClr val="66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9" d="100"/>
          <a:sy n="99" d="100"/>
        </p:scale>
        <p:origin x="129"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2024-01-28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14</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15</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16</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17</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18</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19</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20</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21</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22</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24</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26</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27</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28</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29</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30</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31</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32</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33</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34</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35</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36</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37</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38</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39</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40</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48</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49</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50</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51</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52</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53</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54</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55</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56</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57</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61</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62</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63</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64</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65</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66</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67</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68</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69</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70</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87</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94</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95</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96</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97</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98</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99</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100</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101</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102</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103</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104</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105</a:t>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106</a:t>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107</a:t>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108</a:t>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109</a:t>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110</a:t>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111</a:t>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112</a:t>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113</a:t>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114</a:t>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115</a:t>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116</a:t>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117</a:t>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118</a:t>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119</a:t>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120</a:t>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121</a:t>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122</a:t>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123</a:t>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124</a:t>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125</a:t>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pPr/>
              <a:t>126</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p:txBody>
          <a:bodyPr/>
          <a:lstStyle>
            <a:lvl1pPr>
              <a:defRPr sz="1400">
                <a:solidFill>
                  <a:srgbClr val="FF0000"/>
                </a:solidFill>
                <a:latin typeface="Consolas" pitchFamily="49" charset="0"/>
                <a:cs typeface="Consolas" pitchFamily="49" charset="0"/>
              </a:defRPr>
            </a:lvl1pPr>
          </a:lstStyle>
          <a:p>
            <a:fld id="{7AF016A1-9F15-429F-9EFD-84004B73C732}" type="slidenum">
              <a:rPr lang="en-US" altLang="zh-CN" smtClean="0"/>
              <a:pPr/>
              <a:t>‹#›</a:t>
            </a:fld>
            <a:r>
              <a:rPr lang="en-US" altLang="zh-CN"/>
              <a:t>/126</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0"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1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428860" y="406031"/>
            <a:ext cx="5357850" cy="879829"/>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第</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6</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章</a:t>
            </a:r>
            <a:r>
              <a:rPr lang="en-US" altLang="zh-CN"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a:t>
            </a:r>
            <a:r>
              <a:rPr lang="zh-CN" altLang="en-US" sz="4000">
                <a:ln w="11430"/>
                <a:solidFill>
                  <a:srgbClr val="FF0000"/>
                </a:solidFill>
                <a:effectLst>
                  <a:outerShdw blurRad="50800" dist="39000" dir="5460000" algn="tl">
                    <a:srgbClr val="000000">
                      <a:alpha val="38000"/>
                    </a:srgbClr>
                  </a:outerShdw>
                </a:effectLst>
                <a:latin typeface="微软雅黑" pitchFamily="34" charset="-122"/>
                <a:ea typeface="微软雅黑" pitchFamily="34" charset="-122"/>
              </a:rPr>
              <a:t>分支限界法</a:t>
            </a:r>
          </a:p>
        </p:txBody>
      </p:sp>
      <p:sp>
        <p:nvSpPr>
          <p:cNvPr id="5" name="TextBox 4">
            <a:hlinkClick r:id="rId3" action="ppaction://hlinksldjump"/>
          </p:cNvPr>
          <p:cNvSpPr txBox="1"/>
          <p:nvPr/>
        </p:nvSpPr>
        <p:spPr>
          <a:xfrm>
            <a:off x="214282" y="2150436"/>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6.1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分支限界法概述</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9" name="TextBox 8">
            <a:hlinkClick r:id="" action="ppaction://noaction"/>
          </p:cNvPr>
          <p:cNvSpPr txBox="1"/>
          <p:nvPr/>
        </p:nvSpPr>
        <p:spPr>
          <a:xfrm>
            <a:off x="214282" y="3058247"/>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6.2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广度优先搜索</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2" name="TextBox 11">
            <a:hlinkClick r:id="" action="ppaction://noaction"/>
          </p:cNvPr>
          <p:cNvSpPr txBox="1"/>
          <p:nvPr/>
        </p:nvSpPr>
        <p:spPr>
          <a:xfrm>
            <a:off x="214282" y="3788174"/>
            <a:ext cx="4068000"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6.3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队列式分支限界法框架</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4" name="TextBox 13">
            <a:hlinkClick r:id="" action="ppaction://noaction"/>
          </p:cNvPr>
          <p:cNvSpPr txBox="1"/>
          <p:nvPr/>
        </p:nvSpPr>
        <p:spPr>
          <a:xfrm>
            <a:off x="214282" y="4954332"/>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6.4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图的单源最短路径</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5" name="TextBox 14">
            <a:hlinkClick r:id="" action="ppaction://noaction"/>
          </p:cNvPr>
          <p:cNvSpPr txBox="1"/>
          <p:nvPr/>
        </p:nvSpPr>
        <p:spPr>
          <a:xfrm>
            <a:off x="214282" y="5718988"/>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6.5 0/1</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背包问题（</a:t>
            </a: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1</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1" name="TextBox 20">
            <a:hlinkClick r:id="" action="ppaction://noaction"/>
          </p:cNvPr>
          <p:cNvSpPr txBox="1"/>
          <p:nvPr/>
        </p:nvSpPr>
        <p:spPr>
          <a:xfrm>
            <a:off x="4786314" y="1887838"/>
            <a:ext cx="4068000" cy="95410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6.6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优先队列式分支限界法框架</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2" name="TextBox 21">
            <a:hlinkClick r:id="" action="ppaction://noaction"/>
          </p:cNvPr>
          <p:cNvSpPr txBox="1"/>
          <p:nvPr/>
        </p:nvSpPr>
        <p:spPr>
          <a:xfrm>
            <a:off x="4786314" y="3058247"/>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6.7 0/1</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背包问题（</a:t>
            </a: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2</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3" name="TextBox 22">
            <a:hlinkClick r:id="" action="ppaction://noaction"/>
          </p:cNvPr>
          <p:cNvSpPr txBox="1"/>
          <p:nvPr/>
        </p:nvSpPr>
        <p:spPr>
          <a:xfrm>
            <a:off x="4786314" y="4002488"/>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6.8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任务分配问题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4" name="TextBox 23">
            <a:hlinkClick r:id="" action="ppaction://noaction"/>
          </p:cNvPr>
          <p:cNvSpPr txBox="1"/>
          <p:nvPr/>
        </p:nvSpPr>
        <p:spPr>
          <a:xfrm>
            <a:off x="4786314" y="4954332"/>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pt-BR"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6.9 </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旅行商</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问题</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5" name="TextBox 24">
            <a:hlinkClick r:id="" action="ppaction://noaction"/>
          </p:cNvPr>
          <p:cNvSpPr txBox="1"/>
          <p:nvPr/>
        </p:nvSpPr>
        <p:spPr>
          <a:xfrm>
            <a:off x="4786314" y="5718988"/>
            <a:ext cx="406800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6.10* A*</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算法及其应用</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grpSp>
        <p:nvGrpSpPr>
          <p:cNvPr id="26" name="组合 25"/>
          <p:cNvGrpSpPr/>
          <p:nvPr/>
        </p:nvGrpSpPr>
        <p:grpSpPr>
          <a:xfrm>
            <a:off x="464391" y="250870"/>
            <a:ext cx="1678717" cy="1392180"/>
            <a:chOff x="428596" y="2679762"/>
            <a:chExt cx="1678717" cy="1392180"/>
          </a:xfrm>
        </p:grpSpPr>
        <p:grpSp>
          <p:nvGrpSpPr>
            <p:cNvPr id="27" name="组合 79"/>
            <p:cNvGrpSpPr>
              <a:grpSpLocks/>
            </p:cNvGrpSpPr>
            <p:nvPr/>
          </p:nvGrpSpPr>
          <p:grpSpPr bwMode="auto">
            <a:xfrm>
              <a:off x="571472" y="2679762"/>
              <a:ext cx="1357322" cy="1392180"/>
              <a:chOff x="6379728" y="2488774"/>
              <a:chExt cx="2513016" cy="2533955"/>
            </a:xfrm>
          </p:grpSpPr>
          <p:sp>
            <p:nvSpPr>
              <p:cNvPr id="30"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31"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8" name="文本框 20"/>
            <p:cNvSpPr txBox="1">
              <a:spLocks noChangeArrowheads="1"/>
            </p:cNvSpPr>
            <p:nvPr/>
          </p:nvSpPr>
          <p:spPr bwMode="auto">
            <a:xfrm>
              <a:off x="428596" y="3334984"/>
              <a:ext cx="16787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1600" b="1" dirty="0">
                  <a:solidFill>
                    <a:srgbClr val="9900FF"/>
                  </a:solidFill>
                </a:rPr>
                <a:t>CONTENTS</a:t>
              </a:r>
              <a:endParaRPr lang="zh-CN" altLang="en-US" sz="1600" b="1" dirty="0">
                <a:solidFill>
                  <a:srgbClr val="9900FF"/>
                </a:solidFill>
              </a:endParaRPr>
            </a:p>
          </p:txBody>
        </p:sp>
        <p:sp>
          <p:nvSpPr>
            <p:cNvPr id="29" name="文本框 20"/>
            <p:cNvSpPr txBox="1">
              <a:spLocks noChangeArrowheads="1"/>
            </p:cNvSpPr>
            <p:nvPr/>
          </p:nvSpPr>
          <p:spPr bwMode="auto">
            <a:xfrm>
              <a:off x="808364" y="2965652"/>
              <a:ext cx="8189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1800" b="1" dirty="0">
                  <a:solidFill>
                    <a:srgbClr val="008000"/>
                  </a:solidFill>
                </a:rPr>
                <a:t>提纲</a:t>
              </a: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1</a:t>
            </a:fld>
            <a:r>
              <a:rPr lang="en-US" altLang="zh-CN"/>
              <a:t>/126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285720" y="1214422"/>
            <a:ext cx="457203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6.1.1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什么是分支限界法</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a:hlinkClick r:id="rId3" action="ppaction://hlinksldjump"/>
          </p:cNvPr>
          <p:cNvSpPr txBox="1"/>
          <p:nvPr/>
        </p:nvSpPr>
        <p:spPr>
          <a:xfrm>
            <a:off x="2214546" y="285728"/>
            <a:ext cx="478634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6.1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分支限界法概述</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1785918" y="2143116"/>
            <a:ext cx="407196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分支限界法和回溯法的区别</a:t>
            </a:r>
            <a:endParaRPr lang="zh-CN" altLang="en-US">
              <a:solidFill>
                <a:srgbClr val="0000FF"/>
              </a:solidFill>
              <a:latin typeface="Consolas" pitchFamily="49" charset="0"/>
              <a:ea typeface="仿宋" pitchFamily="49" charset="-122"/>
              <a:cs typeface="Consolas" pitchFamily="49" charset="0"/>
            </a:endParaRPr>
          </a:p>
        </p:txBody>
      </p:sp>
      <p:graphicFrame>
        <p:nvGraphicFramePr>
          <p:cNvPr id="7" name="表格 6"/>
          <p:cNvGraphicFramePr>
            <a:graphicFrameLocks noGrp="1"/>
          </p:cNvGraphicFramePr>
          <p:nvPr/>
        </p:nvGraphicFramePr>
        <p:xfrm>
          <a:off x="357158" y="2895600"/>
          <a:ext cx="8429684" cy="2962292"/>
        </p:xfrm>
        <a:graphic>
          <a:graphicData uri="http://schemas.openxmlformats.org/drawingml/2006/table">
            <a:tbl>
              <a:tblPr>
                <a:tableStyleId>{35758FB7-9AC5-4552-8A53-C91805E547FA}</a:tableStyleId>
              </a:tblPr>
              <a:tblGrid>
                <a:gridCol w="1000132">
                  <a:extLst>
                    <a:ext uri="{9D8B030D-6E8A-4147-A177-3AD203B41FA5}">
                      <a16:colId xmlns:a16="http://schemas.microsoft.com/office/drawing/2014/main" val="20000"/>
                    </a:ext>
                  </a:extLst>
                </a:gridCol>
                <a:gridCol w="1214446">
                  <a:extLst>
                    <a:ext uri="{9D8B030D-6E8A-4147-A177-3AD203B41FA5}">
                      <a16:colId xmlns:a16="http://schemas.microsoft.com/office/drawing/2014/main" val="20001"/>
                    </a:ext>
                  </a:extLst>
                </a:gridCol>
                <a:gridCol w="1428760">
                  <a:extLst>
                    <a:ext uri="{9D8B030D-6E8A-4147-A177-3AD203B41FA5}">
                      <a16:colId xmlns:a16="http://schemas.microsoft.com/office/drawing/2014/main" val="20002"/>
                    </a:ext>
                  </a:extLst>
                </a:gridCol>
                <a:gridCol w="2500330">
                  <a:extLst>
                    <a:ext uri="{9D8B030D-6E8A-4147-A177-3AD203B41FA5}">
                      <a16:colId xmlns:a16="http://schemas.microsoft.com/office/drawing/2014/main" val="20003"/>
                    </a:ext>
                  </a:extLst>
                </a:gridCol>
                <a:gridCol w="2286016">
                  <a:extLst>
                    <a:ext uri="{9D8B030D-6E8A-4147-A177-3AD203B41FA5}">
                      <a16:colId xmlns:a16="http://schemas.microsoft.com/office/drawing/2014/main" val="20004"/>
                    </a:ext>
                  </a:extLst>
                </a:gridCol>
              </a:tblGrid>
              <a:tr h="846369">
                <a:tc>
                  <a:txBody>
                    <a:bodyPr/>
                    <a:lstStyle/>
                    <a:p>
                      <a:pPr indent="0" algn="ctr" defTabSz="360000">
                        <a:lnSpc>
                          <a:spcPts val="2800"/>
                        </a:lnSpc>
                        <a:spcAft>
                          <a:spcPts val="0"/>
                        </a:spcAft>
                      </a:pPr>
                      <a:r>
                        <a:rPr lang="zh-CN" sz="2000" b="1" kern="100">
                          <a:solidFill>
                            <a:srgbClr val="FF0000"/>
                          </a:solidFill>
                          <a:latin typeface="楷体" pitchFamily="49" charset="-122"/>
                          <a:ea typeface="楷体" pitchFamily="49" charset="-122"/>
                        </a:rPr>
                        <a:t>算法</a:t>
                      </a:r>
                      <a:endParaRPr lang="zh-CN" sz="2000" b="1" kern="100">
                        <a:solidFill>
                          <a:srgbClr val="FF0000"/>
                        </a:solidFill>
                        <a:latin typeface="楷体" pitchFamily="49" charset="-122"/>
                        <a:ea typeface="楷体"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FF0000"/>
                          </a:solidFill>
                          <a:latin typeface="楷体" pitchFamily="49" charset="-122"/>
                          <a:ea typeface="楷体" pitchFamily="49" charset="-122"/>
                        </a:rPr>
                        <a:t>解空间搜索方式</a:t>
                      </a:r>
                      <a:endParaRPr lang="zh-CN" sz="2000" b="1" kern="100">
                        <a:solidFill>
                          <a:srgbClr val="FF0000"/>
                        </a:solidFill>
                        <a:latin typeface="楷体" pitchFamily="49" charset="-122"/>
                        <a:ea typeface="楷体"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FF0000"/>
                          </a:solidFill>
                          <a:latin typeface="楷体" pitchFamily="49" charset="-122"/>
                          <a:ea typeface="楷体" pitchFamily="49" charset="-122"/>
                        </a:rPr>
                        <a:t>存储结点的数据结构</a:t>
                      </a:r>
                      <a:endParaRPr lang="zh-CN" sz="2000" b="1" kern="100">
                        <a:solidFill>
                          <a:srgbClr val="FF0000"/>
                        </a:solidFill>
                        <a:latin typeface="楷体" pitchFamily="49" charset="-122"/>
                        <a:ea typeface="楷体"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FF0000"/>
                          </a:solidFill>
                          <a:latin typeface="楷体" pitchFamily="49" charset="-122"/>
                          <a:ea typeface="楷体" pitchFamily="49" charset="-122"/>
                        </a:rPr>
                        <a:t>结点存储特性</a:t>
                      </a:r>
                      <a:endParaRPr lang="zh-CN" sz="2000" b="1" kern="100">
                        <a:solidFill>
                          <a:srgbClr val="FF0000"/>
                        </a:solidFill>
                        <a:latin typeface="楷体" pitchFamily="49" charset="-122"/>
                        <a:ea typeface="楷体"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FF0000"/>
                          </a:solidFill>
                          <a:latin typeface="楷体" pitchFamily="49" charset="-122"/>
                          <a:ea typeface="楷体" pitchFamily="49" charset="-122"/>
                        </a:rPr>
                        <a:t>常用应用</a:t>
                      </a:r>
                      <a:endParaRPr lang="zh-CN" sz="2000" b="1" kern="100">
                        <a:solidFill>
                          <a:srgbClr val="FF0000"/>
                        </a:solidFill>
                        <a:latin typeface="楷体" pitchFamily="49" charset="-122"/>
                        <a:ea typeface="楷体" pitchFamily="49" charset="-122"/>
                        <a:cs typeface="宋体"/>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846369">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回溯法</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深度优先搜索</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栈</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只保存从根结点到当前扩展结点的路径</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能够找出满足约束条件的所有解</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1269554">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分支限界法</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广度优先搜索</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队列或者优先队列</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每个结点只有一次成为活结点的机会</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tc>
                  <a:txBody>
                    <a:bodyPr/>
                    <a:lstStyle/>
                    <a:p>
                      <a:pPr indent="0" algn="ctr" defTabSz="360000">
                        <a:lnSpc>
                          <a:spcPts val="2800"/>
                        </a:lnSpc>
                        <a:spcAft>
                          <a:spcPts val="0"/>
                        </a:spcAft>
                      </a:pPr>
                      <a:r>
                        <a:rPr lang="zh-CN" sz="2000" b="1" kern="100">
                          <a:solidFill>
                            <a:srgbClr val="0000FF"/>
                          </a:solidFill>
                          <a:latin typeface="Consolas" pitchFamily="49" charset="0"/>
                          <a:ea typeface="仿宋" pitchFamily="49" charset="-122"/>
                        </a:rPr>
                        <a:t>找出满足约束条件的一个解或者满足目标函数的最优解</a:t>
                      </a:r>
                      <a:endParaRPr lang="zh-CN" sz="2000" b="1" kern="100">
                        <a:solidFill>
                          <a:srgbClr val="0000FF"/>
                        </a:solidFill>
                        <a:latin typeface="Consolas" pitchFamily="49" charset="0"/>
                        <a:ea typeface="仿宋" pitchFamily="49" charset="-122"/>
                        <a:cs typeface="宋体"/>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8" name="灯片编号占位符 7"/>
          <p:cNvSpPr>
            <a:spLocks noGrp="1"/>
          </p:cNvSpPr>
          <p:nvPr>
            <p:ph type="sldNum" sz="quarter" idx="12"/>
          </p:nvPr>
        </p:nvSpPr>
        <p:spPr/>
        <p:txBody>
          <a:bodyPr/>
          <a:lstStyle/>
          <a:p>
            <a:fld id="{7AF016A1-9F15-429F-9EFD-84004B73C732}" type="slidenum">
              <a:rPr lang="en-US" altLang="zh-CN" smtClean="0"/>
              <a:pPr/>
              <a:t>2</a:t>
            </a:fld>
            <a:r>
              <a:rPr lang="en-US" altLang="zh-CN"/>
              <a:t>/126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71472" y="1478453"/>
            <a:ext cx="7929618" cy="1961142"/>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marL="457200" indent="-457200" algn="l">
              <a:lnSpc>
                <a:spcPts val="3000"/>
              </a:lnSpc>
              <a:spcBef>
                <a:spcPts val="1200"/>
              </a:spcBef>
              <a:buBlip>
                <a:blip r:embed="rId3"/>
              </a:buBlip>
            </a:pPr>
            <a:r>
              <a:rPr lang="zh-CN" altLang="zh-CN">
                <a:solidFill>
                  <a:srgbClr val="FF0000"/>
                </a:solidFill>
                <a:latin typeface="Consolas" pitchFamily="49" charset="0"/>
                <a:ea typeface="仿宋" pitchFamily="49" charset="-122"/>
                <a:cs typeface="Times New Roman" pitchFamily="18" charset="0"/>
              </a:rPr>
              <a:t>求迷宫问题的所有解</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应该采用回溯法，不适合采用分支限界法</a:t>
            </a:r>
            <a:r>
              <a:rPr lang="zh-CN" altLang="en-US">
                <a:solidFill>
                  <a:srgbClr val="0000FF"/>
                </a:solidFill>
                <a:latin typeface="Consolas" pitchFamily="49" charset="0"/>
                <a:ea typeface="仿宋" pitchFamily="49" charset="-122"/>
                <a:cs typeface="Times New Roman" pitchFamily="18" charset="0"/>
              </a:rPr>
              <a:t>。</a:t>
            </a:r>
            <a:endParaRPr lang="en-US" altLang="zh-CN">
              <a:solidFill>
                <a:srgbClr val="0000FF"/>
              </a:solidFill>
              <a:latin typeface="Consolas" pitchFamily="49" charset="0"/>
              <a:ea typeface="仿宋" pitchFamily="49" charset="-122"/>
              <a:cs typeface="Times New Roman" pitchFamily="18" charset="0"/>
            </a:endParaRPr>
          </a:p>
          <a:p>
            <a:pPr marL="457200" indent="-457200" algn="l">
              <a:lnSpc>
                <a:spcPts val="3000"/>
              </a:lnSpc>
              <a:spcBef>
                <a:spcPts val="1200"/>
              </a:spcBef>
              <a:buBlip>
                <a:blip r:embed="rId3"/>
              </a:buBlip>
            </a:pPr>
            <a:r>
              <a:rPr lang="zh-CN" altLang="zh-CN">
                <a:solidFill>
                  <a:srgbClr val="FF0000"/>
                </a:solidFill>
                <a:latin typeface="Consolas" pitchFamily="49" charset="0"/>
                <a:ea typeface="仿宋" pitchFamily="49" charset="-122"/>
                <a:cs typeface="Times New Roman" pitchFamily="18" charset="0"/>
              </a:rPr>
              <a:t>求迷宫问题的一条最短路径</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属于最优解问题，适合采用分支限界法。</a:t>
            </a:r>
            <a:endParaRPr lang="zh-CN" altLang="en-US">
              <a:solidFill>
                <a:srgbClr val="0000FF"/>
              </a:solidFill>
              <a:latin typeface="Consolas" pitchFamily="49" charset="0"/>
              <a:ea typeface="仿宋" pitchFamily="49" charset="-122"/>
              <a:cs typeface="Times New Roman" pitchFamily="18" charset="0"/>
            </a:endParaRPr>
          </a:p>
        </p:txBody>
      </p:sp>
      <p:grpSp>
        <p:nvGrpSpPr>
          <p:cNvPr id="9" name="组合 8"/>
          <p:cNvGrpSpPr/>
          <p:nvPr/>
        </p:nvGrpSpPr>
        <p:grpSpPr>
          <a:xfrm>
            <a:off x="857224" y="428604"/>
            <a:ext cx="896901" cy="896901"/>
            <a:chOff x="388951" y="5103867"/>
            <a:chExt cx="896901" cy="896901"/>
          </a:xfrm>
        </p:grpSpPr>
        <p:sp>
          <p:nvSpPr>
            <p:cNvPr id="10" name="椭圆 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1" name="椭圆 1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2"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itchFamily="34" charset="-122"/>
                  <a:ea typeface="微软雅黑" pitchFamily="34" charset="-122"/>
                </a:rPr>
                <a:t>说明</a:t>
              </a:r>
              <a:endParaRPr lang="zh-CN" altLang="en-US" sz="1800" b="1" dirty="0">
                <a:solidFill>
                  <a:srgbClr val="FF0000"/>
                </a:solidFill>
                <a:latin typeface="微软雅黑" pitchFamily="34" charset="-122"/>
                <a:ea typeface="微软雅黑" pitchFamily="34" charset="-122"/>
              </a:endParaRPr>
            </a:p>
          </p:txBody>
        </p:sp>
      </p:grpSp>
      <p:sp>
        <p:nvSpPr>
          <p:cNvPr id="13" name="灯片编号占位符 12"/>
          <p:cNvSpPr>
            <a:spLocks noGrp="1"/>
          </p:cNvSpPr>
          <p:nvPr>
            <p:ph type="sldNum" sz="quarter" idx="12"/>
          </p:nvPr>
        </p:nvSpPr>
        <p:spPr/>
        <p:txBody>
          <a:bodyPr/>
          <a:lstStyle/>
          <a:p>
            <a:fld id="{7AF016A1-9F15-429F-9EFD-84004B73C732}" type="slidenum">
              <a:rPr lang="en-US" altLang="zh-CN" smtClean="0"/>
              <a:pPr/>
              <a:t>3</a:t>
            </a:fld>
            <a:r>
              <a:rPr lang="en-US" altLang="zh-CN"/>
              <a:t>/126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8143932" cy="204158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分支限界法</a:t>
            </a:r>
            <a:r>
              <a:rPr lang="zh-CN" altLang="en-US">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广度优先搜索</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剪支</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如果不含剪支就退化为广度优先遍历</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剪支方式与回溯法类似，也是通过约束函数和限界函数实现的。</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a:t>
            </a:fld>
            <a:r>
              <a:rPr lang="en-US" altLang="zh-CN"/>
              <a:t>/126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514353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6.1.2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分支限界法的时间要点</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14282" y="1500174"/>
            <a:ext cx="414340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1.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设计合适的限界函数</a:t>
            </a:r>
          </a:p>
        </p:txBody>
      </p:sp>
      <p:grpSp>
        <p:nvGrpSpPr>
          <p:cNvPr id="5" name="组合 4"/>
          <p:cNvGrpSpPr/>
          <p:nvPr/>
        </p:nvGrpSpPr>
        <p:grpSpPr>
          <a:xfrm>
            <a:off x="1214414" y="2357430"/>
            <a:ext cx="5286412" cy="1785950"/>
            <a:chOff x="1295609" y="2725991"/>
            <a:chExt cx="4367708" cy="1620332"/>
          </a:xfrm>
        </p:grpSpPr>
        <p:sp>
          <p:nvSpPr>
            <p:cNvPr id="6" name="Text Box 23"/>
            <p:cNvSpPr txBox="1">
              <a:spLocks noChangeArrowheads="1"/>
            </p:cNvSpPr>
            <p:nvPr/>
          </p:nvSpPr>
          <p:spPr bwMode="auto">
            <a:xfrm>
              <a:off x="2761675" y="2808429"/>
              <a:ext cx="761086" cy="2800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3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活结点</a:t>
              </a:r>
            </a:p>
            <a:p>
              <a:pPr marL="0" marR="0" lvl="0" algn="l" defTabSz="914400" rtl="0" eaLnBrk="0" fontAlgn="base" latinLnBrk="0" hangingPunct="0">
                <a:lnSpc>
                  <a:spcPts val="2300"/>
                </a:lnSpc>
                <a:spcBef>
                  <a:spcPct val="0"/>
                </a:spcBef>
                <a:spcAft>
                  <a:spcPct val="0"/>
                </a:spcAft>
                <a:buClrTx/>
                <a:buSzTx/>
                <a:buFontTx/>
                <a:buNone/>
                <a:tabLst/>
              </a:pPr>
              <a:endParaRPr kumimoji="0" lang="zh-CN" sz="20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7" name="Freeform 22"/>
            <p:cNvSpPr>
              <a:spLocks/>
            </p:cNvSpPr>
            <p:nvPr/>
          </p:nvSpPr>
          <p:spPr bwMode="auto">
            <a:xfrm>
              <a:off x="1548084" y="3068535"/>
              <a:ext cx="753768" cy="899711"/>
            </a:xfrm>
            <a:custGeom>
              <a:avLst/>
              <a:gdLst/>
              <a:ahLst/>
              <a:cxnLst>
                <a:cxn ang="0">
                  <a:pos x="618" y="0"/>
                </a:cxn>
                <a:cxn ang="0">
                  <a:pos x="0" y="633"/>
                </a:cxn>
              </a:cxnLst>
              <a:rect l="0" t="0" r="r" b="b"/>
              <a:pathLst>
                <a:path w="618" h="633">
                  <a:moveTo>
                    <a:pt x="618" y="0"/>
                  </a:moveTo>
                  <a:lnTo>
                    <a:pt x="0" y="633"/>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8" name="Oval 21"/>
            <p:cNvSpPr>
              <a:spLocks noChangeArrowheads="1"/>
            </p:cNvSpPr>
            <p:nvPr/>
          </p:nvSpPr>
          <p:spPr bwMode="auto">
            <a:xfrm>
              <a:off x="1295609" y="3945504"/>
              <a:ext cx="345172" cy="4008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9" name="Oval 20"/>
            <p:cNvSpPr>
              <a:spLocks noChangeArrowheads="1"/>
            </p:cNvSpPr>
            <p:nvPr/>
          </p:nvSpPr>
          <p:spPr bwMode="auto">
            <a:xfrm>
              <a:off x="1954241" y="3945504"/>
              <a:ext cx="345172" cy="4008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0" name="Oval 19"/>
            <p:cNvSpPr>
              <a:spLocks noChangeArrowheads="1"/>
            </p:cNvSpPr>
            <p:nvPr/>
          </p:nvSpPr>
          <p:spPr bwMode="auto">
            <a:xfrm>
              <a:off x="3253210" y="3945504"/>
              <a:ext cx="345172" cy="4008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4</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1" name="Freeform 18"/>
            <p:cNvSpPr>
              <a:spLocks/>
            </p:cNvSpPr>
            <p:nvPr/>
          </p:nvSpPr>
          <p:spPr bwMode="auto">
            <a:xfrm>
              <a:off x="2159149" y="3162343"/>
              <a:ext cx="221984" cy="780318"/>
            </a:xfrm>
            <a:custGeom>
              <a:avLst/>
              <a:gdLst/>
              <a:ahLst/>
              <a:cxnLst>
                <a:cxn ang="0">
                  <a:pos x="183" y="0"/>
                </a:cxn>
                <a:cxn ang="0">
                  <a:pos x="0" y="549"/>
                </a:cxn>
              </a:cxnLst>
              <a:rect l="0" t="0" r="r" b="b"/>
              <a:pathLst>
                <a:path w="183" h="549">
                  <a:moveTo>
                    <a:pt x="183" y="0"/>
                  </a:moveTo>
                  <a:lnTo>
                    <a:pt x="0" y="549"/>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2" name="Freeform 17"/>
            <p:cNvSpPr>
              <a:spLocks/>
            </p:cNvSpPr>
            <p:nvPr/>
          </p:nvSpPr>
          <p:spPr bwMode="auto">
            <a:xfrm>
              <a:off x="2605555" y="3094119"/>
              <a:ext cx="750109" cy="888340"/>
            </a:xfrm>
            <a:custGeom>
              <a:avLst/>
              <a:gdLst/>
              <a:ahLst/>
              <a:cxnLst>
                <a:cxn ang="0">
                  <a:pos x="0" y="0"/>
                </a:cxn>
                <a:cxn ang="0">
                  <a:pos x="615" y="624"/>
                </a:cxn>
              </a:cxnLst>
              <a:rect l="0" t="0" r="r" b="b"/>
              <a:pathLst>
                <a:path w="615" h="624">
                  <a:moveTo>
                    <a:pt x="0" y="0"/>
                  </a:moveTo>
                  <a:lnTo>
                    <a:pt x="615" y="624"/>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3" name="Oval 16"/>
            <p:cNvSpPr>
              <a:spLocks noChangeArrowheads="1"/>
            </p:cNvSpPr>
            <p:nvPr/>
          </p:nvSpPr>
          <p:spPr bwMode="auto">
            <a:xfrm>
              <a:off x="2594578" y="3941240"/>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3</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4" name="Freeform 15"/>
            <p:cNvSpPr>
              <a:spLocks/>
            </p:cNvSpPr>
            <p:nvPr/>
          </p:nvSpPr>
          <p:spPr bwMode="auto">
            <a:xfrm>
              <a:off x="2528715" y="3166607"/>
              <a:ext cx="212226" cy="776054"/>
            </a:xfrm>
            <a:custGeom>
              <a:avLst/>
              <a:gdLst/>
              <a:ahLst/>
              <a:cxnLst>
                <a:cxn ang="0">
                  <a:pos x="0" y="0"/>
                </a:cxn>
                <a:cxn ang="0">
                  <a:pos x="174" y="546"/>
                </a:cxn>
              </a:cxnLst>
              <a:rect l="0" t="0" r="r" b="b"/>
              <a:pathLst>
                <a:path w="174" h="546">
                  <a:moveTo>
                    <a:pt x="0" y="0"/>
                  </a:moveTo>
                  <a:lnTo>
                    <a:pt x="174" y="546"/>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5" name="AutoShape 14"/>
            <p:cNvSpPr>
              <a:spLocks noChangeArrowheads="1"/>
            </p:cNvSpPr>
            <p:nvPr/>
          </p:nvSpPr>
          <p:spPr bwMode="auto">
            <a:xfrm>
              <a:off x="3471535" y="3435242"/>
              <a:ext cx="659852" cy="221730"/>
            </a:xfrm>
            <a:prstGeom prst="rightArrow">
              <a:avLst>
                <a:gd name="adj1" fmla="val 50000"/>
                <a:gd name="adj2" fmla="val 86699"/>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16" name="Text Box 13"/>
            <p:cNvSpPr txBox="1">
              <a:spLocks noChangeArrowheads="1"/>
            </p:cNvSpPr>
            <p:nvPr/>
          </p:nvSpPr>
          <p:spPr bwMode="auto">
            <a:xfrm>
              <a:off x="4902231" y="2808429"/>
              <a:ext cx="761086" cy="2800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3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活结点</a:t>
              </a:r>
            </a:p>
            <a:p>
              <a:pPr marL="0" marR="0" lvl="0" algn="l" defTabSz="914400" rtl="0" eaLnBrk="0" fontAlgn="base" latinLnBrk="0" hangingPunct="0">
                <a:lnSpc>
                  <a:spcPts val="2300"/>
                </a:lnSpc>
                <a:spcBef>
                  <a:spcPct val="0"/>
                </a:spcBef>
                <a:spcAft>
                  <a:spcPct val="0"/>
                </a:spcAft>
                <a:buClrTx/>
                <a:buSzTx/>
                <a:buFontTx/>
                <a:buNone/>
                <a:tabLst/>
              </a:pPr>
              <a:endParaRPr kumimoji="0" lang="zh-CN" sz="2000" b="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8" name="Oval 12"/>
            <p:cNvSpPr>
              <a:spLocks noChangeArrowheads="1"/>
            </p:cNvSpPr>
            <p:nvPr/>
          </p:nvSpPr>
          <p:spPr bwMode="auto">
            <a:xfrm>
              <a:off x="4131387" y="3945504"/>
              <a:ext cx="345172" cy="40081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2</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19" name="Freeform 11"/>
            <p:cNvSpPr>
              <a:spLocks/>
            </p:cNvSpPr>
            <p:nvPr/>
          </p:nvSpPr>
          <p:spPr bwMode="auto">
            <a:xfrm>
              <a:off x="4337514" y="3162343"/>
              <a:ext cx="221984" cy="780318"/>
            </a:xfrm>
            <a:custGeom>
              <a:avLst/>
              <a:gdLst/>
              <a:ahLst/>
              <a:cxnLst>
                <a:cxn ang="0">
                  <a:pos x="183" y="0"/>
                </a:cxn>
                <a:cxn ang="0">
                  <a:pos x="0" y="549"/>
                </a:cxn>
              </a:cxnLst>
              <a:rect l="0" t="0" r="r" b="b"/>
              <a:pathLst>
                <a:path w="183" h="549">
                  <a:moveTo>
                    <a:pt x="183" y="0"/>
                  </a:moveTo>
                  <a:lnTo>
                    <a:pt x="0" y="549"/>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0" name="Oval 10"/>
            <p:cNvSpPr>
              <a:spLocks noChangeArrowheads="1"/>
            </p:cNvSpPr>
            <p:nvPr/>
          </p:nvSpPr>
          <p:spPr bwMode="auto">
            <a:xfrm>
              <a:off x="4771724" y="3941240"/>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3</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1" name="Freeform 9"/>
            <p:cNvSpPr>
              <a:spLocks/>
            </p:cNvSpPr>
            <p:nvPr/>
          </p:nvSpPr>
          <p:spPr bwMode="auto">
            <a:xfrm>
              <a:off x="4705861" y="3166607"/>
              <a:ext cx="212226" cy="776054"/>
            </a:xfrm>
            <a:custGeom>
              <a:avLst/>
              <a:gdLst/>
              <a:ahLst/>
              <a:cxnLst>
                <a:cxn ang="0">
                  <a:pos x="0" y="0"/>
                </a:cxn>
                <a:cxn ang="0">
                  <a:pos x="174" y="546"/>
                </a:cxn>
              </a:cxnLst>
              <a:rect l="0" t="0" r="r" b="b"/>
              <a:pathLst>
                <a:path w="174" h="546">
                  <a:moveTo>
                    <a:pt x="0" y="0"/>
                  </a:moveTo>
                  <a:lnTo>
                    <a:pt x="174" y="546"/>
                  </a:lnTo>
                </a:path>
              </a:pathLst>
            </a:cu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2" name="Freeform 8"/>
            <p:cNvSpPr>
              <a:spLocks/>
            </p:cNvSpPr>
            <p:nvPr/>
          </p:nvSpPr>
          <p:spPr bwMode="auto">
            <a:xfrm>
              <a:off x="1928627" y="3413921"/>
              <a:ext cx="10977" cy="217466"/>
            </a:xfrm>
            <a:custGeom>
              <a:avLst/>
              <a:gdLst/>
              <a:ahLst/>
              <a:cxnLst>
                <a:cxn ang="0">
                  <a:pos x="9" y="0"/>
                </a:cxn>
                <a:cxn ang="0">
                  <a:pos x="0" y="153"/>
                </a:cxn>
              </a:cxnLst>
              <a:rect l="0" t="0" r="r" b="b"/>
              <a:pathLst>
                <a:path w="9" h="153">
                  <a:moveTo>
                    <a:pt x="9" y="0"/>
                  </a:moveTo>
                  <a:lnTo>
                    <a:pt x="0" y="153"/>
                  </a:ln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3" name="Line 7"/>
            <p:cNvSpPr>
              <a:spLocks noChangeShapeType="1"/>
            </p:cNvSpPr>
            <p:nvPr/>
          </p:nvSpPr>
          <p:spPr bwMode="auto">
            <a:xfrm>
              <a:off x="1935946" y="3435242"/>
              <a:ext cx="0" cy="0"/>
            </a:xfrm>
            <a:prstGeom prst="line">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4" name="Freeform 6"/>
            <p:cNvSpPr>
              <a:spLocks/>
            </p:cNvSpPr>
            <p:nvPr/>
          </p:nvSpPr>
          <p:spPr bwMode="auto">
            <a:xfrm>
              <a:off x="1833492" y="3490674"/>
              <a:ext cx="186613" cy="42640"/>
            </a:xfrm>
            <a:custGeom>
              <a:avLst/>
              <a:gdLst/>
              <a:ahLst/>
              <a:cxnLst>
                <a:cxn ang="0">
                  <a:pos x="0" y="30"/>
                </a:cxn>
                <a:cxn ang="0">
                  <a:pos x="153" y="0"/>
                </a:cxn>
              </a:cxnLst>
              <a:rect l="0" t="0" r="r" b="b"/>
              <a:pathLst>
                <a:path w="153" h="30">
                  <a:moveTo>
                    <a:pt x="0" y="30"/>
                  </a:moveTo>
                  <a:lnTo>
                    <a:pt x="153" y="0"/>
                  </a:ln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5" name="Freeform 5"/>
            <p:cNvSpPr>
              <a:spLocks/>
            </p:cNvSpPr>
            <p:nvPr/>
          </p:nvSpPr>
          <p:spPr bwMode="auto">
            <a:xfrm>
              <a:off x="2928773" y="3388337"/>
              <a:ext cx="12197" cy="225994"/>
            </a:xfrm>
            <a:custGeom>
              <a:avLst/>
              <a:gdLst/>
              <a:ahLst/>
              <a:cxnLst>
                <a:cxn ang="0">
                  <a:pos x="11" y="0"/>
                </a:cxn>
                <a:cxn ang="0">
                  <a:pos x="0" y="159"/>
                </a:cxn>
              </a:cxnLst>
              <a:rect l="0" t="0" r="r" b="b"/>
              <a:pathLst>
                <a:path w="11" h="159">
                  <a:moveTo>
                    <a:pt x="11" y="0"/>
                  </a:moveTo>
                  <a:lnTo>
                    <a:pt x="0" y="159"/>
                  </a:ln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6" name="Freeform 4"/>
            <p:cNvSpPr>
              <a:spLocks/>
            </p:cNvSpPr>
            <p:nvPr/>
          </p:nvSpPr>
          <p:spPr bwMode="auto">
            <a:xfrm>
              <a:off x="2854372" y="3479303"/>
              <a:ext cx="168317" cy="19899"/>
            </a:xfrm>
            <a:custGeom>
              <a:avLst/>
              <a:gdLst/>
              <a:ahLst/>
              <a:cxnLst>
                <a:cxn ang="0">
                  <a:pos x="0" y="0"/>
                </a:cxn>
                <a:cxn ang="0">
                  <a:pos x="138" y="15"/>
                </a:cxn>
              </a:cxnLst>
              <a:rect l="0" t="0" r="r" b="b"/>
              <a:pathLst>
                <a:path w="138" h="15">
                  <a:moveTo>
                    <a:pt x="0" y="0"/>
                  </a:moveTo>
                  <a:lnTo>
                    <a:pt x="138" y="15"/>
                  </a:lnTo>
                </a:path>
              </a:pathLst>
            </a:custGeom>
            <a:noFill/>
            <a:ln w="19050">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pPr>
                <a:lnSpc>
                  <a:spcPts val="2300"/>
                </a:lnSpc>
              </a:pPr>
              <a:endParaRPr lang="zh-CN" altLang="en-US" sz="1800">
                <a:solidFill>
                  <a:srgbClr val="0000FF"/>
                </a:solidFill>
                <a:latin typeface="Consolas" pitchFamily="49" charset="0"/>
                <a:ea typeface="仿宋" pitchFamily="49" charset="-122"/>
                <a:cs typeface="Consolas" pitchFamily="49" charset="0"/>
              </a:endParaRPr>
            </a:p>
          </p:txBody>
        </p:sp>
        <p:sp>
          <p:nvSpPr>
            <p:cNvPr id="27" name="Oval 3"/>
            <p:cNvSpPr>
              <a:spLocks noChangeArrowheads="1"/>
            </p:cNvSpPr>
            <p:nvPr/>
          </p:nvSpPr>
          <p:spPr bwMode="auto">
            <a:xfrm>
              <a:off x="4426552" y="2768631"/>
              <a:ext cx="414694" cy="48325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28" name="Oval 2"/>
            <p:cNvSpPr>
              <a:spLocks noChangeArrowheads="1"/>
            </p:cNvSpPr>
            <p:nvPr/>
          </p:nvSpPr>
          <p:spPr bwMode="auto">
            <a:xfrm>
              <a:off x="2237209" y="2725991"/>
              <a:ext cx="414694" cy="48325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i</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grpSp>
      <p:sp>
        <p:nvSpPr>
          <p:cNvPr id="29" name="TextBox 28"/>
          <p:cNvSpPr txBox="1"/>
          <p:nvPr/>
        </p:nvSpPr>
        <p:spPr>
          <a:xfrm>
            <a:off x="1500166" y="4714884"/>
            <a:ext cx="6858048" cy="461665"/>
          </a:xfrm>
          <a:prstGeom prst="rect">
            <a:avLst/>
          </a:prstGeom>
          <a:noFill/>
        </p:spPr>
        <p:txBody>
          <a:bodyPr wrap="square" rtlCol="0">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Consolas" pitchFamily="49" charset="0"/>
              </a:rPr>
              <a:t>为什么</a:t>
            </a:r>
            <a:r>
              <a:rPr lang="zh-CN" altLang="zh-CN">
                <a:solidFill>
                  <a:srgbClr val="0000FF"/>
                </a:solidFill>
                <a:latin typeface="Consolas" pitchFamily="49" charset="0"/>
                <a:ea typeface="仿宋" pitchFamily="49" charset="-122"/>
              </a:rPr>
              <a:t>分支限界法</a:t>
            </a:r>
            <a:r>
              <a:rPr lang="zh-CN" altLang="en-US">
                <a:solidFill>
                  <a:srgbClr val="0000FF"/>
                </a:solidFill>
                <a:latin typeface="Consolas" pitchFamily="49" charset="0"/>
                <a:ea typeface="仿宋" pitchFamily="49" charset="-122"/>
              </a:rPr>
              <a:t>比回溯法设计</a:t>
            </a:r>
            <a:r>
              <a:rPr lang="zh-CN" altLang="zh-CN">
                <a:solidFill>
                  <a:srgbClr val="0000FF"/>
                </a:solidFill>
                <a:latin typeface="Consolas" pitchFamily="49" charset="0"/>
                <a:ea typeface="仿宋" pitchFamily="49" charset="-122"/>
              </a:rPr>
              <a:t>限界函数</a:t>
            </a:r>
            <a:r>
              <a:rPr lang="zh-CN" altLang="en-US">
                <a:solidFill>
                  <a:srgbClr val="0000FF"/>
                </a:solidFill>
                <a:latin typeface="Consolas" pitchFamily="49" charset="0"/>
                <a:ea typeface="仿宋" pitchFamily="49" charset="-122"/>
              </a:rPr>
              <a:t>更重要？</a:t>
            </a:r>
            <a:endParaRPr lang="zh-CN" altLang="en-US">
              <a:solidFill>
                <a:srgbClr val="0000FF"/>
              </a:solidFill>
              <a:latin typeface="Consolas" pitchFamily="49" charset="0"/>
              <a:ea typeface="仿宋" pitchFamily="49" charset="-122"/>
              <a:cs typeface="Consolas" pitchFamily="49" charset="0"/>
            </a:endParaRPr>
          </a:p>
        </p:txBody>
      </p:sp>
      <p:pic>
        <p:nvPicPr>
          <p:cNvPr id="30" name="Picture 5"/>
          <p:cNvPicPr>
            <a:picLocks noChangeAspect="1" noChangeArrowheads="1"/>
          </p:cNvPicPr>
          <p:nvPr/>
        </p:nvPicPr>
        <p:blipFill>
          <a:blip r:embed="rId3" cstate="print"/>
          <a:srcRect/>
          <a:stretch>
            <a:fillRect/>
          </a:stretch>
        </p:blipFill>
        <p:spPr bwMode="auto">
          <a:xfrm>
            <a:off x="785786" y="4429132"/>
            <a:ext cx="571504" cy="988114"/>
          </a:xfrm>
          <a:prstGeom prst="rect">
            <a:avLst/>
          </a:prstGeom>
          <a:noFill/>
          <a:ln w="9525">
            <a:noFill/>
            <a:miter lim="800000"/>
            <a:headEnd/>
            <a:tailEnd/>
          </a:ln>
        </p:spPr>
      </p:pic>
      <p:sp>
        <p:nvSpPr>
          <p:cNvPr id="31" name="灯片编号占位符 30"/>
          <p:cNvSpPr>
            <a:spLocks noGrp="1"/>
          </p:cNvSpPr>
          <p:nvPr>
            <p:ph type="sldNum" sz="quarter" idx="12"/>
          </p:nvPr>
        </p:nvSpPr>
        <p:spPr/>
        <p:txBody>
          <a:bodyPr/>
          <a:lstStyle/>
          <a:p>
            <a:fld id="{7AF016A1-9F15-429F-9EFD-84004B73C732}" type="slidenum">
              <a:rPr lang="en-US" altLang="zh-CN" smtClean="0"/>
              <a:pPr/>
              <a:t>5</a:t>
            </a:fld>
            <a:r>
              <a:rPr lang="en-US" altLang="zh-CN"/>
              <a:t>/126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944142"/>
            <a:ext cx="6500858" cy="29443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sz="2200">
                <a:solidFill>
                  <a:srgbClr val="0000FF"/>
                </a:solidFill>
                <a:latin typeface="Consolas" pitchFamily="49" charset="0"/>
                <a:ea typeface="仿宋" pitchFamily="49" charset="-122"/>
                <a:cs typeface="Consolas" pitchFamily="49" charset="0"/>
              </a:rPr>
              <a:t>设计</a:t>
            </a:r>
            <a:r>
              <a:rPr lang="zh-CN" altLang="zh-CN" sz="2200">
                <a:solidFill>
                  <a:srgbClr val="FF0000"/>
                </a:solidFill>
                <a:latin typeface="Consolas" pitchFamily="49" charset="0"/>
                <a:ea typeface="仿宋" pitchFamily="49" charset="-122"/>
                <a:cs typeface="Consolas" pitchFamily="49" charset="0"/>
              </a:rPr>
              <a:t>上界限界函数</a:t>
            </a:r>
            <a:r>
              <a:rPr lang="en-US" altLang="zh-CN" sz="2200">
                <a:solidFill>
                  <a:srgbClr val="FF0000"/>
                </a:solidFill>
                <a:latin typeface="Consolas" pitchFamily="49" charset="0"/>
                <a:ea typeface="仿宋" pitchFamily="49" charset="-122"/>
                <a:cs typeface="Consolas" pitchFamily="49" charset="0"/>
              </a:rPr>
              <a:t>ub()</a:t>
            </a:r>
            <a:r>
              <a:rPr lang="zh-CN" altLang="zh-CN" sz="2200">
                <a:solidFill>
                  <a:srgbClr val="0000FF"/>
                </a:solidFill>
                <a:latin typeface="Consolas" pitchFamily="49" charset="0"/>
                <a:ea typeface="仿宋" pitchFamily="49" charset="-122"/>
                <a:cs typeface="Consolas" pitchFamily="49" charset="0"/>
              </a:rPr>
              <a:t>，若从</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的分支向下搜索所得到的部分解是（</a:t>
            </a:r>
            <a:r>
              <a:rPr lang="en-US" altLang="zh-CN" sz="2200" i="1">
                <a:solidFill>
                  <a:srgbClr val="0000FF"/>
                </a:solidFill>
                <a:latin typeface="Consolas" pitchFamily="49" charset="0"/>
                <a:ea typeface="仿宋" pitchFamily="49" charset="-122"/>
                <a:cs typeface="Consolas" pitchFamily="49" charset="0"/>
              </a:rPr>
              <a:t>x</a:t>
            </a:r>
            <a:r>
              <a:rPr lang="en-US" altLang="zh-CN" sz="2200" baseline="-250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baseline="-250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mn-ea"/>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mj-ea"/>
                <a:ea typeface="+mj-ea"/>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k</a:t>
            </a:r>
            <a:r>
              <a:rPr lang="zh-CN" altLang="zh-CN" sz="2200">
                <a:solidFill>
                  <a:srgbClr val="0000FF"/>
                </a:solidFill>
                <a:latin typeface="Consolas" pitchFamily="49" charset="0"/>
                <a:ea typeface="仿宋" pitchFamily="49" charset="-122"/>
                <a:cs typeface="Consolas" pitchFamily="49" charset="0"/>
              </a:rPr>
              <a:t>），则应该满足：</a:t>
            </a:r>
          </a:p>
          <a:p>
            <a:pPr algn="l">
              <a:lnSpc>
                <a:spcPts val="2800"/>
              </a:lnSpc>
            </a:pPr>
            <a:r>
              <a:rPr lang="en-US" altLang="zh-CN" sz="2200">
                <a:solidFill>
                  <a:srgbClr val="006600"/>
                </a:solidFill>
                <a:latin typeface="Consolas" pitchFamily="49" charset="0"/>
                <a:ea typeface="仿宋" pitchFamily="49" charset="-122"/>
                <a:cs typeface="Consolas" pitchFamily="49" charset="0"/>
              </a:rPr>
              <a:t>	ub(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i</a:t>
            </a:r>
            <a:r>
              <a:rPr lang="en-US" altLang="zh-CN" sz="2200">
                <a:solidFill>
                  <a:srgbClr val="006600"/>
                </a:solidFill>
                <a:latin typeface="Consolas" pitchFamily="49" charset="0"/>
                <a:ea typeface="仿宋" pitchFamily="49" charset="-122"/>
                <a:cs typeface="Consolas" pitchFamily="49" charset="0"/>
              </a:rPr>
              <a:t>)</a:t>
            </a:r>
            <a:r>
              <a:rPr lang="zh-CN" altLang="zh-CN" sz="2200">
                <a:solidFill>
                  <a:srgbClr val="006600"/>
                </a:solidFill>
                <a:latin typeface="+mn-ea"/>
                <a:cs typeface="Consolas" pitchFamily="49" charset="0"/>
              </a:rPr>
              <a:t>≥</a:t>
            </a:r>
            <a:r>
              <a:rPr lang="en-US" altLang="zh-CN" sz="2200">
                <a:solidFill>
                  <a:srgbClr val="006600"/>
                </a:solidFill>
                <a:latin typeface="Consolas" pitchFamily="49" charset="0"/>
                <a:ea typeface="仿宋" pitchFamily="49" charset="-122"/>
                <a:cs typeface="Consolas" pitchFamily="49" charset="0"/>
              </a:rPr>
              <a:t>ub(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i</a:t>
            </a:r>
            <a:r>
              <a:rPr lang="en-US" altLang="zh-CN" sz="2200" baseline="-25000">
                <a:solidFill>
                  <a:srgbClr val="006600"/>
                </a:solidFill>
                <a:latin typeface="Consolas" pitchFamily="49" charset="0"/>
                <a:ea typeface="仿宋" pitchFamily="49" charset="-122"/>
                <a:cs typeface="Consolas" pitchFamily="49" charset="0"/>
              </a:rPr>
              <a:t>+1</a:t>
            </a:r>
            <a:r>
              <a:rPr lang="en-US" altLang="zh-CN" sz="2200">
                <a:solidFill>
                  <a:srgbClr val="006600"/>
                </a:solidFill>
                <a:latin typeface="Consolas" pitchFamily="49" charset="0"/>
                <a:ea typeface="仿宋" pitchFamily="49" charset="-122"/>
                <a:cs typeface="Consolas" pitchFamily="49" charset="0"/>
              </a:rPr>
              <a:t>)</a:t>
            </a:r>
            <a:r>
              <a:rPr lang="zh-CN" altLang="zh-CN" sz="2200">
                <a:solidFill>
                  <a:srgbClr val="006600"/>
                </a:solidFill>
                <a:latin typeface="+mn-ea"/>
                <a:cs typeface="Consolas" pitchFamily="49" charset="0"/>
              </a:rPr>
              <a:t>≥</a:t>
            </a:r>
            <a:r>
              <a:rPr lang="zh-CN" altLang="zh-CN" sz="2200">
                <a:solidFill>
                  <a:srgbClr val="006600"/>
                </a:solidFill>
                <a:latin typeface="+mj-ea"/>
                <a:ea typeface="+mj-ea"/>
                <a:cs typeface="Consolas" pitchFamily="49" charset="0"/>
              </a:rPr>
              <a:t>…≥</a:t>
            </a:r>
            <a:r>
              <a:rPr lang="en-US" altLang="zh-CN" sz="2200">
                <a:solidFill>
                  <a:srgbClr val="006600"/>
                </a:solidFill>
                <a:latin typeface="Consolas" pitchFamily="49" charset="0"/>
                <a:ea typeface="仿宋" pitchFamily="49" charset="-122"/>
                <a:cs typeface="Consolas" pitchFamily="49" charset="0"/>
              </a:rPr>
              <a:t>ub(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k</a:t>
            </a:r>
            <a:r>
              <a:rPr lang="en-US" altLang="zh-CN" sz="2200">
                <a:solidFill>
                  <a:srgbClr val="006600"/>
                </a:solidFill>
                <a:latin typeface="Consolas" pitchFamily="49" charset="0"/>
                <a:ea typeface="仿宋" pitchFamily="49" charset="-122"/>
                <a:cs typeface="Consolas" pitchFamily="49" charset="0"/>
              </a:rPr>
              <a:t>)</a:t>
            </a:r>
            <a:endParaRPr lang="zh-CN" altLang="zh-CN" sz="2200">
              <a:solidFill>
                <a:srgbClr val="006600"/>
              </a:solidFill>
              <a:latin typeface="Consolas" pitchFamily="49" charset="0"/>
              <a:ea typeface="仿宋" pitchFamily="49" charset="-122"/>
              <a:cs typeface="Consolas" pitchFamily="49" charset="0"/>
            </a:endParaRPr>
          </a:p>
          <a:p>
            <a:pPr algn="l">
              <a:lnSpc>
                <a:spcPts val="2800"/>
              </a:lnSpc>
            </a:pPr>
            <a:r>
              <a:rPr lang="zh-CN" altLang="zh-CN" sz="2200">
                <a:solidFill>
                  <a:srgbClr val="0000FF"/>
                </a:solidFill>
                <a:latin typeface="Consolas" pitchFamily="49" charset="0"/>
                <a:ea typeface="仿宋" pitchFamily="49" charset="-122"/>
                <a:cs typeface="Consolas" pitchFamily="49" charset="0"/>
              </a:rPr>
              <a:t>所以根结点的</a:t>
            </a:r>
            <a:r>
              <a:rPr lang="en-US" altLang="zh-CN" sz="2200">
                <a:solidFill>
                  <a:srgbClr val="0000FF"/>
                </a:solidFill>
                <a:latin typeface="Consolas" pitchFamily="49" charset="0"/>
                <a:ea typeface="仿宋" pitchFamily="49" charset="-122"/>
                <a:cs typeface="Consolas" pitchFamily="49" charset="0"/>
              </a:rPr>
              <a:t>ub</a:t>
            </a:r>
            <a:r>
              <a:rPr lang="zh-CN" altLang="zh-CN" sz="2200">
                <a:solidFill>
                  <a:srgbClr val="0000FF"/>
                </a:solidFill>
                <a:latin typeface="Consolas" pitchFamily="49" charset="0"/>
                <a:ea typeface="仿宋" pitchFamily="49" charset="-122"/>
                <a:cs typeface="Consolas" pitchFamily="49" charset="0"/>
              </a:rPr>
              <a:t>值应该大于或等于最优解的</a:t>
            </a:r>
            <a:r>
              <a:rPr lang="en-US" altLang="zh-CN" sz="2200">
                <a:solidFill>
                  <a:srgbClr val="0000FF"/>
                </a:solidFill>
                <a:latin typeface="Consolas" pitchFamily="49" charset="0"/>
                <a:ea typeface="仿宋" pitchFamily="49" charset="-122"/>
                <a:cs typeface="Consolas" pitchFamily="49" charset="0"/>
              </a:rPr>
              <a:t>ub</a:t>
            </a:r>
            <a:r>
              <a:rPr lang="zh-CN" altLang="zh-CN" sz="2200">
                <a:solidFill>
                  <a:srgbClr val="0000FF"/>
                </a:solidFill>
                <a:latin typeface="Consolas" pitchFamily="49" charset="0"/>
                <a:ea typeface="仿宋" pitchFamily="49" charset="-122"/>
                <a:cs typeface="Consolas" pitchFamily="49" charset="0"/>
              </a:rPr>
              <a:t>值。如果从</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结点扩展到</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结点，应满足</a:t>
            </a:r>
            <a:r>
              <a:rPr lang="en-US" altLang="zh-CN" sz="2200">
                <a:solidFill>
                  <a:srgbClr val="0000FF"/>
                </a:solidFill>
                <a:latin typeface="Consolas" pitchFamily="49" charset="0"/>
                <a:ea typeface="仿宋" pitchFamily="49" charset="-122"/>
                <a:cs typeface="Consolas" pitchFamily="49" charset="0"/>
              </a:rPr>
              <a:t>ub(</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mn-ea"/>
                <a:cs typeface="Consolas" pitchFamily="49" charset="0"/>
              </a:rPr>
              <a:t>≥</a:t>
            </a:r>
            <a:r>
              <a:rPr lang="en-US" altLang="zh-CN" sz="2200">
                <a:solidFill>
                  <a:srgbClr val="0000FF"/>
                </a:solidFill>
                <a:latin typeface="Consolas" pitchFamily="49" charset="0"/>
                <a:ea typeface="仿宋" pitchFamily="49" charset="-122"/>
                <a:cs typeface="Consolas" pitchFamily="49" charset="0"/>
              </a:rPr>
              <a:t>ub(</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j</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zh-CN" altLang="zh-CN" sz="2200">
                <a:solidFill>
                  <a:srgbClr val="FF0000"/>
                </a:solidFill>
                <a:latin typeface="Consolas" pitchFamily="49" charset="0"/>
                <a:ea typeface="仿宋" pitchFamily="49" charset="-122"/>
                <a:cs typeface="Consolas" pitchFamily="49" charset="0"/>
              </a:rPr>
              <a:t>将所有小于</a:t>
            </a:r>
            <a:r>
              <a:rPr lang="en-US" altLang="zh-CN" sz="2200">
                <a:solidFill>
                  <a:srgbClr val="FF0000"/>
                </a:solidFill>
                <a:latin typeface="Consolas" pitchFamily="49" charset="0"/>
                <a:ea typeface="仿宋" pitchFamily="49" charset="-122"/>
                <a:cs typeface="Consolas" pitchFamily="49" charset="0"/>
              </a:rPr>
              <a:t>ub(</a:t>
            </a:r>
            <a:r>
              <a:rPr lang="en-US" altLang="zh-CN" sz="2200" i="1">
                <a:solidFill>
                  <a:srgbClr val="FF0000"/>
                </a:solidFill>
                <a:latin typeface="Consolas" pitchFamily="49" charset="0"/>
                <a:ea typeface="仿宋" pitchFamily="49" charset="-122"/>
                <a:cs typeface="Consolas" pitchFamily="49" charset="0"/>
              </a:rPr>
              <a:t>s</a:t>
            </a:r>
            <a:r>
              <a:rPr lang="en-US" altLang="zh-CN" sz="2200" i="1" baseline="-25000">
                <a:solidFill>
                  <a:srgbClr val="FF0000"/>
                </a:solidFill>
                <a:latin typeface="Consolas" pitchFamily="49" charset="0"/>
                <a:ea typeface="仿宋" pitchFamily="49" charset="-122"/>
                <a:cs typeface="Consolas" pitchFamily="49" charset="0"/>
              </a:rPr>
              <a:t>i</a:t>
            </a:r>
            <a:r>
              <a:rPr lang="en-US" altLang="zh-CN" sz="2200">
                <a:solidFill>
                  <a:srgbClr val="FF0000"/>
                </a:solidFill>
                <a:latin typeface="Consolas" pitchFamily="49" charset="0"/>
                <a:ea typeface="仿宋" pitchFamily="49" charset="-122"/>
                <a:cs typeface="Consolas" pitchFamily="49" charset="0"/>
              </a:rPr>
              <a:t>)</a:t>
            </a:r>
            <a:r>
              <a:rPr lang="zh-CN" altLang="zh-CN" sz="2200">
                <a:solidFill>
                  <a:srgbClr val="FF0000"/>
                </a:solidFill>
                <a:latin typeface="Consolas" pitchFamily="49" charset="0"/>
                <a:ea typeface="仿宋" pitchFamily="49" charset="-122"/>
                <a:cs typeface="Consolas" pitchFamily="49" charset="0"/>
              </a:rPr>
              <a:t>的结点剪支</a:t>
            </a:r>
            <a:r>
              <a:rPr lang="zh-CN" altLang="zh-CN" sz="2200">
                <a:solidFill>
                  <a:srgbClr val="0000FF"/>
                </a:solidFill>
                <a:latin typeface="Consolas" pitchFamily="49" charset="0"/>
                <a:ea typeface="仿宋" pitchFamily="49" charset="-122"/>
                <a:cs typeface="Consolas" pitchFamily="49" charset="0"/>
              </a:rPr>
              <a:t>。</a:t>
            </a:r>
          </a:p>
        </p:txBody>
      </p:sp>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TextBox 28"/>
          <p:cNvSpPr txBox="1"/>
          <p:nvPr/>
        </p:nvSpPr>
        <p:spPr>
          <a:xfrm>
            <a:off x="428596" y="428604"/>
            <a:ext cx="2571768" cy="461665"/>
          </a:xfrm>
          <a:prstGeom prst="rect">
            <a:avLst/>
          </a:prstGeom>
          <a:solidFill>
            <a:schemeClr val="accent6">
              <a:lumMod val="20000"/>
              <a:lumOff val="80000"/>
            </a:schemeClr>
          </a:solidFill>
          <a:effectLst>
            <a:outerShdw blurRad="76200" dir="18900000" sy="23000" kx="-1200000" algn="bl" rotWithShape="0">
              <a:prstClr val="black">
                <a:alpha val="20000"/>
              </a:prstClr>
            </a:outerShdw>
          </a:effectLst>
        </p:spPr>
        <p:style>
          <a:lnRef idx="3">
            <a:schemeClr val="lt1"/>
          </a:lnRef>
          <a:fillRef idx="1">
            <a:schemeClr val="accent1"/>
          </a:fillRef>
          <a:effectRef idx="1">
            <a:schemeClr val="accent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zh-CN">
                <a:solidFill>
                  <a:srgbClr val="FF0000"/>
                </a:solidFill>
                <a:latin typeface="微软雅黑" pitchFamily="34" charset="-122"/>
                <a:ea typeface="微软雅黑" pitchFamily="34" charset="-122"/>
              </a:rPr>
              <a:t>限界函数</a:t>
            </a:r>
            <a:r>
              <a:rPr lang="zh-CN" altLang="en-US">
                <a:solidFill>
                  <a:srgbClr val="FF0000"/>
                </a:solidFill>
                <a:latin typeface="微软雅黑" pitchFamily="34" charset="-122"/>
                <a:ea typeface="微软雅黑" pitchFamily="34" charset="-122"/>
              </a:rPr>
              <a:t>的特性</a:t>
            </a:r>
            <a:endParaRPr lang="zh-CN" altLang="zh-CN"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cs typeface="Times New Roman" pitchFamily="18" charset="0"/>
            </a:endParaRPr>
          </a:p>
        </p:txBody>
      </p:sp>
      <p:sp>
        <p:nvSpPr>
          <p:cNvPr id="30" name="TextBox 29"/>
          <p:cNvSpPr txBox="1"/>
          <p:nvPr/>
        </p:nvSpPr>
        <p:spPr>
          <a:xfrm>
            <a:off x="214282" y="1229762"/>
            <a:ext cx="878687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假设解向量</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），如果目标函数是求</a:t>
            </a:r>
            <a:r>
              <a:rPr lang="zh-CN" altLang="zh-CN">
                <a:solidFill>
                  <a:srgbClr val="FF0000"/>
                </a:solidFill>
                <a:latin typeface="Consolas" pitchFamily="49" charset="0"/>
                <a:ea typeface="仿宋" pitchFamily="49" charset="-122"/>
                <a:cs typeface="Consolas" pitchFamily="49" charset="0"/>
              </a:rPr>
              <a:t>最大值</a:t>
            </a:r>
            <a:endParaRPr lang="zh-CN" altLang="en-US">
              <a:solidFill>
                <a:srgbClr val="FF0000"/>
              </a:solidFill>
              <a:latin typeface="Consolas" pitchFamily="49" charset="0"/>
              <a:ea typeface="仿宋" pitchFamily="49" charset="-122"/>
              <a:cs typeface="Consolas" pitchFamily="49" charset="0"/>
            </a:endParaRPr>
          </a:p>
        </p:txBody>
      </p:sp>
      <p:sp>
        <p:nvSpPr>
          <p:cNvPr id="31" name="Oval 10"/>
          <p:cNvSpPr>
            <a:spLocks noChangeArrowheads="1"/>
          </p:cNvSpPr>
          <p:nvPr/>
        </p:nvSpPr>
        <p:spPr bwMode="auto">
          <a:xfrm>
            <a:off x="7358082" y="1955190"/>
            <a:ext cx="345172" cy="4022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2" name="Oval 10"/>
          <p:cNvSpPr>
            <a:spLocks noChangeArrowheads="1"/>
          </p:cNvSpPr>
          <p:nvPr/>
        </p:nvSpPr>
        <p:spPr bwMode="auto">
          <a:xfrm>
            <a:off x="7358082" y="2910272"/>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3" name="Oval 10"/>
          <p:cNvSpPr>
            <a:spLocks noChangeArrowheads="1"/>
          </p:cNvSpPr>
          <p:nvPr/>
        </p:nvSpPr>
        <p:spPr bwMode="auto">
          <a:xfrm>
            <a:off x="7358082" y="4955586"/>
            <a:ext cx="345172" cy="40224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cxnSp>
        <p:nvCxnSpPr>
          <p:cNvPr id="35" name="直接箭头连接符 34"/>
          <p:cNvCxnSpPr>
            <a:stCxn id="31" idx="4"/>
            <a:endCxn id="32" idx="0"/>
          </p:cNvCxnSpPr>
          <p:nvPr/>
        </p:nvCxnSpPr>
        <p:spPr>
          <a:xfrm rot="5400000">
            <a:off x="7254247" y="2633851"/>
            <a:ext cx="55284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a:stCxn id="32" idx="4"/>
            <a:endCxn id="39" idx="0"/>
          </p:cNvCxnSpPr>
          <p:nvPr/>
        </p:nvCxnSpPr>
        <p:spPr>
          <a:xfrm rot="5400000">
            <a:off x="7066321" y="3776859"/>
            <a:ext cx="92869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7643834" y="2455256"/>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baseline="-25000">
                <a:solidFill>
                  <a:srgbClr val="0000FF"/>
                </a:solidFill>
                <a:latin typeface="Consolas" pitchFamily="49" charset="0"/>
                <a:ea typeface="楷体" pitchFamily="49" charset="-122"/>
                <a:cs typeface="Times New Roman" pitchFamily="18" charset="0"/>
              </a:rPr>
              <a:t>0</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39" name="Oval 10"/>
          <p:cNvSpPr>
            <a:spLocks noChangeArrowheads="1"/>
          </p:cNvSpPr>
          <p:nvPr/>
        </p:nvSpPr>
        <p:spPr bwMode="auto">
          <a:xfrm>
            <a:off x="7358082" y="4241206"/>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cxnSp>
        <p:nvCxnSpPr>
          <p:cNvPr id="44" name="直接箭头连接符 43"/>
          <p:cNvCxnSpPr>
            <a:stCxn id="39" idx="4"/>
            <a:endCxn id="33" idx="0"/>
          </p:cNvCxnSpPr>
          <p:nvPr/>
        </p:nvCxnSpPr>
        <p:spPr>
          <a:xfrm rot="5400000">
            <a:off x="7374598" y="4799516"/>
            <a:ext cx="31214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7643834" y="3312512"/>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baseline="-25000">
                <a:solidFill>
                  <a:srgbClr val="0000FF"/>
                </a:solidFill>
                <a:latin typeface="Consolas" pitchFamily="49" charset="0"/>
                <a:ea typeface="楷体" pitchFamily="49" charset="-122"/>
                <a:cs typeface="Times New Roman" pitchFamily="18" charset="0"/>
              </a:rPr>
              <a:t>1</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46" name="TextBox 45"/>
          <p:cNvSpPr txBox="1"/>
          <p:nvPr/>
        </p:nvSpPr>
        <p:spPr>
          <a:xfrm>
            <a:off x="7715272" y="4598396"/>
            <a:ext cx="500066" cy="369332"/>
          </a:xfrm>
          <a:prstGeom prst="rect">
            <a:avLst/>
          </a:prstGeom>
          <a:noFill/>
        </p:spPr>
        <p:txBody>
          <a:bodyPr wrap="square" lIns="0" rIns="0"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i="1" baseline="-25000">
                <a:solidFill>
                  <a:srgbClr val="0000FF"/>
                </a:solidFill>
                <a:latin typeface="Consolas" pitchFamily="49" charset="0"/>
                <a:ea typeface="楷体" pitchFamily="49" charset="-122"/>
                <a:cs typeface="Times New Roman" pitchFamily="18" charset="0"/>
              </a:rPr>
              <a:t>n</a:t>
            </a:r>
            <a:r>
              <a:rPr lang="en-US" altLang="zh-CN" sz="1800" baseline="-25000">
                <a:solidFill>
                  <a:srgbClr val="0000FF"/>
                </a:solidFill>
                <a:latin typeface="Consolas" pitchFamily="49" charset="0"/>
                <a:ea typeface="楷体" pitchFamily="49" charset="-122"/>
                <a:cs typeface="Times New Roman" pitchFamily="18" charset="0"/>
              </a:rPr>
              <a:t>-1</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47" name="流程图: 合并 46"/>
          <p:cNvSpPr/>
          <p:nvPr/>
        </p:nvSpPr>
        <p:spPr>
          <a:xfrm>
            <a:off x="8072462" y="2357430"/>
            <a:ext cx="285752" cy="2928958"/>
          </a:xfrm>
          <a:prstGeom prst="flowChartMerg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8" name="TextBox 47"/>
          <p:cNvSpPr txBox="1"/>
          <p:nvPr/>
        </p:nvSpPr>
        <p:spPr>
          <a:xfrm>
            <a:off x="8001024" y="1928802"/>
            <a:ext cx="50006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Times New Roman" pitchFamily="18" charset="0"/>
              </a:rPr>
              <a:t>ub</a:t>
            </a:r>
            <a:endParaRPr lang="zh-CN" altLang="en-US" sz="1800">
              <a:solidFill>
                <a:srgbClr val="0000FF"/>
              </a:solidFill>
              <a:latin typeface="Consolas" pitchFamily="49" charset="0"/>
              <a:ea typeface="楷体" pitchFamily="49" charset="-122"/>
              <a:cs typeface="Times New Roman" pitchFamily="18" charset="0"/>
            </a:endParaRPr>
          </a:p>
        </p:txBody>
      </p:sp>
      <p:sp>
        <p:nvSpPr>
          <p:cNvPr id="19" name="灯片编号占位符 18"/>
          <p:cNvSpPr>
            <a:spLocks noGrp="1"/>
          </p:cNvSpPr>
          <p:nvPr>
            <p:ph type="sldNum" sz="quarter" idx="12"/>
          </p:nvPr>
        </p:nvSpPr>
        <p:spPr/>
        <p:txBody>
          <a:bodyPr/>
          <a:lstStyle/>
          <a:p>
            <a:fld id="{7AF016A1-9F15-429F-9EFD-84004B73C732}" type="slidenum">
              <a:rPr lang="en-US" altLang="zh-CN" smtClean="0"/>
              <a:pPr/>
              <a:t>6</a:t>
            </a:fld>
            <a:r>
              <a:rPr lang="en-US" altLang="zh-CN"/>
              <a:t>/126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28596" y="1944142"/>
            <a:ext cx="6572296" cy="294439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sz="2200">
                <a:solidFill>
                  <a:srgbClr val="0000FF"/>
                </a:solidFill>
                <a:latin typeface="Consolas" pitchFamily="49" charset="0"/>
                <a:ea typeface="仿宋" pitchFamily="49" charset="-122"/>
                <a:cs typeface="Consolas" pitchFamily="49" charset="0"/>
              </a:rPr>
              <a:t>设计</a:t>
            </a:r>
            <a:r>
              <a:rPr lang="zh-CN" altLang="en-US" sz="2200">
                <a:solidFill>
                  <a:srgbClr val="FF0000"/>
                </a:solidFill>
                <a:latin typeface="Consolas" pitchFamily="49" charset="0"/>
                <a:ea typeface="仿宋" pitchFamily="49" charset="-122"/>
                <a:cs typeface="Consolas" pitchFamily="49" charset="0"/>
              </a:rPr>
              <a:t>下</a:t>
            </a:r>
            <a:r>
              <a:rPr lang="zh-CN" altLang="zh-CN" sz="2200">
                <a:solidFill>
                  <a:srgbClr val="FF0000"/>
                </a:solidFill>
                <a:latin typeface="Consolas" pitchFamily="49" charset="0"/>
                <a:ea typeface="仿宋" pitchFamily="49" charset="-122"/>
                <a:cs typeface="Consolas" pitchFamily="49" charset="0"/>
              </a:rPr>
              <a:t>界限界函数</a:t>
            </a:r>
            <a:r>
              <a:rPr lang="en-US" altLang="zh-CN" sz="2200">
                <a:solidFill>
                  <a:srgbClr val="FF0000"/>
                </a:solidFill>
                <a:latin typeface="Consolas" pitchFamily="49" charset="0"/>
                <a:ea typeface="仿宋" pitchFamily="49" charset="-122"/>
                <a:cs typeface="Consolas" pitchFamily="49" charset="0"/>
              </a:rPr>
              <a:t>lb()</a:t>
            </a:r>
            <a:r>
              <a:rPr lang="zh-CN" altLang="zh-CN" sz="2200">
                <a:solidFill>
                  <a:srgbClr val="0000FF"/>
                </a:solidFill>
                <a:latin typeface="Consolas" pitchFamily="49" charset="0"/>
                <a:ea typeface="仿宋" pitchFamily="49" charset="-122"/>
                <a:cs typeface="Consolas" pitchFamily="49" charset="0"/>
              </a:rPr>
              <a:t>，若从</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的分支向下搜索所得到的部分解是（</a:t>
            </a:r>
            <a:r>
              <a:rPr lang="en-US" altLang="zh-CN" sz="2200" i="1">
                <a:solidFill>
                  <a:srgbClr val="0000FF"/>
                </a:solidFill>
                <a:latin typeface="Consolas" pitchFamily="49" charset="0"/>
                <a:ea typeface="仿宋" pitchFamily="49" charset="-122"/>
                <a:cs typeface="Consolas" pitchFamily="49" charset="0"/>
              </a:rPr>
              <a:t>x</a:t>
            </a:r>
            <a:r>
              <a:rPr lang="en-US" altLang="zh-CN" sz="2200" baseline="-25000">
                <a:solidFill>
                  <a:srgbClr val="0000FF"/>
                </a:solidFill>
                <a:latin typeface="Consolas" pitchFamily="49" charset="0"/>
                <a:ea typeface="仿宋" pitchFamily="49" charset="-122"/>
                <a:cs typeface="Consolas" pitchFamily="49" charset="0"/>
              </a:rPr>
              <a:t>0</a:t>
            </a:r>
            <a:r>
              <a:rPr lang="zh-CN" altLang="zh-CN" sz="2200">
                <a:solidFill>
                  <a:srgbClr val="0000FF"/>
                </a:solidFill>
                <a:latin typeface="Consolas" pitchFamily="49" charset="0"/>
                <a:ea typeface="仿宋" pitchFamily="49" charset="-122"/>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baseline="-25000">
                <a:solidFill>
                  <a:srgbClr val="0000FF"/>
                </a:solidFill>
                <a:latin typeface="Consolas" pitchFamily="49" charset="0"/>
                <a:ea typeface="仿宋" pitchFamily="49" charset="-122"/>
                <a:cs typeface="Consolas" pitchFamily="49" charset="0"/>
              </a:rPr>
              <a:t>1</a:t>
            </a:r>
            <a:r>
              <a:rPr lang="zh-CN" altLang="zh-CN" sz="2200">
                <a:solidFill>
                  <a:srgbClr val="0000FF"/>
                </a:solidFill>
                <a:latin typeface="+mj-ea"/>
                <a:ea typeface="+mj-ea"/>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mj-ea"/>
                <a:ea typeface="+mj-ea"/>
                <a:cs typeface="Consolas" pitchFamily="49" charset="0"/>
              </a:rPr>
              <a:t>，…，</a:t>
            </a:r>
            <a:r>
              <a:rPr lang="en-US" altLang="zh-CN" sz="2200" i="1">
                <a:solidFill>
                  <a:srgbClr val="0000FF"/>
                </a:solidFill>
                <a:latin typeface="Consolas" pitchFamily="49" charset="0"/>
                <a:ea typeface="仿宋" pitchFamily="49" charset="-122"/>
                <a:cs typeface="Consolas" pitchFamily="49" charset="0"/>
              </a:rPr>
              <a:t>x</a:t>
            </a:r>
            <a:r>
              <a:rPr lang="en-US" altLang="zh-CN" sz="2200" i="1" baseline="-25000">
                <a:solidFill>
                  <a:srgbClr val="0000FF"/>
                </a:solidFill>
                <a:latin typeface="Consolas" pitchFamily="49" charset="0"/>
                <a:ea typeface="仿宋" pitchFamily="49" charset="-122"/>
                <a:cs typeface="Consolas" pitchFamily="49" charset="0"/>
              </a:rPr>
              <a:t>k</a:t>
            </a:r>
            <a:r>
              <a:rPr lang="zh-CN" altLang="zh-CN" sz="2200">
                <a:solidFill>
                  <a:srgbClr val="0000FF"/>
                </a:solidFill>
                <a:latin typeface="Consolas" pitchFamily="49" charset="0"/>
                <a:ea typeface="仿宋" pitchFamily="49" charset="-122"/>
                <a:cs typeface="Consolas" pitchFamily="49" charset="0"/>
              </a:rPr>
              <a:t>），则应该满足：</a:t>
            </a:r>
          </a:p>
          <a:p>
            <a:pPr algn="l">
              <a:lnSpc>
                <a:spcPts val="2800"/>
              </a:lnSpc>
            </a:pPr>
            <a:r>
              <a:rPr lang="en-US" altLang="zh-CN" sz="2200">
                <a:solidFill>
                  <a:srgbClr val="006600"/>
                </a:solidFill>
                <a:latin typeface="Consolas" pitchFamily="49" charset="0"/>
                <a:ea typeface="仿宋" pitchFamily="49" charset="-122"/>
                <a:cs typeface="Consolas" pitchFamily="49" charset="0"/>
              </a:rPr>
              <a:t>     lb(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i</a:t>
            </a:r>
            <a:r>
              <a:rPr lang="en-US" altLang="zh-CN" sz="2200">
                <a:solidFill>
                  <a:srgbClr val="006600"/>
                </a:solidFill>
                <a:latin typeface="Consolas" pitchFamily="49" charset="0"/>
                <a:ea typeface="仿宋" pitchFamily="49" charset="-122"/>
                <a:cs typeface="Consolas" pitchFamily="49" charset="0"/>
              </a:rPr>
              <a:t>)</a:t>
            </a:r>
            <a:r>
              <a:rPr lang="zh-CN" altLang="en-US" sz="2200">
                <a:solidFill>
                  <a:srgbClr val="006600"/>
                </a:solidFill>
                <a:latin typeface="+mn-ea"/>
                <a:cs typeface="Consolas" pitchFamily="49" charset="0"/>
              </a:rPr>
              <a:t>≤</a:t>
            </a:r>
            <a:r>
              <a:rPr lang="en-US" altLang="zh-CN" sz="2200">
                <a:solidFill>
                  <a:srgbClr val="006600"/>
                </a:solidFill>
                <a:latin typeface="Consolas" pitchFamily="49" charset="0"/>
                <a:ea typeface="仿宋" pitchFamily="49" charset="-122"/>
                <a:cs typeface="Consolas" pitchFamily="49" charset="0"/>
              </a:rPr>
              <a:t>lb(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i</a:t>
            </a:r>
            <a:r>
              <a:rPr lang="en-US" altLang="zh-CN" sz="2200" baseline="-25000">
                <a:solidFill>
                  <a:srgbClr val="006600"/>
                </a:solidFill>
                <a:latin typeface="Consolas" pitchFamily="49" charset="0"/>
                <a:ea typeface="仿宋" pitchFamily="49" charset="-122"/>
                <a:cs typeface="Consolas" pitchFamily="49" charset="0"/>
              </a:rPr>
              <a:t>+1</a:t>
            </a:r>
            <a:r>
              <a:rPr lang="en-US" altLang="zh-CN" sz="2200">
                <a:solidFill>
                  <a:srgbClr val="006600"/>
                </a:solidFill>
                <a:latin typeface="Consolas" pitchFamily="49" charset="0"/>
                <a:ea typeface="仿宋" pitchFamily="49" charset="-122"/>
                <a:cs typeface="Consolas" pitchFamily="49" charset="0"/>
              </a:rPr>
              <a:t>)</a:t>
            </a:r>
            <a:r>
              <a:rPr lang="zh-CN" altLang="en-US" sz="2200">
                <a:solidFill>
                  <a:srgbClr val="006600"/>
                </a:solidFill>
                <a:latin typeface="+mj-ea"/>
                <a:ea typeface="+mj-ea"/>
                <a:cs typeface="Consolas" pitchFamily="49" charset="0"/>
              </a:rPr>
              <a:t>≤</a:t>
            </a:r>
            <a:r>
              <a:rPr lang="zh-CN" altLang="zh-CN" sz="2200">
                <a:solidFill>
                  <a:srgbClr val="006600"/>
                </a:solidFill>
                <a:latin typeface="+mj-ea"/>
                <a:ea typeface="+mj-ea"/>
                <a:cs typeface="Consolas" pitchFamily="49" charset="0"/>
              </a:rPr>
              <a:t>…</a:t>
            </a:r>
            <a:r>
              <a:rPr lang="zh-CN" altLang="en-US" sz="2200">
                <a:solidFill>
                  <a:srgbClr val="006600"/>
                </a:solidFill>
                <a:latin typeface="+mj-ea"/>
                <a:ea typeface="+mj-ea"/>
                <a:cs typeface="Consolas" pitchFamily="49" charset="0"/>
              </a:rPr>
              <a:t>≤</a:t>
            </a:r>
            <a:r>
              <a:rPr lang="en-US" altLang="zh-CN" sz="2200">
                <a:solidFill>
                  <a:srgbClr val="006600"/>
                </a:solidFill>
                <a:latin typeface="Consolas" pitchFamily="49" charset="0"/>
                <a:ea typeface="仿宋" pitchFamily="49" charset="-122"/>
                <a:cs typeface="Consolas" pitchFamily="49" charset="0"/>
              </a:rPr>
              <a:t>lb(</a:t>
            </a:r>
            <a:r>
              <a:rPr lang="en-US" altLang="zh-CN" sz="2200" i="1">
                <a:solidFill>
                  <a:srgbClr val="006600"/>
                </a:solidFill>
                <a:latin typeface="Consolas" pitchFamily="49" charset="0"/>
                <a:ea typeface="仿宋" pitchFamily="49" charset="-122"/>
                <a:cs typeface="Consolas" pitchFamily="49" charset="0"/>
              </a:rPr>
              <a:t>x</a:t>
            </a:r>
            <a:r>
              <a:rPr lang="en-US" altLang="zh-CN" sz="2200" i="1" baseline="-25000">
                <a:solidFill>
                  <a:srgbClr val="006600"/>
                </a:solidFill>
                <a:latin typeface="Consolas" pitchFamily="49" charset="0"/>
                <a:ea typeface="仿宋" pitchFamily="49" charset="-122"/>
                <a:cs typeface="Consolas" pitchFamily="49" charset="0"/>
              </a:rPr>
              <a:t>k</a:t>
            </a:r>
            <a:r>
              <a:rPr lang="en-US" altLang="zh-CN" sz="2200">
                <a:solidFill>
                  <a:srgbClr val="006600"/>
                </a:solidFill>
                <a:latin typeface="Consolas" pitchFamily="49" charset="0"/>
                <a:ea typeface="仿宋" pitchFamily="49" charset="-122"/>
                <a:cs typeface="Consolas" pitchFamily="49" charset="0"/>
              </a:rPr>
              <a:t>)</a:t>
            </a:r>
            <a:endParaRPr lang="zh-CN" altLang="zh-CN" sz="2200">
              <a:solidFill>
                <a:srgbClr val="006600"/>
              </a:solidFill>
              <a:latin typeface="Consolas" pitchFamily="49" charset="0"/>
              <a:ea typeface="仿宋" pitchFamily="49" charset="-122"/>
              <a:cs typeface="Consolas" pitchFamily="49" charset="0"/>
            </a:endParaRPr>
          </a:p>
          <a:p>
            <a:pPr algn="l">
              <a:lnSpc>
                <a:spcPts val="2800"/>
              </a:lnSpc>
            </a:pPr>
            <a:r>
              <a:rPr lang="zh-CN" altLang="zh-CN" sz="2200">
                <a:solidFill>
                  <a:srgbClr val="0000FF"/>
                </a:solidFill>
                <a:latin typeface="Consolas" pitchFamily="49" charset="0"/>
                <a:ea typeface="仿宋" pitchFamily="49" charset="-122"/>
                <a:cs typeface="Consolas" pitchFamily="49" charset="0"/>
              </a:rPr>
              <a:t>所以根结点的</a:t>
            </a:r>
            <a:r>
              <a:rPr lang="en-US" altLang="zh-CN" sz="2200">
                <a:solidFill>
                  <a:srgbClr val="0000FF"/>
                </a:solidFill>
                <a:latin typeface="Consolas" pitchFamily="49" charset="0"/>
                <a:ea typeface="仿宋" pitchFamily="49" charset="-122"/>
                <a:cs typeface="Consolas" pitchFamily="49" charset="0"/>
              </a:rPr>
              <a:t>bb</a:t>
            </a:r>
            <a:r>
              <a:rPr lang="zh-CN" altLang="zh-CN" sz="2200">
                <a:solidFill>
                  <a:srgbClr val="0000FF"/>
                </a:solidFill>
                <a:latin typeface="Consolas" pitchFamily="49" charset="0"/>
                <a:ea typeface="仿宋" pitchFamily="49" charset="-122"/>
                <a:cs typeface="Consolas" pitchFamily="49" charset="0"/>
              </a:rPr>
              <a:t>值应该</a:t>
            </a:r>
            <a:r>
              <a:rPr lang="zh-CN" altLang="en-US" sz="2200">
                <a:solidFill>
                  <a:srgbClr val="0000FF"/>
                </a:solidFill>
                <a:latin typeface="Consolas" pitchFamily="49" charset="0"/>
                <a:ea typeface="仿宋" pitchFamily="49" charset="-122"/>
                <a:cs typeface="Consolas" pitchFamily="49" charset="0"/>
              </a:rPr>
              <a:t>小</a:t>
            </a:r>
            <a:r>
              <a:rPr lang="zh-CN" altLang="zh-CN" sz="2200">
                <a:solidFill>
                  <a:srgbClr val="0000FF"/>
                </a:solidFill>
                <a:latin typeface="Consolas" pitchFamily="49" charset="0"/>
                <a:ea typeface="仿宋" pitchFamily="49" charset="-122"/>
                <a:cs typeface="Consolas" pitchFamily="49" charset="0"/>
              </a:rPr>
              <a:t>于或等于最优解的</a:t>
            </a:r>
            <a:r>
              <a:rPr lang="en-US" altLang="zh-CN" sz="2200">
                <a:solidFill>
                  <a:srgbClr val="0000FF"/>
                </a:solidFill>
                <a:latin typeface="Consolas" pitchFamily="49" charset="0"/>
                <a:ea typeface="仿宋" pitchFamily="49" charset="-122"/>
                <a:cs typeface="Consolas" pitchFamily="49" charset="0"/>
              </a:rPr>
              <a:t>lb</a:t>
            </a:r>
            <a:r>
              <a:rPr lang="zh-CN" altLang="zh-CN" sz="2200">
                <a:solidFill>
                  <a:srgbClr val="0000FF"/>
                </a:solidFill>
                <a:latin typeface="Consolas" pitchFamily="49" charset="0"/>
                <a:ea typeface="仿宋" pitchFamily="49" charset="-122"/>
                <a:cs typeface="Consolas" pitchFamily="49" charset="0"/>
              </a:rPr>
              <a:t>值。如果从</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结点扩展到</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j</a:t>
            </a:r>
            <a:r>
              <a:rPr lang="zh-CN" altLang="zh-CN" sz="2200">
                <a:solidFill>
                  <a:srgbClr val="0000FF"/>
                </a:solidFill>
                <a:latin typeface="Consolas" pitchFamily="49" charset="0"/>
                <a:ea typeface="仿宋" pitchFamily="49" charset="-122"/>
                <a:cs typeface="Consolas" pitchFamily="49" charset="0"/>
              </a:rPr>
              <a:t>结点，应满足</a:t>
            </a:r>
            <a:r>
              <a:rPr lang="en-US" altLang="zh-CN" sz="2200">
                <a:solidFill>
                  <a:srgbClr val="0000FF"/>
                </a:solidFill>
                <a:latin typeface="Consolas" pitchFamily="49" charset="0"/>
                <a:ea typeface="仿宋" pitchFamily="49" charset="-122"/>
                <a:cs typeface="Consolas" pitchFamily="49" charset="0"/>
              </a:rPr>
              <a:t>lb(</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i</a:t>
            </a:r>
            <a:r>
              <a:rPr lang="en-US" altLang="zh-CN" sz="2200">
                <a:solidFill>
                  <a:srgbClr val="0000FF"/>
                </a:solidFill>
                <a:latin typeface="Consolas" pitchFamily="49" charset="0"/>
                <a:ea typeface="仿宋" pitchFamily="49" charset="-122"/>
                <a:cs typeface="Consolas" pitchFamily="49" charset="0"/>
              </a:rPr>
              <a:t>)</a:t>
            </a:r>
            <a:r>
              <a:rPr lang="zh-CN" altLang="en-US" sz="2200">
                <a:solidFill>
                  <a:srgbClr val="0000FF"/>
                </a:solidFill>
                <a:latin typeface="+mj-ea"/>
                <a:ea typeface="+mj-ea"/>
                <a:cs typeface="Consolas" pitchFamily="49" charset="0"/>
              </a:rPr>
              <a:t>≤</a:t>
            </a:r>
            <a:r>
              <a:rPr lang="en-US" altLang="zh-CN" sz="2200">
                <a:solidFill>
                  <a:srgbClr val="0000FF"/>
                </a:solidFill>
                <a:latin typeface="Consolas" pitchFamily="49" charset="0"/>
                <a:ea typeface="仿宋" pitchFamily="49" charset="-122"/>
                <a:cs typeface="Consolas" pitchFamily="49" charset="0"/>
              </a:rPr>
              <a:t>lb(</a:t>
            </a:r>
            <a:r>
              <a:rPr lang="en-US" altLang="zh-CN" sz="2200" i="1">
                <a:solidFill>
                  <a:srgbClr val="0000FF"/>
                </a:solidFill>
                <a:latin typeface="Consolas" pitchFamily="49" charset="0"/>
                <a:ea typeface="仿宋" pitchFamily="49" charset="-122"/>
                <a:cs typeface="Consolas" pitchFamily="49" charset="0"/>
              </a:rPr>
              <a:t>s</a:t>
            </a:r>
            <a:r>
              <a:rPr lang="en-US" altLang="zh-CN" sz="2200" i="1" baseline="-25000">
                <a:solidFill>
                  <a:srgbClr val="0000FF"/>
                </a:solidFill>
                <a:latin typeface="Consolas" pitchFamily="49" charset="0"/>
                <a:ea typeface="仿宋" pitchFamily="49" charset="-122"/>
                <a:cs typeface="Consolas" pitchFamily="49" charset="0"/>
              </a:rPr>
              <a:t>j</a:t>
            </a:r>
            <a:r>
              <a:rPr lang="en-US" altLang="zh-CN" sz="2200">
                <a:solidFill>
                  <a:srgbClr val="0000FF"/>
                </a:solidFill>
                <a:latin typeface="Consolas" pitchFamily="49" charset="0"/>
                <a:ea typeface="仿宋" pitchFamily="49" charset="-122"/>
                <a:cs typeface="Consolas" pitchFamily="49" charset="0"/>
              </a:rPr>
              <a:t>)</a:t>
            </a:r>
            <a:r>
              <a:rPr lang="zh-CN" altLang="zh-CN" sz="2200">
                <a:solidFill>
                  <a:srgbClr val="0000FF"/>
                </a:solidFill>
                <a:latin typeface="Consolas" pitchFamily="49" charset="0"/>
                <a:ea typeface="仿宋" pitchFamily="49" charset="-122"/>
                <a:cs typeface="Consolas" pitchFamily="49" charset="0"/>
              </a:rPr>
              <a:t>，</a:t>
            </a:r>
            <a:r>
              <a:rPr lang="zh-CN" altLang="zh-CN" sz="2200">
                <a:solidFill>
                  <a:srgbClr val="FF0000"/>
                </a:solidFill>
                <a:latin typeface="Consolas" pitchFamily="49" charset="0"/>
                <a:ea typeface="仿宋" pitchFamily="49" charset="-122"/>
                <a:cs typeface="Consolas" pitchFamily="49" charset="0"/>
              </a:rPr>
              <a:t>将所有</a:t>
            </a:r>
            <a:r>
              <a:rPr lang="zh-CN" altLang="en-US" sz="2200">
                <a:solidFill>
                  <a:srgbClr val="FF0000"/>
                </a:solidFill>
                <a:latin typeface="Consolas" pitchFamily="49" charset="0"/>
                <a:ea typeface="仿宋" pitchFamily="49" charset="-122"/>
                <a:cs typeface="Consolas" pitchFamily="49" charset="0"/>
              </a:rPr>
              <a:t>大</a:t>
            </a:r>
            <a:r>
              <a:rPr lang="zh-CN" altLang="zh-CN" sz="2200">
                <a:solidFill>
                  <a:srgbClr val="FF0000"/>
                </a:solidFill>
                <a:latin typeface="Consolas" pitchFamily="49" charset="0"/>
                <a:ea typeface="仿宋" pitchFamily="49" charset="-122"/>
                <a:cs typeface="Consolas" pitchFamily="49" charset="0"/>
              </a:rPr>
              <a:t>于</a:t>
            </a:r>
            <a:r>
              <a:rPr lang="en-US" altLang="zh-CN" sz="2200">
                <a:solidFill>
                  <a:srgbClr val="FF0000"/>
                </a:solidFill>
                <a:latin typeface="Consolas" pitchFamily="49" charset="0"/>
                <a:ea typeface="仿宋" pitchFamily="49" charset="-122"/>
                <a:cs typeface="Consolas" pitchFamily="49" charset="0"/>
              </a:rPr>
              <a:t>lb(</a:t>
            </a:r>
            <a:r>
              <a:rPr lang="en-US" altLang="zh-CN" sz="2200" i="1">
                <a:solidFill>
                  <a:srgbClr val="FF0000"/>
                </a:solidFill>
                <a:latin typeface="Consolas" pitchFamily="49" charset="0"/>
                <a:ea typeface="仿宋" pitchFamily="49" charset="-122"/>
                <a:cs typeface="Consolas" pitchFamily="49" charset="0"/>
              </a:rPr>
              <a:t>s</a:t>
            </a:r>
            <a:r>
              <a:rPr lang="en-US" altLang="zh-CN" sz="2200" i="1" baseline="-25000">
                <a:solidFill>
                  <a:srgbClr val="FF0000"/>
                </a:solidFill>
                <a:latin typeface="Consolas" pitchFamily="49" charset="0"/>
                <a:ea typeface="仿宋" pitchFamily="49" charset="-122"/>
                <a:cs typeface="Consolas" pitchFamily="49" charset="0"/>
              </a:rPr>
              <a:t>i</a:t>
            </a:r>
            <a:r>
              <a:rPr lang="en-US" altLang="zh-CN" sz="2200">
                <a:solidFill>
                  <a:srgbClr val="FF0000"/>
                </a:solidFill>
                <a:latin typeface="Consolas" pitchFamily="49" charset="0"/>
                <a:ea typeface="仿宋" pitchFamily="49" charset="-122"/>
                <a:cs typeface="Consolas" pitchFamily="49" charset="0"/>
              </a:rPr>
              <a:t>)</a:t>
            </a:r>
            <a:r>
              <a:rPr lang="zh-CN" altLang="zh-CN" sz="2200">
                <a:solidFill>
                  <a:srgbClr val="FF0000"/>
                </a:solidFill>
                <a:latin typeface="Consolas" pitchFamily="49" charset="0"/>
                <a:ea typeface="仿宋" pitchFamily="49" charset="-122"/>
                <a:cs typeface="Consolas" pitchFamily="49" charset="0"/>
              </a:rPr>
              <a:t>的结点剪支</a:t>
            </a:r>
            <a:r>
              <a:rPr lang="zh-CN" altLang="zh-CN" sz="2200">
                <a:solidFill>
                  <a:srgbClr val="0000FF"/>
                </a:solidFill>
                <a:latin typeface="Consolas" pitchFamily="49" charset="0"/>
                <a:ea typeface="仿宋" pitchFamily="49" charset="-122"/>
                <a:cs typeface="Consolas" pitchFamily="49" charset="0"/>
              </a:rPr>
              <a:t>。</a:t>
            </a:r>
          </a:p>
        </p:txBody>
      </p:sp>
      <p:sp>
        <p:nvSpPr>
          <p:cNvPr id="61467" name="Rectangle 2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TextBox 29"/>
          <p:cNvSpPr txBox="1"/>
          <p:nvPr/>
        </p:nvSpPr>
        <p:spPr>
          <a:xfrm>
            <a:off x="214282" y="785794"/>
            <a:ext cx="892971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假设解向量</a:t>
            </a:r>
            <a:r>
              <a:rPr lang="en-US" altLang="zh-CN" i="1">
                <a:solidFill>
                  <a:srgbClr val="0000FF"/>
                </a:solidFill>
                <a:latin typeface="Consolas" pitchFamily="49" charset="0"/>
                <a:ea typeface="仿宋" pitchFamily="49" charset="-122"/>
                <a:cs typeface="Consolas" pitchFamily="49" charset="0"/>
              </a:rPr>
              <a:t>x</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x</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），如果目标函数是求</a:t>
            </a:r>
            <a:r>
              <a:rPr lang="zh-CN" altLang="zh-CN">
                <a:solidFill>
                  <a:srgbClr val="FF0000"/>
                </a:solidFill>
                <a:latin typeface="Consolas" pitchFamily="49" charset="0"/>
                <a:ea typeface="仿宋" pitchFamily="49" charset="-122"/>
                <a:cs typeface="Consolas" pitchFamily="49" charset="0"/>
              </a:rPr>
              <a:t>最</a:t>
            </a:r>
            <a:r>
              <a:rPr lang="zh-CN" altLang="en-US">
                <a:solidFill>
                  <a:srgbClr val="FF0000"/>
                </a:solidFill>
                <a:latin typeface="Consolas" pitchFamily="49" charset="0"/>
                <a:ea typeface="仿宋" pitchFamily="49" charset="-122"/>
                <a:cs typeface="Consolas" pitchFamily="49" charset="0"/>
              </a:rPr>
              <a:t>小</a:t>
            </a:r>
            <a:r>
              <a:rPr lang="zh-CN" altLang="zh-CN">
                <a:solidFill>
                  <a:srgbClr val="FF0000"/>
                </a:solidFill>
                <a:latin typeface="Consolas" pitchFamily="49" charset="0"/>
                <a:ea typeface="仿宋" pitchFamily="49" charset="-122"/>
                <a:cs typeface="Consolas" pitchFamily="49" charset="0"/>
              </a:rPr>
              <a:t>值</a:t>
            </a:r>
            <a:endParaRPr lang="zh-CN" altLang="en-US">
              <a:solidFill>
                <a:srgbClr val="FF0000"/>
              </a:solidFill>
              <a:latin typeface="Consolas" pitchFamily="49" charset="0"/>
              <a:ea typeface="仿宋" pitchFamily="49" charset="-122"/>
              <a:cs typeface="Consolas" pitchFamily="49" charset="0"/>
            </a:endParaRPr>
          </a:p>
        </p:txBody>
      </p:sp>
      <p:sp>
        <p:nvSpPr>
          <p:cNvPr id="31" name="Oval 10"/>
          <p:cNvSpPr>
            <a:spLocks noChangeArrowheads="1"/>
          </p:cNvSpPr>
          <p:nvPr/>
        </p:nvSpPr>
        <p:spPr bwMode="auto">
          <a:xfrm>
            <a:off x="7358082" y="1955190"/>
            <a:ext cx="345172" cy="4022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2" name="Oval 10"/>
          <p:cNvSpPr>
            <a:spLocks noChangeArrowheads="1"/>
          </p:cNvSpPr>
          <p:nvPr/>
        </p:nvSpPr>
        <p:spPr bwMode="auto">
          <a:xfrm>
            <a:off x="7358082" y="2910272"/>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3" name="Oval 10"/>
          <p:cNvSpPr>
            <a:spLocks noChangeArrowheads="1"/>
          </p:cNvSpPr>
          <p:nvPr/>
        </p:nvSpPr>
        <p:spPr bwMode="auto">
          <a:xfrm>
            <a:off x="7358082" y="4955586"/>
            <a:ext cx="345172" cy="40224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cxnSp>
        <p:nvCxnSpPr>
          <p:cNvPr id="35" name="直接箭头连接符 34"/>
          <p:cNvCxnSpPr>
            <a:stCxn id="31" idx="4"/>
            <a:endCxn id="32" idx="0"/>
          </p:cNvCxnSpPr>
          <p:nvPr/>
        </p:nvCxnSpPr>
        <p:spPr>
          <a:xfrm rot="5400000">
            <a:off x="7254247" y="2633851"/>
            <a:ext cx="55284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7" name="直接箭头连接符 36"/>
          <p:cNvCxnSpPr>
            <a:stCxn id="32" idx="4"/>
            <a:endCxn id="39" idx="0"/>
          </p:cNvCxnSpPr>
          <p:nvPr/>
        </p:nvCxnSpPr>
        <p:spPr>
          <a:xfrm rot="5400000">
            <a:off x="7066321" y="3776859"/>
            <a:ext cx="92869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7643834" y="2455256"/>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baseline="-25000">
                <a:solidFill>
                  <a:srgbClr val="0000FF"/>
                </a:solidFill>
                <a:latin typeface="Consolas" pitchFamily="49" charset="0"/>
                <a:ea typeface="楷体" pitchFamily="49" charset="-122"/>
                <a:cs typeface="Times New Roman" pitchFamily="18" charset="0"/>
              </a:rPr>
              <a:t>0</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39" name="Oval 10"/>
          <p:cNvSpPr>
            <a:spLocks noChangeArrowheads="1"/>
          </p:cNvSpPr>
          <p:nvPr/>
        </p:nvSpPr>
        <p:spPr bwMode="auto">
          <a:xfrm>
            <a:off x="7358082" y="4241206"/>
            <a:ext cx="345172" cy="4022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300"/>
              </a:lnSpc>
              <a:spcBef>
                <a:spcPct val="0"/>
              </a:spcBef>
              <a:spcAft>
                <a:spcPct val="0"/>
              </a:spcAft>
              <a:buClrTx/>
              <a:buSzTx/>
              <a:buFontTx/>
              <a:buNone/>
              <a:tabLst/>
            </a:pPr>
            <a:endParaRPr kumimoji="0" lang="en-US" altLang="zh-CN" sz="18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cxnSp>
        <p:nvCxnSpPr>
          <p:cNvPr id="44" name="直接箭头连接符 43"/>
          <p:cNvCxnSpPr>
            <a:stCxn id="39" idx="4"/>
            <a:endCxn id="33" idx="0"/>
          </p:cNvCxnSpPr>
          <p:nvPr/>
        </p:nvCxnSpPr>
        <p:spPr>
          <a:xfrm rot="5400000">
            <a:off x="7374598" y="4799516"/>
            <a:ext cx="31214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45" name="TextBox 44"/>
          <p:cNvSpPr txBox="1"/>
          <p:nvPr/>
        </p:nvSpPr>
        <p:spPr>
          <a:xfrm>
            <a:off x="7643834" y="3312512"/>
            <a:ext cx="42862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baseline="-25000">
                <a:solidFill>
                  <a:srgbClr val="0000FF"/>
                </a:solidFill>
                <a:latin typeface="Consolas" pitchFamily="49" charset="0"/>
                <a:ea typeface="楷体" pitchFamily="49" charset="-122"/>
                <a:cs typeface="Times New Roman" pitchFamily="18" charset="0"/>
              </a:rPr>
              <a:t>1</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46" name="TextBox 45"/>
          <p:cNvSpPr txBox="1"/>
          <p:nvPr/>
        </p:nvSpPr>
        <p:spPr>
          <a:xfrm>
            <a:off x="7715272" y="4598396"/>
            <a:ext cx="500066" cy="369332"/>
          </a:xfrm>
          <a:prstGeom prst="rect">
            <a:avLst/>
          </a:prstGeom>
          <a:noFill/>
        </p:spPr>
        <p:txBody>
          <a:bodyPr wrap="square" lIns="0" rIns="0" rtlCol="0">
            <a:spAutoFit/>
          </a:bodyPr>
          <a:lstStyle/>
          <a:p>
            <a:pPr algn="l">
              <a:lnSpc>
                <a:spcPct val="100000"/>
              </a:lnSpc>
              <a:spcBef>
                <a:spcPts val="0"/>
              </a:spcBef>
            </a:pPr>
            <a:r>
              <a:rPr lang="en-US" altLang="zh-CN" sz="1800" i="1">
                <a:solidFill>
                  <a:srgbClr val="0000FF"/>
                </a:solidFill>
                <a:latin typeface="Consolas" pitchFamily="49" charset="0"/>
                <a:ea typeface="楷体" pitchFamily="49" charset="-122"/>
                <a:cs typeface="Times New Roman" pitchFamily="18" charset="0"/>
              </a:rPr>
              <a:t>x</a:t>
            </a:r>
            <a:r>
              <a:rPr lang="en-US" altLang="zh-CN" sz="1800" i="1" baseline="-25000">
                <a:solidFill>
                  <a:srgbClr val="0000FF"/>
                </a:solidFill>
                <a:latin typeface="Consolas" pitchFamily="49" charset="0"/>
                <a:ea typeface="楷体" pitchFamily="49" charset="-122"/>
                <a:cs typeface="Times New Roman" pitchFamily="18" charset="0"/>
              </a:rPr>
              <a:t>n</a:t>
            </a:r>
            <a:r>
              <a:rPr lang="en-US" altLang="zh-CN" sz="1800" baseline="-25000">
                <a:solidFill>
                  <a:srgbClr val="0000FF"/>
                </a:solidFill>
                <a:latin typeface="Consolas" pitchFamily="49" charset="0"/>
                <a:ea typeface="楷体" pitchFamily="49" charset="-122"/>
                <a:cs typeface="Times New Roman" pitchFamily="18" charset="0"/>
              </a:rPr>
              <a:t>-1</a:t>
            </a:r>
            <a:endParaRPr lang="zh-CN" altLang="en-US" sz="1800" baseline="-25000">
              <a:solidFill>
                <a:srgbClr val="0000FF"/>
              </a:solidFill>
              <a:latin typeface="Consolas" pitchFamily="49" charset="0"/>
              <a:ea typeface="楷体" pitchFamily="49" charset="-122"/>
              <a:cs typeface="Times New Roman" pitchFamily="18" charset="0"/>
            </a:endParaRPr>
          </a:p>
        </p:txBody>
      </p:sp>
      <p:sp>
        <p:nvSpPr>
          <p:cNvPr id="47" name="流程图: 合并 46"/>
          <p:cNvSpPr/>
          <p:nvPr/>
        </p:nvSpPr>
        <p:spPr>
          <a:xfrm rot="10800000">
            <a:off x="8286776" y="2357430"/>
            <a:ext cx="285752" cy="2928958"/>
          </a:xfrm>
          <a:prstGeom prst="flowChartMerge">
            <a:avLst/>
          </a:prstGeom>
          <a:ln>
            <a:tailEnd type="none"/>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8" name="TextBox 47"/>
          <p:cNvSpPr txBox="1"/>
          <p:nvPr/>
        </p:nvSpPr>
        <p:spPr>
          <a:xfrm>
            <a:off x="8215338" y="1928802"/>
            <a:ext cx="50006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Times New Roman" pitchFamily="18" charset="0"/>
              </a:rPr>
              <a:t>lb</a:t>
            </a:r>
            <a:endParaRPr lang="zh-CN" altLang="en-US" sz="1800">
              <a:solidFill>
                <a:srgbClr val="0000FF"/>
              </a:solidFill>
              <a:latin typeface="Consolas" pitchFamily="49" charset="0"/>
              <a:ea typeface="楷体" pitchFamily="49" charset="-122"/>
              <a:cs typeface="Times New Roman" pitchFamily="18" charset="0"/>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7</a:t>
            </a:fld>
            <a:r>
              <a:rPr lang="en-US" altLang="zh-CN"/>
              <a:t>/126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34" name="Rectangle 7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5791"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0432"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TextBox 23"/>
          <p:cNvSpPr txBox="1"/>
          <p:nvPr/>
        </p:nvSpPr>
        <p:spPr>
          <a:xfrm>
            <a:off x="571472" y="1500174"/>
            <a:ext cx="8072494" cy="354811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800"/>
              </a:lnSpc>
              <a:spcBef>
                <a:spcPts val="600"/>
              </a:spcBef>
            </a:pPr>
            <a:r>
              <a:rPr lang="en-US" altLang="zh-CN">
                <a:solidFill>
                  <a:srgbClr val="FF0000"/>
                </a:solidFill>
                <a:latin typeface="Consolas" pitchFamily="49" charset="0"/>
                <a:ea typeface="楷体" pitchFamily="49" charset="-122"/>
                <a:cs typeface="Times New Roman" pitchFamily="18" charset="0"/>
              </a:rPr>
              <a:t>1</a:t>
            </a:r>
            <a:r>
              <a:rPr lang="zh-CN" altLang="zh-CN">
                <a:solidFill>
                  <a:srgbClr val="FF0000"/>
                </a:solidFill>
                <a:latin typeface="Consolas" pitchFamily="49" charset="0"/>
                <a:ea typeface="楷体" pitchFamily="49" charset="-122"/>
                <a:cs typeface="Times New Roman" pitchFamily="18" charset="0"/>
              </a:rPr>
              <a:t>）队列式分支限界法</a:t>
            </a:r>
          </a:p>
          <a:p>
            <a:pPr algn="l">
              <a:lnSpc>
                <a:spcPts val="2800"/>
              </a:lnSpc>
              <a:spcBef>
                <a:spcPts val="600"/>
              </a:spcBef>
            </a:pPr>
            <a:r>
              <a:rPr lang="zh-CN" altLang="zh-CN">
                <a:solidFill>
                  <a:srgbClr val="0000FF"/>
                </a:solidFill>
                <a:latin typeface="Consolas" pitchFamily="49" charset="0"/>
                <a:ea typeface="仿宋" pitchFamily="49" charset="-122"/>
                <a:cs typeface="Times New Roman" pitchFamily="18" charset="0"/>
              </a:rPr>
              <a:t>活结点表组织成一个</a:t>
            </a:r>
            <a:r>
              <a:rPr lang="zh-CN" altLang="zh-CN">
                <a:solidFill>
                  <a:srgbClr val="006600"/>
                </a:solidFill>
                <a:latin typeface="Consolas" pitchFamily="49" charset="0"/>
                <a:ea typeface="仿宋" pitchFamily="49" charset="-122"/>
                <a:cs typeface="Times New Roman" pitchFamily="18" charset="0"/>
              </a:rPr>
              <a:t>队列</a:t>
            </a:r>
            <a:r>
              <a:rPr lang="zh-CN" altLang="zh-CN">
                <a:solidFill>
                  <a:srgbClr val="0000FF"/>
                </a:solidFill>
                <a:latin typeface="Consolas" pitchFamily="49" charset="0"/>
                <a:ea typeface="仿宋" pitchFamily="49" charset="-122"/>
                <a:cs typeface="Times New Roman" pitchFamily="18" charset="0"/>
              </a:rPr>
              <a:t>，并按照队列先进先出原则选取下一个结点为扩展结点</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与广度优先搜索相同。队列通常采用</a:t>
            </a:r>
            <a:r>
              <a:rPr lang="en-US" altLang="zh-CN">
                <a:solidFill>
                  <a:srgbClr val="FF00FF"/>
                </a:solidFill>
                <a:latin typeface="Consolas" pitchFamily="49" charset="0"/>
                <a:ea typeface="仿宋" pitchFamily="49" charset="-122"/>
                <a:cs typeface="Times New Roman" pitchFamily="18" charset="0"/>
              </a:rPr>
              <a:t>q</a:t>
            </a:r>
            <a:r>
              <a:rPr lang="en-US" altLang="zh-CN">
                <a:solidFill>
                  <a:srgbClr val="FF00FF"/>
                </a:solidFill>
                <a:latin typeface="Consolas" pitchFamily="49" charset="0"/>
                <a:ea typeface="仿宋" pitchFamily="49" charset="-122"/>
                <a:cs typeface="Consolas" pitchFamily="49" charset="0"/>
              </a:rPr>
              <a:t>ueue</a:t>
            </a:r>
            <a:r>
              <a:rPr lang="zh-CN" altLang="zh-CN">
                <a:solidFill>
                  <a:srgbClr val="0000FF"/>
                </a:solidFill>
                <a:latin typeface="Consolas" pitchFamily="49" charset="0"/>
                <a:ea typeface="仿宋" pitchFamily="49" charset="-122"/>
                <a:cs typeface="Times New Roman" pitchFamily="18" charset="0"/>
              </a:rPr>
              <a:t>实现。</a:t>
            </a:r>
          </a:p>
          <a:p>
            <a:pPr algn="l">
              <a:lnSpc>
                <a:spcPts val="2800"/>
              </a:lnSpc>
              <a:spcBef>
                <a:spcPts val="1800"/>
              </a:spcBef>
            </a:pPr>
            <a:r>
              <a:rPr lang="en-US" altLang="zh-CN">
                <a:solidFill>
                  <a:srgbClr val="FF0000"/>
                </a:solidFill>
                <a:latin typeface="Consolas" pitchFamily="49" charset="0"/>
                <a:ea typeface="楷体" pitchFamily="49" charset="-122"/>
                <a:cs typeface="Times New Roman" pitchFamily="18" charset="0"/>
              </a:rPr>
              <a:t>2</a:t>
            </a:r>
            <a:r>
              <a:rPr lang="zh-CN" altLang="zh-CN">
                <a:solidFill>
                  <a:srgbClr val="FF0000"/>
                </a:solidFill>
                <a:latin typeface="Consolas" pitchFamily="49" charset="0"/>
                <a:ea typeface="楷体" pitchFamily="49" charset="-122"/>
                <a:cs typeface="Times New Roman" pitchFamily="18" charset="0"/>
              </a:rPr>
              <a:t>）优先队列式分支限界法</a:t>
            </a:r>
          </a:p>
          <a:p>
            <a:pPr algn="l">
              <a:lnSpc>
                <a:spcPts val="2800"/>
              </a:lnSpc>
              <a:spcBef>
                <a:spcPts val="600"/>
              </a:spcBef>
            </a:pPr>
            <a:r>
              <a:rPr lang="zh-CN" altLang="zh-CN">
                <a:solidFill>
                  <a:srgbClr val="0000FF"/>
                </a:solidFill>
                <a:latin typeface="Consolas" pitchFamily="49" charset="0"/>
                <a:ea typeface="仿宋" pitchFamily="49" charset="-122"/>
                <a:cs typeface="Consolas" pitchFamily="49" charset="0"/>
              </a:rPr>
              <a:t>活结点表组组成一个优先队列，并选取优先级最高的活结点成为当前扩展结点</a:t>
            </a:r>
            <a:r>
              <a:rPr lang="zh-CN" altLang="en-US">
                <a:solidFill>
                  <a:srgbClr val="0000FF"/>
                </a:solidFill>
                <a:latin typeface="Consolas" pitchFamily="49" charset="0"/>
                <a:ea typeface="仿宋" pitchFamily="49" charset="-122"/>
                <a:cs typeface="Consolas" pitchFamily="49" charset="0"/>
              </a:rPr>
              <a:t>（跳跃式扩展）。</a:t>
            </a:r>
            <a:r>
              <a:rPr lang="zh-CN" altLang="zh-CN">
                <a:solidFill>
                  <a:srgbClr val="0000FF"/>
                </a:solidFill>
                <a:latin typeface="Consolas" pitchFamily="49" charset="0"/>
                <a:ea typeface="仿宋" pitchFamily="49" charset="-122"/>
                <a:cs typeface="Consolas" pitchFamily="49" charset="0"/>
              </a:rPr>
              <a:t>优先队列通常采用</a:t>
            </a:r>
            <a:r>
              <a:rPr lang="en-US" altLang="zh-CN">
                <a:solidFill>
                  <a:srgbClr val="FF00FF"/>
                </a:solidFill>
                <a:latin typeface="Consolas" pitchFamily="49" charset="0"/>
                <a:ea typeface="仿宋" pitchFamily="49" charset="-122"/>
                <a:cs typeface="Consolas" pitchFamily="49" charset="0"/>
              </a:rPr>
              <a:t>priority_queue</a:t>
            </a:r>
            <a:r>
              <a:rPr lang="zh-CN" altLang="en-US">
                <a:solidFill>
                  <a:srgbClr val="0000FF"/>
                </a:solidFill>
                <a:latin typeface="Consolas" pitchFamily="49" charset="0"/>
                <a:ea typeface="仿宋" pitchFamily="49" charset="-122"/>
                <a:cs typeface="Consolas" pitchFamily="49" charset="0"/>
              </a:rPr>
              <a:t>集合</a:t>
            </a:r>
            <a:r>
              <a:rPr lang="zh-CN" altLang="zh-CN">
                <a:solidFill>
                  <a:srgbClr val="0000FF"/>
                </a:solidFill>
                <a:latin typeface="Consolas" pitchFamily="49" charset="0"/>
                <a:ea typeface="仿宋" pitchFamily="49" charset="-122"/>
                <a:cs typeface="Consolas" pitchFamily="49" charset="0"/>
              </a:rPr>
              <a:t>实现</a:t>
            </a:r>
            <a:r>
              <a:rPr lang="zh-CN" altLang="en-US">
                <a:solidFill>
                  <a:srgbClr val="0000FF"/>
                </a:solidFill>
                <a:latin typeface="Consolas" pitchFamily="49" charset="0"/>
                <a:ea typeface="仿宋" pitchFamily="49" charset="-122"/>
                <a:cs typeface="Consolas" pitchFamily="49" charset="0"/>
              </a:rPr>
              <a:t>。</a:t>
            </a:r>
          </a:p>
        </p:txBody>
      </p:sp>
      <p:sp>
        <p:nvSpPr>
          <p:cNvPr id="8" name="TextBox 7"/>
          <p:cNvSpPr txBox="1"/>
          <p:nvPr/>
        </p:nvSpPr>
        <p:spPr>
          <a:xfrm>
            <a:off x="500034" y="571480"/>
            <a:ext cx="3357586"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2.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组织活结点表</a:t>
            </a:r>
          </a:p>
        </p:txBody>
      </p:sp>
      <p:sp>
        <p:nvSpPr>
          <p:cNvPr id="10" name="灯片编号占位符 9"/>
          <p:cNvSpPr>
            <a:spLocks noGrp="1"/>
          </p:cNvSpPr>
          <p:nvPr>
            <p:ph type="sldNum" sz="quarter" idx="12"/>
          </p:nvPr>
        </p:nvSpPr>
        <p:spPr/>
        <p:txBody>
          <a:bodyPr/>
          <a:lstStyle/>
          <a:p>
            <a:fld id="{7AF016A1-9F15-429F-9EFD-84004B73C732}" type="slidenum">
              <a:rPr lang="en-US" altLang="zh-CN" smtClean="0"/>
              <a:pPr/>
              <a:t>8</a:t>
            </a:fld>
            <a:r>
              <a:rPr lang="en-US" altLang="zh-CN"/>
              <a:t>/126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0"/>
          <p:cNvSpPr txBox="1">
            <a:spLocks noChangeArrowheads="1"/>
          </p:cNvSpPr>
          <p:nvPr/>
        </p:nvSpPr>
        <p:spPr bwMode="auto">
          <a:xfrm>
            <a:off x="1279532" y="3372899"/>
            <a:ext cx="169564" cy="19201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1</a:t>
            </a:r>
          </a:p>
        </p:txBody>
      </p:sp>
      <p:sp>
        <p:nvSpPr>
          <p:cNvPr id="36" name="Freeform 14"/>
          <p:cNvSpPr>
            <a:spLocks/>
          </p:cNvSpPr>
          <p:nvPr/>
        </p:nvSpPr>
        <p:spPr bwMode="auto">
          <a:xfrm>
            <a:off x="1110220" y="3164879"/>
            <a:ext cx="707180" cy="713331"/>
          </a:xfrm>
          <a:custGeom>
            <a:avLst/>
            <a:gdLst/>
            <a:ahLst/>
            <a:cxnLst>
              <a:cxn ang="0">
                <a:pos x="710" y="0"/>
              </a:cxn>
              <a:cxn ang="0">
                <a:pos x="0" y="847"/>
              </a:cxn>
            </a:cxnLst>
            <a:rect l="0" t="0" r="r" b="b"/>
            <a:pathLst>
              <a:path w="710" h="847">
                <a:moveTo>
                  <a:pt x="710" y="0"/>
                </a:moveTo>
                <a:lnTo>
                  <a:pt x="0" y="847"/>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19" name="Text Box 28"/>
          <p:cNvSpPr txBox="1">
            <a:spLocks noChangeArrowheads="1"/>
          </p:cNvSpPr>
          <p:nvPr/>
        </p:nvSpPr>
        <p:spPr bwMode="auto">
          <a:xfrm>
            <a:off x="3209718" y="2249744"/>
            <a:ext cx="169564" cy="19117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1</a:t>
            </a:r>
          </a:p>
        </p:txBody>
      </p:sp>
      <p:sp>
        <p:nvSpPr>
          <p:cNvPr id="40" name="Freeform 10"/>
          <p:cNvSpPr>
            <a:spLocks/>
          </p:cNvSpPr>
          <p:nvPr/>
        </p:nvSpPr>
        <p:spPr bwMode="auto">
          <a:xfrm>
            <a:off x="2619336" y="2122253"/>
            <a:ext cx="1586916" cy="568475"/>
          </a:xfrm>
          <a:custGeom>
            <a:avLst/>
            <a:gdLst/>
            <a:ahLst/>
            <a:cxnLst>
              <a:cxn ang="0">
                <a:pos x="1590" y="0"/>
              </a:cxn>
              <a:cxn ang="0">
                <a:pos x="0" y="675"/>
              </a:cxn>
            </a:cxnLst>
            <a:rect l="0" t="0" r="r" b="b"/>
            <a:pathLst>
              <a:path w="1590" h="675">
                <a:moveTo>
                  <a:pt x="1590" y="0"/>
                </a:moveTo>
                <a:lnTo>
                  <a:pt x="0" y="675"/>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36934" name="Rectangle 7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5791"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0432"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 Box 2"/>
          <p:cNvSpPr txBox="1">
            <a:spLocks noChangeArrowheads="1"/>
          </p:cNvSpPr>
          <p:nvPr/>
        </p:nvSpPr>
        <p:spPr bwMode="auto">
          <a:xfrm>
            <a:off x="357158" y="1109947"/>
            <a:ext cx="8715404" cy="461665"/>
          </a:xfrm>
          <a:prstGeom prst="rect">
            <a:avLst/>
          </a:prstGeom>
          <a:noFill/>
          <a:ln w="9525">
            <a:noFill/>
            <a:miter lim="800000"/>
            <a:headEnd/>
            <a:tailEnd/>
          </a:ln>
        </p:spPr>
        <p:txBody>
          <a:bodyPr wrap="square">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Times New Roman" pitchFamily="18" charset="0"/>
              </a:rPr>
              <a:t>（</a:t>
            </a:r>
            <a:r>
              <a:rPr lang="en-US" altLang="zh-CN">
                <a:solidFill>
                  <a:srgbClr val="0000FF"/>
                </a:solidFill>
                <a:latin typeface="Consolas" pitchFamily="49" charset="0"/>
                <a:ea typeface="仿宋" pitchFamily="49" charset="-122"/>
                <a:cs typeface="Times New Roman" pitchFamily="18" charset="0"/>
              </a:rPr>
              <a:t>1</a:t>
            </a:r>
            <a:r>
              <a:rPr lang="zh-CN" altLang="en-US">
                <a:solidFill>
                  <a:srgbClr val="0000FF"/>
                </a:solidFill>
                <a:latin typeface="Consolas" pitchFamily="49" charset="0"/>
                <a:ea typeface="仿宋" pitchFamily="49" charset="-122"/>
                <a:cs typeface="Times New Roman" pitchFamily="18" charset="0"/>
              </a:rPr>
              <a:t>）对</a:t>
            </a:r>
            <a:r>
              <a:rPr lang="zh-CN" altLang="en-US" dirty="0">
                <a:solidFill>
                  <a:srgbClr val="0000FF"/>
                </a:solidFill>
                <a:latin typeface="Consolas" pitchFamily="49" charset="0"/>
                <a:ea typeface="仿宋" pitchFamily="49" charset="-122"/>
                <a:cs typeface="Times New Roman" pitchFamily="18" charset="0"/>
              </a:rPr>
              <a:t>每个扩展结点保存从根结点到该结点的</a:t>
            </a:r>
            <a:r>
              <a:rPr lang="zh-CN" altLang="en-US">
                <a:solidFill>
                  <a:srgbClr val="0000FF"/>
                </a:solidFill>
                <a:latin typeface="Consolas" pitchFamily="49" charset="0"/>
                <a:ea typeface="仿宋" pitchFamily="49" charset="-122"/>
                <a:cs typeface="Times New Roman" pitchFamily="18" charset="0"/>
              </a:rPr>
              <a:t>路径（解向量）。　</a:t>
            </a:r>
            <a:endParaRPr lang="en-US" altLang="zh-CN">
              <a:solidFill>
                <a:srgbClr val="0000FF"/>
              </a:solidFill>
              <a:latin typeface="Consolas" pitchFamily="49" charset="0"/>
              <a:ea typeface="仿宋" pitchFamily="49" charset="-122"/>
              <a:cs typeface="Times New Roman" pitchFamily="18" charset="0"/>
            </a:endParaRPr>
          </a:p>
        </p:txBody>
      </p:sp>
      <p:sp>
        <p:nvSpPr>
          <p:cNvPr id="11" name="Text Box 36"/>
          <p:cNvSpPr txBox="1">
            <a:spLocks noChangeArrowheads="1"/>
          </p:cNvSpPr>
          <p:nvPr/>
        </p:nvSpPr>
        <p:spPr bwMode="auto">
          <a:xfrm>
            <a:off x="5492941" y="4533430"/>
            <a:ext cx="169564"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1</a:t>
            </a:r>
          </a:p>
        </p:txBody>
      </p:sp>
      <p:sp>
        <p:nvSpPr>
          <p:cNvPr id="12" name="Text Box 35"/>
          <p:cNvSpPr txBox="1">
            <a:spLocks noChangeArrowheads="1"/>
          </p:cNvSpPr>
          <p:nvPr/>
        </p:nvSpPr>
        <p:spPr bwMode="auto">
          <a:xfrm>
            <a:off x="7892765" y="3475645"/>
            <a:ext cx="169564"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0</a:t>
            </a:r>
          </a:p>
        </p:txBody>
      </p:sp>
      <p:sp>
        <p:nvSpPr>
          <p:cNvPr id="13" name="Text Box 34"/>
          <p:cNvSpPr txBox="1">
            <a:spLocks noChangeArrowheads="1"/>
          </p:cNvSpPr>
          <p:nvPr/>
        </p:nvSpPr>
        <p:spPr bwMode="auto">
          <a:xfrm>
            <a:off x="6462446" y="3475645"/>
            <a:ext cx="169564"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1</a:t>
            </a:r>
          </a:p>
        </p:txBody>
      </p:sp>
      <p:sp>
        <p:nvSpPr>
          <p:cNvPr id="14" name="Text Box 33"/>
          <p:cNvSpPr txBox="1">
            <a:spLocks noChangeArrowheads="1"/>
          </p:cNvSpPr>
          <p:nvPr/>
        </p:nvSpPr>
        <p:spPr bwMode="auto">
          <a:xfrm>
            <a:off x="3398331" y="4533430"/>
            <a:ext cx="170561"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0</a:t>
            </a:r>
          </a:p>
        </p:txBody>
      </p:sp>
      <p:sp>
        <p:nvSpPr>
          <p:cNvPr id="15" name="Text Box 32"/>
          <p:cNvSpPr txBox="1">
            <a:spLocks noChangeArrowheads="1"/>
          </p:cNvSpPr>
          <p:nvPr/>
        </p:nvSpPr>
        <p:spPr bwMode="auto">
          <a:xfrm>
            <a:off x="2119622" y="4533430"/>
            <a:ext cx="169564"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1</a:t>
            </a:r>
          </a:p>
        </p:txBody>
      </p:sp>
      <p:sp>
        <p:nvSpPr>
          <p:cNvPr id="16" name="Text Box 31"/>
          <p:cNvSpPr txBox="1">
            <a:spLocks noChangeArrowheads="1"/>
          </p:cNvSpPr>
          <p:nvPr/>
        </p:nvSpPr>
        <p:spPr bwMode="auto">
          <a:xfrm>
            <a:off x="2640282" y="3350160"/>
            <a:ext cx="169564" cy="19117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0</a:t>
            </a:r>
          </a:p>
        </p:txBody>
      </p:sp>
      <p:sp>
        <p:nvSpPr>
          <p:cNvPr id="18" name="Text Box 29"/>
          <p:cNvSpPr txBox="1">
            <a:spLocks noChangeArrowheads="1"/>
          </p:cNvSpPr>
          <p:nvPr/>
        </p:nvSpPr>
        <p:spPr bwMode="auto">
          <a:xfrm>
            <a:off x="5943781" y="2299112"/>
            <a:ext cx="169564" cy="19117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0</a:t>
            </a:r>
          </a:p>
        </p:txBody>
      </p:sp>
      <p:sp>
        <p:nvSpPr>
          <p:cNvPr id="20" name="Text Box 27"/>
          <p:cNvSpPr txBox="1">
            <a:spLocks noChangeArrowheads="1"/>
          </p:cNvSpPr>
          <p:nvPr/>
        </p:nvSpPr>
        <p:spPr bwMode="auto">
          <a:xfrm>
            <a:off x="3979835" y="1649787"/>
            <a:ext cx="1187943"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:[0,0,0]</a:t>
            </a:r>
          </a:p>
        </p:txBody>
      </p:sp>
      <p:sp>
        <p:nvSpPr>
          <p:cNvPr id="21" name="Text Box 26"/>
          <p:cNvSpPr txBox="1">
            <a:spLocks noChangeArrowheads="1"/>
          </p:cNvSpPr>
          <p:nvPr/>
        </p:nvSpPr>
        <p:spPr bwMode="auto">
          <a:xfrm>
            <a:off x="1477275" y="2693255"/>
            <a:ext cx="1187943"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:[1,0,0]</a:t>
            </a:r>
          </a:p>
        </p:txBody>
      </p:sp>
      <p:sp>
        <p:nvSpPr>
          <p:cNvPr id="25" name="Text Box 25"/>
          <p:cNvSpPr txBox="1">
            <a:spLocks noChangeArrowheads="1"/>
          </p:cNvSpPr>
          <p:nvPr/>
        </p:nvSpPr>
        <p:spPr bwMode="auto">
          <a:xfrm>
            <a:off x="365137" y="3875683"/>
            <a:ext cx="1187943" cy="477519"/>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4:</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 </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sym typeface="Wingdings" pitchFamily="2" charset="2"/>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sym typeface="Wingdings" pitchFamily="2" charset="2"/>
              </a:rPr>
              <a:t>:[1,1,0]</a:t>
            </a:r>
          </a:p>
        </p:txBody>
      </p:sp>
      <p:sp>
        <p:nvSpPr>
          <p:cNvPr id="26" name="Text Box 24"/>
          <p:cNvSpPr txBox="1">
            <a:spLocks noChangeArrowheads="1"/>
          </p:cNvSpPr>
          <p:nvPr/>
        </p:nvSpPr>
        <p:spPr bwMode="auto">
          <a:xfrm>
            <a:off x="2172486" y="3875683"/>
            <a:ext cx="1187943"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5:</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:[1,0,0]</a:t>
            </a:r>
          </a:p>
        </p:txBody>
      </p:sp>
      <p:sp>
        <p:nvSpPr>
          <p:cNvPr id="27" name="Text Box 23"/>
          <p:cNvSpPr txBox="1">
            <a:spLocks noChangeArrowheads="1"/>
          </p:cNvSpPr>
          <p:nvPr/>
        </p:nvSpPr>
        <p:spPr bwMode="auto">
          <a:xfrm>
            <a:off x="1262827" y="4974735"/>
            <a:ext cx="1188940"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8:</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:[1,0,1]</a:t>
            </a:r>
          </a:p>
        </p:txBody>
      </p:sp>
      <p:sp>
        <p:nvSpPr>
          <p:cNvPr id="28" name="Text Box 22"/>
          <p:cNvSpPr txBox="1">
            <a:spLocks noChangeArrowheads="1"/>
          </p:cNvSpPr>
          <p:nvPr/>
        </p:nvSpPr>
        <p:spPr bwMode="auto">
          <a:xfrm>
            <a:off x="3061199" y="4974735"/>
            <a:ext cx="1187943"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9:</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:[1,0,0]</a:t>
            </a:r>
          </a:p>
        </p:txBody>
      </p:sp>
      <p:sp>
        <p:nvSpPr>
          <p:cNvPr id="29" name="Text Box 21"/>
          <p:cNvSpPr txBox="1">
            <a:spLocks noChangeArrowheads="1"/>
          </p:cNvSpPr>
          <p:nvPr/>
        </p:nvSpPr>
        <p:spPr bwMode="auto">
          <a:xfrm>
            <a:off x="5643553" y="3875683"/>
            <a:ext cx="1187943"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6:</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:[0,1,0]</a:t>
            </a:r>
          </a:p>
        </p:txBody>
      </p:sp>
      <p:sp>
        <p:nvSpPr>
          <p:cNvPr id="30" name="Text Box 20"/>
          <p:cNvSpPr txBox="1">
            <a:spLocks noChangeArrowheads="1"/>
          </p:cNvSpPr>
          <p:nvPr/>
        </p:nvSpPr>
        <p:spPr bwMode="auto">
          <a:xfrm>
            <a:off x="4663077" y="4974735"/>
            <a:ext cx="1187943" cy="477519"/>
          </a:xfrm>
          <a:prstGeom prst="rect">
            <a:avLst/>
          </a:prstGeom>
          <a:solidFill>
            <a:srgbClr val="FF0000"/>
          </a:soli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10:</a:t>
            </a:r>
            <a:r>
              <a:rPr kumimoji="0" lang="zh-CN" altLang="en-US" sz="14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解向量</a:t>
            </a:r>
            <a:r>
              <a:rPr kumimoji="0" lang="en-US" altLang="zh-CN" sz="14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:[0,1,1]</a:t>
            </a:r>
          </a:p>
        </p:txBody>
      </p:sp>
      <p:sp>
        <p:nvSpPr>
          <p:cNvPr id="31" name="Text Box 19"/>
          <p:cNvSpPr txBox="1">
            <a:spLocks noChangeArrowheads="1"/>
          </p:cNvSpPr>
          <p:nvPr/>
        </p:nvSpPr>
        <p:spPr bwMode="auto">
          <a:xfrm>
            <a:off x="6717789" y="4974735"/>
            <a:ext cx="1186945" cy="477519"/>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11:</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:[0,1,0]</a:t>
            </a:r>
          </a:p>
        </p:txBody>
      </p:sp>
      <p:sp>
        <p:nvSpPr>
          <p:cNvPr id="32" name="Text Box 18"/>
          <p:cNvSpPr txBox="1">
            <a:spLocks noChangeArrowheads="1"/>
          </p:cNvSpPr>
          <p:nvPr/>
        </p:nvSpPr>
        <p:spPr bwMode="auto">
          <a:xfrm>
            <a:off x="7662358" y="3875683"/>
            <a:ext cx="1187943" cy="477519"/>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7:</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:[0,0,0]</a:t>
            </a:r>
          </a:p>
        </p:txBody>
      </p:sp>
      <p:sp>
        <p:nvSpPr>
          <p:cNvPr id="33" name="Text Box 17"/>
          <p:cNvSpPr txBox="1">
            <a:spLocks noChangeArrowheads="1"/>
          </p:cNvSpPr>
          <p:nvPr/>
        </p:nvSpPr>
        <p:spPr bwMode="auto">
          <a:xfrm>
            <a:off x="6685871" y="2824636"/>
            <a:ext cx="1188940" cy="47751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解向量</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:[0,0,0]</a:t>
            </a:r>
          </a:p>
        </p:txBody>
      </p:sp>
      <p:sp>
        <p:nvSpPr>
          <p:cNvPr id="34" name="Freeform 16"/>
          <p:cNvSpPr>
            <a:spLocks/>
          </p:cNvSpPr>
          <p:nvPr/>
        </p:nvSpPr>
        <p:spPr bwMode="auto">
          <a:xfrm>
            <a:off x="2014892" y="4358255"/>
            <a:ext cx="568537" cy="613111"/>
          </a:xfrm>
          <a:custGeom>
            <a:avLst/>
            <a:gdLst/>
            <a:ahLst/>
            <a:cxnLst>
              <a:cxn ang="0">
                <a:pos x="570" y="0"/>
              </a:cxn>
              <a:cxn ang="0">
                <a:pos x="0" y="728"/>
              </a:cxn>
            </a:cxnLst>
            <a:rect l="0" t="0" r="r" b="b"/>
            <a:pathLst>
              <a:path w="570" h="728">
                <a:moveTo>
                  <a:pt x="570" y="0"/>
                </a:moveTo>
                <a:lnTo>
                  <a:pt x="0" y="728"/>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35" name="Freeform 15"/>
          <p:cNvSpPr>
            <a:spLocks/>
          </p:cNvSpPr>
          <p:nvPr/>
        </p:nvSpPr>
        <p:spPr bwMode="auto">
          <a:xfrm>
            <a:off x="3039256" y="4345623"/>
            <a:ext cx="591478" cy="625744"/>
          </a:xfrm>
          <a:custGeom>
            <a:avLst/>
            <a:gdLst/>
            <a:ahLst/>
            <a:cxnLst>
              <a:cxn ang="0">
                <a:pos x="0" y="0"/>
              </a:cxn>
              <a:cxn ang="0">
                <a:pos x="593" y="743"/>
              </a:cxn>
            </a:cxnLst>
            <a:rect l="0" t="0" r="r" b="b"/>
            <a:pathLst>
              <a:path w="593" h="743">
                <a:moveTo>
                  <a:pt x="0" y="0"/>
                </a:moveTo>
                <a:lnTo>
                  <a:pt x="593" y="743"/>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37" name="Freeform 13"/>
          <p:cNvSpPr>
            <a:spLocks/>
          </p:cNvSpPr>
          <p:nvPr/>
        </p:nvSpPr>
        <p:spPr bwMode="auto">
          <a:xfrm>
            <a:off x="2344045" y="3177512"/>
            <a:ext cx="538614" cy="700698"/>
          </a:xfrm>
          <a:custGeom>
            <a:avLst/>
            <a:gdLst/>
            <a:ahLst/>
            <a:cxnLst>
              <a:cxn ang="0">
                <a:pos x="0" y="0"/>
              </a:cxn>
              <a:cxn ang="0">
                <a:pos x="540" y="832"/>
              </a:cxn>
            </a:cxnLst>
            <a:rect l="0" t="0" r="r" b="b"/>
            <a:pathLst>
              <a:path w="540" h="832">
                <a:moveTo>
                  <a:pt x="0" y="0"/>
                </a:moveTo>
                <a:lnTo>
                  <a:pt x="540" y="83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38" name="Freeform 12"/>
          <p:cNvSpPr>
            <a:spLocks/>
          </p:cNvSpPr>
          <p:nvPr/>
        </p:nvSpPr>
        <p:spPr bwMode="auto">
          <a:xfrm>
            <a:off x="5396190" y="4358255"/>
            <a:ext cx="591478" cy="619006"/>
          </a:xfrm>
          <a:custGeom>
            <a:avLst/>
            <a:gdLst/>
            <a:ahLst/>
            <a:cxnLst>
              <a:cxn ang="0">
                <a:pos x="593" y="0"/>
              </a:cxn>
              <a:cxn ang="0">
                <a:pos x="0" y="735"/>
              </a:cxn>
            </a:cxnLst>
            <a:rect l="0" t="0" r="r" b="b"/>
            <a:pathLst>
              <a:path w="593" h="735">
                <a:moveTo>
                  <a:pt x="593" y="0"/>
                </a:moveTo>
                <a:lnTo>
                  <a:pt x="0" y="735"/>
                </a:lnTo>
              </a:path>
            </a:pathLst>
          </a:custGeom>
          <a:noFill/>
          <a:ln w="28575">
            <a:solidFill>
              <a:srgbClr val="FF00FF"/>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39" name="Freeform 11"/>
          <p:cNvSpPr>
            <a:spLocks/>
          </p:cNvSpPr>
          <p:nvPr/>
        </p:nvSpPr>
        <p:spPr bwMode="auto">
          <a:xfrm>
            <a:off x="6533264" y="4358255"/>
            <a:ext cx="613421" cy="600478"/>
          </a:xfrm>
          <a:custGeom>
            <a:avLst/>
            <a:gdLst/>
            <a:ahLst/>
            <a:cxnLst>
              <a:cxn ang="0">
                <a:pos x="0" y="0"/>
              </a:cxn>
              <a:cxn ang="0">
                <a:pos x="615" y="713"/>
              </a:cxn>
            </a:cxnLst>
            <a:rect l="0" t="0" r="r" b="b"/>
            <a:pathLst>
              <a:path w="615" h="713">
                <a:moveTo>
                  <a:pt x="0" y="0"/>
                </a:moveTo>
                <a:lnTo>
                  <a:pt x="615" y="713"/>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41" name="Freeform 9"/>
          <p:cNvSpPr>
            <a:spLocks/>
          </p:cNvSpPr>
          <p:nvPr/>
        </p:nvSpPr>
        <p:spPr bwMode="auto">
          <a:xfrm>
            <a:off x="4992229" y="2128991"/>
            <a:ext cx="1877169" cy="700698"/>
          </a:xfrm>
          <a:custGeom>
            <a:avLst/>
            <a:gdLst/>
            <a:ahLst/>
            <a:cxnLst>
              <a:cxn ang="0">
                <a:pos x="0" y="0"/>
              </a:cxn>
              <a:cxn ang="0">
                <a:pos x="1882" y="832"/>
              </a:cxn>
            </a:cxnLst>
            <a:rect l="0" t="0" r="r" b="b"/>
            <a:pathLst>
              <a:path w="1882" h="832">
                <a:moveTo>
                  <a:pt x="0" y="0"/>
                </a:moveTo>
                <a:lnTo>
                  <a:pt x="1882" y="832"/>
                </a:lnTo>
              </a:path>
            </a:pathLst>
          </a:custGeom>
          <a:noFill/>
          <a:ln w="28575">
            <a:solidFill>
              <a:srgbClr val="FF00FF"/>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42" name="Freeform 8"/>
          <p:cNvSpPr>
            <a:spLocks/>
          </p:cNvSpPr>
          <p:nvPr/>
        </p:nvSpPr>
        <p:spPr bwMode="auto">
          <a:xfrm>
            <a:off x="6398610" y="3303839"/>
            <a:ext cx="666285" cy="574370"/>
          </a:xfrm>
          <a:custGeom>
            <a:avLst/>
            <a:gdLst/>
            <a:ahLst/>
            <a:cxnLst>
              <a:cxn ang="0">
                <a:pos x="668" y="0"/>
              </a:cxn>
              <a:cxn ang="0">
                <a:pos x="0" y="682"/>
              </a:cxn>
            </a:cxnLst>
            <a:rect l="0" t="0" r="r" b="b"/>
            <a:pathLst>
              <a:path w="668" h="682">
                <a:moveTo>
                  <a:pt x="668" y="0"/>
                </a:moveTo>
                <a:lnTo>
                  <a:pt x="0" y="682"/>
                </a:lnTo>
              </a:path>
            </a:pathLst>
          </a:custGeom>
          <a:noFill/>
          <a:ln w="28575">
            <a:solidFill>
              <a:srgbClr val="FF00FF"/>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43" name="Freeform 7"/>
          <p:cNvSpPr>
            <a:spLocks/>
          </p:cNvSpPr>
          <p:nvPr/>
        </p:nvSpPr>
        <p:spPr bwMode="auto">
          <a:xfrm>
            <a:off x="7490799" y="3309735"/>
            <a:ext cx="598460" cy="562580"/>
          </a:xfrm>
          <a:custGeom>
            <a:avLst/>
            <a:gdLst/>
            <a:ahLst/>
            <a:cxnLst>
              <a:cxn ang="0">
                <a:pos x="0" y="0"/>
              </a:cxn>
              <a:cxn ang="0">
                <a:pos x="600" y="668"/>
              </a:cxn>
            </a:cxnLst>
            <a:rect l="0" t="0" r="r" b="b"/>
            <a:pathLst>
              <a:path w="600" h="668">
                <a:moveTo>
                  <a:pt x="0" y="0"/>
                </a:moveTo>
                <a:lnTo>
                  <a:pt x="600" y="668"/>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ea typeface="仿宋" pitchFamily="49" charset="-122"/>
              <a:cs typeface="Times New Roman" pitchFamily="18" charset="0"/>
            </a:endParaRPr>
          </a:p>
        </p:txBody>
      </p:sp>
      <p:sp>
        <p:nvSpPr>
          <p:cNvPr id="45" name="Text Box 5"/>
          <p:cNvSpPr txBox="1">
            <a:spLocks noChangeArrowheads="1"/>
          </p:cNvSpPr>
          <p:nvPr/>
        </p:nvSpPr>
        <p:spPr bwMode="auto">
          <a:xfrm>
            <a:off x="6923260" y="4533430"/>
            <a:ext cx="169564" cy="1903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ea typeface="仿宋" pitchFamily="49" charset="-122"/>
                <a:cs typeface="Times New Roman" pitchFamily="18" charset="0"/>
              </a:rPr>
              <a:t>0</a:t>
            </a:r>
          </a:p>
        </p:txBody>
      </p:sp>
      <p:sp>
        <p:nvSpPr>
          <p:cNvPr id="44" name="TextBox 43"/>
          <p:cNvSpPr txBox="1"/>
          <p:nvPr/>
        </p:nvSpPr>
        <p:spPr>
          <a:xfrm>
            <a:off x="285720" y="357166"/>
            <a:ext cx="3643338"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3. </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mj-lt"/>
                <a:ea typeface="微软雅黑" pitchFamily="34" charset="-122"/>
                <a:cs typeface="Times New Roman" pitchFamily="18" charset="0"/>
              </a:rPr>
              <a:t>求最优解的解向量</a:t>
            </a:r>
          </a:p>
        </p:txBody>
      </p:sp>
      <p:sp>
        <p:nvSpPr>
          <p:cNvPr id="47" name="灯片编号占位符 46"/>
          <p:cNvSpPr>
            <a:spLocks noGrp="1"/>
          </p:cNvSpPr>
          <p:nvPr>
            <p:ph type="sldNum" sz="quarter" idx="12"/>
          </p:nvPr>
        </p:nvSpPr>
        <p:spPr/>
        <p:txBody>
          <a:bodyPr/>
          <a:lstStyle/>
          <a:p>
            <a:fld id="{7AF016A1-9F15-429F-9EFD-84004B73C732}" type="slidenum">
              <a:rPr lang="en-US" altLang="zh-CN" smtClean="0"/>
              <a:pPr/>
              <a:t>9</a:t>
            </a:fld>
            <a:r>
              <a:rPr lang="en-US" altLang="zh-CN"/>
              <a:t>/126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34" name="Rectangle 7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 Box 2"/>
          <p:cNvSpPr txBox="1">
            <a:spLocks noChangeArrowheads="1"/>
          </p:cNvSpPr>
          <p:nvPr/>
        </p:nvSpPr>
        <p:spPr bwMode="auto">
          <a:xfrm>
            <a:off x="214282" y="500042"/>
            <a:ext cx="8501122" cy="830997"/>
          </a:xfrm>
          <a:prstGeom prst="rect">
            <a:avLst/>
          </a:prstGeom>
          <a:noFill/>
          <a:ln w="9525">
            <a:noFill/>
            <a:miter lim="800000"/>
            <a:headEnd/>
            <a:tailEnd/>
          </a:ln>
        </p:spPr>
        <p:txBody>
          <a:bodyPr wrap="square">
            <a:spAutoFit/>
          </a:bodyPr>
          <a:lstStyle/>
          <a:p>
            <a:pPr algn="l">
              <a:lnSpc>
                <a:spcPct val="100000"/>
              </a:lnSpc>
              <a:spcBef>
                <a:spcPts val="0"/>
              </a:spcBef>
            </a:pPr>
            <a:r>
              <a:rPr lang="zh-CN" altLang="en-US">
                <a:solidFill>
                  <a:srgbClr val="0000FF"/>
                </a:solidFill>
                <a:latin typeface="Consolas" pitchFamily="49" charset="0"/>
                <a:ea typeface="仿宋" pitchFamily="49" charset="-122"/>
                <a:cs typeface="Times New Roman" pitchFamily="18" charset="0"/>
              </a:rPr>
              <a:t>（</a:t>
            </a:r>
            <a:r>
              <a:rPr lang="en-US" altLang="zh-CN">
                <a:solidFill>
                  <a:srgbClr val="0000FF"/>
                </a:solidFill>
                <a:latin typeface="Consolas" pitchFamily="49" charset="0"/>
                <a:ea typeface="仿宋" pitchFamily="49" charset="-122"/>
                <a:cs typeface="Times New Roman" pitchFamily="18" charset="0"/>
              </a:rPr>
              <a:t>2</a:t>
            </a:r>
            <a:r>
              <a:rPr lang="zh-CN" altLang="en-US">
                <a:solidFill>
                  <a:srgbClr val="0000FF"/>
                </a:solidFill>
                <a:latin typeface="Consolas" pitchFamily="49" charset="0"/>
                <a:ea typeface="仿宋" pitchFamily="49" charset="-122"/>
                <a:cs typeface="Times New Roman" pitchFamily="18" charset="0"/>
              </a:rPr>
              <a:t>）</a:t>
            </a:r>
            <a:r>
              <a:rPr lang="zh-CN" altLang="zh-CN">
                <a:solidFill>
                  <a:srgbClr val="0000FF"/>
                </a:solidFill>
                <a:latin typeface="Consolas" pitchFamily="49" charset="0"/>
                <a:ea typeface="仿宋" pitchFamily="49" charset="-122"/>
                <a:cs typeface="Times New Roman" pitchFamily="18" charset="0"/>
              </a:rPr>
              <a:t>在每个结点中保存搜索路径中的前驱结点</a:t>
            </a:r>
            <a:r>
              <a:rPr lang="zh-CN" altLang="en-US">
                <a:solidFill>
                  <a:srgbClr val="0000FF"/>
                </a:solidFill>
                <a:latin typeface="Consolas" pitchFamily="49" charset="0"/>
                <a:ea typeface="仿宋" pitchFamily="49" charset="-122"/>
                <a:cs typeface="Times New Roman" pitchFamily="18" charset="0"/>
              </a:rPr>
              <a:t>，反推搜索路径（解向量）。       </a:t>
            </a:r>
            <a:endParaRPr lang="zh-CN" altLang="en-US" dirty="0">
              <a:solidFill>
                <a:srgbClr val="0000FF"/>
              </a:solidFill>
              <a:latin typeface="Consolas" pitchFamily="49" charset="0"/>
              <a:ea typeface="仿宋" pitchFamily="49" charset="-122"/>
              <a:cs typeface="Times New Roman" pitchFamily="18" charset="0"/>
            </a:endParaRPr>
          </a:p>
        </p:txBody>
      </p:sp>
      <p:sp>
        <p:nvSpPr>
          <p:cNvPr id="11" name="Text Box 46"/>
          <p:cNvSpPr txBox="1">
            <a:spLocks noChangeArrowheads="1"/>
          </p:cNvSpPr>
          <p:nvPr/>
        </p:nvSpPr>
        <p:spPr bwMode="auto">
          <a:xfrm>
            <a:off x="5330958" y="4219235"/>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2" name="Text Box 45"/>
          <p:cNvSpPr txBox="1">
            <a:spLocks noChangeArrowheads="1"/>
          </p:cNvSpPr>
          <p:nvPr/>
        </p:nvSpPr>
        <p:spPr bwMode="auto">
          <a:xfrm>
            <a:off x="7851065" y="3142893"/>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3" name="Text Box 44"/>
          <p:cNvSpPr txBox="1">
            <a:spLocks noChangeArrowheads="1"/>
          </p:cNvSpPr>
          <p:nvPr/>
        </p:nvSpPr>
        <p:spPr bwMode="auto">
          <a:xfrm>
            <a:off x="6349056" y="3142893"/>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4" name="Text Box 43"/>
          <p:cNvSpPr txBox="1">
            <a:spLocks noChangeArrowheads="1"/>
          </p:cNvSpPr>
          <p:nvPr/>
        </p:nvSpPr>
        <p:spPr bwMode="auto">
          <a:xfrm>
            <a:off x="3014052" y="4219235"/>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5" name="Text Box 42"/>
          <p:cNvSpPr txBox="1">
            <a:spLocks noChangeArrowheads="1"/>
          </p:cNvSpPr>
          <p:nvPr/>
        </p:nvSpPr>
        <p:spPr bwMode="auto">
          <a:xfrm>
            <a:off x="1964531" y="4219235"/>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6" name="Text Box 41"/>
          <p:cNvSpPr txBox="1">
            <a:spLocks noChangeArrowheads="1"/>
          </p:cNvSpPr>
          <p:nvPr/>
        </p:nvSpPr>
        <p:spPr bwMode="auto">
          <a:xfrm>
            <a:off x="2249431" y="3016063"/>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7" name="Text Box 40"/>
          <p:cNvSpPr txBox="1">
            <a:spLocks noChangeArrowheads="1"/>
          </p:cNvSpPr>
          <p:nvPr/>
        </p:nvSpPr>
        <p:spPr bwMode="auto">
          <a:xfrm>
            <a:off x="1053271" y="3040058"/>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8" name="Text Box 39"/>
          <p:cNvSpPr txBox="1">
            <a:spLocks noChangeArrowheads="1"/>
          </p:cNvSpPr>
          <p:nvPr/>
        </p:nvSpPr>
        <p:spPr bwMode="auto">
          <a:xfrm>
            <a:off x="5980362" y="1946576"/>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9" name="Text Box 38"/>
          <p:cNvSpPr txBox="1">
            <a:spLocks noChangeArrowheads="1"/>
          </p:cNvSpPr>
          <p:nvPr/>
        </p:nvSpPr>
        <p:spPr bwMode="auto">
          <a:xfrm>
            <a:off x="3011957" y="1902014"/>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20" name="Text Box 37"/>
          <p:cNvSpPr txBox="1">
            <a:spLocks noChangeArrowheads="1"/>
          </p:cNvSpPr>
          <p:nvPr/>
        </p:nvSpPr>
        <p:spPr bwMode="auto">
          <a:xfrm>
            <a:off x="4010154" y="1285860"/>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1" name="Text Box 36"/>
          <p:cNvSpPr txBox="1">
            <a:spLocks noChangeArrowheads="1"/>
          </p:cNvSpPr>
          <p:nvPr/>
        </p:nvSpPr>
        <p:spPr bwMode="auto">
          <a:xfrm>
            <a:off x="1357024" y="2347634"/>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p>
        </p:txBody>
      </p:sp>
      <p:sp>
        <p:nvSpPr>
          <p:cNvPr id="22" name="Text Box 35"/>
          <p:cNvSpPr txBox="1">
            <a:spLocks noChangeArrowheads="1"/>
          </p:cNvSpPr>
          <p:nvPr/>
        </p:nvSpPr>
        <p:spPr bwMode="auto">
          <a:xfrm>
            <a:off x="214282" y="3550806"/>
            <a:ext cx="1128078" cy="485897"/>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4:</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sym typeface="Wingdings" pitchFamily="2" charset="2"/>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sym typeface="Wingdings" pitchFamily="2" charset="2"/>
              </a:rPr>
              <a:t>:2</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sym typeface="Wingdings" pitchFamily="2" charset="2"/>
            </a:endParaRPr>
          </a:p>
        </p:txBody>
      </p:sp>
      <p:sp>
        <p:nvSpPr>
          <p:cNvPr id="23" name="Text Box 34"/>
          <p:cNvSpPr txBox="1">
            <a:spLocks noChangeArrowheads="1"/>
          </p:cNvSpPr>
          <p:nvPr/>
        </p:nvSpPr>
        <p:spPr bwMode="auto">
          <a:xfrm>
            <a:off x="2128977" y="3550806"/>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5:</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4" name="Text Box 33"/>
          <p:cNvSpPr txBox="1">
            <a:spLocks noChangeArrowheads="1"/>
          </p:cNvSpPr>
          <p:nvPr/>
        </p:nvSpPr>
        <p:spPr bwMode="auto">
          <a:xfrm>
            <a:off x="1274277" y="4669140"/>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8:</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:5</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5" name="Text Box 32"/>
          <p:cNvSpPr txBox="1">
            <a:spLocks noChangeArrowheads="1"/>
          </p:cNvSpPr>
          <p:nvPr/>
        </p:nvSpPr>
        <p:spPr bwMode="auto">
          <a:xfrm>
            <a:off x="2953301" y="4669140"/>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9:</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:5</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6" name="Text Box 31"/>
          <p:cNvSpPr txBox="1">
            <a:spLocks noChangeArrowheads="1"/>
          </p:cNvSpPr>
          <p:nvPr/>
        </p:nvSpPr>
        <p:spPr bwMode="auto">
          <a:xfrm>
            <a:off x="5547775" y="3550806"/>
            <a:ext cx="1069422"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6:</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7" name="Text Box 30"/>
          <p:cNvSpPr txBox="1">
            <a:spLocks noChangeArrowheads="1"/>
          </p:cNvSpPr>
          <p:nvPr/>
        </p:nvSpPr>
        <p:spPr bwMode="auto">
          <a:xfrm>
            <a:off x="4459500" y="4669140"/>
            <a:ext cx="1068374" cy="485897"/>
          </a:xfrm>
          <a:prstGeom prst="rect">
            <a:avLst/>
          </a:prstGeom>
          <a:solidFill>
            <a:srgbClr val="FF0000"/>
          </a:solidFill>
          <a:ln>
            <a:headEnd/>
            <a:tailEnd/>
          </a:ln>
        </p:spPr>
        <p:style>
          <a:lnRef idx="1">
            <a:schemeClr val="accent2"/>
          </a:lnRef>
          <a:fillRef idx="2">
            <a:schemeClr val="accent2"/>
          </a:fillRef>
          <a:effectRef idx="1">
            <a:schemeClr val="accent2"/>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chemeClr val="bg1"/>
                </a:solidFill>
                <a:effectLst/>
                <a:latin typeface="Times New Roman" pitchFamily="18" charset="0"/>
                <a:ea typeface="仿宋" pitchFamily="49" charset="-122"/>
                <a:cs typeface="Times New Roman" pitchFamily="18" charset="0"/>
              </a:rPr>
              <a:t>10:</a:t>
            </a:r>
            <a:r>
              <a:rPr kumimoji="0" lang="zh-CN" altLang="en-US" sz="1400" b="0" i="0" u="none" strike="noStrike" cap="none" normalizeH="0" baseline="0">
                <a:ln>
                  <a:noFill/>
                </a:ln>
                <a:solidFill>
                  <a:schemeClr val="bg1"/>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chemeClr val="bg1"/>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chemeClr val="bg1"/>
                </a:solidFill>
                <a:effectLst/>
                <a:latin typeface="Times New Roman" pitchFamily="18" charset="0"/>
                <a:ea typeface="仿宋" pitchFamily="49" charset="-122"/>
                <a:cs typeface="Times New Roman" pitchFamily="18" charset="0"/>
              </a:rPr>
              <a:t>:6</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chemeClr val="bg1"/>
              </a:solidFill>
              <a:effectLst/>
              <a:latin typeface="Times New Roman" pitchFamily="18" charset="0"/>
              <a:ea typeface="仿宋" pitchFamily="49" charset="-122"/>
              <a:cs typeface="Times New Roman" pitchFamily="18" charset="0"/>
            </a:endParaRPr>
          </a:p>
        </p:txBody>
      </p:sp>
      <p:sp>
        <p:nvSpPr>
          <p:cNvPr id="28" name="Text Box 29"/>
          <p:cNvSpPr txBox="1">
            <a:spLocks noChangeArrowheads="1"/>
          </p:cNvSpPr>
          <p:nvPr/>
        </p:nvSpPr>
        <p:spPr bwMode="auto">
          <a:xfrm>
            <a:off x="6617197" y="4669140"/>
            <a:ext cx="1067327" cy="485897"/>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11:</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:6</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29" name="Text Box 28"/>
          <p:cNvSpPr txBox="1">
            <a:spLocks noChangeArrowheads="1"/>
          </p:cNvSpPr>
          <p:nvPr/>
        </p:nvSpPr>
        <p:spPr bwMode="auto">
          <a:xfrm>
            <a:off x="7558833" y="3550806"/>
            <a:ext cx="1068374" cy="485897"/>
          </a:xfrm>
          <a:prstGeom prst="rect">
            <a:avLst/>
          </a:prstGeom>
          <a:solidFill>
            <a:schemeClr val="bg1">
              <a:lumMod val="85000"/>
            </a:schemeClr>
          </a:solidFill>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7:</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0" name="Text Box 27"/>
          <p:cNvSpPr txBox="1">
            <a:spLocks noChangeArrowheads="1"/>
          </p:cNvSpPr>
          <p:nvPr/>
        </p:nvSpPr>
        <p:spPr bwMode="auto">
          <a:xfrm>
            <a:off x="6592059" y="2481320"/>
            <a:ext cx="1068374" cy="4858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ts val="1800"/>
              </a:lnSpc>
              <a:spcBef>
                <a:spcPct val="0"/>
              </a:spcBef>
              <a:spcAft>
                <a:spcPct val="0"/>
              </a:spcAft>
              <a:buClrTx/>
              <a:buSzTx/>
              <a:buFontTx/>
              <a:buNone/>
              <a:tabLst/>
            </a:pP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状态值</a:t>
            </a:r>
          </a:p>
          <a:p>
            <a:pPr marL="0" marR="0" lvl="0" algn="l" defTabSz="914400" rtl="0" eaLnBrk="0" fontAlgn="base" latinLnBrk="0" hangingPunct="0">
              <a:lnSpc>
                <a:spcPts val="1800"/>
              </a:lnSpc>
              <a:spcBef>
                <a:spcPct val="0"/>
              </a:spcBef>
              <a:spcAft>
                <a:spcPct val="0"/>
              </a:spcAft>
              <a:buClrTx/>
              <a:buSzTx/>
              <a:buFontTx/>
              <a:buNone/>
              <a:tabLst/>
            </a:pPr>
            <a:r>
              <a:rPr kumimoji="0" lang="zh-CN" altLang="en-US"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双亲指针</a:t>
            </a:r>
            <a:r>
              <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p>
          <a:p>
            <a:pPr marL="0" marR="0" lvl="0" algn="l" defTabSz="914400" rtl="0" eaLnBrk="0" fontAlgn="base" latinLnBrk="0" hangingPunct="0">
              <a:lnSpc>
                <a:spcPts val="1800"/>
              </a:lnSpc>
              <a:spcBef>
                <a:spcPct val="0"/>
              </a:spcBef>
              <a:spcAft>
                <a:spcPct val="0"/>
              </a:spcAft>
              <a:buClrTx/>
              <a:buSzTx/>
              <a:buFontTx/>
              <a:buNone/>
              <a:tabLst/>
            </a:pPr>
            <a:endParaRPr kumimoji="0" lang="en-US" altLang="zh-CN" sz="1400" b="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31" name="Freeform 26"/>
          <p:cNvSpPr>
            <a:spLocks/>
          </p:cNvSpPr>
          <p:nvPr/>
        </p:nvSpPr>
        <p:spPr bwMode="auto">
          <a:xfrm>
            <a:off x="1854551" y="4041845"/>
            <a:ext cx="595985" cy="623867"/>
          </a:xfrm>
          <a:custGeom>
            <a:avLst/>
            <a:gdLst/>
            <a:ahLst/>
            <a:cxnLst>
              <a:cxn ang="0">
                <a:pos x="570" y="0"/>
              </a:cxn>
              <a:cxn ang="0">
                <a:pos x="0" y="728"/>
              </a:cxn>
            </a:cxnLst>
            <a:rect l="0" t="0" r="r" b="b"/>
            <a:pathLst>
              <a:path w="570" h="728">
                <a:moveTo>
                  <a:pt x="570" y="0"/>
                </a:moveTo>
                <a:lnTo>
                  <a:pt x="0" y="728"/>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2" name="Freeform 25"/>
          <p:cNvSpPr>
            <a:spLocks/>
          </p:cNvSpPr>
          <p:nvPr/>
        </p:nvSpPr>
        <p:spPr bwMode="auto">
          <a:xfrm>
            <a:off x="2930258" y="4028990"/>
            <a:ext cx="621124" cy="636722"/>
          </a:xfrm>
          <a:custGeom>
            <a:avLst/>
            <a:gdLst/>
            <a:ahLst/>
            <a:cxnLst>
              <a:cxn ang="0">
                <a:pos x="0" y="0"/>
              </a:cxn>
              <a:cxn ang="0">
                <a:pos x="593" y="743"/>
              </a:cxn>
            </a:cxnLst>
            <a:rect l="0" t="0" r="r" b="b"/>
            <a:pathLst>
              <a:path w="593" h="743">
                <a:moveTo>
                  <a:pt x="0" y="0"/>
                </a:moveTo>
                <a:lnTo>
                  <a:pt x="593" y="743"/>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3" name="Freeform 24"/>
          <p:cNvSpPr>
            <a:spLocks/>
          </p:cNvSpPr>
          <p:nvPr/>
        </p:nvSpPr>
        <p:spPr bwMode="auto">
          <a:xfrm>
            <a:off x="903489" y="2827532"/>
            <a:ext cx="743672" cy="725846"/>
          </a:xfrm>
          <a:custGeom>
            <a:avLst/>
            <a:gdLst/>
            <a:ahLst/>
            <a:cxnLst>
              <a:cxn ang="0">
                <a:pos x="710" y="0"/>
              </a:cxn>
              <a:cxn ang="0">
                <a:pos x="0" y="847"/>
              </a:cxn>
            </a:cxnLst>
            <a:rect l="0" t="0" r="r" b="b"/>
            <a:pathLst>
              <a:path w="710" h="847">
                <a:moveTo>
                  <a:pt x="710" y="0"/>
                </a:moveTo>
                <a:lnTo>
                  <a:pt x="0" y="847"/>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4" name="Freeform 23"/>
          <p:cNvSpPr>
            <a:spLocks/>
          </p:cNvSpPr>
          <p:nvPr/>
        </p:nvSpPr>
        <p:spPr bwMode="auto">
          <a:xfrm>
            <a:off x="2200202" y="2840386"/>
            <a:ext cx="565610" cy="712991"/>
          </a:xfrm>
          <a:custGeom>
            <a:avLst/>
            <a:gdLst/>
            <a:ahLst/>
            <a:cxnLst>
              <a:cxn ang="0">
                <a:pos x="0" y="0"/>
              </a:cxn>
              <a:cxn ang="0">
                <a:pos x="540" y="832"/>
              </a:cxn>
            </a:cxnLst>
            <a:rect l="0" t="0" r="r" b="b"/>
            <a:pathLst>
              <a:path w="540" h="832">
                <a:moveTo>
                  <a:pt x="0" y="0"/>
                </a:moveTo>
                <a:lnTo>
                  <a:pt x="540" y="83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5" name="Freeform 22"/>
          <p:cNvSpPr>
            <a:spLocks/>
          </p:cNvSpPr>
          <p:nvPr/>
        </p:nvSpPr>
        <p:spPr bwMode="auto">
          <a:xfrm>
            <a:off x="5229358" y="4041845"/>
            <a:ext cx="621124" cy="629866"/>
          </a:xfrm>
          <a:custGeom>
            <a:avLst/>
            <a:gdLst/>
            <a:ahLst/>
            <a:cxnLst>
              <a:cxn ang="0">
                <a:pos x="593" y="0"/>
              </a:cxn>
              <a:cxn ang="0">
                <a:pos x="0" y="735"/>
              </a:cxn>
            </a:cxnLst>
            <a:rect l="0" t="0" r="r" b="b"/>
            <a:pathLst>
              <a:path w="593" h="735">
                <a:moveTo>
                  <a:pt x="593" y="0"/>
                </a:moveTo>
                <a:lnTo>
                  <a:pt x="0" y="735"/>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6" name="Freeform 21"/>
          <p:cNvSpPr>
            <a:spLocks/>
          </p:cNvSpPr>
          <p:nvPr/>
        </p:nvSpPr>
        <p:spPr bwMode="auto">
          <a:xfrm>
            <a:off x="6423423" y="4041845"/>
            <a:ext cx="644167" cy="610156"/>
          </a:xfrm>
          <a:custGeom>
            <a:avLst/>
            <a:gdLst/>
            <a:ahLst/>
            <a:cxnLst>
              <a:cxn ang="0">
                <a:pos x="0" y="0"/>
              </a:cxn>
              <a:cxn ang="0">
                <a:pos x="615" y="713"/>
              </a:cxn>
            </a:cxnLst>
            <a:rect l="0" t="0" r="r" b="b"/>
            <a:pathLst>
              <a:path w="615" h="713">
                <a:moveTo>
                  <a:pt x="0" y="0"/>
                </a:moveTo>
                <a:lnTo>
                  <a:pt x="615" y="713"/>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7" name="Freeform 20"/>
          <p:cNvSpPr>
            <a:spLocks/>
          </p:cNvSpPr>
          <p:nvPr/>
        </p:nvSpPr>
        <p:spPr bwMode="auto">
          <a:xfrm>
            <a:off x="2325893" y="1766615"/>
            <a:ext cx="1829853" cy="585304"/>
          </a:xfrm>
          <a:custGeom>
            <a:avLst/>
            <a:gdLst/>
            <a:ahLst/>
            <a:cxnLst>
              <a:cxn ang="0">
                <a:pos x="1747" y="0"/>
              </a:cxn>
              <a:cxn ang="0">
                <a:pos x="0" y="683"/>
              </a:cxn>
            </a:cxnLst>
            <a:rect l="0" t="0" r="r" b="b"/>
            <a:pathLst>
              <a:path w="1747" h="683">
                <a:moveTo>
                  <a:pt x="1747" y="0"/>
                </a:moveTo>
                <a:lnTo>
                  <a:pt x="0" y="683"/>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8" name="Freeform 19"/>
          <p:cNvSpPr>
            <a:spLocks/>
          </p:cNvSpPr>
          <p:nvPr/>
        </p:nvSpPr>
        <p:spPr bwMode="auto">
          <a:xfrm>
            <a:off x="4980070" y="1773470"/>
            <a:ext cx="1768055" cy="700137"/>
          </a:xfrm>
          <a:custGeom>
            <a:avLst/>
            <a:gdLst/>
            <a:ahLst/>
            <a:cxnLst>
              <a:cxn ang="0">
                <a:pos x="0" y="0"/>
              </a:cxn>
              <a:cxn ang="0">
                <a:pos x="1687" y="817"/>
              </a:cxn>
            </a:cxnLst>
            <a:rect l="0" t="0" r="r" b="b"/>
            <a:pathLst>
              <a:path w="1687" h="817">
                <a:moveTo>
                  <a:pt x="0" y="0"/>
                </a:moveTo>
                <a:lnTo>
                  <a:pt x="1687" y="817"/>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39" name="Freeform 18"/>
          <p:cNvSpPr>
            <a:spLocks/>
          </p:cNvSpPr>
          <p:nvPr/>
        </p:nvSpPr>
        <p:spPr bwMode="auto">
          <a:xfrm>
            <a:off x="6282021" y="2968930"/>
            <a:ext cx="699681" cy="584447"/>
          </a:xfrm>
          <a:custGeom>
            <a:avLst/>
            <a:gdLst/>
            <a:ahLst/>
            <a:cxnLst>
              <a:cxn ang="0">
                <a:pos x="668" y="0"/>
              </a:cxn>
              <a:cxn ang="0">
                <a:pos x="0" y="682"/>
              </a:cxn>
            </a:cxnLst>
            <a:rect l="0" t="0" r="r" b="b"/>
            <a:pathLst>
              <a:path w="668" h="682">
                <a:moveTo>
                  <a:pt x="668" y="0"/>
                </a:moveTo>
                <a:lnTo>
                  <a:pt x="0" y="682"/>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40" name="Freeform 17"/>
          <p:cNvSpPr>
            <a:spLocks/>
          </p:cNvSpPr>
          <p:nvPr/>
        </p:nvSpPr>
        <p:spPr bwMode="auto">
          <a:xfrm>
            <a:off x="7428952" y="2974929"/>
            <a:ext cx="628456" cy="572450"/>
          </a:xfrm>
          <a:custGeom>
            <a:avLst/>
            <a:gdLst/>
            <a:ahLst/>
            <a:cxnLst>
              <a:cxn ang="0">
                <a:pos x="0" y="0"/>
              </a:cxn>
              <a:cxn ang="0">
                <a:pos x="600" y="668"/>
              </a:cxn>
            </a:cxnLst>
            <a:rect l="0" t="0" r="r" b="b"/>
            <a:pathLst>
              <a:path w="600" h="668">
                <a:moveTo>
                  <a:pt x="0" y="0"/>
                </a:moveTo>
                <a:lnTo>
                  <a:pt x="600" y="668"/>
                </a:lnTo>
              </a:path>
            </a:pathLst>
          </a:custGeom>
          <a:noFill/>
          <a:ln w="19050">
            <a:solidFill>
              <a:srgbClr val="000000"/>
            </a:solidFill>
            <a:round/>
            <a:headEnd/>
            <a:tailEn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42" name="Text Box 15"/>
          <p:cNvSpPr txBox="1">
            <a:spLocks noChangeArrowheads="1"/>
          </p:cNvSpPr>
          <p:nvPr/>
        </p:nvSpPr>
        <p:spPr bwMode="auto">
          <a:xfrm>
            <a:off x="6832967" y="4219235"/>
            <a:ext cx="178062" cy="1945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4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46" name="Freeform 11"/>
          <p:cNvSpPr>
            <a:spLocks/>
          </p:cNvSpPr>
          <p:nvPr/>
        </p:nvSpPr>
        <p:spPr bwMode="auto">
          <a:xfrm>
            <a:off x="2342652" y="1773470"/>
            <a:ext cx="1947165" cy="950369"/>
          </a:xfrm>
          <a:custGeom>
            <a:avLst/>
            <a:gdLst/>
            <a:ahLst/>
            <a:cxnLst>
              <a:cxn ang="0">
                <a:pos x="0" y="1109"/>
              </a:cxn>
              <a:cxn ang="0">
                <a:pos x="1859" y="0"/>
              </a:cxn>
            </a:cxnLst>
            <a:rect l="0" t="0" r="r" b="b"/>
            <a:pathLst>
              <a:path w="1859" h="1109">
                <a:moveTo>
                  <a:pt x="0" y="1109"/>
                </a:moveTo>
                <a:cubicBezTo>
                  <a:pt x="0" y="1109"/>
                  <a:pt x="929" y="554"/>
                  <a:pt x="1859"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47" name="Freeform 10"/>
          <p:cNvSpPr>
            <a:spLocks/>
          </p:cNvSpPr>
          <p:nvPr/>
        </p:nvSpPr>
        <p:spPr bwMode="auto">
          <a:xfrm>
            <a:off x="4884755" y="1773470"/>
            <a:ext cx="1732443" cy="1067773"/>
          </a:xfrm>
          <a:custGeom>
            <a:avLst/>
            <a:gdLst/>
            <a:ahLst/>
            <a:cxnLst>
              <a:cxn ang="0">
                <a:pos x="1654" y="1245"/>
              </a:cxn>
              <a:cxn ang="0">
                <a:pos x="1334" y="1039"/>
              </a:cxn>
              <a:cxn ang="0">
                <a:pos x="0" y="0"/>
              </a:cxn>
            </a:cxnLst>
            <a:rect l="0" t="0" r="r" b="b"/>
            <a:pathLst>
              <a:path w="1654" h="1246">
                <a:moveTo>
                  <a:pt x="1654" y="1245"/>
                </a:moveTo>
                <a:cubicBezTo>
                  <a:pt x="1632" y="1245"/>
                  <a:pt x="1610" y="1246"/>
                  <a:pt x="1334" y="1039"/>
                </a:cubicBezTo>
                <a:cubicBezTo>
                  <a:pt x="1058" y="832"/>
                  <a:pt x="529" y="416"/>
                  <a:pt x="0"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48" name="Freeform 9"/>
          <p:cNvSpPr>
            <a:spLocks/>
          </p:cNvSpPr>
          <p:nvPr/>
        </p:nvSpPr>
        <p:spPr bwMode="auto">
          <a:xfrm>
            <a:off x="1210384" y="2841243"/>
            <a:ext cx="500670" cy="1065202"/>
          </a:xfrm>
          <a:custGeom>
            <a:avLst/>
            <a:gdLst/>
            <a:ahLst/>
            <a:cxnLst>
              <a:cxn ang="0">
                <a:pos x="0" y="1243"/>
              </a:cxn>
              <a:cxn ang="0">
                <a:pos x="266" y="579"/>
              </a:cxn>
              <a:cxn ang="0">
                <a:pos x="478" y="0"/>
              </a:cxn>
            </a:cxnLst>
            <a:rect l="0" t="0" r="r" b="b"/>
            <a:pathLst>
              <a:path w="478" h="1243">
                <a:moveTo>
                  <a:pt x="0" y="1243"/>
                </a:moveTo>
                <a:cubicBezTo>
                  <a:pt x="93" y="1014"/>
                  <a:pt x="186" y="786"/>
                  <a:pt x="266" y="579"/>
                </a:cubicBezTo>
                <a:cubicBezTo>
                  <a:pt x="346" y="372"/>
                  <a:pt x="412" y="186"/>
                  <a:pt x="478"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49" name="Freeform 8"/>
          <p:cNvSpPr>
            <a:spLocks/>
          </p:cNvSpPr>
          <p:nvPr/>
        </p:nvSpPr>
        <p:spPr bwMode="auto">
          <a:xfrm>
            <a:off x="2325893" y="2841243"/>
            <a:ext cx="686064" cy="953797"/>
          </a:xfrm>
          <a:custGeom>
            <a:avLst/>
            <a:gdLst/>
            <a:ahLst/>
            <a:cxnLst>
              <a:cxn ang="0">
                <a:pos x="655" y="1113"/>
              </a:cxn>
              <a:cxn ang="0">
                <a:pos x="0" y="0"/>
              </a:cxn>
            </a:cxnLst>
            <a:rect l="0" t="0" r="r" b="b"/>
            <a:pathLst>
              <a:path w="655" h="1113">
                <a:moveTo>
                  <a:pt x="655" y="1113"/>
                </a:moveTo>
                <a:cubicBezTo>
                  <a:pt x="655" y="1113"/>
                  <a:pt x="327" y="556"/>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0" name="Freeform 7"/>
          <p:cNvSpPr>
            <a:spLocks/>
          </p:cNvSpPr>
          <p:nvPr/>
        </p:nvSpPr>
        <p:spPr bwMode="auto">
          <a:xfrm>
            <a:off x="2200202" y="4036703"/>
            <a:ext cx="317370" cy="898095"/>
          </a:xfrm>
          <a:custGeom>
            <a:avLst/>
            <a:gdLst/>
            <a:ahLst/>
            <a:cxnLst>
              <a:cxn ang="0">
                <a:pos x="0" y="1048"/>
              </a:cxn>
              <a:cxn ang="0">
                <a:pos x="303" y="0"/>
              </a:cxn>
            </a:cxnLst>
            <a:rect l="0" t="0" r="r" b="b"/>
            <a:pathLst>
              <a:path w="303" h="1048">
                <a:moveTo>
                  <a:pt x="0" y="1048"/>
                </a:moveTo>
                <a:cubicBezTo>
                  <a:pt x="0" y="1048"/>
                  <a:pt x="151" y="524"/>
                  <a:pt x="303"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1" name="Freeform 6"/>
          <p:cNvSpPr>
            <a:spLocks/>
          </p:cNvSpPr>
          <p:nvPr/>
        </p:nvSpPr>
        <p:spPr bwMode="auto">
          <a:xfrm>
            <a:off x="3093656" y="4058127"/>
            <a:ext cx="785569" cy="876671"/>
          </a:xfrm>
          <a:custGeom>
            <a:avLst/>
            <a:gdLst/>
            <a:ahLst/>
            <a:cxnLst>
              <a:cxn ang="0">
                <a:pos x="750" y="1023"/>
              </a:cxn>
              <a:cxn ang="0">
                <a:pos x="0" y="0"/>
              </a:cxn>
            </a:cxnLst>
            <a:rect l="0" t="0" r="r" b="b"/>
            <a:pathLst>
              <a:path w="750" h="1023">
                <a:moveTo>
                  <a:pt x="750" y="1023"/>
                </a:moveTo>
                <a:cubicBezTo>
                  <a:pt x="750" y="1023"/>
                  <a:pt x="375" y="511"/>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2" name="Freeform 5"/>
          <p:cNvSpPr>
            <a:spLocks/>
          </p:cNvSpPr>
          <p:nvPr/>
        </p:nvSpPr>
        <p:spPr bwMode="auto">
          <a:xfrm>
            <a:off x="5416847" y="4041845"/>
            <a:ext cx="563515" cy="892953"/>
          </a:xfrm>
          <a:custGeom>
            <a:avLst/>
            <a:gdLst/>
            <a:ahLst/>
            <a:cxnLst>
              <a:cxn ang="0">
                <a:pos x="12" y="1042"/>
              </a:cxn>
              <a:cxn ang="0">
                <a:pos x="88" y="728"/>
              </a:cxn>
              <a:cxn ang="0">
                <a:pos x="538" y="0"/>
              </a:cxn>
            </a:cxnLst>
            <a:rect l="0" t="0" r="r" b="b"/>
            <a:pathLst>
              <a:path w="538" h="1042">
                <a:moveTo>
                  <a:pt x="12" y="1042"/>
                </a:moveTo>
                <a:cubicBezTo>
                  <a:pt x="6" y="972"/>
                  <a:pt x="0" y="902"/>
                  <a:pt x="88" y="728"/>
                </a:cubicBezTo>
                <a:cubicBezTo>
                  <a:pt x="176" y="554"/>
                  <a:pt x="357" y="277"/>
                  <a:pt x="538"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3" name="Freeform 4"/>
          <p:cNvSpPr>
            <a:spLocks/>
          </p:cNvSpPr>
          <p:nvPr/>
        </p:nvSpPr>
        <p:spPr bwMode="auto">
          <a:xfrm>
            <a:off x="6282021" y="4058127"/>
            <a:ext cx="466105" cy="953797"/>
          </a:xfrm>
          <a:custGeom>
            <a:avLst/>
            <a:gdLst/>
            <a:ahLst/>
            <a:cxnLst>
              <a:cxn ang="0">
                <a:pos x="445" y="1113"/>
              </a:cxn>
              <a:cxn ang="0">
                <a:pos x="234" y="903"/>
              </a:cxn>
              <a:cxn ang="0">
                <a:pos x="0" y="0"/>
              </a:cxn>
            </a:cxnLst>
            <a:rect l="0" t="0" r="r" b="b"/>
            <a:pathLst>
              <a:path w="445" h="1113">
                <a:moveTo>
                  <a:pt x="445" y="1113"/>
                </a:moveTo>
                <a:cubicBezTo>
                  <a:pt x="376" y="1100"/>
                  <a:pt x="308" y="1088"/>
                  <a:pt x="234" y="903"/>
                </a:cubicBezTo>
                <a:cubicBezTo>
                  <a:pt x="160" y="718"/>
                  <a:pt x="80" y="359"/>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4" name="Freeform 3"/>
          <p:cNvSpPr>
            <a:spLocks/>
          </p:cNvSpPr>
          <p:nvPr/>
        </p:nvSpPr>
        <p:spPr bwMode="auto">
          <a:xfrm>
            <a:off x="6420281" y="2974929"/>
            <a:ext cx="647309" cy="820111"/>
          </a:xfrm>
          <a:custGeom>
            <a:avLst/>
            <a:gdLst/>
            <a:ahLst/>
            <a:cxnLst>
              <a:cxn ang="0">
                <a:pos x="3" y="957"/>
              </a:cxn>
              <a:cxn ang="0">
                <a:pos x="102" y="617"/>
              </a:cxn>
              <a:cxn ang="0">
                <a:pos x="618" y="0"/>
              </a:cxn>
            </a:cxnLst>
            <a:rect l="0" t="0" r="r" b="b"/>
            <a:pathLst>
              <a:path w="618" h="957">
                <a:moveTo>
                  <a:pt x="3" y="957"/>
                </a:moveTo>
                <a:cubicBezTo>
                  <a:pt x="1" y="867"/>
                  <a:pt x="0" y="777"/>
                  <a:pt x="102" y="617"/>
                </a:cubicBezTo>
                <a:cubicBezTo>
                  <a:pt x="204" y="457"/>
                  <a:pt x="411" y="228"/>
                  <a:pt x="618" y="0"/>
                </a:cubicBezTo>
              </a:path>
            </a:pathLst>
          </a:custGeom>
          <a:noFill/>
          <a:ln w="28575">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5" name="Freeform 2"/>
          <p:cNvSpPr>
            <a:spLocks/>
          </p:cNvSpPr>
          <p:nvPr/>
        </p:nvSpPr>
        <p:spPr bwMode="auto">
          <a:xfrm>
            <a:off x="7356680" y="2974929"/>
            <a:ext cx="264999" cy="975221"/>
          </a:xfrm>
          <a:custGeom>
            <a:avLst/>
            <a:gdLst/>
            <a:ahLst/>
            <a:cxnLst>
              <a:cxn ang="0">
                <a:pos x="253" y="1087"/>
              </a:cxn>
              <a:cxn ang="0">
                <a:pos x="129" y="957"/>
              </a:cxn>
              <a:cxn ang="0">
                <a:pos x="0" y="0"/>
              </a:cxn>
            </a:cxnLst>
            <a:rect l="0" t="0" r="r" b="b"/>
            <a:pathLst>
              <a:path w="253" h="1138">
                <a:moveTo>
                  <a:pt x="253" y="1087"/>
                </a:moveTo>
                <a:cubicBezTo>
                  <a:pt x="212" y="1112"/>
                  <a:pt x="171" y="1138"/>
                  <a:pt x="129" y="957"/>
                </a:cubicBezTo>
                <a:cubicBezTo>
                  <a:pt x="87" y="776"/>
                  <a:pt x="43" y="388"/>
                  <a:pt x="0" y="0"/>
                </a:cubicBezTo>
              </a:path>
            </a:pathLst>
          </a:custGeom>
          <a:noFill/>
          <a:ln w="19050">
            <a:solidFill>
              <a:srgbClr val="FF00FF"/>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400">
              <a:solidFill>
                <a:srgbClr val="0000FF"/>
              </a:solidFill>
              <a:latin typeface="Consolas" pitchFamily="49" charset="0"/>
              <a:ea typeface="仿宋" pitchFamily="49" charset="-122"/>
              <a:cs typeface="Consolas" pitchFamily="49" charset="0"/>
            </a:endParaRPr>
          </a:p>
        </p:txBody>
      </p:sp>
      <p:sp>
        <p:nvSpPr>
          <p:cNvPr id="56" name="灯片编号占位符 55"/>
          <p:cNvSpPr>
            <a:spLocks noGrp="1"/>
          </p:cNvSpPr>
          <p:nvPr>
            <p:ph type="sldNum" sz="quarter" idx="12"/>
          </p:nvPr>
        </p:nvSpPr>
        <p:spPr/>
        <p:txBody>
          <a:bodyPr/>
          <a:lstStyle/>
          <a:p>
            <a:fld id="{7AF016A1-9F15-429F-9EFD-84004B73C732}" type="slidenum">
              <a:rPr lang="en-US" altLang="zh-CN" smtClean="0"/>
              <a:pPr/>
              <a:t>10</a:t>
            </a:fld>
            <a:r>
              <a:rPr lang="en-US" altLang="zh-CN"/>
              <a:t>/126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5" name="TextBox 54"/>
          <p:cNvSpPr txBox="1"/>
          <p:nvPr/>
        </p:nvSpPr>
        <p:spPr>
          <a:xfrm>
            <a:off x="428596" y="428604"/>
            <a:ext cx="492922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atin typeface="+mj-lt"/>
                <a:ea typeface="微软雅黑" pitchFamily="34" charset="-122"/>
              </a:rPr>
              <a:t>6.1.3  </a:t>
            </a:r>
            <a:r>
              <a:rPr lang="zh-CN" altLang="zh-CN" sz="2800">
                <a:latin typeface="+mj-lt"/>
                <a:ea typeface="微软雅黑" pitchFamily="34" charset="-122"/>
              </a:rPr>
              <a:t>分支限界法</a:t>
            </a:r>
            <a:r>
              <a:rPr lang="zh-CN" altLang="en-US" sz="2800">
                <a:latin typeface="+mj-lt"/>
                <a:ea typeface="微软雅黑" pitchFamily="34" charset="-122"/>
              </a:rPr>
              <a:t>的</a:t>
            </a:r>
            <a:r>
              <a:rPr lang="zh-CN" altLang="zh-CN" sz="2800">
                <a:latin typeface="+mj-lt"/>
                <a:ea typeface="微软雅黑" pitchFamily="34" charset="-122"/>
              </a:rPr>
              <a:t>时间分析</a:t>
            </a:r>
            <a:endParaRPr lang="zh-CN" altLang="zh-CN" sz="2800">
              <a:ln w="11430"/>
              <a:solidFill>
                <a:schemeClr val="bg1"/>
              </a:solidFill>
              <a:effectLst>
                <a:outerShdw blurRad="50800" dist="39000" dir="5460000" algn="tl">
                  <a:srgbClr val="000000">
                    <a:alpha val="38000"/>
                  </a:srgbClr>
                </a:outerShdw>
              </a:effectLst>
              <a:latin typeface="+mj-lt"/>
              <a:ea typeface="微软雅黑" pitchFamily="34" charset="-122"/>
              <a:cs typeface="Consolas" pitchFamily="49" charset="0"/>
            </a:endParaRPr>
          </a:p>
        </p:txBody>
      </p:sp>
      <p:sp>
        <p:nvSpPr>
          <p:cNvPr id="56" name="TextBox 55"/>
          <p:cNvSpPr txBox="1"/>
          <p:nvPr/>
        </p:nvSpPr>
        <p:spPr>
          <a:xfrm>
            <a:off x="285720" y="1214422"/>
            <a:ext cx="8643998" cy="4157649"/>
          </a:xfrm>
          <a:prstGeom prst="rect">
            <a:avLst/>
          </a:prstGeom>
          <a:solidFill>
            <a:schemeClr val="bg1"/>
          </a:solidFill>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rIns="180000" bIns="108000" rtlCol="0">
            <a:spAutoFit/>
          </a:bodyPr>
          <a:lstStyle/>
          <a:p>
            <a:pPr marL="457200" indent="-457200" algn="l">
              <a:lnSpc>
                <a:spcPct val="100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解空间共有</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层（根结点为第</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层，叶子结点为第</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层）</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第</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层有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个结点，每个结点有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个子结点</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第</a:t>
            </a:r>
            <a:r>
              <a:rPr lang="en-US" altLang="zh-CN">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层有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个结点，同理，第</a:t>
            </a:r>
            <a:r>
              <a:rPr lang="en-US" altLang="zh-CN">
                <a:solidFill>
                  <a:srgbClr val="0000FF"/>
                </a:solidFill>
                <a:latin typeface="Consolas" pitchFamily="49" charset="0"/>
                <a:ea typeface="仿宋" pitchFamily="49" charset="-122"/>
                <a:cs typeface="Consolas" pitchFamily="49" charset="0"/>
              </a:rPr>
              <a:t>3</a:t>
            </a:r>
            <a:r>
              <a:rPr lang="zh-CN" altLang="zh-CN">
                <a:solidFill>
                  <a:srgbClr val="0000FF"/>
                </a:solidFill>
                <a:latin typeface="Consolas" pitchFamily="49" charset="0"/>
                <a:ea typeface="仿宋" pitchFamily="49" charset="-122"/>
                <a:cs typeface="Consolas" pitchFamily="49" charset="0"/>
              </a:rPr>
              <a:t>层有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2</a:t>
            </a:r>
            <a:r>
              <a:rPr lang="zh-CN" altLang="zh-CN">
                <a:solidFill>
                  <a:srgbClr val="0000FF"/>
                </a:solidFill>
                <a:latin typeface="Consolas" pitchFamily="49" charset="0"/>
                <a:ea typeface="仿宋" pitchFamily="49" charset="-122"/>
                <a:cs typeface="Consolas" pitchFamily="49" charset="0"/>
              </a:rPr>
              <a:t>个结点，依此类推，第</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层有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m</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个结点</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则采用分支限界法求所有解的算法的执行时间为</a:t>
            </a:r>
            <a:r>
              <a:rPr lang="en-US" altLang="zh-CN">
                <a:solidFill>
                  <a:srgbClr val="0000FF"/>
                </a:solidFill>
                <a:latin typeface="Consolas" pitchFamily="49" charset="0"/>
                <a:ea typeface="仿宋" pitchFamily="49" charset="-122"/>
                <a:cs typeface="Consolas" pitchFamily="49" charset="0"/>
              </a:rPr>
              <a:t>	</a:t>
            </a:r>
            <a:r>
              <a:rPr lang="en-US" altLang="zh-CN">
                <a:solidFill>
                  <a:srgbClr val="006600"/>
                </a:solidFill>
                <a:latin typeface="Consolas" pitchFamily="49" charset="0"/>
                <a:ea typeface="仿宋" pitchFamily="49" charset="-122"/>
                <a:cs typeface="Consolas" pitchFamily="49" charset="0"/>
              </a:rPr>
              <a:t>T(</a:t>
            </a:r>
            <a:r>
              <a:rPr lang="en-US" altLang="zh-CN" i="1">
                <a:solidFill>
                  <a:srgbClr val="006600"/>
                </a:solidFill>
                <a:latin typeface="Consolas" pitchFamily="49" charset="0"/>
                <a:ea typeface="仿宋" pitchFamily="49" charset="-122"/>
                <a:cs typeface="Consolas" pitchFamily="49" charset="0"/>
              </a:rPr>
              <a:t>n</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0</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0</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1</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0</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1</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2</a:t>
            </a:r>
            <a:r>
              <a:rPr lang="en-US" altLang="zh-CN">
                <a:solidFill>
                  <a:srgbClr val="006600"/>
                </a:solidFill>
                <a:latin typeface="Consolas" pitchFamily="49" charset="0"/>
                <a:ea typeface="仿宋" pitchFamily="49" charset="-122"/>
                <a:cs typeface="Consolas" pitchFamily="49" charset="0"/>
              </a:rPr>
              <a:t>+</a:t>
            </a:r>
            <a:r>
              <a:rPr lang="zh-CN" altLang="zh-CN">
                <a:solidFill>
                  <a:srgbClr val="006600"/>
                </a:solidFill>
                <a:latin typeface="+mj-ea"/>
                <a:ea typeface="+mj-ea"/>
                <a:cs typeface="Consolas" pitchFamily="49" charset="0"/>
              </a:rPr>
              <a:t>…</a:t>
            </a:r>
            <a:r>
              <a:rPr lang="en-US" altLang="zh-CN">
                <a:solidFill>
                  <a:srgbClr val="006600"/>
                </a:solidFill>
                <a:latin typeface="Consolas" pitchFamily="49" charset="0"/>
                <a:ea typeface="仿宋" pitchFamily="49" charset="-122"/>
                <a:cs typeface="Consolas" pitchFamily="49" charset="0"/>
              </a:rPr>
              <a:t>+</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0</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1</a:t>
            </a:r>
            <a:r>
              <a:rPr lang="en-US" altLang="zh-CN" i="1">
                <a:solidFill>
                  <a:srgbClr val="006600"/>
                </a:solidFill>
                <a:latin typeface="Consolas" pitchFamily="49" charset="0"/>
                <a:ea typeface="仿宋" pitchFamily="49" charset="-122"/>
                <a:cs typeface="Consolas" pitchFamily="49" charset="0"/>
              </a:rPr>
              <a:t>m</a:t>
            </a:r>
            <a:r>
              <a:rPr lang="en-US" altLang="zh-CN" baseline="-25000">
                <a:solidFill>
                  <a:srgbClr val="006600"/>
                </a:solidFill>
                <a:latin typeface="Consolas" pitchFamily="49" charset="0"/>
                <a:ea typeface="仿宋" pitchFamily="49" charset="-122"/>
                <a:cs typeface="Consolas" pitchFamily="49" charset="0"/>
              </a:rPr>
              <a:t>2</a:t>
            </a:r>
            <a:r>
              <a:rPr lang="zh-CN" altLang="zh-CN">
                <a:solidFill>
                  <a:srgbClr val="006600"/>
                </a:solidFill>
                <a:latin typeface="+mn-ea"/>
                <a:cs typeface="Consolas" pitchFamily="49" charset="0"/>
              </a:rPr>
              <a:t>…</a:t>
            </a:r>
            <a:r>
              <a:rPr lang="en-US" altLang="zh-CN" i="1">
                <a:solidFill>
                  <a:srgbClr val="006600"/>
                </a:solidFill>
                <a:latin typeface="Consolas" pitchFamily="49" charset="0"/>
                <a:ea typeface="仿宋" pitchFamily="49" charset="-122"/>
                <a:cs typeface="Consolas" pitchFamily="49" charset="0"/>
              </a:rPr>
              <a:t>m</a:t>
            </a:r>
            <a:r>
              <a:rPr lang="en-US" altLang="zh-CN" i="1" baseline="-25000">
                <a:solidFill>
                  <a:srgbClr val="006600"/>
                </a:solidFill>
                <a:latin typeface="Consolas" pitchFamily="49" charset="0"/>
                <a:ea typeface="仿宋" pitchFamily="49" charset="-122"/>
                <a:cs typeface="Consolas" pitchFamily="49" charset="0"/>
              </a:rPr>
              <a:t>n</a:t>
            </a:r>
            <a:r>
              <a:rPr lang="en-US" altLang="zh-CN" baseline="-25000">
                <a:solidFill>
                  <a:srgbClr val="006600"/>
                </a:solidFill>
                <a:latin typeface="Consolas" pitchFamily="49" charset="0"/>
                <a:ea typeface="仿宋" pitchFamily="49" charset="-122"/>
                <a:cs typeface="Consolas" pitchFamily="49" charset="0"/>
              </a:rPr>
              <a:t>-1</a:t>
            </a:r>
            <a:r>
              <a:rPr lang="zh-CN" altLang="zh-CN">
                <a:solidFill>
                  <a:srgbClr val="006600"/>
                </a:solidFill>
                <a:latin typeface="Consolas" pitchFamily="49" charset="0"/>
                <a:ea typeface="仿宋" pitchFamily="49" charset="-122"/>
                <a:cs typeface="Consolas" pitchFamily="49" charset="0"/>
              </a:rPr>
              <a:t>。</a:t>
            </a:r>
            <a:endParaRPr lang="en-US" altLang="zh-CN">
              <a:solidFill>
                <a:srgbClr val="006600"/>
              </a:solidFill>
              <a:latin typeface="Consolas" pitchFamily="49" charset="0"/>
              <a:ea typeface="仿宋" pitchFamily="49" charset="-122"/>
              <a:cs typeface="Consolas" pitchFamily="49" charset="0"/>
            </a:endParaRPr>
          </a:p>
          <a:p>
            <a:pPr marL="457200" indent="-457200" algn="l">
              <a:lnSpc>
                <a:spcPct val="1000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例如，在子集树中有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m</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，对应算法的时间复杂度为</a:t>
            </a:r>
            <a:r>
              <a:rPr lang="en-US" altLang="zh-CN">
                <a:solidFill>
                  <a:srgbClr val="0000FF"/>
                </a:solidFill>
                <a:latin typeface="Consolas" pitchFamily="49" charset="0"/>
                <a:ea typeface="仿宋" pitchFamily="49" charset="-122"/>
                <a:cs typeface="Consolas" pitchFamily="49" charset="0"/>
              </a:rPr>
              <a:t>O(c</a:t>
            </a:r>
            <a:r>
              <a:rPr lang="en-US" altLang="zh-CN" i="1" baseline="30000">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，在排列树中有</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0</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m</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m</a:t>
            </a:r>
            <a:r>
              <a:rPr lang="en-US" altLang="zh-CN" i="1" baseline="-25000">
                <a:solidFill>
                  <a:srgbClr val="0000FF"/>
                </a:solidFill>
                <a:latin typeface="Consolas" pitchFamily="49" charset="0"/>
                <a:ea typeface="仿宋" pitchFamily="49" charset="-122"/>
                <a:cs typeface="Consolas" pitchFamily="49" charset="0"/>
              </a:rPr>
              <a:t>n</a:t>
            </a:r>
            <a:r>
              <a:rPr lang="en-US" altLang="zh-CN" baseline="-25000">
                <a:solidFill>
                  <a:srgbClr val="0000FF"/>
                </a:solidFill>
                <a:latin typeface="Consolas" pitchFamily="49" charset="0"/>
                <a:ea typeface="仿宋" pitchFamily="49" charset="-122"/>
                <a:cs typeface="Consolas" pitchFamily="49" charset="0"/>
              </a:rPr>
              <a:t>-1</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，对应算法的时间复杂度为</a:t>
            </a:r>
            <a:r>
              <a:rPr lang="en-US" altLang="zh-CN">
                <a:solidFill>
                  <a:srgbClr val="0000FF"/>
                </a:solidFill>
                <a:latin typeface="Consolas" pitchFamily="49" charset="0"/>
                <a:ea typeface="仿宋" pitchFamily="49" charset="-122"/>
                <a:cs typeface="Consolas" pitchFamily="49" charset="0"/>
              </a:rPr>
              <a:t>O(</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11</a:t>
            </a:fld>
            <a:r>
              <a:rPr lang="en-US" altLang="zh-CN"/>
              <a:t>/126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000232" y="357166"/>
            <a:ext cx="428628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6.2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广度优先搜索</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357158" y="1571612"/>
            <a:ext cx="4572032"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6.2.1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图的广度优先搜索</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642910" y="2500306"/>
            <a:ext cx="8143932" cy="1438855"/>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5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仿宋" pitchFamily="49" charset="-122"/>
              </a:rPr>
              <a:t>：给定一个不带权连通图</a:t>
            </a:r>
            <a:r>
              <a:rPr lang="en-US" altLang="zh-CN">
                <a:solidFill>
                  <a:srgbClr val="0000FF"/>
                </a:solidFill>
                <a:latin typeface="Consolas" pitchFamily="49" charset="0"/>
                <a:ea typeface="仿宋" pitchFamily="49" charset="-122"/>
              </a:rPr>
              <a:t>G=(V</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和一个顶点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，采用邻接矩阵</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存储，</a:t>
            </a:r>
            <a:r>
              <a:rPr lang="zh-CN" altLang="en-US">
                <a:solidFill>
                  <a:srgbClr val="0000FF"/>
                </a:solidFill>
                <a:latin typeface="Consolas" pitchFamily="49" charset="0"/>
                <a:ea typeface="仿宋" pitchFamily="49" charset="-122"/>
              </a:rPr>
              <a:t>利用</a:t>
            </a:r>
            <a:r>
              <a:rPr lang="zh-CN" altLang="zh-CN">
                <a:solidFill>
                  <a:srgbClr val="0000FF"/>
                </a:solidFill>
                <a:latin typeface="Consolas" pitchFamily="49" charset="0"/>
                <a:ea typeface="仿宋" pitchFamily="49" charset="-122"/>
              </a:rPr>
              <a:t>广度优先搜索</a:t>
            </a:r>
            <a:r>
              <a:rPr lang="zh-CN" altLang="en-US">
                <a:solidFill>
                  <a:srgbClr val="0000FF"/>
                </a:solidFill>
                <a:latin typeface="Consolas" pitchFamily="49" charset="0"/>
                <a:ea typeface="仿宋" pitchFamily="49" charset="-122"/>
              </a:rPr>
              <a:t>方法求出从顶点</a:t>
            </a:r>
            <a:r>
              <a:rPr lang="en-US" altLang="zh-CN" i="1">
                <a:solidFill>
                  <a:srgbClr val="0000FF"/>
                </a:solidFill>
                <a:latin typeface="Consolas" pitchFamily="49" charset="0"/>
                <a:ea typeface="仿宋" pitchFamily="49" charset="-122"/>
              </a:rPr>
              <a:t>s</a:t>
            </a:r>
            <a:r>
              <a:rPr lang="zh-CN" altLang="en-US">
                <a:solidFill>
                  <a:srgbClr val="0000FF"/>
                </a:solidFill>
                <a:latin typeface="Consolas" pitchFamily="49" charset="0"/>
                <a:ea typeface="仿宋" pitchFamily="49" charset="-122"/>
              </a:rPr>
              <a:t>出发到达的每个</a:t>
            </a:r>
            <a:r>
              <a:rPr lang="zh-CN" altLang="zh-CN">
                <a:solidFill>
                  <a:srgbClr val="0000FF"/>
                </a:solidFill>
                <a:latin typeface="Consolas" pitchFamily="49" charset="0"/>
                <a:ea typeface="仿宋" pitchFamily="49" charset="-122"/>
              </a:rPr>
              <a:t>顶点的</a:t>
            </a:r>
            <a:r>
              <a:rPr lang="zh-CN" altLang="en-US">
                <a:solidFill>
                  <a:srgbClr val="0000FF"/>
                </a:solidFill>
                <a:latin typeface="Consolas" pitchFamily="49" charset="0"/>
                <a:ea typeface="仿宋" pitchFamily="49" charset="-122"/>
              </a:rPr>
              <a:t>最小</a:t>
            </a:r>
            <a:r>
              <a:rPr lang="zh-CN" altLang="zh-CN">
                <a:solidFill>
                  <a:srgbClr val="0000FF"/>
                </a:solidFill>
                <a:latin typeface="Consolas" pitchFamily="49" charset="0"/>
                <a:ea typeface="仿宋" pitchFamily="49" charset="-122"/>
              </a:rPr>
              <a:t>距离（最小的边数）。</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a:t>
            </a:fld>
            <a:r>
              <a:rPr lang="en-US" altLang="zh-CN"/>
              <a:t>/126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500174"/>
            <a:ext cx="8286808"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设计一个</a:t>
            </a:r>
            <a:r>
              <a:rPr lang="en-US" altLang="zh-CN">
                <a:solidFill>
                  <a:srgbClr val="0000FF"/>
                </a:solidFill>
                <a:latin typeface="Consolas" pitchFamily="49" charset="0"/>
                <a:ea typeface="仿宋" pitchFamily="49" charset="-122"/>
              </a:rPr>
              <a:t>dist</a:t>
            </a:r>
            <a:r>
              <a:rPr lang="zh-CN" altLang="zh-CN">
                <a:solidFill>
                  <a:srgbClr val="0000FF"/>
                </a:solidFill>
                <a:latin typeface="Consolas" pitchFamily="49" charset="0"/>
                <a:ea typeface="仿宋" pitchFamily="49" charset="-122"/>
              </a:rPr>
              <a:t>数组，其中</a:t>
            </a:r>
            <a:r>
              <a:rPr lang="en-US" altLang="zh-CN">
                <a:solidFill>
                  <a:srgbClr val="0000FF"/>
                </a:solidFill>
                <a:latin typeface="Consolas" pitchFamily="49" charset="0"/>
                <a:ea typeface="仿宋" pitchFamily="49" charset="-122"/>
              </a:rPr>
              <a:t>dist[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表示从顶点</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的最小边数</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广度优先搜索过程是从顶点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出发，以横向方式一步一步沿着边访问各个顶点，当从顶点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沿着</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边走到顶点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时置</a:t>
            </a:r>
            <a:r>
              <a:rPr lang="en-US" altLang="zh-CN">
                <a:solidFill>
                  <a:srgbClr val="0000FF"/>
                </a:solidFill>
                <a:latin typeface="Consolas" pitchFamily="49" charset="0"/>
                <a:ea typeface="仿宋" pitchFamily="49" charset="-122"/>
              </a:rPr>
              <a:t>dist[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]=dist[</a:t>
            </a:r>
            <a:r>
              <a:rPr lang="en-US" altLang="zh-CN" i="1">
                <a:solidFill>
                  <a:srgbClr val="0000FF"/>
                </a:solidFill>
                <a:latin typeface="Consolas" pitchFamily="49" charset="0"/>
                <a:ea typeface="仿宋" pitchFamily="49" charset="-122"/>
              </a:rPr>
              <a:t>u</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13</a:t>
            </a:fld>
            <a:r>
              <a:rPr lang="en-US" altLang="zh-CN"/>
              <a:t>/126</a:t>
            </a:r>
          </a:p>
        </p:txBody>
      </p:sp>
      <p:pic>
        <p:nvPicPr>
          <p:cNvPr id="7"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6503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vector&lt;int&gt;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(vector&lt;vector&lt;int&gt;&gt;&amp;A,int s) {	</a:t>
            </a:r>
          </a:p>
          <a:p>
            <a:pPr algn="l" defTabSz="360000">
              <a:lnSpc>
                <a:spcPts val="3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广度优先搜索算法</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n=A.size();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vector&lt;int&gt; dist(n);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vector&lt;int&gt; visited(n,0);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访问标记数组</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queue&lt;int&gt; qu;</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r>
              <a:rPr lang="en-US" altLang="zh-CN" sz="2000">
                <a:solidFill>
                  <a:srgbClr val="00B0F0"/>
                </a:solidFill>
                <a:latin typeface="Consolas" pitchFamily="49" charset="0"/>
                <a:ea typeface="仿宋" pitchFamily="49" charset="-122"/>
              </a:rPr>
              <a:t>qu</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qu.push(s);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visited[s]=1;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dist[s]=0;</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14</a:t>
            </a:fld>
            <a:r>
              <a:rPr lang="en-US" altLang="zh-CN"/>
              <a:t>/126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while(!qu.empty())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u=qu.front(); qu.pop();</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v=0;v&lt;n;v++)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A[u][v]==1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存在边</a:t>
            </a:r>
            <a:r>
              <a:rPr lang="en-US" altLang="zh-CN" sz="2000">
                <a:solidFill>
                  <a:srgbClr val="00B0F0"/>
                </a:solidFill>
                <a:latin typeface="Consolas" pitchFamily="49" charset="0"/>
                <a:ea typeface="仿宋" pitchFamily="49" charset="-122"/>
              </a:rPr>
              <a:t>&lt;u,v&gt;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if(!visited[v])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未访问过</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dist[v]=dist[u]+1;	</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a:t>
            </a:r>
            <a:r>
              <a:rPr lang="en-US" altLang="zh-CN" sz="2000">
                <a:solidFill>
                  <a:srgbClr val="00B0F0"/>
                </a:solidFill>
                <a:latin typeface="Consolas" pitchFamily="49" charset="0"/>
                <a:ea typeface="仿宋" pitchFamily="49" charset="-122"/>
              </a:rPr>
              <a:t>dist[v]</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visited[v]=1;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的访问标记</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dist;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15</a:t>
            </a:fld>
            <a:r>
              <a:rPr lang="en-US" altLang="zh-CN"/>
              <a:t>/126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8" name="组合 17"/>
          <p:cNvGrpSpPr/>
          <p:nvPr/>
        </p:nvGrpSpPr>
        <p:grpSpPr>
          <a:xfrm>
            <a:off x="2582866" y="868354"/>
            <a:ext cx="1981214" cy="1835144"/>
            <a:chOff x="2582866" y="868354"/>
            <a:chExt cx="1981214" cy="1835144"/>
          </a:xfrm>
        </p:grpSpPr>
        <p:sp>
          <p:nvSpPr>
            <p:cNvPr id="9227" name="Oval 11"/>
            <p:cNvSpPr>
              <a:spLocks noChangeArrowheads="1"/>
            </p:cNvSpPr>
            <p:nvPr/>
          </p:nvSpPr>
          <p:spPr bwMode="auto">
            <a:xfrm>
              <a:off x="2582866" y="868354"/>
              <a:ext cx="394335" cy="39404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6" name="Oval 10"/>
            <p:cNvSpPr>
              <a:spLocks noChangeArrowheads="1"/>
            </p:cNvSpPr>
            <p:nvPr/>
          </p:nvSpPr>
          <p:spPr bwMode="auto">
            <a:xfrm>
              <a:off x="4169745" y="868354"/>
              <a:ext cx="394335" cy="394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5" name="Oval 9"/>
            <p:cNvSpPr>
              <a:spLocks noChangeArrowheads="1"/>
            </p:cNvSpPr>
            <p:nvPr/>
          </p:nvSpPr>
          <p:spPr bwMode="auto">
            <a:xfrm>
              <a:off x="3382666" y="1508668"/>
              <a:ext cx="392745" cy="394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4" name="Oval 8"/>
            <p:cNvSpPr>
              <a:spLocks noChangeArrowheads="1"/>
            </p:cNvSpPr>
            <p:nvPr/>
          </p:nvSpPr>
          <p:spPr bwMode="auto">
            <a:xfrm>
              <a:off x="2582866" y="2309458"/>
              <a:ext cx="394335" cy="394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3" name="Oval 7"/>
            <p:cNvSpPr>
              <a:spLocks noChangeArrowheads="1"/>
            </p:cNvSpPr>
            <p:nvPr/>
          </p:nvSpPr>
          <p:spPr bwMode="auto">
            <a:xfrm>
              <a:off x="4169745" y="2309458"/>
              <a:ext cx="394335" cy="39404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20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222" name="AutoShape 6"/>
            <p:cNvSpPr>
              <a:spLocks noChangeShapeType="1"/>
            </p:cNvSpPr>
            <p:nvPr/>
          </p:nvSpPr>
          <p:spPr bwMode="auto">
            <a:xfrm>
              <a:off x="2977201" y="1065374"/>
              <a:ext cx="1192544" cy="158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9221" name="AutoShape 5"/>
            <p:cNvSpPr>
              <a:spLocks noChangeShapeType="1"/>
            </p:cNvSpPr>
            <p:nvPr/>
          </p:nvSpPr>
          <p:spPr bwMode="auto">
            <a:xfrm>
              <a:off x="2780034" y="1262394"/>
              <a:ext cx="1590" cy="1047065"/>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9220" name="AutoShape 4"/>
            <p:cNvSpPr>
              <a:spLocks noChangeShapeType="1"/>
            </p:cNvSpPr>
            <p:nvPr/>
          </p:nvSpPr>
          <p:spPr bwMode="auto">
            <a:xfrm>
              <a:off x="2977201" y="2508067"/>
              <a:ext cx="1192544" cy="158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9219" name="AutoShape 3"/>
            <p:cNvSpPr>
              <a:spLocks noChangeShapeType="1"/>
            </p:cNvSpPr>
            <p:nvPr/>
          </p:nvSpPr>
          <p:spPr bwMode="auto">
            <a:xfrm flipV="1">
              <a:off x="2919959" y="1845509"/>
              <a:ext cx="519949" cy="52114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9218" name="AutoShape 2"/>
            <p:cNvSpPr>
              <a:spLocks noChangeShapeType="1"/>
            </p:cNvSpPr>
            <p:nvPr/>
          </p:nvSpPr>
          <p:spPr bwMode="auto">
            <a:xfrm>
              <a:off x="3719758" y="1845509"/>
              <a:ext cx="507229" cy="521149"/>
            </a:xfrm>
            <a:prstGeom prst="straightConnector1">
              <a:avLst/>
            </a:prstGeom>
            <a:noFill/>
            <a:ln w="9525">
              <a:solidFill>
                <a:srgbClr val="000000"/>
              </a:solidFill>
              <a:round/>
              <a:headEnd/>
              <a:tailEnd type="none" w="sm" len="sm"/>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grpSp>
      <p:pic>
        <p:nvPicPr>
          <p:cNvPr id="19" name="Picture 2"/>
          <p:cNvPicPr>
            <a:picLocks noChangeAspect="1" noChangeArrowheads="1"/>
          </p:cNvPicPr>
          <p:nvPr/>
        </p:nvPicPr>
        <p:blipFill>
          <a:blip r:embed="rId3" cstate="print"/>
          <a:srcRect/>
          <a:stretch>
            <a:fillRect/>
          </a:stretch>
        </p:blipFill>
        <p:spPr bwMode="auto">
          <a:xfrm>
            <a:off x="357158" y="3500438"/>
            <a:ext cx="1157987" cy="1071570"/>
          </a:xfrm>
          <a:prstGeom prst="rect">
            <a:avLst/>
          </a:prstGeom>
          <a:noFill/>
          <a:ln w="9525">
            <a:noFill/>
            <a:miter lim="800000"/>
            <a:headEnd/>
            <a:tailEnd/>
          </a:ln>
        </p:spPr>
      </p:pic>
      <p:sp>
        <p:nvSpPr>
          <p:cNvPr id="3" name="TextBox 2"/>
          <p:cNvSpPr txBox="1"/>
          <p:nvPr/>
        </p:nvSpPr>
        <p:spPr>
          <a:xfrm>
            <a:off x="1428728" y="3143248"/>
            <a:ext cx="7286676" cy="184932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ct val="100000"/>
              </a:lnSpc>
              <a:spcBef>
                <a:spcPts val="1200"/>
              </a:spcBef>
              <a:buBlip>
                <a:blip r:embed="rId4"/>
              </a:buBlip>
            </a:pPr>
            <a:r>
              <a:rPr lang="zh-CN" altLang="zh-CN">
                <a:solidFill>
                  <a:srgbClr val="0000FF"/>
                </a:solidFill>
                <a:latin typeface="Consolas" pitchFamily="49" charset="0"/>
                <a:ea typeface="仿宋" pitchFamily="49" charset="-122"/>
              </a:rPr>
              <a:t>上述算法的求解结果：</a:t>
            </a:r>
            <a:r>
              <a:rPr lang="en-US" altLang="zh-CN">
                <a:solidFill>
                  <a:srgbClr val="0000FF"/>
                </a:solidFill>
                <a:latin typeface="Consolas" pitchFamily="49" charset="0"/>
                <a:ea typeface="仿宋" pitchFamily="49" charset="-122"/>
              </a:rPr>
              <a:t>dist[0]=0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dist[1]=1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dist[2]=2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dist[3]=1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dist[4]=2</a:t>
            </a:r>
            <a:r>
              <a:rPr lang="zh-CN" altLang="zh-CN">
                <a:solidFill>
                  <a:srgbClr val="0000FF"/>
                </a:solidFill>
                <a:latin typeface="Consolas" pitchFamily="49" charset="0"/>
                <a:ea typeface="仿宋" pitchFamily="49" charset="-122"/>
              </a:rPr>
              <a:t>。</a:t>
            </a:r>
          </a:p>
          <a:p>
            <a:pPr marL="457200" indent="-457200" algn="l">
              <a:lnSpc>
                <a:spcPct val="100000"/>
              </a:lnSpc>
              <a:spcBef>
                <a:spcPts val="1200"/>
              </a:spcBef>
              <a:buBlip>
                <a:blip r:embed="rId4"/>
              </a:buBlip>
            </a:pPr>
            <a:r>
              <a:rPr lang="zh-CN" altLang="zh-CN">
                <a:solidFill>
                  <a:srgbClr val="0000FF"/>
                </a:solidFill>
                <a:latin typeface="Consolas" pitchFamily="49" charset="0"/>
                <a:ea typeface="仿宋" pitchFamily="49" charset="-122"/>
              </a:rPr>
              <a:t>可以证明上述算法求出的</a:t>
            </a:r>
            <a:r>
              <a:rPr lang="en-US" altLang="zh-CN">
                <a:solidFill>
                  <a:srgbClr val="C00000"/>
                </a:solidFill>
                <a:latin typeface="Consolas" pitchFamily="49" charset="0"/>
                <a:ea typeface="仿宋" pitchFamily="49" charset="-122"/>
              </a:rPr>
              <a:t>dist[</a:t>
            </a:r>
            <a:r>
              <a:rPr lang="en-US" altLang="zh-CN" i="1">
                <a:solidFill>
                  <a:srgbClr val="C00000"/>
                </a:solidFill>
                <a:latin typeface="Consolas" pitchFamily="49" charset="0"/>
                <a:ea typeface="仿宋" pitchFamily="49" charset="-122"/>
              </a:rPr>
              <a:t>i</a:t>
            </a:r>
            <a:r>
              <a:rPr lang="en-US" altLang="zh-CN">
                <a:solidFill>
                  <a:srgbClr val="C00000"/>
                </a:solidFill>
                <a:latin typeface="Consolas" pitchFamily="49" charset="0"/>
                <a:ea typeface="仿宋" pitchFamily="49" charset="-122"/>
              </a:rPr>
              <a:t>]</a:t>
            </a:r>
            <a:r>
              <a:rPr lang="zh-CN" altLang="zh-CN">
                <a:solidFill>
                  <a:srgbClr val="C00000"/>
                </a:solidFill>
                <a:latin typeface="Consolas" pitchFamily="49" charset="0"/>
                <a:ea typeface="仿宋" pitchFamily="49" charset="-122"/>
              </a:rPr>
              <a:t>一定是从顶点</a:t>
            </a:r>
            <a:r>
              <a:rPr lang="en-US" altLang="zh-CN">
                <a:solidFill>
                  <a:srgbClr val="C00000"/>
                </a:solidFill>
                <a:latin typeface="Consolas" pitchFamily="49" charset="0"/>
                <a:ea typeface="仿宋" pitchFamily="49" charset="-122"/>
              </a:rPr>
              <a:t>s</a:t>
            </a:r>
            <a:r>
              <a:rPr lang="zh-CN" altLang="zh-CN">
                <a:solidFill>
                  <a:srgbClr val="C00000"/>
                </a:solidFill>
                <a:latin typeface="Consolas" pitchFamily="49" charset="0"/>
                <a:ea typeface="仿宋" pitchFamily="49" charset="-122"/>
              </a:rPr>
              <a:t>到达顶点</a:t>
            </a:r>
            <a:r>
              <a:rPr lang="en-US" altLang="zh-CN" i="1">
                <a:solidFill>
                  <a:srgbClr val="C00000"/>
                </a:solidFill>
                <a:latin typeface="Consolas" pitchFamily="49" charset="0"/>
                <a:ea typeface="仿宋" pitchFamily="49" charset="-122"/>
              </a:rPr>
              <a:t>i</a:t>
            </a:r>
            <a:r>
              <a:rPr lang="zh-CN" altLang="zh-CN">
                <a:solidFill>
                  <a:srgbClr val="C00000"/>
                </a:solidFill>
                <a:latin typeface="Consolas" pitchFamily="49" charset="0"/>
                <a:ea typeface="仿宋" pitchFamily="49" charset="-122"/>
              </a:rPr>
              <a:t>的最小边数的距离</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20" name="灯片编号占位符 19"/>
          <p:cNvSpPr>
            <a:spLocks noGrp="1"/>
          </p:cNvSpPr>
          <p:nvPr>
            <p:ph type="sldNum" sz="quarter" idx="12"/>
          </p:nvPr>
        </p:nvSpPr>
        <p:spPr/>
        <p:txBody>
          <a:bodyPr/>
          <a:lstStyle/>
          <a:p>
            <a:fld id="{7AF016A1-9F15-429F-9EFD-84004B73C732}" type="slidenum">
              <a:rPr lang="en-US" altLang="zh-CN" smtClean="0"/>
              <a:pPr/>
              <a:t>16</a:t>
            </a:fld>
            <a:r>
              <a:rPr lang="en-US" altLang="zh-CN"/>
              <a:t>/126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4786346"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6.2.2 </a:t>
            </a:r>
            <a:r>
              <a:rPr lang="zh-CN" altLang="en-US"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广度优先搜索的应用</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214282" y="1571612"/>
            <a:ext cx="8643998" cy="4170372"/>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400"/>
              </a:lnSpc>
              <a:spcBef>
                <a:spcPts val="600"/>
              </a:spcBef>
            </a:pP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6.1</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传送门问题（</a:t>
            </a:r>
            <a:r>
              <a:rPr lang="en-US" altLang="zh-CN">
                <a:solidFill>
                  <a:srgbClr val="0000FF"/>
                </a:solidFill>
                <a:latin typeface="Consolas" pitchFamily="49" charset="0"/>
                <a:ea typeface="仿宋" pitchFamily="49" charset="-122"/>
              </a:rPr>
              <a:t>LintCode750</a:t>
            </a:r>
            <a:r>
              <a:rPr lang="zh-CN" altLang="zh-CN">
                <a:solidFill>
                  <a:srgbClr val="0000FF"/>
                </a:solidFill>
                <a:latin typeface="Consolas" pitchFamily="49" charset="0"/>
                <a:ea typeface="仿宋" pitchFamily="49" charset="-122"/>
              </a:rPr>
              <a:t>★★）。某一天</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掉进了一个迷宫</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，迷宫可以看作是一个大小为</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m</a:t>
            </a:r>
            <a:r>
              <a:rPr lang="zh-CN" altLang="zh-CN">
                <a:solidFill>
                  <a:srgbClr val="0000FF"/>
                </a:solidFill>
                <a:latin typeface="+mn-ea"/>
              </a:rPr>
              <a:t>≤</a:t>
            </a:r>
            <a:r>
              <a:rPr lang="en-US" altLang="zh-CN">
                <a:solidFill>
                  <a:srgbClr val="0000FF"/>
                </a:solidFill>
                <a:latin typeface="Consolas" pitchFamily="49" charset="0"/>
                <a:ea typeface="仿宋" pitchFamily="49" charset="-122"/>
              </a:rPr>
              <a:t>200</a:t>
            </a:r>
            <a:r>
              <a:rPr lang="zh-CN" altLang="zh-CN">
                <a:solidFill>
                  <a:srgbClr val="0000FF"/>
                </a:solidFill>
                <a:latin typeface="Consolas" pitchFamily="49" charset="0"/>
                <a:ea typeface="仿宋" pitchFamily="49" charset="-122"/>
              </a:rPr>
              <a:t>）二维字符数组。</a:t>
            </a:r>
            <a:endParaRPr lang="en-US" altLang="zh-CN">
              <a:solidFill>
                <a:srgbClr val="0000FF"/>
              </a:solidFill>
              <a:latin typeface="Consolas" pitchFamily="49" charset="0"/>
              <a:ea typeface="仿宋" pitchFamily="49" charset="-122"/>
            </a:endParaRPr>
          </a:p>
          <a:p>
            <a:pPr algn="l" defTabSz="360000">
              <a:lnSpc>
                <a:spcPts val="3400"/>
              </a:lnSpc>
              <a:spcBef>
                <a:spcPts val="600"/>
              </a:spcBef>
              <a:spcAft>
                <a:spcPts val="600"/>
              </a:spcAft>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有</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种</a:t>
            </a:r>
            <a:r>
              <a:rPr lang="zh-CN" altLang="en-US">
                <a:solidFill>
                  <a:srgbClr val="0000FF"/>
                </a:solidFill>
                <a:latin typeface="Consolas" pitchFamily="49" charset="0"/>
                <a:ea typeface="仿宋" pitchFamily="49" charset="-122"/>
              </a:rPr>
              <a:t>类型的</a:t>
            </a:r>
            <a:r>
              <a:rPr lang="zh-CN" altLang="zh-CN">
                <a:solidFill>
                  <a:srgbClr val="0000FF"/>
                </a:solidFill>
                <a:latin typeface="Consolas" pitchFamily="49" charset="0"/>
                <a:ea typeface="仿宋" pitchFamily="49" charset="-122"/>
              </a:rPr>
              <a:t>房间</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914400" lvl="1" indent="-457200" algn="l" defTabSz="360000">
              <a:lnSpc>
                <a:spcPts val="3400"/>
              </a:lnSpc>
              <a:spcBef>
                <a:spcPts val="0"/>
              </a:spcBef>
              <a:buBlip>
                <a:blip r:embed="rId3"/>
              </a:buBlip>
            </a:pP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代表</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从哪开始（只有一个起点）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914400" lvl="1" indent="-457200" algn="l" defTabSz="360000">
              <a:lnSpc>
                <a:spcPts val="3400"/>
              </a:lnSpc>
              <a:spcBef>
                <a:spcPts val="0"/>
              </a:spcBef>
              <a:buBlip>
                <a:blip r:embed="rId3"/>
              </a:buBlip>
            </a:pP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代表迷宫的出口（当</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抵达时，她将离开迷宫，该题目可能会有多个出口）</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914400" lvl="1" indent="-457200" algn="l" defTabSz="360000">
              <a:lnSpc>
                <a:spcPts val="3400"/>
              </a:lnSpc>
              <a:spcBef>
                <a:spcPts val="0"/>
              </a:spcBef>
              <a:buBlip>
                <a:blip r:embed="rId3"/>
              </a:buBlip>
            </a:pP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代表这个房间</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可以经过</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914400" lvl="1" indent="-457200" algn="l" defTabSz="360000">
              <a:lnSpc>
                <a:spcPts val="3400"/>
              </a:lnSpc>
              <a:spcBef>
                <a:spcPts val="0"/>
              </a:spcBef>
              <a:buBlip>
                <a:blip r:embed="rId3"/>
              </a:buBlip>
            </a:pP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代表一堵墙，</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不能经过墙。</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17</a:t>
            </a:fld>
            <a:r>
              <a:rPr lang="en-US" altLang="zh-CN"/>
              <a:t>/126</a:t>
            </a:r>
          </a:p>
        </p:txBody>
      </p:sp>
      <p:grpSp>
        <p:nvGrpSpPr>
          <p:cNvPr id="6" name="组合 5"/>
          <p:cNvGrpSpPr/>
          <p:nvPr/>
        </p:nvGrpSpPr>
        <p:grpSpPr>
          <a:xfrm>
            <a:off x="6286512" y="428604"/>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14282" y="500042"/>
            <a:ext cx="8715436" cy="3811300"/>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400"/>
              </a:lnSpc>
              <a:spcBef>
                <a:spcPts val="600"/>
              </a:spcBef>
            </a:pPr>
            <a:r>
              <a:rPr lang="zh-CN" altLang="zh-CN">
                <a:solidFill>
                  <a:srgbClr val="0000FF"/>
                </a:solidFill>
                <a:latin typeface="Consolas" pitchFamily="49" charset="0"/>
                <a:ea typeface="仿宋" pitchFamily="49" charset="-122"/>
              </a:rPr>
              <a:t>她可以每次上下左右移动到达一个房间，花费一分钟时间，但是不能到达墙。请你设计一个算法能告诉我她最少需要多少时间离开这个迷宫吗？如果她不能离开，返回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4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maze={{'S','*','#','E'},{'#','*','#','#'}, {'*','*','*','*'},{'E','*','#','E'}}</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）走到（</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）花费</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分钟。</a:t>
            </a:r>
            <a:endParaRPr lang="en-US" altLang="zh-CN">
              <a:solidFill>
                <a:srgbClr val="0000FF"/>
              </a:solidFill>
              <a:latin typeface="Consolas" pitchFamily="49" charset="0"/>
              <a:ea typeface="仿宋" pitchFamily="49" charset="-122"/>
            </a:endParaRPr>
          </a:p>
          <a:p>
            <a:pPr algn="l" defTabSz="360000">
              <a:lnSpc>
                <a:spcPts val="34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lvl="1" algn="l" defTabSz="360000">
              <a:lnSpc>
                <a:spcPts val="3400"/>
              </a:lnSpc>
              <a:spcBef>
                <a:spcPts val="600"/>
              </a:spcBef>
            </a:pPr>
            <a:r>
              <a:rPr lang="en-US" altLang="zh-CN" sz="2000">
                <a:solidFill>
                  <a:srgbClr val="006600"/>
                </a:solidFill>
                <a:latin typeface="Consolas" pitchFamily="49" charset="0"/>
                <a:ea typeface="仿宋" pitchFamily="49" charset="-122"/>
              </a:rPr>
              <a:t>int portal(vector&lt;vector&lt;char&gt;&gt;&amp; maze) { }</a:t>
            </a:r>
            <a:endParaRPr lang="zh-CN" altLang="zh-CN" sz="2000">
              <a:solidFill>
                <a:srgbClr val="006600"/>
              </a:solidFill>
              <a:latin typeface="Consolas" pitchFamily="49" charset="0"/>
              <a:ea typeface="仿宋" pitchFamily="49" charset="-122"/>
            </a:endParaRPr>
          </a:p>
        </p:txBody>
      </p:sp>
      <p:grpSp>
        <p:nvGrpSpPr>
          <p:cNvPr id="5" name="Group 2"/>
          <p:cNvGrpSpPr>
            <a:grpSpLocks noChangeAspect="1"/>
          </p:cNvGrpSpPr>
          <p:nvPr/>
        </p:nvGrpSpPr>
        <p:grpSpPr bwMode="auto">
          <a:xfrm>
            <a:off x="2143108" y="4572008"/>
            <a:ext cx="1857504" cy="1785951"/>
            <a:chOff x="2071" y="6273"/>
            <a:chExt cx="1622" cy="1560"/>
          </a:xfrm>
        </p:grpSpPr>
        <p:sp>
          <p:nvSpPr>
            <p:cNvPr id="6" name="AutoShape 19"/>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7" name="Rectangle 18"/>
            <p:cNvSpPr>
              <a:spLocks noChangeArrowheads="1"/>
            </p:cNvSpPr>
            <p:nvPr/>
          </p:nvSpPr>
          <p:spPr bwMode="auto">
            <a:xfrm>
              <a:off x="2079" y="6281"/>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Rectangle 17"/>
            <p:cNvSpPr>
              <a:spLocks noChangeArrowheads="1"/>
            </p:cNvSpPr>
            <p:nvPr/>
          </p:nvSpPr>
          <p:spPr bwMode="auto">
            <a:xfrm>
              <a:off x="2476" y="6281"/>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Rectangle 16"/>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Rectangle 15"/>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Rectangle 14"/>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Rectangle 13"/>
            <p:cNvSpPr>
              <a:spLocks noChangeArrowheads="1"/>
            </p:cNvSpPr>
            <p:nvPr/>
          </p:nvSpPr>
          <p:spPr bwMode="auto">
            <a:xfrm>
              <a:off x="2476" y="6665"/>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Rectangle 12"/>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Rectangle 11"/>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Rectangle 10"/>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Rectangle 9"/>
            <p:cNvSpPr>
              <a:spLocks noChangeArrowheads="1"/>
            </p:cNvSpPr>
            <p:nvPr/>
          </p:nvSpPr>
          <p:spPr bwMode="auto">
            <a:xfrm>
              <a:off x="2476" y="7052"/>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Rectangle 8"/>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Rectangle 7"/>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Rectangle 6"/>
            <p:cNvSpPr>
              <a:spLocks noChangeArrowheads="1"/>
            </p:cNvSpPr>
            <p:nvPr/>
          </p:nvSpPr>
          <p:spPr bwMode="auto">
            <a:xfrm>
              <a:off x="2079" y="7436"/>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Rectangle 5"/>
            <p:cNvSpPr>
              <a:spLocks noChangeArrowheads="1"/>
            </p:cNvSpPr>
            <p:nvPr/>
          </p:nvSpPr>
          <p:spPr bwMode="auto">
            <a:xfrm>
              <a:off x="2476" y="7436"/>
              <a:ext cx="406" cy="389"/>
            </a:xfrm>
            <a:prstGeom prst="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13500000" scaled="1"/>
              <a:tileRect/>
            </a:gra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2" name="Rectangle 4"/>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3" name="Rectangle 3"/>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24" name="灯片编号占位符 23"/>
          <p:cNvSpPr>
            <a:spLocks noGrp="1"/>
          </p:cNvSpPr>
          <p:nvPr>
            <p:ph type="sldNum" sz="quarter" idx="12"/>
          </p:nvPr>
        </p:nvSpPr>
        <p:spPr/>
        <p:txBody>
          <a:bodyPr/>
          <a:lstStyle/>
          <a:p>
            <a:fld id="{7AF016A1-9F15-429F-9EFD-84004B73C732}" type="slidenum">
              <a:rPr lang="en-US" altLang="zh-CN" smtClean="0"/>
              <a:pPr/>
              <a:t>18</a:t>
            </a:fld>
            <a:r>
              <a:rPr lang="en-US" altLang="zh-CN"/>
              <a:t>/126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500034" y="428604"/>
            <a:ext cx="121444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1</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44" name="TextBox 43"/>
          <p:cNvSpPr txBox="1"/>
          <p:nvPr/>
        </p:nvSpPr>
        <p:spPr>
          <a:xfrm>
            <a:off x="500034" y="1214422"/>
            <a:ext cx="8429684" cy="191334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该问题中</a:t>
            </a:r>
            <a:r>
              <a:rPr lang="en-US" altLang="zh-CN">
                <a:solidFill>
                  <a:srgbClr val="0000FF"/>
                </a:solidFill>
                <a:latin typeface="Consolas" pitchFamily="49" charset="0"/>
                <a:ea typeface="仿宋" pitchFamily="49" charset="-122"/>
              </a:rPr>
              <a:t>Chell</a:t>
            </a:r>
            <a:r>
              <a:rPr lang="zh-CN" altLang="zh-CN">
                <a:solidFill>
                  <a:srgbClr val="0000FF"/>
                </a:solidFill>
                <a:latin typeface="Consolas" pitchFamily="49" charset="0"/>
                <a:ea typeface="仿宋" pitchFamily="49" charset="-122"/>
              </a:rPr>
              <a:t>可以上下左右移动，每移动一步花费的时间都是</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分钟，求</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位置到某个</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位置的最少时间</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每一步代价相同并且求最小总代价，所以满足利用</a:t>
            </a:r>
            <a:r>
              <a:rPr lang="zh-CN" altLang="zh-CN">
                <a:solidFill>
                  <a:srgbClr val="FF00FF"/>
                </a:solidFill>
                <a:latin typeface="Consolas" pitchFamily="49" charset="0"/>
                <a:ea typeface="仿宋" pitchFamily="49" charset="-122"/>
              </a:rPr>
              <a:t>广度优先搜索求最优解的条件</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19</a:t>
            </a:fld>
            <a:r>
              <a:rPr lang="en-US" altLang="zh-CN"/>
              <a:t>/126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Group 2"/>
          <p:cNvGrpSpPr>
            <a:grpSpLocks noChangeAspect="1"/>
          </p:cNvGrpSpPr>
          <p:nvPr/>
        </p:nvGrpSpPr>
        <p:grpSpPr bwMode="auto">
          <a:xfrm>
            <a:off x="1500050" y="4214817"/>
            <a:ext cx="1857504" cy="1785951"/>
            <a:chOff x="2071" y="6273"/>
            <a:chExt cx="1622" cy="1560"/>
          </a:xfrm>
        </p:grpSpPr>
        <p:sp>
          <p:nvSpPr>
            <p:cNvPr id="5139" name="AutoShape 19"/>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5138" name="Rectangle 18"/>
            <p:cNvSpPr>
              <a:spLocks noChangeArrowheads="1"/>
            </p:cNvSpPr>
            <p:nvPr/>
          </p:nvSpPr>
          <p:spPr bwMode="auto">
            <a:xfrm>
              <a:off x="20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7" name="Rectangle 17"/>
            <p:cNvSpPr>
              <a:spLocks noChangeArrowheads="1"/>
            </p:cNvSpPr>
            <p:nvPr/>
          </p:nvSpPr>
          <p:spPr bwMode="auto">
            <a:xfrm>
              <a:off x="2476"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6" name="Rectangle 16"/>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5" name="Rectangle 15"/>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4" name="Rectangle 14"/>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3" name="Rectangle 13"/>
            <p:cNvSpPr>
              <a:spLocks noChangeArrowheads="1"/>
            </p:cNvSpPr>
            <p:nvPr/>
          </p:nvSpPr>
          <p:spPr bwMode="auto">
            <a:xfrm>
              <a:off x="2476" y="6665"/>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2" name="Rectangle 12"/>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1" name="Rectangle 11"/>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0" name="Rectangle 10"/>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9" name="Rectangle 9"/>
            <p:cNvSpPr>
              <a:spLocks noChangeArrowheads="1"/>
            </p:cNvSpPr>
            <p:nvPr/>
          </p:nvSpPr>
          <p:spPr bwMode="auto">
            <a:xfrm>
              <a:off x="2476"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8" name="Rectangle 8"/>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7" name="Rectangle 7"/>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6" name="Rectangle 6"/>
            <p:cNvSpPr>
              <a:spLocks noChangeArrowheads="1"/>
            </p:cNvSpPr>
            <p:nvPr/>
          </p:nvSpPr>
          <p:spPr bwMode="auto">
            <a:xfrm>
              <a:off x="20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5" name="Rectangle 5"/>
            <p:cNvSpPr>
              <a:spLocks noChangeArrowheads="1"/>
            </p:cNvSpPr>
            <p:nvPr/>
          </p:nvSpPr>
          <p:spPr bwMode="auto">
            <a:xfrm>
              <a:off x="2476"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4" name="Rectangle 4"/>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3" name="Rectangle 3"/>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 name="Group 38"/>
          <p:cNvGrpSpPr>
            <a:grpSpLocks noChangeAspect="1"/>
          </p:cNvGrpSpPr>
          <p:nvPr/>
        </p:nvGrpSpPr>
        <p:grpSpPr bwMode="auto">
          <a:xfrm>
            <a:off x="4429008" y="4214817"/>
            <a:ext cx="1857504" cy="1785951"/>
            <a:chOff x="2071" y="6273"/>
            <a:chExt cx="1622" cy="1560"/>
          </a:xfrm>
        </p:grpSpPr>
        <p:sp>
          <p:nvSpPr>
            <p:cNvPr id="5175" name="AutoShape 55"/>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5174" name="Rectangle 54"/>
            <p:cNvSpPr>
              <a:spLocks noChangeArrowheads="1"/>
            </p:cNvSpPr>
            <p:nvPr/>
          </p:nvSpPr>
          <p:spPr bwMode="auto">
            <a:xfrm>
              <a:off x="2079" y="6281"/>
              <a:ext cx="406" cy="389"/>
            </a:xfrm>
            <a:prstGeom prst="rect">
              <a:avLst/>
            </a:prstGeom>
            <a:solidFill>
              <a:srgbClr val="FF000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5173" name="Rectangle 53"/>
            <p:cNvSpPr>
              <a:spLocks noChangeArrowheads="1"/>
            </p:cNvSpPr>
            <p:nvPr/>
          </p:nvSpPr>
          <p:spPr bwMode="auto">
            <a:xfrm>
              <a:off x="2476" y="6281"/>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72" name="Rectangle 52"/>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71" name="Rectangle 51"/>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70" name="Rectangle 50"/>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9" name="Rectangle 49"/>
            <p:cNvSpPr>
              <a:spLocks noChangeArrowheads="1"/>
            </p:cNvSpPr>
            <p:nvPr/>
          </p:nvSpPr>
          <p:spPr bwMode="auto">
            <a:xfrm>
              <a:off x="2476" y="6665"/>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②</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8" name="Rectangle 48"/>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7" name="Rectangle 47"/>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6" name="Rectangle 46"/>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5" name="Rectangle 45"/>
            <p:cNvSpPr>
              <a:spLocks noChangeArrowheads="1"/>
            </p:cNvSpPr>
            <p:nvPr/>
          </p:nvSpPr>
          <p:spPr bwMode="auto">
            <a:xfrm>
              <a:off x="2476" y="7052"/>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③</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4" name="Rectangle 44"/>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3" name="Rectangle 43"/>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2" name="Rectangle 42"/>
            <p:cNvSpPr>
              <a:spLocks noChangeArrowheads="1"/>
            </p:cNvSpPr>
            <p:nvPr/>
          </p:nvSpPr>
          <p:spPr bwMode="auto">
            <a:xfrm>
              <a:off x="2079" y="7436"/>
              <a:ext cx="406" cy="389"/>
            </a:xfrm>
            <a:prstGeom prst="rect">
              <a:avLst/>
            </a:prstGeom>
            <a:solidFill>
              <a:srgbClr val="00B050"/>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⑤</a:t>
              </a: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1" name="Rectangle 41"/>
            <p:cNvSpPr>
              <a:spLocks noChangeArrowheads="1"/>
            </p:cNvSpPr>
            <p:nvPr/>
          </p:nvSpPr>
          <p:spPr bwMode="auto">
            <a:xfrm>
              <a:off x="2476" y="7436"/>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60" name="Rectangle 40"/>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59" name="Rectangle 39"/>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44" name="TextBox 43"/>
          <p:cNvSpPr txBox="1"/>
          <p:nvPr/>
        </p:nvSpPr>
        <p:spPr>
          <a:xfrm>
            <a:off x="428596" y="642918"/>
            <a:ext cx="8501122"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采用基本广度优先搜索方法，定义队列中结点类型为</a:t>
            </a:r>
            <a:r>
              <a:rPr lang="en-US" altLang="zh-CN">
                <a:solidFill>
                  <a:srgbClr val="0000FF"/>
                </a:solidFill>
                <a:latin typeface="Consolas" pitchFamily="49" charset="0"/>
                <a:ea typeface="仿宋" pitchFamily="49" charset="-122"/>
              </a:rPr>
              <a:t>QNode</a:t>
            </a:r>
            <a:r>
              <a:rPr lang="zh-CN" altLang="zh-CN">
                <a:solidFill>
                  <a:srgbClr val="0000FF"/>
                </a:solidFill>
                <a:latin typeface="Consolas" pitchFamily="49" charset="0"/>
                <a:ea typeface="仿宋" pitchFamily="49" charset="-122"/>
              </a:rPr>
              <a:t>，不仅包含位置成员，还包含到达该位置的移动步数</a:t>
            </a:r>
            <a:r>
              <a:rPr lang="en-US" altLang="zh-CN">
                <a:solidFill>
                  <a:srgbClr val="0000FF"/>
                </a:solidFill>
                <a:latin typeface="Consolas" pitchFamily="49" charset="0"/>
                <a:ea typeface="仿宋" pitchFamily="49" charset="-122"/>
              </a:rPr>
              <a:t>steps</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的位置出发搜索的第一个</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的方格，返回对应的移动次数即可。</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如果整个广搜都没有遇到</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的方格，则返回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45" name="右箭头 44"/>
          <p:cNvSpPr/>
          <p:nvPr/>
        </p:nvSpPr>
        <p:spPr>
          <a:xfrm>
            <a:off x="3714744" y="4929197"/>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46" name="TextBox 45"/>
          <p:cNvSpPr txBox="1"/>
          <p:nvPr/>
        </p:nvSpPr>
        <p:spPr>
          <a:xfrm>
            <a:off x="4429124" y="3714751"/>
            <a:ext cx="157163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'S'</a:t>
            </a:r>
            <a:r>
              <a:rPr lang="zh-CN" altLang="en-US" sz="1800">
                <a:solidFill>
                  <a:srgbClr val="0000FF"/>
                </a:solidFill>
                <a:latin typeface="Consolas" pitchFamily="49" charset="0"/>
                <a:ea typeface="楷体" pitchFamily="49" charset="-122"/>
                <a:cs typeface="Consolas" pitchFamily="49" charset="0"/>
              </a:rPr>
              <a:t>作为起点</a:t>
            </a:r>
          </a:p>
        </p:txBody>
      </p:sp>
      <p:sp>
        <p:nvSpPr>
          <p:cNvPr id="47" name="灯片编号占位符 46"/>
          <p:cNvSpPr>
            <a:spLocks noGrp="1"/>
          </p:cNvSpPr>
          <p:nvPr>
            <p:ph type="sldNum" sz="quarter" idx="12"/>
          </p:nvPr>
        </p:nvSpPr>
        <p:spPr/>
        <p:txBody>
          <a:bodyPr/>
          <a:lstStyle/>
          <a:p>
            <a:fld id="{7AF016A1-9F15-429F-9EFD-84004B73C732}" type="slidenum">
              <a:rPr lang="en-US" altLang="zh-CN" smtClean="0"/>
              <a:pPr/>
              <a:t>20</a:t>
            </a:fld>
            <a:r>
              <a:rPr lang="en-US" altLang="zh-CN"/>
              <a:t>/126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4497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队列中结点类型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x,y;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steps;</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p>
          <a:p>
            <a:pPr algn="l" defTabSz="360000">
              <a:lnSpc>
                <a:spcPts val="2800"/>
              </a:lnSpc>
              <a:spcBef>
                <a:spcPts val="0"/>
              </a:spcBef>
            </a:pP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dx[4]={0,0,1,-1};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水平方向偏移量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dy[4]={1,-1,0,0};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垂直方向偏移量</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21</a:t>
            </a:fld>
            <a:r>
              <a:rPr lang="en-US" altLang="zh-CN"/>
              <a:t>/126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488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portal</a:t>
            </a:r>
            <a:r>
              <a:rPr lang="en-US" altLang="zh-CN" sz="2000">
                <a:solidFill>
                  <a:srgbClr val="0000FF"/>
                </a:solidFill>
                <a:latin typeface="Consolas" pitchFamily="49" charset="0"/>
                <a:ea typeface="仿宋" pitchFamily="49" charset="-122"/>
              </a:rPr>
              <a:t>(vector&lt;vector&lt;char&gt;&gt;&amp; maze)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n=maze.size();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m=maze[0].size();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vector&lt;vector&lt;int&gt;&gt; visited(n,vector&lt;int&gt;(m,0));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sx,sy,ex,ey;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j=0;j&lt;m;j++)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if(maze[i][j]=='S')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找起始位置</a:t>
            </a:r>
            <a:r>
              <a:rPr lang="en-US" altLang="zh-CN" sz="2000">
                <a:solidFill>
                  <a:srgbClr val="00B0F0"/>
                </a:solidFill>
                <a:latin typeface="Consolas" pitchFamily="49" charset="0"/>
                <a:ea typeface="仿宋" pitchFamily="49" charset="-122"/>
              </a:rPr>
              <a:t>(sx,sy)</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sx=i; sy=j;</a:t>
            </a:r>
          </a:p>
          <a:p>
            <a:pPr algn="l" defTabSz="360000">
              <a:lnSpc>
                <a:spcPts val="2800"/>
              </a:lnSpc>
              <a:spcBef>
                <a:spcPts val="0"/>
              </a:spcBef>
            </a:pPr>
            <a:r>
              <a:rPr lang="en-US" altLang="zh-CN" sz="2000">
                <a:solidFill>
                  <a:srgbClr val="006600"/>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goto l;</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22</a:t>
            </a:fld>
            <a:r>
              <a:rPr lang="en-US" altLang="zh-CN"/>
              <a:t>/126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306235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l:queue&lt;QNode&gt;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p>
          <a:p>
            <a:pPr algn="l" defTabSz="360000">
              <a:lnSpc>
                <a:spcPts val="2800"/>
              </a:lnSpc>
              <a:spcBef>
                <a:spcPts val="0"/>
              </a:spcBef>
            </a:pPr>
            <a:r>
              <a:rPr lang="en-US" altLang="zh-CN" sz="2000">
                <a:solidFill>
                  <a:srgbClr val="0000FF"/>
                </a:solidFill>
                <a:latin typeface="Consolas" pitchFamily="49" charset="0"/>
                <a:ea typeface="仿宋" pitchFamily="49" charset="-122"/>
              </a:rPr>
              <a:t>QNode e,e1;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e.x=sx; e.y=sy;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e.steps=0;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visited[sx][sy]=1;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qu.push(e);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e=qu.front();qu.pop();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23</a:t>
            </a:fld>
            <a:r>
              <a:rPr lang="en-US" altLang="zh-CN"/>
              <a:t>/126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14290"/>
            <a:ext cx="864399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 (int di=0;di&lt;4;di++)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四周找相邻位置</a:t>
            </a:r>
            <a:r>
              <a:rPr lang="en-US" altLang="zh-CN" sz="2000">
                <a:solidFill>
                  <a:srgbClr val="00B0F0"/>
                </a:solidFill>
                <a:latin typeface="Consolas" pitchFamily="49" charset="0"/>
                <a:ea typeface="仿宋" pitchFamily="49" charset="-122"/>
              </a:rPr>
              <a:t>(nx,ny)</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nx=e.x+dx[di];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ny=e.y+dy[di];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if(nx&lt;0 || nx&gt;=n || ny&lt;0 || ny&gt;=m)</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if(visited[nx][ny]==1)</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if(maze[nx][ny]=='#')</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e1.x=nx; e1.y=ny;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e1.steps=e.steps+1;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累计步数</a:t>
            </a: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visited[e1.x][e1.y]=1;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修改访问标记</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maze[e1.x][e1.y]=='E'</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第一次找到</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位置</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e1.steps;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qu.push(e1);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子结点进队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571472" y="614364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81ms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5.28MB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24</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500034" y="428604"/>
            <a:ext cx="121444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2</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44" name="TextBox 43"/>
          <p:cNvSpPr txBox="1"/>
          <p:nvPr/>
        </p:nvSpPr>
        <p:spPr>
          <a:xfrm>
            <a:off x="500034" y="1214422"/>
            <a:ext cx="8429684" cy="3298339"/>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采用</a:t>
            </a:r>
            <a:r>
              <a:rPr lang="zh-CN" altLang="zh-CN">
                <a:solidFill>
                  <a:srgbClr val="FF00FF"/>
                </a:solidFill>
                <a:latin typeface="Consolas" pitchFamily="49" charset="0"/>
                <a:ea typeface="仿宋" pitchFamily="49" charset="-122"/>
              </a:rPr>
              <a:t>分层次的广度优先搜索</a:t>
            </a:r>
            <a:r>
              <a:rPr lang="zh-CN" altLang="zh-CN">
                <a:solidFill>
                  <a:srgbClr val="0000FF"/>
                </a:solidFill>
                <a:latin typeface="Consolas" pitchFamily="49" charset="0"/>
                <a:ea typeface="仿宋" pitchFamily="49" charset="-122"/>
              </a:rPr>
              <a:t>方法。</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广度优先搜索时队列中结点是一层一层地处理的，首先队列中只有一个根结点，即第一层结点个数为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，循环一次处理完第一层的全部结点，同时队列中恰好包含第</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层的全部结点，</a:t>
            </a:r>
            <a:r>
              <a:rPr lang="zh-CN" altLang="en-US">
                <a:solidFill>
                  <a:srgbClr val="0000FF"/>
                </a:solidFill>
                <a:latin typeface="Consolas" pitchFamily="49" charset="0"/>
                <a:ea typeface="仿宋" pitchFamily="49" charset="-122"/>
              </a:rPr>
              <a:t> </a:t>
            </a:r>
            <a:r>
              <a:rPr lang="en-US" altLang="zh-CN">
                <a:solidFill>
                  <a:srgbClr val="0000FF"/>
                </a:solidFill>
                <a:latin typeface="+mn-ea"/>
              </a:rPr>
              <a:t>…</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求出队列中结点个数</a:t>
            </a:r>
            <a:r>
              <a:rPr lang="en-US" altLang="zh-CN">
                <a:solidFill>
                  <a:srgbClr val="0000FF"/>
                </a:solidFill>
                <a:latin typeface="Consolas" pitchFamily="49" charset="0"/>
                <a:ea typeface="仿宋" pitchFamily="49" charset="-122"/>
              </a:rPr>
              <a:t>cnt</a:t>
            </a:r>
            <a:r>
              <a:rPr lang="zh-CN" altLang="zh-CN">
                <a:solidFill>
                  <a:srgbClr val="0000FF"/>
                </a:solidFill>
                <a:latin typeface="Consolas" pitchFamily="49" charset="0"/>
                <a:ea typeface="仿宋" pitchFamily="49" charset="-122"/>
              </a:rPr>
              <a:t>，循环</a:t>
            </a:r>
            <a:r>
              <a:rPr lang="en-US" altLang="zh-CN">
                <a:solidFill>
                  <a:srgbClr val="0000FF"/>
                </a:solidFill>
                <a:latin typeface="Consolas" pitchFamily="49" charset="0"/>
                <a:ea typeface="仿宋" pitchFamily="49" charset="-122"/>
              </a:rPr>
              <a:t>cnt</a:t>
            </a:r>
            <a:r>
              <a:rPr lang="zh-CN" altLang="zh-CN">
                <a:solidFill>
                  <a:srgbClr val="0000FF"/>
                </a:solidFill>
                <a:latin typeface="Consolas" pitchFamily="49" charset="0"/>
                <a:ea typeface="仿宋" pitchFamily="49" charset="-122"/>
              </a:rPr>
              <a:t>次处理完第</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层的全部结点，同时队列中恰好包含第</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层的全部结点，</a:t>
            </a:r>
            <a:r>
              <a:rPr lang="en-US" altLang="zh-CN">
                <a:solidFill>
                  <a:srgbClr val="0000FF"/>
                </a:solidFill>
                <a:latin typeface="+mn-ea"/>
              </a:rPr>
              <a:t> …</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25</a:t>
            </a:fld>
            <a:r>
              <a:rPr lang="en-US" altLang="zh-CN"/>
              <a:t>/126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4" name="TextBox 43"/>
          <p:cNvSpPr txBox="1"/>
          <p:nvPr/>
        </p:nvSpPr>
        <p:spPr>
          <a:xfrm>
            <a:off x="428596" y="642918"/>
            <a:ext cx="8501122" cy="21922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设计队列结点类型为</a:t>
            </a:r>
            <a:r>
              <a:rPr lang="en-US" altLang="zh-CN">
                <a:solidFill>
                  <a:srgbClr val="0000FF"/>
                </a:solidFill>
                <a:latin typeface="Consolas" pitchFamily="49" charset="0"/>
                <a:ea typeface="仿宋" pitchFamily="49" charset="-122"/>
              </a:rPr>
              <a:t>pair&lt;int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int&gt;</a:t>
            </a:r>
            <a:r>
              <a:rPr lang="zh-CN" altLang="zh-CN">
                <a:solidFill>
                  <a:srgbClr val="0000FF"/>
                </a:solidFill>
                <a:latin typeface="Consolas" pitchFamily="49" charset="0"/>
                <a:ea typeface="仿宋" pitchFamily="49" charset="-122"/>
              </a:rPr>
              <a:t>，用于保存迷宫中方格的位置</a:t>
            </a:r>
            <a:r>
              <a:rPr lang="en-US"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设置</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表示答案，初始值为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，每搜索一层</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，当第一次搜索到</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即可。如果整个广搜都没有遇到</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的方格，则返回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grpSp>
        <p:nvGrpSpPr>
          <p:cNvPr id="43" name="Group 2"/>
          <p:cNvGrpSpPr>
            <a:grpSpLocks noChangeAspect="1"/>
          </p:cNvGrpSpPr>
          <p:nvPr/>
        </p:nvGrpSpPr>
        <p:grpSpPr bwMode="auto">
          <a:xfrm>
            <a:off x="1500050" y="3857628"/>
            <a:ext cx="1857504" cy="1785951"/>
            <a:chOff x="2071" y="6273"/>
            <a:chExt cx="1622" cy="1560"/>
          </a:xfrm>
        </p:grpSpPr>
        <p:sp>
          <p:nvSpPr>
            <p:cNvPr id="46" name="AutoShape 19"/>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47" name="Rectangle 18"/>
            <p:cNvSpPr>
              <a:spLocks noChangeArrowheads="1"/>
            </p:cNvSpPr>
            <p:nvPr/>
          </p:nvSpPr>
          <p:spPr bwMode="auto">
            <a:xfrm>
              <a:off x="20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8" name="Rectangle 17"/>
            <p:cNvSpPr>
              <a:spLocks noChangeArrowheads="1"/>
            </p:cNvSpPr>
            <p:nvPr/>
          </p:nvSpPr>
          <p:spPr bwMode="auto">
            <a:xfrm>
              <a:off x="2476"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49" name="Rectangle 16"/>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0" name="Rectangle 15"/>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 name="Rectangle 14"/>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2" name="Rectangle 13"/>
            <p:cNvSpPr>
              <a:spLocks noChangeArrowheads="1"/>
            </p:cNvSpPr>
            <p:nvPr/>
          </p:nvSpPr>
          <p:spPr bwMode="auto">
            <a:xfrm>
              <a:off x="2476" y="6665"/>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3" name="Rectangle 12"/>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4" name="Rectangle 11"/>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5" name="Rectangle 10"/>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6" name="Rectangle 9"/>
            <p:cNvSpPr>
              <a:spLocks noChangeArrowheads="1"/>
            </p:cNvSpPr>
            <p:nvPr/>
          </p:nvSpPr>
          <p:spPr bwMode="auto">
            <a:xfrm>
              <a:off x="2476"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7" name="Rectangle 8"/>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 name="Rectangle 7"/>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9" name="Rectangle 6"/>
            <p:cNvSpPr>
              <a:spLocks noChangeArrowheads="1"/>
            </p:cNvSpPr>
            <p:nvPr/>
          </p:nvSpPr>
          <p:spPr bwMode="auto">
            <a:xfrm>
              <a:off x="20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0" name="Rectangle 5"/>
            <p:cNvSpPr>
              <a:spLocks noChangeArrowheads="1"/>
            </p:cNvSpPr>
            <p:nvPr/>
          </p:nvSpPr>
          <p:spPr bwMode="auto">
            <a:xfrm>
              <a:off x="2476"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1" name="Rectangle 4"/>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2" name="Rectangle 3"/>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grpSp>
        <p:nvGrpSpPr>
          <p:cNvPr id="63" name="Group 38"/>
          <p:cNvGrpSpPr>
            <a:grpSpLocks noChangeAspect="1"/>
          </p:cNvGrpSpPr>
          <p:nvPr/>
        </p:nvGrpSpPr>
        <p:grpSpPr bwMode="auto">
          <a:xfrm>
            <a:off x="4429008" y="3857628"/>
            <a:ext cx="1857504" cy="1785951"/>
            <a:chOff x="2071" y="6273"/>
            <a:chExt cx="1622" cy="1560"/>
          </a:xfrm>
        </p:grpSpPr>
        <p:sp>
          <p:nvSpPr>
            <p:cNvPr id="64" name="AutoShape 55"/>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65" name="Rectangle 54"/>
            <p:cNvSpPr>
              <a:spLocks noChangeArrowheads="1"/>
            </p:cNvSpPr>
            <p:nvPr/>
          </p:nvSpPr>
          <p:spPr bwMode="auto">
            <a:xfrm>
              <a:off x="2079" y="6281"/>
              <a:ext cx="406" cy="389"/>
            </a:xfrm>
            <a:prstGeom prst="rect">
              <a:avLst/>
            </a:prstGeom>
            <a:solidFill>
              <a:srgbClr val="FF000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66" name="Rectangle 53"/>
            <p:cNvSpPr>
              <a:spLocks noChangeArrowheads="1"/>
            </p:cNvSpPr>
            <p:nvPr/>
          </p:nvSpPr>
          <p:spPr bwMode="auto">
            <a:xfrm>
              <a:off x="2476" y="6281"/>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7" name="Rectangle 52"/>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8" name="Rectangle 51"/>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69" name="Rectangle 50"/>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0" name="Rectangle 49"/>
            <p:cNvSpPr>
              <a:spLocks noChangeArrowheads="1"/>
            </p:cNvSpPr>
            <p:nvPr/>
          </p:nvSpPr>
          <p:spPr bwMode="auto">
            <a:xfrm>
              <a:off x="2476" y="6665"/>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②</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1" name="Rectangle 48"/>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2" name="Rectangle 47"/>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3" name="Rectangle 46"/>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4" name="Rectangle 45"/>
            <p:cNvSpPr>
              <a:spLocks noChangeArrowheads="1"/>
            </p:cNvSpPr>
            <p:nvPr/>
          </p:nvSpPr>
          <p:spPr bwMode="auto">
            <a:xfrm>
              <a:off x="2476" y="7052"/>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③</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5" name="Rectangle 44"/>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6" name="Rectangle 43"/>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7" name="Rectangle 42"/>
            <p:cNvSpPr>
              <a:spLocks noChangeArrowheads="1"/>
            </p:cNvSpPr>
            <p:nvPr/>
          </p:nvSpPr>
          <p:spPr bwMode="auto">
            <a:xfrm>
              <a:off x="2079" y="7436"/>
              <a:ext cx="406" cy="389"/>
            </a:xfrm>
            <a:prstGeom prst="rect">
              <a:avLst/>
            </a:prstGeom>
            <a:solidFill>
              <a:srgbClr val="00B050"/>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⑤</a:t>
              </a: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8" name="Rectangle 41"/>
            <p:cNvSpPr>
              <a:spLocks noChangeArrowheads="1"/>
            </p:cNvSpPr>
            <p:nvPr/>
          </p:nvSpPr>
          <p:spPr bwMode="auto">
            <a:xfrm>
              <a:off x="2476" y="7436"/>
              <a:ext cx="406" cy="389"/>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79" name="Rectangle 40"/>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0" name="Rectangle 39"/>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81" name="右箭头 80"/>
          <p:cNvSpPr/>
          <p:nvPr/>
        </p:nvSpPr>
        <p:spPr>
          <a:xfrm>
            <a:off x="3714744" y="4572008"/>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82" name="TextBox 81"/>
          <p:cNvSpPr txBox="1"/>
          <p:nvPr/>
        </p:nvSpPr>
        <p:spPr>
          <a:xfrm>
            <a:off x="4429124" y="3357562"/>
            <a:ext cx="157163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'S'</a:t>
            </a:r>
            <a:r>
              <a:rPr lang="zh-CN" altLang="en-US" sz="1800">
                <a:solidFill>
                  <a:srgbClr val="0000FF"/>
                </a:solidFill>
                <a:latin typeface="Consolas" pitchFamily="49" charset="0"/>
                <a:ea typeface="楷体" pitchFamily="49" charset="-122"/>
                <a:cs typeface="Consolas" pitchFamily="49" charset="0"/>
              </a:rPr>
              <a:t>作为起点</a:t>
            </a:r>
          </a:p>
        </p:txBody>
      </p:sp>
      <p:sp>
        <p:nvSpPr>
          <p:cNvPr id="45" name="灯片编号占位符 44"/>
          <p:cNvSpPr>
            <a:spLocks noGrp="1"/>
          </p:cNvSpPr>
          <p:nvPr>
            <p:ph type="sldNum" sz="quarter" idx="12"/>
          </p:nvPr>
        </p:nvSpPr>
        <p:spPr/>
        <p:txBody>
          <a:bodyPr/>
          <a:lstStyle/>
          <a:p>
            <a:fld id="{7AF016A1-9F15-429F-9EFD-84004B73C732}" type="slidenum">
              <a:rPr lang="en-US" altLang="zh-CN" smtClean="0"/>
              <a:pPr/>
              <a:t>26</a:t>
            </a:fld>
            <a:r>
              <a:rPr lang="en-US" altLang="zh-CN"/>
              <a:t>/126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17222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dx[4]={0,0,1,-1};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水平方向偏移量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dy[4]={1,-1,0,0};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垂直方向偏移量</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27</a:t>
            </a:fld>
            <a:r>
              <a:rPr lang="en-US" altLang="zh-CN"/>
              <a:t>/126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48860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portal</a:t>
            </a:r>
            <a:r>
              <a:rPr lang="en-US" altLang="zh-CN" sz="2000">
                <a:solidFill>
                  <a:srgbClr val="0000FF"/>
                </a:solidFill>
                <a:latin typeface="Consolas" pitchFamily="49" charset="0"/>
                <a:ea typeface="仿宋" pitchFamily="49" charset="-122"/>
              </a:rPr>
              <a:t>(vector&lt;vector&lt;char&gt;&gt;&amp; maze)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n=maze.size();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m=maze[0].size();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vector&lt;vector&lt;int&gt;&gt; visited(n,vector&lt;int&gt;(m,0));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sx,sy,ex,ey;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j=0;j&lt;m;j++)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if(maze[i][j]=='S')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找起始位置</a:t>
            </a:r>
            <a:r>
              <a:rPr lang="en-US" altLang="zh-CN" sz="2000">
                <a:solidFill>
                  <a:srgbClr val="00B0F0"/>
                </a:solidFill>
                <a:latin typeface="Consolas" pitchFamily="49" charset="0"/>
                <a:ea typeface="仿宋" pitchFamily="49" charset="-122"/>
              </a:rPr>
              <a:t>(sx,sy)</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sx=i; sy=j;</a:t>
            </a:r>
          </a:p>
          <a:p>
            <a:pPr algn="l" defTabSz="360000">
              <a:lnSpc>
                <a:spcPts val="2800"/>
              </a:lnSpc>
              <a:spcBef>
                <a:spcPts val="0"/>
              </a:spcBef>
            </a:pPr>
            <a:r>
              <a:rPr lang="en-US" altLang="zh-CN" sz="2000">
                <a:solidFill>
                  <a:srgbClr val="006600"/>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goto l;</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28</a:t>
            </a:fld>
            <a:r>
              <a:rPr lang="en-US" altLang="zh-CN"/>
              <a:t>/126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357166"/>
            <a:ext cx="8572560" cy="486226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 l:pair&lt;int,int&gt; e,e1;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queue&lt;pair&lt;int,int&gt;&gt; qu;</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e.first=sx; e.second=sy;</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visited[sx][sy]=1;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相当于起始位置的层次为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加</a:t>
            </a:r>
            <a:r>
              <a:rPr lang="en-US" altLang="zh-CN" sz="2000">
                <a:solidFill>
                  <a:srgbClr val="00B0F0"/>
                </a:solidFill>
                <a:latin typeface="Consolas" pitchFamily="49" charset="0"/>
                <a:ea typeface="仿宋" pitchFamily="49" charset="-122"/>
              </a:rPr>
              <a:t>1</a:t>
            </a:r>
            <a:r>
              <a:rPr lang="zh-CN" altLang="zh-CN" sz="2000">
                <a:solidFill>
                  <a:srgbClr val="00B0F0"/>
                </a:solidFill>
                <a:latin typeface="Consolas" pitchFamily="49" charset="0"/>
                <a:ea typeface="仿宋" pitchFamily="49" charset="-122"/>
              </a:rPr>
              <a:t>表示当前结点的孩子的层次</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cnt=qu.size();</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求当前队列中的结点个数</a:t>
            </a:r>
            <a:r>
              <a:rPr lang="en-US" altLang="zh-CN" sz="2000">
                <a:solidFill>
                  <a:srgbClr val="00B0F0"/>
                </a:solidFill>
                <a:latin typeface="Consolas" pitchFamily="49" charset="0"/>
                <a:ea typeface="仿宋" pitchFamily="49" charset="-122"/>
              </a:rPr>
              <a:t>cnt</a:t>
            </a: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a:t>
            </a:r>
            <a:r>
              <a:rPr lang="en-US" altLang="zh-CN" sz="2000">
                <a:solidFill>
                  <a:srgbClr val="006600"/>
                </a:solidFill>
                <a:latin typeface="Consolas" pitchFamily="49" charset="0"/>
                <a:ea typeface="仿宋" pitchFamily="49" charset="-122"/>
              </a:rPr>
              <a:t>cnt</a:t>
            </a:r>
            <a:r>
              <a:rPr lang="en-US" altLang="zh-CN" sz="2000">
                <a:solidFill>
                  <a:srgbClr val="0000FF"/>
                </a:solidFill>
                <a:latin typeface="Consolas" pitchFamily="49" charset="0"/>
                <a:ea typeface="仿宋" pitchFamily="49" charset="-122"/>
              </a:rPr>
              <a:t>;i++)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处理完</a:t>
            </a:r>
            <a:r>
              <a:rPr lang="zh-CN" altLang="en-US" sz="2000">
                <a:solidFill>
                  <a:srgbClr val="00B0F0"/>
                </a:solidFill>
                <a:latin typeface="Consolas" pitchFamily="49" charset="0"/>
                <a:ea typeface="仿宋" pitchFamily="49" charset="-122"/>
              </a:rPr>
              <a:t>当前</a:t>
            </a:r>
            <a:r>
              <a:rPr lang="zh-CN" altLang="zh-CN" sz="2000">
                <a:solidFill>
                  <a:srgbClr val="00B0F0"/>
                </a:solidFill>
                <a:latin typeface="Consolas" pitchFamily="49" charset="0"/>
                <a:ea typeface="仿宋" pitchFamily="49" charset="-122"/>
              </a:rPr>
              <a:t>层的全部结点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e=qu.front();qu.pop();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x=e.first;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y=e.second;</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29</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14290"/>
            <a:ext cx="864399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 (int di=0;di&lt;4;di++)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四周找相邻位置</a:t>
            </a:r>
            <a:r>
              <a:rPr lang="en-US" altLang="zh-CN" sz="2000">
                <a:solidFill>
                  <a:srgbClr val="00B0F0"/>
                </a:solidFill>
                <a:latin typeface="Consolas" pitchFamily="49" charset="0"/>
                <a:ea typeface="仿宋" pitchFamily="49" charset="-122"/>
              </a:rPr>
              <a:t>(nx,ny)</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nx=x+dx[di];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ny=y+dy[di];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if(nx&lt;0 || nx&gt;=n || ny&lt;0 || ny&gt;=m)</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if(visited[nx][ny]==1)</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if(maze[nx][ny]=='#')</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maze[nx][ny]=='E'</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第一次找到出口</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e1.first=nx; e1.second=ny;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qu.push(e1);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子结点进队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visited[nx][ny]=1;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571472" y="614364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81ms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5.39MB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30</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3" name="TextBox 42"/>
          <p:cNvSpPr txBox="1"/>
          <p:nvPr/>
        </p:nvSpPr>
        <p:spPr>
          <a:xfrm>
            <a:off x="500034" y="428604"/>
            <a:ext cx="1214446"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解法</a:t>
            </a: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rPr>
              <a:t>3</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华文中宋" pitchFamily="2" charset="-122"/>
              <a:cs typeface="Consolas" pitchFamily="49" charset="0"/>
            </a:endParaRPr>
          </a:p>
        </p:txBody>
      </p:sp>
      <p:sp>
        <p:nvSpPr>
          <p:cNvPr id="44" name="TextBox 43"/>
          <p:cNvSpPr txBox="1"/>
          <p:nvPr/>
        </p:nvSpPr>
        <p:spPr>
          <a:xfrm>
            <a:off x="500034" y="1214422"/>
            <a:ext cx="8429684" cy="24519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采用</a:t>
            </a:r>
            <a:r>
              <a:rPr lang="zh-CN" altLang="zh-CN">
                <a:solidFill>
                  <a:srgbClr val="FF00FF"/>
                </a:solidFill>
                <a:latin typeface="Consolas" pitchFamily="49" charset="0"/>
                <a:ea typeface="仿宋" pitchFamily="49" charset="-122"/>
              </a:rPr>
              <a:t>多起点分层次的广度优先搜索</a:t>
            </a:r>
            <a:r>
              <a:rPr lang="zh-CN" altLang="zh-CN">
                <a:solidFill>
                  <a:srgbClr val="0000FF"/>
                </a:solidFill>
                <a:latin typeface="Consolas" pitchFamily="49" charset="0"/>
                <a:ea typeface="仿宋" pitchFamily="49" charset="-122"/>
              </a:rPr>
              <a:t>方法</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所谓多起点广度优先搜索就是先将多个起始点进队，然后按基本广度优先搜索找目标点。</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如果改为按分层次广度优先搜索找目标点，就称为</a:t>
            </a:r>
            <a:r>
              <a:rPr lang="zh-CN" altLang="zh-CN">
                <a:solidFill>
                  <a:srgbClr val="FF00FF"/>
                </a:solidFill>
                <a:latin typeface="Consolas" pitchFamily="49" charset="0"/>
                <a:ea typeface="仿宋" pitchFamily="49" charset="-122"/>
              </a:rPr>
              <a:t>多起点分层次的广度优先搜索</a:t>
            </a:r>
            <a:r>
              <a:rPr lang="zh-CN" altLang="zh-CN">
                <a:solidFill>
                  <a:srgbClr val="0000FF"/>
                </a:solidFill>
                <a:latin typeface="Consolas" pitchFamily="49" charset="0"/>
                <a:ea typeface="仿宋" pitchFamily="49" charset="-122"/>
              </a:rPr>
              <a:t>。</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31</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176" name="Rectangle 5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4" name="TextBox 43"/>
          <p:cNvSpPr txBox="1"/>
          <p:nvPr/>
        </p:nvSpPr>
        <p:spPr>
          <a:xfrm>
            <a:off x="428596" y="642918"/>
            <a:ext cx="8501122" cy="2221121"/>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题中有多个</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的方格，从其中任意一个方格出发最先找到</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位置的步数也是离开迷宫需要的最少时间，</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先将所有</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位置进队，</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记录搜索的层次，当第一次搜索到</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的方格，返回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即可。如果整个广搜都没有遇到</a:t>
            </a:r>
            <a:r>
              <a:rPr lang="en-US" altLang="zh-CN">
                <a:solidFill>
                  <a:srgbClr val="0000FF"/>
                </a:solidFill>
                <a:latin typeface="Consolas" pitchFamily="49" charset="0"/>
                <a:ea typeface="仿宋" pitchFamily="49" charset="-122"/>
              </a:rPr>
              <a:t>maze</a:t>
            </a:r>
            <a:r>
              <a:rPr lang="zh-CN" altLang="zh-CN">
                <a:solidFill>
                  <a:srgbClr val="0000FF"/>
                </a:solidFill>
                <a:latin typeface="Consolas" pitchFamily="49" charset="0"/>
                <a:ea typeface="仿宋" pitchFamily="49" charset="-122"/>
              </a:rPr>
              <a:t>值为</a:t>
            </a:r>
            <a:r>
              <a:rPr lang="en-US" altLang="zh-CN">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的方格，则返回</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58387"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6" name="组合 45"/>
          <p:cNvGrpSpPr/>
          <p:nvPr/>
        </p:nvGrpSpPr>
        <p:grpSpPr>
          <a:xfrm>
            <a:off x="1642811" y="3500438"/>
            <a:ext cx="4786577" cy="2369596"/>
            <a:chOff x="1642811" y="3500438"/>
            <a:chExt cx="4786577" cy="2369596"/>
          </a:xfrm>
        </p:grpSpPr>
        <p:grpSp>
          <p:nvGrpSpPr>
            <p:cNvPr id="2" name="Group 2"/>
            <p:cNvGrpSpPr>
              <a:grpSpLocks noChangeAspect="1"/>
            </p:cNvGrpSpPr>
            <p:nvPr/>
          </p:nvGrpSpPr>
          <p:grpSpPr bwMode="auto">
            <a:xfrm>
              <a:off x="1642811" y="3500438"/>
              <a:ext cx="1857504" cy="1785951"/>
              <a:chOff x="2071" y="6273"/>
              <a:chExt cx="1622" cy="1560"/>
            </a:xfrm>
          </p:grpSpPr>
          <p:sp>
            <p:nvSpPr>
              <p:cNvPr id="5139" name="AutoShape 19"/>
              <p:cNvSpPr>
                <a:spLocks noChangeAspect="1" noChangeArrowheads="1" noTextEdit="1"/>
              </p:cNvSpPr>
              <p:nvPr/>
            </p:nvSpPr>
            <p:spPr bwMode="auto">
              <a:xfrm>
                <a:off x="2071" y="6273"/>
                <a:ext cx="1622" cy="156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5138" name="Rectangle 18"/>
              <p:cNvSpPr>
                <a:spLocks noChangeArrowheads="1"/>
              </p:cNvSpPr>
              <p:nvPr/>
            </p:nvSpPr>
            <p:spPr bwMode="auto">
              <a:xfrm>
                <a:off x="20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7" name="Rectangle 17"/>
              <p:cNvSpPr>
                <a:spLocks noChangeArrowheads="1"/>
              </p:cNvSpPr>
              <p:nvPr/>
            </p:nvSpPr>
            <p:spPr bwMode="auto">
              <a:xfrm>
                <a:off x="2476"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6" name="Rectangle 16"/>
              <p:cNvSpPr>
                <a:spLocks noChangeArrowheads="1"/>
              </p:cNvSpPr>
              <p:nvPr/>
            </p:nvSpPr>
            <p:spPr bwMode="auto">
              <a:xfrm>
                <a:off x="2882" y="6281"/>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5" name="Rectangle 15"/>
              <p:cNvSpPr>
                <a:spLocks noChangeArrowheads="1"/>
              </p:cNvSpPr>
              <p:nvPr/>
            </p:nvSpPr>
            <p:spPr bwMode="auto">
              <a:xfrm>
                <a:off x="3279" y="6281"/>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4" name="Rectangle 14"/>
              <p:cNvSpPr>
                <a:spLocks noChangeArrowheads="1"/>
              </p:cNvSpPr>
              <p:nvPr/>
            </p:nvSpPr>
            <p:spPr bwMode="auto">
              <a:xfrm>
                <a:off x="20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3" name="Rectangle 13"/>
              <p:cNvSpPr>
                <a:spLocks noChangeArrowheads="1"/>
              </p:cNvSpPr>
              <p:nvPr/>
            </p:nvSpPr>
            <p:spPr bwMode="auto">
              <a:xfrm>
                <a:off x="2476" y="6665"/>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2" name="Rectangle 12"/>
              <p:cNvSpPr>
                <a:spLocks noChangeArrowheads="1"/>
              </p:cNvSpPr>
              <p:nvPr/>
            </p:nvSpPr>
            <p:spPr bwMode="auto">
              <a:xfrm>
                <a:off x="2882"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1" name="Rectangle 11"/>
              <p:cNvSpPr>
                <a:spLocks noChangeArrowheads="1"/>
              </p:cNvSpPr>
              <p:nvPr/>
            </p:nvSpPr>
            <p:spPr bwMode="auto">
              <a:xfrm>
                <a:off x="3279" y="6665"/>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30" name="Rectangle 10"/>
              <p:cNvSpPr>
                <a:spLocks noChangeArrowheads="1"/>
              </p:cNvSpPr>
              <p:nvPr/>
            </p:nvSpPr>
            <p:spPr bwMode="auto">
              <a:xfrm>
                <a:off x="20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9" name="Rectangle 9"/>
              <p:cNvSpPr>
                <a:spLocks noChangeArrowheads="1"/>
              </p:cNvSpPr>
              <p:nvPr/>
            </p:nvSpPr>
            <p:spPr bwMode="auto">
              <a:xfrm>
                <a:off x="2476"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8" name="Rectangle 8"/>
              <p:cNvSpPr>
                <a:spLocks noChangeArrowheads="1"/>
              </p:cNvSpPr>
              <p:nvPr/>
            </p:nvSpPr>
            <p:spPr bwMode="auto">
              <a:xfrm>
                <a:off x="2882"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7" name="Rectangle 7"/>
              <p:cNvSpPr>
                <a:spLocks noChangeArrowheads="1"/>
              </p:cNvSpPr>
              <p:nvPr/>
            </p:nvSpPr>
            <p:spPr bwMode="auto">
              <a:xfrm>
                <a:off x="3279" y="7052"/>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6" name="Rectangle 6"/>
              <p:cNvSpPr>
                <a:spLocks noChangeArrowheads="1"/>
              </p:cNvSpPr>
              <p:nvPr/>
            </p:nvSpPr>
            <p:spPr bwMode="auto">
              <a:xfrm>
                <a:off x="20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5" name="Rectangle 5"/>
              <p:cNvSpPr>
                <a:spLocks noChangeArrowheads="1"/>
              </p:cNvSpPr>
              <p:nvPr/>
            </p:nvSpPr>
            <p:spPr bwMode="auto">
              <a:xfrm>
                <a:off x="2476"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4" name="Rectangle 4"/>
              <p:cNvSpPr>
                <a:spLocks noChangeArrowheads="1"/>
              </p:cNvSpPr>
              <p:nvPr/>
            </p:nvSpPr>
            <p:spPr bwMode="auto">
              <a:xfrm>
                <a:off x="2882" y="7436"/>
                <a:ext cx="406" cy="389"/>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123" name="Rectangle 3"/>
              <p:cNvSpPr>
                <a:spLocks noChangeArrowheads="1"/>
              </p:cNvSpPr>
              <p:nvPr/>
            </p:nvSpPr>
            <p:spPr bwMode="auto">
              <a:xfrm>
                <a:off x="3279" y="7436"/>
                <a:ext cx="406" cy="389"/>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45" name="右箭头 44"/>
            <p:cNvSpPr/>
            <p:nvPr/>
          </p:nvSpPr>
          <p:spPr>
            <a:xfrm>
              <a:off x="3857505" y="4214818"/>
              <a:ext cx="428628" cy="285752"/>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nvGrpSpPr>
            <p:cNvPr id="62" name="组合 61"/>
            <p:cNvGrpSpPr/>
            <p:nvPr/>
          </p:nvGrpSpPr>
          <p:grpSpPr>
            <a:xfrm>
              <a:off x="4571885" y="3500438"/>
              <a:ext cx="1857503" cy="1785950"/>
              <a:chOff x="6786577" y="4000504"/>
              <a:chExt cx="1857503" cy="1785950"/>
            </a:xfrm>
          </p:grpSpPr>
          <p:sp>
            <p:nvSpPr>
              <p:cNvPr id="58386" name="AutoShape 18"/>
              <p:cNvSpPr>
                <a:spLocks noChangeAspect="1" noChangeArrowheads="1" noTextEdit="1"/>
              </p:cNvSpPr>
              <p:nvPr/>
            </p:nvSpPr>
            <p:spPr bwMode="auto">
              <a:xfrm>
                <a:off x="6786577" y="4000504"/>
                <a:ext cx="1857503" cy="1785950"/>
              </a:xfrm>
              <a:prstGeom prst="rect">
                <a:avLst/>
              </a:prstGeom>
              <a:noFill/>
            </p:spPr>
            <p:txBody>
              <a:bodyPr vert="horz" wrap="square" lIns="91440" tIns="45720" rIns="91440" bIns="45720" numCol="1" anchor="t" anchorCtr="0" compatLnSpc="1">
                <a:prstTxWarp prst="textNoShape">
                  <a:avLst/>
                </a:prstTxWarp>
              </a:bodyPr>
              <a:lstStyle/>
              <a:p>
                <a:endParaRPr lang="zh-CN" altLang="en-US" sz="1800">
                  <a:solidFill>
                    <a:srgbClr val="0000FF"/>
                  </a:solidFill>
                  <a:latin typeface="Consolas" pitchFamily="49" charset="0"/>
                </a:endParaRPr>
              </a:p>
            </p:txBody>
          </p:sp>
          <p:sp>
            <p:nvSpPr>
              <p:cNvPr id="58385" name="Rectangle 17"/>
              <p:cNvSpPr>
                <a:spLocks noChangeArrowheads="1"/>
              </p:cNvSpPr>
              <p:nvPr/>
            </p:nvSpPr>
            <p:spPr bwMode="auto">
              <a:xfrm>
                <a:off x="6795739" y="4009663"/>
                <a:ext cx="464948" cy="445343"/>
              </a:xfrm>
              <a:prstGeom prst="rect">
                <a:avLst/>
              </a:prstGeom>
              <a:solidFill>
                <a:srgbClr val="00B050"/>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⑤</a:t>
                </a: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S</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84" name="Rectangle 16"/>
              <p:cNvSpPr>
                <a:spLocks noChangeArrowheads="1"/>
              </p:cNvSpPr>
              <p:nvPr/>
            </p:nvSpPr>
            <p:spPr bwMode="auto">
              <a:xfrm>
                <a:off x="7250380" y="4009663"/>
                <a:ext cx="464948" cy="445343"/>
              </a:xfrm>
              <a:prstGeom prst="rect">
                <a:avLst/>
              </a:prstGeom>
              <a:solidFill>
                <a:srgbClr val="00B050"/>
              </a:solidFill>
              <a:ln w="9525">
                <a:solidFill>
                  <a:srgbClr val="000000"/>
                </a:solidFill>
                <a:miter lim="800000"/>
                <a:headEnd/>
                <a:tailEnd type="none" w="sm" len="sm"/>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④</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83" name="Rectangle 15"/>
              <p:cNvSpPr>
                <a:spLocks noChangeArrowheads="1"/>
              </p:cNvSpPr>
              <p:nvPr/>
            </p:nvSpPr>
            <p:spPr bwMode="auto">
              <a:xfrm>
                <a:off x="7715329" y="4009663"/>
                <a:ext cx="464948" cy="445343"/>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82" name="Rectangle 14"/>
              <p:cNvSpPr>
                <a:spLocks noChangeArrowheads="1"/>
              </p:cNvSpPr>
              <p:nvPr/>
            </p:nvSpPr>
            <p:spPr bwMode="auto">
              <a:xfrm>
                <a:off x="8169970" y="4009663"/>
                <a:ext cx="464948" cy="445343"/>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81" name="Rectangle 13"/>
              <p:cNvSpPr>
                <a:spLocks noChangeArrowheads="1"/>
              </p:cNvSpPr>
              <p:nvPr/>
            </p:nvSpPr>
            <p:spPr bwMode="auto">
              <a:xfrm>
                <a:off x="6795739" y="4449281"/>
                <a:ext cx="464948" cy="445343"/>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80" name="Rectangle 12"/>
              <p:cNvSpPr>
                <a:spLocks noChangeArrowheads="1"/>
              </p:cNvSpPr>
              <p:nvPr/>
            </p:nvSpPr>
            <p:spPr bwMode="auto">
              <a:xfrm>
                <a:off x="7250380" y="4449281"/>
                <a:ext cx="464948" cy="445343"/>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③</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9" name="Rectangle 11"/>
              <p:cNvSpPr>
                <a:spLocks noChangeArrowheads="1"/>
              </p:cNvSpPr>
              <p:nvPr/>
            </p:nvSpPr>
            <p:spPr bwMode="auto">
              <a:xfrm>
                <a:off x="7715329" y="4449281"/>
                <a:ext cx="464948" cy="445343"/>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8" name="Rectangle 10"/>
              <p:cNvSpPr>
                <a:spLocks noChangeArrowheads="1"/>
              </p:cNvSpPr>
              <p:nvPr/>
            </p:nvSpPr>
            <p:spPr bwMode="auto">
              <a:xfrm>
                <a:off x="8169970" y="4449281"/>
                <a:ext cx="464948" cy="445343"/>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7" name="Rectangle 9"/>
              <p:cNvSpPr>
                <a:spLocks noChangeArrowheads="1"/>
              </p:cNvSpPr>
              <p:nvPr/>
            </p:nvSpPr>
            <p:spPr bwMode="auto">
              <a:xfrm>
                <a:off x="6795739" y="4892334"/>
                <a:ext cx="464948" cy="445343"/>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6" name="Rectangle 8"/>
              <p:cNvSpPr>
                <a:spLocks noChangeArrowheads="1"/>
              </p:cNvSpPr>
              <p:nvPr/>
            </p:nvSpPr>
            <p:spPr bwMode="auto">
              <a:xfrm>
                <a:off x="7250380" y="4892334"/>
                <a:ext cx="464948" cy="445343"/>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②</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5" name="Rectangle 7"/>
              <p:cNvSpPr>
                <a:spLocks noChangeArrowheads="1"/>
              </p:cNvSpPr>
              <p:nvPr/>
            </p:nvSpPr>
            <p:spPr bwMode="auto">
              <a:xfrm>
                <a:off x="7715329" y="4892334"/>
                <a:ext cx="464948" cy="445343"/>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②</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4" name="Rectangle 6"/>
              <p:cNvSpPr>
                <a:spLocks noChangeArrowheads="1"/>
              </p:cNvSpPr>
              <p:nvPr/>
            </p:nvSpPr>
            <p:spPr bwMode="auto">
              <a:xfrm>
                <a:off x="8169970" y="4892334"/>
                <a:ext cx="464948" cy="445343"/>
              </a:xfrm>
              <a:prstGeom prst="rect">
                <a:avLst/>
              </a:prstGeom>
              <a:solidFill>
                <a:srgbClr val="FFFFFF"/>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3" name="Rectangle 5"/>
              <p:cNvSpPr>
                <a:spLocks noChangeArrowheads="1"/>
              </p:cNvSpPr>
              <p:nvPr/>
            </p:nvSpPr>
            <p:spPr bwMode="auto">
              <a:xfrm>
                <a:off x="6795739" y="5331953"/>
                <a:ext cx="464948" cy="445343"/>
              </a:xfrm>
              <a:prstGeom prst="rect">
                <a:avLst/>
              </a:prstGeom>
              <a:solidFill>
                <a:srgbClr val="FF000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sp>
            <p:nvSpPr>
              <p:cNvPr id="58372" name="Rectangle 4"/>
              <p:cNvSpPr>
                <a:spLocks noChangeArrowheads="1"/>
              </p:cNvSpPr>
              <p:nvPr/>
            </p:nvSpPr>
            <p:spPr bwMode="auto">
              <a:xfrm>
                <a:off x="7250380" y="5331953"/>
                <a:ext cx="464948" cy="445343"/>
              </a:xfrm>
              <a:prstGeom prst="rect">
                <a:avLst/>
              </a:prstGeom>
              <a:solidFill>
                <a:srgbClr val="00B05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①</a:t>
                </a:r>
                <a:endParaRPr kumimoji="0" lang="zh-CN"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1" name="Rectangle 3"/>
              <p:cNvSpPr>
                <a:spLocks noChangeArrowheads="1"/>
              </p:cNvSpPr>
              <p:nvPr/>
            </p:nvSpPr>
            <p:spPr bwMode="auto">
              <a:xfrm>
                <a:off x="7715329" y="5331953"/>
                <a:ext cx="464948" cy="445343"/>
              </a:xfrm>
              <a:prstGeom prst="rect">
                <a:avLst/>
              </a:prstGeom>
              <a:solidFill>
                <a:srgbClr val="D8D8D8"/>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18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58370" name="Rectangle 2"/>
              <p:cNvSpPr>
                <a:spLocks noChangeArrowheads="1"/>
              </p:cNvSpPr>
              <p:nvPr/>
            </p:nvSpPr>
            <p:spPr bwMode="auto">
              <a:xfrm>
                <a:off x="8169970" y="5331953"/>
                <a:ext cx="464948" cy="445343"/>
              </a:xfrm>
              <a:prstGeom prst="rect">
                <a:avLst/>
              </a:prstGeom>
              <a:solidFill>
                <a:srgbClr val="FF0000"/>
              </a:solidFill>
              <a:ln w="9525">
                <a:solidFill>
                  <a:srgbClr val="000000"/>
                </a:solidFill>
                <a:miter lim="800000"/>
                <a:headEnd/>
                <a:tailEnd type="none" w="sm" len="sm"/>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latin typeface="Consolas" pitchFamily="49" charset="0"/>
                    <a:ea typeface="宋体" pitchFamily="2" charset="-122"/>
                    <a:cs typeface="Times New Roman" pitchFamily="18" charset="0"/>
                  </a:rPr>
                  <a:t>E</a:t>
                </a:r>
                <a:endParaRPr kumimoji="0" lang="en-US" altLang="zh-CN" sz="1800" i="0" u="none" strike="noStrike" cap="none" normalizeH="0" baseline="0">
                  <a:ln>
                    <a:noFill/>
                  </a:ln>
                  <a:solidFill>
                    <a:schemeClr val="bg1"/>
                  </a:solidFill>
                  <a:effectLst/>
                  <a:latin typeface="Consolas" pitchFamily="49" charset="0"/>
                  <a:ea typeface="宋体" pitchFamily="2" charset="-122"/>
                  <a:cs typeface="宋体" pitchFamily="2" charset="-122"/>
                </a:endParaRPr>
              </a:p>
            </p:txBody>
          </p:sp>
        </p:grpSp>
        <p:sp>
          <p:nvSpPr>
            <p:cNvPr id="63" name="TextBox 62"/>
            <p:cNvSpPr txBox="1"/>
            <p:nvPr/>
          </p:nvSpPr>
          <p:spPr>
            <a:xfrm>
              <a:off x="4714761" y="5500702"/>
              <a:ext cx="1571636"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'E'</a:t>
              </a:r>
              <a:r>
                <a:rPr lang="zh-CN" altLang="en-US" sz="1800">
                  <a:solidFill>
                    <a:srgbClr val="0000FF"/>
                  </a:solidFill>
                  <a:latin typeface="Consolas" pitchFamily="49" charset="0"/>
                  <a:ea typeface="楷体" pitchFamily="49" charset="-122"/>
                  <a:cs typeface="Consolas" pitchFamily="49" charset="0"/>
                </a:rPr>
                <a:t>作为起点</a:t>
              </a:r>
            </a:p>
          </p:txBody>
        </p:sp>
      </p:grpSp>
      <p:sp>
        <p:nvSpPr>
          <p:cNvPr id="47" name="灯片编号占位符 46"/>
          <p:cNvSpPr>
            <a:spLocks noGrp="1"/>
          </p:cNvSpPr>
          <p:nvPr>
            <p:ph type="sldNum" sz="quarter" idx="12"/>
          </p:nvPr>
        </p:nvSpPr>
        <p:spPr/>
        <p:txBody>
          <a:bodyPr/>
          <a:lstStyle/>
          <a:p>
            <a:fld id="{7AF016A1-9F15-429F-9EFD-84004B73C732}" type="slidenum">
              <a:rPr lang="en-US" altLang="zh-CN" smtClean="0"/>
              <a:pPr/>
              <a:t>32</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17222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dx[4]={0,0,1,-1};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水平方向偏移量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dy[4]={1,-1,0,0};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垂直方向偏移量</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33</a:t>
            </a:fld>
            <a:r>
              <a:rPr lang="en-US" altLang="zh-CN"/>
              <a:t>/126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357166"/>
            <a:ext cx="8286808" cy="588632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portal</a:t>
            </a:r>
            <a:r>
              <a:rPr lang="en-US" altLang="zh-CN" sz="2000">
                <a:solidFill>
                  <a:srgbClr val="0000FF"/>
                </a:solidFill>
                <a:latin typeface="Consolas" pitchFamily="49" charset="0"/>
                <a:ea typeface="仿宋" pitchFamily="49" charset="-122"/>
              </a:rPr>
              <a:t>(vector&lt;vector&lt;char&gt;&gt;&amp; maze)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n=maze.size();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m=maze[0].size();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vector&lt;vector&lt;int&gt;&gt; visited(n,vector&lt;int&gt;(m,0));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pair&lt;int,int&gt; e,e1;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queue&lt;pair&lt;int,int&gt;&gt;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r>
              <a:rPr lang="en-US" altLang="zh-CN" sz="2000">
                <a:solidFill>
                  <a:srgbClr val="00B0F0"/>
                </a:solidFill>
                <a:latin typeface="Consolas" pitchFamily="49" charset="0"/>
                <a:ea typeface="仿宋" pitchFamily="49" charset="-122"/>
              </a:rPr>
              <a:t>qu</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sx,sy,ex,ey;</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i=0;i&lt;n;i++)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for(int j=0;j&lt;m;j++)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006600"/>
                </a:solidFill>
                <a:latin typeface="Consolas" pitchFamily="49" charset="0"/>
                <a:ea typeface="仿宋" pitchFamily="49" charset="-122"/>
              </a:rPr>
              <a:t>maze[i][j]=='E'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将全部</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位置进队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e.first=i; e.second=j;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visited[i][j]=1;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34</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8572560" cy="32656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int ans=0;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开始</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相当于</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位置的层次为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开始</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相当于起始位置的层次为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006600"/>
                </a:solidFill>
                <a:latin typeface="Consolas" pitchFamily="49" charset="0"/>
                <a:ea typeface="仿宋" pitchFamily="49" charset="-122"/>
              </a:rPr>
              <a:t>cnt=qu.size();</a:t>
            </a:r>
            <a:endParaRPr lang="zh-CN" altLang="zh-CN" sz="2000">
              <a:solidFill>
                <a:srgbClr val="00660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i=0;i&lt;</a:t>
            </a:r>
            <a:r>
              <a:rPr lang="en-US" altLang="zh-CN" sz="2000">
                <a:solidFill>
                  <a:srgbClr val="006600"/>
                </a:solidFill>
                <a:latin typeface="Consolas" pitchFamily="49" charset="0"/>
                <a:ea typeface="仿宋" pitchFamily="49" charset="-122"/>
              </a:rPr>
              <a:t>cnt</a:t>
            </a:r>
            <a:r>
              <a:rPr lang="en-US" altLang="zh-CN" sz="2000">
                <a:solidFill>
                  <a:srgbClr val="0000FF"/>
                </a:solidFill>
                <a:latin typeface="Consolas" pitchFamily="49" charset="0"/>
                <a:ea typeface="仿宋" pitchFamily="49" charset="-122"/>
              </a:rPr>
              <a:t>;i++)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e=qu.front();qu.pop();</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x=e.first;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y=e.second;</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35</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214290"/>
            <a:ext cx="8643998" cy="55355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for (int di=0;di&lt;4;di++) {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nx=x+dx[di];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int ny=y+dy[di];</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if(nx&lt;0 || nx&gt;=n || ny&lt;0 || ny&gt;=m)</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	         	if(visited[nx][ny]==1)</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if(maze[nx][ny]=='#')</a:t>
            </a:r>
            <a:r>
              <a:rPr lang="zh-CN" altLang="zh-CN" sz="2000">
                <a:solidFill>
                  <a:srgbClr val="0000FF"/>
                </a:solidFill>
                <a:latin typeface="Consolas" pitchFamily="49" charset="0"/>
                <a:ea typeface="仿宋" pitchFamily="49" charset="-122"/>
              </a:rPr>
              <a:t> </a:t>
            </a:r>
            <a:r>
              <a:rPr lang="en-US" altLang="zh-CN" sz="2000">
                <a:solidFill>
                  <a:srgbClr val="0000FF"/>
                </a:solidFill>
                <a:latin typeface="Consolas" pitchFamily="49" charset="0"/>
                <a:ea typeface="仿宋" pitchFamily="49" charset="-122"/>
              </a:rPr>
              <a:t>continue;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maze[nx][ny]=='S'</a:t>
            </a:r>
            <a:r>
              <a:rPr lang="en-US" altLang="zh-CN" sz="2000">
                <a:solidFill>
                  <a:srgbClr val="0000FF"/>
                </a:solidFill>
                <a:latin typeface="Consolas" pitchFamily="49" charset="0"/>
                <a:ea typeface="仿宋" pitchFamily="49" charset="-122"/>
              </a:rPr>
              <a:t>) return ans;</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e1.first=nx; e1.second=ny;</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qu.push(e1);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子结点进队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visited[nx][ny]=1;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-1;</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2" name="组合 9"/>
          <p:cNvGrpSpPr/>
          <p:nvPr/>
        </p:nvGrpSpPr>
        <p:grpSpPr>
          <a:xfrm>
            <a:off x="571472" y="6143644"/>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81ms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5.55MB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36</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285852" y="571480"/>
            <a:ext cx="621510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6.3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队列式分支限界法框架</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500034" y="1928802"/>
            <a:ext cx="8286808" cy="185884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在解空间中搜索解时，队列式分支限界法与广度优先搜索一样都是采用队列存储活结点，从根结点开始一层一层地扩展和搜索结点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同时利用剪支以提高搜索的时间性能。</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37</a:t>
            </a:fld>
            <a:r>
              <a:rPr lang="en-US" altLang="zh-CN"/>
              <a:t>/126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357166"/>
            <a:ext cx="8286808" cy="586895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队列式分支限界法算法框架</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定义一个队列</a:t>
            </a:r>
            <a:r>
              <a:rPr lang="en-US" altLang="zh-CN" sz="2000">
                <a:solidFill>
                  <a:srgbClr val="0000FF"/>
                </a:solidFill>
                <a:latin typeface="Consolas" pitchFamily="49" charset="0"/>
                <a:ea typeface="仿宋" pitchFamily="49" charset="-122"/>
              </a:rPr>
              <a:t>qu;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根结点进队</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a:t>
            </a:r>
            <a:r>
              <a:rPr lang="zh-CN" altLang="zh-CN" sz="2000">
                <a:solidFill>
                  <a:srgbClr val="0000FF"/>
                </a:solidFill>
                <a:latin typeface="Consolas" pitchFamily="49" charset="0"/>
                <a:ea typeface="仿宋" pitchFamily="49" charset="-122"/>
              </a:rPr>
              <a:t>队不空时循环</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出队结点</a:t>
            </a:r>
            <a:r>
              <a:rPr lang="en-US" altLang="zh-CN" sz="2000">
                <a:solidFill>
                  <a:srgbClr val="0000FF"/>
                </a:solidFill>
                <a:latin typeface="Consolas" pitchFamily="49" charset="0"/>
                <a:ea typeface="仿宋" pitchFamily="49" charset="-122"/>
              </a:rPr>
              <a:t>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a:t>
            </a:r>
            <a:r>
              <a:rPr lang="zh-CN" altLang="zh-CN" sz="2000">
                <a:solidFill>
                  <a:srgbClr val="0000FF"/>
                </a:solidFill>
                <a:latin typeface="Consolas" pitchFamily="49" charset="0"/>
                <a:ea typeface="仿宋" pitchFamily="49" charset="-122"/>
              </a:rPr>
              <a:t>扩展结点</a:t>
            </a:r>
            <a:r>
              <a:rPr lang="en-US" altLang="zh-CN" sz="2000">
                <a:solidFill>
                  <a:srgbClr val="0000FF"/>
                </a:solidFill>
                <a:latin typeface="Consolas" pitchFamily="49" charset="0"/>
                <a:ea typeface="仿宋" pitchFamily="49" charset="-122"/>
              </a:rPr>
              <a:t>e</a:t>
            </a:r>
            <a:r>
              <a:rPr lang="zh-CN" altLang="zh-CN" sz="2000">
                <a:solidFill>
                  <a:srgbClr val="0000FF"/>
                </a:solidFill>
                <a:latin typeface="Consolas" pitchFamily="49" charset="0"/>
                <a:ea typeface="仿宋" pitchFamily="49" charset="-122"/>
              </a:rPr>
              <a:t>产生结点</a:t>
            </a:r>
            <a:r>
              <a:rPr lang="en-US" altLang="zh-CN" sz="2000">
                <a:solidFill>
                  <a:srgbClr val="0000FF"/>
                </a:solidFill>
                <a:latin typeface="Consolas" pitchFamily="49" charset="0"/>
                <a:ea typeface="仿宋" pitchFamily="49" charset="-122"/>
              </a:rPr>
              <a:t>e1)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if(e1</a:t>
            </a:r>
            <a:r>
              <a:rPr lang="zh-CN" altLang="zh-CN" sz="2000">
                <a:solidFill>
                  <a:srgbClr val="0000FF"/>
                </a:solidFill>
                <a:latin typeface="Consolas" pitchFamily="49" charset="0"/>
                <a:ea typeface="仿宋" pitchFamily="49" charset="-122"/>
              </a:rPr>
              <a:t>满足</a:t>
            </a:r>
            <a:r>
              <a:rPr lang="en-US" altLang="zh-CN" sz="2000">
                <a:solidFill>
                  <a:srgbClr val="0000FF"/>
                </a:solidFill>
                <a:latin typeface="Consolas" pitchFamily="49" charset="0"/>
                <a:ea typeface="仿宋" pitchFamily="49" charset="-122"/>
              </a:rPr>
              <a:t>constraint())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a:t>
            </a:r>
            <a:r>
              <a:rPr lang="zh-CN" altLang="zh-CN" sz="2000">
                <a:solidFill>
                  <a:srgbClr val="FF00FF"/>
                </a:solidFill>
                <a:latin typeface="Consolas" pitchFamily="49" charset="0"/>
                <a:ea typeface="仿宋" pitchFamily="49" charset="-122"/>
              </a:rPr>
              <a:t>是叶子结点</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比较得到一个更优解</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if(e1</a:t>
            </a:r>
            <a:r>
              <a:rPr lang="zh-CN" altLang="zh-CN" sz="2000">
                <a:solidFill>
                  <a:srgbClr val="0000FF"/>
                </a:solidFill>
                <a:latin typeface="Consolas" pitchFamily="49" charset="0"/>
                <a:ea typeface="仿宋" pitchFamily="49" charset="-122"/>
              </a:rPr>
              <a:t>满足</a:t>
            </a:r>
            <a:r>
              <a:rPr lang="en-US" altLang="zh-CN" sz="2000">
                <a:solidFill>
                  <a:srgbClr val="0000FF"/>
                </a:solidFill>
                <a:latin typeface="Consolas" pitchFamily="49" charset="0"/>
                <a:ea typeface="仿宋" pitchFamily="49" charset="-122"/>
              </a:rPr>
              <a:t>bound())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剪支</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将结点</a:t>
            </a:r>
            <a:r>
              <a:rPr lang="en-US" altLang="zh-CN" sz="2000">
                <a:solidFill>
                  <a:srgbClr val="0000FF"/>
                </a:solidFill>
                <a:latin typeface="Consolas" pitchFamily="49" charset="0"/>
                <a:ea typeface="仿宋" pitchFamily="49" charset="-122"/>
              </a:rPr>
              <a:t>e1</a:t>
            </a:r>
            <a:r>
              <a:rPr lang="zh-CN" altLang="zh-CN" sz="2000">
                <a:solidFill>
                  <a:srgbClr val="0000FF"/>
                </a:solidFill>
                <a:latin typeface="Consolas" pitchFamily="49" charset="0"/>
                <a:ea typeface="仿宋" pitchFamily="49" charset="-122"/>
              </a:rPr>
              <a:t>进队</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38</a:t>
            </a:fld>
            <a:r>
              <a:rPr lang="en-US" altLang="zh-CN"/>
              <a:t>/126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571480"/>
            <a:ext cx="807249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判断是否为叶子结点（对应可行解）通常有如下两种方式：</a:t>
            </a:r>
          </a:p>
        </p:txBody>
      </p:sp>
      <p:sp>
        <p:nvSpPr>
          <p:cNvPr id="4" name="TextBox 3"/>
          <p:cNvSpPr txBox="1"/>
          <p:nvPr/>
        </p:nvSpPr>
        <p:spPr>
          <a:xfrm>
            <a:off x="428596" y="1285860"/>
            <a:ext cx="8143932" cy="27084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FF0000"/>
                </a:solidFill>
                <a:latin typeface="Consolas" pitchFamily="49" charset="0"/>
                <a:ea typeface="仿宋" pitchFamily="49" charset="-122"/>
              </a:rPr>
              <a:t>在出队结点</a:t>
            </a:r>
            <a:r>
              <a:rPr lang="en-US" altLang="zh-CN" i="1">
                <a:solidFill>
                  <a:srgbClr val="FF0000"/>
                </a:solidFill>
                <a:latin typeface="Consolas" pitchFamily="49" charset="0"/>
                <a:ea typeface="仿宋" pitchFamily="49" charset="-122"/>
              </a:rPr>
              <a:t>e</a:t>
            </a:r>
            <a:r>
              <a:rPr lang="zh-CN" altLang="zh-CN">
                <a:solidFill>
                  <a:srgbClr val="FF0000"/>
                </a:solidFill>
                <a:latin typeface="Consolas" pitchFamily="49" charset="0"/>
                <a:ea typeface="仿宋" pitchFamily="49" charset="-122"/>
              </a:rPr>
              <a:t>时判断</a:t>
            </a:r>
            <a:r>
              <a:rPr lang="zh-CN" altLang="zh-CN">
                <a:solidFill>
                  <a:srgbClr val="0000FF"/>
                </a:solidFill>
                <a:latin typeface="Consolas" pitchFamily="49" charset="0"/>
                <a:ea typeface="仿宋" pitchFamily="49" charset="-122"/>
              </a:rPr>
              <a:t>，即在结点</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扩展出子结点之前进行判断，如果</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是叶子结点，则比较得到一个更优解，不做扩展，否则对结点</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扩展。</a:t>
            </a:r>
          </a:p>
          <a:p>
            <a:pPr marL="457200" indent="-457200" algn="l">
              <a:lnSpc>
                <a:spcPts val="3200"/>
              </a:lnSpc>
              <a:spcBef>
                <a:spcPts val="1200"/>
              </a:spcBef>
              <a:buBlip>
                <a:blip r:embed="rId3"/>
              </a:buBlip>
            </a:pPr>
            <a:r>
              <a:rPr lang="zh-CN" altLang="zh-CN">
                <a:solidFill>
                  <a:srgbClr val="FF0000"/>
                </a:solidFill>
                <a:latin typeface="Consolas" pitchFamily="49" charset="0"/>
                <a:ea typeface="仿宋" pitchFamily="49" charset="-122"/>
              </a:rPr>
              <a:t>在出队结点</a:t>
            </a:r>
            <a:r>
              <a:rPr lang="en-US" altLang="zh-CN" i="1">
                <a:solidFill>
                  <a:srgbClr val="FF0000"/>
                </a:solidFill>
                <a:latin typeface="Consolas" pitchFamily="49" charset="0"/>
                <a:ea typeface="仿宋" pitchFamily="49" charset="-122"/>
              </a:rPr>
              <a:t>e</a:t>
            </a:r>
            <a:r>
              <a:rPr lang="zh-CN" altLang="zh-CN">
                <a:solidFill>
                  <a:srgbClr val="FF0000"/>
                </a:solidFill>
                <a:latin typeface="Consolas" pitchFamily="49" charset="0"/>
                <a:ea typeface="仿宋" pitchFamily="49" charset="-122"/>
              </a:rPr>
              <a:t>并且扩展出子结点</a:t>
            </a:r>
            <a:r>
              <a:rPr lang="en-US" altLang="zh-CN">
                <a:solidFill>
                  <a:srgbClr val="FF0000"/>
                </a:solidFill>
                <a:latin typeface="Consolas" pitchFamily="49" charset="0"/>
                <a:ea typeface="仿宋" pitchFamily="49" charset="-122"/>
              </a:rPr>
              <a:t>e1</a:t>
            </a:r>
            <a:r>
              <a:rPr lang="zh-CN" altLang="zh-CN">
                <a:solidFill>
                  <a:srgbClr val="FF0000"/>
                </a:solidFill>
                <a:latin typeface="Consolas" pitchFamily="49" charset="0"/>
                <a:ea typeface="仿宋" pitchFamily="49" charset="-122"/>
              </a:rPr>
              <a:t>后对</a:t>
            </a:r>
            <a:r>
              <a:rPr lang="en-US" altLang="zh-CN">
                <a:solidFill>
                  <a:srgbClr val="FF0000"/>
                </a:solidFill>
                <a:latin typeface="Consolas" pitchFamily="49" charset="0"/>
                <a:ea typeface="仿宋" pitchFamily="49" charset="-122"/>
              </a:rPr>
              <a:t>e1</a:t>
            </a:r>
            <a:r>
              <a:rPr lang="zh-CN" altLang="zh-CN">
                <a:solidFill>
                  <a:srgbClr val="FF0000"/>
                </a:solidFill>
                <a:latin typeface="Consolas" pitchFamily="49" charset="0"/>
                <a:ea typeface="仿宋" pitchFamily="49" charset="-122"/>
              </a:rPr>
              <a:t>进行判断</a:t>
            </a:r>
            <a:r>
              <a:rPr lang="zh-CN" altLang="zh-CN">
                <a:solidFill>
                  <a:srgbClr val="0000FF"/>
                </a:solidFill>
                <a:latin typeface="Consolas" pitchFamily="49" charset="0"/>
                <a:ea typeface="仿宋" pitchFamily="49" charset="-122"/>
              </a:rPr>
              <a:t>，如果结点</a:t>
            </a:r>
            <a:r>
              <a:rPr lang="en-US" altLang="zh-CN">
                <a:solidFill>
                  <a:srgbClr val="0000FF"/>
                </a:solidFill>
                <a:latin typeface="Consolas" pitchFamily="49" charset="0"/>
                <a:ea typeface="仿宋" pitchFamily="49" charset="-122"/>
              </a:rPr>
              <a:t>e1</a:t>
            </a:r>
            <a:r>
              <a:rPr lang="zh-CN" altLang="zh-CN">
                <a:solidFill>
                  <a:srgbClr val="0000FF"/>
                </a:solidFill>
                <a:latin typeface="Consolas" pitchFamily="49" charset="0"/>
                <a:ea typeface="仿宋" pitchFamily="49" charset="-122"/>
              </a:rPr>
              <a:t>是叶子结点，则比较得到一个更优解，不将其进队，否则将其进队以便后面继续扩展。</a:t>
            </a:r>
          </a:p>
        </p:txBody>
      </p:sp>
      <p:grpSp>
        <p:nvGrpSpPr>
          <p:cNvPr id="7" name="组合 6"/>
          <p:cNvGrpSpPr/>
          <p:nvPr/>
        </p:nvGrpSpPr>
        <p:grpSpPr>
          <a:xfrm>
            <a:off x="928662" y="4429132"/>
            <a:ext cx="4929222" cy="1614800"/>
            <a:chOff x="928662" y="4429132"/>
            <a:chExt cx="4929222" cy="1614800"/>
          </a:xfrm>
        </p:grpSpPr>
        <p:pic>
          <p:nvPicPr>
            <p:cNvPr id="21505" name="Picture 1"/>
            <p:cNvPicPr>
              <a:picLocks noChangeAspect="1" noChangeArrowheads="1"/>
            </p:cNvPicPr>
            <p:nvPr/>
          </p:nvPicPr>
          <p:blipFill>
            <a:blip r:embed="rId4" cstate="print"/>
            <a:srcRect/>
            <a:stretch>
              <a:fillRect/>
            </a:stretch>
          </p:blipFill>
          <p:spPr bwMode="auto">
            <a:xfrm>
              <a:off x="928662" y="4429132"/>
              <a:ext cx="1019177" cy="1614800"/>
            </a:xfrm>
            <a:prstGeom prst="rect">
              <a:avLst/>
            </a:prstGeom>
            <a:noFill/>
            <a:ln w="9525">
              <a:noFill/>
              <a:miter lim="800000"/>
              <a:headEnd/>
              <a:tailEnd/>
            </a:ln>
          </p:spPr>
        </p:pic>
        <p:sp>
          <p:nvSpPr>
            <p:cNvPr id="6" name="TextBox 5"/>
            <p:cNvSpPr txBox="1"/>
            <p:nvPr/>
          </p:nvSpPr>
          <p:spPr>
            <a:xfrm>
              <a:off x="1928794" y="5000636"/>
              <a:ext cx="3929090" cy="430887"/>
            </a:xfrm>
            <a:prstGeom prst="rect">
              <a:avLst/>
            </a:prstGeom>
            <a:noFill/>
          </p:spPr>
          <p:txBody>
            <a:bodyPr wrap="square" rtlCol="0">
              <a:spAutoFit/>
            </a:bodyPr>
            <a:lstStyle/>
            <a:p>
              <a:pPr algn="l">
                <a:lnSpc>
                  <a:spcPct val="100000"/>
                </a:lnSpc>
                <a:spcBef>
                  <a:spcPts val="0"/>
                </a:spcBef>
              </a:pPr>
              <a:r>
                <a:rPr lang="zh-CN" altLang="en-US" sz="2200">
                  <a:solidFill>
                    <a:srgbClr val="0000FF"/>
                  </a:solidFill>
                  <a:latin typeface="Consolas" pitchFamily="49" charset="0"/>
                  <a:ea typeface="楷体" pitchFamily="49" charset="-122"/>
                  <a:cs typeface="Consolas" pitchFamily="49" charset="0"/>
                </a:rPr>
                <a:t>哪一种方式更好，为什么？</a:t>
              </a:r>
            </a:p>
          </p:txBody>
        </p:sp>
      </p:grpSp>
      <p:sp>
        <p:nvSpPr>
          <p:cNvPr id="8" name="灯片编号占位符 7"/>
          <p:cNvSpPr>
            <a:spLocks noGrp="1"/>
          </p:cNvSpPr>
          <p:nvPr>
            <p:ph type="sldNum" sz="quarter" idx="12"/>
          </p:nvPr>
        </p:nvSpPr>
        <p:spPr/>
        <p:txBody>
          <a:bodyPr/>
          <a:lstStyle/>
          <a:p>
            <a:fld id="{7AF016A1-9F15-429F-9EFD-84004B73C732}" type="slidenum">
              <a:rPr lang="en-US" altLang="zh-CN" smtClean="0"/>
              <a:pPr/>
              <a:t>39</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214546" y="428604"/>
            <a:ext cx="4714908"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6.4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图的单源最短路径</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642910" y="1571612"/>
            <a:ext cx="7929618" cy="193228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200"/>
              </a:lnSpc>
              <a:spcBef>
                <a:spcPts val="0"/>
              </a:spcBef>
            </a:pPr>
            <a:r>
              <a:rPr lang="en-US" altLang="zh-CN">
                <a:solidFill>
                  <a:srgbClr val="FF0000"/>
                </a:solidFill>
                <a:latin typeface="Consolas" pitchFamily="49" charset="0"/>
                <a:ea typeface="楷体" pitchFamily="49" charset="-122"/>
                <a:sym typeface="Wingdings"/>
              </a:rPr>
              <a:t></a:t>
            </a:r>
            <a:r>
              <a:rPr lang="zh-CN" altLang="en-US">
                <a:solidFill>
                  <a:srgbClr val="FF0000"/>
                </a:solidFill>
                <a:latin typeface="Consolas" pitchFamily="49" charset="0"/>
                <a:ea typeface="楷体" pitchFamily="49" charset="-122"/>
                <a:cs typeface="Consolas" pitchFamily="49" charset="0"/>
              </a:rPr>
              <a:t>问题描述</a:t>
            </a:r>
            <a:r>
              <a:rPr lang="zh-CN" altLang="en-US">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给定一个带权有向图</a:t>
            </a:r>
            <a:r>
              <a:rPr lang="en-US" altLang="zh-CN">
                <a:solidFill>
                  <a:srgbClr val="0000FF"/>
                </a:solidFill>
                <a:latin typeface="Consolas" pitchFamily="49" charset="0"/>
                <a:ea typeface="仿宋" pitchFamily="49" charset="-122"/>
                <a:cs typeface="Consolas" pitchFamily="49" charset="0"/>
              </a:rPr>
              <a:t>G=</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），其中每条边的权是一个正整数。另外给定</a:t>
            </a:r>
            <a:r>
              <a:rPr lang="en-US" altLang="zh-CN">
                <a:solidFill>
                  <a:srgbClr val="0000FF"/>
                </a:solidFill>
                <a:latin typeface="Consolas" pitchFamily="49" charset="0"/>
                <a:ea typeface="仿宋" pitchFamily="49" charset="-122"/>
                <a:cs typeface="Consolas" pitchFamily="49" charset="0"/>
              </a:rPr>
              <a:t>V</a:t>
            </a:r>
            <a:r>
              <a:rPr lang="zh-CN" altLang="zh-CN">
                <a:solidFill>
                  <a:srgbClr val="0000FF"/>
                </a:solidFill>
                <a:latin typeface="Consolas" pitchFamily="49" charset="0"/>
                <a:ea typeface="仿宋" pitchFamily="49" charset="-122"/>
                <a:cs typeface="Consolas" pitchFamily="49" charset="0"/>
              </a:rPr>
              <a:t>中的一个顶点</a:t>
            </a:r>
            <a:r>
              <a:rPr lang="en-US" altLang="zh-CN">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，称为源点。计算从源点到其他所有其他各顶点的最短路径及其长度。这里的路径长度是指</a:t>
            </a:r>
            <a:r>
              <a:rPr lang="zh-CN" altLang="en-US">
                <a:solidFill>
                  <a:srgbClr val="0000FF"/>
                </a:solidFill>
                <a:latin typeface="Consolas" pitchFamily="49" charset="0"/>
                <a:ea typeface="仿宋" pitchFamily="49" charset="-122"/>
                <a:cs typeface="Consolas" pitchFamily="49" charset="0"/>
              </a:rPr>
              <a:t>路径</a:t>
            </a:r>
            <a:r>
              <a:rPr lang="zh-CN" altLang="zh-CN">
                <a:solidFill>
                  <a:srgbClr val="0000FF"/>
                </a:solidFill>
                <a:latin typeface="Consolas" pitchFamily="49" charset="0"/>
                <a:ea typeface="仿宋" pitchFamily="49" charset="-122"/>
                <a:cs typeface="Consolas" pitchFamily="49" charset="0"/>
              </a:rPr>
              <a:t>上各边权之和</a:t>
            </a:r>
            <a:r>
              <a:rPr lang="zh-CN" altLang="en-US">
                <a:solidFill>
                  <a:srgbClr val="0000FF"/>
                </a:solidFill>
                <a:latin typeface="Consolas" pitchFamily="49" charset="0"/>
                <a:ea typeface="仿宋" pitchFamily="49" charset="-122"/>
                <a:cs typeface="Consolas" pitchFamily="49" charset="0"/>
              </a:rPr>
              <a:t>。</a:t>
            </a:r>
          </a:p>
        </p:txBody>
      </p:sp>
      <p:grpSp>
        <p:nvGrpSpPr>
          <p:cNvPr id="6" name="组合 6"/>
          <p:cNvGrpSpPr/>
          <p:nvPr/>
        </p:nvGrpSpPr>
        <p:grpSpPr>
          <a:xfrm>
            <a:off x="2500298" y="3857628"/>
            <a:ext cx="2928958" cy="2160446"/>
            <a:chOff x="1937927" y="3357562"/>
            <a:chExt cx="2696379" cy="2017570"/>
          </a:xfrm>
        </p:grpSpPr>
        <p:sp>
          <p:nvSpPr>
            <p:cNvPr id="7" name="Rectangle 23"/>
            <p:cNvSpPr>
              <a:spLocks noChangeArrowheads="1"/>
            </p:cNvSpPr>
            <p:nvPr/>
          </p:nvSpPr>
          <p:spPr bwMode="auto">
            <a:xfrm>
              <a:off x="3843200" y="3357562"/>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Rectangle 22"/>
            <p:cNvSpPr>
              <a:spLocks noChangeArrowheads="1"/>
            </p:cNvSpPr>
            <p:nvPr/>
          </p:nvSpPr>
          <p:spPr bwMode="auto">
            <a:xfrm>
              <a:off x="3984214" y="4732190"/>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Rectangle 21"/>
            <p:cNvSpPr>
              <a:spLocks noChangeArrowheads="1"/>
            </p:cNvSpPr>
            <p:nvPr/>
          </p:nvSpPr>
          <p:spPr bwMode="auto">
            <a:xfrm>
              <a:off x="3936809" y="3773179"/>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Rectangle 20"/>
            <p:cNvSpPr>
              <a:spLocks noChangeArrowheads="1"/>
            </p:cNvSpPr>
            <p:nvPr/>
          </p:nvSpPr>
          <p:spPr bwMode="auto">
            <a:xfrm>
              <a:off x="3707354"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Rectangle 19"/>
            <p:cNvSpPr>
              <a:spLocks noChangeArrowheads="1"/>
            </p:cNvSpPr>
            <p:nvPr/>
          </p:nvSpPr>
          <p:spPr bwMode="auto">
            <a:xfrm>
              <a:off x="2383137" y="3679551"/>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Rectangle 18"/>
            <p:cNvSpPr>
              <a:spLocks noChangeArrowheads="1"/>
            </p:cNvSpPr>
            <p:nvPr/>
          </p:nvSpPr>
          <p:spPr bwMode="auto">
            <a:xfrm>
              <a:off x="2622866"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Rectangle 17"/>
            <p:cNvSpPr>
              <a:spLocks noChangeArrowheads="1"/>
            </p:cNvSpPr>
            <p:nvPr/>
          </p:nvSpPr>
          <p:spPr bwMode="auto">
            <a:xfrm>
              <a:off x="2298661" y="4779110"/>
              <a:ext cx="433795"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100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6"/>
            <p:cNvSpPr>
              <a:spLocks noChangeArrowheads="1"/>
            </p:cNvSpPr>
            <p:nvPr/>
          </p:nvSpPr>
          <p:spPr bwMode="auto">
            <a:xfrm>
              <a:off x="1937927" y="4143124"/>
              <a:ext cx="365301" cy="41105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5"/>
            <p:cNvSpPr>
              <a:spLocks noChangeArrowheads="1"/>
            </p:cNvSpPr>
            <p:nvPr/>
          </p:nvSpPr>
          <p:spPr bwMode="auto">
            <a:xfrm>
              <a:off x="3173101" y="3431779"/>
              <a:ext cx="364160"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4"/>
            <p:cNvSpPr>
              <a:spLocks noChangeArrowheads="1"/>
            </p:cNvSpPr>
            <p:nvPr/>
          </p:nvSpPr>
          <p:spPr bwMode="auto">
            <a:xfrm>
              <a:off x="3183375" y="4143124"/>
              <a:ext cx="365301"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3"/>
            <p:cNvSpPr>
              <a:spLocks noChangeArrowheads="1"/>
            </p:cNvSpPr>
            <p:nvPr/>
          </p:nvSpPr>
          <p:spPr bwMode="auto">
            <a:xfrm>
              <a:off x="3183375" y="4965224"/>
              <a:ext cx="364160"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2"/>
            <p:cNvSpPr>
              <a:spLocks noChangeArrowheads="1"/>
            </p:cNvSpPr>
            <p:nvPr/>
          </p:nvSpPr>
          <p:spPr bwMode="auto">
            <a:xfrm>
              <a:off x="4267863" y="4143124"/>
              <a:ext cx="366443"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Oval 11"/>
            <p:cNvSpPr>
              <a:spLocks noChangeArrowheads="1"/>
            </p:cNvSpPr>
            <p:nvPr/>
          </p:nvSpPr>
          <p:spPr bwMode="auto">
            <a:xfrm>
              <a:off x="4267863" y="3430638"/>
              <a:ext cx="365301" cy="4121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1" name="AutoShape 10"/>
            <p:cNvSpPr>
              <a:spLocks noChangeShapeType="1"/>
            </p:cNvSpPr>
            <p:nvPr/>
          </p:nvSpPr>
          <p:spPr bwMode="auto">
            <a:xfrm flipV="1">
              <a:off x="2249574" y="3637304"/>
              <a:ext cx="923527" cy="56633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2" name="AutoShape 9"/>
            <p:cNvSpPr>
              <a:spLocks noChangeShapeType="1"/>
            </p:cNvSpPr>
            <p:nvPr/>
          </p:nvSpPr>
          <p:spPr bwMode="auto">
            <a:xfrm>
              <a:off x="2249574" y="4493659"/>
              <a:ext cx="933801" cy="67709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3" name="AutoShape 8"/>
            <p:cNvSpPr>
              <a:spLocks noChangeShapeType="1"/>
            </p:cNvSpPr>
            <p:nvPr/>
          </p:nvSpPr>
          <p:spPr bwMode="auto">
            <a:xfrm>
              <a:off x="2303228" y="4348649"/>
              <a:ext cx="88014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4" name="AutoShape 7"/>
            <p:cNvSpPr>
              <a:spLocks noChangeShapeType="1"/>
            </p:cNvSpPr>
            <p:nvPr/>
          </p:nvSpPr>
          <p:spPr bwMode="auto">
            <a:xfrm>
              <a:off x="3366026" y="4553032"/>
              <a:ext cx="1142" cy="41219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5" name="AutoShape 6"/>
            <p:cNvSpPr>
              <a:spLocks noChangeShapeType="1"/>
            </p:cNvSpPr>
            <p:nvPr/>
          </p:nvSpPr>
          <p:spPr bwMode="auto">
            <a:xfrm flipV="1">
              <a:off x="3547535" y="4493659"/>
              <a:ext cx="773982" cy="677091"/>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6" name="AutoShape 5"/>
            <p:cNvSpPr>
              <a:spLocks noChangeShapeType="1"/>
            </p:cNvSpPr>
            <p:nvPr/>
          </p:nvSpPr>
          <p:spPr bwMode="auto">
            <a:xfrm>
              <a:off x="3548676" y="4348649"/>
              <a:ext cx="71918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7" name="AutoShape 4"/>
            <p:cNvSpPr>
              <a:spLocks noChangeShapeType="1"/>
            </p:cNvSpPr>
            <p:nvPr/>
          </p:nvSpPr>
          <p:spPr bwMode="auto">
            <a:xfrm>
              <a:off x="3483607" y="3782314"/>
              <a:ext cx="837909" cy="42132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8" name="AutoShape 3"/>
            <p:cNvSpPr>
              <a:spLocks noChangeShapeType="1"/>
            </p:cNvSpPr>
            <p:nvPr/>
          </p:nvSpPr>
          <p:spPr bwMode="auto">
            <a:xfrm flipH="1">
              <a:off x="3537261" y="3637304"/>
              <a:ext cx="730602"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9" name="Rectangle 2"/>
            <p:cNvSpPr>
              <a:spLocks noChangeArrowheads="1"/>
            </p:cNvSpPr>
            <p:nvPr/>
          </p:nvSpPr>
          <p:spPr bwMode="auto">
            <a:xfrm>
              <a:off x="3439086" y="4650086"/>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60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30" name="灯片编号占位符 29"/>
          <p:cNvSpPr>
            <a:spLocks noGrp="1"/>
          </p:cNvSpPr>
          <p:nvPr>
            <p:ph type="sldNum" sz="quarter" idx="12"/>
          </p:nvPr>
        </p:nvSpPr>
        <p:spPr/>
        <p:txBody>
          <a:bodyPr/>
          <a:lstStyle/>
          <a:p>
            <a:fld id="{7AF016A1-9F15-429F-9EFD-84004B73C732}" type="slidenum">
              <a:rPr lang="en-US" altLang="zh-CN" smtClean="0"/>
              <a:pPr/>
              <a:t>40</a:t>
            </a:fld>
            <a:r>
              <a:rPr lang="en-US" altLang="zh-CN"/>
              <a:t>/126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428596" y="1428736"/>
            <a:ext cx="8215370" cy="286232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图采用邻接矩阵</a:t>
            </a:r>
            <a:r>
              <a:rPr lang="en-US" altLang="zh-CN">
                <a:solidFill>
                  <a:srgbClr val="0000FF"/>
                </a:solidFill>
                <a:latin typeface="Consolas" pitchFamily="49" charset="0"/>
                <a:ea typeface="仿宋" pitchFamily="49" charset="-122"/>
                <a:cs typeface="Consolas" pitchFamily="49" charset="0"/>
              </a:rPr>
              <a:t>A</a:t>
            </a:r>
            <a:r>
              <a:rPr lang="zh-CN" altLang="en-US">
                <a:solidFill>
                  <a:srgbClr val="0000FF"/>
                </a:solidFill>
                <a:latin typeface="Consolas" pitchFamily="49" charset="0"/>
                <a:ea typeface="仿宋" pitchFamily="49" charset="-122"/>
                <a:cs typeface="Consolas" pitchFamily="49" charset="0"/>
              </a:rPr>
              <a:t>存储。</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用</a:t>
            </a:r>
            <a:r>
              <a:rPr lang="en-US" altLang="zh-CN">
                <a:solidFill>
                  <a:srgbClr val="FF0000"/>
                </a:solidFill>
                <a:latin typeface="Consolas" pitchFamily="49" charset="0"/>
                <a:ea typeface="仿宋" pitchFamily="49" charset="-122"/>
                <a:cs typeface="Consolas" pitchFamily="49" charset="0"/>
              </a:rPr>
              <a:t>dist</a:t>
            </a:r>
            <a:r>
              <a:rPr lang="zh-CN" altLang="zh-CN">
                <a:solidFill>
                  <a:srgbClr val="FF0000"/>
                </a:solidFill>
                <a:latin typeface="Consolas" pitchFamily="49" charset="0"/>
                <a:ea typeface="仿宋" pitchFamily="49" charset="-122"/>
                <a:cs typeface="Consolas" pitchFamily="49" charset="0"/>
              </a:rPr>
              <a:t>数组</a:t>
            </a:r>
            <a:r>
              <a:rPr lang="zh-CN" altLang="zh-CN">
                <a:solidFill>
                  <a:srgbClr val="0000FF"/>
                </a:solidFill>
                <a:latin typeface="Consolas" pitchFamily="49" charset="0"/>
                <a:ea typeface="仿宋" pitchFamily="49" charset="-122"/>
                <a:cs typeface="Consolas" pitchFamily="49" charset="0"/>
              </a:rPr>
              <a:t>存放源点</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出发的最短路径长度，</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表示源点</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的最短路径长度，初始时所有</a:t>
            </a:r>
            <a:r>
              <a:rPr lang="en-US" altLang="zh-CN">
                <a:solidFill>
                  <a:srgbClr val="0000FF"/>
                </a:solidFill>
                <a:latin typeface="Consolas" pitchFamily="49" charset="0"/>
                <a:ea typeface="仿宋" pitchFamily="49" charset="-122"/>
                <a:cs typeface="Consolas" pitchFamily="49" charset="0"/>
              </a:rPr>
              <a:t>dist[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值为∞。</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cs typeface="Consolas" pitchFamily="49" charset="0"/>
              </a:rPr>
              <a:t>用</a:t>
            </a:r>
            <a:r>
              <a:rPr lang="en-US" altLang="zh-CN">
                <a:solidFill>
                  <a:srgbClr val="FF0000"/>
                </a:solidFill>
                <a:latin typeface="Consolas" pitchFamily="49" charset="0"/>
                <a:ea typeface="仿宋" pitchFamily="49" charset="-122"/>
                <a:cs typeface="Consolas" pitchFamily="49" charset="0"/>
              </a:rPr>
              <a:t>pre</a:t>
            </a:r>
            <a:r>
              <a:rPr lang="zh-CN" altLang="zh-CN">
                <a:solidFill>
                  <a:srgbClr val="FF0000"/>
                </a:solidFill>
                <a:latin typeface="Consolas" pitchFamily="49" charset="0"/>
                <a:ea typeface="仿宋" pitchFamily="49" charset="-122"/>
                <a:cs typeface="Consolas" pitchFamily="49" charset="0"/>
              </a:rPr>
              <a:t>数组</a:t>
            </a:r>
            <a:r>
              <a:rPr lang="zh-CN" altLang="zh-CN">
                <a:solidFill>
                  <a:srgbClr val="0000FF"/>
                </a:solidFill>
                <a:latin typeface="Consolas" pitchFamily="49" charset="0"/>
                <a:ea typeface="仿宋" pitchFamily="49" charset="-122"/>
                <a:cs typeface="Consolas" pitchFamily="49" charset="0"/>
              </a:rPr>
              <a:t>存放最短路径，</a:t>
            </a:r>
            <a:r>
              <a:rPr lang="en-US" altLang="zh-CN">
                <a:solidFill>
                  <a:srgbClr val="0000FF"/>
                </a:solidFill>
                <a:latin typeface="Consolas" pitchFamily="49" charset="0"/>
                <a:ea typeface="仿宋" pitchFamily="49" charset="-122"/>
                <a:cs typeface="Consolas" pitchFamily="49" charset="0"/>
              </a:rPr>
              <a:t>pre[</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表示源点</a:t>
            </a:r>
            <a:r>
              <a:rPr lang="en-US" altLang="zh-CN" i="1">
                <a:solidFill>
                  <a:srgbClr val="0000FF"/>
                </a:solidFill>
                <a:latin typeface="Consolas" pitchFamily="49" charset="0"/>
                <a:ea typeface="仿宋" pitchFamily="49" charset="-122"/>
                <a:cs typeface="Consolas" pitchFamily="49" charset="0"/>
              </a:rPr>
              <a:t>s</a:t>
            </a:r>
            <a:r>
              <a:rPr lang="zh-CN" altLang="zh-CN">
                <a:solidFill>
                  <a:srgbClr val="0000FF"/>
                </a:solidFill>
                <a:latin typeface="Consolas" pitchFamily="49" charset="0"/>
                <a:ea typeface="仿宋" pitchFamily="49" charset="-122"/>
                <a:cs typeface="Consolas" pitchFamily="49" charset="0"/>
              </a:rPr>
              <a:t>到顶点</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的最短路径中顶点</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的前驱顶点。</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41</a:t>
            </a:fld>
            <a:r>
              <a:rPr lang="en-US" altLang="zh-CN"/>
              <a:t>/126</a:t>
            </a:r>
          </a:p>
        </p:txBody>
      </p:sp>
      <p:pic>
        <p:nvPicPr>
          <p:cNvPr id="1028" name="Picture 4"/>
          <p:cNvPicPr>
            <a:picLocks noChangeAspect="1" noChangeArrowheads="1"/>
          </p:cNvPicPr>
          <p:nvPr/>
        </p:nvPicPr>
        <p:blipFill>
          <a:blip r:embed="rId3"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428596" y="284274"/>
            <a:ext cx="8286808" cy="185884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2"/>
              </a:buBlip>
            </a:pPr>
            <a:r>
              <a:rPr lang="zh-CN" altLang="en-US">
                <a:solidFill>
                  <a:srgbClr val="0000FF"/>
                </a:solidFill>
                <a:latin typeface="Consolas" pitchFamily="49" charset="0"/>
                <a:ea typeface="仿宋" pitchFamily="49" charset="-122"/>
                <a:cs typeface="Consolas" pitchFamily="49" charset="0"/>
              </a:rPr>
              <a:t>采用</a:t>
            </a:r>
            <a:r>
              <a:rPr lang="zh-CN" altLang="zh-CN">
                <a:solidFill>
                  <a:srgbClr val="0000FF"/>
                </a:solidFill>
                <a:latin typeface="Consolas" pitchFamily="49" charset="0"/>
                <a:ea typeface="仿宋" pitchFamily="49" charset="-122"/>
                <a:cs typeface="Consolas" pitchFamily="49" charset="0"/>
              </a:rPr>
              <a:t>队列式分支限界法</a:t>
            </a:r>
            <a:r>
              <a:rPr lang="zh-CN" altLang="en-US">
                <a:solidFill>
                  <a:srgbClr val="0000FF"/>
                </a:solidFill>
                <a:latin typeface="Consolas" pitchFamily="49" charset="0"/>
                <a:ea typeface="仿宋" pitchFamily="49" charset="-122"/>
                <a:cs typeface="Consolas" pitchFamily="49" charset="0"/>
              </a:rPr>
              <a:t>求解，</a:t>
            </a:r>
            <a:r>
              <a:rPr lang="zh-CN" altLang="zh-CN">
                <a:solidFill>
                  <a:srgbClr val="0000FF"/>
                </a:solidFill>
                <a:latin typeface="Consolas" pitchFamily="49" charset="0"/>
                <a:ea typeface="仿宋" pitchFamily="49" charset="-122"/>
                <a:cs typeface="Consolas" pitchFamily="49" charset="0"/>
              </a:rPr>
              <a:t>其中每个结点存放一个进队的顶点编号</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200"/>
              </a:lnSpc>
              <a:spcBef>
                <a:spcPts val="1200"/>
              </a:spcBef>
              <a:buBlip>
                <a:blip r:embed="rId2"/>
              </a:buBlip>
            </a:pPr>
            <a:r>
              <a:rPr lang="zh-CN" altLang="zh-CN">
                <a:solidFill>
                  <a:srgbClr val="0000FF"/>
                </a:solidFill>
                <a:latin typeface="Consolas" pitchFamily="49" charset="0"/>
                <a:ea typeface="仿宋" pitchFamily="49" charset="-122"/>
              </a:rPr>
              <a:t>先将源点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进队，队不空时出队顶点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，假设顶点</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存在出边邻接点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对</a:t>
            </a:r>
            <a:r>
              <a:rPr lang="en-US" altLang="zh-CN">
                <a:solidFill>
                  <a:srgbClr val="0000FF"/>
                </a:solidFill>
                <a:latin typeface="Consolas" pitchFamily="49" charset="0"/>
                <a:ea typeface="仿宋" pitchFamily="49" charset="-122"/>
              </a:rPr>
              <a:t>&lt;</a:t>
            </a:r>
            <a:r>
              <a:rPr lang="en-US" altLang="zh-CN" i="1">
                <a:solidFill>
                  <a:srgbClr val="0000FF"/>
                </a:solidFill>
                <a:latin typeface="Consolas" pitchFamily="49" charset="0"/>
                <a:ea typeface="仿宋" pitchFamily="49" charset="-122"/>
              </a:rPr>
              <a:t>u</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v</a:t>
            </a:r>
            <a:r>
              <a:rPr lang="en-US" altLang="zh-CN">
                <a:solidFill>
                  <a:srgbClr val="0000FF"/>
                </a:solidFill>
                <a:latin typeface="Consolas" pitchFamily="49" charset="0"/>
                <a:ea typeface="仿宋" pitchFamily="49" charset="-122"/>
              </a:rPr>
              <a:t>&gt;</a:t>
            </a:r>
            <a:r>
              <a:rPr lang="zh-CN" altLang="zh-CN">
                <a:solidFill>
                  <a:srgbClr val="0000FF"/>
                </a:solidFill>
                <a:latin typeface="Consolas" pitchFamily="49" charset="0"/>
                <a:ea typeface="仿宋" pitchFamily="49" charset="-122"/>
              </a:rPr>
              <a:t>边的</a:t>
            </a:r>
            <a:r>
              <a:rPr lang="zh-CN" altLang="en-US">
                <a:solidFill>
                  <a:srgbClr val="0000FF"/>
                </a:solidFill>
                <a:latin typeface="Consolas" pitchFamily="49" charset="0"/>
                <a:ea typeface="仿宋" pitchFamily="49" charset="-122"/>
              </a:rPr>
              <a:t>做</a:t>
            </a:r>
            <a:r>
              <a:rPr lang="zh-CN" altLang="zh-CN">
                <a:solidFill>
                  <a:srgbClr val="FF0000"/>
                </a:solidFill>
                <a:latin typeface="Consolas" pitchFamily="49" charset="0"/>
                <a:ea typeface="仿宋" pitchFamily="49" charset="-122"/>
              </a:rPr>
              <a:t>松弛操作</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grpSp>
        <p:nvGrpSpPr>
          <p:cNvPr id="19" name="组合 18"/>
          <p:cNvGrpSpPr/>
          <p:nvPr/>
        </p:nvGrpSpPr>
        <p:grpSpPr>
          <a:xfrm>
            <a:off x="428596" y="2500306"/>
            <a:ext cx="6215106" cy="3257630"/>
            <a:chOff x="428596" y="2500306"/>
            <a:chExt cx="6215106" cy="3257630"/>
          </a:xfrm>
        </p:grpSpPr>
        <p:grpSp>
          <p:nvGrpSpPr>
            <p:cNvPr id="5" name="组合 21"/>
            <p:cNvGrpSpPr/>
            <p:nvPr/>
          </p:nvGrpSpPr>
          <p:grpSpPr>
            <a:xfrm>
              <a:off x="1857356" y="3214686"/>
              <a:ext cx="4335140" cy="1357322"/>
              <a:chOff x="1594182" y="1785926"/>
              <a:chExt cx="4335140" cy="1357322"/>
            </a:xfrm>
          </p:grpSpPr>
          <p:sp>
            <p:nvSpPr>
              <p:cNvPr id="6" name="Rectangle 11"/>
              <p:cNvSpPr>
                <a:spLocks noChangeArrowheads="1"/>
              </p:cNvSpPr>
              <p:nvPr/>
            </p:nvSpPr>
            <p:spPr bwMode="auto">
              <a:xfrm>
                <a:off x="3237256" y="2594322"/>
                <a:ext cx="428628"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w</a:t>
                </a:r>
              </a:p>
            </p:txBody>
          </p:sp>
          <p:sp>
            <p:nvSpPr>
              <p:cNvPr id="7" name="Rectangle 10"/>
              <p:cNvSpPr>
                <a:spLocks noChangeArrowheads="1"/>
              </p:cNvSpPr>
              <p:nvPr/>
            </p:nvSpPr>
            <p:spPr bwMode="auto">
              <a:xfrm>
                <a:off x="4930430" y="2821614"/>
                <a:ext cx="998892" cy="2501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dist[v]</a:t>
                </a:r>
              </a:p>
            </p:txBody>
          </p:sp>
          <p:sp>
            <p:nvSpPr>
              <p:cNvPr id="8" name="Oval 9"/>
              <p:cNvSpPr>
                <a:spLocks noChangeArrowheads="1"/>
              </p:cNvSpPr>
              <p:nvPr/>
            </p:nvSpPr>
            <p:spPr bwMode="auto">
              <a:xfrm>
                <a:off x="2649436" y="2766160"/>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u</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9" name="Oval 8"/>
              <p:cNvSpPr>
                <a:spLocks noChangeArrowheads="1"/>
              </p:cNvSpPr>
              <p:nvPr/>
            </p:nvSpPr>
            <p:spPr bwMode="auto">
              <a:xfrm>
                <a:off x="4521569" y="2766160"/>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v</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0" name="AutoShape 7"/>
              <p:cNvSpPr>
                <a:spLocks noChangeShapeType="1"/>
              </p:cNvSpPr>
              <p:nvPr/>
            </p:nvSpPr>
            <p:spPr bwMode="auto">
              <a:xfrm>
                <a:off x="2994361" y="2954704"/>
                <a:ext cx="1527208" cy="1109"/>
              </a:xfrm>
              <a:prstGeom prst="straightConnector1">
                <a:avLst/>
              </a:prstGeom>
              <a:noFill/>
              <a:ln w="38100">
                <a:solidFill>
                  <a:srgbClr val="FF00FF"/>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11" name="Oval 6"/>
              <p:cNvSpPr>
                <a:spLocks noChangeArrowheads="1"/>
              </p:cNvSpPr>
              <p:nvPr/>
            </p:nvSpPr>
            <p:spPr bwMode="auto">
              <a:xfrm>
                <a:off x="2274566" y="1946548"/>
                <a:ext cx="344925" cy="377088"/>
              </a:xfrm>
              <a:prstGeom prst="ellipse">
                <a:avLst/>
              </a:prstGeom>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rgbClr val="0000FF"/>
                    </a:solidFill>
                    <a:effectLst/>
                    <a:latin typeface="Consolas" pitchFamily="49" charset="0"/>
                    <a:ea typeface="仿宋" pitchFamily="49" charset="-122"/>
                    <a:cs typeface="Times New Roman" pitchFamily="18" charset="0"/>
                  </a:rPr>
                  <a:t>s</a:t>
                </a:r>
                <a:endPar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endParaRPr>
              </a:p>
            </p:txBody>
          </p:sp>
          <p:sp>
            <p:nvSpPr>
              <p:cNvPr id="12" name="Rectangle 5"/>
              <p:cNvSpPr>
                <a:spLocks noChangeArrowheads="1"/>
              </p:cNvSpPr>
              <p:nvPr/>
            </p:nvSpPr>
            <p:spPr bwMode="auto">
              <a:xfrm>
                <a:off x="1745860" y="1785926"/>
                <a:ext cx="540124" cy="2761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源点</a:t>
                </a:r>
              </a:p>
            </p:txBody>
          </p:sp>
          <p:sp>
            <p:nvSpPr>
              <p:cNvPr id="13" name="Rectangle 4"/>
              <p:cNvSpPr>
                <a:spLocks noChangeArrowheads="1"/>
              </p:cNvSpPr>
              <p:nvPr/>
            </p:nvSpPr>
            <p:spPr bwMode="auto">
              <a:xfrm>
                <a:off x="1594182" y="2828978"/>
                <a:ext cx="934956" cy="2916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仿宋" pitchFamily="49" charset="-122"/>
                    <a:cs typeface="Times New Roman" pitchFamily="18" charset="0"/>
                  </a:rPr>
                  <a:t>dist[u]</a:t>
                </a:r>
              </a:p>
            </p:txBody>
          </p:sp>
          <p:sp>
            <p:nvSpPr>
              <p:cNvPr id="14" name="AutoShape 3"/>
              <p:cNvSpPr>
                <a:spLocks noChangeShapeType="1"/>
              </p:cNvSpPr>
              <p:nvPr/>
            </p:nvSpPr>
            <p:spPr bwMode="auto">
              <a:xfrm>
                <a:off x="2447583" y="2323636"/>
                <a:ext cx="252871" cy="497978"/>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sp>
            <p:nvSpPr>
              <p:cNvPr id="15" name="AutoShape 2"/>
              <p:cNvSpPr>
                <a:spLocks noChangeShapeType="1"/>
              </p:cNvSpPr>
              <p:nvPr/>
            </p:nvSpPr>
            <p:spPr bwMode="auto">
              <a:xfrm>
                <a:off x="2619491" y="2135092"/>
                <a:ext cx="1953095" cy="686522"/>
              </a:xfrm>
              <a:prstGeom prst="straightConnector1">
                <a:avLst/>
              </a:prstGeom>
              <a:noFill/>
              <a:ln w="19050">
                <a:solidFill>
                  <a:srgbClr val="000000"/>
                </a:solidFill>
                <a:prstDash val="dash"/>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a typeface="仿宋" pitchFamily="49" charset="-122"/>
                  <a:cs typeface="Times New Roman" pitchFamily="18" charset="0"/>
                </a:endParaRPr>
              </a:p>
            </p:txBody>
          </p:sp>
        </p:grpSp>
        <p:sp>
          <p:nvSpPr>
            <p:cNvPr id="16" name="TextBox 15"/>
            <p:cNvSpPr txBox="1"/>
            <p:nvPr/>
          </p:nvSpPr>
          <p:spPr>
            <a:xfrm>
              <a:off x="428596" y="2500306"/>
              <a:ext cx="2071702" cy="461665"/>
            </a:xfrm>
            <a:prstGeom prst="rect">
              <a:avLst/>
            </a:prstGeom>
            <a:solidFill>
              <a:schemeClr val="accent6">
                <a:lumMod val="20000"/>
                <a:lumOff val="80000"/>
              </a:schemeClr>
            </a:solidFill>
            <a:effectLst>
              <a:outerShdw blurRad="76200" dir="18900000" sy="23000" kx="-1200000" algn="bl" rotWithShape="0">
                <a:prstClr val="black">
                  <a:alpha val="20000"/>
                </a:prstClr>
              </a:outerShdw>
            </a:effectLst>
          </p:spPr>
          <p:style>
            <a:lnRef idx="3">
              <a:schemeClr val="lt1"/>
            </a:lnRef>
            <a:fillRef idx="1">
              <a:schemeClr val="accent1"/>
            </a:fillRef>
            <a:effectRef idx="1">
              <a:schemeClr val="accent1"/>
            </a:effectRef>
            <a:fontRef idx="minor">
              <a:schemeClr val="lt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zh-CN" altLang="zh-CN">
                  <a:solidFill>
                    <a:srgbClr val="FF0000"/>
                  </a:solidFill>
                  <a:latin typeface="微软雅黑" pitchFamily="34" charset="-122"/>
                  <a:ea typeface="微软雅黑" pitchFamily="34" charset="-122"/>
                </a:rPr>
                <a:t>边松驰操作</a:t>
              </a:r>
              <a:endParaRPr lang="zh-CN" altLang="zh-CN" spc="50">
                <a:ln w="11430"/>
                <a:solidFill>
                  <a:srgbClr val="FF0000"/>
                </a:solidFill>
                <a:effectLst>
                  <a:outerShdw blurRad="76200" dist="50800" dir="5400000" algn="tl" rotWithShape="0">
                    <a:srgbClr val="000000">
                      <a:alpha val="65000"/>
                    </a:srgbClr>
                  </a:outerShdw>
                </a:effectLst>
                <a:latin typeface="微软雅黑" pitchFamily="34" charset="-122"/>
                <a:ea typeface="微软雅黑" pitchFamily="34" charset="-122"/>
                <a:cs typeface="Times New Roman" pitchFamily="18" charset="0"/>
              </a:endParaRPr>
            </a:p>
          </p:txBody>
        </p:sp>
        <p:sp>
          <p:nvSpPr>
            <p:cNvPr id="17" name="下箭头 16"/>
            <p:cNvSpPr/>
            <p:nvPr/>
          </p:nvSpPr>
          <p:spPr>
            <a:xfrm>
              <a:off x="3714744" y="4929198"/>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latin typeface="Consolas" pitchFamily="49" charset="0"/>
              </a:endParaRPr>
            </a:p>
          </p:txBody>
        </p:sp>
        <p:sp>
          <p:nvSpPr>
            <p:cNvPr id="18" name="TextBox 17"/>
            <p:cNvSpPr txBox="1"/>
            <p:nvPr/>
          </p:nvSpPr>
          <p:spPr>
            <a:xfrm>
              <a:off x="1928794" y="5357826"/>
              <a:ext cx="4714908"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cs typeface="Consolas" pitchFamily="49" charset="0"/>
                </a:rPr>
                <a:t>dist[v]=</a:t>
              </a:r>
              <a:r>
                <a:rPr lang="en-US" altLang="zh-CN" sz="2000">
                  <a:solidFill>
                    <a:srgbClr val="FF0000"/>
                  </a:solidFill>
                  <a:latin typeface="Consolas" pitchFamily="49" charset="0"/>
                  <a:cs typeface="Consolas" pitchFamily="49" charset="0"/>
                </a:rPr>
                <a:t>min</a:t>
              </a:r>
              <a:r>
                <a:rPr lang="en-US" altLang="zh-CN" sz="2000">
                  <a:solidFill>
                    <a:srgbClr val="0000FF"/>
                  </a:solidFill>
                  <a:latin typeface="Consolas" pitchFamily="49" charset="0"/>
                  <a:cs typeface="Consolas" pitchFamily="49" charset="0"/>
                </a:rPr>
                <a:t>{dist[v]</a:t>
              </a:r>
              <a:r>
                <a:rPr lang="zh-CN" altLang="en-US" sz="2000">
                  <a:solidFill>
                    <a:srgbClr val="0000FF"/>
                  </a:solidFill>
                  <a:latin typeface="Consolas" pitchFamily="49" charset="0"/>
                  <a:cs typeface="Consolas" pitchFamily="49" charset="0"/>
                </a:rPr>
                <a:t>，</a:t>
              </a:r>
              <a:r>
                <a:rPr lang="en-US" altLang="zh-CN" sz="2000">
                  <a:solidFill>
                    <a:srgbClr val="0000FF"/>
                  </a:solidFill>
                  <a:latin typeface="Consolas" pitchFamily="49" charset="0"/>
                  <a:cs typeface="Consolas" pitchFamily="49" charset="0"/>
                </a:rPr>
                <a:t>dist[u]+w}</a:t>
              </a:r>
              <a:endParaRPr lang="zh-CN" altLang="en-US" sz="2000">
                <a:solidFill>
                  <a:srgbClr val="0000FF"/>
                </a:solidFill>
                <a:latin typeface="Consolas" pitchFamily="49" charset="0"/>
                <a:ea typeface="楷体" pitchFamily="49" charset="-122"/>
                <a:cs typeface="Consolas" pitchFamily="49" charset="0"/>
              </a:endParaRPr>
            </a:p>
          </p:txBody>
        </p:sp>
      </p:grpSp>
      <p:sp>
        <p:nvSpPr>
          <p:cNvPr id="20" name="灯片编号占位符 19"/>
          <p:cNvSpPr>
            <a:spLocks noGrp="1"/>
          </p:cNvSpPr>
          <p:nvPr>
            <p:ph type="sldNum" sz="quarter" idx="12"/>
          </p:nvPr>
        </p:nvSpPr>
        <p:spPr/>
        <p:txBody>
          <a:bodyPr/>
          <a:lstStyle/>
          <a:p>
            <a:fld id="{7AF016A1-9F15-429F-9EFD-84004B73C732}" type="slidenum">
              <a:rPr lang="en-US" altLang="zh-CN" smtClean="0"/>
              <a:pPr/>
              <a:t>42</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8"/>
          <p:cNvGrpSpPr/>
          <p:nvPr/>
        </p:nvGrpSpPr>
        <p:grpSpPr>
          <a:xfrm>
            <a:off x="-32" y="33836"/>
            <a:ext cx="2071702" cy="2037842"/>
            <a:chOff x="4357686" y="1891224"/>
            <a:chExt cx="2571768" cy="2680784"/>
          </a:xfrm>
        </p:grpSpPr>
        <p:sp>
          <p:nvSpPr>
            <p:cNvPr id="6" name="椭圆 5"/>
            <p:cNvSpPr/>
            <p:nvPr/>
          </p:nvSpPr>
          <p:spPr>
            <a:xfrm>
              <a:off x="4357686" y="3071810"/>
              <a:ext cx="428628" cy="42862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0</a:t>
              </a:r>
              <a:endParaRPr lang="zh-CN" altLang="en-US" sz="1800" b="0">
                <a:solidFill>
                  <a:srgbClr val="0000FF"/>
                </a:solidFill>
                <a:latin typeface="Times New Roman" pitchFamily="18" charset="0"/>
                <a:cs typeface="Times New Roman" pitchFamily="18" charset="0"/>
              </a:endParaRPr>
            </a:p>
          </p:txBody>
        </p:sp>
        <p:sp>
          <p:nvSpPr>
            <p:cNvPr id="7" name="椭圆 6"/>
            <p:cNvSpPr/>
            <p:nvPr/>
          </p:nvSpPr>
          <p:spPr>
            <a:xfrm>
              <a:off x="5357818" y="2071678"/>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2</a:t>
              </a:r>
              <a:endParaRPr lang="zh-CN" altLang="en-US" sz="1800" b="0">
                <a:solidFill>
                  <a:srgbClr val="0000FF"/>
                </a:solidFill>
                <a:latin typeface="Times New Roman" pitchFamily="18" charset="0"/>
                <a:cs typeface="Times New Roman" pitchFamily="18" charset="0"/>
              </a:endParaRPr>
            </a:p>
          </p:txBody>
        </p:sp>
        <p:sp>
          <p:nvSpPr>
            <p:cNvPr id="8" name="椭圆 7"/>
            <p:cNvSpPr/>
            <p:nvPr/>
          </p:nvSpPr>
          <p:spPr>
            <a:xfrm>
              <a:off x="5357818" y="307181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4</a:t>
              </a:r>
              <a:endParaRPr lang="zh-CN" altLang="en-US" sz="1800" b="0">
                <a:solidFill>
                  <a:srgbClr val="0000FF"/>
                </a:solidFill>
                <a:latin typeface="Times New Roman" pitchFamily="18" charset="0"/>
                <a:cs typeface="Times New Roman" pitchFamily="18" charset="0"/>
              </a:endParaRPr>
            </a:p>
          </p:txBody>
        </p:sp>
        <p:sp>
          <p:nvSpPr>
            <p:cNvPr id="9" name="椭圆 8"/>
            <p:cNvSpPr/>
            <p:nvPr/>
          </p:nvSpPr>
          <p:spPr>
            <a:xfrm>
              <a:off x="6500826" y="307181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3</a:t>
              </a:r>
              <a:endParaRPr lang="zh-CN" altLang="en-US" sz="1800" b="0">
                <a:solidFill>
                  <a:srgbClr val="0000FF"/>
                </a:solidFill>
                <a:latin typeface="Times New Roman" pitchFamily="18" charset="0"/>
                <a:cs typeface="Times New Roman" pitchFamily="18" charset="0"/>
              </a:endParaRPr>
            </a:p>
          </p:txBody>
        </p:sp>
        <p:sp>
          <p:nvSpPr>
            <p:cNvPr id="10" name="椭圆 9"/>
            <p:cNvSpPr/>
            <p:nvPr/>
          </p:nvSpPr>
          <p:spPr>
            <a:xfrm>
              <a:off x="5357818" y="4143380"/>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5</a:t>
              </a:r>
              <a:endParaRPr lang="zh-CN" altLang="en-US" sz="1800" b="0">
                <a:solidFill>
                  <a:srgbClr val="0000FF"/>
                </a:solidFill>
                <a:latin typeface="Times New Roman" pitchFamily="18" charset="0"/>
                <a:cs typeface="Times New Roman" pitchFamily="18" charset="0"/>
              </a:endParaRPr>
            </a:p>
          </p:txBody>
        </p:sp>
        <p:sp>
          <p:nvSpPr>
            <p:cNvPr id="11" name="椭圆 10"/>
            <p:cNvSpPr/>
            <p:nvPr/>
          </p:nvSpPr>
          <p:spPr>
            <a:xfrm>
              <a:off x="6500826" y="2071678"/>
              <a:ext cx="428628" cy="428628"/>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nSpc>
                  <a:spcPts val="2200"/>
                </a:lnSpc>
                <a:spcBef>
                  <a:spcPts val="0"/>
                </a:spcBef>
              </a:pPr>
              <a:r>
                <a:rPr lang="en-US" altLang="zh-CN" sz="1800" b="0">
                  <a:solidFill>
                    <a:srgbClr val="0000FF"/>
                  </a:solidFill>
                  <a:latin typeface="Times New Roman" pitchFamily="18" charset="0"/>
                  <a:cs typeface="Times New Roman" pitchFamily="18" charset="0"/>
                </a:rPr>
                <a:t>1</a:t>
              </a:r>
              <a:endParaRPr lang="zh-CN" altLang="en-US" sz="1800" b="0">
                <a:solidFill>
                  <a:srgbClr val="0000FF"/>
                </a:solidFill>
                <a:latin typeface="Times New Roman" pitchFamily="18" charset="0"/>
                <a:cs typeface="Times New Roman" pitchFamily="18" charset="0"/>
              </a:endParaRPr>
            </a:p>
          </p:txBody>
        </p:sp>
        <p:cxnSp>
          <p:nvCxnSpPr>
            <p:cNvPr id="12" name="直接箭头连接符 11"/>
            <p:cNvCxnSpPr>
              <a:stCxn id="6" idx="7"/>
              <a:endCxn id="7" idx="3"/>
            </p:cNvCxnSpPr>
            <p:nvPr/>
          </p:nvCxnSpPr>
          <p:spPr>
            <a:xfrm rot="5400000" flipH="1" flipV="1">
              <a:off x="4723543" y="2437535"/>
              <a:ext cx="697046" cy="697046"/>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4643438" y="2428868"/>
              <a:ext cx="68974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10</a:t>
              </a:r>
              <a:endParaRPr lang="zh-CN" altLang="en-US" sz="1400" b="0">
                <a:solidFill>
                  <a:srgbClr val="FF00FF"/>
                </a:solidFill>
                <a:latin typeface="Consolas" pitchFamily="49" charset="0"/>
                <a:cs typeface="Consolas" pitchFamily="49" charset="0"/>
              </a:endParaRPr>
            </a:p>
          </p:txBody>
        </p:sp>
        <p:cxnSp>
          <p:nvCxnSpPr>
            <p:cNvPr id="14" name="直接箭头连接符 13"/>
            <p:cNvCxnSpPr>
              <a:stCxn id="6" idx="5"/>
              <a:endCxn id="10" idx="1"/>
            </p:cNvCxnSpPr>
            <p:nvPr/>
          </p:nvCxnSpPr>
          <p:spPr>
            <a:xfrm rot="16200000" flipH="1">
              <a:off x="4687824" y="3473386"/>
              <a:ext cx="768484" cy="697046"/>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5" name="直接箭头连接符 14"/>
            <p:cNvCxnSpPr>
              <a:stCxn id="6" idx="6"/>
              <a:endCxn id="8" idx="2"/>
            </p:cNvCxnSpPr>
            <p:nvPr/>
          </p:nvCxnSpPr>
          <p:spPr>
            <a:xfrm>
              <a:off x="4786314" y="3286124"/>
              <a:ext cx="571504"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6" name="直接箭头连接符 15"/>
            <p:cNvCxnSpPr>
              <a:stCxn id="7" idx="5"/>
              <a:endCxn id="9" idx="1"/>
            </p:cNvCxnSpPr>
            <p:nvPr/>
          </p:nvCxnSpPr>
          <p:spPr>
            <a:xfrm rot="16200000" flipH="1">
              <a:off x="5795113" y="2366097"/>
              <a:ext cx="697046" cy="839922"/>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7" name="直接箭头连接符 16"/>
            <p:cNvCxnSpPr>
              <a:stCxn id="8" idx="6"/>
              <a:endCxn id="9" idx="2"/>
            </p:cNvCxnSpPr>
            <p:nvPr/>
          </p:nvCxnSpPr>
          <p:spPr>
            <a:xfrm>
              <a:off x="5786446" y="3286124"/>
              <a:ext cx="714380"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8" name="直接箭头连接符 17"/>
            <p:cNvCxnSpPr>
              <a:stCxn id="9" idx="3"/>
              <a:endCxn id="10" idx="7"/>
            </p:cNvCxnSpPr>
            <p:nvPr/>
          </p:nvCxnSpPr>
          <p:spPr>
            <a:xfrm rot="5400000">
              <a:off x="5759394" y="3401948"/>
              <a:ext cx="768484" cy="839922"/>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19" name="直接箭头连接符 18"/>
            <p:cNvCxnSpPr>
              <a:stCxn id="11" idx="2"/>
              <a:endCxn id="7" idx="6"/>
            </p:cNvCxnSpPr>
            <p:nvPr/>
          </p:nvCxnSpPr>
          <p:spPr>
            <a:xfrm rot="10800000">
              <a:off x="5786446" y="2285992"/>
              <a:ext cx="714380"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cxnSp>
          <p:nvCxnSpPr>
            <p:cNvPr id="20" name="直接箭头连接符 19"/>
            <p:cNvCxnSpPr>
              <a:stCxn id="8" idx="4"/>
              <a:endCxn id="10" idx="0"/>
            </p:cNvCxnSpPr>
            <p:nvPr/>
          </p:nvCxnSpPr>
          <p:spPr>
            <a:xfrm rot="5400000">
              <a:off x="5250661" y="3821909"/>
              <a:ext cx="642942" cy="1588"/>
            </a:xfrm>
            <a:prstGeom prst="straightConnector1">
              <a:avLst/>
            </a:prstGeom>
            <a:ln w="19050">
              <a:tailEnd type="arrow"/>
            </a:ln>
            <a:effectLst/>
          </p:spPr>
          <p:style>
            <a:lnRef idx="2">
              <a:schemeClr val="dk1"/>
            </a:lnRef>
            <a:fillRef idx="0">
              <a:schemeClr val="dk1"/>
            </a:fillRef>
            <a:effectRef idx="1">
              <a:schemeClr val="dk1"/>
            </a:effectRef>
            <a:fontRef idx="minor">
              <a:schemeClr val="tx1"/>
            </a:fontRef>
          </p:style>
        </p:cxnSp>
        <p:sp>
          <p:nvSpPr>
            <p:cNvPr id="21" name="TextBox 20"/>
            <p:cNvSpPr txBox="1"/>
            <p:nvPr/>
          </p:nvSpPr>
          <p:spPr>
            <a:xfrm>
              <a:off x="4857752" y="2916792"/>
              <a:ext cx="50006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30</a:t>
              </a:r>
              <a:endParaRPr lang="zh-CN" altLang="en-US" sz="1400" b="0">
                <a:solidFill>
                  <a:srgbClr val="FF00FF"/>
                </a:solidFill>
                <a:latin typeface="Consolas" pitchFamily="49" charset="0"/>
                <a:cs typeface="Consolas" pitchFamily="49" charset="0"/>
              </a:endParaRPr>
            </a:p>
          </p:txBody>
        </p:sp>
        <p:sp>
          <p:nvSpPr>
            <p:cNvPr id="22" name="TextBox 21"/>
            <p:cNvSpPr txBox="1"/>
            <p:nvPr/>
          </p:nvSpPr>
          <p:spPr>
            <a:xfrm>
              <a:off x="4643438" y="3702610"/>
              <a:ext cx="500066" cy="352247"/>
            </a:xfrm>
            <a:prstGeom prst="rect">
              <a:avLst/>
            </a:prstGeom>
            <a:noFill/>
          </p:spPr>
          <p:txBody>
            <a:bodyPr wrap="square" lIns="0" rIns="0" rtlCol="0">
              <a:spAutoFit/>
            </a:bodyPr>
            <a:lstStyle/>
            <a:p>
              <a:pPr algn="l"/>
              <a:r>
                <a:rPr lang="en-US" altLang="zh-CN" sz="1400" b="0">
                  <a:solidFill>
                    <a:srgbClr val="FF00FF"/>
                  </a:solidFill>
                  <a:latin typeface="Consolas" pitchFamily="49" charset="0"/>
                  <a:cs typeface="Consolas" pitchFamily="49" charset="0"/>
                </a:rPr>
                <a:t>100</a:t>
              </a:r>
              <a:endParaRPr lang="zh-CN" altLang="en-US" sz="1400" b="0">
                <a:solidFill>
                  <a:srgbClr val="FF00FF"/>
                </a:solidFill>
                <a:latin typeface="Consolas" pitchFamily="49" charset="0"/>
                <a:cs typeface="Consolas" pitchFamily="49" charset="0"/>
              </a:endParaRPr>
            </a:p>
          </p:txBody>
        </p:sp>
        <p:sp>
          <p:nvSpPr>
            <p:cNvPr id="23" name="TextBox 22"/>
            <p:cNvSpPr txBox="1"/>
            <p:nvPr/>
          </p:nvSpPr>
          <p:spPr>
            <a:xfrm>
              <a:off x="5525746" y="3534683"/>
              <a:ext cx="50006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60</a:t>
              </a:r>
              <a:endParaRPr lang="zh-CN" altLang="en-US" sz="1400" b="0">
                <a:solidFill>
                  <a:srgbClr val="FF00FF"/>
                </a:solidFill>
                <a:latin typeface="Consolas" pitchFamily="49" charset="0"/>
                <a:cs typeface="Consolas" pitchFamily="49" charset="0"/>
              </a:endParaRPr>
            </a:p>
          </p:txBody>
        </p:sp>
        <p:sp>
          <p:nvSpPr>
            <p:cNvPr id="24" name="TextBox 23"/>
            <p:cNvSpPr txBox="1"/>
            <p:nvPr/>
          </p:nvSpPr>
          <p:spPr>
            <a:xfrm>
              <a:off x="5762096" y="2718747"/>
              <a:ext cx="500066" cy="352247"/>
            </a:xfrm>
            <a:prstGeom prst="rect">
              <a:avLst/>
            </a:prstGeom>
            <a:noFill/>
            <a:effectLst/>
          </p:spPr>
          <p:txBody>
            <a:bodyPr wrap="square" rtlCol="0">
              <a:spAutoFit/>
            </a:bodyPr>
            <a:lstStyle/>
            <a:p>
              <a:pPr algn="l"/>
              <a:r>
                <a:rPr lang="en-US" altLang="zh-CN" sz="1400" b="0">
                  <a:solidFill>
                    <a:srgbClr val="FF00FF"/>
                  </a:solidFill>
                  <a:latin typeface="Consolas" pitchFamily="49" charset="0"/>
                  <a:cs typeface="Consolas" pitchFamily="49" charset="0"/>
                </a:rPr>
                <a:t>50</a:t>
              </a:r>
              <a:endParaRPr lang="zh-CN" altLang="en-US" sz="1400" b="0">
                <a:solidFill>
                  <a:srgbClr val="FF00FF"/>
                </a:solidFill>
                <a:latin typeface="Consolas" pitchFamily="49" charset="0"/>
                <a:cs typeface="Consolas" pitchFamily="49" charset="0"/>
              </a:endParaRPr>
            </a:p>
          </p:txBody>
        </p:sp>
        <p:sp>
          <p:nvSpPr>
            <p:cNvPr id="25" name="TextBox 24"/>
            <p:cNvSpPr txBox="1"/>
            <p:nvPr/>
          </p:nvSpPr>
          <p:spPr>
            <a:xfrm>
              <a:off x="5954374" y="1891224"/>
              <a:ext cx="50006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4</a:t>
              </a:r>
              <a:endParaRPr lang="zh-CN" altLang="en-US" sz="1400" b="0">
                <a:solidFill>
                  <a:srgbClr val="FF00FF"/>
                </a:solidFill>
                <a:latin typeface="Consolas" pitchFamily="49" charset="0"/>
                <a:cs typeface="Consolas" pitchFamily="49" charset="0"/>
              </a:endParaRPr>
            </a:p>
          </p:txBody>
        </p:sp>
        <p:sp>
          <p:nvSpPr>
            <p:cNvPr id="26" name="TextBox 25"/>
            <p:cNvSpPr txBox="1"/>
            <p:nvPr/>
          </p:nvSpPr>
          <p:spPr>
            <a:xfrm>
              <a:off x="6143636" y="3774049"/>
              <a:ext cx="50006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10</a:t>
              </a:r>
              <a:endParaRPr lang="zh-CN" altLang="en-US" sz="1400" b="0">
                <a:solidFill>
                  <a:srgbClr val="FF00FF"/>
                </a:solidFill>
                <a:latin typeface="Consolas" pitchFamily="49" charset="0"/>
                <a:cs typeface="Consolas" pitchFamily="49" charset="0"/>
              </a:endParaRPr>
            </a:p>
          </p:txBody>
        </p:sp>
        <p:sp>
          <p:nvSpPr>
            <p:cNvPr id="27" name="TextBox 26"/>
            <p:cNvSpPr txBox="1"/>
            <p:nvPr/>
          </p:nvSpPr>
          <p:spPr>
            <a:xfrm>
              <a:off x="5901969" y="3302393"/>
              <a:ext cx="500066" cy="352247"/>
            </a:xfrm>
            <a:prstGeom prst="rect">
              <a:avLst/>
            </a:prstGeom>
            <a:noFill/>
          </p:spPr>
          <p:txBody>
            <a:bodyPr wrap="square" rtlCol="0">
              <a:spAutoFit/>
            </a:bodyPr>
            <a:lstStyle/>
            <a:p>
              <a:pPr algn="l"/>
              <a:r>
                <a:rPr lang="en-US" altLang="zh-CN" sz="1400" b="0">
                  <a:solidFill>
                    <a:srgbClr val="FF00FF"/>
                  </a:solidFill>
                  <a:latin typeface="Consolas" pitchFamily="49" charset="0"/>
                  <a:cs typeface="Consolas" pitchFamily="49" charset="0"/>
                </a:rPr>
                <a:t>20</a:t>
              </a:r>
              <a:endParaRPr lang="zh-CN" altLang="en-US" sz="1400" b="0">
                <a:solidFill>
                  <a:srgbClr val="FF00FF"/>
                </a:solidFill>
                <a:latin typeface="Consolas" pitchFamily="49" charset="0"/>
                <a:cs typeface="Consolas" pitchFamily="49" charset="0"/>
              </a:endParaRPr>
            </a:p>
          </p:txBody>
        </p:sp>
      </p:grpSp>
      <p:sp>
        <p:nvSpPr>
          <p:cNvPr id="69684" name="Rectangle 5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9682" name="Rectangle 50"/>
          <p:cNvSpPr>
            <a:spLocks noChangeArrowheads="1"/>
          </p:cNvSpPr>
          <p:nvPr/>
        </p:nvSpPr>
        <p:spPr bwMode="auto">
          <a:xfrm>
            <a:off x="1958069" y="1852150"/>
            <a:ext cx="1328047" cy="79103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lvl="0" algn="l">
              <a:lnSpc>
                <a:spcPct val="100000"/>
              </a:lnSpc>
              <a:spcBef>
                <a:spcPct val="0"/>
              </a:spcBef>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0+10&lt;</a:t>
            </a:r>
            <a:r>
              <a:rPr kumimoji="0" lang="en-US" altLang="zh-CN" sz="1600">
                <a:solidFill>
                  <a:srgbClr val="0000FF"/>
                </a:solidFill>
                <a:latin typeface="Consolas" pitchFamily="49" charset="0"/>
                <a:ea typeface="宋体" pitchFamily="2" charset="-122"/>
                <a:cs typeface="Consolas" pitchFamily="49" charset="0"/>
              </a:rPr>
              <a:t>∞: </a:t>
            </a:r>
            <a:endPar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endParaRP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pre[2]=0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dist[2]=10</a:t>
            </a:r>
          </a:p>
        </p:txBody>
      </p:sp>
      <p:sp>
        <p:nvSpPr>
          <p:cNvPr id="69681" name="Rectangle 49"/>
          <p:cNvSpPr>
            <a:spLocks noChangeArrowheads="1"/>
          </p:cNvSpPr>
          <p:nvPr/>
        </p:nvSpPr>
        <p:spPr bwMode="auto">
          <a:xfrm>
            <a:off x="3428992" y="3184302"/>
            <a:ext cx="1213947" cy="97161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30+20&lt;60: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pre[3]=4</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dist[3]=50</a:t>
            </a:r>
          </a:p>
        </p:txBody>
      </p:sp>
      <p:sp>
        <p:nvSpPr>
          <p:cNvPr id="69680" name="Rectangle 48"/>
          <p:cNvSpPr>
            <a:spLocks noChangeArrowheads="1"/>
          </p:cNvSpPr>
          <p:nvPr/>
        </p:nvSpPr>
        <p:spPr bwMode="auto">
          <a:xfrm>
            <a:off x="2866169" y="3262611"/>
            <a:ext cx="223806"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⑤</a:t>
            </a:r>
          </a:p>
        </p:txBody>
      </p:sp>
      <p:sp>
        <p:nvSpPr>
          <p:cNvPr id="69679" name="Rectangle 47"/>
          <p:cNvSpPr>
            <a:spLocks noChangeArrowheads="1"/>
          </p:cNvSpPr>
          <p:nvPr/>
        </p:nvSpPr>
        <p:spPr bwMode="auto">
          <a:xfrm>
            <a:off x="4997298" y="3165449"/>
            <a:ext cx="267324"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⑥</a:t>
            </a:r>
          </a:p>
        </p:txBody>
      </p:sp>
      <p:sp>
        <p:nvSpPr>
          <p:cNvPr id="69678" name="Rectangle 46"/>
          <p:cNvSpPr>
            <a:spLocks noChangeArrowheads="1"/>
          </p:cNvSpPr>
          <p:nvPr/>
        </p:nvSpPr>
        <p:spPr bwMode="auto">
          <a:xfrm>
            <a:off x="5391444" y="3165449"/>
            <a:ext cx="254890"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⑦</a:t>
            </a:r>
          </a:p>
        </p:txBody>
      </p:sp>
      <p:sp>
        <p:nvSpPr>
          <p:cNvPr id="69677" name="Rectangle 45"/>
          <p:cNvSpPr>
            <a:spLocks noChangeArrowheads="1"/>
          </p:cNvSpPr>
          <p:nvPr/>
        </p:nvSpPr>
        <p:spPr bwMode="auto">
          <a:xfrm>
            <a:off x="1633994" y="4519906"/>
            <a:ext cx="324518"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⑧</a:t>
            </a:r>
          </a:p>
        </p:txBody>
      </p:sp>
      <p:sp>
        <p:nvSpPr>
          <p:cNvPr id="69675" name="Rectangle 43"/>
          <p:cNvSpPr>
            <a:spLocks noChangeArrowheads="1"/>
          </p:cNvSpPr>
          <p:nvPr/>
        </p:nvSpPr>
        <p:spPr bwMode="auto">
          <a:xfrm>
            <a:off x="3343622" y="1589118"/>
            <a:ext cx="212615"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②</a:t>
            </a:r>
          </a:p>
        </p:txBody>
      </p:sp>
      <p:sp>
        <p:nvSpPr>
          <p:cNvPr id="69674" name="Rectangle 42"/>
          <p:cNvSpPr>
            <a:spLocks noChangeArrowheads="1"/>
          </p:cNvSpPr>
          <p:nvPr/>
        </p:nvSpPr>
        <p:spPr bwMode="auto">
          <a:xfrm>
            <a:off x="6944408" y="1605069"/>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④</a:t>
            </a:r>
          </a:p>
        </p:txBody>
      </p:sp>
      <p:sp>
        <p:nvSpPr>
          <p:cNvPr id="69673" name="Rectangle 41"/>
          <p:cNvSpPr>
            <a:spLocks noChangeArrowheads="1"/>
          </p:cNvSpPr>
          <p:nvPr/>
        </p:nvSpPr>
        <p:spPr bwMode="auto">
          <a:xfrm>
            <a:off x="5579193" y="1800842"/>
            <a:ext cx="222562"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③</a:t>
            </a:r>
          </a:p>
        </p:txBody>
      </p:sp>
      <p:sp>
        <p:nvSpPr>
          <p:cNvPr id="69672" name="Rectangle 40"/>
          <p:cNvSpPr>
            <a:spLocks noChangeArrowheads="1"/>
          </p:cNvSpPr>
          <p:nvPr/>
        </p:nvSpPr>
        <p:spPr bwMode="auto">
          <a:xfrm>
            <a:off x="4560876" y="4096457"/>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10</a:t>
            </a:r>
          </a:p>
        </p:txBody>
      </p:sp>
      <p:sp>
        <p:nvSpPr>
          <p:cNvPr id="69671" name="Rectangle 39"/>
          <p:cNvSpPr>
            <a:spLocks noChangeArrowheads="1"/>
          </p:cNvSpPr>
          <p:nvPr/>
        </p:nvSpPr>
        <p:spPr bwMode="auto">
          <a:xfrm>
            <a:off x="6215074" y="1123614"/>
            <a:ext cx="514753"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100</a:t>
            </a:r>
          </a:p>
        </p:txBody>
      </p:sp>
      <p:sp>
        <p:nvSpPr>
          <p:cNvPr id="69670" name="Rectangle 38"/>
          <p:cNvSpPr>
            <a:spLocks noChangeArrowheads="1"/>
          </p:cNvSpPr>
          <p:nvPr/>
        </p:nvSpPr>
        <p:spPr bwMode="auto">
          <a:xfrm>
            <a:off x="3929058" y="1759167"/>
            <a:ext cx="1214446" cy="7411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0+30&lt;∞: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pre[4]=0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dist[4]=30</a:t>
            </a:r>
          </a:p>
        </p:txBody>
      </p:sp>
      <p:sp>
        <p:nvSpPr>
          <p:cNvPr id="69669" name="Rectangle 37"/>
          <p:cNvSpPr>
            <a:spLocks noChangeArrowheads="1"/>
          </p:cNvSpPr>
          <p:nvPr/>
        </p:nvSpPr>
        <p:spPr bwMode="auto">
          <a:xfrm>
            <a:off x="2031871" y="4052952"/>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10</a:t>
            </a:r>
          </a:p>
        </p:txBody>
      </p:sp>
      <p:sp>
        <p:nvSpPr>
          <p:cNvPr id="69668" name="Rectangle 36"/>
          <p:cNvSpPr>
            <a:spLocks noChangeArrowheads="1"/>
          </p:cNvSpPr>
          <p:nvPr/>
        </p:nvSpPr>
        <p:spPr bwMode="auto">
          <a:xfrm>
            <a:off x="5727153" y="2617286"/>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60</a:t>
            </a:r>
          </a:p>
        </p:txBody>
      </p:sp>
      <p:sp>
        <p:nvSpPr>
          <p:cNvPr id="69667" name="Rectangle 35"/>
          <p:cNvSpPr>
            <a:spLocks noChangeArrowheads="1"/>
          </p:cNvSpPr>
          <p:nvPr/>
        </p:nvSpPr>
        <p:spPr bwMode="auto">
          <a:xfrm>
            <a:off x="4655372" y="2646290"/>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20</a:t>
            </a:r>
          </a:p>
        </p:txBody>
      </p:sp>
      <p:sp>
        <p:nvSpPr>
          <p:cNvPr id="69666" name="Rectangle 34"/>
          <p:cNvSpPr>
            <a:spLocks noChangeArrowheads="1"/>
          </p:cNvSpPr>
          <p:nvPr/>
        </p:nvSpPr>
        <p:spPr bwMode="auto">
          <a:xfrm>
            <a:off x="2679665" y="2627437"/>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50</a:t>
            </a:r>
          </a:p>
        </p:txBody>
      </p:sp>
      <p:sp>
        <p:nvSpPr>
          <p:cNvPr id="69665" name="Rectangle 33"/>
          <p:cNvSpPr>
            <a:spLocks noChangeArrowheads="1"/>
          </p:cNvSpPr>
          <p:nvPr/>
        </p:nvSpPr>
        <p:spPr bwMode="auto">
          <a:xfrm>
            <a:off x="4025141" y="1123614"/>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10</a:t>
            </a:r>
          </a:p>
        </p:txBody>
      </p:sp>
      <p:sp>
        <p:nvSpPr>
          <p:cNvPr id="69663" name="Oval 31"/>
          <p:cNvSpPr>
            <a:spLocks noChangeArrowheads="1"/>
          </p:cNvSpPr>
          <p:nvPr/>
        </p:nvSpPr>
        <p:spPr bwMode="auto">
          <a:xfrm>
            <a:off x="3145927" y="1953110"/>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2</a:t>
            </a:r>
          </a:p>
        </p:txBody>
      </p:sp>
      <p:grpSp>
        <p:nvGrpSpPr>
          <p:cNvPr id="76" name="组合 75"/>
          <p:cNvGrpSpPr/>
          <p:nvPr/>
        </p:nvGrpSpPr>
        <p:grpSpPr>
          <a:xfrm>
            <a:off x="4821983" y="500042"/>
            <a:ext cx="2964726" cy="521262"/>
            <a:chOff x="4821983" y="500042"/>
            <a:chExt cx="2964726" cy="521262"/>
          </a:xfrm>
        </p:grpSpPr>
        <p:sp>
          <p:nvSpPr>
            <p:cNvPr id="69676" name="Rectangle 44"/>
            <p:cNvSpPr>
              <a:spLocks noChangeArrowheads="1"/>
            </p:cNvSpPr>
            <p:nvPr/>
          </p:nvSpPr>
          <p:spPr bwMode="auto">
            <a:xfrm>
              <a:off x="4821983" y="527595"/>
              <a:ext cx="252403"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①</a:t>
              </a:r>
            </a:p>
          </p:txBody>
        </p:sp>
        <p:sp>
          <p:nvSpPr>
            <p:cNvPr id="69664" name="Oval 32"/>
            <p:cNvSpPr>
              <a:spLocks noChangeArrowheads="1"/>
            </p:cNvSpPr>
            <p:nvPr/>
          </p:nvSpPr>
          <p:spPr bwMode="auto">
            <a:xfrm>
              <a:off x="5102984" y="600104"/>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0</a:t>
              </a:r>
            </a:p>
          </p:txBody>
        </p:sp>
        <p:sp>
          <p:nvSpPr>
            <p:cNvPr id="69662" name="Rectangle 30"/>
            <p:cNvSpPr>
              <a:spLocks noChangeArrowheads="1"/>
            </p:cNvSpPr>
            <p:nvPr/>
          </p:nvSpPr>
          <p:spPr bwMode="auto">
            <a:xfrm>
              <a:off x="5582922" y="500042"/>
              <a:ext cx="2203787" cy="35094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dist[0]=0,</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其他为∞</a:t>
              </a:r>
            </a:p>
          </p:txBody>
        </p:sp>
      </p:grpSp>
      <p:sp>
        <p:nvSpPr>
          <p:cNvPr id="69661" name="AutoShape 29"/>
          <p:cNvSpPr>
            <a:spLocks noChangeShapeType="1"/>
          </p:cNvSpPr>
          <p:nvPr/>
        </p:nvSpPr>
        <p:spPr bwMode="auto">
          <a:xfrm flipH="1">
            <a:off x="3506503" y="846632"/>
            <a:ext cx="1596481" cy="117898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60" name="Oval 28"/>
          <p:cNvSpPr>
            <a:spLocks noChangeArrowheads="1"/>
          </p:cNvSpPr>
          <p:nvPr/>
        </p:nvSpPr>
        <p:spPr bwMode="auto">
          <a:xfrm>
            <a:off x="5098010" y="1953110"/>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4</a:t>
            </a:r>
          </a:p>
        </p:txBody>
      </p:sp>
      <p:sp>
        <p:nvSpPr>
          <p:cNvPr id="69659" name="Oval 27"/>
          <p:cNvSpPr>
            <a:spLocks noChangeArrowheads="1"/>
          </p:cNvSpPr>
          <p:nvPr/>
        </p:nvSpPr>
        <p:spPr bwMode="auto">
          <a:xfrm>
            <a:off x="6749199" y="1953110"/>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5</a:t>
            </a:r>
          </a:p>
        </p:txBody>
      </p:sp>
      <p:sp>
        <p:nvSpPr>
          <p:cNvPr id="69658" name="Rectangle 26"/>
          <p:cNvSpPr>
            <a:spLocks noChangeArrowheads="1"/>
          </p:cNvSpPr>
          <p:nvPr/>
        </p:nvSpPr>
        <p:spPr bwMode="auto">
          <a:xfrm>
            <a:off x="7206869" y="1830605"/>
            <a:ext cx="1365659" cy="7411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0+100&lt;∞: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pre[5]=0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dist[5]=100</a:t>
            </a:r>
          </a:p>
        </p:txBody>
      </p:sp>
      <p:sp>
        <p:nvSpPr>
          <p:cNvPr id="69657" name="AutoShape 25"/>
          <p:cNvSpPr>
            <a:spLocks noChangeShapeType="1"/>
          </p:cNvSpPr>
          <p:nvPr/>
        </p:nvSpPr>
        <p:spPr bwMode="auto">
          <a:xfrm flipH="1">
            <a:off x="5309381" y="1000108"/>
            <a:ext cx="48436" cy="95300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56" name="AutoShape 24"/>
          <p:cNvSpPr>
            <a:spLocks noChangeShapeType="1"/>
          </p:cNvSpPr>
          <p:nvPr/>
        </p:nvSpPr>
        <p:spPr bwMode="auto">
          <a:xfrm>
            <a:off x="5525728" y="846632"/>
            <a:ext cx="1285640" cy="117898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55" name="Rectangle 23"/>
          <p:cNvSpPr>
            <a:spLocks noChangeArrowheads="1"/>
          </p:cNvSpPr>
          <p:nvPr/>
        </p:nvSpPr>
        <p:spPr bwMode="auto">
          <a:xfrm>
            <a:off x="5017191" y="1283132"/>
            <a:ext cx="261107" cy="36109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00FF"/>
                </a:solidFill>
                <a:effectLst/>
                <a:latin typeface="Consolas" pitchFamily="49" charset="0"/>
                <a:ea typeface="宋体" pitchFamily="2" charset="-122"/>
                <a:cs typeface="Consolas" pitchFamily="49" charset="0"/>
              </a:rPr>
              <a:t>30</a:t>
            </a:r>
          </a:p>
        </p:txBody>
      </p:sp>
      <p:sp>
        <p:nvSpPr>
          <p:cNvPr id="69654" name="Oval 22"/>
          <p:cNvSpPr>
            <a:spLocks noChangeArrowheads="1"/>
          </p:cNvSpPr>
          <p:nvPr/>
        </p:nvSpPr>
        <p:spPr bwMode="auto">
          <a:xfrm>
            <a:off x="2427261" y="3330768"/>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3</a:t>
            </a:r>
          </a:p>
        </p:txBody>
      </p:sp>
      <p:sp>
        <p:nvSpPr>
          <p:cNvPr id="69653" name="AutoShape 21"/>
          <p:cNvSpPr>
            <a:spLocks noChangeShapeType="1"/>
          </p:cNvSpPr>
          <p:nvPr/>
        </p:nvSpPr>
        <p:spPr bwMode="auto">
          <a:xfrm flipH="1">
            <a:off x="2661211" y="2351080"/>
            <a:ext cx="569461" cy="95711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52" name="Rectangle 20"/>
          <p:cNvSpPr>
            <a:spLocks noChangeArrowheads="1"/>
          </p:cNvSpPr>
          <p:nvPr/>
        </p:nvSpPr>
        <p:spPr bwMode="auto">
          <a:xfrm>
            <a:off x="1071538" y="2978378"/>
            <a:ext cx="1305989" cy="9919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10+50&lt;∞:</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pre[3]=2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dist[3]=60</a:t>
            </a:r>
          </a:p>
        </p:txBody>
      </p:sp>
      <p:sp>
        <p:nvSpPr>
          <p:cNvPr id="69651" name="Oval 19"/>
          <p:cNvSpPr>
            <a:spLocks noChangeArrowheads="1"/>
          </p:cNvSpPr>
          <p:nvPr/>
        </p:nvSpPr>
        <p:spPr bwMode="auto">
          <a:xfrm>
            <a:off x="4600664" y="3330768"/>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3</a:t>
            </a:r>
          </a:p>
        </p:txBody>
      </p:sp>
      <p:sp>
        <p:nvSpPr>
          <p:cNvPr id="69650" name="Oval 18"/>
          <p:cNvSpPr>
            <a:spLocks noChangeArrowheads="1"/>
          </p:cNvSpPr>
          <p:nvPr/>
        </p:nvSpPr>
        <p:spPr bwMode="auto">
          <a:xfrm>
            <a:off x="5590383" y="3345270"/>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5</a:t>
            </a:r>
          </a:p>
        </p:txBody>
      </p:sp>
      <p:sp>
        <p:nvSpPr>
          <p:cNvPr id="69649" name="Rectangle 17"/>
          <p:cNvSpPr>
            <a:spLocks noChangeArrowheads="1"/>
          </p:cNvSpPr>
          <p:nvPr/>
        </p:nvSpPr>
        <p:spPr bwMode="auto">
          <a:xfrm>
            <a:off x="6075295" y="3098742"/>
            <a:ext cx="1255799" cy="9107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30+60&lt;100: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pre[5]=4</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dist[5]=90</a:t>
            </a:r>
          </a:p>
        </p:txBody>
      </p:sp>
      <p:sp>
        <p:nvSpPr>
          <p:cNvPr id="69648" name="Oval 16"/>
          <p:cNvSpPr>
            <a:spLocks noChangeArrowheads="1"/>
          </p:cNvSpPr>
          <p:nvPr/>
        </p:nvSpPr>
        <p:spPr bwMode="auto">
          <a:xfrm>
            <a:off x="4120725" y="4608366"/>
            <a:ext cx="422744" cy="421200"/>
          </a:xfrm>
          <a:prstGeom prst="ellipse">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5</a:t>
            </a:r>
          </a:p>
        </p:txBody>
      </p:sp>
      <p:sp>
        <p:nvSpPr>
          <p:cNvPr id="69647" name="Rectangle 15"/>
          <p:cNvSpPr>
            <a:spLocks noChangeArrowheads="1"/>
          </p:cNvSpPr>
          <p:nvPr/>
        </p:nvSpPr>
        <p:spPr bwMode="auto">
          <a:xfrm>
            <a:off x="4610611" y="4595314"/>
            <a:ext cx="1191144" cy="5771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仿宋" pitchFamily="49" charset="-122"/>
                <a:ea typeface="仿宋" pitchFamily="49" charset="-122"/>
                <a:cs typeface="Consolas" pitchFamily="49" charset="0"/>
              </a:rPr>
              <a:t>没有修改，不进队</a:t>
            </a:r>
          </a:p>
        </p:txBody>
      </p:sp>
      <p:sp>
        <p:nvSpPr>
          <p:cNvPr id="69646" name="AutoShape 14"/>
          <p:cNvSpPr>
            <a:spLocks noChangeShapeType="1"/>
          </p:cNvSpPr>
          <p:nvPr/>
        </p:nvSpPr>
        <p:spPr bwMode="auto">
          <a:xfrm flipH="1">
            <a:off x="4823325" y="2362369"/>
            <a:ext cx="348142" cy="95711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45" name="AutoShape 13"/>
          <p:cNvSpPr>
            <a:spLocks noChangeShapeType="1"/>
          </p:cNvSpPr>
          <p:nvPr/>
        </p:nvSpPr>
        <p:spPr bwMode="auto">
          <a:xfrm>
            <a:off x="5469875" y="2362369"/>
            <a:ext cx="343169" cy="97161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44" name="Oval 12"/>
          <p:cNvSpPr>
            <a:spLocks noChangeArrowheads="1"/>
          </p:cNvSpPr>
          <p:nvPr/>
        </p:nvSpPr>
        <p:spPr bwMode="auto">
          <a:xfrm>
            <a:off x="1891371" y="4608366"/>
            <a:ext cx="422744" cy="421200"/>
          </a:xfrm>
          <a:prstGeom prst="ellipse">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prstTxWarp prst="textNoShape">
              <a:avLst/>
            </a:prstTxWarp>
          </a:bodyPr>
          <a:lstStyle/>
          <a:p>
            <a:pPr marL="0" marR="0" lvl="0"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Consolas" pitchFamily="49" charset="0"/>
              </a:rPr>
              <a:t>5</a:t>
            </a:r>
          </a:p>
        </p:txBody>
      </p:sp>
      <p:sp>
        <p:nvSpPr>
          <p:cNvPr id="69643" name="Rectangle 11"/>
          <p:cNvSpPr>
            <a:spLocks noChangeArrowheads="1"/>
          </p:cNvSpPr>
          <p:nvPr/>
        </p:nvSpPr>
        <p:spPr bwMode="auto">
          <a:xfrm>
            <a:off x="2357422" y="4429132"/>
            <a:ext cx="1285884" cy="9571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50+10&lt;90: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pre[5]=3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宋体" pitchFamily="2" charset="-122"/>
                <a:cs typeface="Consolas" pitchFamily="49" charset="0"/>
              </a:rPr>
              <a:t>dist[5]=60</a:t>
            </a:r>
          </a:p>
        </p:txBody>
      </p:sp>
      <p:sp>
        <p:nvSpPr>
          <p:cNvPr id="69642" name="AutoShape 10"/>
          <p:cNvSpPr>
            <a:spLocks noChangeShapeType="1"/>
          </p:cNvSpPr>
          <p:nvPr/>
        </p:nvSpPr>
        <p:spPr bwMode="auto">
          <a:xfrm flipH="1">
            <a:off x="2125321" y="3740028"/>
            <a:ext cx="386687" cy="857049"/>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41" name="AutoShape 9"/>
          <p:cNvSpPr>
            <a:spLocks noChangeShapeType="1"/>
          </p:cNvSpPr>
          <p:nvPr/>
        </p:nvSpPr>
        <p:spPr bwMode="auto">
          <a:xfrm flipH="1">
            <a:off x="4332096" y="3714753"/>
            <a:ext cx="382779" cy="893614"/>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40" name="Rectangle 8"/>
          <p:cNvSpPr>
            <a:spLocks noChangeArrowheads="1"/>
          </p:cNvSpPr>
          <p:nvPr/>
        </p:nvSpPr>
        <p:spPr bwMode="auto">
          <a:xfrm>
            <a:off x="1006306" y="5704796"/>
            <a:ext cx="1209794" cy="4205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仿宋" pitchFamily="49" charset="-122"/>
                <a:ea typeface="仿宋" pitchFamily="49" charset="-122"/>
                <a:cs typeface="Consolas" pitchFamily="49" charset="0"/>
              </a:rPr>
              <a:t>最终结果：</a:t>
            </a:r>
          </a:p>
        </p:txBody>
      </p:sp>
      <p:sp>
        <p:nvSpPr>
          <p:cNvPr id="69639" name="Rectangle 7"/>
          <p:cNvSpPr>
            <a:spLocks noChangeArrowheads="1"/>
          </p:cNvSpPr>
          <p:nvPr/>
        </p:nvSpPr>
        <p:spPr bwMode="auto">
          <a:xfrm>
            <a:off x="2214546" y="5549904"/>
            <a:ext cx="6356428" cy="10223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dist[1]=∞</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 </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pre[1]=*     dist[4]=30</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pre[4]=0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dist[2]=10</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pre[2]=0     dist[5]=60</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pre[5]=3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dist[3]=50</a:t>
            </a:r>
            <a:r>
              <a:rPr kumimoji="0" lang="zh-CN" altLang="en-US" sz="1800" i="0" u="none" strike="noStrike" cap="none" normalizeH="0" baseline="0">
                <a:ln>
                  <a:noFill/>
                </a:ln>
                <a:solidFill>
                  <a:srgbClr val="0000FF"/>
                </a:solidFill>
                <a:effectLst/>
                <a:latin typeface="Consolas" pitchFamily="49" charset="0"/>
                <a:ea typeface="宋体" pitchFamily="2"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宋体" pitchFamily="2" charset="-122"/>
                <a:cs typeface="Consolas" pitchFamily="49" charset="0"/>
              </a:rPr>
              <a:t>pre[3]=4</a:t>
            </a:r>
          </a:p>
        </p:txBody>
      </p:sp>
      <p:sp>
        <p:nvSpPr>
          <p:cNvPr id="69638" name="AutoShape 6"/>
          <p:cNvSpPr>
            <a:spLocks noChangeArrowheads="1"/>
          </p:cNvSpPr>
          <p:nvPr/>
        </p:nvSpPr>
        <p:spPr bwMode="auto">
          <a:xfrm>
            <a:off x="714348" y="5072074"/>
            <a:ext cx="273540" cy="1015117"/>
          </a:xfrm>
          <a:prstGeom prst="curvedRightArrow">
            <a:avLst>
              <a:gd name="adj1" fmla="val 63636"/>
              <a:gd name="adj2" fmla="val 127273"/>
              <a:gd name="adj3" fmla="val 33333"/>
            </a:avLst>
          </a:prstGeom>
          <a:ln>
            <a:headEnd/>
            <a:tailEnd type="none" w="sm"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cs typeface="Consolas" pitchFamily="49" charset="0"/>
            </a:endParaRPr>
          </a:p>
        </p:txBody>
      </p:sp>
      <p:sp>
        <p:nvSpPr>
          <p:cNvPr id="69637" name="Rectangle 5"/>
          <p:cNvSpPr>
            <a:spLocks noChangeArrowheads="1"/>
          </p:cNvSpPr>
          <p:nvPr/>
        </p:nvSpPr>
        <p:spPr bwMode="auto">
          <a:xfrm>
            <a:off x="8490810" y="574001"/>
            <a:ext cx="394147" cy="3784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6600"/>
                </a:solidFill>
                <a:effectLst/>
                <a:latin typeface="Consolas" pitchFamily="49" charset="0"/>
                <a:ea typeface="宋体" pitchFamily="2" charset="-122"/>
                <a:cs typeface="Consolas" pitchFamily="49" charset="0"/>
              </a:rPr>
              <a:t>i</a:t>
            </a:r>
            <a:r>
              <a:rPr kumimoji="0" lang="en-US" altLang="zh-CN" sz="1600" i="0" u="none" strike="noStrike" cap="none" normalizeH="0" baseline="0">
                <a:ln>
                  <a:noFill/>
                </a:ln>
                <a:solidFill>
                  <a:srgbClr val="006600"/>
                </a:solidFill>
                <a:effectLst/>
                <a:latin typeface="Consolas" pitchFamily="49" charset="0"/>
                <a:ea typeface="宋体" pitchFamily="2" charset="-122"/>
                <a:cs typeface="Consolas" pitchFamily="49" charset="0"/>
              </a:rPr>
              <a:t>=0</a:t>
            </a:r>
          </a:p>
        </p:txBody>
      </p:sp>
      <p:sp>
        <p:nvSpPr>
          <p:cNvPr id="69636" name="Rectangle 4"/>
          <p:cNvSpPr>
            <a:spLocks noChangeArrowheads="1"/>
          </p:cNvSpPr>
          <p:nvPr/>
        </p:nvSpPr>
        <p:spPr bwMode="auto">
          <a:xfrm>
            <a:off x="8535571" y="2018367"/>
            <a:ext cx="394147" cy="3784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6600"/>
                </a:solidFill>
                <a:effectLst/>
                <a:latin typeface="Consolas" pitchFamily="49" charset="0"/>
                <a:ea typeface="宋体" pitchFamily="2" charset="-122"/>
                <a:cs typeface="Consolas" pitchFamily="49" charset="0"/>
              </a:rPr>
              <a:t>i</a:t>
            </a:r>
            <a:r>
              <a:rPr kumimoji="0" lang="en-US" altLang="zh-CN" sz="1600" i="0" u="none" strike="noStrike" cap="none" normalizeH="0" baseline="0">
                <a:ln>
                  <a:noFill/>
                </a:ln>
                <a:solidFill>
                  <a:srgbClr val="006600"/>
                </a:solidFill>
                <a:effectLst/>
                <a:latin typeface="Consolas" pitchFamily="49" charset="0"/>
                <a:ea typeface="宋体" pitchFamily="2" charset="-122"/>
                <a:cs typeface="Consolas" pitchFamily="49" charset="0"/>
              </a:rPr>
              <a:t>=1</a:t>
            </a:r>
          </a:p>
        </p:txBody>
      </p:sp>
      <p:sp>
        <p:nvSpPr>
          <p:cNvPr id="69635" name="Rectangle 3"/>
          <p:cNvSpPr>
            <a:spLocks noChangeArrowheads="1"/>
          </p:cNvSpPr>
          <p:nvPr/>
        </p:nvSpPr>
        <p:spPr bwMode="auto">
          <a:xfrm>
            <a:off x="8535571" y="3362672"/>
            <a:ext cx="394147" cy="3784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6600"/>
                </a:solidFill>
                <a:effectLst/>
                <a:latin typeface="Consolas" pitchFamily="49" charset="0"/>
                <a:ea typeface="宋体" pitchFamily="2" charset="-122"/>
                <a:cs typeface="Consolas" pitchFamily="49" charset="0"/>
              </a:rPr>
              <a:t>i</a:t>
            </a:r>
            <a:r>
              <a:rPr kumimoji="0" lang="en-US" altLang="zh-CN" sz="1600" i="0" u="none" strike="noStrike" cap="none" normalizeH="0" baseline="0">
                <a:ln>
                  <a:noFill/>
                </a:ln>
                <a:solidFill>
                  <a:srgbClr val="006600"/>
                </a:solidFill>
                <a:effectLst/>
                <a:latin typeface="Consolas" pitchFamily="49" charset="0"/>
                <a:ea typeface="宋体" pitchFamily="2" charset="-122"/>
                <a:cs typeface="Consolas" pitchFamily="49" charset="0"/>
              </a:rPr>
              <a:t>=2</a:t>
            </a:r>
          </a:p>
        </p:txBody>
      </p:sp>
      <p:sp>
        <p:nvSpPr>
          <p:cNvPr id="69634" name="Rectangle 2"/>
          <p:cNvSpPr>
            <a:spLocks noChangeArrowheads="1"/>
          </p:cNvSpPr>
          <p:nvPr/>
        </p:nvSpPr>
        <p:spPr bwMode="auto">
          <a:xfrm>
            <a:off x="8535571" y="4546009"/>
            <a:ext cx="394147" cy="3784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6600"/>
                </a:solidFill>
                <a:effectLst/>
                <a:latin typeface="Consolas" pitchFamily="49" charset="0"/>
                <a:ea typeface="宋体" pitchFamily="2" charset="-122"/>
                <a:cs typeface="Consolas" pitchFamily="49" charset="0"/>
              </a:rPr>
              <a:t>i</a:t>
            </a:r>
            <a:r>
              <a:rPr kumimoji="0" lang="en-US" altLang="zh-CN" sz="1600" i="0" u="none" strike="noStrike" cap="none" normalizeH="0" baseline="0">
                <a:ln>
                  <a:noFill/>
                </a:ln>
                <a:solidFill>
                  <a:srgbClr val="006600"/>
                </a:solidFill>
                <a:effectLst/>
                <a:latin typeface="Consolas" pitchFamily="49" charset="0"/>
                <a:ea typeface="宋体" pitchFamily="2" charset="-122"/>
                <a:cs typeface="Consolas" pitchFamily="49" charset="0"/>
              </a:rPr>
              <a:t>=3</a:t>
            </a:r>
          </a:p>
        </p:txBody>
      </p:sp>
      <p:sp>
        <p:nvSpPr>
          <p:cNvPr id="77" name="灯片编号占位符 76"/>
          <p:cNvSpPr>
            <a:spLocks noGrp="1"/>
          </p:cNvSpPr>
          <p:nvPr>
            <p:ph type="sldNum" sz="quarter" idx="12"/>
          </p:nvPr>
        </p:nvSpPr>
        <p:spPr/>
        <p:txBody>
          <a:bodyPr/>
          <a:lstStyle/>
          <a:p>
            <a:fld id="{7AF016A1-9F15-429F-9EFD-84004B73C732}" type="slidenum">
              <a:rPr lang="en-US" altLang="zh-CN" smtClean="0"/>
              <a:pPr/>
              <a:t>43</a:t>
            </a:fld>
            <a:r>
              <a:rPr lang="en-US" altLang="zh-CN"/>
              <a:t>/126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785794"/>
            <a:ext cx="8786874" cy="194077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int 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vector&lt;vector&lt;int&gt;&gt; 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图的邻接矩阵</a:t>
            </a:r>
          </a:p>
          <a:p>
            <a:pPr algn="l" defTabSz="360000">
              <a:lnSpc>
                <a:spcPts val="2800"/>
              </a:lnSpc>
              <a:spcBef>
                <a:spcPts val="0"/>
              </a:spcBef>
            </a:pPr>
            <a:r>
              <a:rPr lang="en-US" altLang="zh-CN" sz="2000">
                <a:solidFill>
                  <a:srgbClr val="0000FF"/>
                </a:solidFill>
                <a:latin typeface="Consolas" pitchFamily="49" charset="0"/>
                <a:ea typeface="仿宋" pitchFamily="49" charset="-122"/>
              </a:rPr>
              <a:t>vector&lt;int&gt; dist;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a:t>
            </a:r>
            <a:r>
              <a:rPr lang="en-US" altLang="zh-CN" sz="2000">
                <a:solidFill>
                  <a:srgbClr val="00B0F0"/>
                </a:solidFill>
                <a:latin typeface="Consolas" pitchFamily="49" charset="0"/>
                <a:ea typeface="仿宋" pitchFamily="49" charset="-122"/>
              </a:rPr>
              <a:t>dist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vector&lt;int&gt; pre;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a:t>
            </a:r>
            <a:r>
              <a:rPr lang="en-US" altLang="zh-CN" sz="2000">
                <a:solidFill>
                  <a:srgbClr val="00B0F0"/>
                </a:solidFill>
                <a:latin typeface="Consolas" pitchFamily="49" charset="0"/>
                <a:ea typeface="仿宋" pitchFamily="49" charset="-122"/>
              </a:rPr>
              <a:t>pre</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int sum=0;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累计搜索的结点个数</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44</a:t>
            </a:fld>
            <a:r>
              <a:rPr lang="en-US" altLang="zh-CN"/>
              <a:t>/126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406" y="221921"/>
            <a:ext cx="8929750" cy="63009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(int s)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队列式分支限界法</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dist=vector&lt;int&gt;(n,INF);     				</a:t>
            </a:r>
            <a:r>
              <a:rPr lang="en-US" altLang="zh-CN" sz="2000">
                <a:solidFill>
                  <a:srgbClr val="00B0F0"/>
                </a:solidFill>
                <a:latin typeface="Consolas" pitchFamily="49" charset="0"/>
                <a:ea typeface="仿宋" pitchFamily="49" charset="-122"/>
              </a:rPr>
              <a:t>//dist</a:t>
            </a:r>
            <a:r>
              <a:rPr lang="zh-CN" altLang="zh-CN" sz="2000">
                <a:solidFill>
                  <a:srgbClr val="00B0F0"/>
                </a:solidFill>
                <a:latin typeface="Consolas" pitchFamily="49" charset="0"/>
                <a:ea typeface="仿宋" pitchFamily="49" charset="-122"/>
              </a:rPr>
              <a:t>初始化为∞</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pre=vector&lt;int&gt;(n);</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dist[s]=0;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queue&lt;int&gt;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r>
              <a:rPr lang="en-US" altLang="zh-CN" sz="2000">
                <a:solidFill>
                  <a:srgbClr val="00B0F0"/>
                </a:solidFill>
                <a:latin typeface="Consolas" pitchFamily="49" charset="0"/>
                <a:ea typeface="仿宋" pitchFamily="49" charset="-122"/>
              </a:rPr>
              <a:t>qu</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qu.push(s);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源点结点进队</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队列不空循环</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u=qu.front();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sum++;</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for(int v=0;v&lt;n;v++)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if(A[u][v]!=0 &amp;&amp; A[u][v]!=INF)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相邻顶点为</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006600"/>
                </a:solidFill>
                <a:latin typeface="Consolas" pitchFamily="49" charset="0"/>
                <a:ea typeface="仿宋" pitchFamily="49" charset="-122"/>
              </a:rPr>
              <a:t>dist[u]+A[u][v]&lt;dist[v]</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边松弛</a:t>
            </a:r>
            <a:endParaRPr lang="en-US"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dist[v]=dist[u]+A[u][v];</a:t>
            </a:r>
            <a:endParaRPr lang="zh-CN" altLang="zh-CN" sz="2000">
              <a:solidFill>
                <a:srgbClr val="00660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pre[v]=u;</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qu.push(v);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进队</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45</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7" end="1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p:nvPr/>
        </p:nvGrpSpPr>
        <p:grpSpPr>
          <a:xfrm>
            <a:off x="3304381" y="357166"/>
            <a:ext cx="2696379" cy="2017570"/>
            <a:chOff x="1937927" y="3357562"/>
            <a:chExt cx="2696379" cy="2017570"/>
          </a:xfrm>
        </p:grpSpPr>
        <p:sp>
          <p:nvSpPr>
            <p:cNvPr id="7" name="Rectangle 23"/>
            <p:cNvSpPr>
              <a:spLocks noChangeArrowheads="1"/>
            </p:cNvSpPr>
            <p:nvPr/>
          </p:nvSpPr>
          <p:spPr bwMode="auto">
            <a:xfrm>
              <a:off x="3843200" y="3357562"/>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8" name="Rectangle 22"/>
            <p:cNvSpPr>
              <a:spLocks noChangeArrowheads="1"/>
            </p:cNvSpPr>
            <p:nvPr/>
          </p:nvSpPr>
          <p:spPr bwMode="auto">
            <a:xfrm>
              <a:off x="3958498" y="4787764"/>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9" name="Rectangle 21"/>
            <p:cNvSpPr>
              <a:spLocks noChangeArrowheads="1"/>
            </p:cNvSpPr>
            <p:nvPr/>
          </p:nvSpPr>
          <p:spPr bwMode="auto">
            <a:xfrm>
              <a:off x="3936809" y="3773179"/>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50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0" name="Rectangle 20"/>
            <p:cNvSpPr>
              <a:spLocks noChangeArrowheads="1"/>
            </p:cNvSpPr>
            <p:nvPr/>
          </p:nvSpPr>
          <p:spPr bwMode="auto">
            <a:xfrm>
              <a:off x="3707354"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20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1" name="Rectangle 19"/>
            <p:cNvSpPr>
              <a:spLocks noChangeArrowheads="1"/>
            </p:cNvSpPr>
            <p:nvPr/>
          </p:nvSpPr>
          <p:spPr bwMode="auto">
            <a:xfrm>
              <a:off x="2383137" y="3679551"/>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10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2" name="Rectangle 18"/>
            <p:cNvSpPr>
              <a:spLocks noChangeArrowheads="1"/>
            </p:cNvSpPr>
            <p:nvPr/>
          </p:nvSpPr>
          <p:spPr bwMode="auto">
            <a:xfrm>
              <a:off x="2622866" y="4067765"/>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30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3" name="Rectangle 17"/>
            <p:cNvSpPr>
              <a:spLocks noChangeArrowheads="1"/>
            </p:cNvSpPr>
            <p:nvPr/>
          </p:nvSpPr>
          <p:spPr bwMode="auto">
            <a:xfrm>
              <a:off x="2298661" y="4779110"/>
              <a:ext cx="433795"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100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4" name="Oval 16"/>
            <p:cNvSpPr>
              <a:spLocks noChangeArrowheads="1"/>
            </p:cNvSpPr>
            <p:nvPr/>
          </p:nvSpPr>
          <p:spPr bwMode="auto">
            <a:xfrm>
              <a:off x="1937927" y="4143124"/>
              <a:ext cx="365301" cy="411050"/>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5" name="Oval 15"/>
            <p:cNvSpPr>
              <a:spLocks noChangeArrowheads="1"/>
            </p:cNvSpPr>
            <p:nvPr/>
          </p:nvSpPr>
          <p:spPr bwMode="auto">
            <a:xfrm>
              <a:off x="3173101" y="3431779"/>
              <a:ext cx="364160"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6" name="Oval 14"/>
            <p:cNvSpPr>
              <a:spLocks noChangeArrowheads="1"/>
            </p:cNvSpPr>
            <p:nvPr/>
          </p:nvSpPr>
          <p:spPr bwMode="auto">
            <a:xfrm>
              <a:off x="3183375" y="4143124"/>
              <a:ext cx="365301"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4</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7" name="Oval 13"/>
            <p:cNvSpPr>
              <a:spLocks noChangeArrowheads="1"/>
            </p:cNvSpPr>
            <p:nvPr/>
          </p:nvSpPr>
          <p:spPr bwMode="auto">
            <a:xfrm>
              <a:off x="3183375" y="4965224"/>
              <a:ext cx="364160" cy="40990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8" name="Oval 12"/>
            <p:cNvSpPr>
              <a:spLocks noChangeArrowheads="1"/>
            </p:cNvSpPr>
            <p:nvPr/>
          </p:nvSpPr>
          <p:spPr bwMode="auto">
            <a:xfrm>
              <a:off x="4267863" y="4143124"/>
              <a:ext cx="366443" cy="411050"/>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19" name="Oval 11"/>
            <p:cNvSpPr>
              <a:spLocks noChangeArrowheads="1"/>
            </p:cNvSpPr>
            <p:nvPr/>
          </p:nvSpPr>
          <p:spPr bwMode="auto">
            <a:xfrm>
              <a:off x="4267863" y="3430638"/>
              <a:ext cx="365301" cy="41219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algn="ctr" defTabSz="914400" rtl="0" eaLnBrk="1" fontAlgn="base" latinLnBrk="0" hangingPunct="1">
                <a:lnSpc>
                  <a:spcPts val="24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endParaRPr kumimoji="0" lang="en-US" altLang="zh-CN" sz="18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20" name="AutoShape 10"/>
            <p:cNvSpPr>
              <a:spLocks noChangeShapeType="1"/>
            </p:cNvSpPr>
            <p:nvPr/>
          </p:nvSpPr>
          <p:spPr bwMode="auto">
            <a:xfrm flipV="1">
              <a:off x="2249574" y="3637304"/>
              <a:ext cx="923527" cy="56633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1" name="AutoShape 9"/>
            <p:cNvSpPr>
              <a:spLocks noChangeShapeType="1"/>
            </p:cNvSpPr>
            <p:nvPr/>
          </p:nvSpPr>
          <p:spPr bwMode="auto">
            <a:xfrm>
              <a:off x="2249574" y="4493659"/>
              <a:ext cx="933801" cy="677091"/>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2" name="AutoShape 8"/>
            <p:cNvSpPr>
              <a:spLocks noChangeShapeType="1"/>
            </p:cNvSpPr>
            <p:nvPr/>
          </p:nvSpPr>
          <p:spPr bwMode="auto">
            <a:xfrm>
              <a:off x="2303228" y="4348649"/>
              <a:ext cx="88014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3" name="AutoShape 7"/>
            <p:cNvSpPr>
              <a:spLocks noChangeShapeType="1"/>
            </p:cNvSpPr>
            <p:nvPr/>
          </p:nvSpPr>
          <p:spPr bwMode="auto">
            <a:xfrm>
              <a:off x="3366026" y="4553032"/>
              <a:ext cx="1142" cy="41219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4" name="AutoShape 6"/>
            <p:cNvSpPr>
              <a:spLocks noChangeShapeType="1"/>
            </p:cNvSpPr>
            <p:nvPr/>
          </p:nvSpPr>
          <p:spPr bwMode="auto">
            <a:xfrm flipV="1">
              <a:off x="3547535" y="4493659"/>
              <a:ext cx="773982" cy="677091"/>
            </a:xfrm>
            <a:prstGeom prst="straightConnector1">
              <a:avLst/>
            </a:prstGeom>
            <a:noFill/>
            <a:ln w="19050">
              <a:solidFill>
                <a:srgbClr val="000000"/>
              </a:solidFill>
              <a:round/>
              <a:headEnd type="arrow" w="med" len="med"/>
              <a:tailEnd type="none"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5" name="AutoShape 5"/>
            <p:cNvSpPr>
              <a:spLocks noChangeShapeType="1"/>
            </p:cNvSpPr>
            <p:nvPr/>
          </p:nvSpPr>
          <p:spPr bwMode="auto">
            <a:xfrm>
              <a:off x="3548676" y="4348649"/>
              <a:ext cx="719187"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6" name="AutoShape 4"/>
            <p:cNvSpPr>
              <a:spLocks noChangeShapeType="1"/>
            </p:cNvSpPr>
            <p:nvPr/>
          </p:nvSpPr>
          <p:spPr bwMode="auto">
            <a:xfrm>
              <a:off x="3483607" y="3782314"/>
              <a:ext cx="837909" cy="421326"/>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7" name="AutoShape 3"/>
            <p:cNvSpPr>
              <a:spLocks noChangeShapeType="1"/>
            </p:cNvSpPr>
            <p:nvPr/>
          </p:nvSpPr>
          <p:spPr bwMode="auto">
            <a:xfrm flipH="1">
              <a:off x="3537261" y="3637304"/>
              <a:ext cx="730602" cy="114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pPr>
                <a:lnSpc>
                  <a:spcPts val="2400"/>
                </a:lnSpc>
              </a:pPr>
              <a:endParaRPr lang="zh-CN" altLang="en-US" sz="1800">
                <a:solidFill>
                  <a:srgbClr val="0000FF"/>
                </a:solidFill>
                <a:latin typeface="Consolas" pitchFamily="49" charset="0"/>
              </a:endParaRPr>
            </a:p>
          </p:txBody>
        </p:sp>
        <p:sp>
          <p:nvSpPr>
            <p:cNvPr id="28" name="Rectangle 2"/>
            <p:cNvSpPr>
              <a:spLocks noChangeArrowheads="1"/>
            </p:cNvSpPr>
            <p:nvPr/>
          </p:nvSpPr>
          <p:spPr bwMode="auto">
            <a:xfrm>
              <a:off x="3439086" y="4650086"/>
              <a:ext cx="239729" cy="28431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ts val="2400"/>
                </a:lnSpc>
                <a:spcBef>
                  <a:spcPct val="0"/>
                </a:spcBef>
                <a:spcAft>
                  <a:spcPct val="0"/>
                </a:spcAft>
                <a:buClrTx/>
                <a:buSzTx/>
                <a:buFontTx/>
                <a:buNone/>
                <a:tabLst/>
              </a:pPr>
              <a:r>
                <a:rPr kumimoji="0" lang="en-US" altLang="zh-CN" sz="1600" b="0" i="0" u="none" strike="noStrike" cap="none" normalizeH="0" baseline="0">
                  <a:ln>
                    <a:noFill/>
                  </a:ln>
                  <a:solidFill>
                    <a:srgbClr val="0000FF"/>
                  </a:solidFill>
                  <a:effectLst/>
                  <a:latin typeface="Consolas" pitchFamily="49" charset="0"/>
                  <a:ea typeface="宋体" pitchFamily="2" charset="-122"/>
                  <a:cs typeface="Times New Roman" pitchFamily="18" charset="0"/>
                </a:rPr>
                <a:t>60</a:t>
              </a:r>
              <a:endParaRPr kumimoji="0" lang="en-US" altLang="zh-CN" sz="1600" b="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grpSp>
      <p:sp>
        <p:nvSpPr>
          <p:cNvPr id="29" name="TextBox 5"/>
          <p:cNvSpPr txBox="1"/>
          <p:nvPr/>
        </p:nvSpPr>
        <p:spPr>
          <a:xfrm>
            <a:off x="1214414" y="1500174"/>
            <a:ext cx="714380" cy="646331"/>
          </a:xfrm>
          <a:prstGeom prst="rect">
            <a:avLst/>
          </a:prstGeom>
          <a:blipFill>
            <a:blip r:embed="rId2"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程序验证</a:t>
            </a:r>
          </a:p>
        </p:txBody>
      </p:sp>
      <p:pic>
        <p:nvPicPr>
          <p:cNvPr id="86018" name="Picture 2"/>
          <p:cNvPicPr>
            <a:picLocks noChangeAspect="1" noChangeArrowheads="1"/>
          </p:cNvPicPr>
          <p:nvPr/>
        </p:nvPicPr>
        <p:blipFill>
          <a:blip r:embed="rId3" cstate="print"/>
          <a:srcRect/>
          <a:stretch>
            <a:fillRect/>
          </a:stretch>
        </p:blipFill>
        <p:spPr bwMode="auto">
          <a:xfrm>
            <a:off x="2143108" y="3214686"/>
            <a:ext cx="5308637" cy="2286016"/>
          </a:xfrm>
          <a:prstGeom prst="rect">
            <a:avLst/>
          </a:prstGeom>
          <a:noFill/>
          <a:ln w="9525">
            <a:noFill/>
            <a:miter lim="800000"/>
            <a:headEnd/>
            <a:tailEnd/>
          </a:ln>
        </p:spPr>
      </p:pic>
      <p:sp>
        <p:nvSpPr>
          <p:cNvPr id="30" name="下箭头 29"/>
          <p:cNvSpPr/>
          <p:nvPr/>
        </p:nvSpPr>
        <p:spPr>
          <a:xfrm>
            <a:off x="4643438" y="2714620"/>
            <a:ext cx="357190"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2" name="灯片编号占位符 31"/>
          <p:cNvSpPr>
            <a:spLocks noGrp="1"/>
          </p:cNvSpPr>
          <p:nvPr>
            <p:ph type="sldNum" sz="quarter" idx="12"/>
          </p:nvPr>
        </p:nvSpPr>
        <p:spPr/>
        <p:txBody>
          <a:bodyPr/>
          <a:lstStyle/>
          <a:p>
            <a:fld id="{7AF016A1-9F15-429F-9EFD-84004B73C732}" type="slidenum">
              <a:rPr lang="en-US" altLang="zh-CN" smtClean="0"/>
              <a:pPr/>
              <a:t>46</a:t>
            </a:fld>
            <a:r>
              <a:rPr lang="en-US" altLang="zh-CN"/>
              <a:t>/126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357158" y="928670"/>
            <a:ext cx="8429684" cy="529433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0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6.2</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网络延迟时间（</a:t>
            </a:r>
            <a:r>
              <a:rPr lang="en-US" altLang="zh-CN">
                <a:solidFill>
                  <a:srgbClr val="0000FF"/>
                </a:solidFill>
                <a:latin typeface="Consolas" pitchFamily="49" charset="0"/>
                <a:ea typeface="仿宋" pitchFamily="49" charset="-122"/>
              </a:rPr>
              <a:t>LeetCode743</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个网络结点（</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n</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），标记为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。给定一个列表</a:t>
            </a:r>
            <a:r>
              <a:rPr lang="en-US" altLang="zh-CN">
                <a:solidFill>
                  <a:srgbClr val="0000FF"/>
                </a:solidFill>
                <a:latin typeface="Consolas" pitchFamily="49" charset="0"/>
                <a:ea typeface="仿宋" pitchFamily="49" charset="-122"/>
              </a:rPr>
              <a:t>times</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times.length</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6000</a:t>
            </a:r>
            <a:r>
              <a:rPr lang="zh-CN" altLang="zh-CN">
                <a:solidFill>
                  <a:srgbClr val="0000FF"/>
                </a:solidFill>
                <a:latin typeface="Consolas" pitchFamily="49" charset="0"/>
                <a:ea typeface="仿宋" pitchFamily="49" charset="-122"/>
              </a:rPr>
              <a:t>），表示信号经过有向边的传递时间，</a:t>
            </a:r>
            <a:r>
              <a:rPr lang="en-US" altLang="zh-CN">
                <a:solidFill>
                  <a:srgbClr val="0000FF"/>
                </a:solidFill>
                <a:latin typeface="Consolas" pitchFamily="49" charset="0"/>
                <a:ea typeface="仿宋" pitchFamily="49" charset="-122"/>
              </a:rPr>
              <a:t>times[</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ui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vi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wi</a:t>
            </a:r>
            <a:r>
              <a:rPr lang="zh-CN" altLang="zh-CN">
                <a:solidFill>
                  <a:srgbClr val="0000FF"/>
                </a:solidFill>
                <a:latin typeface="Consolas" pitchFamily="49" charset="0"/>
                <a:ea typeface="仿宋" pitchFamily="49" charset="-122"/>
              </a:rPr>
              <a:t>），其中</a:t>
            </a:r>
            <a:r>
              <a:rPr lang="en-US" altLang="zh-CN">
                <a:solidFill>
                  <a:srgbClr val="0000FF"/>
                </a:solidFill>
                <a:latin typeface="Consolas" pitchFamily="49" charset="0"/>
                <a:ea typeface="仿宋" pitchFamily="49" charset="-122"/>
              </a:rPr>
              <a:t>ui</a:t>
            </a:r>
            <a:r>
              <a:rPr lang="zh-CN" altLang="zh-CN">
                <a:solidFill>
                  <a:srgbClr val="0000FF"/>
                </a:solidFill>
                <a:latin typeface="Consolas" pitchFamily="49" charset="0"/>
                <a:ea typeface="仿宋" pitchFamily="49" charset="-122"/>
              </a:rPr>
              <a:t>是源，</a:t>
            </a:r>
            <a:r>
              <a:rPr lang="en-US" altLang="zh-CN">
                <a:solidFill>
                  <a:srgbClr val="0000FF"/>
                </a:solidFill>
                <a:latin typeface="Consolas" pitchFamily="49" charset="0"/>
                <a:ea typeface="仿宋" pitchFamily="49" charset="-122"/>
              </a:rPr>
              <a:t>vi</a:t>
            </a:r>
            <a:r>
              <a:rPr lang="zh-CN" altLang="zh-CN">
                <a:solidFill>
                  <a:srgbClr val="0000FF"/>
                </a:solidFill>
                <a:latin typeface="Consolas" pitchFamily="49" charset="0"/>
                <a:ea typeface="仿宋" pitchFamily="49" charset="-122"/>
              </a:rPr>
              <a:t>是目标，</a:t>
            </a:r>
            <a:r>
              <a:rPr lang="en-US" altLang="zh-CN">
                <a:solidFill>
                  <a:srgbClr val="0000FF"/>
                </a:solidFill>
                <a:latin typeface="Consolas" pitchFamily="49" charset="0"/>
                <a:ea typeface="仿宋" pitchFamily="49" charset="-122"/>
              </a:rPr>
              <a:t>wi</a:t>
            </a:r>
            <a:r>
              <a:rPr lang="zh-CN" altLang="zh-CN">
                <a:solidFill>
                  <a:srgbClr val="0000FF"/>
                </a:solidFill>
                <a:latin typeface="Consolas" pitchFamily="49" charset="0"/>
                <a:ea typeface="仿宋" pitchFamily="49" charset="-122"/>
              </a:rPr>
              <a:t>是一个信号从源传递到目标的时间（</a:t>
            </a:r>
            <a:r>
              <a:rPr lang="en-US" altLang="zh-CN">
                <a:solidFill>
                  <a:srgbClr val="0000FF"/>
                </a:solidFill>
                <a:latin typeface="Consolas" pitchFamily="49" charset="0"/>
                <a:ea typeface="仿宋" pitchFamily="49" charset="-122"/>
              </a:rPr>
              <a:t>1</a:t>
            </a:r>
            <a:r>
              <a:rPr lang="zh-CN" altLang="zh-CN">
                <a:solidFill>
                  <a:srgbClr val="0000FF"/>
                </a:solidFill>
                <a:latin typeface="+mn-ea"/>
              </a:rPr>
              <a:t>≤</a:t>
            </a:r>
            <a:r>
              <a:rPr lang="en-US" altLang="zh-CN">
                <a:solidFill>
                  <a:srgbClr val="0000FF"/>
                </a:solidFill>
                <a:latin typeface="Consolas" pitchFamily="49" charset="0"/>
                <a:ea typeface="仿宋" pitchFamily="49" charset="-122"/>
              </a:rPr>
              <a:t>ui</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vi</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wi</a:t>
            </a:r>
            <a:r>
              <a:rPr lang="zh-CN" altLang="zh-CN">
                <a:solidFill>
                  <a:srgbClr val="0000FF"/>
                </a:solidFill>
                <a:latin typeface="+mn-ea"/>
              </a:rPr>
              <a:t>≤</a:t>
            </a:r>
            <a:r>
              <a:rPr lang="en-US" altLang="zh-CN">
                <a:solidFill>
                  <a:srgbClr val="0000FF"/>
                </a:solidFill>
                <a:latin typeface="Consolas" pitchFamily="49" charset="0"/>
                <a:ea typeface="仿宋" pitchFamily="49" charset="-122"/>
              </a:rPr>
              <a:t>100</a:t>
            </a:r>
            <a:r>
              <a:rPr lang="zh-CN" altLang="zh-CN">
                <a:solidFill>
                  <a:srgbClr val="0000FF"/>
                </a:solidFill>
                <a:latin typeface="Consolas" pitchFamily="49" charset="0"/>
                <a:ea typeface="仿宋" pitchFamily="49" charset="-122"/>
              </a:rPr>
              <a:t>）。现在从某个结点</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mj-ea"/>
                <a:ea typeface="+mj-ea"/>
              </a:rPr>
              <a:t>≤</a:t>
            </a:r>
            <a:r>
              <a:rPr lang="en-US" altLang="zh-CN" i="1">
                <a:solidFill>
                  <a:srgbClr val="0000FF"/>
                </a:solidFill>
                <a:latin typeface="Consolas" pitchFamily="49" charset="0"/>
                <a:ea typeface="仿宋" pitchFamily="49" charset="-122"/>
              </a:rPr>
              <a:t>k</a:t>
            </a:r>
            <a:r>
              <a:rPr lang="zh-CN" altLang="zh-CN">
                <a:solidFill>
                  <a:srgbClr val="0000FF"/>
                </a:solidFill>
                <a:latin typeface="+mn-ea"/>
              </a:rPr>
              <a:t>≤</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）发出一个信号，设计一个算法求需要多久才能使所有结点都收到信号？如果不能使所有结点收到信号，返回</a:t>
            </a:r>
            <a:r>
              <a:rPr lang="en-US" altLang="zh-CN">
                <a:solidFill>
                  <a:srgbClr val="0000FF"/>
                </a:solidFill>
                <a:latin typeface="Consolas" pitchFamily="49" charset="0"/>
                <a:ea typeface="仿宋" pitchFamily="49" charset="-122"/>
              </a:rPr>
              <a:t>-1 </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0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times={{2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，结果为</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0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000"/>
              </a:lnSpc>
              <a:spcBef>
                <a:spcPts val="600"/>
              </a:spcBef>
            </a:pPr>
            <a:r>
              <a:rPr lang="en-US" altLang="zh-CN" sz="2000">
                <a:solidFill>
                  <a:srgbClr val="006600"/>
                </a:solidFill>
                <a:latin typeface="Consolas" pitchFamily="49" charset="0"/>
                <a:ea typeface="仿宋" pitchFamily="49" charset="-122"/>
              </a:rPr>
              <a:t>	int networkDelayTime(vector&lt;vector&lt;int&gt;&gt;&amp; times, int n, int k) { }</a:t>
            </a:r>
            <a:endParaRPr lang="zh-CN" altLang="zh-CN" sz="2000">
              <a:solidFill>
                <a:srgbClr val="006600"/>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47</a:t>
            </a:fld>
            <a:r>
              <a:rPr lang="en-US" altLang="zh-CN"/>
              <a:t>/126</a:t>
            </a:r>
          </a:p>
        </p:txBody>
      </p:sp>
      <p:grpSp>
        <p:nvGrpSpPr>
          <p:cNvPr id="7" name="组合 6"/>
          <p:cNvGrpSpPr/>
          <p:nvPr/>
        </p:nvGrpSpPr>
        <p:grpSpPr>
          <a:xfrm>
            <a:off x="571472" y="214290"/>
            <a:ext cx="1041400" cy="1044575"/>
            <a:chOff x="857224" y="1071546"/>
            <a:chExt cx="1041400" cy="1044575"/>
          </a:xfrm>
        </p:grpSpPr>
        <p:sp>
          <p:nvSpPr>
            <p:cNvPr id="8"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9"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428736"/>
            <a:ext cx="8215370" cy="308994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从结点</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传递信号到某个结点</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的时间就是从</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v</a:t>
            </a:r>
            <a:r>
              <a:rPr lang="zh-CN" altLang="zh-CN">
                <a:solidFill>
                  <a:srgbClr val="0000FF"/>
                </a:solidFill>
                <a:latin typeface="Consolas" pitchFamily="49" charset="0"/>
                <a:ea typeface="仿宋" pitchFamily="49" charset="-122"/>
              </a:rPr>
              <a:t>的最短路径长度，这样该问题转换为求单源最短路径问题，在</a:t>
            </a:r>
            <a:r>
              <a:rPr lang="zh-CN" altLang="zh-CN">
                <a:solidFill>
                  <a:srgbClr val="FF0000"/>
                </a:solidFill>
                <a:latin typeface="Consolas" pitchFamily="49" charset="0"/>
                <a:ea typeface="仿宋" pitchFamily="49" charset="-122"/>
              </a:rPr>
              <a:t>所有的最</a:t>
            </a:r>
            <a:r>
              <a:rPr lang="zh-CN" altLang="en-US">
                <a:solidFill>
                  <a:srgbClr val="FF0000"/>
                </a:solidFill>
                <a:latin typeface="Consolas" pitchFamily="49" charset="0"/>
                <a:ea typeface="仿宋" pitchFamily="49" charset="-122"/>
              </a:rPr>
              <a:t>短</a:t>
            </a:r>
            <a:r>
              <a:rPr lang="zh-CN" altLang="zh-CN">
                <a:solidFill>
                  <a:srgbClr val="FF0000"/>
                </a:solidFill>
                <a:latin typeface="Consolas" pitchFamily="49" charset="0"/>
                <a:ea typeface="仿宋" pitchFamily="49" charset="-122"/>
              </a:rPr>
              <a:t>连接长度中求最大值</a:t>
            </a:r>
            <a:r>
              <a:rPr lang="zh-CN" altLang="zh-CN">
                <a:solidFill>
                  <a:srgbClr val="0000FF"/>
                </a:solidFill>
                <a:latin typeface="Consolas" pitchFamily="49" charset="0"/>
                <a:ea typeface="仿宋" pitchFamily="49" charset="-122"/>
              </a:rPr>
              <a:t>就是题目的答案。</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先由</a:t>
            </a:r>
            <a:r>
              <a:rPr lang="en-US" altLang="zh-CN">
                <a:solidFill>
                  <a:srgbClr val="0000FF"/>
                </a:solidFill>
                <a:latin typeface="Consolas" pitchFamily="49" charset="0"/>
                <a:ea typeface="仿宋" pitchFamily="49" charset="-122"/>
              </a:rPr>
              <a:t>times</a:t>
            </a:r>
            <a:r>
              <a:rPr lang="zh-CN" altLang="zh-CN">
                <a:solidFill>
                  <a:srgbClr val="0000FF"/>
                </a:solidFill>
                <a:latin typeface="Consolas" pitchFamily="49" charset="0"/>
                <a:ea typeface="仿宋" pitchFamily="49" charset="-122"/>
              </a:rPr>
              <a:t>建立图的邻接表</a:t>
            </a:r>
            <a:r>
              <a:rPr lang="en-US" altLang="zh-CN">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，每个网络结点对应图中一个顶点，</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存放顶点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的所有出边邻接点的结点，出边结点的类型为</a:t>
            </a:r>
            <a:r>
              <a:rPr lang="en-US" altLang="zh-CN">
                <a:solidFill>
                  <a:srgbClr val="0000FF"/>
                </a:solidFill>
                <a:latin typeface="Consolas" pitchFamily="49" charset="0"/>
                <a:ea typeface="仿宋" pitchFamily="49" charset="-122"/>
              </a:rPr>
              <a:t>Edge</a:t>
            </a:r>
            <a:r>
              <a:rPr lang="zh-CN" altLang="zh-CN">
                <a:solidFill>
                  <a:srgbClr val="0000FF"/>
                </a:solidFill>
                <a:latin typeface="Consolas" pitchFamily="49" charset="0"/>
                <a:ea typeface="仿宋" pitchFamily="49" charset="-122"/>
              </a:rPr>
              <a:t>，包含出边邻接点</a:t>
            </a:r>
            <a:r>
              <a:rPr lang="en-US" altLang="zh-CN">
                <a:solidFill>
                  <a:srgbClr val="0000FF"/>
                </a:solidFill>
                <a:latin typeface="Consolas" pitchFamily="49" charset="0"/>
                <a:ea typeface="仿宋" pitchFamily="49" charset="-122"/>
              </a:rPr>
              <a:t>vno</a:t>
            </a:r>
            <a:r>
              <a:rPr lang="zh-CN" altLang="zh-CN">
                <a:solidFill>
                  <a:srgbClr val="0000FF"/>
                </a:solidFill>
                <a:latin typeface="Consolas" pitchFamily="49" charset="0"/>
                <a:ea typeface="仿宋" pitchFamily="49" charset="-122"/>
              </a:rPr>
              <a:t>和该出边的权值</a:t>
            </a:r>
            <a:r>
              <a:rPr lang="en-US" altLang="zh-CN">
                <a:solidFill>
                  <a:srgbClr val="0000FF"/>
                </a:solidFill>
                <a:latin typeface="Consolas" pitchFamily="49" charset="0"/>
                <a:ea typeface="仿宋" pitchFamily="49" charset="-122"/>
              </a:rPr>
              <a:t>wt</a:t>
            </a:r>
            <a:r>
              <a:rPr lang="zh-CN" altLang="zh-CN">
                <a:solidFill>
                  <a:srgbClr val="0000FF"/>
                </a:solidFill>
                <a:latin typeface="Consolas" pitchFamily="49" charset="0"/>
                <a:ea typeface="仿宋" pitchFamily="49" charset="-122"/>
              </a:rPr>
              <a:t>。为了简便，</a:t>
            </a:r>
            <a:r>
              <a:rPr lang="zh-CN" altLang="zh-CN">
                <a:solidFill>
                  <a:srgbClr val="FF00FF"/>
                </a:solidFill>
                <a:latin typeface="Consolas" pitchFamily="49" charset="0"/>
                <a:ea typeface="仿宋" pitchFamily="49" charset="-122"/>
              </a:rPr>
              <a:t>通过减</a:t>
            </a:r>
            <a:r>
              <a:rPr lang="en-US" altLang="zh-CN">
                <a:solidFill>
                  <a:srgbClr val="FF00FF"/>
                </a:solidFill>
                <a:latin typeface="Consolas" pitchFamily="49" charset="0"/>
                <a:ea typeface="仿宋" pitchFamily="49" charset="-122"/>
              </a:rPr>
              <a:t>1</a:t>
            </a:r>
            <a:r>
              <a:rPr lang="zh-CN" altLang="zh-CN">
                <a:solidFill>
                  <a:srgbClr val="FF00FF"/>
                </a:solidFill>
                <a:latin typeface="Consolas" pitchFamily="49" charset="0"/>
                <a:ea typeface="仿宋" pitchFamily="49" charset="-122"/>
              </a:rPr>
              <a:t>将顶点编号改为</a:t>
            </a:r>
            <a:r>
              <a:rPr lang="en-US" altLang="zh-CN">
                <a:solidFill>
                  <a:srgbClr val="FF00FF"/>
                </a:solidFill>
                <a:latin typeface="Consolas" pitchFamily="49" charset="0"/>
                <a:ea typeface="仿宋" pitchFamily="49" charset="-122"/>
              </a:rPr>
              <a:t>0</a:t>
            </a:r>
            <a:r>
              <a:rPr lang="zh-CN" altLang="zh-CN">
                <a:solidFill>
                  <a:srgbClr val="FF00FF"/>
                </a:solidFill>
                <a:latin typeface="Consolas" pitchFamily="49" charset="0"/>
                <a:ea typeface="仿宋" pitchFamily="49" charset="-122"/>
              </a:rPr>
              <a:t>～</a:t>
            </a:r>
            <a:r>
              <a:rPr lang="en-US" altLang="zh-CN" i="1">
                <a:solidFill>
                  <a:srgbClr val="FF00FF"/>
                </a:solidFill>
                <a:latin typeface="Consolas" pitchFamily="49" charset="0"/>
                <a:ea typeface="仿宋" pitchFamily="49" charset="-122"/>
              </a:rPr>
              <a:t>n</a:t>
            </a:r>
            <a:r>
              <a:rPr lang="en-US" altLang="zh-CN">
                <a:solidFill>
                  <a:srgbClr val="FF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p>
        </p:txBody>
      </p:sp>
      <p:sp>
        <p:nvSpPr>
          <p:cNvPr id="1742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7442" name="Rectangle 3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48</a:t>
            </a:fld>
            <a:r>
              <a:rPr lang="en-US" altLang="zh-CN"/>
              <a:t>/126</a:t>
            </a:r>
          </a:p>
        </p:txBody>
      </p:sp>
      <p:pic>
        <p:nvPicPr>
          <p:cNvPr id="8"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928670"/>
            <a:ext cx="7429552"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rPr>
              <a:t>times={{2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{2</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{3</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a:solidFill>
                  <a:srgbClr val="0000FF"/>
                </a:solidFill>
                <a:latin typeface="Consolas" pitchFamily="49" charset="0"/>
                <a:ea typeface="仿宋" pitchFamily="49" charset="-122"/>
              </a:rPr>
              <a:t>1}}</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n</a:t>
            </a:r>
            <a:r>
              <a:rPr lang="en-US" altLang="zh-CN" sz="2000">
                <a:solidFill>
                  <a:srgbClr val="0000FF"/>
                </a:solidFill>
                <a:latin typeface="Consolas" pitchFamily="49" charset="0"/>
                <a:ea typeface="仿宋" pitchFamily="49" charset="-122"/>
              </a:rPr>
              <a:t>=4</a:t>
            </a:r>
            <a:r>
              <a:rPr lang="zh-CN" altLang="zh-CN" sz="2000">
                <a:solidFill>
                  <a:srgbClr val="0000FF"/>
                </a:solidFill>
                <a:latin typeface="Consolas" pitchFamily="49" charset="0"/>
                <a:ea typeface="仿宋" pitchFamily="49" charset="-122"/>
              </a:rPr>
              <a:t>，</a:t>
            </a:r>
            <a:r>
              <a:rPr lang="en-US" altLang="zh-CN" sz="2000" i="1">
                <a:solidFill>
                  <a:srgbClr val="0000FF"/>
                </a:solidFill>
                <a:latin typeface="Consolas" pitchFamily="49" charset="0"/>
                <a:ea typeface="仿宋" pitchFamily="49" charset="-122"/>
              </a:rPr>
              <a:t>k</a:t>
            </a:r>
            <a:r>
              <a:rPr lang="en-US" altLang="zh-CN" sz="2000">
                <a:solidFill>
                  <a:srgbClr val="0000FF"/>
                </a:solidFill>
                <a:latin typeface="Consolas" pitchFamily="49" charset="0"/>
                <a:ea typeface="仿宋" pitchFamily="49" charset="-122"/>
              </a:rPr>
              <a:t>=2</a:t>
            </a:r>
            <a:endParaRPr lang="zh-CN" altLang="en-US" sz="2000">
              <a:solidFill>
                <a:srgbClr val="0000FF"/>
              </a:solidFill>
              <a:latin typeface="Consolas" pitchFamily="49" charset="0"/>
              <a:ea typeface="楷体" pitchFamily="49" charset="-122"/>
              <a:cs typeface="Consolas" pitchFamily="49" charset="0"/>
            </a:endParaRPr>
          </a:p>
        </p:txBody>
      </p:sp>
      <p:sp>
        <p:nvSpPr>
          <p:cNvPr id="4" name="椭圆 3"/>
          <p:cNvSpPr/>
          <p:nvPr/>
        </p:nvSpPr>
        <p:spPr>
          <a:xfrm>
            <a:off x="1785918" y="1714488"/>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rPr>
              <a:t>0</a:t>
            </a:r>
            <a:endParaRPr lang="zh-CN" altLang="en-US" sz="2000">
              <a:solidFill>
                <a:srgbClr val="0000FF"/>
              </a:solidFill>
              <a:latin typeface="Consolas" pitchFamily="49" charset="0"/>
            </a:endParaRPr>
          </a:p>
        </p:txBody>
      </p:sp>
      <p:sp>
        <p:nvSpPr>
          <p:cNvPr id="5" name="椭圆 4"/>
          <p:cNvSpPr/>
          <p:nvPr/>
        </p:nvSpPr>
        <p:spPr>
          <a:xfrm>
            <a:off x="1785918" y="2714620"/>
            <a:ext cx="428628" cy="428628"/>
          </a:xfrm>
          <a:prstGeom prst="ellipse">
            <a:avLst/>
          </a:prstGeom>
          <a:solidFill>
            <a:srgbClr val="FF0000"/>
          </a:solidFill>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chemeClr val="bg1"/>
                </a:solidFill>
                <a:latin typeface="Consolas" pitchFamily="49" charset="0"/>
              </a:rPr>
              <a:t>1</a:t>
            </a:r>
            <a:endParaRPr lang="zh-CN" altLang="en-US" sz="2000">
              <a:solidFill>
                <a:schemeClr val="bg1"/>
              </a:solidFill>
              <a:latin typeface="Consolas" pitchFamily="49" charset="0"/>
            </a:endParaRPr>
          </a:p>
        </p:txBody>
      </p:sp>
      <p:sp>
        <p:nvSpPr>
          <p:cNvPr id="6" name="椭圆 5"/>
          <p:cNvSpPr/>
          <p:nvPr/>
        </p:nvSpPr>
        <p:spPr>
          <a:xfrm>
            <a:off x="3071802" y="221455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rPr>
              <a:t>2</a:t>
            </a:r>
            <a:endParaRPr lang="zh-CN" altLang="en-US" sz="2000">
              <a:solidFill>
                <a:srgbClr val="0000FF"/>
              </a:solidFill>
              <a:latin typeface="Consolas" pitchFamily="49" charset="0"/>
            </a:endParaRPr>
          </a:p>
        </p:txBody>
      </p:sp>
      <p:sp>
        <p:nvSpPr>
          <p:cNvPr id="7" name="椭圆 6"/>
          <p:cNvSpPr/>
          <p:nvPr/>
        </p:nvSpPr>
        <p:spPr>
          <a:xfrm>
            <a:off x="4214810" y="221455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solidFill>
                  <a:srgbClr val="0000FF"/>
                </a:solidFill>
                <a:latin typeface="Consolas" pitchFamily="49" charset="0"/>
              </a:rPr>
              <a:t>3</a:t>
            </a:r>
            <a:endParaRPr lang="zh-CN" altLang="en-US" sz="2000">
              <a:solidFill>
                <a:srgbClr val="0000FF"/>
              </a:solidFill>
              <a:latin typeface="Consolas" pitchFamily="49" charset="0"/>
            </a:endParaRPr>
          </a:p>
        </p:txBody>
      </p:sp>
      <p:cxnSp>
        <p:nvCxnSpPr>
          <p:cNvPr id="9" name="直接箭头连接符 8"/>
          <p:cNvCxnSpPr>
            <a:stCxn id="5" idx="0"/>
            <a:endCxn id="4" idx="4"/>
          </p:cNvCxnSpPr>
          <p:nvPr/>
        </p:nvCxnSpPr>
        <p:spPr>
          <a:xfrm rot="5400000" flipH="1" flipV="1">
            <a:off x="1714480" y="2428868"/>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643042" y="2285992"/>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12" name="直接箭头连接符 11"/>
          <p:cNvCxnSpPr>
            <a:stCxn id="5" idx="6"/>
            <a:endCxn id="6" idx="3"/>
          </p:cNvCxnSpPr>
          <p:nvPr/>
        </p:nvCxnSpPr>
        <p:spPr>
          <a:xfrm flipV="1">
            <a:off x="2214546" y="2580411"/>
            <a:ext cx="920027" cy="348523"/>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3" name="TextBox 12"/>
          <p:cNvSpPr txBox="1"/>
          <p:nvPr/>
        </p:nvSpPr>
        <p:spPr>
          <a:xfrm>
            <a:off x="2500298" y="2416726"/>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15" name="直接箭头连接符 14"/>
          <p:cNvCxnSpPr>
            <a:stCxn id="6" idx="6"/>
            <a:endCxn id="7" idx="2"/>
          </p:cNvCxnSpPr>
          <p:nvPr/>
        </p:nvCxnSpPr>
        <p:spPr>
          <a:xfrm>
            <a:off x="3500430" y="2428868"/>
            <a:ext cx="71438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3714744" y="207167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sp>
        <p:nvSpPr>
          <p:cNvPr id="18" name="TextBox 17"/>
          <p:cNvSpPr txBox="1"/>
          <p:nvPr/>
        </p:nvSpPr>
        <p:spPr>
          <a:xfrm>
            <a:off x="5072066" y="2214554"/>
            <a:ext cx="135732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楷体" pitchFamily="49" charset="-122"/>
                <a:cs typeface="Consolas" pitchFamily="49" charset="0"/>
              </a:rPr>
              <a:t>答案为</a:t>
            </a:r>
            <a:r>
              <a:rPr lang="en-US" altLang="zh-CN" sz="2000">
                <a:solidFill>
                  <a:srgbClr val="0000FF"/>
                </a:solidFill>
                <a:latin typeface="Consolas" pitchFamily="49" charset="0"/>
                <a:ea typeface="楷体" pitchFamily="49" charset="-122"/>
                <a:cs typeface="Consolas" pitchFamily="49" charset="0"/>
              </a:rPr>
              <a:t>2</a:t>
            </a:r>
            <a:endParaRPr lang="zh-CN" altLang="en-US" sz="2000">
              <a:solidFill>
                <a:srgbClr val="0000FF"/>
              </a:solidFill>
              <a:latin typeface="Consolas" pitchFamily="49" charset="0"/>
              <a:ea typeface="楷体" pitchFamily="49" charset="-122"/>
              <a:cs typeface="Consolas" pitchFamily="49" charset="0"/>
            </a:endParaRPr>
          </a:p>
        </p:txBody>
      </p:sp>
      <p:grpSp>
        <p:nvGrpSpPr>
          <p:cNvPr id="30" name="组合 29"/>
          <p:cNvGrpSpPr/>
          <p:nvPr/>
        </p:nvGrpSpPr>
        <p:grpSpPr>
          <a:xfrm>
            <a:off x="785786" y="3857628"/>
            <a:ext cx="4143404" cy="2094280"/>
            <a:chOff x="2143108" y="3571876"/>
            <a:chExt cx="4143404" cy="2094280"/>
          </a:xfrm>
        </p:grpSpPr>
        <p:sp>
          <p:nvSpPr>
            <p:cNvPr id="19" name="矩形 18"/>
            <p:cNvSpPr/>
            <p:nvPr/>
          </p:nvSpPr>
          <p:spPr>
            <a:xfrm>
              <a:off x="2571736" y="3857628"/>
              <a:ext cx="500066" cy="428628"/>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0" name="TextBox 19"/>
            <p:cNvSpPr txBox="1"/>
            <p:nvPr/>
          </p:nvSpPr>
          <p:spPr>
            <a:xfrm>
              <a:off x="2143108" y="3929066"/>
              <a:ext cx="357190" cy="369332"/>
            </a:xfrm>
            <a:prstGeom prst="rect">
              <a:avLst/>
            </a:prstGeom>
            <a:noFill/>
          </p:spPr>
          <p:txBody>
            <a:bodyPr wrap="square" rtlCol="0">
              <a:spAutoFit/>
            </a:bodyPr>
            <a:lstStyle/>
            <a:p>
              <a:pPr algn="l">
                <a:lnSpc>
                  <a:spcPct val="100000"/>
                </a:lnSpc>
                <a:spcBef>
                  <a:spcPts val="0"/>
                </a:spcBef>
              </a:pPr>
              <a:r>
                <a:rPr lang="en-US" altLang="zh-CN" sz="1800">
                  <a:solidFill>
                    <a:schemeClr val="tx1"/>
                  </a:solidFill>
                  <a:latin typeface="Consolas" pitchFamily="49" charset="0"/>
                  <a:ea typeface="楷体" pitchFamily="49" charset="-122"/>
                  <a:cs typeface="Consolas" pitchFamily="49" charset="0"/>
                </a:rPr>
                <a:t>0</a:t>
              </a:r>
              <a:endParaRPr lang="zh-CN" altLang="en-US" sz="1800">
                <a:solidFill>
                  <a:schemeClr val="tx1"/>
                </a:solidFill>
                <a:latin typeface="Consolas" pitchFamily="49" charset="0"/>
                <a:ea typeface="楷体" pitchFamily="49" charset="-122"/>
                <a:cs typeface="Consolas" pitchFamily="49" charset="0"/>
              </a:endParaRPr>
            </a:p>
          </p:txBody>
        </p:sp>
        <p:sp>
          <p:nvSpPr>
            <p:cNvPr id="21" name="矩形 20"/>
            <p:cNvSpPr/>
            <p:nvPr/>
          </p:nvSpPr>
          <p:spPr>
            <a:xfrm>
              <a:off x="2571736" y="4314774"/>
              <a:ext cx="2143140" cy="428628"/>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400"/>
                </a:lnSpc>
                <a:spcBef>
                  <a:spcPts val="0"/>
                </a:spcBef>
              </a:pPr>
              <a:r>
                <a:rPr lang="en-US" altLang="zh-CN" sz="1800">
                  <a:solidFill>
                    <a:srgbClr val="0000FF"/>
                  </a:solidFill>
                  <a:latin typeface="Consolas" pitchFamily="49" charset="0"/>
                </a:rPr>
                <a:t>(0,1)  (2,1)</a:t>
              </a:r>
              <a:endParaRPr lang="zh-CN" altLang="en-US" sz="1800">
                <a:solidFill>
                  <a:srgbClr val="0000FF"/>
                </a:solidFill>
                <a:latin typeface="Consolas" pitchFamily="49" charset="0"/>
              </a:endParaRPr>
            </a:p>
          </p:txBody>
        </p:sp>
        <p:sp>
          <p:nvSpPr>
            <p:cNvPr id="22" name="TextBox 21"/>
            <p:cNvSpPr txBox="1"/>
            <p:nvPr/>
          </p:nvSpPr>
          <p:spPr>
            <a:xfrm>
              <a:off x="2143108" y="4386212"/>
              <a:ext cx="357190" cy="369332"/>
            </a:xfrm>
            <a:prstGeom prst="rect">
              <a:avLst/>
            </a:prstGeom>
            <a:noFill/>
          </p:spPr>
          <p:txBody>
            <a:bodyPr wrap="square" rtlCol="0">
              <a:spAutoFit/>
            </a:bodyPr>
            <a:lstStyle/>
            <a:p>
              <a:pPr algn="l">
                <a:lnSpc>
                  <a:spcPct val="100000"/>
                </a:lnSpc>
                <a:spcBef>
                  <a:spcPts val="0"/>
                </a:spcBef>
              </a:pPr>
              <a:r>
                <a:rPr lang="en-US" altLang="zh-CN" sz="1800">
                  <a:solidFill>
                    <a:schemeClr val="tx1"/>
                  </a:solidFill>
                  <a:latin typeface="Consolas" pitchFamily="49" charset="0"/>
                  <a:ea typeface="楷体" pitchFamily="49" charset="-122"/>
                  <a:cs typeface="Consolas" pitchFamily="49" charset="0"/>
                </a:rPr>
                <a:t>1</a:t>
              </a:r>
              <a:endParaRPr lang="zh-CN" altLang="en-US" sz="1800">
                <a:solidFill>
                  <a:schemeClr val="tx1"/>
                </a:solidFill>
                <a:latin typeface="Consolas" pitchFamily="49" charset="0"/>
                <a:ea typeface="楷体" pitchFamily="49" charset="-122"/>
                <a:cs typeface="Consolas" pitchFamily="49" charset="0"/>
              </a:endParaRPr>
            </a:p>
          </p:txBody>
        </p:sp>
        <p:sp>
          <p:nvSpPr>
            <p:cNvPr id="23" name="矩形 22"/>
            <p:cNvSpPr/>
            <p:nvPr/>
          </p:nvSpPr>
          <p:spPr>
            <a:xfrm>
              <a:off x="2571736" y="4786322"/>
              <a:ext cx="1143008" cy="428628"/>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400"/>
                </a:lnSpc>
                <a:spcBef>
                  <a:spcPts val="0"/>
                </a:spcBef>
              </a:pPr>
              <a:r>
                <a:rPr lang="en-US" altLang="zh-CN" sz="1800">
                  <a:solidFill>
                    <a:srgbClr val="0000FF"/>
                  </a:solidFill>
                  <a:latin typeface="Consolas" pitchFamily="49" charset="0"/>
                </a:rPr>
                <a:t>(3,1)</a:t>
              </a:r>
              <a:endParaRPr lang="zh-CN" altLang="en-US" sz="1800">
                <a:solidFill>
                  <a:srgbClr val="0000FF"/>
                </a:solidFill>
                <a:latin typeface="Consolas" pitchFamily="49" charset="0"/>
              </a:endParaRPr>
            </a:p>
          </p:txBody>
        </p:sp>
        <p:sp>
          <p:nvSpPr>
            <p:cNvPr id="24" name="TextBox 23"/>
            <p:cNvSpPr txBox="1"/>
            <p:nvPr/>
          </p:nvSpPr>
          <p:spPr>
            <a:xfrm>
              <a:off x="2143108" y="4857760"/>
              <a:ext cx="357190" cy="369332"/>
            </a:xfrm>
            <a:prstGeom prst="rect">
              <a:avLst/>
            </a:prstGeom>
            <a:noFill/>
          </p:spPr>
          <p:txBody>
            <a:bodyPr wrap="square" rtlCol="0">
              <a:spAutoFit/>
            </a:bodyPr>
            <a:lstStyle/>
            <a:p>
              <a:pPr algn="l">
                <a:lnSpc>
                  <a:spcPct val="100000"/>
                </a:lnSpc>
                <a:spcBef>
                  <a:spcPts val="0"/>
                </a:spcBef>
              </a:pPr>
              <a:r>
                <a:rPr lang="en-US" altLang="zh-CN" sz="1800">
                  <a:solidFill>
                    <a:schemeClr val="tx1"/>
                  </a:solidFill>
                  <a:latin typeface="Consolas" pitchFamily="49" charset="0"/>
                  <a:ea typeface="楷体" pitchFamily="49" charset="-122"/>
                  <a:cs typeface="Consolas" pitchFamily="49" charset="0"/>
                </a:rPr>
                <a:t>2</a:t>
              </a:r>
              <a:endParaRPr lang="zh-CN" altLang="en-US" sz="1800">
                <a:solidFill>
                  <a:schemeClr val="tx1"/>
                </a:solidFill>
                <a:latin typeface="Consolas" pitchFamily="49" charset="0"/>
                <a:ea typeface="楷体" pitchFamily="49" charset="-122"/>
                <a:cs typeface="Consolas" pitchFamily="49" charset="0"/>
              </a:endParaRPr>
            </a:p>
          </p:txBody>
        </p:sp>
        <p:sp>
          <p:nvSpPr>
            <p:cNvPr id="25" name="矩形 24"/>
            <p:cNvSpPr/>
            <p:nvPr/>
          </p:nvSpPr>
          <p:spPr>
            <a:xfrm>
              <a:off x="2571736" y="5237528"/>
              <a:ext cx="500066" cy="428628"/>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26" name="TextBox 25"/>
            <p:cNvSpPr txBox="1"/>
            <p:nvPr/>
          </p:nvSpPr>
          <p:spPr>
            <a:xfrm>
              <a:off x="2143108" y="5286388"/>
              <a:ext cx="357190" cy="369332"/>
            </a:xfrm>
            <a:prstGeom prst="rect">
              <a:avLst/>
            </a:prstGeom>
            <a:noFill/>
          </p:spPr>
          <p:txBody>
            <a:bodyPr wrap="square" rtlCol="0">
              <a:spAutoFit/>
            </a:bodyPr>
            <a:lstStyle/>
            <a:p>
              <a:pPr algn="l">
                <a:lnSpc>
                  <a:spcPct val="100000"/>
                </a:lnSpc>
                <a:spcBef>
                  <a:spcPts val="0"/>
                </a:spcBef>
              </a:pPr>
              <a:r>
                <a:rPr lang="en-US" altLang="zh-CN" sz="1800">
                  <a:solidFill>
                    <a:schemeClr val="tx1"/>
                  </a:solidFill>
                  <a:latin typeface="Consolas" pitchFamily="49" charset="0"/>
                  <a:ea typeface="楷体" pitchFamily="49" charset="-122"/>
                  <a:cs typeface="Consolas" pitchFamily="49" charset="0"/>
                </a:rPr>
                <a:t>3</a:t>
              </a:r>
              <a:endParaRPr lang="zh-CN" altLang="en-US" sz="1800">
                <a:solidFill>
                  <a:schemeClr val="tx1"/>
                </a:solidFill>
                <a:latin typeface="Consolas" pitchFamily="49" charset="0"/>
                <a:ea typeface="楷体" pitchFamily="49" charset="-122"/>
                <a:cs typeface="Consolas" pitchFamily="49" charset="0"/>
              </a:endParaRPr>
            </a:p>
          </p:txBody>
        </p:sp>
        <p:sp>
          <p:nvSpPr>
            <p:cNvPr id="27" name="TextBox 26"/>
            <p:cNvSpPr txBox="1"/>
            <p:nvPr/>
          </p:nvSpPr>
          <p:spPr>
            <a:xfrm>
              <a:off x="4143372" y="3571876"/>
              <a:ext cx="214314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vector&lt;Edge&gt;</a:t>
              </a:r>
              <a:endParaRPr lang="zh-CN" altLang="en-US" sz="2000">
                <a:solidFill>
                  <a:srgbClr val="0000FF"/>
                </a:solidFill>
                <a:latin typeface="Consolas" pitchFamily="49" charset="0"/>
                <a:ea typeface="楷体" pitchFamily="49" charset="-122"/>
                <a:cs typeface="Consolas" pitchFamily="49" charset="0"/>
              </a:endParaRPr>
            </a:p>
          </p:txBody>
        </p:sp>
        <p:cxnSp>
          <p:nvCxnSpPr>
            <p:cNvPr id="29" name="直接箭头连接符 28"/>
            <p:cNvCxnSpPr/>
            <p:nvPr/>
          </p:nvCxnSpPr>
          <p:spPr>
            <a:xfrm rot="5400000">
              <a:off x="4214810" y="4071942"/>
              <a:ext cx="357190" cy="21431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31" name="下箭头 30"/>
          <p:cNvSpPr/>
          <p:nvPr/>
        </p:nvSpPr>
        <p:spPr>
          <a:xfrm>
            <a:off x="2000232" y="3429000"/>
            <a:ext cx="214314"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8" name="灯片编号占位符 27"/>
          <p:cNvSpPr>
            <a:spLocks noGrp="1"/>
          </p:cNvSpPr>
          <p:nvPr>
            <p:ph type="sldNum" sz="quarter" idx="12"/>
          </p:nvPr>
        </p:nvSpPr>
        <p:spPr/>
        <p:txBody>
          <a:bodyPr/>
          <a:lstStyle/>
          <a:p>
            <a:fld id="{7AF016A1-9F15-429F-9EFD-84004B73C732}" type="slidenum">
              <a:rPr lang="en-US" altLang="zh-CN" smtClean="0"/>
              <a:pPr/>
              <a:t>49</a:t>
            </a:fld>
            <a:r>
              <a:rPr lang="en-US" altLang="zh-CN"/>
              <a:t>/126</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785794"/>
            <a:ext cx="8358246" cy="258019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rPr>
              <a:t>采用本节前面求图单源最短路径的队列式分支限界法</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rPr>
              <a:t>先求出源点</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到其他所有所有顶点的最短路径长度</a:t>
            </a:r>
            <a:r>
              <a:rPr lang="en-US" altLang="zh-CN">
                <a:solidFill>
                  <a:srgbClr val="0000FF"/>
                </a:solidFill>
                <a:latin typeface="Consolas" pitchFamily="49" charset="0"/>
                <a:ea typeface="仿宋" pitchFamily="49" charset="-122"/>
              </a:rPr>
              <a:t>dist</a:t>
            </a:r>
            <a:r>
              <a:rPr lang="zh-CN" altLang="zh-CN">
                <a:solidFill>
                  <a:srgbClr val="0000FF"/>
                </a:solidFill>
                <a:latin typeface="Consolas" pitchFamily="49" charset="0"/>
                <a:ea typeface="仿宋" pitchFamily="49" charset="-122"/>
              </a:rPr>
              <a:t>数组</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1200"/>
              </a:spcBef>
              <a:buBlip>
                <a:blip r:embed="rId3"/>
              </a:buBlip>
            </a:pPr>
            <a:r>
              <a:rPr lang="zh-CN" altLang="zh-CN">
                <a:solidFill>
                  <a:srgbClr val="0000FF"/>
                </a:solidFill>
                <a:latin typeface="Consolas" pitchFamily="49" charset="0"/>
                <a:ea typeface="仿宋" pitchFamily="49" charset="-122"/>
              </a:rPr>
              <a:t>再在</a:t>
            </a:r>
            <a:r>
              <a:rPr lang="en-US" altLang="zh-CN">
                <a:solidFill>
                  <a:srgbClr val="0000FF"/>
                </a:solidFill>
                <a:latin typeface="Consolas" pitchFamily="49" charset="0"/>
                <a:ea typeface="仿宋" pitchFamily="49" charset="-122"/>
              </a:rPr>
              <a:t>dist</a:t>
            </a:r>
            <a:r>
              <a:rPr lang="zh-CN" altLang="zh-CN">
                <a:solidFill>
                  <a:srgbClr val="0000FF"/>
                </a:solidFill>
                <a:latin typeface="Consolas" pitchFamily="49" charset="0"/>
                <a:ea typeface="仿宋" pitchFamily="49" charset="-122"/>
              </a:rPr>
              <a:t>数组中求最大值</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，若</a:t>
            </a:r>
            <a:r>
              <a:rPr lang="en-US" altLang="zh-CN">
                <a:solidFill>
                  <a:srgbClr val="0000FF"/>
                </a:solidFill>
                <a:latin typeface="Consolas" pitchFamily="49" charset="0"/>
                <a:ea typeface="仿宋" pitchFamily="49" charset="-122"/>
              </a:rPr>
              <a:t>ans=INF</a:t>
            </a:r>
            <a:r>
              <a:rPr lang="zh-CN" altLang="zh-CN">
                <a:solidFill>
                  <a:srgbClr val="0000FF"/>
                </a:solidFill>
                <a:latin typeface="Consolas" pitchFamily="49" charset="0"/>
                <a:ea typeface="仿宋" pitchFamily="49" charset="-122"/>
              </a:rPr>
              <a:t>说明不能使所有结点收到信号，返回</a:t>
            </a:r>
            <a:r>
              <a:rPr lang="en-US" altLang="zh-CN">
                <a:solidFill>
                  <a:srgbClr val="0000FF"/>
                </a:solidFill>
                <a:latin typeface="Consolas" pitchFamily="49" charset="0"/>
                <a:ea typeface="仿宋" pitchFamily="49" charset="-122"/>
              </a:rPr>
              <a:t> -1</a:t>
            </a:r>
            <a:r>
              <a:rPr lang="zh-CN" altLang="zh-CN">
                <a:solidFill>
                  <a:srgbClr val="0000FF"/>
                </a:solidFill>
                <a:latin typeface="Consolas" pitchFamily="49" charset="0"/>
                <a:ea typeface="仿宋" pitchFamily="49" charset="-122"/>
              </a:rPr>
              <a:t>，否则返回</a:t>
            </a:r>
            <a:r>
              <a:rPr lang="en-US" altLang="zh-CN">
                <a:solidFill>
                  <a:srgbClr val="0000FF"/>
                </a:solidFill>
                <a:latin typeface="Consolas" pitchFamily="49" charset="0"/>
                <a:ea typeface="仿宋" pitchFamily="49" charset="-122"/>
              </a:rPr>
              <a:t>ans</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50</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356"/>
            <a:ext cx="8286808" cy="201347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Edge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出边结点的类型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邻接点</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wt;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边的权</a:t>
            </a:r>
          </a:p>
          <a:p>
            <a:pPr algn="l" defTabSz="360000">
              <a:lnSpc>
                <a:spcPts val="2800"/>
              </a:lnSpc>
              <a:spcBef>
                <a:spcPts val="0"/>
              </a:spcBef>
            </a:pPr>
            <a:r>
              <a:rPr lang="en-US" altLang="zh-CN" sz="2000">
                <a:solidFill>
                  <a:srgbClr val="0000FF"/>
                </a:solidFill>
                <a:latin typeface="Consolas" pitchFamily="49" charset="0"/>
                <a:ea typeface="仿宋" pitchFamily="49" charset="-122"/>
              </a:rPr>
              <a:t>  	Edge(int v,int w):vno(v),wt(w)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51</a:t>
            </a:fld>
            <a:r>
              <a:rPr lang="en-US" altLang="zh-CN"/>
              <a:t>/126</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0596" y="285728"/>
            <a:ext cx="8760560" cy="48577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const int INF=0x3f3f3f3f;</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networkDelayTime</a:t>
            </a:r>
            <a:r>
              <a:rPr lang="en-US" altLang="zh-CN" sz="2000">
                <a:solidFill>
                  <a:srgbClr val="0000FF"/>
                </a:solidFill>
                <a:latin typeface="Consolas" pitchFamily="49" charset="0"/>
                <a:ea typeface="仿宋" pitchFamily="49" charset="-122"/>
              </a:rPr>
              <a:t>(vector&lt;vector&lt;int&gt;&gt;&amp; times, int n, int k)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vector&lt;vector&lt;Edge&gt;&gt; G(n);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邻接表</a:t>
            </a:r>
            <a:r>
              <a:rPr lang="en-US" altLang="zh-CN" sz="2000">
                <a:solidFill>
                  <a:srgbClr val="00B0F0"/>
                </a:solidFill>
                <a:latin typeface="Consolas" pitchFamily="49" charset="0"/>
                <a:ea typeface="仿宋" pitchFamily="49" charset="-122"/>
              </a:rPr>
              <a:t>G</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i=0;i&lt;times.size();i++)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遍历</a:t>
            </a:r>
            <a:r>
              <a:rPr lang="en-US" altLang="zh-CN" sz="2000">
                <a:solidFill>
                  <a:srgbClr val="00B0F0"/>
                </a:solidFill>
                <a:latin typeface="Consolas" pitchFamily="49" charset="0"/>
                <a:ea typeface="仿宋" pitchFamily="49" charset="-122"/>
              </a:rPr>
              <a:t>times</a:t>
            </a:r>
            <a:r>
              <a:rPr lang="zh-CN" altLang="zh-CN" sz="2000">
                <a:solidFill>
                  <a:srgbClr val="00B0F0"/>
                </a:solidFill>
                <a:latin typeface="Consolas" pitchFamily="49" charset="0"/>
                <a:ea typeface="仿宋" pitchFamily="49" charset="-122"/>
              </a:rPr>
              <a:t>建邻接表</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a=times[i][0]-1;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b=times[i][1]-1;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w=times[i][2];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有一条边</a:t>
            </a:r>
            <a:r>
              <a:rPr lang="en-US" altLang="zh-CN" sz="2000">
                <a:solidFill>
                  <a:srgbClr val="00B0F0"/>
                </a:solidFill>
                <a:latin typeface="Consolas" pitchFamily="49" charset="0"/>
                <a:ea typeface="仿宋" pitchFamily="49" charset="-122"/>
              </a:rPr>
              <a:t>&lt;a,b&gt;:w</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G[a].push_back(Edge(b,w));</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s=k-1;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源点为</a:t>
            </a:r>
            <a:r>
              <a:rPr lang="en-US" altLang="zh-CN" sz="2000">
                <a:solidFill>
                  <a:srgbClr val="00B0F0"/>
                </a:solidFill>
                <a:latin typeface="Consolas" pitchFamily="49" charset="0"/>
                <a:ea typeface="仿宋" pitchFamily="49" charset="-122"/>
              </a:rPr>
              <a:t>s</a:t>
            </a:r>
            <a:endParaRPr lang="zh-CN" altLang="zh-CN" sz="2000">
              <a:solidFill>
                <a:srgbClr val="00B0F0"/>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52</a:t>
            </a:fld>
            <a:r>
              <a:rPr lang="en-US" altLang="zh-CN"/>
              <a:t>/126</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357166"/>
            <a:ext cx="8572560" cy="55804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vector&lt;int&gt; dist(n,INF);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a:t>
            </a:r>
            <a:r>
              <a:rPr lang="en-US" altLang="zh-CN" sz="2000">
                <a:solidFill>
                  <a:srgbClr val="00B0F0"/>
                </a:solidFill>
                <a:latin typeface="Consolas" pitchFamily="49" charset="0"/>
                <a:ea typeface="仿宋" pitchFamily="49" charset="-122"/>
              </a:rPr>
              <a:t>dist</a:t>
            </a:r>
            <a:r>
              <a:rPr lang="zh-CN" altLang="zh-CN" sz="2000">
                <a:solidFill>
                  <a:srgbClr val="00B0F0"/>
                </a:solidFill>
                <a:latin typeface="Consolas" pitchFamily="49" charset="0"/>
                <a:ea typeface="仿宋" pitchFamily="49" charset="-122"/>
              </a:rPr>
              <a:t>初始化为</a:t>
            </a:r>
            <a:r>
              <a:rPr lang="en-US" altLang="zh-CN" sz="2000">
                <a:solidFill>
                  <a:srgbClr val="00B0F0"/>
                </a:solidFill>
                <a:latin typeface="Consolas" pitchFamily="49" charset="0"/>
                <a:ea typeface="仿宋" pitchFamily="49" charset="-122"/>
              </a:rPr>
              <a:t>INF</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dist[s]=0;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queue&lt;int&gt;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r>
              <a:rPr lang="en-US" altLang="zh-CN" sz="2000">
                <a:solidFill>
                  <a:srgbClr val="00B0F0"/>
                </a:solidFill>
                <a:latin typeface="Consolas" pitchFamily="49" charset="0"/>
                <a:ea typeface="仿宋" pitchFamily="49" charset="-122"/>
              </a:rPr>
              <a:t>qu</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qu.push(s);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源点结点进队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队列不空循环</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u=qu.front();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for(int j=0;j&lt;G[u].size();j++) {</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v=G[u][j].vno;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相邻点为</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w=G[u][j].wt;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6600"/>
                </a:solidFill>
                <a:latin typeface="Consolas" pitchFamily="49" charset="0"/>
                <a:ea typeface="仿宋" pitchFamily="49" charset="-122"/>
              </a:rPr>
              <a:t>    	if(dist[u]+w&lt;dist[v]) { 			//</a:t>
            </a:r>
            <a:r>
              <a:rPr lang="zh-CN" altLang="zh-CN" sz="2000">
                <a:solidFill>
                  <a:srgbClr val="006600"/>
                </a:solidFill>
                <a:latin typeface="Consolas" pitchFamily="49" charset="0"/>
                <a:ea typeface="仿宋" pitchFamily="49" charset="-122"/>
              </a:rPr>
              <a:t>边松弛</a:t>
            </a:r>
            <a:endParaRPr lang="en-US"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6600"/>
                </a:solidFill>
                <a:latin typeface="Consolas" pitchFamily="49" charset="0"/>
                <a:ea typeface="仿宋" pitchFamily="49" charset="-122"/>
              </a:rPr>
              <a:t>			dist[v]=dist[u]+w;</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进队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53</a:t>
            </a:fld>
            <a:r>
              <a:rPr lang="en-US" altLang="zh-CN"/>
              <a:t>/126</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6431" y="714356"/>
            <a:ext cx="9001156" cy="36805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int ans=dist[0];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到所有顶点最短路径长度中的最大值</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for(int i=1;i&lt;n;i++)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dist[i]&gt;ans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ans=dist[i];</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p>
          <a:p>
            <a:pPr algn="l" defTabSz="360000">
              <a:lnSpc>
                <a:spcPts val="2700"/>
              </a:lnSpc>
              <a:spcBef>
                <a:spcPts val="0"/>
              </a:spcBef>
            </a:pP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if(ans==INF) return -1;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else return ans;</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cs typeface="Times New Roman" pitchFamily="18" charset="0"/>
            </a:endParaRPr>
          </a:p>
        </p:txBody>
      </p:sp>
      <p:grpSp>
        <p:nvGrpSpPr>
          <p:cNvPr id="4" name="组合 9"/>
          <p:cNvGrpSpPr/>
          <p:nvPr/>
        </p:nvGrpSpPr>
        <p:grpSpPr>
          <a:xfrm>
            <a:off x="500034" y="4929198"/>
            <a:ext cx="7000924" cy="461665"/>
            <a:chOff x="1071538" y="6286520"/>
            <a:chExt cx="7000924" cy="461665"/>
          </a:xfrm>
        </p:grpSpPr>
        <p:sp>
          <p:nvSpPr>
            <p:cNvPr id="5" name="TextBox 4"/>
            <p:cNvSpPr txBox="1"/>
            <p:nvPr/>
          </p:nvSpPr>
          <p:spPr>
            <a:xfrm>
              <a:off x="1857356" y="6286520"/>
              <a:ext cx="621510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124ms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38.9MB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578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strangelo Edessa" pitchFamily="66" charset="0"/>
                  <a:ea typeface="仿宋" pitchFamily="49" charset="-122"/>
                  <a:cs typeface="Estrangelo Edessa" pitchFamily="66" charset="0"/>
                </a:rPr>
                <a:t>EXE</a:t>
              </a:r>
              <a:endParaRPr lang="zh-CN" altLang="en-US" sz="2000">
                <a:solidFill>
                  <a:srgbClr val="FF3300"/>
                </a:solidFill>
                <a:latin typeface="Estrangelo Edessa" pitchFamily="66" charset="0"/>
                <a:ea typeface="仿宋" pitchFamily="49" charset="-122"/>
                <a:cs typeface="Estrangelo Edessa" pitchFamily="66"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54</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000232" y="357167"/>
            <a:ext cx="492922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6.5 0/1</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背包问题（</a:t>
            </a: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1</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500174"/>
            <a:ext cx="8215370" cy="2208297"/>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300"/>
              </a:lnSpc>
              <a:spcBef>
                <a:spcPts val="0"/>
              </a:spcBef>
            </a:pPr>
            <a:r>
              <a:rPr lang="en-US" altLang="zh-CN">
                <a:solidFill>
                  <a:srgbClr val="FF0000"/>
                </a:solidFill>
                <a:latin typeface="Consolas" pitchFamily="49" charset="0"/>
                <a:ea typeface="楷体" pitchFamily="49" charset="-122"/>
                <a:sym typeface="Wingdings"/>
              </a:rPr>
              <a:t></a:t>
            </a:r>
            <a:r>
              <a:rPr lang="zh-CN" altLang="zh-CN">
                <a:solidFill>
                  <a:srgbClr val="FF0000"/>
                </a:solidFill>
                <a:latin typeface="Consolas" pitchFamily="49" charset="0"/>
                <a:ea typeface="楷体" pitchFamily="49" charset="-122"/>
              </a:rPr>
              <a:t>问题描述</a:t>
            </a:r>
            <a:r>
              <a:rPr lang="zh-CN" altLang="zh-CN">
                <a:solidFill>
                  <a:srgbClr val="0000FF"/>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有</a:t>
            </a:r>
            <a:r>
              <a:rPr lang="pt-BR"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个物品，物品编号为</a:t>
            </a:r>
            <a:r>
              <a:rPr lang="pt-BR"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n</a:t>
            </a:r>
            <a:r>
              <a:rPr lang="pt-BR"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，重量为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w</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，价值为</a:t>
            </a:r>
            <a:r>
              <a:rPr lang="pt-BR"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pt-BR" altLang="zh-CN" i="1">
                <a:solidFill>
                  <a:srgbClr val="0000FF"/>
                </a:solidFill>
                <a:latin typeface="Consolas" pitchFamily="49" charset="0"/>
                <a:ea typeface="仿宋" pitchFamily="49" charset="-122"/>
              </a:rPr>
              <a:t>v</a:t>
            </a:r>
            <a:r>
              <a:rPr lang="pt-BR" altLang="zh-CN" i="1" baseline="-25000">
                <a:solidFill>
                  <a:srgbClr val="0000FF"/>
                </a:solidFill>
                <a:latin typeface="Consolas" pitchFamily="49" charset="0"/>
                <a:ea typeface="仿宋" pitchFamily="49" charset="-122"/>
              </a:rPr>
              <a:t>n</a:t>
            </a:r>
            <a:r>
              <a:rPr lang="pt-BR" altLang="zh-CN" baseline="-25000">
                <a:solidFill>
                  <a:srgbClr val="0000FF"/>
                </a:solidFill>
                <a:latin typeface="Consolas" pitchFamily="49" charset="0"/>
                <a:ea typeface="仿宋" pitchFamily="49" charset="-122"/>
              </a:rPr>
              <a:t>-1</a:t>
            </a:r>
            <a:r>
              <a:rPr lang="pt-BR"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，给定一个容量为</a:t>
            </a:r>
            <a:r>
              <a:rPr lang="pt-BR" altLang="zh-CN">
                <a:solidFill>
                  <a:srgbClr val="0000FF"/>
                </a:solidFill>
                <a:latin typeface="Consolas" pitchFamily="49" charset="0"/>
                <a:ea typeface="仿宋" pitchFamily="49" charset="-122"/>
              </a:rPr>
              <a:t>W</a:t>
            </a:r>
            <a:r>
              <a:rPr lang="zh-CN" altLang="zh-CN">
                <a:solidFill>
                  <a:srgbClr val="0000FF"/>
                </a:solidFill>
                <a:latin typeface="Consolas" pitchFamily="49" charset="0"/>
                <a:ea typeface="仿宋" pitchFamily="49" charset="-122"/>
              </a:rPr>
              <a:t>的背包。现在从这些物品中选取若干物品装入该背包的方案，每个物品要么选中要么不选中，要求选中的物品总重量不超过背包容量并且具有最大的价值。</a:t>
            </a:r>
          </a:p>
        </p:txBody>
      </p:sp>
      <p:graphicFrame>
        <p:nvGraphicFramePr>
          <p:cNvPr id="5" name="表格 4"/>
          <p:cNvGraphicFramePr>
            <a:graphicFrameLocks noGrp="1"/>
          </p:cNvGraphicFramePr>
          <p:nvPr/>
        </p:nvGraphicFramePr>
        <p:xfrm>
          <a:off x="2071670" y="4143380"/>
          <a:ext cx="4572033" cy="1928826"/>
        </p:xfrm>
        <a:graphic>
          <a:graphicData uri="http://schemas.openxmlformats.org/drawingml/2006/table">
            <a:tbl>
              <a:tblPr>
                <a:tableStyleId>{35758FB7-9AC5-4552-8A53-C91805E547FA}</a:tableStyleId>
              </a:tblPr>
              <a:tblGrid>
                <a:gridCol w="1524011">
                  <a:extLst>
                    <a:ext uri="{9D8B030D-6E8A-4147-A177-3AD203B41FA5}">
                      <a16:colId xmlns:a16="http://schemas.microsoft.com/office/drawing/2014/main" val="20000"/>
                    </a:ext>
                  </a:extLst>
                </a:gridCol>
                <a:gridCol w="1524011">
                  <a:extLst>
                    <a:ext uri="{9D8B030D-6E8A-4147-A177-3AD203B41FA5}">
                      <a16:colId xmlns:a16="http://schemas.microsoft.com/office/drawing/2014/main" val="20001"/>
                    </a:ext>
                  </a:extLst>
                </a:gridCol>
                <a:gridCol w="1524011">
                  <a:extLst>
                    <a:ext uri="{9D8B030D-6E8A-4147-A177-3AD203B41FA5}">
                      <a16:colId xmlns:a16="http://schemas.microsoft.com/office/drawing/2014/main" val="20002"/>
                    </a:ext>
                  </a:extLst>
                </a:gridCol>
              </a:tblGrid>
              <a:tr h="381314">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物品编号</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重量</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zh-CN" sz="2000" b="1" kern="100">
                          <a:solidFill>
                            <a:srgbClr val="FF0000"/>
                          </a:solidFill>
                          <a:latin typeface="Consolas" pitchFamily="49" charset="0"/>
                          <a:ea typeface="仿宋" pitchFamily="49" charset="-122"/>
                        </a:rPr>
                        <a:t>价值</a:t>
                      </a:r>
                      <a:endParaRPr lang="zh-CN" sz="2000" b="1" kern="100">
                        <a:solidFill>
                          <a:srgbClr val="FF0000"/>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0</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5</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4</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2</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86878">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3</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tc>
                  <a:txBody>
                    <a:bodyPr/>
                    <a:lstStyle/>
                    <a:p>
                      <a:pPr algn="ctr">
                        <a:lnSpc>
                          <a:spcPts val="2600"/>
                        </a:lnSpc>
                        <a:spcAft>
                          <a:spcPts val="0"/>
                        </a:spcAft>
                      </a:pPr>
                      <a:r>
                        <a:rPr lang="pt-BR" sz="2000" b="1" kern="100">
                          <a:solidFill>
                            <a:srgbClr val="0000FF"/>
                          </a:solidFill>
                          <a:latin typeface="Consolas" pitchFamily="49" charset="0"/>
                          <a:ea typeface="仿宋" pitchFamily="49" charset="-122"/>
                        </a:rPr>
                        <a:t>1</a:t>
                      </a:r>
                      <a:endParaRPr lang="zh-CN" sz="2000" b="1" kern="100">
                        <a:solidFill>
                          <a:srgbClr val="0000FF"/>
                        </a:solidFill>
                        <a:latin typeface="Consolas" pitchFamily="49" charset="0"/>
                        <a:ea typeface="仿宋" pitchFamily="49" charset="-122"/>
                        <a:cs typeface="宋体"/>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858016" y="4857760"/>
            <a:ext cx="928694" cy="400110"/>
          </a:xfrm>
          <a:prstGeom prst="rect">
            <a:avLst/>
          </a:prstGeom>
          <a:noFill/>
        </p:spPr>
        <p:txBody>
          <a:bodyPr wrap="square" rtlCol="0">
            <a:spAutoFit/>
          </a:bodyPr>
          <a:lstStyle/>
          <a:p>
            <a:pPr algn="l">
              <a:lnSpc>
                <a:spcPct val="100000"/>
              </a:lnSpc>
              <a:spcBef>
                <a:spcPts val="0"/>
              </a:spcBef>
            </a:pPr>
            <a:r>
              <a:rPr lang="pt-BR" altLang="zh-CN" sz="2000">
                <a:solidFill>
                  <a:srgbClr val="0000FF"/>
                </a:solidFill>
                <a:latin typeface="Consolas" pitchFamily="49" charset="0"/>
              </a:rPr>
              <a:t>W=6</a:t>
            </a:r>
            <a:endParaRPr lang="zh-CN" altLang="en-US" sz="2000">
              <a:solidFill>
                <a:srgbClr val="0000FF"/>
              </a:solidFill>
              <a:latin typeface="Consolas" pitchFamily="49" charset="0"/>
              <a:ea typeface="楷体"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55</a:t>
            </a:fld>
            <a:r>
              <a:rPr lang="en-US" altLang="zh-CN"/>
              <a:t>/126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51"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TextBox 20"/>
          <p:cNvSpPr txBox="1"/>
          <p:nvPr/>
        </p:nvSpPr>
        <p:spPr>
          <a:xfrm>
            <a:off x="1000100" y="571480"/>
            <a:ext cx="7858180" cy="191088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解空间与用回溯法求解的解空间相同，根结点层次</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层表示对物品</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的决策，只有选择和不选择两种情况，每次二选一，叶子结点的层次是</a:t>
            </a:r>
            <a:r>
              <a:rPr lang="en-US" altLang="zh-CN" i="1">
                <a:solidFill>
                  <a:srgbClr val="0000FF"/>
                </a:solidFill>
                <a:latin typeface="Consolas" pitchFamily="49" charset="0"/>
                <a:ea typeface="仿宋" pitchFamily="49" charset="-122"/>
                <a:cs typeface="Consolas" pitchFamily="49" charset="0"/>
              </a:rPr>
              <a:t>n</a:t>
            </a:r>
            <a:r>
              <a:rPr lang="zh-CN" altLang="en-US">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30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用</a:t>
            </a:r>
            <a:r>
              <a:rPr lang="en-US" altLang="zh-CN" i="1">
                <a:solidFill>
                  <a:srgbClr val="0000FF"/>
                </a:solidFill>
                <a:latin typeface="Consolas" pitchFamily="49" charset="0"/>
                <a:ea typeface="仿宋" pitchFamily="49" charset="-122"/>
                <a:cs typeface="Consolas" pitchFamily="49" charset="0"/>
              </a:rPr>
              <a:t>x</a:t>
            </a:r>
            <a:r>
              <a:rPr lang="zh-CN" altLang="zh-CN">
                <a:solidFill>
                  <a:srgbClr val="0000FF"/>
                </a:solidFill>
                <a:latin typeface="Consolas" pitchFamily="49" charset="0"/>
                <a:ea typeface="仿宋" pitchFamily="49" charset="-122"/>
                <a:cs typeface="Consolas" pitchFamily="49" charset="0"/>
              </a:rPr>
              <a:t>表示解向量</a:t>
            </a:r>
            <a:r>
              <a:rPr lang="zh-CN" altLang="en-US">
                <a:solidFill>
                  <a:srgbClr val="0000FF"/>
                </a:solidFill>
                <a:latin typeface="Consolas" pitchFamily="49" charset="0"/>
                <a:ea typeface="仿宋" pitchFamily="49" charset="-122"/>
                <a:cs typeface="Consolas" pitchFamily="49" charset="0"/>
              </a:rPr>
              <a:t>。</a:t>
            </a:r>
          </a:p>
        </p:txBody>
      </p:sp>
      <p:grpSp>
        <p:nvGrpSpPr>
          <p:cNvPr id="34" name="组合 33"/>
          <p:cNvGrpSpPr/>
          <p:nvPr/>
        </p:nvGrpSpPr>
        <p:grpSpPr>
          <a:xfrm>
            <a:off x="2786050" y="2857496"/>
            <a:ext cx="4071966" cy="2381741"/>
            <a:chOff x="2786050" y="2857496"/>
            <a:chExt cx="4071966" cy="2381741"/>
          </a:xfrm>
        </p:grpSpPr>
        <p:sp>
          <p:nvSpPr>
            <p:cNvPr id="22" name="Rectangle 13"/>
            <p:cNvSpPr>
              <a:spLocks noChangeArrowheads="1"/>
            </p:cNvSpPr>
            <p:nvPr/>
          </p:nvSpPr>
          <p:spPr bwMode="auto">
            <a:xfrm>
              <a:off x="4754943" y="3328963"/>
              <a:ext cx="960065" cy="23860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6600"/>
                  </a:solidFill>
                  <a:effectLst/>
                  <a:latin typeface="Consolas" pitchFamily="49" charset="0"/>
                  <a:ea typeface="仿宋" pitchFamily="49" charset="-122"/>
                  <a:cs typeface="Consolas" pitchFamily="49" charset="0"/>
                </a:rPr>
                <a:t>x</a:t>
              </a:r>
              <a:r>
                <a:rPr kumimoji="0" lang="en-US" altLang="zh-CN" sz="20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2000" i="0" u="none" strike="noStrike" cap="none" normalizeH="0" baseline="0">
                  <a:ln>
                    <a:noFill/>
                  </a:ln>
                  <a:solidFill>
                    <a:srgbClr val="006600"/>
                  </a:solidFill>
                  <a:effectLst/>
                  <a:latin typeface="Consolas" pitchFamily="49" charset="0"/>
                  <a:ea typeface="仿宋" pitchFamily="49" charset="-122"/>
                  <a:cs typeface="Consolas" pitchFamily="49" charset="0"/>
                </a:rPr>
                <a:t>]=0</a:t>
              </a:r>
            </a:p>
          </p:txBody>
        </p:sp>
        <p:sp>
          <p:nvSpPr>
            <p:cNvPr id="23" name="Rectangle 12"/>
            <p:cNvSpPr>
              <a:spLocks noChangeArrowheads="1"/>
            </p:cNvSpPr>
            <p:nvPr/>
          </p:nvSpPr>
          <p:spPr bwMode="auto">
            <a:xfrm>
              <a:off x="2857488" y="3328963"/>
              <a:ext cx="960065" cy="23860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6600"/>
                  </a:solidFill>
                  <a:effectLst/>
                  <a:latin typeface="Consolas" pitchFamily="49" charset="0"/>
                  <a:ea typeface="仿宋" pitchFamily="49" charset="-122"/>
                  <a:cs typeface="Consolas" pitchFamily="49" charset="0"/>
                </a:rPr>
                <a:t>x</a:t>
              </a:r>
              <a:r>
                <a:rPr kumimoji="0" lang="en-US" altLang="zh-CN" sz="2000" i="0" u="none" strike="noStrike" cap="none" normalizeH="0" baseline="0">
                  <a:ln>
                    <a:noFill/>
                  </a:ln>
                  <a:solidFill>
                    <a:srgbClr val="006600"/>
                  </a:solidFill>
                  <a:effectLst/>
                  <a:latin typeface="Consolas" pitchFamily="49" charset="0"/>
                  <a:ea typeface="仿宋" pitchFamily="49" charset="-122"/>
                  <a:cs typeface="Consolas" pitchFamily="49" charset="0"/>
                </a:rPr>
                <a:t>[</a:t>
              </a:r>
              <a:r>
                <a:rPr kumimoji="0" lang="en-US" altLang="zh-CN" sz="2000" i="1" u="none" strike="noStrike" cap="none" normalizeH="0" baseline="0">
                  <a:ln>
                    <a:noFill/>
                  </a:ln>
                  <a:solidFill>
                    <a:srgbClr val="006600"/>
                  </a:solidFill>
                  <a:effectLst/>
                  <a:latin typeface="Consolas" pitchFamily="49" charset="0"/>
                  <a:ea typeface="仿宋" pitchFamily="49" charset="-122"/>
                  <a:cs typeface="Consolas" pitchFamily="49" charset="0"/>
                </a:rPr>
                <a:t>i</a:t>
              </a:r>
              <a:r>
                <a:rPr kumimoji="0" lang="en-US" altLang="zh-CN" sz="2000" i="0" u="none" strike="noStrike" cap="none" normalizeH="0" baseline="0">
                  <a:ln>
                    <a:noFill/>
                  </a:ln>
                  <a:solidFill>
                    <a:srgbClr val="006600"/>
                  </a:solidFill>
                  <a:effectLst/>
                  <a:latin typeface="Consolas" pitchFamily="49" charset="0"/>
                  <a:ea typeface="仿宋" pitchFamily="49" charset="-122"/>
                  <a:cs typeface="Consolas" pitchFamily="49" charset="0"/>
                </a:rPr>
                <a:t>]=1</a:t>
              </a:r>
            </a:p>
          </p:txBody>
        </p:sp>
        <p:sp>
          <p:nvSpPr>
            <p:cNvPr id="24" name="Oval 11"/>
            <p:cNvSpPr>
              <a:spLocks noChangeArrowheads="1"/>
            </p:cNvSpPr>
            <p:nvPr/>
          </p:nvSpPr>
          <p:spPr bwMode="auto">
            <a:xfrm>
              <a:off x="4136164" y="2866673"/>
              <a:ext cx="390325" cy="388874"/>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ea typeface="仿宋" pitchFamily="49" charset="-122"/>
                <a:cs typeface="Times New Roman" pitchFamily="18" charset="0"/>
              </a:endParaRPr>
            </a:p>
          </p:txBody>
        </p:sp>
        <p:sp>
          <p:nvSpPr>
            <p:cNvPr id="25" name="Rectangle 10"/>
            <p:cNvSpPr>
              <a:spLocks noChangeArrowheads="1"/>
            </p:cNvSpPr>
            <p:nvPr/>
          </p:nvSpPr>
          <p:spPr bwMode="auto">
            <a:xfrm>
              <a:off x="5326147" y="2857496"/>
              <a:ext cx="1531869" cy="31003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2000" b="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zh-CN" altLang="en-US" sz="2000" b="0">
                  <a:solidFill>
                    <a:srgbClr val="0000FF"/>
                  </a:solidFill>
                  <a:latin typeface="Consolas" pitchFamily="49" charset="0"/>
                  <a:ea typeface="仿宋" pitchFamily="49" charset="-122"/>
                  <a:cs typeface="Consolas" pitchFamily="49" charset="0"/>
                </a:rPr>
                <a:t>层</a:t>
              </a:r>
              <a:r>
                <a:rPr kumimoji="0" lang="zh-CN" altLang="en-US" sz="2000" b="0" i="0" u="none" strike="noStrike" cap="none" normalizeH="0" baseline="0">
                  <a:ln>
                    <a:noFill/>
                  </a:ln>
                  <a:solidFill>
                    <a:srgbClr val="0000FF"/>
                  </a:solidFill>
                  <a:effectLst/>
                  <a:latin typeface="Consolas" pitchFamily="49" charset="0"/>
                  <a:ea typeface="仿宋" pitchFamily="49" charset="-122"/>
                  <a:cs typeface="Consolas" pitchFamily="49" charset="0"/>
                </a:rPr>
                <a:t>结点</a:t>
              </a:r>
            </a:p>
          </p:txBody>
        </p:sp>
        <p:sp>
          <p:nvSpPr>
            <p:cNvPr id="26" name="Oval 9"/>
            <p:cNvSpPr>
              <a:spLocks noChangeArrowheads="1"/>
            </p:cNvSpPr>
            <p:nvPr/>
          </p:nvSpPr>
          <p:spPr bwMode="auto">
            <a:xfrm>
              <a:off x="3324518" y="3876140"/>
              <a:ext cx="390325" cy="3877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ea typeface="仿宋" pitchFamily="49" charset="-122"/>
                <a:cs typeface="Times New Roman" pitchFamily="18" charset="0"/>
              </a:endParaRPr>
            </a:p>
          </p:txBody>
        </p:sp>
        <p:sp>
          <p:nvSpPr>
            <p:cNvPr id="27" name="Oval 8"/>
            <p:cNvSpPr>
              <a:spLocks noChangeArrowheads="1"/>
            </p:cNvSpPr>
            <p:nvPr/>
          </p:nvSpPr>
          <p:spPr bwMode="auto">
            <a:xfrm>
              <a:off x="4830712" y="3876140"/>
              <a:ext cx="390325" cy="387727"/>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rgbClr val="0000FF"/>
                </a:solidFill>
                <a:effectLst/>
                <a:ea typeface="仿宋" pitchFamily="49" charset="-122"/>
                <a:cs typeface="Times New Roman" pitchFamily="18" charset="0"/>
              </a:endParaRPr>
            </a:p>
          </p:txBody>
        </p:sp>
        <p:sp>
          <p:nvSpPr>
            <p:cNvPr id="28" name="AutoShape 7"/>
            <p:cNvSpPr>
              <a:spLocks noChangeShapeType="1"/>
            </p:cNvSpPr>
            <p:nvPr/>
          </p:nvSpPr>
          <p:spPr bwMode="auto">
            <a:xfrm flipH="1">
              <a:off x="3519680" y="3198191"/>
              <a:ext cx="673884" cy="67794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ea typeface="仿宋" pitchFamily="49" charset="-122"/>
                <a:cs typeface="Times New Roman" pitchFamily="18" charset="0"/>
              </a:endParaRPr>
            </a:p>
          </p:txBody>
        </p:sp>
        <p:sp>
          <p:nvSpPr>
            <p:cNvPr id="29" name="AutoShape 6"/>
            <p:cNvSpPr>
              <a:spLocks noChangeShapeType="1"/>
            </p:cNvSpPr>
            <p:nvPr/>
          </p:nvSpPr>
          <p:spPr bwMode="auto">
            <a:xfrm>
              <a:off x="4469088" y="3198191"/>
              <a:ext cx="556787" cy="67794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ea typeface="仿宋" pitchFamily="49" charset="-122"/>
                <a:cs typeface="Times New Roman" pitchFamily="18" charset="0"/>
              </a:endParaRPr>
            </a:p>
          </p:txBody>
        </p:sp>
        <p:sp>
          <p:nvSpPr>
            <p:cNvPr id="30" name="Rectangle 5"/>
            <p:cNvSpPr>
              <a:spLocks noChangeArrowheads="1"/>
            </p:cNvSpPr>
            <p:nvPr/>
          </p:nvSpPr>
          <p:spPr bwMode="auto">
            <a:xfrm>
              <a:off x="2786050" y="4643446"/>
              <a:ext cx="1357322" cy="5243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选择物品</a:t>
              </a:r>
              <a:r>
                <a:rPr kumimoji="0" lang="en-US" altLang="zh-CN" sz="20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zh-CN" altLang="en-US" sz="2000" i="0" u="none" strike="noStrike" cap="none" normalizeH="0" baseline="0">
                  <a:ln>
                    <a:noFill/>
                  </a:ln>
                  <a:solidFill>
                    <a:srgbClr val="0000FF"/>
                  </a:solidFill>
                  <a:effectLst/>
                  <a:latin typeface="Consolas" pitchFamily="49" charset="0"/>
                  <a:ea typeface="仿宋" pitchFamily="49" charset="-122"/>
                  <a:cs typeface="Consolas" pitchFamily="49" charset="0"/>
                </a:rPr>
                <a:t>的子结点</a:t>
              </a:r>
              <a:r>
                <a:rPr kumimoji="0" lang="en-US" alt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e1</a:t>
              </a:r>
            </a:p>
          </p:txBody>
        </p:sp>
        <p:sp>
          <p:nvSpPr>
            <p:cNvPr id="31" name="Rectangle 4"/>
            <p:cNvSpPr>
              <a:spLocks noChangeArrowheads="1"/>
            </p:cNvSpPr>
            <p:nvPr/>
          </p:nvSpPr>
          <p:spPr bwMode="auto">
            <a:xfrm>
              <a:off x="4500562" y="4643446"/>
              <a:ext cx="1449799" cy="5957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不选择物品</a:t>
              </a:r>
              <a:r>
                <a:rPr kumimoji="0" lang="en-US" altLang="zh-CN" sz="20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zh-CN" altLang="en-US" sz="2000" i="0" u="none" strike="noStrike" cap="none" normalizeH="0" baseline="0">
                  <a:ln>
                    <a:noFill/>
                  </a:ln>
                  <a:solidFill>
                    <a:srgbClr val="0000FF"/>
                  </a:solidFill>
                  <a:effectLst/>
                  <a:latin typeface="Consolas" pitchFamily="49" charset="0"/>
                  <a:ea typeface="仿宋" pitchFamily="49" charset="-122"/>
                  <a:cs typeface="Consolas" pitchFamily="49" charset="0"/>
                </a:rPr>
                <a:t>的子结点</a:t>
              </a:r>
              <a:r>
                <a:rPr kumimoji="0" lang="en-US" altLang="zh-CN" sz="2000" i="0" u="none" strike="noStrike" cap="none" normalizeH="0" baseline="0">
                  <a:ln>
                    <a:noFill/>
                  </a:ln>
                  <a:solidFill>
                    <a:srgbClr val="0000FF"/>
                  </a:solidFill>
                  <a:effectLst/>
                  <a:latin typeface="Consolas" pitchFamily="49" charset="0"/>
                  <a:ea typeface="仿宋" pitchFamily="49" charset="-122"/>
                  <a:cs typeface="Consolas" pitchFamily="49" charset="0"/>
                </a:rPr>
                <a:t>e2</a:t>
              </a:r>
            </a:p>
          </p:txBody>
        </p:sp>
        <p:sp>
          <p:nvSpPr>
            <p:cNvPr id="32" name="AutoShape 3"/>
            <p:cNvSpPr>
              <a:spLocks noChangeShapeType="1"/>
            </p:cNvSpPr>
            <p:nvPr/>
          </p:nvSpPr>
          <p:spPr bwMode="auto">
            <a:xfrm flipV="1">
              <a:off x="3518532" y="4263867"/>
              <a:ext cx="1148" cy="32463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ea typeface="仿宋" pitchFamily="49" charset="-122"/>
                <a:cs typeface="Times New Roman" pitchFamily="18" charset="0"/>
              </a:endParaRPr>
            </a:p>
          </p:txBody>
        </p:sp>
        <p:sp>
          <p:nvSpPr>
            <p:cNvPr id="33" name="AutoShape 2"/>
            <p:cNvSpPr>
              <a:spLocks noChangeShapeType="1"/>
            </p:cNvSpPr>
            <p:nvPr/>
          </p:nvSpPr>
          <p:spPr bwMode="auto">
            <a:xfrm flipV="1">
              <a:off x="5024726" y="4263867"/>
              <a:ext cx="1148" cy="324635"/>
            </a:xfrm>
            <a:prstGeom prst="straightConnector1">
              <a:avLst/>
            </a:prstGeom>
            <a:noFill/>
            <a:ln w="28575">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ea typeface="仿宋" pitchFamily="49" charset="-122"/>
                <a:cs typeface="Times New Roman" pitchFamily="18" charset="0"/>
              </a:endParaRPr>
            </a:p>
          </p:txBody>
        </p:sp>
      </p:grpSp>
      <p:sp>
        <p:nvSpPr>
          <p:cNvPr id="19" name="灯片编号占位符 18"/>
          <p:cNvSpPr>
            <a:spLocks noGrp="1"/>
          </p:cNvSpPr>
          <p:nvPr>
            <p:ph type="sldNum" sz="quarter" idx="12"/>
          </p:nvPr>
        </p:nvSpPr>
        <p:spPr/>
        <p:txBody>
          <a:bodyPr/>
          <a:lstStyle/>
          <a:p>
            <a:fld id="{7AF016A1-9F15-429F-9EFD-84004B73C732}" type="slidenum">
              <a:rPr lang="en-US" altLang="zh-CN" smtClean="0"/>
              <a:pPr/>
              <a:t>56</a:t>
            </a:fld>
            <a:r>
              <a:rPr lang="en-US" altLang="zh-CN"/>
              <a:t>/126</a:t>
            </a:r>
          </a:p>
        </p:txBody>
      </p:sp>
      <p:pic>
        <p:nvPicPr>
          <p:cNvPr id="20" name="Picture 4"/>
          <p:cNvPicPr>
            <a:picLocks noChangeAspect="1" noChangeArrowheads="1"/>
          </p:cNvPicPr>
          <p:nvPr/>
        </p:nvPicPr>
        <p:blipFill>
          <a:blip r:embed="rId4" cstate="print"/>
          <a:srcRect/>
          <a:stretch>
            <a:fillRect/>
          </a:stretch>
        </p:blipFill>
        <p:spPr bwMode="auto">
          <a:xfrm>
            <a:off x="285720" y="1243411"/>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25944"/>
            <a:ext cx="778674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设计队列结点类型如下：</a:t>
            </a:r>
          </a:p>
        </p:txBody>
      </p:sp>
      <p:sp>
        <p:nvSpPr>
          <p:cNvPr id="4" name="TextBox 3"/>
          <p:cNvSpPr txBox="1"/>
          <p:nvPr/>
        </p:nvSpPr>
        <p:spPr>
          <a:xfrm>
            <a:off x="428596" y="1411762"/>
            <a:ext cx="8286808" cy="27316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队列中结点类型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当前层次</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物品序号</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cw;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当前总重量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cv;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当前总价值</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当前解向量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double </a:t>
            </a:r>
            <a:r>
              <a:rPr lang="en-US" altLang="zh-CN" sz="2000">
                <a:solidFill>
                  <a:srgbClr val="006600"/>
                </a:solidFill>
                <a:latin typeface="Consolas" pitchFamily="49" charset="0"/>
                <a:ea typeface="仿宋" pitchFamily="49" charset="-122"/>
              </a:rPr>
              <a:t>ub</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上界</a:t>
            </a: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57</a:t>
            </a:fld>
            <a:r>
              <a:rPr lang="en-US" altLang="zh-CN"/>
              <a:t>/126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85720" y="341635"/>
            <a:ext cx="6000792" cy="451406"/>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pPr>
            <a:r>
              <a:rPr lang="zh-CN" altLang="zh-CN">
                <a:solidFill>
                  <a:srgbClr val="FF0000"/>
                </a:solidFill>
                <a:latin typeface="Times New Roman" pitchFamily="18" charset="0"/>
                <a:ea typeface="仿宋" pitchFamily="49" charset="-122"/>
                <a:cs typeface="Times New Roman" pitchFamily="18" charset="0"/>
              </a:rPr>
              <a:t>限界函数</a:t>
            </a:r>
            <a:r>
              <a:rPr lang="zh-CN" altLang="en-US">
                <a:solidFill>
                  <a:srgbClr val="0000FF"/>
                </a:solidFill>
                <a:latin typeface="Times New Roman" pitchFamily="18" charset="0"/>
                <a:ea typeface="仿宋" pitchFamily="49" charset="-122"/>
                <a:cs typeface="Times New Roman" pitchFamily="18" charset="0"/>
              </a:rPr>
              <a:t>：</a:t>
            </a:r>
            <a:r>
              <a:rPr lang="zh-CN" altLang="zh-CN">
                <a:solidFill>
                  <a:srgbClr val="0000FF"/>
                </a:solidFill>
                <a:latin typeface="Times New Roman" pitchFamily="18" charset="0"/>
                <a:ea typeface="仿宋" pitchFamily="49" charset="-122"/>
                <a:cs typeface="Times New Roman" pitchFamily="18" charset="0"/>
              </a:rPr>
              <a:t>先按单位重量价值递减排序</a:t>
            </a:r>
            <a:r>
              <a:rPr lang="zh-CN" altLang="en-US">
                <a:solidFill>
                  <a:srgbClr val="0000FF"/>
                </a:solidFill>
                <a:latin typeface="Times New Roman" pitchFamily="18" charset="0"/>
                <a:ea typeface="仿宋" pitchFamily="49" charset="-122"/>
                <a:cs typeface="Times New Roman" pitchFamily="18" charset="0"/>
              </a:rPr>
              <a:t>。</a:t>
            </a:r>
            <a:endParaRPr lang="zh-CN" altLang="zh-CN">
              <a:solidFill>
                <a:srgbClr val="0000FF"/>
              </a:solidFill>
              <a:latin typeface="Times New Roman" pitchFamily="18" charset="0"/>
              <a:ea typeface="仿宋" pitchFamily="49" charset="-122"/>
              <a:cs typeface="Times New Roman" pitchFamily="18" charset="0"/>
            </a:endParaRPr>
          </a:p>
        </p:txBody>
      </p:sp>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TextBox 8"/>
          <p:cNvSpPr txBox="1"/>
          <p:nvPr/>
        </p:nvSpPr>
        <p:spPr>
          <a:xfrm>
            <a:off x="500034" y="2071678"/>
            <a:ext cx="8358246" cy="41465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(QNode&amp;e)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求结点</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的上界函数值</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rw=W-e.cw;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背包的剩余容量</a:t>
            </a:r>
          </a:p>
          <a:p>
            <a:pPr algn="l" defTabSz="360000">
              <a:lnSpc>
                <a:spcPts val="2400"/>
              </a:lnSpc>
              <a:spcBef>
                <a:spcPts val="0"/>
              </a:spcBef>
            </a:pPr>
            <a:r>
              <a:rPr lang="en-US" altLang="zh-CN" sz="2000">
                <a:solidFill>
                  <a:srgbClr val="0000FF"/>
                </a:solidFill>
                <a:latin typeface="Consolas" pitchFamily="49" charset="0"/>
                <a:ea typeface="仿宋" pitchFamily="49" charset="-122"/>
              </a:rPr>
              <a:t> 	double b=e.cv;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表示物品价值的上界值</a:t>
            </a:r>
          </a:p>
          <a:p>
            <a:pPr algn="l" defTabSz="360000">
              <a:lnSpc>
                <a:spcPts val="2400"/>
              </a:lnSpc>
              <a:spcBef>
                <a:spcPts val="0"/>
              </a:spcBef>
            </a:pPr>
            <a:r>
              <a:rPr lang="en-US" altLang="zh-CN" sz="2000">
                <a:solidFill>
                  <a:srgbClr val="0000FF"/>
                </a:solidFill>
                <a:latin typeface="Consolas" pitchFamily="49" charset="0"/>
                <a:ea typeface="仿宋" pitchFamily="49" charset="-122"/>
              </a:rPr>
              <a:t> 	int j=e.i;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while (j&lt;n &amp;&amp; g[j].w&lt;=rw)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rw-=g[j].w;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选择物品</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b+=g[j].v;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累计价值</a:t>
            </a:r>
          </a:p>
          <a:p>
            <a:pPr algn="l" defTabSz="360000">
              <a:lnSpc>
                <a:spcPts val="2400"/>
              </a:lnSpc>
              <a:spcBef>
                <a:spcPts val="0"/>
              </a:spcBef>
            </a:pPr>
            <a:r>
              <a:rPr lang="en-US" altLang="zh-CN" sz="2000">
                <a:solidFill>
                  <a:srgbClr val="0000FF"/>
                </a:solidFill>
                <a:latin typeface="Consolas" pitchFamily="49" charset="0"/>
                <a:ea typeface="仿宋" pitchFamily="49" charset="-122"/>
              </a:rPr>
              <a:t>    	j++;</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(j&lt;n)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最后物品只能部分装入</a:t>
            </a:r>
          </a:p>
          <a:p>
            <a:pPr algn="l" defTabSz="360000">
              <a:lnSpc>
                <a:spcPts val="2400"/>
              </a:lnSpc>
              <a:spcBef>
                <a:spcPts val="0"/>
              </a:spcBef>
            </a:pPr>
            <a:r>
              <a:rPr lang="en-US" altLang="zh-CN" sz="2000">
                <a:solidFill>
                  <a:srgbClr val="0000FF"/>
                </a:solidFill>
                <a:latin typeface="Consolas" pitchFamily="49" charset="0"/>
                <a:ea typeface="仿宋" pitchFamily="49" charset="-122"/>
              </a:rPr>
              <a:t>  		b+=(double)g[j].v/g[j].w*rw;</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e.ub=b;</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pic>
        <p:nvPicPr>
          <p:cNvPr id="7" name="Picture 2"/>
          <p:cNvPicPr>
            <a:picLocks noChangeAspect="1" noChangeArrowheads="1"/>
          </p:cNvPicPr>
          <p:nvPr/>
        </p:nvPicPr>
        <p:blipFill>
          <a:blip r:embed="rId2" cstate="print"/>
          <a:srcRect/>
          <a:stretch>
            <a:fillRect/>
          </a:stretch>
        </p:blipFill>
        <p:spPr bwMode="auto">
          <a:xfrm>
            <a:off x="1142976" y="928670"/>
            <a:ext cx="4000500" cy="971550"/>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7AF016A1-9F15-429F-9EFD-84004B73C732}" type="slidenum">
              <a:rPr lang="en-US" altLang="zh-CN" smtClean="0"/>
              <a:pPr/>
              <a:t>58</a:t>
            </a:fld>
            <a:r>
              <a:rPr lang="en-US" altLang="zh-CN"/>
              <a:t>/126</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00042"/>
            <a:ext cx="871543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cs typeface="Consolas" pitchFamily="49" charset="0"/>
              </a:rPr>
              <a:t>对于第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层的结点</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，求出结点</a:t>
            </a:r>
            <a:r>
              <a:rPr lang="en-US" altLang="zh-CN">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的上界函数值</a:t>
            </a:r>
            <a:r>
              <a:rPr lang="en-US" altLang="zh-CN">
                <a:solidFill>
                  <a:srgbClr val="0000FF"/>
                </a:solidFill>
                <a:latin typeface="Consolas" pitchFamily="49" charset="0"/>
                <a:ea typeface="仿宋" pitchFamily="49" charset="-122"/>
                <a:cs typeface="Consolas" pitchFamily="49" charset="0"/>
              </a:rPr>
              <a:t>ub</a:t>
            </a:r>
            <a:r>
              <a:rPr lang="zh-CN" altLang="zh-CN">
                <a:solidFill>
                  <a:srgbClr val="0000FF"/>
                </a:solidFill>
                <a:latin typeface="Consolas" pitchFamily="49" charset="0"/>
                <a:ea typeface="仿宋" pitchFamily="49" charset="-122"/>
                <a:cs typeface="Consolas" pitchFamily="49" charset="0"/>
              </a:rPr>
              <a:t>，其剪支如下：</a:t>
            </a:r>
          </a:p>
        </p:txBody>
      </p:sp>
      <p:sp>
        <p:nvSpPr>
          <p:cNvPr id="5" name="TextBox 4"/>
          <p:cNvSpPr txBox="1"/>
          <p:nvPr/>
        </p:nvSpPr>
        <p:spPr>
          <a:xfrm>
            <a:off x="500034" y="1285860"/>
            <a:ext cx="8143932" cy="236830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3000"/>
              </a:lnSpc>
              <a:spcBef>
                <a:spcPts val="1200"/>
              </a:spcBef>
              <a:buBlip>
                <a:blip r:embed="rId2"/>
              </a:buBlip>
            </a:pPr>
            <a:r>
              <a:rPr lang="zh-CN" altLang="zh-CN" sz="2200">
                <a:solidFill>
                  <a:srgbClr val="FF0000"/>
                </a:solidFill>
                <a:latin typeface="楷体" pitchFamily="49" charset="-122"/>
                <a:ea typeface="楷体" pitchFamily="49" charset="-122"/>
                <a:cs typeface="Consolas" pitchFamily="49" charset="0"/>
              </a:rPr>
              <a:t>左剪支</a:t>
            </a:r>
            <a:r>
              <a:rPr lang="zh-CN" altLang="zh-CN" sz="2200">
                <a:solidFill>
                  <a:srgbClr val="0000FF"/>
                </a:solidFill>
                <a:latin typeface="Consolas" pitchFamily="49" charset="0"/>
                <a:ea typeface="仿宋" pitchFamily="49" charset="-122"/>
                <a:cs typeface="Consolas" pitchFamily="49" charset="0"/>
              </a:rPr>
              <a:t>：终止选择物品</a:t>
            </a:r>
            <a:r>
              <a:rPr lang="en-US"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超重的分支，也就是仅仅扩展满足</a:t>
            </a:r>
            <a:r>
              <a:rPr lang="en-US" altLang="zh-CN" sz="2200">
                <a:solidFill>
                  <a:srgbClr val="006600"/>
                </a:solidFill>
                <a:latin typeface="Consolas" pitchFamily="49" charset="0"/>
                <a:ea typeface="仿宋" pitchFamily="49" charset="-122"/>
                <a:cs typeface="Consolas" pitchFamily="49" charset="0"/>
              </a:rPr>
              <a:t>e.cw+w[i]</a:t>
            </a:r>
            <a:r>
              <a:rPr lang="zh-CN" altLang="zh-CN" sz="2200">
                <a:solidFill>
                  <a:srgbClr val="006600"/>
                </a:solidFill>
                <a:latin typeface="+mj-ea"/>
                <a:ea typeface="+mj-ea"/>
                <a:cs typeface="Consolas" pitchFamily="49" charset="0"/>
              </a:rPr>
              <a:t>≤</a:t>
            </a:r>
            <a:r>
              <a:rPr lang="en-US" altLang="zh-CN" sz="2200">
                <a:solidFill>
                  <a:srgbClr val="006600"/>
                </a:solidFill>
                <a:latin typeface="Consolas" pitchFamily="49" charset="0"/>
                <a:ea typeface="仿宋" pitchFamily="49" charset="-122"/>
                <a:cs typeface="Consolas" pitchFamily="49" charset="0"/>
              </a:rPr>
              <a:t>W</a:t>
            </a:r>
            <a:r>
              <a:rPr lang="zh-CN" altLang="zh-CN" sz="2200">
                <a:solidFill>
                  <a:srgbClr val="0000FF"/>
                </a:solidFill>
                <a:latin typeface="Consolas" pitchFamily="49" charset="0"/>
                <a:ea typeface="仿宋" pitchFamily="49" charset="-122"/>
                <a:cs typeface="Consolas" pitchFamily="49" charset="0"/>
              </a:rPr>
              <a:t>条件的子结点</a:t>
            </a:r>
            <a:r>
              <a:rPr lang="en-US" altLang="zh-CN" sz="2200">
                <a:solidFill>
                  <a:srgbClr val="0000FF"/>
                </a:solidFill>
                <a:latin typeface="Consolas" pitchFamily="49" charset="0"/>
                <a:ea typeface="仿宋" pitchFamily="49" charset="-122"/>
                <a:cs typeface="Consolas" pitchFamily="49" charset="0"/>
              </a:rPr>
              <a:t>e1</a:t>
            </a:r>
            <a:r>
              <a:rPr lang="zh-CN" altLang="zh-CN" sz="2200">
                <a:solidFill>
                  <a:srgbClr val="0000FF"/>
                </a:solidFill>
                <a:latin typeface="Consolas" pitchFamily="49" charset="0"/>
                <a:ea typeface="仿宋" pitchFamily="49" charset="-122"/>
                <a:cs typeface="Consolas" pitchFamily="49" charset="0"/>
              </a:rPr>
              <a:t>，即满足该条件时将</a:t>
            </a:r>
            <a:r>
              <a:rPr lang="en-US" altLang="zh-CN" sz="2200">
                <a:solidFill>
                  <a:srgbClr val="0000FF"/>
                </a:solidFill>
                <a:latin typeface="Consolas" pitchFamily="49" charset="0"/>
                <a:ea typeface="仿宋" pitchFamily="49" charset="-122"/>
                <a:cs typeface="Consolas" pitchFamily="49" charset="0"/>
              </a:rPr>
              <a:t>e1</a:t>
            </a:r>
            <a:r>
              <a:rPr lang="zh-CN" altLang="zh-CN" sz="2200">
                <a:solidFill>
                  <a:srgbClr val="0000FF"/>
                </a:solidFill>
                <a:latin typeface="Consolas" pitchFamily="49" charset="0"/>
                <a:ea typeface="仿宋" pitchFamily="49" charset="-122"/>
                <a:cs typeface="Consolas" pitchFamily="49" charset="0"/>
              </a:rPr>
              <a:t>进队。</a:t>
            </a:r>
          </a:p>
          <a:p>
            <a:pPr marL="457200" indent="-457200" algn="l">
              <a:lnSpc>
                <a:spcPts val="3000"/>
              </a:lnSpc>
              <a:spcBef>
                <a:spcPts val="1200"/>
              </a:spcBef>
              <a:buBlip>
                <a:blip r:embed="rId2"/>
              </a:buBlip>
            </a:pPr>
            <a:r>
              <a:rPr lang="zh-CN" altLang="zh-CN" sz="2200">
                <a:solidFill>
                  <a:srgbClr val="FF0000"/>
                </a:solidFill>
                <a:latin typeface="楷体" pitchFamily="49" charset="-122"/>
                <a:ea typeface="楷体" pitchFamily="49" charset="-122"/>
                <a:cs typeface="Consolas" pitchFamily="49" charset="0"/>
              </a:rPr>
              <a:t>右剪支</a:t>
            </a:r>
            <a:r>
              <a:rPr lang="zh-CN" altLang="zh-CN" sz="2200">
                <a:solidFill>
                  <a:srgbClr val="0000FF"/>
                </a:solidFill>
                <a:latin typeface="Consolas" pitchFamily="49" charset="0"/>
                <a:ea typeface="仿宋" pitchFamily="49" charset="-122"/>
                <a:cs typeface="Consolas" pitchFamily="49" charset="0"/>
              </a:rPr>
              <a:t>：终止在不选择物品</a:t>
            </a:r>
            <a:r>
              <a:rPr lang="en-US" altLang="zh-CN" sz="2200" i="1">
                <a:solidFill>
                  <a:srgbClr val="0000FF"/>
                </a:solidFill>
                <a:latin typeface="Consolas" pitchFamily="49" charset="0"/>
                <a:ea typeface="仿宋" pitchFamily="49" charset="-122"/>
                <a:cs typeface="Consolas" pitchFamily="49" charset="0"/>
              </a:rPr>
              <a:t>i</a:t>
            </a:r>
            <a:r>
              <a:rPr lang="zh-CN" altLang="zh-CN" sz="2200">
                <a:solidFill>
                  <a:srgbClr val="0000FF"/>
                </a:solidFill>
                <a:latin typeface="Consolas" pitchFamily="49" charset="0"/>
                <a:ea typeface="仿宋" pitchFamily="49" charset="-122"/>
                <a:cs typeface="Consolas" pitchFamily="49" charset="0"/>
              </a:rPr>
              <a:t>时即使选择剩余所有满足限重的物品有不可能得到更优解的分支，也就是仅仅扩展满足</a:t>
            </a:r>
            <a:r>
              <a:rPr lang="en-US" altLang="zh-CN" sz="2200">
                <a:solidFill>
                  <a:srgbClr val="006600"/>
                </a:solidFill>
                <a:latin typeface="Consolas" pitchFamily="49" charset="0"/>
                <a:ea typeface="仿宋" pitchFamily="49" charset="-122"/>
                <a:cs typeface="Consolas" pitchFamily="49" charset="0"/>
              </a:rPr>
              <a:t>e.ub&gt;bestv</a:t>
            </a:r>
            <a:r>
              <a:rPr lang="zh-CN" altLang="zh-CN" sz="2200">
                <a:solidFill>
                  <a:srgbClr val="0000FF"/>
                </a:solidFill>
                <a:latin typeface="Consolas" pitchFamily="49" charset="0"/>
                <a:ea typeface="仿宋" pitchFamily="49" charset="-122"/>
                <a:cs typeface="Consolas" pitchFamily="49" charset="0"/>
              </a:rPr>
              <a:t>条件的子结点</a:t>
            </a:r>
            <a:r>
              <a:rPr lang="en-US" altLang="zh-CN" sz="2200">
                <a:solidFill>
                  <a:srgbClr val="0000FF"/>
                </a:solidFill>
                <a:latin typeface="Consolas" pitchFamily="49" charset="0"/>
                <a:ea typeface="仿宋" pitchFamily="49" charset="-122"/>
                <a:cs typeface="Consolas" pitchFamily="49" charset="0"/>
              </a:rPr>
              <a:t>e2</a:t>
            </a:r>
            <a:r>
              <a:rPr lang="zh-CN" altLang="zh-CN" sz="2200">
                <a:solidFill>
                  <a:srgbClr val="0000FF"/>
                </a:solidFill>
                <a:latin typeface="Consolas" pitchFamily="49" charset="0"/>
                <a:ea typeface="仿宋" pitchFamily="49" charset="-122"/>
                <a:cs typeface="Consolas" pitchFamily="49" charset="0"/>
              </a:rPr>
              <a:t>，即满足该条件时将</a:t>
            </a:r>
            <a:r>
              <a:rPr lang="en-US" altLang="zh-CN" sz="2200">
                <a:solidFill>
                  <a:srgbClr val="0000FF"/>
                </a:solidFill>
                <a:latin typeface="Consolas" pitchFamily="49" charset="0"/>
                <a:ea typeface="仿宋" pitchFamily="49" charset="-122"/>
                <a:cs typeface="Consolas" pitchFamily="49" charset="0"/>
              </a:rPr>
              <a:t>e2</a:t>
            </a:r>
            <a:r>
              <a:rPr lang="zh-CN" altLang="zh-CN" sz="2200">
                <a:solidFill>
                  <a:srgbClr val="0000FF"/>
                </a:solidFill>
                <a:latin typeface="Consolas" pitchFamily="49" charset="0"/>
                <a:ea typeface="仿宋" pitchFamily="49" charset="-122"/>
                <a:cs typeface="Consolas" pitchFamily="49" charset="0"/>
              </a:rPr>
              <a:t>进队。</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59</a:t>
            </a:fld>
            <a:r>
              <a:rPr lang="en-US" altLang="zh-CN"/>
              <a:t>/126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39" name="Rectangle 247"/>
          <p:cNvSpPr>
            <a:spLocks noChangeArrowheads="1"/>
          </p:cNvSpPr>
          <p:nvPr/>
        </p:nvSpPr>
        <p:spPr bwMode="auto">
          <a:xfrm>
            <a:off x="5029410"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0" name="Rectangle 238"/>
          <p:cNvSpPr>
            <a:spLocks noChangeArrowheads="1"/>
          </p:cNvSpPr>
          <p:nvPr/>
        </p:nvSpPr>
        <p:spPr bwMode="auto">
          <a:xfrm>
            <a:off x="4047781"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9" name="Rectangle 237"/>
          <p:cNvSpPr>
            <a:spLocks noChangeArrowheads="1"/>
          </p:cNvSpPr>
          <p:nvPr/>
        </p:nvSpPr>
        <p:spPr bwMode="auto">
          <a:xfrm>
            <a:off x="2034145"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6" name="Rectangle 234"/>
          <p:cNvSpPr>
            <a:spLocks noChangeArrowheads="1"/>
          </p:cNvSpPr>
          <p:nvPr/>
        </p:nvSpPr>
        <p:spPr bwMode="auto">
          <a:xfrm>
            <a:off x="3005542"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4" name="Rectangle 232"/>
          <p:cNvSpPr>
            <a:spLocks noChangeArrowheads="1"/>
          </p:cNvSpPr>
          <p:nvPr/>
        </p:nvSpPr>
        <p:spPr bwMode="auto">
          <a:xfrm>
            <a:off x="936579"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7" name="AutoShape 215"/>
          <p:cNvSpPr>
            <a:spLocks noChangeShapeType="1"/>
          </p:cNvSpPr>
          <p:nvPr/>
        </p:nvSpPr>
        <p:spPr bwMode="auto">
          <a:xfrm>
            <a:off x="885494" y="5365805"/>
            <a:ext cx="113574" cy="424718"/>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91" name="AutoShape 199"/>
          <p:cNvSpPr>
            <a:spLocks noChangeShapeType="1"/>
          </p:cNvSpPr>
          <p:nvPr/>
        </p:nvSpPr>
        <p:spPr bwMode="auto">
          <a:xfrm>
            <a:off x="1974167" y="5374299"/>
            <a:ext cx="141200" cy="416224"/>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89" name="AutoShape 197"/>
          <p:cNvSpPr>
            <a:spLocks noChangeShapeType="1"/>
          </p:cNvSpPr>
          <p:nvPr/>
        </p:nvSpPr>
        <p:spPr bwMode="auto">
          <a:xfrm>
            <a:off x="2974846" y="5374299"/>
            <a:ext cx="95157" cy="416224"/>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87" name="AutoShape 195"/>
          <p:cNvSpPr>
            <a:spLocks noChangeShapeType="1"/>
          </p:cNvSpPr>
          <p:nvPr/>
        </p:nvSpPr>
        <p:spPr bwMode="auto">
          <a:xfrm>
            <a:off x="3984734" y="5374299"/>
            <a:ext cx="135061" cy="416224"/>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81" name="AutoShape 189"/>
          <p:cNvSpPr>
            <a:spLocks noChangeShapeType="1"/>
          </p:cNvSpPr>
          <p:nvPr/>
        </p:nvSpPr>
        <p:spPr bwMode="auto">
          <a:xfrm>
            <a:off x="4988482" y="5365805"/>
            <a:ext cx="85948" cy="424718"/>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1" name="AutoShape 169"/>
          <p:cNvSpPr>
            <a:spLocks noChangeShapeType="1"/>
          </p:cNvSpPr>
          <p:nvPr/>
        </p:nvSpPr>
        <p:spPr bwMode="auto">
          <a:xfrm>
            <a:off x="6635816" y="3768865"/>
            <a:ext cx="789902" cy="549302"/>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40" name="Rectangle 248"/>
          <p:cNvSpPr>
            <a:spLocks noChangeArrowheads="1"/>
          </p:cNvSpPr>
          <p:nvPr/>
        </p:nvSpPr>
        <p:spPr bwMode="auto">
          <a:xfrm>
            <a:off x="5714946" y="4639065"/>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76" name="AutoShape 184"/>
          <p:cNvSpPr>
            <a:spLocks noChangeShapeType="1"/>
          </p:cNvSpPr>
          <p:nvPr/>
        </p:nvSpPr>
        <p:spPr bwMode="auto">
          <a:xfrm>
            <a:off x="5622859" y="4591874"/>
            <a:ext cx="256820"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45" name="Rectangle 253"/>
          <p:cNvSpPr>
            <a:spLocks noChangeArrowheads="1"/>
          </p:cNvSpPr>
          <p:nvPr/>
        </p:nvSpPr>
        <p:spPr bwMode="auto">
          <a:xfrm>
            <a:off x="2755884" y="4690031"/>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80" name="AutoShape 188"/>
          <p:cNvSpPr>
            <a:spLocks noChangeShapeType="1"/>
          </p:cNvSpPr>
          <p:nvPr/>
        </p:nvSpPr>
        <p:spPr bwMode="auto">
          <a:xfrm flipH="1">
            <a:off x="2810113" y="4591874"/>
            <a:ext cx="254774"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491"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 name="TextBox 102"/>
          <p:cNvSpPr txBox="1"/>
          <p:nvPr/>
        </p:nvSpPr>
        <p:spPr>
          <a:xfrm>
            <a:off x="6715140" y="928670"/>
            <a:ext cx="857256" cy="369332"/>
          </a:xfrm>
          <a:prstGeom prst="rect">
            <a:avLst/>
          </a:prstGeom>
          <a:noFill/>
        </p:spPr>
        <p:txBody>
          <a:bodyPr wrap="square" rtlCol="0">
            <a:spAutoFit/>
          </a:bodyPr>
          <a:lstStyle/>
          <a:p>
            <a:pPr algn="l">
              <a:lnSpc>
                <a:spcPct val="100000"/>
              </a:lnSpc>
              <a:spcBef>
                <a:spcPts val="0"/>
              </a:spcBef>
            </a:pPr>
            <a:r>
              <a:rPr lang="pt-BR" altLang="zh-CN" sz="1800" b="0">
                <a:solidFill>
                  <a:srgbClr val="0000FF"/>
                </a:solidFill>
              </a:rPr>
              <a:t>W=6</a:t>
            </a:r>
            <a:endParaRPr lang="zh-CN" altLang="en-US" sz="1800" b="0">
              <a:solidFill>
                <a:srgbClr val="0000FF"/>
              </a:solidFill>
              <a:latin typeface="Consolas" pitchFamily="49" charset="0"/>
              <a:ea typeface="楷体" pitchFamily="49" charset="-122"/>
              <a:cs typeface="Consolas" pitchFamily="49" charset="0"/>
            </a:endParaRPr>
          </a:p>
        </p:txBody>
      </p:sp>
      <p:graphicFrame>
        <p:nvGraphicFramePr>
          <p:cNvPr id="105" name="表格 104"/>
          <p:cNvGraphicFramePr>
            <a:graphicFrameLocks noGrp="1"/>
          </p:cNvGraphicFramePr>
          <p:nvPr/>
        </p:nvGraphicFramePr>
        <p:xfrm>
          <a:off x="428597" y="285728"/>
          <a:ext cx="6143668" cy="1778000"/>
        </p:xfrm>
        <a:graphic>
          <a:graphicData uri="http://schemas.openxmlformats.org/drawingml/2006/table">
            <a:tbl>
              <a:tblPr>
                <a:tableStyleId>{35758FB7-9AC5-4552-8A53-C91805E547FA}</a:tableStyleId>
              </a:tblPr>
              <a:tblGrid>
                <a:gridCol w="1256378">
                  <a:extLst>
                    <a:ext uri="{9D8B030D-6E8A-4147-A177-3AD203B41FA5}">
                      <a16:colId xmlns:a16="http://schemas.microsoft.com/office/drawing/2014/main" val="20000"/>
                    </a:ext>
                  </a:extLst>
                </a:gridCol>
                <a:gridCol w="1433934">
                  <a:extLst>
                    <a:ext uri="{9D8B030D-6E8A-4147-A177-3AD203B41FA5}">
                      <a16:colId xmlns:a16="http://schemas.microsoft.com/office/drawing/2014/main" val="20001"/>
                    </a:ext>
                  </a:extLst>
                </a:gridCol>
                <a:gridCol w="1281102">
                  <a:extLst>
                    <a:ext uri="{9D8B030D-6E8A-4147-A177-3AD203B41FA5}">
                      <a16:colId xmlns:a16="http://schemas.microsoft.com/office/drawing/2014/main" val="20002"/>
                    </a:ext>
                  </a:extLst>
                </a:gridCol>
                <a:gridCol w="1057470">
                  <a:extLst>
                    <a:ext uri="{9D8B030D-6E8A-4147-A177-3AD203B41FA5}">
                      <a16:colId xmlns:a16="http://schemas.microsoft.com/office/drawing/2014/main" val="20003"/>
                    </a:ext>
                  </a:extLst>
                </a:gridCol>
                <a:gridCol w="1114784">
                  <a:extLst>
                    <a:ext uri="{9D8B030D-6E8A-4147-A177-3AD203B41FA5}">
                      <a16:colId xmlns:a16="http://schemas.microsoft.com/office/drawing/2014/main" val="20004"/>
                    </a:ext>
                  </a:extLst>
                </a:gridCol>
              </a:tblGrid>
              <a:tr h="314327">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序号</a:t>
                      </a:r>
                      <a:r>
                        <a:rPr lang="pt-BR" sz="1800" b="1" kern="100">
                          <a:solidFill>
                            <a:srgbClr val="FF0000"/>
                          </a:solidFill>
                          <a:latin typeface="Consolas" pitchFamily="49" charset="0"/>
                          <a:ea typeface="仿宋" pitchFamily="49" charset="-122"/>
                          <a:cs typeface="Consolas" pitchFamily="49" charset="0"/>
                        </a:rPr>
                        <a:t>i</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chemeClr val="bg1">
                              <a:lumMod val="50000"/>
                            </a:schemeClr>
                          </a:solidFill>
                          <a:latin typeface="Consolas" pitchFamily="49" charset="0"/>
                          <a:ea typeface="仿宋" pitchFamily="49" charset="-122"/>
                          <a:cs typeface="Consolas" pitchFamily="49" charset="0"/>
                        </a:rPr>
                        <a:t>物品编号</a:t>
                      </a:r>
                      <a:r>
                        <a:rPr lang="pt-BR" sz="1800" b="1" kern="100">
                          <a:solidFill>
                            <a:schemeClr val="bg1">
                              <a:lumMod val="50000"/>
                            </a:schemeClr>
                          </a:solidFill>
                          <a:latin typeface="Consolas" pitchFamily="49" charset="0"/>
                          <a:ea typeface="仿宋" pitchFamily="49" charset="-122"/>
                          <a:cs typeface="Consolas" pitchFamily="49" charset="0"/>
                        </a:rPr>
                        <a:t>no</a:t>
                      </a:r>
                      <a:endParaRPr lang="zh-CN" sz="1800" b="1" kern="100">
                        <a:solidFill>
                          <a:schemeClr val="bg1">
                            <a:lumMod val="50000"/>
                          </a:schemeClr>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重量</a:t>
                      </a:r>
                      <a:r>
                        <a:rPr lang="pt-BR" sz="1800" b="1" kern="100">
                          <a:solidFill>
                            <a:srgbClr val="FF0000"/>
                          </a:solidFill>
                          <a:latin typeface="Consolas" pitchFamily="49" charset="0"/>
                          <a:ea typeface="仿宋" pitchFamily="49" charset="-122"/>
                          <a:cs typeface="Consolas" pitchFamily="49" charset="0"/>
                        </a:rPr>
                        <a:t>w</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价值</a:t>
                      </a:r>
                      <a:r>
                        <a:rPr lang="pt-BR" sz="1800" b="1" kern="100">
                          <a:solidFill>
                            <a:srgbClr val="FF0000"/>
                          </a:solidFill>
                          <a:latin typeface="Consolas" pitchFamily="49" charset="0"/>
                          <a:ea typeface="仿宋" pitchFamily="49" charset="-122"/>
                          <a:cs typeface="Consolas" pitchFamily="49" charset="0"/>
                        </a:rPr>
                        <a:t>v</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b="1" kern="100">
                          <a:solidFill>
                            <a:srgbClr val="FF0000"/>
                          </a:solidFill>
                          <a:latin typeface="Consolas" pitchFamily="49" charset="0"/>
                          <a:ea typeface="仿宋" pitchFamily="49" charset="-122"/>
                          <a:cs typeface="Consolas" pitchFamily="49" charset="0"/>
                        </a:rPr>
                        <a:t>v/w</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0</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itchFamily="49" charset="0"/>
                          <a:ea typeface="仿宋" pitchFamily="49" charset="-122"/>
                          <a:cs typeface="Consolas" pitchFamily="49" charset="0"/>
                        </a:rPr>
                        <a:t>2</a:t>
                      </a:r>
                      <a:endParaRPr lang="zh-CN" sz="1800" kern="100">
                        <a:solidFill>
                          <a:schemeClr val="bg1">
                            <a:lumMod val="50000"/>
                          </a:schemeClr>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1.5</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itchFamily="49" charset="0"/>
                          <a:ea typeface="仿宋" pitchFamily="49" charset="-122"/>
                          <a:cs typeface="Consolas" pitchFamily="49" charset="0"/>
                        </a:rPr>
                        <a:t>1</a:t>
                      </a:r>
                      <a:endParaRPr lang="zh-CN" sz="1800" kern="100">
                        <a:solidFill>
                          <a:schemeClr val="bg1">
                            <a:lumMod val="50000"/>
                          </a:schemeClr>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4</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1.3</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itchFamily="49" charset="0"/>
                          <a:ea typeface="仿宋" pitchFamily="49" charset="-122"/>
                          <a:cs typeface="Consolas" pitchFamily="49" charset="0"/>
                        </a:rPr>
                        <a:t>3</a:t>
                      </a:r>
                      <a:endParaRPr lang="zh-CN" sz="1800" kern="100">
                        <a:solidFill>
                          <a:schemeClr val="bg1">
                            <a:lumMod val="50000"/>
                          </a:schemeClr>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chemeClr val="bg1">
                              <a:lumMod val="50000"/>
                            </a:schemeClr>
                          </a:solidFill>
                          <a:latin typeface="Consolas" pitchFamily="49" charset="0"/>
                          <a:ea typeface="仿宋" pitchFamily="49" charset="-122"/>
                          <a:cs typeface="Consolas" pitchFamily="49" charset="0"/>
                        </a:rPr>
                        <a:t>0</a:t>
                      </a:r>
                      <a:endParaRPr lang="zh-CN" sz="1800" kern="100">
                        <a:solidFill>
                          <a:schemeClr val="bg1">
                            <a:lumMod val="50000"/>
                          </a:schemeClr>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5</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4</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0.8</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107" name="TextBox 106"/>
          <p:cNvSpPr txBox="1"/>
          <p:nvPr/>
        </p:nvSpPr>
        <p:spPr>
          <a:xfrm>
            <a:off x="4000496" y="2214554"/>
            <a:ext cx="1500198"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rPr>
              <a:t>(cw,cv,ub)</a:t>
            </a:r>
            <a:endParaRPr lang="zh-CN" altLang="en-US" sz="1800">
              <a:solidFill>
                <a:srgbClr val="0000FF"/>
              </a:solidFill>
              <a:latin typeface="Consolas" pitchFamily="49" charset="0"/>
              <a:ea typeface="楷体" pitchFamily="49" charset="-122"/>
              <a:cs typeface="Consolas" pitchFamily="49" charset="0"/>
            </a:endParaRPr>
          </a:p>
        </p:txBody>
      </p:sp>
      <p:sp>
        <p:nvSpPr>
          <p:cNvPr id="108" name="TextBox 107"/>
          <p:cNvSpPr txBox="1"/>
          <p:nvPr/>
        </p:nvSpPr>
        <p:spPr>
          <a:xfrm>
            <a:off x="5429256" y="2214554"/>
            <a:ext cx="3357586" cy="369332"/>
          </a:xfrm>
          <a:prstGeom prst="rect">
            <a:avLst/>
          </a:prstGeom>
          <a:noFill/>
        </p:spPr>
        <p:txBody>
          <a:bodyPr wrap="square" rtlCol="0">
            <a:spAutoFit/>
          </a:bodyPr>
          <a:lstStyle/>
          <a:p>
            <a:pPr algn="l">
              <a:lnSpc>
                <a:spcPct val="100000"/>
              </a:lnSpc>
              <a:spcBef>
                <a:spcPts val="0"/>
              </a:spcBef>
            </a:pPr>
            <a:r>
              <a:rPr lang="zh-CN" altLang="zh-CN" sz="1800">
                <a:solidFill>
                  <a:srgbClr val="0000FF"/>
                </a:solidFill>
                <a:latin typeface="Consolas" pitchFamily="49" charset="0"/>
                <a:ea typeface="仿宋" pitchFamily="49" charset="-122"/>
                <a:cs typeface="Times New Roman" pitchFamily="18" charset="0"/>
              </a:rPr>
              <a:t>仅扩展</a:t>
            </a:r>
            <a:r>
              <a:rPr lang="en-US" altLang="zh-CN" sz="1800">
                <a:solidFill>
                  <a:srgbClr val="006600"/>
                </a:solidFill>
                <a:latin typeface="Consolas" pitchFamily="49" charset="0"/>
                <a:ea typeface="仿宋" pitchFamily="49" charset="-122"/>
                <a:cs typeface="Times New Roman" pitchFamily="18" charset="0"/>
              </a:rPr>
              <a:t>e.ub&gt;bestv</a:t>
            </a:r>
            <a:r>
              <a:rPr lang="zh-CN" altLang="en-US" sz="1800">
                <a:solidFill>
                  <a:srgbClr val="0000FF"/>
                </a:solidFill>
                <a:latin typeface="Consolas" pitchFamily="49" charset="0"/>
                <a:ea typeface="仿宋" pitchFamily="49" charset="-122"/>
                <a:cs typeface="Times New Roman" pitchFamily="18" charset="0"/>
              </a:rPr>
              <a:t>的右结点</a:t>
            </a:r>
            <a:endParaRPr lang="zh-CN" altLang="en-US" sz="1800">
              <a:solidFill>
                <a:srgbClr val="0000FF"/>
              </a:solidFill>
              <a:latin typeface="Consolas" pitchFamily="49" charset="0"/>
              <a:ea typeface="楷体" pitchFamily="49" charset="-122"/>
              <a:cs typeface="Consolas" pitchFamily="49" charset="0"/>
            </a:endParaRPr>
          </a:p>
        </p:txBody>
      </p:sp>
      <p:sp>
        <p:nvSpPr>
          <p:cNvPr id="59651" name="Rectangle 25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649" name="Rectangle 257"/>
          <p:cNvSpPr>
            <a:spLocks noChangeArrowheads="1"/>
          </p:cNvSpPr>
          <p:nvPr/>
        </p:nvSpPr>
        <p:spPr bwMode="auto">
          <a:xfrm>
            <a:off x="5509043" y="3871741"/>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8" name="Rectangle 256"/>
          <p:cNvSpPr>
            <a:spLocks noChangeArrowheads="1"/>
          </p:cNvSpPr>
          <p:nvPr/>
        </p:nvSpPr>
        <p:spPr bwMode="auto">
          <a:xfrm>
            <a:off x="7068235" y="3871741"/>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7" name="Rectangle 255"/>
          <p:cNvSpPr>
            <a:spLocks noChangeArrowheads="1"/>
          </p:cNvSpPr>
          <p:nvPr/>
        </p:nvSpPr>
        <p:spPr bwMode="auto">
          <a:xfrm>
            <a:off x="714621" y="4639065"/>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6" name="Rectangle 254"/>
          <p:cNvSpPr>
            <a:spLocks noChangeArrowheads="1"/>
          </p:cNvSpPr>
          <p:nvPr/>
        </p:nvSpPr>
        <p:spPr bwMode="auto">
          <a:xfrm>
            <a:off x="1674224" y="4648590"/>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4" name="Rectangle 252"/>
          <p:cNvSpPr>
            <a:spLocks noChangeArrowheads="1"/>
          </p:cNvSpPr>
          <p:nvPr/>
        </p:nvSpPr>
        <p:spPr bwMode="auto">
          <a:xfrm>
            <a:off x="6820623" y="4711739"/>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3" name="Rectangle 251"/>
          <p:cNvSpPr>
            <a:spLocks noChangeArrowheads="1"/>
          </p:cNvSpPr>
          <p:nvPr/>
        </p:nvSpPr>
        <p:spPr bwMode="auto">
          <a:xfrm>
            <a:off x="4800215" y="4639065"/>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2" name="Rectangle 250"/>
          <p:cNvSpPr>
            <a:spLocks noChangeArrowheads="1"/>
          </p:cNvSpPr>
          <p:nvPr/>
        </p:nvSpPr>
        <p:spPr bwMode="auto">
          <a:xfrm>
            <a:off x="3716658" y="4690031"/>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41" name="Rectangle 249"/>
          <p:cNvSpPr>
            <a:spLocks noChangeArrowheads="1"/>
          </p:cNvSpPr>
          <p:nvPr/>
        </p:nvSpPr>
        <p:spPr bwMode="auto">
          <a:xfrm>
            <a:off x="7837040" y="4669267"/>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8" name="Rectangle 246"/>
          <p:cNvSpPr>
            <a:spLocks noChangeArrowheads="1"/>
          </p:cNvSpPr>
          <p:nvPr/>
        </p:nvSpPr>
        <p:spPr bwMode="auto">
          <a:xfrm>
            <a:off x="1423691"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7" name="Rectangle 245"/>
          <p:cNvSpPr>
            <a:spLocks noChangeArrowheads="1"/>
          </p:cNvSpPr>
          <p:nvPr/>
        </p:nvSpPr>
        <p:spPr bwMode="auto">
          <a:xfrm>
            <a:off x="4428798"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6" name="Rectangle 244"/>
          <p:cNvSpPr>
            <a:spLocks noChangeArrowheads="1"/>
          </p:cNvSpPr>
          <p:nvPr/>
        </p:nvSpPr>
        <p:spPr bwMode="auto">
          <a:xfrm>
            <a:off x="3397423" y="5444142"/>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5" name="Rectangle 243"/>
          <p:cNvSpPr>
            <a:spLocks noChangeArrowheads="1"/>
          </p:cNvSpPr>
          <p:nvPr/>
        </p:nvSpPr>
        <p:spPr bwMode="auto">
          <a:xfrm>
            <a:off x="2406902"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4" name="Rectangle 242"/>
          <p:cNvSpPr>
            <a:spLocks noChangeArrowheads="1"/>
          </p:cNvSpPr>
          <p:nvPr/>
        </p:nvSpPr>
        <p:spPr bwMode="auto">
          <a:xfrm>
            <a:off x="7582266" y="5478119"/>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3" name="Rectangle 241"/>
          <p:cNvSpPr>
            <a:spLocks noChangeArrowheads="1"/>
          </p:cNvSpPr>
          <p:nvPr/>
        </p:nvSpPr>
        <p:spPr bwMode="auto">
          <a:xfrm>
            <a:off x="6546799"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2" name="Rectangle 240"/>
          <p:cNvSpPr>
            <a:spLocks noChangeArrowheads="1"/>
          </p:cNvSpPr>
          <p:nvPr/>
        </p:nvSpPr>
        <p:spPr bwMode="auto">
          <a:xfrm>
            <a:off x="5493937" y="5478119"/>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31" name="Rectangle 239"/>
          <p:cNvSpPr>
            <a:spLocks noChangeArrowheads="1"/>
          </p:cNvSpPr>
          <p:nvPr/>
        </p:nvSpPr>
        <p:spPr bwMode="auto">
          <a:xfrm>
            <a:off x="6076132"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8" name="Rectangle 236"/>
          <p:cNvSpPr>
            <a:spLocks noChangeArrowheads="1"/>
          </p:cNvSpPr>
          <p:nvPr/>
        </p:nvSpPr>
        <p:spPr bwMode="auto">
          <a:xfrm>
            <a:off x="8246316"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7" name="Rectangle 235"/>
          <p:cNvSpPr>
            <a:spLocks noChangeArrowheads="1"/>
          </p:cNvSpPr>
          <p:nvPr/>
        </p:nvSpPr>
        <p:spPr bwMode="auto">
          <a:xfrm>
            <a:off x="7151113" y="5444142"/>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5" name="Rectangle 233"/>
          <p:cNvSpPr>
            <a:spLocks noChangeArrowheads="1"/>
          </p:cNvSpPr>
          <p:nvPr/>
        </p:nvSpPr>
        <p:spPr bwMode="auto">
          <a:xfrm>
            <a:off x="282203" y="545263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3" name="Rectangle 231"/>
          <p:cNvSpPr>
            <a:spLocks noChangeArrowheads="1"/>
          </p:cNvSpPr>
          <p:nvPr/>
        </p:nvSpPr>
        <p:spPr bwMode="auto">
          <a:xfrm>
            <a:off x="1513732" y="3816056"/>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2" name="Rectangle 230"/>
          <p:cNvSpPr>
            <a:spLocks noChangeArrowheads="1"/>
          </p:cNvSpPr>
          <p:nvPr/>
        </p:nvSpPr>
        <p:spPr bwMode="auto">
          <a:xfrm>
            <a:off x="2970679" y="3871741"/>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1" name="Oval 229"/>
          <p:cNvSpPr>
            <a:spLocks noChangeArrowheads="1"/>
          </p:cNvSpPr>
          <p:nvPr/>
        </p:nvSpPr>
        <p:spPr bwMode="auto">
          <a:xfrm>
            <a:off x="4009290" y="2722171"/>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0,0,8</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20" name="Oval 228"/>
          <p:cNvSpPr>
            <a:spLocks noChangeArrowheads="1"/>
          </p:cNvSpPr>
          <p:nvPr/>
        </p:nvSpPr>
        <p:spPr bwMode="auto">
          <a:xfrm>
            <a:off x="1932216" y="3495158"/>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2,3,8</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9" name="Oval 227"/>
          <p:cNvSpPr>
            <a:spLocks noChangeArrowheads="1"/>
          </p:cNvSpPr>
          <p:nvPr/>
        </p:nvSpPr>
        <p:spPr bwMode="auto">
          <a:xfrm>
            <a:off x="917213" y="4318167"/>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5,7,8</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8" name="Oval 226"/>
          <p:cNvSpPr>
            <a:spLocks noChangeArrowheads="1"/>
          </p:cNvSpPr>
          <p:nvPr/>
        </p:nvSpPr>
        <p:spPr bwMode="auto">
          <a:xfrm>
            <a:off x="2897232" y="4318167"/>
            <a:ext cx="828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2,3,6.4</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7" name="Oval 225"/>
          <p:cNvSpPr>
            <a:spLocks noChangeArrowheads="1"/>
          </p:cNvSpPr>
          <p:nvPr/>
        </p:nvSpPr>
        <p:spPr bwMode="auto">
          <a:xfrm>
            <a:off x="333995" y="5066615"/>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6,8,8</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6" name="Oval 224"/>
          <p:cNvSpPr>
            <a:spLocks noChangeArrowheads="1"/>
          </p:cNvSpPr>
          <p:nvPr/>
        </p:nvSpPr>
        <p:spPr bwMode="auto">
          <a:xfrm>
            <a:off x="1393144" y="5066615"/>
            <a:ext cx="900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5,7,7.8</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5" name="Oval 223"/>
          <p:cNvSpPr>
            <a:spLocks noChangeArrowheads="1"/>
          </p:cNvSpPr>
          <p:nvPr/>
        </p:nvSpPr>
        <p:spPr bwMode="auto">
          <a:xfrm>
            <a:off x="222468"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14" name="Oval 222"/>
          <p:cNvSpPr>
            <a:spLocks noChangeArrowheads="1"/>
          </p:cNvSpPr>
          <p:nvPr/>
        </p:nvSpPr>
        <p:spPr bwMode="auto">
          <a:xfrm>
            <a:off x="708482" y="5790523"/>
            <a:ext cx="580148" cy="320898"/>
          </a:xfrm>
          <a:prstGeom prst="ellipse">
            <a:avLst/>
          </a:prstGeom>
          <a:solidFill>
            <a:srgbClr val="FF0000"/>
          </a:solidFill>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chemeClr val="bg1"/>
                </a:solidFill>
                <a:effectLst/>
                <a:latin typeface="Times New Roman" pitchFamily="18" charset="0"/>
                <a:ea typeface="宋体" pitchFamily="2" charset="-122"/>
                <a:cs typeface="Times New Roman" pitchFamily="18" charset="0"/>
              </a:rPr>
              <a:t>6,8,8</a:t>
            </a:r>
            <a:endParaRPr kumimoji="0" lang="en-US" altLang="zh-CN" sz="1600" i="0" u="none" strike="noStrike" cap="none" normalizeH="0" baseline="0">
              <a:ln>
                <a:noFill/>
              </a:ln>
              <a:solidFill>
                <a:schemeClr val="bg1"/>
              </a:solidFill>
              <a:effectLst/>
              <a:latin typeface="Arial" pitchFamily="34" charset="0"/>
              <a:ea typeface="宋体" pitchFamily="2" charset="-122"/>
              <a:cs typeface="宋体" pitchFamily="2" charset="-122"/>
            </a:endParaRPr>
          </a:p>
        </p:txBody>
      </p:sp>
      <p:sp>
        <p:nvSpPr>
          <p:cNvPr id="59613" name="AutoShape 221"/>
          <p:cNvSpPr>
            <a:spLocks noChangeShapeType="1"/>
          </p:cNvSpPr>
          <p:nvPr/>
        </p:nvSpPr>
        <p:spPr bwMode="auto">
          <a:xfrm flipH="1">
            <a:off x="2575802" y="2995878"/>
            <a:ext cx="1543992" cy="54647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12" name="AutoShape 220"/>
          <p:cNvSpPr>
            <a:spLocks noChangeShapeType="1"/>
          </p:cNvSpPr>
          <p:nvPr/>
        </p:nvSpPr>
        <p:spPr bwMode="auto">
          <a:xfrm flipH="1">
            <a:off x="1294770" y="3768865"/>
            <a:ext cx="747951" cy="549302"/>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11" name="AutoShape 219"/>
          <p:cNvSpPr>
            <a:spLocks noChangeShapeType="1"/>
          </p:cNvSpPr>
          <p:nvPr/>
        </p:nvSpPr>
        <p:spPr bwMode="auto">
          <a:xfrm>
            <a:off x="2575802" y="3768865"/>
            <a:ext cx="756137" cy="549302"/>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10" name="AutoShape 218"/>
          <p:cNvSpPr>
            <a:spLocks noChangeShapeType="1"/>
          </p:cNvSpPr>
          <p:nvPr/>
        </p:nvSpPr>
        <p:spPr bwMode="auto">
          <a:xfrm flipH="1">
            <a:off x="711552" y="4591874"/>
            <a:ext cx="316165"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09" name="AutoShape 217"/>
          <p:cNvSpPr>
            <a:spLocks noChangeShapeType="1"/>
          </p:cNvSpPr>
          <p:nvPr/>
        </p:nvSpPr>
        <p:spPr bwMode="auto">
          <a:xfrm>
            <a:off x="1560799" y="4591874"/>
            <a:ext cx="267052"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08" name="AutoShape 216"/>
          <p:cNvSpPr>
            <a:spLocks noChangeShapeType="1"/>
          </p:cNvSpPr>
          <p:nvPr/>
        </p:nvSpPr>
        <p:spPr bwMode="auto">
          <a:xfrm flipH="1">
            <a:off x="396410" y="5382794"/>
            <a:ext cx="149386"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606" name="Oval 214"/>
          <p:cNvSpPr>
            <a:spLocks noChangeArrowheads="1"/>
          </p:cNvSpPr>
          <p:nvPr/>
        </p:nvSpPr>
        <p:spPr bwMode="auto">
          <a:xfrm>
            <a:off x="1385833"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5" name="Oval 213"/>
          <p:cNvSpPr>
            <a:spLocks noChangeArrowheads="1"/>
          </p:cNvSpPr>
          <p:nvPr/>
        </p:nvSpPr>
        <p:spPr bwMode="auto">
          <a:xfrm>
            <a:off x="1941425"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4" name="Oval 212"/>
          <p:cNvSpPr>
            <a:spLocks noChangeArrowheads="1"/>
          </p:cNvSpPr>
          <p:nvPr/>
        </p:nvSpPr>
        <p:spPr bwMode="auto">
          <a:xfrm>
            <a:off x="2358886"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3" name="Oval 211"/>
          <p:cNvSpPr>
            <a:spLocks noChangeArrowheads="1"/>
          </p:cNvSpPr>
          <p:nvPr/>
        </p:nvSpPr>
        <p:spPr bwMode="auto">
          <a:xfrm>
            <a:off x="2896060"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2" name="Oval 210"/>
          <p:cNvSpPr>
            <a:spLocks noChangeArrowheads="1"/>
          </p:cNvSpPr>
          <p:nvPr/>
        </p:nvSpPr>
        <p:spPr bwMode="auto">
          <a:xfrm>
            <a:off x="3390261"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1" name="Oval 209"/>
          <p:cNvSpPr>
            <a:spLocks noChangeArrowheads="1"/>
          </p:cNvSpPr>
          <p:nvPr/>
        </p:nvSpPr>
        <p:spPr bwMode="auto">
          <a:xfrm>
            <a:off x="3945852"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600" name="Oval 208"/>
          <p:cNvSpPr>
            <a:spLocks noChangeArrowheads="1"/>
          </p:cNvSpPr>
          <p:nvPr/>
        </p:nvSpPr>
        <p:spPr bwMode="auto">
          <a:xfrm>
            <a:off x="4381731"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9" name="Oval 207"/>
          <p:cNvSpPr>
            <a:spLocks noChangeArrowheads="1"/>
          </p:cNvSpPr>
          <p:nvPr/>
        </p:nvSpPr>
        <p:spPr bwMode="auto">
          <a:xfrm>
            <a:off x="4900488"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8" name="Oval 206"/>
          <p:cNvSpPr>
            <a:spLocks noChangeArrowheads="1"/>
          </p:cNvSpPr>
          <p:nvPr/>
        </p:nvSpPr>
        <p:spPr bwMode="auto">
          <a:xfrm>
            <a:off x="7061463"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7" name="Oval 205"/>
          <p:cNvSpPr>
            <a:spLocks noChangeArrowheads="1"/>
          </p:cNvSpPr>
          <p:nvPr/>
        </p:nvSpPr>
        <p:spPr bwMode="auto">
          <a:xfrm>
            <a:off x="8145020"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6" name="Oval 204"/>
          <p:cNvSpPr>
            <a:spLocks noChangeArrowheads="1"/>
          </p:cNvSpPr>
          <p:nvPr/>
        </p:nvSpPr>
        <p:spPr bwMode="auto">
          <a:xfrm>
            <a:off x="6406622" y="5790523"/>
            <a:ext cx="580148"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6,5,5</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5" name="Oval 203"/>
          <p:cNvSpPr>
            <a:spLocks noChangeArrowheads="1"/>
          </p:cNvSpPr>
          <p:nvPr/>
        </p:nvSpPr>
        <p:spPr bwMode="auto">
          <a:xfrm>
            <a:off x="7465623" y="5790523"/>
            <a:ext cx="580148"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5,4,4</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4" name="Oval 202"/>
          <p:cNvSpPr>
            <a:spLocks noChangeArrowheads="1"/>
          </p:cNvSpPr>
          <p:nvPr/>
        </p:nvSpPr>
        <p:spPr bwMode="auto">
          <a:xfrm>
            <a:off x="2432556" y="5066615"/>
            <a:ext cx="900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3,4,6.4</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3" name="Oval 201"/>
          <p:cNvSpPr>
            <a:spLocks noChangeArrowheads="1"/>
          </p:cNvSpPr>
          <p:nvPr/>
        </p:nvSpPr>
        <p:spPr bwMode="auto">
          <a:xfrm>
            <a:off x="3451652" y="5066615"/>
            <a:ext cx="900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2,3,6.2</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92" name="AutoShape 200"/>
          <p:cNvSpPr>
            <a:spLocks noChangeShapeType="1"/>
          </p:cNvSpPr>
          <p:nvPr/>
        </p:nvSpPr>
        <p:spPr bwMode="auto">
          <a:xfrm flipH="1">
            <a:off x="1559776" y="5391288"/>
            <a:ext cx="148362" cy="39923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90" name="AutoShape 198"/>
          <p:cNvSpPr>
            <a:spLocks noChangeShapeType="1"/>
          </p:cNvSpPr>
          <p:nvPr/>
        </p:nvSpPr>
        <p:spPr bwMode="auto">
          <a:xfrm flipH="1">
            <a:off x="2532828" y="5382794"/>
            <a:ext cx="129945"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88" name="AutoShape 196"/>
          <p:cNvSpPr>
            <a:spLocks noChangeShapeType="1"/>
          </p:cNvSpPr>
          <p:nvPr/>
        </p:nvSpPr>
        <p:spPr bwMode="auto">
          <a:xfrm flipH="1">
            <a:off x="3564203" y="5382794"/>
            <a:ext cx="163710"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86" name="Oval 194"/>
          <p:cNvSpPr>
            <a:spLocks noChangeArrowheads="1"/>
          </p:cNvSpPr>
          <p:nvPr/>
        </p:nvSpPr>
        <p:spPr bwMode="auto">
          <a:xfrm>
            <a:off x="4436983" y="5066615"/>
            <a:ext cx="864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4,5,6.6</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85" name="Oval 193"/>
          <p:cNvSpPr>
            <a:spLocks noChangeArrowheads="1"/>
          </p:cNvSpPr>
          <p:nvPr/>
        </p:nvSpPr>
        <p:spPr bwMode="auto">
          <a:xfrm>
            <a:off x="5502123" y="5066615"/>
            <a:ext cx="864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3,4,6.4</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84" name="Oval 192"/>
          <p:cNvSpPr>
            <a:spLocks noChangeArrowheads="1"/>
          </p:cNvSpPr>
          <p:nvPr/>
        </p:nvSpPr>
        <p:spPr bwMode="auto">
          <a:xfrm>
            <a:off x="5456079"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83" name="Oval 191"/>
          <p:cNvSpPr>
            <a:spLocks noChangeArrowheads="1"/>
          </p:cNvSpPr>
          <p:nvPr/>
        </p:nvSpPr>
        <p:spPr bwMode="auto">
          <a:xfrm>
            <a:off x="5993254" y="5790523"/>
            <a:ext cx="347884" cy="320898"/>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a:t>
            </a:r>
            <a:endParaRPr kumimoji="0" lang="zh-CN"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82" name="AutoShape 190"/>
          <p:cNvSpPr>
            <a:spLocks noChangeShapeType="1"/>
          </p:cNvSpPr>
          <p:nvPr/>
        </p:nvSpPr>
        <p:spPr bwMode="auto">
          <a:xfrm flipH="1">
            <a:off x="4555673" y="5382794"/>
            <a:ext cx="111528"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79" name="AutoShape 187"/>
          <p:cNvSpPr>
            <a:spLocks noChangeShapeType="1"/>
          </p:cNvSpPr>
          <p:nvPr/>
        </p:nvSpPr>
        <p:spPr bwMode="auto">
          <a:xfrm>
            <a:off x="3597968" y="4591874"/>
            <a:ext cx="231241"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78" name="Oval 186"/>
          <p:cNvSpPr>
            <a:spLocks noChangeArrowheads="1"/>
          </p:cNvSpPr>
          <p:nvPr/>
        </p:nvSpPr>
        <p:spPr bwMode="auto">
          <a:xfrm>
            <a:off x="4979273" y="4318167"/>
            <a:ext cx="900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3,4,6.6</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77" name="AutoShape 185"/>
          <p:cNvSpPr>
            <a:spLocks noChangeShapeType="1"/>
          </p:cNvSpPr>
          <p:nvPr/>
        </p:nvSpPr>
        <p:spPr bwMode="auto">
          <a:xfrm flipH="1">
            <a:off x="4814540" y="4591874"/>
            <a:ext cx="275238"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75" name="AutoShape 183"/>
          <p:cNvSpPr>
            <a:spLocks noChangeShapeType="1"/>
          </p:cNvSpPr>
          <p:nvPr/>
        </p:nvSpPr>
        <p:spPr bwMode="auto">
          <a:xfrm flipH="1">
            <a:off x="5630022" y="5379019"/>
            <a:ext cx="148362" cy="41150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74" name="AutoShape 182"/>
          <p:cNvSpPr>
            <a:spLocks noChangeShapeType="1"/>
          </p:cNvSpPr>
          <p:nvPr/>
        </p:nvSpPr>
        <p:spPr bwMode="auto">
          <a:xfrm>
            <a:off x="6016787" y="5382794"/>
            <a:ext cx="150409"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73" name="Oval 181"/>
          <p:cNvSpPr>
            <a:spLocks noChangeArrowheads="1"/>
          </p:cNvSpPr>
          <p:nvPr/>
        </p:nvSpPr>
        <p:spPr bwMode="auto">
          <a:xfrm>
            <a:off x="6579541" y="5066615"/>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1,1,5</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72" name="Oval 180"/>
          <p:cNvSpPr>
            <a:spLocks noChangeArrowheads="1"/>
          </p:cNvSpPr>
          <p:nvPr/>
        </p:nvSpPr>
        <p:spPr bwMode="auto">
          <a:xfrm>
            <a:off x="7617055" y="5066615"/>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0,0,4</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71" name="Oval 179"/>
          <p:cNvSpPr>
            <a:spLocks noChangeArrowheads="1"/>
          </p:cNvSpPr>
          <p:nvPr/>
        </p:nvSpPr>
        <p:spPr bwMode="auto">
          <a:xfrm>
            <a:off x="7048162" y="4318167"/>
            <a:ext cx="75409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0,0,5</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70" name="AutoShape 178"/>
          <p:cNvSpPr>
            <a:spLocks noChangeShapeType="1"/>
          </p:cNvSpPr>
          <p:nvPr/>
        </p:nvSpPr>
        <p:spPr bwMode="auto">
          <a:xfrm flipH="1">
            <a:off x="6697208" y="5391288"/>
            <a:ext cx="140177" cy="39923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9" name="AutoShape 177"/>
          <p:cNvSpPr>
            <a:spLocks noChangeShapeType="1"/>
          </p:cNvSpPr>
          <p:nvPr/>
        </p:nvSpPr>
        <p:spPr bwMode="auto">
          <a:xfrm>
            <a:off x="7084996" y="5382794"/>
            <a:ext cx="150409"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8" name="AutoShape 176"/>
          <p:cNvSpPr>
            <a:spLocks noChangeShapeType="1"/>
          </p:cNvSpPr>
          <p:nvPr/>
        </p:nvSpPr>
        <p:spPr bwMode="auto">
          <a:xfrm flipH="1">
            <a:off x="7756208" y="5382794"/>
            <a:ext cx="103342" cy="40772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7" name="AutoShape 175"/>
          <p:cNvSpPr>
            <a:spLocks noChangeShapeType="1"/>
          </p:cNvSpPr>
          <p:nvPr/>
        </p:nvSpPr>
        <p:spPr bwMode="auto">
          <a:xfrm>
            <a:off x="8159345" y="5365805"/>
            <a:ext cx="159617" cy="424718"/>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6" name="AutoShape 174"/>
          <p:cNvSpPr>
            <a:spLocks noChangeShapeType="1"/>
          </p:cNvSpPr>
          <p:nvPr/>
        </p:nvSpPr>
        <p:spPr bwMode="auto">
          <a:xfrm flipH="1">
            <a:off x="6957098" y="4591874"/>
            <a:ext cx="201568"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5" name="AutoShape 173"/>
          <p:cNvSpPr>
            <a:spLocks noChangeShapeType="1"/>
          </p:cNvSpPr>
          <p:nvPr/>
        </p:nvSpPr>
        <p:spPr bwMode="auto">
          <a:xfrm>
            <a:off x="7691747" y="4591874"/>
            <a:ext cx="302864" cy="4747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4" name="Oval 172"/>
          <p:cNvSpPr>
            <a:spLocks noChangeArrowheads="1"/>
          </p:cNvSpPr>
          <p:nvPr/>
        </p:nvSpPr>
        <p:spPr bwMode="auto">
          <a:xfrm>
            <a:off x="5992230" y="3495158"/>
            <a:ext cx="900000" cy="320898"/>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0,0,6.6</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63" name="AutoShape 171"/>
          <p:cNvSpPr>
            <a:spLocks noChangeShapeType="1"/>
          </p:cNvSpPr>
          <p:nvPr/>
        </p:nvSpPr>
        <p:spPr bwMode="auto">
          <a:xfrm>
            <a:off x="4652876" y="2995878"/>
            <a:ext cx="1449859" cy="54647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2" name="AutoShape 170"/>
          <p:cNvSpPr>
            <a:spLocks noChangeShapeType="1"/>
          </p:cNvSpPr>
          <p:nvPr/>
        </p:nvSpPr>
        <p:spPr bwMode="auto">
          <a:xfrm flipH="1">
            <a:off x="5356830" y="3768865"/>
            <a:ext cx="745905" cy="549302"/>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endParaRPr>
          </a:p>
        </p:txBody>
      </p:sp>
      <p:sp>
        <p:nvSpPr>
          <p:cNvPr id="59560" name="Rectangle 168"/>
          <p:cNvSpPr>
            <a:spLocks noChangeArrowheads="1"/>
          </p:cNvSpPr>
          <p:nvPr/>
        </p:nvSpPr>
        <p:spPr bwMode="auto">
          <a:xfrm>
            <a:off x="3243945" y="2995878"/>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1</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59559" name="Rectangle 167"/>
          <p:cNvSpPr>
            <a:spLocks noChangeArrowheads="1"/>
          </p:cNvSpPr>
          <p:nvPr/>
        </p:nvSpPr>
        <p:spPr bwMode="auto">
          <a:xfrm>
            <a:off x="5191073" y="2995878"/>
            <a:ext cx="210777" cy="1963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Times New Roman" pitchFamily="18" charset="0"/>
                <a:ea typeface="宋体" pitchFamily="2" charset="-122"/>
                <a:cs typeface="Times New Roman" pitchFamily="18" charset="0"/>
              </a:rPr>
              <a:t>0</a:t>
            </a:r>
            <a:endParaRPr kumimoji="0" lang="en-US" altLang="zh-CN" sz="1600" i="0" u="none" strike="noStrike" cap="none" normalizeH="0" baseline="0">
              <a:ln>
                <a:noFill/>
              </a:ln>
              <a:solidFill>
                <a:srgbClr val="0000FF"/>
              </a:solidFill>
              <a:effectLst/>
              <a:latin typeface="Arial" pitchFamily="34" charset="0"/>
              <a:ea typeface="宋体" pitchFamily="2" charset="-122"/>
              <a:cs typeface="宋体" pitchFamily="2" charset="-122"/>
            </a:endParaRPr>
          </a:p>
        </p:txBody>
      </p:sp>
      <p:sp>
        <p:nvSpPr>
          <p:cNvPr id="203" name="TextBox 202"/>
          <p:cNvSpPr txBox="1"/>
          <p:nvPr/>
        </p:nvSpPr>
        <p:spPr>
          <a:xfrm>
            <a:off x="439885" y="6143644"/>
            <a:ext cx="1285884" cy="369332"/>
          </a:xfrm>
          <a:prstGeom prst="rect">
            <a:avLst/>
          </a:prstGeom>
          <a:noFill/>
        </p:spPr>
        <p:txBody>
          <a:bodyPr wrap="square" rtlCol="0">
            <a:spAutoFit/>
          </a:bodyPr>
          <a:lstStyle/>
          <a:p>
            <a:pPr algn="l">
              <a:lnSpc>
                <a:spcPct val="100000"/>
              </a:lnSpc>
              <a:spcBef>
                <a:spcPts val="0"/>
              </a:spcBef>
            </a:pPr>
            <a:r>
              <a:rPr lang="en-US" altLang="zh-CN" sz="1800">
                <a:solidFill>
                  <a:srgbClr val="FF00FF"/>
                </a:solidFill>
                <a:latin typeface="Consolas" pitchFamily="49" charset="0"/>
                <a:ea typeface="楷体" pitchFamily="49" charset="-122"/>
                <a:cs typeface="Times New Roman" pitchFamily="18" charset="0"/>
              </a:rPr>
              <a:t>bestv=8</a:t>
            </a:r>
            <a:endParaRPr lang="zh-CN" altLang="en-US" sz="1800">
              <a:solidFill>
                <a:srgbClr val="FF00FF"/>
              </a:solidFill>
              <a:latin typeface="Consolas" pitchFamily="49" charset="0"/>
              <a:ea typeface="楷体" pitchFamily="49" charset="-122"/>
              <a:cs typeface="Times New Roman" pitchFamily="18" charset="0"/>
            </a:endParaRPr>
          </a:p>
        </p:txBody>
      </p:sp>
      <p:sp>
        <p:nvSpPr>
          <p:cNvPr id="204" name="右箭头 203"/>
          <p:cNvSpPr/>
          <p:nvPr/>
        </p:nvSpPr>
        <p:spPr>
          <a:xfrm>
            <a:off x="214282" y="2786058"/>
            <a:ext cx="428628"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04" name="灯片编号占位符 103"/>
          <p:cNvSpPr>
            <a:spLocks noGrp="1"/>
          </p:cNvSpPr>
          <p:nvPr>
            <p:ph type="sldNum" sz="quarter" idx="12"/>
          </p:nvPr>
        </p:nvSpPr>
        <p:spPr/>
        <p:txBody>
          <a:bodyPr/>
          <a:lstStyle/>
          <a:p>
            <a:fld id="{7AF016A1-9F15-429F-9EFD-84004B73C732}" type="slidenum">
              <a:rPr lang="en-US" altLang="zh-CN" smtClean="0"/>
              <a:pPr/>
              <a:t>60</a:t>
            </a:fld>
            <a:r>
              <a:rPr lang="en-US" altLang="zh-CN"/>
              <a:t>/126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501122" cy="29111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vector&lt;Goods&gt; g;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全部物品</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W;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背包容量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物品个数</a:t>
            </a:r>
          </a:p>
          <a:p>
            <a:pPr algn="l" defTabSz="360000">
              <a:lnSpc>
                <a:spcPts val="3000"/>
              </a:lnSpc>
              <a:spcBef>
                <a:spcPts val="0"/>
              </a:spcBef>
            </a:pPr>
            <a:r>
              <a:rPr lang="en-US" altLang="zh-CN" sz="2000">
                <a:solidFill>
                  <a:srgbClr val="0000FF"/>
                </a:solidFill>
                <a:latin typeface="Consolas" pitchFamily="49" charset="0"/>
                <a:ea typeface="仿宋" pitchFamily="49" charset="-122"/>
              </a:rPr>
              <a:t>vector&lt;int&gt; bestx;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存放最优解向量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bestv=0;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存放最大价值</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int bestw;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最优解总重量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int sum=0;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累计搜索的结点个数</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61</a:t>
            </a:fld>
            <a:r>
              <a:rPr lang="en-US" altLang="zh-CN"/>
              <a:t>/126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714356"/>
            <a:ext cx="8286808" cy="368059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(QNode e,queue&lt;QNode&gt;&amp;qu)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结点</a:t>
            </a:r>
            <a:r>
              <a:rPr lang="en-US" altLang="zh-CN" sz="2000">
                <a:solidFill>
                  <a:srgbClr val="00B050"/>
                </a:solidFill>
                <a:latin typeface="Consolas" pitchFamily="49" charset="0"/>
                <a:ea typeface="仿宋" pitchFamily="49" charset="-122"/>
              </a:rPr>
              <a:t>e</a:t>
            </a:r>
            <a:r>
              <a:rPr lang="zh-CN" altLang="zh-CN" sz="2000">
                <a:solidFill>
                  <a:srgbClr val="00B050"/>
                </a:solidFill>
                <a:latin typeface="Consolas" pitchFamily="49" charset="0"/>
                <a:ea typeface="仿宋" pitchFamily="49" charset="-122"/>
              </a:rPr>
              <a:t>进队操作</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(e.i==n)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到达叶子结点</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e.cv&gt;bestv</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比较更新最优解</a:t>
            </a:r>
          </a:p>
          <a:p>
            <a:pPr algn="l" defTabSz="360000">
              <a:lnSpc>
                <a:spcPts val="2700"/>
              </a:lnSpc>
              <a:spcBef>
                <a:spcPts val="0"/>
              </a:spcBef>
            </a:pPr>
            <a:r>
              <a:rPr lang="en-US" altLang="zh-CN" sz="2000">
                <a:solidFill>
                  <a:srgbClr val="0000FF"/>
                </a:solidFill>
                <a:latin typeface="Consolas" pitchFamily="49" charset="0"/>
                <a:ea typeface="仿宋" pitchFamily="49" charset="-122"/>
              </a:rPr>
              <a:t>     		bestv=e.cv;</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bestx=e.x;</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bestw=e.cw;</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else qu.push(e);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非叶子结点进队</a:t>
            </a: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62</a:t>
            </a:fld>
            <a:r>
              <a:rPr lang="en-US" altLang="zh-CN"/>
              <a:t>/126</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714356"/>
            <a:ext cx="8286808" cy="27898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9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0/1</a:t>
            </a:r>
            <a:r>
              <a:rPr lang="zh-CN" altLang="zh-CN" sz="2000">
                <a:solidFill>
                  <a:srgbClr val="00B050"/>
                </a:solidFill>
                <a:latin typeface="Consolas" pitchFamily="49" charset="0"/>
                <a:ea typeface="仿宋" pitchFamily="49" charset="-122"/>
              </a:rPr>
              <a:t>背包最优解的算法</a:t>
            </a:r>
          </a:p>
          <a:p>
            <a:pPr algn="l" defTabSz="360000">
              <a:lnSpc>
                <a:spcPts val="2900"/>
              </a:lnSpc>
              <a:spcBef>
                <a:spcPts val="0"/>
              </a:spcBef>
            </a:pPr>
            <a:r>
              <a:rPr lang="en-US" altLang="zh-CN" sz="2000">
                <a:solidFill>
                  <a:srgbClr val="0000FF"/>
                </a:solidFill>
                <a:latin typeface="Consolas" pitchFamily="49" charset="0"/>
                <a:ea typeface="仿宋" pitchFamily="49" charset="-122"/>
              </a:rPr>
              <a:t>	QNode e,e1,e2;</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queue&lt;QNode&gt; qu;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定义一个队列</a:t>
            </a:r>
          </a:p>
          <a:p>
            <a:pPr algn="l" defTabSz="360000">
              <a:lnSpc>
                <a:spcPts val="2900"/>
              </a:lnSpc>
              <a:spcBef>
                <a:spcPts val="0"/>
              </a:spcBef>
            </a:pPr>
            <a:r>
              <a:rPr lang="en-US" altLang="zh-CN" sz="2000">
                <a:solidFill>
                  <a:srgbClr val="0000FF"/>
                </a:solidFill>
                <a:latin typeface="Consolas" pitchFamily="49" charset="0"/>
                <a:ea typeface="仿宋" pitchFamily="49" charset="-122"/>
              </a:rPr>
              <a:t>  	e.i=0;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e.x=vector&lt;int&gt;(n,0);</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e.cw=0; e.cv=0;</a:t>
            </a:r>
            <a:endParaRPr lang="zh-CN" altLang="zh-CN" sz="2000">
              <a:solidFill>
                <a:srgbClr val="0000FF"/>
              </a:solidFill>
              <a:latin typeface="Consolas" pitchFamily="49" charset="0"/>
              <a:ea typeface="仿宋" pitchFamily="49" charset="-122"/>
            </a:endParaRPr>
          </a:p>
          <a:p>
            <a:pPr algn="l" defTabSz="360000">
              <a:lnSpc>
                <a:spcPts val="2900"/>
              </a:lnSpc>
              <a:spcBef>
                <a:spcPts val="0"/>
              </a:spcBef>
            </a:pPr>
            <a:r>
              <a:rPr lang="en-US" altLang="zh-CN" sz="2000">
                <a:solidFill>
                  <a:srgbClr val="0000FF"/>
                </a:solidFill>
                <a:latin typeface="Consolas" pitchFamily="49" charset="0"/>
                <a:ea typeface="仿宋" pitchFamily="49" charset="-122"/>
              </a:rPr>
              <a:t>  	qu.push(e);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根结点进队</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63</a:t>
            </a:fld>
            <a:r>
              <a:rPr lang="en-US" altLang="zh-CN"/>
              <a:t>/126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3984" y="142852"/>
            <a:ext cx="8929718" cy="645058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	while (</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队不空循环</a:t>
            </a:r>
          </a:p>
          <a:p>
            <a:pPr algn="l" defTabSz="360000">
              <a:lnSpc>
                <a:spcPts val="2700"/>
              </a:lnSpc>
              <a:spcBef>
                <a:spcPts val="0"/>
              </a:spcBef>
            </a:pPr>
            <a:r>
              <a:rPr lang="en-US" altLang="zh-CN" sz="2000">
                <a:solidFill>
                  <a:srgbClr val="0000FF"/>
                </a:solidFill>
                <a:latin typeface="Consolas" pitchFamily="49" charset="0"/>
                <a:ea typeface="仿宋" pitchFamily="49" charset="-122"/>
              </a:rPr>
              <a:t>  		e=qu.front();qu.pop();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sum++;</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e.cw+g[e.i].w&lt;=W</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左剪支</a:t>
            </a:r>
          </a:p>
          <a:p>
            <a:pPr algn="l" defTabSz="360000">
              <a:lnSpc>
                <a:spcPts val="2700"/>
              </a:lnSpc>
              <a:spcBef>
                <a:spcPts val="0"/>
              </a:spcBef>
            </a:pPr>
            <a:r>
              <a:rPr lang="en-US" altLang="zh-CN" sz="2000">
                <a:solidFill>
                  <a:srgbClr val="0000FF"/>
                </a:solidFill>
                <a:latin typeface="Consolas" pitchFamily="49" charset="0"/>
                <a:ea typeface="仿宋" pitchFamily="49" charset="-122"/>
              </a:rPr>
              <a:t>     		e1.cw=e.cw+g[e.i].w;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选择物品</a:t>
            </a:r>
            <a:r>
              <a:rPr lang="en-US" altLang="zh-CN" sz="2000">
                <a:solidFill>
                  <a:srgbClr val="00B0F0"/>
                </a:solidFill>
                <a:latin typeface="Consolas" pitchFamily="49" charset="0"/>
                <a:ea typeface="仿宋" pitchFamily="49" charset="-122"/>
              </a:rPr>
              <a:t>e.i</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e1.cv=e.cv+g[e.i].v;</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e1.x=e.x; e1.x[e.i]=1;</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e1.i=e.i+1;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左子结点的层次加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(e1,qu);</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e2.cw=e.cw; e2.cv=e.cv;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不选择物品</a:t>
            </a:r>
            <a:r>
              <a:rPr lang="en-US" altLang="zh-CN" sz="2000">
                <a:solidFill>
                  <a:srgbClr val="00B0F0"/>
                </a:solidFill>
                <a:latin typeface="Consolas" pitchFamily="49" charset="0"/>
                <a:ea typeface="仿宋" pitchFamily="49" charset="-122"/>
              </a:rPr>
              <a:t>e.i</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e2.x=e.x; e2.x[e.i]=0;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e2.i=e.i+1;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右子结点的层次加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求出不选择物品</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的上界</a:t>
            </a: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e2.ub&gt;bestv</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右剪支</a:t>
            </a: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(e2,qu);</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64</a:t>
            </a:fld>
            <a:r>
              <a:rPr lang="en-US" altLang="zh-CN"/>
              <a:t>/126</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357166"/>
            <a:ext cx="8286808" cy="522133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knap</a:t>
            </a:r>
            <a:r>
              <a:rPr lang="en-US" altLang="zh-CN" sz="2000">
                <a:solidFill>
                  <a:srgbClr val="0000FF"/>
                </a:solidFill>
                <a:latin typeface="Consolas" pitchFamily="49" charset="0"/>
                <a:ea typeface="仿宋" pitchFamily="49" charset="-122"/>
              </a:rPr>
              <a:t>(vector&lt;Goods&gt; g1,int W1)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0/1</a:t>
            </a:r>
            <a:r>
              <a:rPr lang="zh-CN" altLang="zh-CN" sz="2000">
                <a:solidFill>
                  <a:srgbClr val="00B0F0"/>
                </a:solidFill>
                <a:latin typeface="Consolas" pitchFamily="49" charset="0"/>
                <a:ea typeface="仿宋" pitchFamily="49" charset="-122"/>
              </a:rPr>
              <a:t>背包问题</a:t>
            </a:r>
          </a:p>
          <a:p>
            <a:pPr algn="l" defTabSz="360000">
              <a:lnSpc>
                <a:spcPts val="2800"/>
              </a:lnSpc>
              <a:spcBef>
                <a:spcPts val="0"/>
              </a:spcBef>
            </a:pPr>
            <a:r>
              <a:rPr lang="en-US" altLang="zh-CN" sz="2000">
                <a:solidFill>
                  <a:srgbClr val="0000FF"/>
                </a:solidFill>
                <a:latin typeface="Consolas" pitchFamily="49" charset="0"/>
                <a:ea typeface="仿宋" pitchFamily="49" charset="-122"/>
              </a:rPr>
              <a:t>	g=g1;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W=W1;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n=g.size();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sort</a:t>
            </a:r>
            <a:r>
              <a:rPr lang="en-US" altLang="zh-CN" sz="2000">
                <a:solidFill>
                  <a:srgbClr val="0000FF"/>
                </a:solidFill>
                <a:latin typeface="Consolas" pitchFamily="49" charset="0"/>
                <a:ea typeface="仿宋" pitchFamily="49" charset="-122"/>
              </a:rPr>
              <a:t>(g.begin(),g.end());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v/w</a:t>
            </a:r>
            <a:r>
              <a:rPr lang="zh-CN" altLang="zh-CN" sz="2000">
                <a:solidFill>
                  <a:srgbClr val="00B0F0"/>
                </a:solidFill>
                <a:latin typeface="Consolas" pitchFamily="49" charset="0"/>
                <a:ea typeface="仿宋" pitchFamily="49" charset="-122"/>
              </a:rPr>
              <a:t>递减排序</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从</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开始</a:t>
            </a: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最佳装填方案</a:t>
            </a:r>
            <a:r>
              <a:rPr lang="en-US" altLang="zh-CN" sz="2000">
                <a:solidFill>
                  <a:srgbClr val="0000FF"/>
                </a:solidFill>
                <a:latin typeface="Consolas" pitchFamily="49" charset="0"/>
                <a:ea typeface="仿宋" pitchFamily="49" charset="-122"/>
              </a:rPr>
              <a:t>\n");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 (int i=0;i&lt;n;i++)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 (bestx[i]==1)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选取第</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个物品</a:t>
            </a:r>
            <a:r>
              <a:rPr lang="en-US" altLang="zh-CN" sz="2000">
                <a:solidFill>
                  <a:srgbClr val="0000FF"/>
                </a:solidFill>
                <a:latin typeface="Consolas" pitchFamily="49" charset="0"/>
                <a:ea typeface="仿宋" pitchFamily="49" charset="-122"/>
              </a:rPr>
              <a:t>\n",g[i].no);</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  </a:t>
            </a:r>
            <a:r>
              <a:rPr lang="zh-CN" altLang="zh-CN" sz="2000">
                <a:solidFill>
                  <a:srgbClr val="0000FF"/>
                </a:solidFill>
                <a:latin typeface="Consolas" pitchFamily="49" charset="0"/>
                <a:ea typeface="仿宋" pitchFamily="49" charset="-122"/>
              </a:rPr>
              <a:t>总重量</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总价值</a:t>
            </a:r>
            <a:r>
              <a:rPr lang="en-US" altLang="zh-CN" sz="2000">
                <a:solidFill>
                  <a:srgbClr val="0000FF"/>
                </a:solidFill>
                <a:latin typeface="Consolas" pitchFamily="49" charset="0"/>
                <a:ea typeface="仿宋" pitchFamily="49" charset="-122"/>
              </a:rPr>
              <a:t>=%d\n",bestw,bestv);</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printf("sum=%d\n",sum);</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65</a:t>
            </a:fld>
            <a:r>
              <a:rPr lang="en-US" altLang="zh-CN"/>
              <a:t>/126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000108"/>
            <a:ext cx="8001056" cy="17338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knap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：求解</a:t>
            </a:r>
            <a:r>
              <a:rPr lang="en-US" altLang="zh-CN" sz="2200">
                <a:solidFill>
                  <a:srgbClr val="0000FF"/>
                </a:solidFill>
                <a:latin typeface="Consolas" pitchFamily="49" charset="0"/>
                <a:ea typeface="仿宋" pitchFamily="49" charset="-122"/>
              </a:rPr>
              <a:t>0/1</a:t>
            </a:r>
            <a:r>
              <a:rPr lang="zh-CN" altLang="zh-CN" sz="2200">
                <a:solidFill>
                  <a:srgbClr val="0000FF"/>
                </a:solidFill>
                <a:latin typeface="Consolas" pitchFamily="49" charset="0"/>
                <a:ea typeface="仿宋" pitchFamily="49" charset="-122"/>
              </a:rPr>
              <a:t>背包问题的解空间是一棵高度为</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的满二叉树，</a:t>
            </a:r>
            <a:r>
              <a:rPr lang="en-US" altLang="zh-CN" sz="2200">
                <a:solidFill>
                  <a:srgbClr val="0000FF"/>
                </a:solidFill>
                <a:latin typeface="Consolas" pitchFamily="49" charset="0"/>
                <a:ea typeface="仿宋" pitchFamily="49" charset="-122"/>
              </a:rPr>
              <a:t>bound()</a:t>
            </a:r>
            <a:r>
              <a:rPr lang="zh-CN" altLang="zh-CN" sz="2200">
                <a:solidFill>
                  <a:srgbClr val="0000FF"/>
                </a:solidFill>
                <a:latin typeface="Consolas" pitchFamily="49" charset="0"/>
                <a:ea typeface="仿宋" pitchFamily="49" charset="-122"/>
              </a:rPr>
              <a:t>方法的时间复杂度为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，由于剪支提高的性能难以估算，所以上述算法的最坏时间复杂度仍然为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en-US" altLang="zh-CN" sz="2200" i="1" baseline="30000">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66</a:t>
            </a:fld>
            <a:r>
              <a:rPr lang="en-US" altLang="zh-CN"/>
              <a:t>/126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1142976" y="357166"/>
            <a:ext cx="6643734"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6.6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优先队列式分支限界法框架</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428596" y="1428736"/>
            <a:ext cx="8286808" cy="40645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优先队列式分支限界法采用优先队列存储活结点。</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根据需要设计相应的限界函数，求最大值问题设计上界函数，求最小值问题设计下界函数，一般情况下队中每个结点包含限界函数值（</a:t>
            </a:r>
            <a:r>
              <a:rPr lang="en-US" altLang="zh-CN">
                <a:solidFill>
                  <a:srgbClr val="0000FF"/>
                </a:solidFill>
                <a:latin typeface="Consolas" pitchFamily="49" charset="0"/>
                <a:ea typeface="仿宋" pitchFamily="49" charset="-122"/>
              </a:rPr>
              <a:t>ub/lb</a:t>
            </a:r>
            <a:r>
              <a:rPr lang="zh-CN" altLang="zh-CN">
                <a:solidFill>
                  <a:srgbClr val="0000FF"/>
                </a:solidFill>
                <a:latin typeface="Consolas" pitchFamily="49" charset="0"/>
                <a:ea typeface="仿宋" pitchFamily="49" charset="-122"/>
              </a:rPr>
              <a:t>），优先队列通过关系比较器确定结点出队的优先级。</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不同于队列式分支限界法中结点一层一层地出队，优先队列式分支限界法中结点出队（扩展结点）是</a:t>
            </a:r>
            <a:r>
              <a:rPr lang="zh-CN" altLang="zh-CN">
                <a:solidFill>
                  <a:srgbClr val="FF00FF"/>
                </a:solidFill>
                <a:latin typeface="Consolas" pitchFamily="49" charset="0"/>
                <a:ea typeface="仿宋" pitchFamily="49" charset="-122"/>
              </a:rPr>
              <a:t>跳跃式</a:t>
            </a:r>
            <a:r>
              <a:rPr lang="zh-CN" altLang="zh-CN">
                <a:solidFill>
                  <a:srgbClr val="0000FF"/>
                </a:solidFill>
                <a:latin typeface="Consolas" pitchFamily="49" charset="0"/>
                <a:ea typeface="仿宋" pitchFamily="49" charset="-122"/>
              </a:rPr>
              <a:t>，这样有助于快速地找到一个解，并以此为基础进行剪支，所以通常算法的时间性能更好。</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67</a:t>
            </a:fld>
            <a:r>
              <a:rPr lang="en-US" altLang="zh-CN"/>
              <a:t>/126</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285728"/>
            <a:ext cx="8286808" cy="59394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优先队列式分支限界法框架</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6600"/>
                </a:solidFill>
                <a:latin typeface="Consolas" pitchFamily="49" charset="0"/>
                <a:ea typeface="仿宋" pitchFamily="49" charset="-122"/>
              </a:rPr>
              <a:t>定义一个优先队列</a:t>
            </a:r>
            <a:r>
              <a:rPr lang="en-US" altLang="zh-CN" sz="2000">
                <a:solidFill>
                  <a:srgbClr val="006600"/>
                </a:solidFill>
                <a:latin typeface="Consolas" pitchFamily="49" charset="0"/>
                <a:ea typeface="仿宋" pitchFamily="49" charset="-122"/>
              </a:rPr>
              <a:t>pq;</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根结点进队</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while(</a:t>
            </a:r>
            <a:r>
              <a:rPr lang="zh-CN" altLang="zh-CN" sz="2000">
                <a:solidFill>
                  <a:srgbClr val="0000FF"/>
                </a:solidFill>
                <a:latin typeface="Consolas" pitchFamily="49" charset="0"/>
                <a:ea typeface="仿宋" pitchFamily="49" charset="-122"/>
              </a:rPr>
              <a:t>队不空时循环</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出队结点</a:t>
            </a:r>
            <a:r>
              <a:rPr lang="en-US" altLang="zh-CN" sz="2000">
                <a:solidFill>
                  <a:srgbClr val="0000FF"/>
                </a:solidFill>
                <a:latin typeface="Consolas" pitchFamily="49" charset="0"/>
                <a:ea typeface="仿宋" pitchFamily="49" charset="-122"/>
              </a:rPr>
              <a:t>e;</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for(</a:t>
            </a:r>
            <a:r>
              <a:rPr lang="zh-CN" altLang="zh-CN" sz="2000">
                <a:solidFill>
                  <a:srgbClr val="0000FF"/>
                </a:solidFill>
                <a:latin typeface="Consolas" pitchFamily="49" charset="0"/>
                <a:ea typeface="仿宋" pitchFamily="49" charset="-122"/>
              </a:rPr>
              <a:t>扩展结点</a:t>
            </a:r>
            <a:r>
              <a:rPr lang="en-US" altLang="zh-CN" sz="2000">
                <a:solidFill>
                  <a:srgbClr val="0000FF"/>
                </a:solidFill>
                <a:latin typeface="Consolas" pitchFamily="49" charset="0"/>
                <a:ea typeface="仿宋" pitchFamily="49" charset="-122"/>
              </a:rPr>
              <a:t>e</a:t>
            </a:r>
            <a:r>
              <a:rPr lang="zh-CN" altLang="zh-CN" sz="2000">
                <a:solidFill>
                  <a:srgbClr val="0000FF"/>
                </a:solidFill>
                <a:latin typeface="Consolas" pitchFamily="49" charset="0"/>
                <a:ea typeface="仿宋" pitchFamily="49" charset="-122"/>
              </a:rPr>
              <a:t>产生结点</a:t>
            </a:r>
            <a:r>
              <a:rPr lang="en-US" altLang="zh-CN" sz="2000">
                <a:solidFill>
                  <a:srgbClr val="0000FF"/>
                </a:solidFill>
                <a:latin typeface="Consolas" pitchFamily="49" charset="0"/>
                <a:ea typeface="仿宋" pitchFamily="49" charset="-122"/>
              </a:rPr>
              <a:t>e1)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if(e1</a:t>
            </a:r>
            <a:r>
              <a:rPr lang="zh-CN" altLang="zh-CN" sz="2000">
                <a:solidFill>
                  <a:srgbClr val="0000FF"/>
                </a:solidFill>
                <a:latin typeface="Consolas" pitchFamily="49" charset="0"/>
                <a:ea typeface="仿宋" pitchFamily="49" charset="-122"/>
              </a:rPr>
              <a:t>满足</a:t>
            </a:r>
            <a:r>
              <a:rPr lang="en-US" altLang="zh-CN" sz="2000">
                <a:solidFill>
                  <a:srgbClr val="0000FF"/>
                </a:solidFill>
                <a:latin typeface="Consolas" pitchFamily="49" charset="0"/>
                <a:ea typeface="仿宋" pitchFamily="49" charset="-122"/>
              </a:rPr>
              <a:t>constraint())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if(e1</a:t>
            </a:r>
            <a:r>
              <a:rPr lang="zh-CN" altLang="zh-CN" sz="2000">
                <a:solidFill>
                  <a:srgbClr val="0000FF"/>
                </a:solidFill>
                <a:latin typeface="Consolas" pitchFamily="49" charset="0"/>
                <a:ea typeface="仿宋" pitchFamily="49" charset="-122"/>
              </a:rPr>
              <a:t>是叶子结点</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比较得到一个更优解或者直接返回最优解</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else if(e1</a:t>
            </a:r>
            <a:r>
              <a:rPr lang="zh-CN" altLang="zh-CN" sz="2000">
                <a:solidFill>
                  <a:srgbClr val="0000FF"/>
                </a:solidFill>
                <a:latin typeface="Consolas" pitchFamily="49" charset="0"/>
                <a:ea typeface="仿宋" pitchFamily="49" charset="-122"/>
              </a:rPr>
              <a:t>满足</a:t>
            </a:r>
            <a:r>
              <a:rPr lang="en-US" altLang="zh-CN" sz="2000">
                <a:solidFill>
                  <a:srgbClr val="0000FF"/>
                </a:solidFill>
                <a:latin typeface="Consolas" pitchFamily="49" charset="0"/>
                <a:ea typeface="仿宋" pitchFamily="49" charset="-122"/>
              </a:rPr>
              <a:t>bound())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Consolas" pitchFamily="49" charset="0"/>
                <a:ea typeface="仿宋" pitchFamily="49" charset="-122"/>
              </a:rPr>
              <a:t>将结点</a:t>
            </a:r>
            <a:r>
              <a:rPr lang="en-US" altLang="zh-CN" sz="2000">
                <a:solidFill>
                  <a:srgbClr val="0000FF"/>
                </a:solidFill>
                <a:latin typeface="Consolas" pitchFamily="49" charset="0"/>
                <a:ea typeface="仿宋" pitchFamily="49" charset="-122"/>
              </a:rPr>
              <a:t>e1</a:t>
            </a:r>
            <a:r>
              <a:rPr lang="zh-CN" altLang="zh-CN" sz="2000">
                <a:solidFill>
                  <a:srgbClr val="0000FF"/>
                </a:solidFill>
                <a:latin typeface="Consolas" pitchFamily="49" charset="0"/>
                <a:ea typeface="仿宋" pitchFamily="49" charset="-122"/>
              </a:rPr>
              <a:t>进队</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68</a:t>
            </a:fld>
            <a:r>
              <a:rPr lang="en-US" altLang="zh-CN"/>
              <a:t>/126</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857232"/>
            <a:ext cx="7643866" cy="147732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200"/>
              </a:lnSpc>
              <a:spcBef>
                <a:spcPts val="1200"/>
              </a:spcBef>
            </a:pPr>
            <a:r>
              <a:rPr lang="zh-CN" altLang="zh-CN">
                <a:solidFill>
                  <a:srgbClr val="0000FF"/>
                </a:solidFill>
                <a:latin typeface="Consolas" pitchFamily="49" charset="0"/>
                <a:ea typeface="仿宋" pitchFamily="49" charset="-122"/>
              </a:rPr>
              <a:t>同样判断是否为叶子结点分为两种方式</a:t>
            </a:r>
            <a:r>
              <a:rPr lang="en-US" altLang="zh-CN">
                <a:solidFill>
                  <a:srgbClr val="0000FF"/>
                </a:solidFill>
                <a:latin typeface="Consolas" pitchFamily="49" charset="0"/>
                <a:ea typeface="仿宋" pitchFamily="49" charset="-122"/>
              </a:rPr>
              <a:t>:</a:t>
            </a: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在结点</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出队时判断</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在出队的结点</a:t>
            </a:r>
            <a:r>
              <a:rPr lang="en-US" altLang="zh-CN" i="1">
                <a:solidFill>
                  <a:srgbClr val="0000FF"/>
                </a:solidFill>
                <a:latin typeface="Consolas" pitchFamily="49" charset="0"/>
                <a:ea typeface="仿宋" pitchFamily="49" charset="-122"/>
              </a:rPr>
              <a:t>e</a:t>
            </a:r>
            <a:r>
              <a:rPr lang="zh-CN" altLang="zh-CN">
                <a:solidFill>
                  <a:srgbClr val="0000FF"/>
                </a:solidFill>
                <a:latin typeface="Consolas" pitchFamily="49" charset="0"/>
                <a:ea typeface="仿宋" pitchFamily="49" charset="-122"/>
              </a:rPr>
              <a:t>扩展出子结点</a:t>
            </a:r>
            <a:r>
              <a:rPr lang="en-US" altLang="zh-CN">
                <a:solidFill>
                  <a:srgbClr val="0000FF"/>
                </a:solidFill>
                <a:latin typeface="Consolas" pitchFamily="49" charset="0"/>
                <a:ea typeface="仿宋" pitchFamily="49" charset="-122"/>
              </a:rPr>
              <a:t>e1</a:t>
            </a:r>
            <a:r>
              <a:rPr lang="zh-CN" altLang="zh-CN">
                <a:solidFill>
                  <a:srgbClr val="0000FF"/>
                </a:solidFill>
                <a:latin typeface="Consolas" pitchFamily="49" charset="0"/>
                <a:ea typeface="仿宋" pitchFamily="49" charset="-122"/>
              </a:rPr>
              <a:t>后再对</a:t>
            </a:r>
            <a:r>
              <a:rPr lang="en-US" altLang="zh-CN">
                <a:solidFill>
                  <a:srgbClr val="0000FF"/>
                </a:solidFill>
                <a:latin typeface="Consolas" pitchFamily="49" charset="0"/>
                <a:ea typeface="仿宋" pitchFamily="49" charset="-122"/>
              </a:rPr>
              <a:t>e1</a:t>
            </a:r>
            <a:r>
              <a:rPr lang="zh-CN" altLang="zh-CN">
                <a:solidFill>
                  <a:srgbClr val="0000FF"/>
                </a:solidFill>
                <a:latin typeface="Consolas" pitchFamily="49" charset="0"/>
                <a:ea typeface="仿宋" pitchFamily="49" charset="-122"/>
              </a:rPr>
              <a:t>进行判断。</a:t>
            </a:r>
            <a:endParaRPr lang="zh-CN" altLang="en-US">
              <a:solidFill>
                <a:srgbClr val="0000FF"/>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69</a:t>
            </a:fld>
            <a:r>
              <a:rPr lang="en-US" altLang="zh-CN"/>
              <a:t>/126</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6626" name="Rectangle 6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132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TextBox 7"/>
          <p:cNvSpPr txBox="1"/>
          <p:nvPr/>
        </p:nvSpPr>
        <p:spPr>
          <a:xfrm>
            <a:off x="571472" y="1285860"/>
            <a:ext cx="8143932" cy="2599137"/>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28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有</a:t>
            </a:r>
            <a:r>
              <a:rPr lang="pt-BR"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个编号为</a:t>
            </a:r>
            <a:r>
              <a:rPr lang="pt-BR"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n</a:t>
            </a:r>
            <a:r>
              <a:rPr lang="pt-BR"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的物品，重量为</a:t>
            </a:r>
            <a:r>
              <a:rPr lang="pt-BR" altLang="zh-CN" i="1">
                <a:solidFill>
                  <a:srgbClr val="0000FF"/>
                </a:solidFill>
                <a:latin typeface="Consolas" pitchFamily="49" charset="0"/>
                <a:ea typeface="仿宋" pitchFamily="49" charset="-122"/>
                <a:cs typeface="Consolas" pitchFamily="49" charset="0"/>
              </a:rPr>
              <a:t>w</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w</a:t>
            </a:r>
            <a:r>
              <a:rPr lang="pt-BR" altLang="zh-CN" i="1" baseline="-25000">
                <a:solidFill>
                  <a:srgbClr val="0000FF"/>
                </a:solidFill>
                <a:latin typeface="Consolas" pitchFamily="49" charset="0"/>
                <a:ea typeface="仿宋" pitchFamily="49" charset="-122"/>
                <a:cs typeface="Consolas" pitchFamily="49" charset="0"/>
              </a:rPr>
              <a:t>n</a:t>
            </a:r>
            <a:r>
              <a:rPr lang="pt-BR" altLang="zh-CN" baseline="-25000">
                <a:solidFill>
                  <a:srgbClr val="0000FF"/>
                </a:solidFill>
                <a:latin typeface="Consolas" pitchFamily="49" charset="0"/>
                <a:ea typeface="仿宋" pitchFamily="49" charset="-122"/>
                <a:cs typeface="Consolas" pitchFamily="49" charset="0"/>
              </a:rPr>
              <a:t>-1</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，价值为</a:t>
            </a:r>
            <a:r>
              <a:rPr lang="pt-BR" altLang="zh-CN" i="1">
                <a:solidFill>
                  <a:srgbClr val="0000FF"/>
                </a:solidFill>
                <a:latin typeface="Consolas" pitchFamily="49" charset="0"/>
                <a:ea typeface="仿宋" pitchFamily="49" charset="-122"/>
                <a:cs typeface="Consolas" pitchFamily="49" charset="0"/>
              </a:rPr>
              <a:t>v</a:t>
            </a:r>
            <a:r>
              <a:rPr lang="pt-BR"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baseline="-25000">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baseline="-25000">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mj-ea"/>
                <a:ea typeface="+mj-ea"/>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pt-BR" altLang="zh-CN" i="1">
                <a:solidFill>
                  <a:srgbClr val="0000FF"/>
                </a:solidFill>
                <a:latin typeface="Consolas" pitchFamily="49" charset="0"/>
                <a:ea typeface="仿宋" pitchFamily="49" charset="-122"/>
                <a:cs typeface="Consolas" pitchFamily="49" charset="0"/>
              </a:rPr>
              <a:t>v</a:t>
            </a:r>
            <a:r>
              <a:rPr lang="pt-BR" altLang="zh-CN" i="1" baseline="-25000">
                <a:solidFill>
                  <a:srgbClr val="0000FF"/>
                </a:solidFill>
                <a:latin typeface="Consolas" pitchFamily="49" charset="0"/>
                <a:ea typeface="仿宋" pitchFamily="49" charset="-122"/>
                <a:cs typeface="Consolas" pitchFamily="49" charset="0"/>
              </a:rPr>
              <a:t>n</a:t>
            </a:r>
            <a:r>
              <a:rPr lang="pt-BR" altLang="zh-CN" baseline="-25000">
                <a:solidFill>
                  <a:srgbClr val="0000FF"/>
                </a:solidFill>
                <a:latin typeface="Consolas" pitchFamily="49" charset="0"/>
                <a:ea typeface="仿宋" pitchFamily="49" charset="-122"/>
                <a:cs typeface="Consolas" pitchFamily="49" charset="0"/>
              </a:rPr>
              <a:t>-1</a:t>
            </a:r>
            <a:r>
              <a:rPr lang="pt-BR"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，给定一个容量为</a:t>
            </a:r>
            <a:r>
              <a:rPr lang="pt-BR" altLang="zh-CN">
                <a:solidFill>
                  <a:srgbClr val="0000FF"/>
                </a:solidFill>
                <a:latin typeface="Consolas" pitchFamily="49" charset="0"/>
                <a:ea typeface="仿宋" pitchFamily="49" charset="-122"/>
                <a:cs typeface="Consolas" pitchFamily="49" charset="0"/>
              </a:rPr>
              <a:t>W</a:t>
            </a:r>
            <a:r>
              <a:rPr lang="zh-CN" altLang="zh-CN">
                <a:solidFill>
                  <a:srgbClr val="0000FF"/>
                </a:solidFill>
                <a:latin typeface="Consolas" pitchFamily="49" charset="0"/>
                <a:ea typeface="仿宋" pitchFamily="49" charset="-122"/>
                <a:cs typeface="Consolas" pitchFamily="49" charset="0"/>
              </a:rPr>
              <a:t>的背包。</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spcBef>
                <a:spcPts val="1200"/>
              </a:spcBef>
              <a:buBlip>
                <a:blip r:embed="rId3"/>
              </a:buBlip>
            </a:pPr>
            <a:r>
              <a:rPr lang="zh-CN" altLang="zh-CN">
                <a:solidFill>
                  <a:srgbClr val="0000FF"/>
                </a:solidFill>
                <a:latin typeface="Consolas" pitchFamily="49" charset="0"/>
                <a:ea typeface="仿宋" pitchFamily="49" charset="-122"/>
                <a:cs typeface="Consolas" pitchFamily="49" charset="0"/>
              </a:rPr>
              <a:t>从这些物品中选取全部或者部分物品装入该背包中，每个物品要么选中要么不选中，即物品不能被分割，找到选中物品不仅能够放到背包中而且价值最大的方案。</a:t>
            </a:r>
          </a:p>
        </p:txBody>
      </p:sp>
      <p:sp>
        <p:nvSpPr>
          <p:cNvPr id="9" name="TextBox 8"/>
          <p:cNvSpPr txBox="1"/>
          <p:nvPr/>
        </p:nvSpPr>
        <p:spPr>
          <a:xfrm>
            <a:off x="6286512" y="4714884"/>
            <a:ext cx="857256" cy="400110"/>
          </a:xfrm>
          <a:prstGeom prst="rect">
            <a:avLst/>
          </a:prstGeom>
          <a:noFill/>
        </p:spPr>
        <p:txBody>
          <a:bodyPr wrap="square" rtlCol="0">
            <a:spAutoFit/>
          </a:bodyPr>
          <a:lstStyle/>
          <a:p>
            <a:pPr algn="l">
              <a:lnSpc>
                <a:spcPct val="100000"/>
              </a:lnSpc>
              <a:spcBef>
                <a:spcPts val="0"/>
              </a:spcBef>
            </a:pPr>
            <a:r>
              <a:rPr lang="pt-BR" altLang="zh-CN" sz="2000" b="0">
                <a:solidFill>
                  <a:srgbClr val="0000FF"/>
                </a:solidFill>
                <a:latin typeface="Consolas" pitchFamily="49" charset="0"/>
                <a:cs typeface="Consolas" pitchFamily="49" charset="0"/>
              </a:rPr>
              <a:t>W=6</a:t>
            </a:r>
            <a:endParaRPr lang="zh-CN" altLang="en-US" sz="2000" b="0">
              <a:solidFill>
                <a:srgbClr val="0000FF"/>
              </a:solidFill>
              <a:latin typeface="Consolas" pitchFamily="49" charset="0"/>
              <a:ea typeface="楷体" pitchFamily="49" charset="-122"/>
              <a:cs typeface="Consolas" pitchFamily="49" charset="0"/>
            </a:endParaRPr>
          </a:p>
        </p:txBody>
      </p:sp>
      <p:graphicFrame>
        <p:nvGraphicFramePr>
          <p:cNvPr id="10" name="表格 9"/>
          <p:cNvGraphicFramePr>
            <a:graphicFrameLocks noGrp="1"/>
          </p:cNvGraphicFramePr>
          <p:nvPr/>
        </p:nvGraphicFramePr>
        <p:xfrm>
          <a:off x="2285984" y="4143380"/>
          <a:ext cx="3786214" cy="1969063"/>
        </p:xfrm>
        <a:graphic>
          <a:graphicData uri="http://schemas.openxmlformats.org/drawingml/2006/table">
            <a:tbl>
              <a:tblPr>
                <a:tableStyleId>{35758FB7-9AC5-4552-8A53-C91805E547FA}</a:tableStyleId>
              </a:tblPr>
              <a:tblGrid>
                <a:gridCol w="1215867">
                  <a:extLst>
                    <a:ext uri="{9D8B030D-6E8A-4147-A177-3AD203B41FA5}">
                      <a16:colId xmlns:a16="http://schemas.microsoft.com/office/drawing/2014/main" val="20000"/>
                    </a:ext>
                  </a:extLst>
                </a:gridCol>
                <a:gridCol w="1244244">
                  <a:extLst>
                    <a:ext uri="{9D8B030D-6E8A-4147-A177-3AD203B41FA5}">
                      <a16:colId xmlns:a16="http://schemas.microsoft.com/office/drawing/2014/main" val="20001"/>
                    </a:ext>
                  </a:extLst>
                </a:gridCol>
                <a:gridCol w="1326103">
                  <a:extLst>
                    <a:ext uri="{9D8B030D-6E8A-4147-A177-3AD203B41FA5}">
                      <a16:colId xmlns:a16="http://schemas.microsoft.com/office/drawing/2014/main" val="20002"/>
                    </a:ext>
                  </a:extLst>
                </a:gridCol>
              </a:tblGrid>
              <a:tr h="445063">
                <a:tc>
                  <a:txBody>
                    <a:bodyPr/>
                    <a:lstStyle/>
                    <a:p>
                      <a:pPr algn="ctr">
                        <a:lnSpc>
                          <a:spcPts val="3000"/>
                        </a:lnSpc>
                        <a:spcAft>
                          <a:spcPts val="0"/>
                        </a:spcAft>
                      </a:pPr>
                      <a:r>
                        <a:rPr lang="zh-CN" sz="2000" b="1" kern="100">
                          <a:solidFill>
                            <a:srgbClr val="FF0000"/>
                          </a:solidFill>
                          <a:latin typeface="Consolas" pitchFamily="49" charset="0"/>
                          <a:ea typeface="仿宋" pitchFamily="49" charset="-122"/>
                          <a:cs typeface="Consolas" pitchFamily="49" charset="0"/>
                        </a:rPr>
                        <a:t>物品编号</a:t>
                      </a:r>
                    </a:p>
                  </a:txBody>
                  <a:tcPr marL="68580" marR="68580" marT="0" marB="0">
                    <a:solidFill>
                      <a:schemeClr val="accent6">
                        <a:lumMod val="20000"/>
                        <a:lumOff val="80000"/>
                      </a:schemeClr>
                    </a:solidFill>
                  </a:tcPr>
                </a:tc>
                <a:tc>
                  <a:txBody>
                    <a:bodyPr/>
                    <a:lstStyle/>
                    <a:p>
                      <a:pPr algn="ctr">
                        <a:lnSpc>
                          <a:spcPts val="3000"/>
                        </a:lnSpc>
                        <a:spcAft>
                          <a:spcPts val="0"/>
                        </a:spcAft>
                      </a:pPr>
                      <a:r>
                        <a:rPr lang="zh-CN" sz="2000" b="1" kern="100">
                          <a:solidFill>
                            <a:srgbClr val="FF0000"/>
                          </a:solidFill>
                          <a:latin typeface="Consolas" pitchFamily="49" charset="0"/>
                          <a:ea typeface="仿宋" pitchFamily="49" charset="-122"/>
                          <a:cs typeface="Consolas" pitchFamily="49" charset="0"/>
                        </a:rPr>
                        <a:t>重量</a:t>
                      </a:r>
                      <a:r>
                        <a:rPr lang="en-US" altLang="zh-CN" sz="2000" b="1" kern="100">
                          <a:solidFill>
                            <a:srgbClr val="FF0000"/>
                          </a:solidFill>
                          <a:latin typeface="Consolas" pitchFamily="49" charset="0"/>
                          <a:ea typeface="仿宋" pitchFamily="49" charset="-122"/>
                          <a:cs typeface="Consolas" pitchFamily="49" charset="0"/>
                        </a:rPr>
                        <a:t>w</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zh-CN" sz="2000" b="1" kern="100">
                          <a:solidFill>
                            <a:srgbClr val="FF0000"/>
                          </a:solidFill>
                          <a:latin typeface="Consolas" pitchFamily="49" charset="0"/>
                          <a:ea typeface="仿宋" pitchFamily="49" charset="-122"/>
                          <a:cs typeface="Consolas" pitchFamily="49" charset="0"/>
                        </a:rPr>
                        <a:t>价值</a:t>
                      </a:r>
                      <a:r>
                        <a:rPr lang="en-US" altLang="zh-CN" sz="2000" b="1" kern="100">
                          <a:solidFill>
                            <a:srgbClr val="FF0000"/>
                          </a:solidFill>
                          <a:latin typeface="Consolas" pitchFamily="49" charset="0"/>
                          <a:ea typeface="仿宋" pitchFamily="49" charset="-122"/>
                          <a:cs typeface="Consolas" pitchFamily="49" charset="0"/>
                        </a:rPr>
                        <a:t>v</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0"/>
                  </a:ext>
                </a:extLst>
              </a:tr>
              <a:tr h="281643">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0</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5</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4</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1"/>
                  </a:ext>
                </a:extLst>
              </a:tr>
              <a:tr h="281643">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1</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3</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4</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2"/>
                  </a:ext>
                </a:extLst>
              </a:tr>
              <a:tr h="281643">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2</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2</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3</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3"/>
                  </a:ext>
                </a:extLst>
              </a:tr>
              <a:tr h="281643">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3</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1</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3000"/>
                        </a:lnSpc>
                        <a:spcAft>
                          <a:spcPts val="0"/>
                        </a:spcAft>
                      </a:pPr>
                      <a:r>
                        <a:rPr lang="pt-BR" sz="2000" kern="100">
                          <a:solidFill>
                            <a:srgbClr val="0000FF"/>
                          </a:solidFill>
                          <a:latin typeface="Consolas" pitchFamily="49" charset="0"/>
                          <a:ea typeface="仿宋" pitchFamily="49" charset="-122"/>
                          <a:cs typeface="Consolas" pitchFamily="49" charset="0"/>
                        </a:rPr>
                        <a:t>1</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11" name="TextBox 10">
            <a:hlinkClick r:id="" action="ppaction://noaction"/>
          </p:cNvPr>
          <p:cNvSpPr txBox="1"/>
          <p:nvPr/>
        </p:nvSpPr>
        <p:spPr>
          <a:xfrm>
            <a:off x="1500166" y="285728"/>
            <a:ext cx="514353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6.7 0/1</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背包问题（</a:t>
            </a: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2</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pPr/>
              <a:t>70</a:t>
            </a:fld>
            <a:r>
              <a:rPr lang="en-US" altLang="zh-CN"/>
              <a:t>/126</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1071538" y="642918"/>
            <a:ext cx="7286676" cy="122405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0"/>
              </a:spcBef>
            </a:pPr>
            <a:r>
              <a:rPr lang="zh-CN" altLang="zh-CN">
                <a:solidFill>
                  <a:srgbClr val="0000FF"/>
                </a:solidFill>
                <a:latin typeface="Consolas" pitchFamily="49" charset="0"/>
                <a:ea typeface="仿宋" pitchFamily="49" charset="-122"/>
                <a:cs typeface="Consolas" pitchFamily="49" charset="0"/>
              </a:rPr>
              <a:t>采用优先队列式分支限界法求解</a:t>
            </a:r>
            <a:r>
              <a:rPr lang="en-US" altLang="zh-CN">
                <a:solidFill>
                  <a:srgbClr val="0000FF"/>
                </a:solidFill>
                <a:latin typeface="Consolas" pitchFamily="49" charset="0"/>
                <a:ea typeface="仿宋" pitchFamily="49" charset="-122"/>
                <a:cs typeface="Consolas" pitchFamily="49" charset="0"/>
              </a:rPr>
              <a:t>0/1</a:t>
            </a:r>
            <a:r>
              <a:rPr lang="zh-CN" altLang="zh-CN">
                <a:solidFill>
                  <a:srgbClr val="0000FF"/>
                </a:solidFill>
                <a:latin typeface="Consolas" pitchFamily="49" charset="0"/>
                <a:ea typeface="仿宋" pitchFamily="49" charset="-122"/>
                <a:cs typeface="Consolas" pitchFamily="49" charset="0"/>
              </a:rPr>
              <a:t>背包问题时，按结点的限界函数值</a:t>
            </a:r>
            <a:r>
              <a:rPr lang="en-US" altLang="zh-CN">
                <a:solidFill>
                  <a:srgbClr val="0000FF"/>
                </a:solidFill>
                <a:latin typeface="Consolas" pitchFamily="49" charset="0"/>
                <a:ea typeface="仿宋" pitchFamily="49" charset="-122"/>
                <a:cs typeface="Consolas" pitchFamily="49" charset="0"/>
              </a:rPr>
              <a:t>ub</a:t>
            </a:r>
            <a:r>
              <a:rPr lang="zh-CN" altLang="zh-CN">
                <a:solidFill>
                  <a:srgbClr val="0000FF"/>
                </a:solidFill>
                <a:latin typeface="Consolas" pitchFamily="49" charset="0"/>
                <a:ea typeface="仿宋" pitchFamily="49" charset="-122"/>
                <a:cs typeface="Consolas" pitchFamily="49" charset="0"/>
              </a:rPr>
              <a:t>越大越优先出队，所以每个结点都有</a:t>
            </a:r>
            <a:r>
              <a:rPr lang="en-US" altLang="zh-CN">
                <a:solidFill>
                  <a:srgbClr val="0000FF"/>
                </a:solidFill>
                <a:latin typeface="Consolas" pitchFamily="49" charset="0"/>
                <a:ea typeface="仿宋" pitchFamily="49" charset="-122"/>
                <a:cs typeface="Consolas" pitchFamily="49" charset="0"/>
              </a:rPr>
              <a:t>ub</a:t>
            </a:r>
            <a:r>
              <a:rPr lang="zh-CN" altLang="zh-CN">
                <a:solidFill>
                  <a:srgbClr val="0000FF"/>
                </a:solidFill>
                <a:latin typeface="Consolas" pitchFamily="49" charset="0"/>
                <a:ea typeface="仿宋" pitchFamily="49" charset="-122"/>
                <a:cs typeface="Consolas" pitchFamily="49" charset="0"/>
              </a:rPr>
              <a:t>值。</a:t>
            </a:r>
            <a:endParaRPr lang="zh-CN" altLang="en-US">
              <a:solidFill>
                <a:srgbClr val="0000FF"/>
              </a:solidFill>
              <a:latin typeface="Consolas" pitchFamily="49" charset="0"/>
              <a:ea typeface="仿宋" pitchFamily="49" charset="-122"/>
              <a:cs typeface="Consolas" pitchFamily="49" charset="0"/>
            </a:endParaRPr>
          </a:p>
        </p:txBody>
      </p:sp>
      <p:sp>
        <p:nvSpPr>
          <p:cNvPr id="6350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TextBox 21"/>
          <p:cNvSpPr txBox="1"/>
          <p:nvPr/>
        </p:nvSpPr>
        <p:spPr>
          <a:xfrm>
            <a:off x="357158" y="928670"/>
            <a:ext cx="642942" cy="461665"/>
          </a:xfrm>
          <a:prstGeom prst="rect">
            <a:avLst/>
          </a:prstGeom>
          <a:solidFill>
            <a:schemeClr val="accent5">
              <a:lumMod val="20000"/>
              <a:lumOff val="80000"/>
            </a:schemeClr>
          </a:solidFill>
          <a:ln/>
          <a:effectLst>
            <a:outerShdw blurRad="76200" dir="13500000" sy="23000" kx="1200000" algn="br" rotWithShape="0">
              <a:prstClr val="black">
                <a:alpha val="20000"/>
              </a:prstClr>
            </a:outerShdw>
          </a:effectLst>
        </p:spPr>
        <p:style>
          <a:lnRef idx="3">
            <a:schemeClr val="lt1"/>
          </a:lnRef>
          <a:fillRef idx="1">
            <a:schemeClr val="dk1"/>
          </a:fillRef>
          <a:effectRef idx="1">
            <a:schemeClr val="dk1"/>
          </a:effectRef>
          <a:fontRef idx="minor">
            <a:schemeClr val="lt1"/>
          </a:fontRef>
        </p:style>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a:solidFill>
                  <a:srgbClr val="FF0000"/>
                </a:solidFill>
                <a:latin typeface="微软雅黑" pitchFamily="34" charset="-122"/>
                <a:ea typeface="微软雅黑" pitchFamily="34" charset="-122"/>
                <a:cs typeface="Consolas" pitchFamily="49" charset="0"/>
              </a:rPr>
              <a:t>解</a:t>
            </a:r>
            <a:endParaRPr lang="zh-CN" altLang="en-US">
              <a:ln w="18415" cmpd="sng">
                <a:solidFill>
                  <a:srgbClr val="FFFFFF"/>
                </a:solidFill>
                <a:prstDash val="solid"/>
              </a:ln>
              <a:solidFill>
                <a:srgbClr val="FF0000"/>
              </a:solidFill>
              <a:effectLst>
                <a:outerShdw blurRad="63500" dir="3600000" algn="tl" rotWithShape="0">
                  <a:srgbClr val="000000">
                    <a:alpha val="70000"/>
                  </a:srgbClr>
                </a:outerShdw>
              </a:effectLst>
              <a:latin typeface="微软雅黑" pitchFamily="34" charset="-122"/>
              <a:ea typeface="微软雅黑" pitchFamily="34" charset="-122"/>
              <a:cs typeface="Consolas" pitchFamily="49" charset="0"/>
            </a:endParaRPr>
          </a:p>
        </p:txBody>
      </p:sp>
      <p:sp>
        <p:nvSpPr>
          <p:cNvPr id="19" name="TextBox 18"/>
          <p:cNvSpPr txBox="1"/>
          <p:nvPr/>
        </p:nvSpPr>
        <p:spPr>
          <a:xfrm>
            <a:off x="928662" y="2071678"/>
            <a:ext cx="7429552"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优先队列中结点类型</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i;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当前层次</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物品序号</a:t>
            </a:r>
            <a:r>
              <a:rPr lang="en-US" altLang="zh-CN" sz="2000">
                <a:solidFill>
                  <a:srgbClr val="00B0F0"/>
                </a:solidFill>
                <a:latin typeface="Consolas" pitchFamily="49" charset="0"/>
                <a:ea typeface="仿宋" pitchFamily="49" charset="-122"/>
              </a:rPr>
              <a:t>) </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cw;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当前总重量</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cv;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当前总价值</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vector&lt;int&gt;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当前解向量</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double ub;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上界</a:t>
            </a:r>
            <a:endParaRPr lang="en-US" altLang="zh-CN" sz="2000">
              <a:solidFill>
                <a:srgbClr val="00B0F0"/>
              </a:solidFill>
              <a:latin typeface="Consolas" pitchFamily="49" charset="0"/>
              <a:ea typeface="仿宋" pitchFamily="49" charset="-122"/>
            </a:endParaRPr>
          </a:p>
          <a:p>
            <a:pPr algn="l" defTabSz="360000">
              <a:lnSpc>
                <a:spcPct val="100000"/>
              </a:lnSpc>
              <a:spcBef>
                <a:spcPts val="0"/>
              </a:spcBef>
            </a:pP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QNode&amp;s) const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ub&lt;s.ub;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ub</a:t>
            </a:r>
            <a:r>
              <a:rPr lang="zh-CN" altLang="zh-CN" sz="2000">
                <a:solidFill>
                  <a:srgbClr val="00B0F0"/>
                </a:solidFill>
                <a:latin typeface="Consolas" pitchFamily="49" charset="0"/>
                <a:ea typeface="仿宋" pitchFamily="49" charset="-122"/>
              </a:rPr>
              <a:t>越大越优先出队</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71</a:t>
            </a:fld>
            <a:r>
              <a:rPr lang="en-US" altLang="zh-CN"/>
              <a:t>/126</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9491" name="Rectangle 9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 name="TextBox 102"/>
          <p:cNvSpPr txBox="1"/>
          <p:nvPr/>
        </p:nvSpPr>
        <p:spPr>
          <a:xfrm>
            <a:off x="6715140" y="928670"/>
            <a:ext cx="857256" cy="400110"/>
          </a:xfrm>
          <a:prstGeom prst="rect">
            <a:avLst/>
          </a:prstGeom>
          <a:noFill/>
        </p:spPr>
        <p:txBody>
          <a:bodyPr wrap="square" rtlCol="0">
            <a:spAutoFit/>
          </a:bodyPr>
          <a:lstStyle/>
          <a:p>
            <a:pPr algn="l">
              <a:lnSpc>
                <a:spcPct val="100000"/>
              </a:lnSpc>
              <a:spcBef>
                <a:spcPts val="0"/>
              </a:spcBef>
            </a:pPr>
            <a:r>
              <a:rPr lang="pt-BR" altLang="zh-CN" sz="2000" b="0">
                <a:solidFill>
                  <a:srgbClr val="0000FF"/>
                </a:solidFill>
                <a:latin typeface="Consolas" pitchFamily="49" charset="0"/>
                <a:cs typeface="Consolas" pitchFamily="49" charset="0"/>
              </a:rPr>
              <a:t>W=6</a:t>
            </a:r>
            <a:endParaRPr lang="zh-CN" altLang="en-US" sz="2000" b="0">
              <a:solidFill>
                <a:srgbClr val="0000FF"/>
              </a:solidFill>
              <a:latin typeface="Consolas" pitchFamily="49" charset="0"/>
              <a:ea typeface="楷体" pitchFamily="49" charset="-122"/>
              <a:cs typeface="Consolas" pitchFamily="49" charset="0"/>
            </a:endParaRPr>
          </a:p>
        </p:txBody>
      </p:sp>
      <p:graphicFrame>
        <p:nvGraphicFramePr>
          <p:cNvPr id="105" name="表格 104"/>
          <p:cNvGraphicFramePr>
            <a:graphicFrameLocks noGrp="1"/>
          </p:cNvGraphicFramePr>
          <p:nvPr/>
        </p:nvGraphicFramePr>
        <p:xfrm>
          <a:off x="1000100" y="285728"/>
          <a:ext cx="5572165" cy="1778000"/>
        </p:xfrm>
        <a:graphic>
          <a:graphicData uri="http://schemas.openxmlformats.org/drawingml/2006/table">
            <a:tbl>
              <a:tblPr>
                <a:tableStyleId>{35758FB7-9AC5-4552-8A53-C91805E547FA}</a:tableStyleId>
              </a:tblPr>
              <a:tblGrid>
                <a:gridCol w="928694">
                  <a:extLst>
                    <a:ext uri="{9D8B030D-6E8A-4147-A177-3AD203B41FA5}">
                      <a16:colId xmlns:a16="http://schemas.microsoft.com/office/drawing/2014/main" val="20000"/>
                    </a:ext>
                  </a:extLst>
                </a:gridCol>
                <a:gridCol w="1511357">
                  <a:extLst>
                    <a:ext uri="{9D8B030D-6E8A-4147-A177-3AD203B41FA5}">
                      <a16:colId xmlns:a16="http://schemas.microsoft.com/office/drawing/2014/main" val="20001"/>
                    </a:ext>
                  </a:extLst>
                </a:gridCol>
                <a:gridCol w="1161930">
                  <a:extLst>
                    <a:ext uri="{9D8B030D-6E8A-4147-A177-3AD203B41FA5}">
                      <a16:colId xmlns:a16="http://schemas.microsoft.com/office/drawing/2014/main" val="20002"/>
                    </a:ext>
                  </a:extLst>
                </a:gridCol>
                <a:gridCol w="959101">
                  <a:extLst>
                    <a:ext uri="{9D8B030D-6E8A-4147-A177-3AD203B41FA5}">
                      <a16:colId xmlns:a16="http://schemas.microsoft.com/office/drawing/2014/main" val="20003"/>
                    </a:ext>
                  </a:extLst>
                </a:gridCol>
                <a:gridCol w="1011083">
                  <a:extLst>
                    <a:ext uri="{9D8B030D-6E8A-4147-A177-3AD203B41FA5}">
                      <a16:colId xmlns:a16="http://schemas.microsoft.com/office/drawing/2014/main" val="20004"/>
                    </a:ext>
                  </a:extLst>
                </a:gridCol>
              </a:tblGrid>
              <a:tr h="314327">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序号</a:t>
                      </a:r>
                      <a:r>
                        <a:rPr lang="pt-BR" sz="1800" b="1" kern="100">
                          <a:solidFill>
                            <a:srgbClr val="FF0000"/>
                          </a:solidFill>
                          <a:latin typeface="Consolas" pitchFamily="49" charset="0"/>
                          <a:ea typeface="仿宋" pitchFamily="49" charset="-122"/>
                          <a:cs typeface="Consolas" pitchFamily="49" charset="0"/>
                        </a:rPr>
                        <a:t>i</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物品编号</a:t>
                      </a:r>
                      <a:r>
                        <a:rPr lang="pt-BR" sz="1800" b="1" kern="100">
                          <a:solidFill>
                            <a:srgbClr val="FF0000"/>
                          </a:solidFill>
                          <a:latin typeface="Consolas" pitchFamily="49" charset="0"/>
                          <a:ea typeface="仿宋" pitchFamily="49" charset="-122"/>
                          <a:cs typeface="Consolas" pitchFamily="49" charset="0"/>
                        </a:rPr>
                        <a:t>no</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重量</a:t>
                      </a:r>
                      <a:r>
                        <a:rPr lang="pt-BR" sz="1800" b="1" kern="100">
                          <a:solidFill>
                            <a:srgbClr val="FF0000"/>
                          </a:solidFill>
                          <a:latin typeface="Consolas" pitchFamily="49" charset="0"/>
                          <a:ea typeface="仿宋" pitchFamily="49" charset="-122"/>
                          <a:cs typeface="Consolas" pitchFamily="49" charset="0"/>
                        </a:rPr>
                        <a:t>w</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zh-CN" sz="1800" b="1" kern="100">
                          <a:solidFill>
                            <a:srgbClr val="FF0000"/>
                          </a:solidFill>
                          <a:latin typeface="Consolas" pitchFamily="49" charset="0"/>
                          <a:ea typeface="仿宋" pitchFamily="49" charset="-122"/>
                          <a:cs typeface="Consolas" pitchFamily="49" charset="0"/>
                        </a:rPr>
                        <a:t>价值</a:t>
                      </a:r>
                      <a:r>
                        <a:rPr lang="pt-BR" sz="1800" b="1" kern="100">
                          <a:solidFill>
                            <a:srgbClr val="FF0000"/>
                          </a:solidFill>
                          <a:latin typeface="Consolas" pitchFamily="49" charset="0"/>
                          <a:ea typeface="仿宋" pitchFamily="49" charset="-122"/>
                          <a:cs typeface="Consolas" pitchFamily="49" charset="0"/>
                        </a:rPr>
                        <a:t>v</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b="1" kern="100">
                          <a:solidFill>
                            <a:srgbClr val="FF0000"/>
                          </a:solidFill>
                          <a:latin typeface="Consolas" pitchFamily="49" charset="0"/>
                          <a:ea typeface="仿宋" pitchFamily="49" charset="-122"/>
                          <a:cs typeface="Consolas" pitchFamily="49" charset="0"/>
                        </a:rPr>
                        <a:t>v/w</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0</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1.5</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4</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1.3</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1</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14327">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0</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5</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0000FF"/>
                          </a:solidFill>
                          <a:latin typeface="Consolas" pitchFamily="49" charset="0"/>
                          <a:ea typeface="仿宋" pitchFamily="49" charset="-122"/>
                          <a:cs typeface="Consolas" pitchFamily="49" charset="0"/>
                        </a:rPr>
                        <a:t>4</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algn="ctr">
                        <a:lnSpc>
                          <a:spcPts val="2800"/>
                        </a:lnSpc>
                        <a:spcAft>
                          <a:spcPts val="0"/>
                        </a:spcAft>
                      </a:pPr>
                      <a:r>
                        <a:rPr lang="pt-BR" sz="1800" kern="100">
                          <a:solidFill>
                            <a:srgbClr val="FF00FF"/>
                          </a:solidFill>
                          <a:latin typeface="Consolas" pitchFamily="49" charset="0"/>
                          <a:ea typeface="仿宋" pitchFamily="49" charset="-122"/>
                          <a:cs typeface="Consolas" pitchFamily="49" charset="0"/>
                        </a:rPr>
                        <a:t>0.8</a:t>
                      </a:r>
                      <a:endParaRPr lang="zh-CN" sz="1800" kern="100">
                        <a:solidFill>
                          <a:srgbClr val="FF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4"/>
                  </a:ext>
                </a:extLst>
              </a:tr>
            </a:tbl>
          </a:graphicData>
        </a:graphic>
      </p:graphicFrame>
      <p:sp>
        <p:nvSpPr>
          <p:cNvPr id="59651" name="Rectangle 25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03" name="TextBox 202"/>
          <p:cNvSpPr txBox="1"/>
          <p:nvPr/>
        </p:nvSpPr>
        <p:spPr>
          <a:xfrm>
            <a:off x="714348" y="6286520"/>
            <a:ext cx="1116916"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itchFamily="49" charset="0"/>
                <a:ea typeface="楷体" pitchFamily="49" charset="-122"/>
                <a:cs typeface="Times New Roman" pitchFamily="18" charset="0"/>
              </a:rPr>
              <a:t>bestv=8</a:t>
            </a:r>
            <a:endParaRPr lang="zh-CN" altLang="en-US" sz="1800">
              <a:solidFill>
                <a:srgbClr val="FF0000"/>
              </a:solidFill>
              <a:latin typeface="Consolas" pitchFamily="49" charset="0"/>
              <a:ea typeface="楷体" pitchFamily="49" charset="-122"/>
              <a:cs typeface="Times New Roman" pitchFamily="18" charset="0"/>
            </a:endParaRPr>
          </a:p>
        </p:txBody>
      </p:sp>
      <p:grpSp>
        <p:nvGrpSpPr>
          <p:cNvPr id="2" name="组合 181"/>
          <p:cNvGrpSpPr/>
          <p:nvPr/>
        </p:nvGrpSpPr>
        <p:grpSpPr>
          <a:xfrm>
            <a:off x="357158" y="2365936"/>
            <a:ext cx="8001056" cy="3849146"/>
            <a:chOff x="691074" y="1285860"/>
            <a:chExt cx="7164469" cy="3849146"/>
          </a:xfrm>
        </p:grpSpPr>
        <p:sp>
          <p:nvSpPr>
            <p:cNvPr id="183" name="Rectangle 77"/>
            <p:cNvSpPr>
              <a:spLocks noChangeArrowheads="1"/>
            </p:cNvSpPr>
            <p:nvPr/>
          </p:nvSpPr>
          <p:spPr bwMode="auto">
            <a:xfrm>
              <a:off x="4144688" y="438856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84" name="Rectangle 76"/>
            <p:cNvSpPr>
              <a:spLocks noChangeArrowheads="1"/>
            </p:cNvSpPr>
            <p:nvPr/>
          </p:nvSpPr>
          <p:spPr bwMode="auto">
            <a:xfrm>
              <a:off x="5980412" y="438856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85" name="Rectangle 75"/>
            <p:cNvSpPr>
              <a:spLocks noChangeArrowheads="1"/>
            </p:cNvSpPr>
            <p:nvPr/>
          </p:nvSpPr>
          <p:spPr bwMode="auto">
            <a:xfrm>
              <a:off x="751280" y="438856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86" name="Rectangle 74"/>
            <p:cNvSpPr>
              <a:spLocks noChangeArrowheads="1"/>
            </p:cNvSpPr>
            <p:nvPr/>
          </p:nvSpPr>
          <p:spPr bwMode="auto">
            <a:xfrm>
              <a:off x="2880370" y="438856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87" name="Rectangle 73"/>
            <p:cNvSpPr>
              <a:spLocks noChangeArrowheads="1"/>
            </p:cNvSpPr>
            <p:nvPr/>
          </p:nvSpPr>
          <p:spPr bwMode="auto">
            <a:xfrm>
              <a:off x="1480315" y="4460873"/>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88" name="Rectangle 72"/>
            <p:cNvSpPr>
              <a:spLocks noChangeArrowheads="1"/>
            </p:cNvSpPr>
            <p:nvPr/>
          </p:nvSpPr>
          <p:spPr bwMode="auto">
            <a:xfrm>
              <a:off x="5229483" y="4436418"/>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89" name="Rectangle 71"/>
            <p:cNvSpPr>
              <a:spLocks noChangeArrowheads="1"/>
            </p:cNvSpPr>
            <p:nvPr/>
          </p:nvSpPr>
          <p:spPr bwMode="auto">
            <a:xfrm>
              <a:off x="3393759" y="438856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90" name="Rectangle 70"/>
            <p:cNvSpPr>
              <a:spLocks noChangeArrowheads="1"/>
            </p:cNvSpPr>
            <p:nvPr/>
          </p:nvSpPr>
          <p:spPr bwMode="auto">
            <a:xfrm>
              <a:off x="2122874" y="4436418"/>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91" name="Rectangle 69"/>
            <p:cNvSpPr>
              <a:spLocks noChangeArrowheads="1"/>
            </p:cNvSpPr>
            <p:nvPr/>
          </p:nvSpPr>
          <p:spPr bwMode="auto">
            <a:xfrm>
              <a:off x="6440163" y="3487954"/>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92" name="Rectangle 68"/>
            <p:cNvSpPr>
              <a:spLocks noChangeArrowheads="1"/>
            </p:cNvSpPr>
            <p:nvPr/>
          </p:nvSpPr>
          <p:spPr bwMode="auto">
            <a:xfrm>
              <a:off x="4643847" y="3529423"/>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93" name="Rectangle 67"/>
            <p:cNvSpPr>
              <a:spLocks noChangeArrowheads="1"/>
            </p:cNvSpPr>
            <p:nvPr/>
          </p:nvSpPr>
          <p:spPr bwMode="auto">
            <a:xfrm>
              <a:off x="5519565" y="3519853"/>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94" name="Rectangle 66"/>
            <p:cNvSpPr>
              <a:spLocks noChangeArrowheads="1"/>
            </p:cNvSpPr>
            <p:nvPr/>
          </p:nvSpPr>
          <p:spPr bwMode="auto">
            <a:xfrm>
              <a:off x="3742952" y="3519853"/>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95" name="Rectangle 65"/>
            <p:cNvSpPr>
              <a:spLocks noChangeArrowheads="1"/>
            </p:cNvSpPr>
            <p:nvPr/>
          </p:nvSpPr>
          <p:spPr bwMode="auto">
            <a:xfrm>
              <a:off x="2418428" y="3519853"/>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96" name="Rectangle 64"/>
            <p:cNvSpPr>
              <a:spLocks noChangeArrowheads="1"/>
            </p:cNvSpPr>
            <p:nvPr/>
          </p:nvSpPr>
          <p:spPr bwMode="auto">
            <a:xfrm>
              <a:off x="1332538" y="3487954"/>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197" name="Rectangle 63"/>
            <p:cNvSpPr>
              <a:spLocks noChangeArrowheads="1"/>
            </p:cNvSpPr>
            <p:nvPr/>
          </p:nvSpPr>
          <p:spPr bwMode="auto">
            <a:xfrm>
              <a:off x="7360762" y="2549060"/>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98" name="Rectangle 62"/>
            <p:cNvSpPr>
              <a:spLocks noChangeArrowheads="1"/>
            </p:cNvSpPr>
            <p:nvPr/>
          </p:nvSpPr>
          <p:spPr bwMode="auto">
            <a:xfrm>
              <a:off x="3849133" y="2606478"/>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199" name="Rectangle 61"/>
            <p:cNvSpPr>
              <a:spLocks noChangeArrowheads="1"/>
            </p:cNvSpPr>
            <p:nvPr/>
          </p:nvSpPr>
          <p:spPr bwMode="auto">
            <a:xfrm>
              <a:off x="2220297" y="2606478"/>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200" name="Rectangle 60"/>
            <p:cNvSpPr>
              <a:spLocks noChangeArrowheads="1"/>
            </p:cNvSpPr>
            <p:nvPr/>
          </p:nvSpPr>
          <p:spPr bwMode="auto">
            <a:xfrm>
              <a:off x="6158839" y="2603289"/>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201" name="Rectangle 59"/>
            <p:cNvSpPr>
              <a:spLocks noChangeArrowheads="1"/>
            </p:cNvSpPr>
            <p:nvPr/>
          </p:nvSpPr>
          <p:spPr bwMode="auto">
            <a:xfrm>
              <a:off x="5831539" y="1687787"/>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a:t>
              </a:r>
            </a:p>
          </p:txBody>
        </p:sp>
        <p:sp>
          <p:nvSpPr>
            <p:cNvPr id="202" name="Rectangle 58"/>
            <p:cNvSpPr>
              <a:spLocks noChangeArrowheads="1"/>
            </p:cNvSpPr>
            <p:nvPr/>
          </p:nvSpPr>
          <p:spPr bwMode="auto">
            <a:xfrm>
              <a:off x="3879783" y="1687787"/>
              <a:ext cx="225497" cy="2211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1</a:t>
              </a:r>
            </a:p>
          </p:txBody>
        </p:sp>
        <p:sp>
          <p:nvSpPr>
            <p:cNvPr id="205" name="Rectangle 57"/>
            <p:cNvSpPr>
              <a:spLocks noChangeArrowheads="1"/>
            </p:cNvSpPr>
            <p:nvPr/>
          </p:nvSpPr>
          <p:spPr bwMode="auto">
            <a:xfrm>
              <a:off x="7055355" y="1978068"/>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6</a:t>
              </a:r>
            </a:p>
          </p:txBody>
        </p:sp>
        <p:sp>
          <p:nvSpPr>
            <p:cNvPr id="206" name="Rectangle 56"/>
            <p:cNvSpPr>
              <a:spLocks noChangeArrowheads="1"/>
            </p:cNvSpPr>
            <p:nvPr/>
          </p:nvSpPr>
          <p:spPr bwMode="auto">
            <a:xfrm>
              <a:off x="3619257" y="3114736"/>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9</a:t>
              </a:r>
            </a:p>
          </p:txBody>
        </p:sp>
        <p:sp>
          <p:nvSpPr>
            <p:cNvPr id="207" name="Rectangle 55"/>
            <p:cNvSpPr>
              <a:spLocks noChangeArrowheads="1"/>
            </p:cNvSpPr>
            <p:nvPr/>
          </p:nvSpPr>
          <p:spPr bwMode="auto">
            <a:xfrm>
              <a:off x="2047343" y="3815450"/>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5</a:t>
              </a:r>
            </a:p>
          </p:txBody>
        </p:sp>
        <p:sp>
          <p:nvSpPr>
            <p:cNvPr id="208" name="Rectangle 54"/>
            <p:cNvSpPr>
              <a:spLocks noChangeArrowheads="1"/>
            </p:cNvSpPr>
            <p:nvPr/>
          </p:nvSpPr>
          <p:spPr bwMode="auto">
            <a:xfrm>
              <a:off x="5655301" y="2909519"/>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7</a:t>
              </a:r>
            </a:p>
          </p:txBody>
        </p:sp>
        <p:sp>
          <p:nvSpPr>
            <p:cNvPr id="209" name="Oval 53"/>
            <p:cNvSpPr>
              <a:spLocks noChangeArrowheads="1"/>
            </p:cNvSpPr>
            <p:nvPr/>
          </p:nvSpPr>
          <p:spPr bwMode="auto">
            <a:xfrm>
              <a:off x="4555180" y="1316696"/>
              <a:ext cx="713710"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0,0,8</a:t>
              </a:r>
            </a:p>
          </p:txBody>
        </p:sp>
        <p:sp>
          <p:nvSpPr>
            <p:cNvPr id="210" name="Oval 51"/>
            <p:cNvSpPr>
              <a:spLocks noChangeArrowheads="1"/>
            </p:cNvSpPr>
            <p:nvPr/>
          </p:nvSpPr>
          <p:spPr bwMode="auto">
            <a:xfrm>
              <a:off x="2776378" y="2187538"/>
              <a:ext cx="713710"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2,3,8</a:t>
              </a:r>
            </a:p>
          </p:txBody>
        </p:sp>
        <p:sp>
          <p:nvSpPr>
            <p:cNvPr id="211" name="Oval 50"/>
            <p:cNvSpPr>
              <a:spLocks noChangeArrowheads="1"/>
            </p:cNvSpPr>
            <p:nvPr/>
          </p:nvSpPr>
          <p:spPr bwMode="auto">
            <a:xfrm>
              <a:off x="1601821" y="3114736"/>
              <a:ext cx="713710"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5,7,8</a:t>
              </a:r>
            </a:p>
          </p:txBody>
        </p:sp>
        <p:sp>
          <p:nvSpPr>
            <p:cNvPr id="212" name="Oval 49"/>
            <p:cNvSpPr>
              <a:spLocks noChangeArrowheads="1"/>
            </p:cNvSpPr>
            <p:nvPr/>
          </p:nvSpPr>
          <p:spPr bwMode="auto">
            <a:xfrm>
              <a:off x="3879783" y="3114736"/>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2,3,6.4</a:t>
              </a:r>
            </a:p>
          </p:txBody>
        </p:sp>
        <p:sp>
          <p:nvSpPr>
            <p:cNvPr id="213" name="Oval 48"/>
            <p:cNvSpPr>
              <a:spLocks noChangeArrowheads="1"/>
            </p:cNvSpPr>
            <p:nvPr/>
          </p:nvSpPr>
          <p:spPr bwMode="auto">
            <a:xfrm>
              <a:off x="899058" y="3957933"/>
              <a:ext cx="713710"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6,8,8</a:t>
              </a:r>
            </a:p>
          </p:txBody>
        </p:sp>
        <p:sp>
          <p:nvSpPr>
            <p:cNvPr id="214" name="Oval 47"/>
            <p:cNvSpPr>
              <a:spLocks noChangeArrowheads="1"/>
            </p:cNvSpPr>
            <p:nvPr/>
          </p:nvSpPr>
          <p:spPr bwMode="auto">
            <a:xfrm>
              <a:off x="2142577" y="3957933"/>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5,7,7.8</a:t>
              </a:r>
            </a:p>
          </p:txBody>
        </p:sp>
        <p:sp>
          <p:nvSpPr>
            <p:cNvPr id="215" name="Oval 46"/>
            <p:cNvSpPr>
              <a:spLocks noChangeArrowheads="1"/>
            </p:cNvSpPr>
            <p:nvPr/>
          </p:nvSpPr>
          <p:spPr bwMode="auto">
            <a:xfrm>
              <a:off x="691074"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16" name="Oval 45"/>
            <p:cNvSpPr>
              <a:spLocks noChangeArrowheads="1"/>
            </p:cNvSpPr>
            <p:nvPr/>
          </p:nvSpPr>
          <p:spPr bwMode="auto">
            <a:xfrm>
              <a:off x="1201180" y="4773484"/>
              <a:ext cx="713710" cy="361522"/>
            </a:xfrm>
            <a:prstGeom prst="ellipse">
              <a:avLst/>
            </a:prstGeom>
            <a:solidFill>
              <a:srgbClr val="FF0000"/>
            </a:solidFill>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chemeClr val="bg1"/>
                  </a:solidFill>
                  <a:effectLst/>
                  <a:ea typeface="仿宋" pitchFamily="49" charset="-122"/>
                  <a:cs typeface="Times New Roman" pitchFamily="18" charset="0"/>
                </a:rPr>
                <a:t>6,8,8</a:t>
              </a:r>
            </a:p>
          </p:txBody>
        </p:sp>
        <p:sp>
          <p:nvSpPr>
            <p:cNvPr id="217" name="AutoShape 44"/>
            <p:cNvSpPr>
              <a:spLocks noChangeShapeType="1"/>
            </p:cNvSpPr>
            <p:nvPr/>
          </p:nvSpPr>
          <p:spPr bwMode="auto">
            <a:xfrm flipH="1">
              <a:off x="3386097" y="1625053"/>
              <a:ext cx="1273075" cy="61565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18" name="AutoShape 43"/>
            <p:cNvSpPr>
              <a:spLocks noChangeShapeType="1"/>
            </p:cNvSpPr>
            <p:nvPr/>
          </p:nvSpPr>
          <p:spPr bwMode="auto">
            <a:xfrm flipH="1">
              <a:off x="1958676" y="2495895"/>
              <a:ext cx="921693" cy="6188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19" name="AutoShape 42"/>
            <p:cNvSpPr>
              <a:spLocks noChangeShapeType="1"/>
            </p:cNvSpPr>
            <p:nvPr/>
          </p:nvSpPr>
          <p:spPr bwMode="auto">
            <a:xfrm>
              <a:off x="3386097" y="2495895"/>
              <a:ext cx="912936" cy="6188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20" name="AutoShape 41"/>
            <p:cNvSpPr>
              <a:spLocks noChangeShapeType="1"/>
            </p:cNvSpPr>
            <p:nvPr/>
          </p:nvSpPr>
          <p:spPr bwMode="auto">
            <a:xfrm flipH="1">
              <a:off x="1255913" y="3423093"/>
              <a:ext cx="449900" cy="53484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21" name="AutoShape 40"/>
            <p:cNvSpPr>
              <a:spLocks noChangeShapeType="1"/>
            </p:cNvSpPr>
            <p:nvPr/>
          </p:nvSpPr>
          <p:spPr bwMode="auto">
            <a:xfrm>
              <a:off x="2211540" y="3423093"/>
              <a:ext cx="350287" cy="53484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22" name="AutoShape 39"/>
            <p:cNvSpPr>
              <a:spLocks noChangeShapeType="1"/>
            </p:cNvSpPr>
            <p:nvPr/>
          </p:nvSpPr>
          <p:spPr bwMode="auto">
            <a:xfrm flipH="1">
              <a:off x="877165" y="4304568"/>
              <a:ext cx="214551" cy="46891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23" name="AutoShape 38"/>
            <p:cNvSpPr>
              <a:spLocks noChangeShapeType="1"/>
            </p:cNvSpPr>
            <p:nvPr/>
          </p:nvSpPr>
          <p:spPr bwMode="auto">
            <a:xfrm>
              <a:off x="1380702" y="4294999"/>
              <a:ext cx="177333" cy="47848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24" name="Oval 37"/>
            <p:cNvSpPr>
              <a:spLocks noChangeArrowheads="1"/>
            </p:cNvSpPr>
            <p:nvPr/>
          </p:nvSpPr>
          <p:spPr bwMode="auto">
            <a:xfrm>
              <a:off x="2073614"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25" name="Oval 36"/>
            <p:cNvSpPr>
              <a:spLocks noChangeArrowheads="1"/>
            </p:cNvSpPr>
            <p:nvPr/>
          </p:nvSpPr>
          <p:spPr bwMode="auto">
            <a:xfrm>
              <a:off x="2697563"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26" name="Oval 35"/>
            <p:cNvSpPr>
              <a:spLocks noChangeArrowheads="1"/>
            </p:cNvSpPr>
            <p:nvPr/>
          </p:nvSpPr>
          <p:spPr bwMode="auto">
            <a:xfrm>
              <a:off x="3321513"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27" name="Oval 34"/>
            <p:cNvSpPr>
              <a:spLocks noChangeArrowheads="1"/>
            </p:cNvSpPr>
            <p:nvPr/>
          </p:nvSpPr>
          <p:spPr bwMode="auto">
            <a:xfrm>
              <a:off x="3975017"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28" name="Oval 33"/>
            <p:cNvSpPr>
              <a:spLocks noChangeArrowheads="1"/>
            </p:cNvSpPr>
            <p:nvPr/>
          </p:nvSpPr>
          <p:spPr bwMode="auto">
            <a:xfrm>
              <a:off x="4561748" y="3957933"/>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29" name="Oval 32"/>
            <p:cNvSpPr>
              <a:spLocks noChangeArrowheads="1"/>
            </p:cNvSpPr>
            <p:nvPr/>
          </p:nvSpPr>
          <p:spPr bwMode="auto">
            <a:xfrm>
              <a:off x="5170372"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30" name="Oval 31"/>
            <p:cNvSpPr>
              <a:spLocks noChangeArrowheads="1"/>
            </p:cNvSpPr>
            <p:nvPr/>
          </p:nvSpPr>
          <p:spPr bwMode="auto">
            <a:xfrm>
              <a:off x="5833729" y="4773484"/>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31" name="Oval 30"/>
            <p:cNvSpPr>
              <a:spLocks noChangeArrowheads="1"/>
            </p:cNvSpPr>
            <p:nvPr/>
          </p:nvSpPr>
          <p:spPr bwMode="auto">
            <a:xfrm>
              <a:off x="3429883" y="3957933"/>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3,4,6.4</a:t>
              </a:r>
            </a:p>
          </p:txBody>
        </p:sp>
        <p:sp>
          <p:nvSpPr>
            <p:cNvPr id="232" name="AutoShape 29"/>
            <p:cNvSpPr>
              <a:spLocks noChangeShapeType="1"/>
            </p:cNvSpPr>
            <p:nvPr/>
          </p:nvSpPr>
          <p:spPr bwMode="auto">
            <a:xfrm flipH="1">
              <a:off x="2259704" y="4314138"/>
              <a:ext cx="143399" cy="459346"/>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33" name="AutoShape 28"/>
            <p:cNvSpPr>
              <a:spLocks noChangeShapeType="1"/>
            </p:cNvSpPr>
            <p:nvPr/>
          </p:nvSpPr>
          <p:spPr bwMode="auto">
            <a:xfrm>
              <a:off x="2768716" y="4294999"/>
              <a:ext cx="114938" cy="47848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34" name="AutoShape 27"/>
            <p:cNvSpPr>
              <a:spLocks noChangeShapeType="1"/>
            </p:cNvSpPr>
            <p:nvPr/>
          </p:nvSpPr>
          <p:spPr bwMode="auto">
            <a:xfrm flipH="1">
              <a:off x="3507603" y="4323708"/>
              <a:ext cx="172954" cy="449776"/>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35" name="AutoShape 26"/>
            <p:cNvSpPr>
              <a:spLocks noChangeShapeType="1"/>
            </p:cNvSpPr>
            <p:nvPr/>
          </p:nvSpPr>
          <p:spPr bwMode="auto">
            <a:xfrm>
              <a:off x="3996910" y="4323708"/>
              <a:ext cx="183901" cy="459346"/>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36" name="Oval 25"/>
            <p:cNvSpPr>
              <a:spLocks noChangeArrowheads="1"/>
            </p:cNvSpPr>
            <p:nvPr/>
          </p:nvSpPr>
          <p:spPr bwMode="auto">
            <a:xfrm>
              <a:off x="5219631" y="3957933"/>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4,5,6.6</a:t>
              </a:r>
            </a:p>
          </p:txBody>
        </p:sp>
        <p:sp>
          <p:nvSpPr>
            <p:cNvPr id="237" name="Oval 24"/>
            <p:cNvSpPr>
              <a:spLocks noChangeArrowheads="1"/>
            </p:cNvSpPr>
            <p:nvPr/>
          </p:nvSpPr>
          <p:spPr bwMode="auto">
            <a:xfrm>
              <a:off x="6404040" y="3938793"/>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38" name="AutoShape 23"/>
            <p:cNvSpPr>
              <a:spLocks noChangeShapeType="1"/>
            </p:cNvSpPr>
            <p:nvPr/>
          </p:nvSpPr>
          <p:spPr bwMode="auto">
            <a:xfrm flipH="1">
              <a:off x="5356462" y="4323708"/>
              <a:ext cx="163102" cy="449776"/>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39" name="AutoShape 22"/>
            <p:cNvSpPr>
              <a:spLocks noChangeShapeType="1"/>
            </p:cNvSpPr>
            <p:nvPr/>
          </p:nvSpPr>
          <p:spPr bwMode="auto">
            <a:xfrm>
              <a:off x="5835918" y="4304568"/>
              <a:ext cx="183901" cy="468915"/>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0" name="AutoShape 21"/>
            <p:cNvSpPr>
              <a:spLocks noChangeShapeType="1"/>
            </p:cNvSpPr>
            <p:nvPr/>
          </p:nvSpPr>
          <p:spPr bwMode="auto">
            <a:xfrm flipH="1">
              <a:off x="3849133" y="3423093"/>
              <a:ext cx="153251" cy="53484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1" name="Oval 20"/>
            <p:cNvSpPr>
              <a:spLocks noChangeArrowheads="1"/>
            </p:cNvSpPr>
            <p:nvPr/>
          </p:nvSpPr>
          <p:spPr bwMode="auto">
            <a:xfrm>
              <a:off x="5681573" y="3114736"/>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3,4,6.6</a:t>
              </a:r>
            </a:p>
          </p:txBody>
        </p:sp>
        <p:sp>
          <p:nvSpPr>
            <p:cNvPr id="242" name="AutoShape 19"/>
            <p:cNvSpPr>
              <a:spLocks noChangeShapeType="1"/>
            </p:cNvSpPr>
            <p:nvPr/>
          </p:nvSpPr>
          <p:spPr bwMode="auto">
            <a:xfrm flipH="1">
              <a:off x="5638881" y="3423093"/>
              <a:ext cx="165292" cy="53484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3" name="AutoShape 18"/>
            <p:cNvSpPr>
              <a:spLocks noChangeShapeType="1"/>
            </p:cNvSpPr>
            <p:nvPr/>
          </p:nvSpPr>
          <p:spPr bwMode="auto">
            <a:xfrm>
              <a:off x="6396378" y="3423093"/>
              <a:ext cx="193753" cy="51570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4" name="Oval 17"/>
            <p:cNvSpPr>
              <a:spLocks noChangeArrowheads="1"/>
            </p:cNvSpPr>
            <p:nvPr/>
          </p:nvSpPr>
          <p:spPr bwMode="auto">
            <a:xfrm>
              <a:off x="6440163" y="2187538"/>
              <a:ext cx="837405" cy="361522"/>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ea typeface="仿宋" pitchFamily="49" charset="-122"/>
                  <a:cs typeface="Times New Roman" pitchFamily="18" charset="0"/>
                </a:rPr>
                <a:t>0,0,6.6</a:t>
              </a:r>
            </a:p>
          </p:txBody>
        </p:sp>
        <p:sp>
          <p:nvSpPr>
            <p:cNvPr id="245" name="AutoShape 16"/>
            <p:cNvSpPr>
              <a:spLocks noChangeShapeType="1"/>
            </p:cNvSpPr>
            <p:nvPr/>
          </p:nvSpPr>
          <p:spPr bwMode="auto">
            <a:xfrm>
              <a:off x="5164899" y="1625053"/>
              <a:ext cx="1397865" cy="61565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6" name="AutoShape 15"/>
            <p:cNvSpPr>
              <a:spLocks noChangeShapeType="1"/>
            </p:cNvSpPr>
            <p:nvPr/>
          </p:nvSpPr>
          <p:spPr bwMode="auto">
            <a:xfrm flipH="1">
              <a:off x="6100823" y="2495895"/>
              <a:ext cx="461941" cy="618841"/>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7" name="AutoShape 14"/>
            <p:cNvSpPr>
              <a:spLocks noChangeShapeType="1"/>
            </p:cNvSpPr>
            <p:nvPr/>
          </p:nvSpPr>
          <p:spPr bwMode="auto">
            <a:xfrm>
              <a:off x="7154968" y="2495895"/>
              <a:ext cx="514484" cy="630537"/>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48" name="Rectangle 9"/>
            <p:cNvSpPr>
              <a:spLocks noChangeArrowheads="1"/>
            </p:cNvSpPr>
            <p:nvPr/>
          </p:nvSpPr>
          <p:spPr bwMode="auto">
            <a:xfrm>
              <a:off x="4328588" y="1285860"/>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1</a:t>
              </a:r>
            </a:p>
          </p:txBody>
        </p:sp>
        <p:sp>
          <p:nvSpPr>
            <p:cNvPr id="249" name="Rectangle 8"/>
            <p:cNvSpPr>
              <a:spLocks noChangeArrowheads="1"/>
            </p:cNvSpPr>
            <p:nvPr/>
          </p:nvSpPr>
          <p:spPr bwMode="auto">
            <a:xfrm>
              <a:off x="2549786" y="2131183"/>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2</a:t>
              </a:r>
            </a:p>
          </p:txBody>
        </p:sp>
        <p:sp>
          <p:nvSpPr>
            <p:cNvPr id="250" name="Rectangle 7"/>
            <p:cNvSpPr>
              <a:spLocks noChangeArrowheads="1"/>
            </p:cNvSpPr>
            <p:nvPr/>
          </p:nvSpPr>
          <p:spPr bwMode="auto">
            <a:xfrm>
              <a:off x="1508776" y="2909519"/>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3</a:t>
              </a:r>
            </a:p>
          </p:txBody>
        </p:sp>
        <p:sp>
          <p:nvSpPr>
            <p:cNvPr id="251" name="Rectangle 6"/>
            <p:cNvSpPr>
              <a:spLocks noChangeArrowheads="1"/>
            </p:cNvSpPr>
            <p:nvPr/>
          </p:nvSpPr>
          <p:spPr bwMode="auto">
            <a:xfrm>
              <a:off x="899058" y="3696361"/>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4</a:t>
              </a:r>
            </a:p>
          </p:txBody>
        </p:sp>
        <p:sp>
          <p:nvSpPr>
            <p:cNvPr id="252" name="Oval 5"/>
            <p:cNvSpPr>
              <a:spLocks noChangeArrowheads="1"/>
            </p:cNvSpPr>
            <p:nvPr/>
          </p:nvSpPr>
          <p:spPr bwMode="auto">
            <a:xfrm>
              <a:off x="7483363" y="3126432"/>
              <a:ext cx="372180" cy="361522"/>
            </a:xfrm>
            <a:prstGeom prst="ellipse">
              <a:avLst/>
            </a:prstGeom>
            <a:solidFill>
              <a:schemeClr val="bg1">
                <a:lumMod val="75000"/>
              </a:schemeClr>
            </a:solidFill>
            <a:ln w="9525">
              <a:solidFill>
                <a:srgbClr val="000000"/>
              </a:solidFill>
              <a:prstDash val="dash"/>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800" i="0" u="none" strike="noStrike" cap="none" normalizeH="0" baseline="0">
                  <a:ln>
                    <a:noFill/>
                  </a:ln>
                  <a:solidFill>
                    <a:srgbClr val="0000FF"/>
                  </a:solidFill>
                  <a:effectLst/>
                  <a:ea typeface="仿宋" pitchFamily="49" charset="-122"/>
                  <a:cs typeface="Times New Roman" pitchFamily="18" charset="0"/>
                </a:rPr>
                <a:t>×</a:t>
              </a:r>
            </a:p>
          </p:txBody>
        </p:sp>
        <p:sp>
          <p:nvSpPr>
            <p:cNvPr id="253" name="Rectangle 4"/>
            <p:cNvSpPr>
              <a:spLocks noChangeArrowheads="1"/>
            </p:cNvSpPr>
            <p:nvPr/>
          </p:nvSpPr>
          <p:spPr bwMode="auto">
            <a:xfrm>
              <a:off x="5179129" y="3696361"/>
              <a:ext cx="226592"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8</a:t>
              </a:r>
            </a:p>
          </p:txBody>
        </p:sp>
        <p:sp>
          <p:nvSpPr>
            <p:cNvPr id="254" name="AutoShape 3"/>
            <p:cNvSpPr>
              <a:spLocks noChangeShapeType="1"/>
            </p:cNvSpPr>
            <p:nvPr/>
          </p:nvSpPr>
          <p:spPr bwMode="auto">
            <a:xfrm>
              <a:off x="4594588" y="3423093"/>
              <a:ext cx="153251" cy="53484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800">
                <a:solidFill>
                  <a:srgbClr val="0000FF"/>
                </a:solidFill>
                <a:ea typeface="仿宋" pitchFamily="49" charset="-122"/>
                <a:cs typeface="Times New Roman" pitchFamily="18" charset="0"/>
              </a:endParaRPr>
            </a:p>
          </p:txBody>
        </p:sp>
        <p:sp>
          <p:nvSpPr>
            <p:cNvPr id="255" name="Rectangle 2"/>
            <p:cNvSpPr>
              <a:spLocks noChangeArrowheads="1"/>
            </p:cNvSpPr>
            <p:nvPr/>
          </p:nvSpPr>
          <p:spPr bwMode="auto">
            <a:xfrm>
              <a:off x="3428788" y="3741019"/>
              <a:ext cx="314164" cy="2169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FF00FF"/>
                  </a:solidFill>
                  <a:effectLst/>
                  <a:ea typeface="仿宋" pitchFamily="49" charset="-122"/>
                  <a:cs typeface="Times New Roman" pitchFamily="18" charset="0"/>
                </a:rPr>
                <a:t>10</a:t>
              </a:r>
            </a:p>
          </p:txBody>
        </p:sp>
      </p:grpSp>
      <p:sp>
        <p:nvSpPr>
          <p:cNvPr id="81" name="灯片编号占位符 80"/>
          <p:cNvSpPr>
            <a:spLocks noGrp="1"/>
          </p:cNvSpPr>
          <p:nvPr>
            <p:ph type="sldNum" sz="quarter" idx="12"/>
          </p:nvPr>
        </p:nvSpPr>
        <p:spPr/>
        <p:txBody>
          <a:bodyPr/>
          <a:lstStyle/>
          <a:p>
            <a:fld id="{7AF016A1-9F15-429F-9EFD-84004B73C732}" type="slidenum">
              <a:rPr lang="en-US" altLang="zh-CN" smtClean="0"/>
              <a:pPr/>
              <a:t>72</a:t>
            </a:fld>
            <a:r>
              <a:rPr lang="en-US" altLang="zh-CN"/>
              <a:t>/126</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TextBox 27"/>
          <p:cNvSpPr txBox="1"/>
          <p:nvPr/>
        </p:nvSpPr>
        <p:spPr>
          <a:xfrm>
            <a:off x="214282" y="857232"/>
            <a:ext cx="8643998"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(QNode e,priority_queue&lt;QNode&gt;&amp;pq) {	</a:t>
            </a:r>
          </a:p>
          <a:p>
            <a:pPr algn="l" defTabSz="360000">
              <a:lnSpc>
                <a:spcPct val="100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结点</a:t>
            </a:r>
            <a:r>
              <a:rPr lang="en-US" altLang="zh-CN" sz="2000">
                <a:solidFill>
                  <a:srgbClr val="00B050"/>
                </a:solidFill>
                <a:latin typeface="Consolas" pitchFamily="49" charset="0"/>
                <a:ea typeface="仿宋" pitchFamily="49" charset="-122"/>
              </a:rPr>
              <a:t>e</a:t>
            </a:r>
            <a:r>
              <a:rPr lang="zh-CN" altLang="zh-CN" sz="2000">
                <a:solidFill>
                  <a:srgbClr val="00B050"/>
                </a:solidFill>
                <a:latin typeface="Consolas" pitchFamily="49" charset="0"/>
                <a:ea typeface="仿宋" pitchFamily="49" charset="-122"/>
              </a:rPr>
              <a:t>进队操作</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if (e.i==n)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到达叶子结点</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e.cv&gt;bestv</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比较更新最优解</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bestv=e.cv;</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bestx=e.x;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bestw=e.cw;</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else pq.push(e);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非叶子结点进队</a:t>
            </a: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73</a:t>
            </a:fld>
            <a:r>
              <a:rPr lang="en-US" altLang="zh-CN"/>
              <a:t>/126</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TextBox 27"/>
          <p:cNvSpPr txBox="1"/>
          <p:nvPr/>
        </p:nvSpPr>
        <p:spPr>
          <a:xfrm>
            <a:off x="357158" y="714356"/>
            <a:ext cx="8501122" cy="322317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a:t>
            </a:r>
            <a:r>
              <a:rPr lang="en-US" altLang="zh-CN" sz="2000">
                <a:solidFill>
                  <a:srgbClr val="00B050"/>
                </a:solidFill>
                <a:latin typeface="Consolas" pitchFamily="49" charset="0"/>
                <a:ea typeface="仿宋" pitchFamily="49" charset="-122"/>
              </a:rPr>
              <a:t>0/1</a:t>
            </a:r>
            <a:r>
              <a:rPr lang="zh-CN" altLang="zh-CN" sz="2000">
                <a:solidFill>
                  <a:srgbClr val="00B050"/>
                </a:solidFill>
                <a:latin typeface="Consolas" pitchFamily="49" charset="0"/>
                <a:ea typeface="仿宋" pitchFamily="49" charset="-122"/>
              </a:rPr>
              <a:t>背包最优解的算法</a:t>
            </a:r>
          </a:p>
          <a:p>
            <a:pPr algn="l" defTabSz="360000">
              <a:lnSpc>
                <a:spcPts val="3000"/>
              </a:lnSpc>
              <a:spcBef>
                <a:spcPts val="0"/>
              </a:spcBef>
            </a:pPr>
            <a:r>
              <a:rPr lang="en-US" altLang="zh-CN" sz="2000">
                <a:solidFill>
                  <a:srgbClr val="0000FF"/>
                </a:solidFill>
                <a:latin typeface="Consolas" pitchFamily="49" charset="0"/>
                <a:ea typeface="仿宋" pitchFamily="49" charset="-122"/>
              </a:rPr>
              <a:t>	QNode e,e1,e2;</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priority_queue&lt;QNode&gt; pq;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定义一个优先队列</a:t>
            </a:r>
          </a:p>
          <a:p>
            <a:pPr algn="l" defTabSz="360000">
              <a:lnSpc>
                <a:spcPts val="3000"/>
              </a:lnSpc>
              <a:spcBef>
                <a:spcPts val="0"/>
              </a:spcBef>
            </a:pPr>
            <a:r>
              <a:rPr lang="en-US" altLang="zh-CN" sz="2000">
                <a:solidFill>
                  <a:srgbClr val="0000FF"/>
                </a:solidFill>
                <a:latin typeface="Consolas" pitchFamily="49" charset="0"/>
                <a:ea typeface="仿宋" pitchFamily="49" charset="-122"/>
              </a:rPr>
              <a:t>  	e.i=0;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e.x=vector&lt;int&gt;(n,0);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e.cw=0; e.cv=0;</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e.ub</a:t>
            </a:r>
          </a:p>
          <a:p>
            <a:pPr algn="l" defTabSz="360000">
              <a:lnSpc>
                <a:spcPts val="3000"/>
              </a:lnSpc>
              <a:spcBef>
                <a:spcPts val="0"/>
              </a:spcBef>
            </a:pPr>
            <a:r>
              <a:rPr lang="en-US" altLang="zh-CN" sz="2000">
                <a:solidFill>
                  <a:srgbClr val="0000FF"/>
                </a:solidFill>
                <a:latin typeface="Consolas" pitchFamily="49" charset="0"/>
                <a:ea typeface="仿宋" pitchFamily="49" charset="-122"/>
              </a:rPr>
              <a:t>  	pq.push(e);		</a:t>
            </a:r>
            <a:endParaRPr lang="zh-CN" altLang="zh-CN" sz="2000" b="0">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74</a:t>
            </a:fld>
            <a:r>
              <a:rPr lang="en-US" altLang="zh-CN"/>
              <a:t>/126</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TextBox 27"/>
          <p:cNvSpPr txBox="1"/>
          <p:nvPr/>
        </p:nvSpPr>
        <p:spPr>
          <a:xfrm>
            <a:off x="214282" y="290049"/>
            <a:ext cx="8786874" cy="61470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	while (!pq.empty())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队不空循环</a:t>
            </a:r>
          </a:p>
          <a:p>
            <a:pPr algn="l" defTabSz="360000">
              <a:lnSpc>
                <a:spcPts val="2400"/>
              </a:lnSpc>
              <a:spcBef>
                <a:spcPts val="0"/>
              </a:spcBef>
            </a:pPr>
            <a:r>
              <a:rPr lang="en-US" altLang="zh-CN" sz="2000">
                <a:solidFill>
                  <a:srgbClr val="0000FF"/>
                </a:solidFill>
                <a:latin typeface="Consolas" pitchFamily="49" charset="0"/>
                <a:ea typeface="仿宋" pitchFamily="49" charset="-122"/>
              </a:rPr>
              <a:t>  		e=pq.top();pq.pop();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sum++;</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e.cw+g[e.i].w&lt;=W</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左剪支</a:t>
            </a:r>
          </a:p>
          <a:p>
            <a:pPr algn="l" defTabSz="360000">
              <a:lnSpc>
                <a:spcPts val="2400"/>
              </a:lnSpc>
              <a:spcBef>
                <a:spcPts val="0"/>
              </a:spcBef>
            </a:pPr>
            <a:r>
              <a:rPr lang="en-US" altLang="zh-CN" sz="2000">
                <a:solidFill>
                  <a:srgbClr val="0000FF"/>
                </a:solidFill>
                <a:latin typeface="Consolas" pitchFamily="49" charset="0"/>
                <a:ea typeface="仿宋" pitchFamily="49" charset="-122"/>
              </a:rPr>
              <a:t>     		e1.cw=e.cw+g[e.i].w;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选择物品</a:t>
            </a:r>
            <a:r>
              <a:rPr lang="en-US" altLang="zh-CN" sz="2000">
                <a:solidFill>
                  <a:srgbClr val="00B0F0"/>
                </a:solidFill>
                <a:latin typeface="Consolas" pitchFamily="49" charset="0"/>
                <a:ea typeface="仿宋" pitchFamily="49" charset="-122"/>
              </a:rPr>
              <a:t>e.i</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e1.cv=e.cv+g[e.i].v;</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e1.x=e.x; e1.x[e.i]=1;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e1.i=e.i+1;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左子结点的层次加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e1.ub</a:t>
            </a: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(e1,pq);</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1200"/>
              </a:spcBef>
            </a:pPr>
            <a:r>
              <a:rPr lang="en-US" altLang="zh-CN" sz="2000">
                <a:solidFill>
                  <a:srgbClr val="0000FF"/>
                </a:solidFill>
                <a:latin typeface="Consolas" pitchFamily="49" charset="0"/>
                <a:ea typeface="仿宋" pitchFamily="49" charset="-122"/>
              </a:rPr>
              <a:t>    	e2.cw=e.cw; e2.cv=e.cv;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不选择物品</a:t>
            </a:r>
            <a:r>
              <a:rPr lang="en-US" altLang="zh-CN" sz="2000">
                <a:solidFill>
                  <a:srgbClr val="00B0F0"/>
                </a:solidFill>
                <a:latin typeface="Consolas" pitchFamily="49" charset="0"/>
                <a:ea typeface="仿宋" pitchFamily="49" charset="-122"/>
              </a:rPr>
              <a:t>e.i</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e2.x=e.x; e2.x[e.i]=0;</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e2.i=e.i+1;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右子结点的层次加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(e2);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求出不选择物品</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的价值上界</a:t>
            </a: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e2.ub&gt;bestv</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右剪支</a:t>
            </a: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(e2,pq);</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a:t>
            </a:r>
            <a:endParaRPr lang="zh-CN" altLang="zh-CN" sz="2000" b="0">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75</a:t>
            </a:fld>
            <a:r>
              <a:rPr lang="en-US" altLang="zh-CN"/>
              <a:t>/126</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89"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3449" name="Rectangle 2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8" name="TextBox 27"/>
          <p:cNvSpPr txBox="1"/>
          <p:nvPr/>
        </p:nvSpPr>
        <p:spPr>
          <a:xfrm>
            <a:off x="214282" y="290049"/>
            <a:ext cx="8786874"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void </a:t>
            </a:r>
            <a:r>
              <a:rPr lang="en-US" altLang="zh-CN" sz="2000">
                <a:solidFill>
                  <a:srgbClr val="FF0000"/>
                </a:solidFill>
                <a:latin typeface="Consolas" pitchFamily="49" charset="0"/>
                <a:ea typeface="仿宋" pitchFamily="49" charset="-122"/>
                <a:cs typeface="Consolas" pitchFamily="49" charset="0"/>
              </a:rPr>
              <a:t>knap</a:t>
            </a:r>
            <a:r>
              <a:rPr lang="en-US" altLang="zh-CN" sz="2000">
                <a:solidFill>
                  <a:srgbClr val="0000FF"/>
                </a:solidFill>
                <a:latin typeface="Consolas" pitchFamily="49" charset="0"/>
                <a:ea typeface="仿宋" pitchFamily="49" charset="-122"/>
                <a:cs typeface="Consolas" pitchFamily="49" charset="0"/>
              </a:rPr>
              <a:t>(vector&lt;Goods&gt; g1,int W1) {			</a:t>
            </a:r>
            <a:r>
              <a:rPr lang="en-US" altLang="zh-CN" sz="2000">
                <a:solidFill>
                  <a:srgbClr val="00B0F0"/>
                </a:solidFill>
                <a:latin typeface="Consolas" pitchFamily="49" charset="0"/>
                <a:ea typeface="仿宋" pitchFamily="49" charset="-122"/>
                <a:cs typeface="Consolas" pitchFamily="49" charset="0"/>
              </a:rPr>
              <a:t>//</a:t>
            </a:r>
            <a:r>
              <a:rPr lang="zh-CN" altLang="en-US" sz="2000">
                <a:solidFill>
                  <a:srgbClr val="00B0F0"/>
                </a:solidFill>
                <a:latin typeface="Consolas" pitchFamily="49" charset="0"/>
                <a:ea typeface="仿宋" pitchFamily="49" charset="-122"/>
                <a:cs typeface="Consolas" pitchFamily="49" charset="0"/>
              </a:rPr>
              <a:t>求</a:t>
            </a:r>
            <a:r>
              <a:rPr lang="en-US" altLang="zh-CN" sz="2000">
                <a:solidFill>
                  <a:srgbClr val="00B0F0"/>
                </a:solidFill>
                <a:latin typeface="Consolas" pitchFamily="49" charset="0"/>
                <a:ea typeface="仿宋" pitchFamily="49" charset="-122"/>
                <a:cs typeface="Consolas" pitchFamily="49" charset="0"/>
              </a:rPr>
              <a:t>0/1</a:t>
            </a:r>
            <a:r>
              <a:rPr lang="zh-CN" altLang="en-US" sz="2000">
                <a:solidFill>
                  <a:srgbClr val="00B0F0"/>
                </a:solidFill>
                <a:latin typeface="Consolas" pitchFamily="49" charset="0"/>
                <a:ea typeface="仿宋" pitchFamily="49" charset="-122"/>
                <a:cs typeface="Consolas" pitchFamily="49" charset="0"/>
              </a:rPr>
              <a:t>背包问题</a:t>
            </a:r>
          </a:p>
          <a:p>
            <a:pPr algn="l" defTabSz="360000">
              <a:lnSpc>
                <a:spcPts val="2200"/>
              </a:lnSpc>
              <a:spcBef>
                <a:spcPts val="0"/>
              </a:spcBef>
            </a:pPr>
            <a:r>
              <a:rPr lang="zh-CN" altLang="en-US" sz="200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g=g1; W=W1; n=g.size();</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sort(g.begin(),g.end());						</a:t>
            </a:r>
            <a:r>
              <a:rPr lang="en-US" altLang="zh-CN" sz="2000">
                <a:solidFill>
                  <a:srgbClr val="00B0F0"/>
                </a:solidFill>
                <a:latin typeface="Consolas" pitchFamily="49" charset="0"/>
                <a:ea typeface="仿宋" pitchFamily="49" charset="-122"/>
                <a:cs typeface="Consolas" pitchFamily="49" charset="0"/>
              </a:rPr>
              <a:t>//</a:t>
            </a:r>
            <a:r>
              <a:rPr lang="zh-CN" altLang="en-US" sz="2000">
                <a:solidFill>
                  <a:srgbClr val="00B0F0"/>
                </a:solidFill>
                <a:latin typeface="Consolas" pitchFamily="49" charset="0"/>
                <a:ea typeface="仿宋" pitchFamily="49" charset="-122"/>
                <a:cs typeface="Consolas" pitchFamily="49" charset="0"/>
              </a:rPr>
              <a:t>按</a:t>
            </a:r>
            <a:r>
              <a:rPr lang="en-US" altLang="zh-CN" sz="2000">
                <a:solidFill>
                  <a:srgbClr val="00B0F0"/>
                </a:solidFill>
                <a:latin typeface="Consolas" pitchFamily="49" charset="0"/>
                <a:ea typeface="仿宋" pitchFamily="49" charset="-122"/>
                <a:cs typeface="Consolas" pitchFamily="49" charset="0"/>
              </a:rPr>
              <a:t>v/w</a:t>
            </a:r>
            <a:r>
              <a:rPr lang="zh-CN" altLang="en-US" sz="2000">
                <a:solidFill>
                  <a:srgbClr val="00B0F0"/>
                </a:solidFill>
                <a:latin typeface="Consolas" pitchFamily="49" charset="0"/>
                <a:ea typeface="仿宋" pitchFamily="49" charset="-122"/>
                <a:cs typeface="Consolas" pitchFamily="49" charset="0"/>
              </a:rPr>
              <a:t>递减排序</a:t>
            </a:r>
          </a:p>
          <a:p>
            <a:pPr algn="l" defTabSz="360000">
              <a:lnSpc>
                <a:spcPts val="2200"/>
              </a:lnSpc>
              <a:spcBef>
                <a:spcPts val="0"/>
              </a:spcBef>
            </a:pPr>
            <a:r>
              <a:rPr lang="zh-CN" altLang="en-US" sz="200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	printf("  </a:t>
            </a:r>
            <a:r>
              <a:rPr lang="zh-CN" altLang="en-US" sz="2000">
                <a:solidFill>
                  <a:srgbClr val="0000FF"/>
                </a:solidFill>
                <a:latin typeface="Consolas" pitchFamily="49" charset="0"/>
                <a:ea typeface="仿宋" pitchFamily="49" charset="-122"/>
                <a:cs typeface="Consolas" pitchFamily="49" charset="0"/>
              </a:rPr>
              <a:t>排序后</a:t>
            </a:r>
            <a:r>
              <a:rPr lang="en-US" altLang="zh-CN" sz="2000">
                <a:solidFill>
                  <a:srgbClr val="0000FF"/>
                </a:solidFill>
                <a:latin typeface="Consolas" pitchFamily="49" charset="0"/>
                <a:ea typeface="仿宋" pitchFamily="49" charset="-122"/>
                <a:cs typeface="Consolas" pitchFamily="49" charset="0"/>
              </a:rPr>
              <a:t>\n"); dispg();</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bfs();				                      	</a:t>
            </a:r>
            <a:r>
              <a:rPr lang="en-US" altLang="zh-CN" sz="2000">
                <a:solidFill>
                  <a:srgbClr val="00B0F0"/>
                </a:solidFill>
                <a:latin typeface="Consolas" pitchFamily="49" charset="0"/>
                <a:ea typeface="仿宋" pitchFamily="49" charset="-122"/>
                <a:cs typeface="Consolas" pitchFamily="49" charset="0"/>
              </a:rPr>
              <a:t>//i</a:t>
            </a:r>
            <a:r>
              <a:rPr lang="zh-CN" altLang="en-US" sz="2000">
                <a:solidFill>
                  <a:srgbClr val="00B0F0"/>
                </a:solidFill>
                <a:latin typeface="Consolas" pitchFamily="49" charset="0"/>
                <a:ea typeface="仿宋" pitchFamily="49" charset="-122"/>
                <a:cs typeface="Consolas" pitchFamily="49" charset="0"/>
              </a:rPr>
              <a:t>从</a:t>
            </a:r>
            <a:r>
              <a:rPr lang="en-US" altLang="zh-CN" sz="2000">
                <a:solidFill>
                  <a:srgbClr val="00B0F0"/>
                </a:solidFill>
                <a:latin typeface="Consolas" pitchFamily="49" charset="0"/>
                <a:ea typeface="仿宋" pitchFamily="49" charset="-122"/>
                <a:cs typeface="Consolas" pitchFamily="49" charset="0"/>
              </a:rPr>
              <a:t>0</a:t>
            </a:r>
            <a:r>
              <a:rPr lang="zh-CN" altLang="en-US" sz="2000">
                <a:solidFill>
                  <a:srgbClr val="00B0F0"/>
                </a:solidFill>
                <a:latin typeface="Consolas" pitchFamily="49" charset="0"/>
                <a:ea typeface="仿宋" pitchFamily="49" charset="-122"/>
                <a:cs typeface="Consolas" pitchFamily="49" charset="0"/>
              </a:rPr>
              <a:t>开始</a:t>
            </a:r>
          </a:p>
          <a:p>
            <a:pPr algn="l" defTabSz="360000">
              <a:lnSpc>
                <a:spcPts val="2200"/>
              </a:lnSpc>
              <a:spcBef>
                <a:spcPts val="0"/>
              </a:spcBef>
            </a:pPr>
            <a:r>
              <a:rPr lang="zh-CN" altLang="en-US" sz="2000">
                <a:solidFill>
                  <a:srgbClr val="0000FF"/>
                </a:solidFill>
                <a:latin typeface="Consolas" pitchFamily="49" charset="0"/>
                <a:ea typeface="仿宋" pitchFamily="49" charset="-122"/>
                <a:cs typeface="Consolas" pitchFamily="49" charset="0"/>
              </a:rPr>
              <a:t>  </a:t>
            </a:r>
            <a:r>
              <a:rPr lang="en-US" altLang="zh-CN" sz="2000">
                <a:solidFill>
                  <a:srgbClr val="0000FF"/>
                </a:solidFill>
                <a:latin typeface="Consolas" pitchFamily="49" charset="0"/>
                <a:ea typeface="仿宋" pitchFamily="49" charset="-122"/>
                <a:cs typeface="Consolas" pitchFamily="49" charset="0"/>
              </a:rPr>
              <a:t>	printf("</a:t>
            </a:r>
            <a:r>
              <a:rPr lang="zh-CN" altLang="en-US" sz="2000">
                <a:solidFill>
                  <a:srgbClr val="0000FF"/>
                </a:solidFill>
                <a:latin typeface="Consolas" pitchFamily="49" charset="0"/>
                <a:ea typeface="仿宋" pitchFamily="49" charset="-122"/>
                <a:cs typeface="Consolas" pitchFamily="49" charset="0"/>
              </a:rPr>
              <a:t>最佳装填方案</a:t>
            </a:r>
            <a:r>
              <a:rPr lang="en-US" altLang="zh-CN" sz="2000">
                <a:solidFill>
                  <a:srgbClr val="0000FF"/>
                </a:solidFill>
                <a:latin typeface="Consolas" pitchFamily="49" charset="0"/>
                <a:ea typeface="仿宋" pitchFamily="49" charset="-122"/>
                <a:cs typeface="Consolas" pitchFamily="49" charset="0"/>
              </a:rPr>
              <a:t>\n");</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for (int i=0;i&lt;n;i++) {</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if (bestx[i]==1) printf("  </a:t>
            </a:r>
            <a:r>
              <a:rPr lang="zh-CN" altLang="en-US" sz="2000">
                <a:solidFill>
                  <a:srgbClr val="0000FF"/>
                </a:solidFill>
                <a:latin typeface="Consolas" pitchFamily="49" charset="0"/>
                <a:ea typeface="仿宋" pitchFamily="49" charset="-122"/>
                <a:cs typeface="Consolas" pitchFamily="49" charset="0"/>
              </a:rPr>
              <a:t>选取第</a:t>
            </a:r>
            <a:r>
              <a:rPr lang="en-US" altLang="zh-CN" sz="2000">
                <a:solidFill>
                  <a:srgbClr val="0000FF"/>
                </a:solidFill>
                <a:latin typeface="Consolas" pitchFamily="49" charset="0"/>
                <a:ea typeface="仿宋" pitchFamily="49" charset="-122"/>
                <a:cs typeface="Consolas" pitchFamily="49" charset="0"/>
              </a:rPr>
              <a:t>%d</a:t>
            </a:r>
            <a:r>
              <a:rPr lang="zh-CN" altLang="en-US" sz="2000">
                <a:solidFill>
                  <a:srgbClr val="0000FF"/>
                </a:solidFill>
                <a:latin typeface="Consolas" pitchFamily="49" charset="0"/>
                <a:ea typeface="仿宋" pitchFamily="49" charset="-122"/>
                <a:cs typeface="Consolas" pitchFamily="49" charset="0"/>
              </a:rPr>
              <a:t>个物品</a:t>
            </a:r>
            <a:r>
              <a:rPr lang="en-US" altLang="zh-CN" sz="2000">
                <a:solidFill>
                  <a:srgbClr val="0000FF"/>
                </a:solidFill>
                <a:latin typeface="Consolas" pitchFamily="49" charset="0"/>
                <a:ea typeface="仿宋" pitchFamily="49" charset="-122"/>
                <a:cs typeface="Consolas" pitchFamily="49" charset="0"/>
              </a:rPr>
              <a:t>\n",g[i].no);</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printf("  </a:t>
            </a:r>
            <a:r>
              <a:rPr lang="zh-CN" altLang="en-US" sz="2000">
                <a:solidFill>
                  <a:srgbClr val="0000FF"/>
                </a:solidFill>
                <a:latin typeface="Consolas" pitchFamily="49" charset="0"/>
                <a:ea typeface="仿宋" pitchFamily="49" charset="-122"/>
                <a:cs typeface="Consolas" pitchFamily="49" charset="0"/>
              </a:rPr>
              <a:t>总重量</a:t>
            </a:r>
            <a:r>
              <a:rPr lang="en-US" altLang="zh-CN" sz="2000">
                <a:solidFill>
                  <a:srgbClr val="0000FF"/>
                </a:solidFill>
                <a:latin typeface="Consolas" pitchFamily="49" charset="0"/>
                <a:ea typeface="仿宋" pitchFamily="49" charset="-122"/>
                <a:cs typeface="Consolas" pitchFamily="49" charset="0"/>
              </a:rPr>
              <a:t>=%d,</a:t>
            </a:r>
            <a:r>
              <a:rPr lang="zh-CN" altLang="en-US" sz="2000">
                <a:solidFill>
                  <a:srgbClr val="0000FF"/>
                </a:solidFill>
                <a:latin typeface="Consolas" pitchFamily="49" charset="0"/>
                <a:ea typeface="仿宋" pitchFamily="49" charset="-122"/>
                <a:cs typeface="Consolas" pitchFamily="49" charset="0"/>
              </a:rPr>
              <a:t>总价值</a:t>
            </a:r>
            <a:r>
              <a:rPr lang="en-US" altLang="zh-CN" sz="2000">
                <a:solidFill>
                  <a:srgbClr val="0000FF"/>
                </a:solidFill>
                <a:latin typeface="Consolas" pitchFamily="49" charset="0"/>
                <a:ea typeface="仿宋" pitchFamily="49" charset="-122"/>
                <a:cs typeface="Consolas" pitchFamily="49" charset="0"/>
              </a:rPr>
              <a:t>=%d\n",bestw,bestv);</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  	printf("sum=%d\n",sum);</a:t>
            </a:r>
          </a:p>
          <a:p>
            <a:pPr algn="l" defTabSz="360000">
              <a:lnSpc>
                <a:spcPts val="2200"/>
              </a:lnSpc>
              <a:spcBef>
                <a:spcPts val="0"/>
              </a:spcBef>
            </a:pPr>
            <a:r>
              <a:rPr lang="en-US" altLang="zh-CN" sz="2000">
                <a:solidFill>
                  <a:srgbClr val="0000FF"/>
                </a:solidFill>
                <a:latin typeface="Consolas" pitchFamily="49" charset="0"/>
                <a:ea typeface="仿宋" pitchFamily="49" charset="-122"/>
                <a:cs typeface="Consolas" pitchFamily="49" charset="0"/>
              </a:rPr>
              <a:t>}</a:t>
            </a:r>
          </a:p>
        </p:txBody>
      </p:sp>
      <p:pic>
        <p:nvPicPr>
          <p:cNvPr id="1026" name="Picture 2"/>
          <p:cNvPicPr>
            <a:picLocks noChangeAspect="1" noChangeArrowheads="1"/>
          </p:cNvPicPr>
          <p:nvPr/>
        </p:nvPicPr>
        <p:blipFill>
          <a:blip r:embed="rId2" cstate="print"/>
          <a:srcRect/>
          <a:stretch>
            <a:fillRect/>
          </a:stretch>
        </p:blipFill>
        <p:spPr bwMode="auto">
          <a:xfrm>
            <a:off x="3071802" y="3929066"/>
            <a:ext cx="3448050" cy="2638425"/>
          </a:xfrm>
          <a:prstGeom prst="rect">
            <a:avLst/>
          </a:prstGeom>
          <a:noFill/>
          <a:ln w="9525">
            <a:noFill/>
            <a:miter lim="800000"/>
            <a:headEnd/>
            <a:tailEnd/>
          </a:ln>
        </p:spPr>
      </p:pic>
      <p:sp>
        <p:nvSpPr>
          <p:cNvPr id="7" name="TextBox 5"/>
          <p:cNvSpPr txBox="1"/>
          <p:nvPr/>
        </p:nvSpPr>
        <p:spPr>
          <a:xfrm>
            <a:off x="571472" y="4572008"/>
            <a:ext cx="714380" cy="646331"/>
          </a:xfrm>
          <a:prstGeom prst="rect">
            <a:avLst/>
          </a:prstGeom>
          <a:blipFill>
            <a:blip r:embed="rId3" cstate="print"/>
            <a:tile tx="0" ty="0" sx="100000" sy="100000" flip="none" algn="tl"/>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nSpc>
                <a:spcPct val="100000"/>
              </a:lnSpc>
              <a:spcBef>
                <a:spcPts val="0"/>
              </a:spcBef>
            </a:pPr>
            <a:r>
              <a:rPr lang="zh-CN" altLang="en-US" sz="1800" b="0">
                <a:ln w="18415" cmpd="sng">
                  <a:solidFill>
                    <a:srgbClr val="FFFFFF"/>
                  </a:solidFill>
                  <a:prstDash val="solid"/>
                </a:ln>
                <a:solidFill>
                  <a:srgbClr val="FF00FF"/>
                </a:solidFill>
                <a:effectLst>
                  <a:outerShdw blurRad="63500" dir="3600000" algn="tl" rotWithShape="0">
                    <a:srgbClr val="000000">
                      <a:alpha val="70000"/>
                    </a:srgbClr>
                  </a:outerShdw>
                </a:effectLst>
                <a:latin typeface="Consolas" pitchFamily="49" charset="0"/>
                <a:ea typeface="仿宋" pitchFamily="49" charset="-122"/>
                <a:cs typeface="Consolas" pitchFamily="49" charset="0"/>
              </a:rPr>
              <a:t>程序验证</a:t>
            </a: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76</a:t>
            </a:fld>
            <a:r>
              <a:rPr lang="en-US" altLang="zh-CN"/>
              <a:t>/126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85786" y="1571612"/>
            <a:ext cx="7643866"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bfs</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无论采用队列式分支限界法还是优先队列式分支限界法求解</a:t>
            </a:r>
            <a:r>
              <a:rPr lang="en-US" altLang="zh-CN" sz="2200">
                <a:solidFill>
                  <a:srgbClr val="0000FF"/>
                </a:solidFill>
                <a:latin typeface="Consolas" pitchFamily="49" charset="0"/>
                <a:ea typeface="仿宋" pitchFamily="49" charset="-122"/>
              </a:rPr>
              <a:t>0/1</a:t>
            </a:r>
            <a:r>
              <a:rPr lang="zh-CN" altLang="zh-CN" sz="2200">
                <a:solidFill>
                  <a:srgbClr val="0000FF"/>
                </a:solidFill>
                <a:latin typeface="Consolas" pitchFamily="49" charset="0"/>
                <a:ea typeface="仿宋" pitchFamily="49" charset="-122"/>
              </a:rPr>
              <a:t>背包问题，最坏情况下要搜索整个解空间树，所以最坏时间复杂度均为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zh-CN" altLang="zh-CN" sz="2200">
                <a:solidFill>
                  <a:srgbClr val="0000FF"/>
                </a:solidFill>
                <a:latin typeface="Consolas" pitchFamily="49" charset="0"/>
                <a:ea typeface="仿宋" pitchFamily="49" charset="-122"/>
              </a:rPr>
              <a:t>×</a:t>
            </a:r>
            <a:r>
              <a:rPr lang="en-US" altLang="zh-CN" sz="2200">
                <a:solidFill>
                  <a:srgbClr val="0000FF"/>
                </a:solidFill>
                <a:latin typeface="Consolas" pitchFamily="49" charset="0"/>
                <a:ea typeface="仿宋" pitchFamily="49" charset="-122"/>
              </a:rPr>
              <a:t>2</a:t>
            </a:r>
            <a:r>
              <a:rPr lang="en-US" altLang="zh-CN" sz="2200" i="1" baseline="30000">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77</a:t>
            </a:fld>
            <a:r>
              <a:rPr lang="en-US" altLang="zh-CN"/>
              <a:t>/126</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642910" y="1500174"/>
            <a:ext cx="7858180" cy="1910880"/>
          </a:xfrm>
          <a:prstGeom prst="rect">
            <a:avLst/>
          </a:prstGeom>
          <a:ln>
            <a:solidFill>
              <a:schemeClr val="accent6">
                <a:lumMod val="40000"/>
                <a:lumOff val="6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3300"/>
              </a:lnSpc>
              <a:spcBef>
                <a:spcPts val="0"/>
              </a:spcBef>
            </a:pPr>
            <a:r>
              <a:rPr lang="zh-CN" altLang="en-US">
                <a:solidFill>
                  <a:srgbClr val="FF0000"/>
                </a:solidFill>
                <a:latin typeface="Consolas" pitchFamily="49" charset="0"/>
                <a:ea typeface="楷体" pitchFamily="49" charset="-122"/>
                <a:cs typeface="Consolas" pitchFamily="49" charset="0"/>
                <a:sym typeface="Wingdings"/>
              </a:rPr>
              <a:t></a:t>
            </a:r>
            <a:r>
              <a:rPr lang="zh-CN" altLang="en-US">
                <a:solidFill>
                  <a:srgbClr val="FF0000"/>
                </a:solidFill>
                <a:latin typeface="Consolas" pitchFamily="49" charset="0"/>
                <a:ea typeface="楷体" pitchFamily="49" charset="-122"/>
                <a:cs typeface="Consolas" pitchFamily="49" charset="0"/>
              </a:rPr>
              <a:t>问题描述</a:t>
            </a:r>
            <a:r>
              <a:rPr lang="zh-CN" altLang="en-US">
                <a:solidFill>
                  <a:srgbClr val="0000FF"/>
                </a:solidFill>
                <a:latin typeface="Consolas" pitchFamily="49" charset="0"/>
                <a:ea typeface="楷体"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有</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mn-ea"/>
                <a:cs typeface="Consolas" pitchFamily="49" charset="0"/>
              </a:rPr>
              <a:t>≥</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）个任务需要分配给</a:t>
            </a:r>
            <a:r>
              <a:rPr lang="en-US" altLang="zh-CN" i="1">
                <a:solidFill>
                  <a:srgbClr val="0000FF"/>
                </a:solidFill>
                <a:latin typeface="Consolas" pitchFamily="49" charset="0"/>
                <a:ea typeface="仿宋" pitchFamily="49" charset="-122"/>
                <a:cs typeface="Consolas" pitchFamily="49" charset="0"/>
              </a:rPr>
              <a:t>n</a:t>
            </a:r>
            <a:r>
              <a:rPr lang="zh-CN" altLang="zh-CN">
                <a:solidFill>
                  <a:srgbClr val="0000FF"/>
                </a:solidFill>
                <a:latin typeface="Consolas" pitchFamily="49" charset="0"/>
                <a:ea typeface="仿宋" pitchFamily="49" charset="-122"/>
                <a:cs typeface="Consolas" pitchFamily="49" charset="0"/>
              </a:rPr>
              <a:t>个人执行，每个任务只能分配给一个人，每个人只能执行一个任务。第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个人执行第</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Consolas" pitchFamily="49" charset="0"/>
                <a:ea typeface="仿宋" pitchFamily="49" charset="-122"/>
                <a:cs typeface="Consolas" pitchFamily="49" charset="0"/>
              </a:rPr>
              <a:t>个任务的成本是</a:t>
            </a:r>
            <a:r>
              <a:rPr lang="en-US" altLang="zh-CN" i="1">
                <a:solidFill>
                  <a:srgbClr val="0000FF"/>
                </a:solidFill>
                <a:latin typeface="Consolas" pitchFamily="49" charset="0"/>
                <a:ea typeface="仿宋" pitchFamily="49" charset="-122"/>
                <a:cs typeface="Consolas" pitchFamily="49" charset="0"/>
              </a:rPr>
              <a:t>c</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en-US" altLang="zh-CN">
                <a:solidFill>
                  <a:srgbClr val="0000FF"/>
                </a:solidFill>
                <a:latin typeface="Consolas" pitchFamily="49" charset="0"/>
                <a:ea typeface="仿宋" pitchFamily="49" charset="-122"/>
                <a:cs typeface="Consolas" pitchFamily="49" charset="0"/>
              </a:rPr>
              <a:t>]</a:t>
            </a:r>
            <a:r>
              <a:rPr lang="zh-CN" altLang="zh-CN">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mj-ea"/>
                <a:ea typeface="+mj-ea"/>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j</a:t>
            </a:r>
            <a:r>
              <a:rPr lang="zh-CN" altLang="zh-CN">
                <a:solidFill>
                  <a:srgbClr val="0000FF"/>
                </a:solidFill>
                <a:latin typeface="+mn-ea"/>
                <a:cs typeface="Consolas" pitchFamily="49" charset="0"/>
              </a:rPr>
              <a:t>≤</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）。求出</a:t>
            </a:r>
            <a:r>
              <a:rPr lang="zh-CN" altLang="zh-CN">
                <a:solidFill>
                  <a:srgbClr val="FF0000"/>
                </a:solidFill>
                <a:latin typeface="Consolas" pitchFamily="49" charset="0"/>
                <a:ea typeface="仿宋" pitchFamily="49" charset="-122"/>
                <a:cs typeface="Consolas" pitchFamily="49" charset="0"/>
              </a:rPr>
              <a:t>总成本最小</a:t>
            </a:r>
            <a:r>
              <a:rPr lang="zh-CN" altLang="zh-CN">
                <a:solidFill>
                  <a:srgbClr val="0000FF"/>
                </a:solidFill>
                <a:latin typeface="Consolas" pitchFamily="49" charset="0"/>
                <a:ea typeface="仿宋" pitchFamily="49" charset="-122"/>
                <a:cs typeface="Consolas" pitchFamily="49" charset="0"/>
              </a:rPr>
              <a:t>的一种分配方案。</a:t>
            </a:r>
            <a:endParaRPr lang="zh-CN" altLang="en-US">
              <a:solidFill>
                <a:srgbClr val="0000FF"/>
              </a:solidFill>
              <a:latin typeface="Consolas" pitchFamily="49" charset="0"/>
              <a:ea typeface="仿宋" pitchFamily="49" charset="-122"/>
              <a:cs typeface="Consolas" pitchFamily="49" charset="0"/>
            </a:endParaRPr>
          </a:p>
        </p:txBody>
      </p:sp>
      <p:graphicFrame>
        <p:nvGraphicFramePr>
          <p:cNvPr id="6" name="表格 5"/>
          <p:cNvGraphicFramePr>
            <a:graphicFrameLocks noGrp="1"/>
          </p:cNvGraphicFramePr>
          <p:nvPr/>
        </p:nvGraphicFramePr>
        <p:xfrm>
          <a:off x="1857356" y="3786190"/>
          <a:ext cx="4643470" cy="1778000"/>
        </p:xfrm>
        <a:graphic>
          <a:graphicData uri="http://schemas.openxmlformats.org/drawingml/2006/table">
            <a:tbl>
              <a:tblPr>
                <a:tableStyleId>{35758FB7-9AC5-4552-8A53-C91805E547FA}</a:tableStyleId>
              </a:tblPr>
              <a:tblGrid>
                <a:gridCol w="823443">
                  <a:extLst>
                    <a:ext uri="{9D8B030D-6E8A-4147-A177-3AD203B41FA5}">
                      <a16:colId xmlns:a16="http://schemas.microsoft.com/office/drawing/2014/main" val="20000"/>
                    </a:ext>
                  </a:extLst>
                </a:gridCol>
                <a:gridCol w="954445">
                  <a:extLst>
                    <a:ext uri="{9D8B030D-6E8A-4147-A177-3AD203B41FA5}">
                      <a16:colId xmlns:a16="http://schemas.microsoft.com/office/drawing/2014/main" val="20001"/>
                    </a:ext>
                  </a:extLst>
                </a:gridCol>
                <a:gridCol w="955194">
                  <a:extLst>
                    <a:ext uri="{9D8B030D-6E8A-4147-A177-3AD203B41FA5}">
                      <a16:colId xmlns:a16="http://schemas.microsoft.com/office/drawing/2014/main" val="20002"/>
                    </a:ext>
                  </a:extLst>
                </a:gridCol>
                <a:gridCol w="955194">
                  <a:extLst>
                    <a:ext uri="{9D8B030D-6E8A-4147-A177-3AD203B41FA5}">
                      <a16:colId xmlns:a16="http://schemas.microsoft.com/office/drawing/2014/main" val="20003"/>
                    </a:ext>
                  </a:extLst>
                </a:gridCol>
                <a:gridCol w="955194">
                  <a:extLst>
                    <a:ext uri="{9D8B030D-6E8A-4147-A177-3AD203B41FA5}">
                      <a16:colId xmlns:a16="http://schemas.microsoft.com/office/drawing/2014/main" val="20004"/>
                    </a:ext>
                  </a:extLst>
                </a:gridCol>
              </a:tblGrid>
              <a:tr h="314327">
                <a:tc>
                  <a:txBody>
                    <a:bodyPr/>
                    <a:lstStyle/>
                    <a:p>
                      <a:pPr algn="ctr">
                        <a:lnSpc>
                          <a:spcPts val="2800"/>
                        </a:lnSpc>
                        <a:spcAft>
                          <a:spcPts val="0"/>
                        </a:spcAft>
                      </a:pPr>
                      <a:r>
                        <a:rPr lang="zh-CN" sz="2000" b="1" kern="100">
                          <a:solidFill>
                            <a:srgbClr val="FF0000"/>
                          </a:solidFill>
                          <a:latin typeface="Consolas" pitchFamily="49" charset="0"/>
                          <a:ea typeface="仿宋" pitchFamily="49" charset="-122"/>
                          <a:cs typeface="Consolas" pitchFamily="49" charset="0"/>
                        </a:rPr>
                        <a:t>人员</a:t>
                      </a: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itchFamily="49" charset="0"/>
                          <a:ea typeface="仿宋" pitchFamily="49" charset="-122"/>
                          <a:cs typeface="Consolas" pitchFamily="49" charset="0"/>
                        </a:rPr>
                        <a:t>任务</a:t>
                      </a:r>
                      <a:r>
                        <a:rPr lang="en-US" altLang="zh-CN" sz="2000" b="1" kern="100">
                          <a:solidFill>
                            <a:srgbClr val="FF0000"/>
                          </a:solidFill>
                          <a:latin typeface="Consolas" pitchFamily="49" charset="0"/>
                          <a:ea typeface="仿宋" pitchFamily="49" charset="-122"/>
                          <a:cs typeface="Consolas" pitchFamily="49" charset="0"/>
                        </a:rPr>
                        <a:t>0</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itchFamily="49" charset="0"/>
                          <a:ea typeface="仿宋" pitchFamily="49" charset="-122"/>
                          <a:cs typeface="Consolas" pitchFamily="49" charset="0"/>
                        </a:rPr>
                        <a:t>任务</a:t>
                      </a:r>
                      <a:r>
                        <a:rPr lang="en-US" altLang="zh-CN" sz="2000" b="1" kern="100">
                          <a:solidFill>
                            <a:srgbClr val="FF0000"/>
                          </a:solidFill>
                          <a:latin typeface="Consolas" pitchFamily="49" charset="0"/>
                          <a:ea typeface="仿宋" pitchFamily="49" charset="-122"/>
                          <a:cs typeface="Consolas" pitchFamily="49" charset="0"/>
                        </a:rPr>
                        <a:t>1</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itchFamily="49" charset="0"/>
                          <a:ea typeface="仿宋" pitchFamily="49" charset="-122"/>
                          <a:cs typeface="Consolas" pitchFamily="49" charset="0"/>
                        </a:rPr>
                        <a:t>任务</a:t>
                      </a:r>
                      <a:r>
                        <a:rPr lang="en-US" altLang="zh-CN" sz="2000" b="1" kern="100">
                          <a:solidFill>
                            <a:srgbClr val="FF0000"/>
                          </a:solidFill>
                          <a:latin typeface="Consolas" pitchFamily="49" charset="0"/>
                          <a:ea typeface="仿宋" pitchFamily="49" charset="-122"/>
                          <a:cs typeface="Consolas" pitchFamily="49" charset="0"/>
                        </a:rPr>
                        <a:t>2</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zh-CN" sz="2000" b="1" kern="100">
                          <a:solidFill>
                            <a:srgbClr val="FF0000"/>
                          </a:solidFill>
                          <a:latin typeface="Consolas" pitchFamily="49" charset="0"/>
                          <a:ea typeface="仿宋" pitchFamily="49" charset="-122"/>
                          <a:cs typeface="Consolas" pitchFamily="49" charset="0"/>
                        </a:rPr>
                        <a:t>任务</a:t>
                      </a:r>
                      <a:r>
                        <a:rPr lang="en-US" altLang="zh-CN" sz="2000" b="1" kern="100">
                          <a:solidFill>
                            <a:srgbClr val="FF0000"/>
                          </a:solidFill>
                          <a:latin typeface="Consolas" pitchFamily="49" charset="0"/>
                          <a:ea typeface="仿宋" pitchFamily="49" charset="-122"/>
                          <a:cs typeface="Consolas" pitchFamily="49" charset="0"/>
                        </a:rPr>
                        <a:t>3</a:t>
                      </a:r>
                      <a:endParaRPr lang="zh-CN" sz="20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0"/>
                  </a:ext>
                </a:extLst>
              </a:tr>
              <a:tr h="314327">
                <a:tc>
                  <a:txBody>
                    <a:bodyPr/>
                    <a:lstStyle/>
                    <a:p>
                      <a:pPr algn="ctr">
                        <a:lnSpc>
                          <a:spcPts val="2800"/>
                        </a:lnSpc>
                        <a:spcAft>
                          <a:spcPts val="0"/>
                        </a:spcAft>
                      </a:pPr>
                      <a:r>
                        <a:rPr lang="pt-BR" sz="2000" kern="100">
                          <a:solidFill>
                            <a:schemeClr val="tx1"/>
                          </a:solidFill>
                          <a:latin typeface="Consolas" pitchFamily="49" charset="0"/>
                          <a:ea typeface="仿宋" pitchFamily="49" charset="-122"/>
                          <a:cs typeface="Consolas" pitchFamily="49" charset="0"/>
                        </a:rPr>
                        <a:t>0</a:t>
                      </a:r>
                      <a:endParaRPr lang="zh-CN" sz="20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9</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2</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7</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8</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1"/>
                  </a:ext>
                </a:extLst>
              </a:tr>
              <a:tr h="314327">
                <a:tc>
                  <a:txBody>
                    <a:bodyPr/>
                    <a:lstStyle/>
                    <a:p>
                      <a:pPr algn="ctr">
                        <a:lnSpc>
                          <a:spcPts val="2800"/>
                        </a:lnSpc>
                        <a:spcAft>
                          <a:spcPts val="0"/>
                        </a:spcAft>
                      </a:pPr>
                      <a:r>
                        <a:rPr lang="pt-BR" sz="2000" kern="100">
                          <a:solidFill>
                            <a:schemeClr val="tx1"/>
                          </a:solidFill>
                          <a:latin typeface="Consolas" pitchFamily="49" charset="0"/>
                          <a:ea typeface="仿宋" pitchFamily="49" charset="-122"/>
                          <a:cs typeface="Consolas" pitchFamily="49" charset="0"/>
                        </a:rPr>
                        <a:t>1</a:t>
                      </a:r>
                      <a:endParaRPr lang="zh-CN" sz="20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6</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4</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3</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7</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2"/>
                  </a:ext>
                </a:extLst>
              </a:tr>
              <a:tr h="314327">
                <a:tc>
                  <a:txBody>
                    <a:bodyPr/>
                    <a:lstStyle/>
                    <a:p>
                      <a:pPr algn="ctr">
                        <a:lnSpc>
                          <a:spcPts val="2800"/>
                        </a:lnSpc>
                        <a:spcAft>
                          <a:spcPts val="0"/>
                        </a:spcAft>
                      </a:pPr>
                      <a:r>
                        <a:rPr lang="pt-BR" sz="2000" kern="100">
                          <a:solidFill>
                            <a:schemeClr val="tx1"/>
                          </a:solidFill>
                          <a:latin typeface="Consolas" pitchFamily="49" charset="0"/>
                          <a:ea typeface="仿宋" pitchFamily="49" charset="-122"/>
                          <a:cs typeface="Consolas" pitchFamily="49" charset="0"/>
                        </a:rPr>
                        <a:t>2</a:t>
                      </a:r>
                      <a:endParaRPr lang="zh-CN" sz="20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5</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8</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1</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8</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3"/>
                  </a:ext>
                </a:extLst>
              </a:tr>
              <a:tr h="314327">
                <a:tc>
                  <a:txBody>
                    <a:bodyPr/>
                    <a:lstStyle/>
                    <a:p>
                      <a:pPr algn="ctr">
                        <a:lnSpc>
                          <a:spcPts val="2800"/>
                        </a:lnSpc>
                        <a:spcAft>
                          <a:spcPts val="0"/>
                        </a:spcAft>
                      </a:pPr>
                      <a:r>
                        <a:rPr lang="pt-BR" sz="2000" kern="100">
                          <a:solidFill>
                            <a:schemeClr val="tx1"/>
                          </a:solidFill>
                          <a:latin typeface="Consolas" pitchFamily="49" charset="0"/>
                          <a:ea typeface="仿宋" pitchFamily="49" charset="-122"/>
                          <a:cs typeface="Consolas" pitchFamily="49" charset="0"/>
                        </a:rPr>
                        <a:t>3</a:t>
                      </a:r>
                      <a:endParaRPr lang="zh-CN" sz="20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7</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6</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9</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800"/>
                        </a:lnSpc>
                        <a:spcAft>
                          <a:spcPts val="0"/>
                        </a:spcAft>
                      </a:pPr>
                      <a:r>
                        <a:rPr lang="pt-BR" sz="2000" kern="100">
                          <a:solidFill>
                            <a:srgbClr val="0000FF"/>
                          </a:solidFill>
                          <a:latin typeface="Consolas" pitchFamily="49" charset="0"/>
                          <a:ea typeface="仿宋" pitchFamily="49" charset="-122"/>
                          <a:cs typeface="Consolas" pitchFamily="49" charset="0"/>
                        </a:rPr>
                        <a:t>4</a:t>
                      </a:r>
                      <a:endParaRPr lang="zh-CN" sz="20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4"/>
                  </a:ext>
                </a:extLst>
              </a:tr>
            </a:tbl>
          </a:graphicData>
        </a:graphic>
      </p:graphicFrame>
      <p:sp>
        <p:nvSpPr>
          <p:cNvPr id="7" name="TextBox 6">
            <a:hlinkClick r:id="" action="ppaction://noaction"/>
          </p:cNvPr>
          <p:cNvSpPr txBox="1"/>
          <p:nvPr/>
        </p:nvSpPr>
        <p:spPr>
          <a:xfrm>
            <a:off x="1714480" y="357166"/>
            <a:ext cx="442915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6.8 </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任务分配问题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7AF016A1-9F15-429F-9EFD-84004B73C732}" type="slidenum">
              <a:rPr lang="en-US" altLang="zh-CN" smtClean="0"/>
              <a:pPr/>
              <a:t>78</a:t>
            </a:fld>
            <a:r>
              <a:rPr lang="en-US" altLang="zh-CN"/>
              <a:t>/126</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071538" y="714356"/>
            <a:ext cx="3500462" cy="451406"/>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2800"/>
              </a:lnSpc>
              <a:buBlip>
                <a:blip r:embed="rId2"/>
              </a:buBlip>
            </a:pPr>
            <a:r>
              <a:rPr lang="zh-CN" altLang="zh-CN">
                <a:solidFill>
                  <a:srgbClr val="0000FF"/>
                </a:solidFill>
                <a:latin typeface="仿宋" pitchFamily="49" charset="-122"/>
                <a:ea typeface="仿宋" pitchFamily="49" charset="-122"/>
              </a:rPr>
              <a:t>优先队列结点类型</a:t>
            </a:r>
            <a:r>
              <a:rPr lang="zh-CN" altLang="en-US">
                <a:solidFill>
                  <a:srgbClr val="0000FF"/>
                </a:solidFill>
                <a:latin typeface="仿宋" pitchFamily="49" charset="-122"/>
                <a:ea typeface="仿宋" pitchFamily="49" charset="-122"/>
              </a:rPr>
              <a:t>：</a:t>
            </a:r>
            <a:endParaRPr lang="en-US" altLang="zh-CN">
              <a:solidFill>
                <a:srgbClr val="0000FF"/>
              </a:solidFill>
              <a:latin typeface="仿宋" pitchFamily="49" charset="-122"/>
              <a:ea typeface="仿宋" pitchFamily="49" charset="-122"/>
              <a:cs typeface="Times New Roman" pitchFamily="18" charset="0"/>
            </a:endParaRPr>
          </a:p>
        </p:txBody>
      </p:sp>
      <p:sp>
        <p:nvSpPr>
          <p:cNvPr id="6" name="TextBox 5"/>
          <p:cNvSpPr txBox="1"/>
          <p:nvPr/>
        </p:nvSpPr>
        <p:spPr>
          <a:xfrm>
            <a:off x="142876" y="1643050"/>
            <a:ext cx="8929718" cy="371234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优先队列结点类型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人员编号</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解空间结点层次</a:t>
            </a:r>
            <a:r>
              <a:rPr lang="en-US" altLang="zh-CN" sz="2000">
                <a:solidFill>
                  <a:srgbClr val="00B0F0"/>
                </a:solidFill>
                <a:latin typeface="Consolas" pitchFamily="49" charset="0"/>
                <a:ea typeface="仿宋" pitchFamily="49" charset="-122"/>
              </a:rPr>
              <a:t>)</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当前解向量</a:t>
            </a: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used;					</a:t>
            </a:r>
            <a:r>
              <a:rPr lang="en-US" altLang="zh-CN" sz="2000">
                <a:solidFill>
                  <a:srgbClr val="00B0F0"/>
                </a:solidFill>
                <a:latin typeface="Consolas" pitchFamily="49" charset="0"/>
                <a:ea typeface="仿宋" pitchFamily="49" charset="-122"/>
              </a:rPr>
              <a:t>//used[i]=1</a:t>
            </a:r>
            <a:r>
              <a:rPr lang="zh-CN" altLang="zh-CN" sz="2000">
                <a:solidFill>
                  <a:srgbClr val="00B0F0"/>
                </a:solidFill>
                <a:latin typeface="Consolas" pitchFamily="49" charset="0"/>
                <a:ea typeface="仿宋" pitchFamily="49" charset="-122"/>
              </a:rPr>
              <a:t>表示任务</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已经分配</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cost;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已经分配任务的</a:t>
            </a:r>
            <a:r>
              <a:rPr lang="zh-CN" altLang="en-US" sz="2000">
                <a:solidFill>
                  <a:srgbClr val="00B0F0"/>
                </a:solidFill>
                <a:latin typeface="Consolas" pitchFamily="49" charset="0"/>
                <a:ea typeface="仿宋" pitchFamily="49" charset="-122"/>
              </a:rPr>
              <a:t>总</a:t>
            </a:r>
            <a:r>
              <a:rPr lang="zh-CN" altLang="zh-CN" sz="2000">
                <a:solidFill>
                  <a:srgbClr val="00B0F0"/>
                </a:solidFill>
                <a:latin typeface="Consolas" pitchFamily="49" charset="0"/>
                <a:ea typeface="仿宋" pitchFamily="49" charset="-122"/>
              </a:rPr>
              <a:t>成本</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lb;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下界</a:t>
            </a: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QNode&amp; b) const {</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lb&gt;b.lb;					</a:t>
            </a:r>
            <a:r>
              <a:rPr lang="en-US" altLang="zh-CN" sz="2000">
                <a:solidFill>
                  <a:srgbClr val="00B0F0"/>
                </a:solidFill>
                <a:latin typeface="Consolas" pitchFamily="49" charset="0"/>
                <a:ea typeface="仿宋" pitchFamily="49" charset="-122"/>
              </a:rPr>
              <a:t>//lb</a:t>
            </a:r>
            <a:r>
              <a:rPr lang="zh-CN" altLang="zh-CN" sz="2000">
                <a:solidFill>
                  <a:srgbClr val="00B0F0"/>
                </a:solidFill>
                <a:latin typeface="Consolas" pitchFamily="49" charset="0"/>
                <a:ea typeface="仿宋" pitchFamily="49" charset="-122"/>
              </a:rPr>
              <a:t>越小越优先出队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79</a:t>
            </a:fld>
            <a:r>
              <a:rPr lang="en-US" altLang="zh-CN"/>
              <a:t>/126</a:t>
            </a:r>
          </a:p>
        </p:txBody>
      </p:sp>
      <p:pic>
        <p:nvPicPr>
          <p:cNvPr id="8" name="Picture 4"/>
          <p:cNvPicPr>
            <a:picLocks noChangeAspect="1" noChangeArrowheads="1"/>
          </p:cNvPicPr>
          <p:nvPr/>
        </p:nvPicPr>
        <p:blipFill>
          <a:blip r:embed="rId3" cstate="print"/>
          <a:srcRect/>
          <a:stretch>
            <a:fillRect/>
          </a:stretch>
        </p:blipFill>
        <p:spPr bwMode="auto">
          <a:xfrm>
            <a:off x="428596"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214282" y="214290"/>
            <a:ext cx="8501122" cy="201347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457200" indent="-457200" algn="l">
              <a:lnSpc>
                <a:spcPts val="2800"/>
              </a:lnSpc>
              <a:spcBef>
                <a:spcPts val="600"/>
              </a:spcBef>
              <a:buBlip>
                <a:blip r:embed="rId2"/>
              </a:buBlip>
            </a:pPr>
            <a:r>
              <a:rPr lang="zh-CN" altLang="zh-CN">
                <a:solidFill>
                  <a:srgbClr val="0000FF"/>
                </a:solidFill>
                <a:latin typeface="Consolas" pitchFamily="49" charset="0"/>
                <a:ea typeface="仿宋" pitchFamily="49" charset="-122"/>
                <a:cs typeface="Consolas" pitchFamily="49" charset="0"/>
              </a:rPr>
              <a:t>对于第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层的某个结点</a:t>
            </a:r>
            <a:r>
              <a:rPr lang="en-US" altLang="zh-CN" i="1">
                <a:solidFill>
                  <a:srgbClr val="0000FF"/>
                </a:solidFill>
                <a:latin typeface="Consolas" pitchFamily="49" charset="0"/>
                <a:ea typeface="仿宋" pitchFamily="49" charset="-122"/>
                <a:cs typeface="Consolas" pitchFamily="49" charset="0"/>
              </a:rPr>
              <a:t>e</a:t>
            </a:r>
            <a:r>
              <a:rPr lang="zh-CN" altLang="zh-CN">
                <a:solidFill>
                  <a:srgbClr val="0000FF"/>
                </a:solidFill>
                <a:latin typeface="Consolas" pitchFamily="49" charset="0"/>
                <a:ea typeface="仿宋" pitchFamily="49" charset="-122"/>
                <a:cs typeface="Consolas" pitchFamily="49" charset="0"/>
              </a:rPr>
              <a:t>，当搜索到该结点时表示已经为人员</a:t>
            </a:r>
            <a:r>
              <a:rPr lang="en-US" altLang="zh-CN">
                <a:solidFill>
                  <a:srgbClr val="0000FF"/>
                </a:solidFill>
                <a:latin typeface="Consolas" pitchFamily="49" charset="0"/>
                <a:ea typeface="仿宋" pitchFamily="49" charset="-122"/>
                <a:cs typeface="Consolas" pitchFamily="49" charset="0"/>
              </a:rPr>
              <a:t>0</a:t>
            </a:r>
            <a:r>
              <a:rPr lang="zh-CN" altLang="zh-CN">
                <a:solidFill>
                  <a:srgbClr val="0000FF"/>
                </a:solidFill>
                <a:latin typeface="Consolas" pitchFamily="49" charset="0"/>
                <a:ea typeface="仿宋" pitchFamily="49" charset="-122"/>
                <a:cs typeface="Consolas" pitchFamily="49" charset="0"/>
              </a:rPr>
              <a:t>～</a:t>
            </a:r>
            <a:r>
              <a:rPr lang="en-US" altLang="zh-CN" i="1">
                <a:solidFill>
                  <a:srgbClr val="0000FF"/>
                </a:solidFill>
                <a:latin typeface="Consolas" pitchFamily="49" charset="0"/>
                <a:ea typeface="仿宋" pitchFamily="49" charset="-122"/>
                <a:cs typeface="Consolas" pitchFamily="49" charset="0"/>
              </a:rPr>
              <a:t>i</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分配好了任务（人员</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尚未分配任务），余下分配的成本下界是</a:t>
            </a:r>
            <a:r>
              <a:rPr lang="en-US" altLang="zh-CN">
                <a:solidFill>
                  <a:srgbClr val="0000FF"/>
                </a:solidFill>
                <a:latin typeface="Consolas" pitchFamily="49" charset="0"/>
                <a:ea typeface="仿宋" pitchFamily="49" charset="-122"/>
                <a:cs typeface="Consolas" pitchFamily="49" charset="0"/>
              </a:rPr>
              <a:t>c</a:t>
            </a:r>
            <a:r>
              <a:rPr lang="zh-CN" altLang="zh-CN">
                <a:solidFill>
                  <a:srgbClr val="0000FF"/>
                </a:solidFill>
                <a:latin typeface="Consolas" pitchFamily="49" charset="0"/>
                <a:ea typeface="仿宋" pitchFamily="49" charset="-122"/>
                <a:cs typeface="Consolas" pitchFamily="49" charset="0"/>
              </a:rPr>
              <a:t>数组中第</a:t>
            </a:r>
            <a:r>
              <a:rPr lang="en-US" altLang="zh-CN" i="1">
                <a:solidFill>
                  <a:srgbClr val="0000FF"/>
                </a:solidFill>
                <a:latin typeface="Consolas" pitchFamily="49" charset="0"/>
                <a:ea typeface="仿宋" pitchFamily="49" charset="-122"/>
                <a:cs typeface="Consolas" pitchFamily="49" charset="0"/>
              </a:rPr>
              <a:t>i</a:t>
            </a:r>
            <a:r>
              <a:rPr lang="zh-CN" altLang="zh-CN">
                <a:solidFill>
                  <a:srgbClr val="0000FF"/>
                </a:solidFill>
                <a:latin typeface="Consolas" pitchFamily="49" charset="0"/>
                <a:ea typeface="仿宋" pitchFamily="49" charset="-122"/>
                <a:cs typeface="Consolas" pitchFamily="49" charset="0"/>
              </a:rPr>
              <a:t>行～第</a:t>
            </a:r>
            <a:r>
              <a:rPr lang="en-US" altLang="zh-CN" i="1">
                <a:solidFill>
                  <a:srgbClr val="0000FF"/>
                </a:solidFill>
                <a:latin typeface="Consolas" pitchFamily="49" charset="0"/>
                <a:ea typeface="仿宋" pitchFamily="49" charset="-122"/>
                <a:cs typeface="Consolas" pitchFamily="49" charset="0"/>
              </a:rPr>
              <a:t>n</a:t>
            </a:r>
            <a:r>
              <a:rPr lang="en-US" altLang="zh-CN">
                <a:solidFill>
                  <a:srgbClr val="0000FF"/>
                </a:solidFill>
                <a:latin typeface="Consolas" pitchFamily="49" charset="0"/>
                <a:ea typeface="仿宋" pitchFamily="49" charset="-122"/>
                <a:cs typeface="Consolas" pitchFamily="49" charset="0"/>
              </a:rPr>
              <a:t>-1</a:t>
            </a:r>
            <a:r>
              <a:rPr lang="zh-CN" altLang="zh-CN">
                <a:solidFill>
                  <a:srgbClr val="0000FF"/>
                </a:solidFill>
                <a:latin typeface="Consolas" pitchFamily="49" charset="0"/>
                <a:ea typeface="仿宋" pitchFamily="49" charset="-122"/>
                <a:cs typeface="Consolas" pitchFamily="49" charset="0"/>
              </a:rPr>
              <a:t>行各行的最小元素和</a:t>
            </a:r>
            <a:r>
              <a:rPr lang="en-US" altLang="zh-CN">
                <a:solidFill>
                  <a:srgbClr val="0000FF"/>
                </a:solidFill>
                <a:latin typeface="Consolas" pitchFamily="49" charset="0"/>
                <a:ea typeface="仿宋" pitchFamily="49" charset="-122"/>
                <a:cs typeface="Consolas" pitchFamily="49" charset="0"/>
              </a:rPr>
              <a:t>minsum</a:t>
            </a:r>
            <a:r>
              <a:rPr lang="zh-CN" altLang="zh-CN">
                <a:solidFill>
                  <a:srgbClr val="0000FF"/>
                </a:solidFill>
                <a:latin typeface="Consolas" pitchFamily="49" charset="0"/>
                <a:ea typeface="仿宋" pitchFamily="49" charset="-122"/>
                <a:cs typeface="Consolas" pitchFamily="49" charset="0"/>
              </a:rPr>
              <a:t>，显然这样的分配方案的最小成本为</a:t>
            </a:r>
            <a:r>
              <a:rPr lang="en-US" altLang="zh-CN">
                <a:solidFill>
                  <a:srgbClr val="0000FF"/>
                </a:solidFill>
                <a:latin typeface="Consolas" pitchFamily="49" charset="0"/>
                <a:ea typeface="仿宋" pitchFamily="49" charset="-122"/>
                <a:cs typeface="Consolas" pitchFamily="49" charset="0"/>
              </a:rPr>
              <a:t>e.cost+minsum</a:t>
            </a:r>
            <a:r>
              <a:rPr lang="zh-CN" altLang="zh-CN">
                <a:solidFill>
                  <a:srgbClr val="0000FF"/>
                </a:solidFill>
                <a:latin typeface="Consolas" pitchFamily="49" charset="0"/>
                <a:ea typeface="仿宋" pitchFamily="49" charset="-122"/>
                <a:cs typeface="Consolas" pitchFamily="49" charset="0"/>
              </a:rPr>
              <a:t>。</a:t>
            </a:r>
            <a:endParaRPr lang="en-US" altLang="zh-CN">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214282" y="2571744"/>
            <a:ext cx="8715404" cy="383872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(QNode&amp; e)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求结点</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的下界值</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minsum=0;</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i1=e.i;i1&lt;n;i1++)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c[e.i..n-1]</a:t>
            </a:r>
            <a:r>
              <a:rPr lang="zh-CN" altLang="zh-CN" sz="2000">
                <a:solidFill>
                  <a:srgbClr val="00B0F0"/>
                </a:solidFill>
                <a:latin typeface="Consolas" pitchFamily="49" charset="0"/>
                <a:ea typeface="仿宋" pitchFamily="49" charset="-122"/>
              </a:rPr>
              <a:t>行中最小元素和</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minc=INF;</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for (int j1=0;j1&lt;n;j1++)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if (e.used[j1]==false &amp;&amp; c[i1][j1]&lt;minc)</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minc=c[i1][j1];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minsum+=minc;</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e.lb=e.cost+minsum;</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80</a:t>
            </a:fld>
            <a:r>
              <a:rPr lang="en-US" altLang="zh-CN"/>
              <a:t>/126</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688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TextBox 20"/>
          <p:cNvSpPr txBox="1"/>
          <p:nvPr/>
        </p:nvSpPr>
        <p:spPr>
          <a:xfrm>
            <a:off x="642910" y="857232"/>
            <a:ext cx="7643866" cy="3532726"/>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457200" indent="-457200" algn="l">
              <a:lnSpc>
                <a:spcPts val="2800"/>
              </a:lnSpc>
              <a:buBlip>
                <a:blip r:embed="rId2"/>
              </a:buBlip>
            </a:pPr>
            <a:r>
              <a:rPr lang="zh-CN" altLang="en-US">
                <a:solidFill>
                  <a:srgbClr val="0000FF"/>
                </a:solidFill>
                <a:latin typeface="Consolas" pitchFamily="49" charset="0"/>
                <a:ea typeface="仿宋" pitchFamily="49" charset="-122"/>
                <a:cs typeface="Consolas" pitchFamily="49" charset="0"/>
              </a:rPr>
              <a:t>根结点中解向量</a:t>
            </a:r>
            <a:r>
              <a:rPr lang="en-US" altLang="zh-CN">
                <a:solidFill>
                  <a:srgbClr val="0000FF"/>
                </a:solidFill>
                <a:latin typeface="Consolas" pitchFamily="49" charset="0"/>
                <a:ea typeface="仿宋" pitchFamily="49" charset="-122"/>
                <a:cs typeface="Consolas" pitchFamily="49" charset="0"/>
              </a:rPr>
              <a:t>x</a:t>
            </a:r>
            <a:r>
              <a:rPr lang="zh-CN" altLang="en-US">
                <a:solidFill>
                  <a:srgbClr val="0000FF"/>
                </a:solidFill>
                <a:latin typeface="Consolas" pitchFamily="49" charset="0"/>
                <a:ea typeface="仿宋" pitchFamily="49" charset="-122"/>
                <a:cs typeface="Consolas" pitchFamily="49" charset="0"/>
              </a:rPr>
              <a:t>初始化所有元素为</a:t>
            </a:r>
            <a:r>
              <a:rPr lang="en-US" altLang="zh-CN">
                <a:solidFill>
                  <a:srgbClr val="0000FF"/>
                </a:solidFill>
                <a:latin typeface="Consolas" pitchFamily="49" charset="0"/>
                <a:ea typeface="仿宋" pitchFamily="49" charset="-122"/>
                <a:cs typeface="Consolas" pitchFamily="49" charset="0"/>
              </a:rPr>
              <a:t>-1</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x[i]=-1</a:t>
            </a:r>
            <a:r>
              <a:rPr lang="zh-CN" altLang="en-US">
                <a:solidFill>
                  <a:srgbClr val="0000FF"/>
                </a:solidFill>
                <a:latin typeface="Consolas" pitchFamily="49" charset="0"/>
                <a:ea typeface="仿宋" pitchFamily="49" charset="-122"/>
                <a:cs typeface="Consolas" pitchFamily="49" charset="0"/>
              </a:rPr>
              <a:t>表示人员</a:t>
            </a:r>
            <a:r>
              <a:rPr lang="en-US" altLang="zh-CN">
                <a:solidFill>
                  <a:srgbClr val="0000FF"/>
                </a:solidFill>
                <a:latin typeface="Consolas" pitchFamily="49" charset="0"/>
                <a:ea typeface="仿宋" pitchFamily="49" charset="-122"/>
                <a:cs typeface="Consolas" pitchFamily="49" charset="0"/>
              </a:rPr>
              <a:t>i</a:t>
            </a:r>
            <a:r>
              <a:rPr lang="zh-CN" altLang="en-US">
                <a:solidFill>
                  <a:srgbClr val="0000FF"/>
                </a:solidFill>
                <a:latin typeface="Consolas" pitchFamily="49" charset="0"/>
                <a:ea typeface="仿宋" pitchFamily="49" charset="-122"/>
                <a:cs typeface="Consolas" pitchFamily="49" charset="0"/>
              </a:rPr>
              <a:t>没有分配任务；</a:t>
            </a:r>
            <a:r>
              <a:rPr lang="en-US" altLang="zh-CN">
                <a:solidFill>
                  <a:srgbClr val="0000FF"/>
                </a:solidFill>
                <a:latin typeface="Consolas" pitchFamily="49" charset="0"/>
                <a:ea typeface="仿宋" pitchFamily="49" charset="-122"/>
                <a:cs typeface="Consolas" pitchFamily="49" charset="0"/>
              </a:rPr>
              <a:t>used</a:t>
            </a:r>
            <a:r>
              <a:rPr lang="zh-CN" altLang="en-US">
                <a:solidFill>
                  <a:srgbClr val="0000FF"/>
                </a:solidFill>
                <a:latin typeface="Consolas" pitchFamily="49" charset="0"/>
                <a:ea typeface="仿宋" pitchFamily="49" charset="-122"/>
                <a:cs typeface="Consolas" pitchFamily="49" charset="0"/>
              </a:rPr>
              <a:t>数组初始化所有元素为</a:t>
            </a:r>
            <a:r>
              <a:rPr lang="en-US" altLang="zh-CN">
                <a:solidFill>
                  <a:srgbClr val="0000FF"/>
                </a:solidFill>
                <a:latin typeface="Consolas" pitchFamily="49" charset="0"/>
                <a:ea typeface="仿宋" pitchFamily="49" charset="-122"/>
                <a:cs typeface="Consolas" pitchFamily="49" charset="0"/>
              </a:rPr>
              <a:t>0</a:t>
            </a:r>
            <a:r>
              <a:rPr lang="zh-CN" altLang="en-US">
                <a:solidFill>
                  <a:srgbClr val="0000FF"/>
                </a:solidFill>
                <a:latin typeface="Consolas" pitchFamily="49" charset="0"/>
                <a:ea typeface="仿宋" pitchFamily="49" charset="-122"/>
                <a:cs typeface="Consolas" pitchFamily="49" charset="0"/>
              </a:rPr>
              <a:t>，</a:t>
            </a:r>
            <a:r>
              <a:rPr lang="en-US" altLang="zh-CN">
                <a:solidFill>
                  <a:srgbClr val="0000FF"/>
                </a:solidFill>
                <a:latin typeface="Consolas" pitchFamily="49" charset="0"/>
                <a:ea typeface="仿宋" pitchFamily="49" charset="-122"/>
                <a:cs typeface="Consolas" pitchFamily="49" charset="0"/>
              </a:rPr>
              <a:t>used[j]=0</a:t>
            </a:r>
            <a:r>
              <a:rPr lang="zh-CN" altLang="en-US">
                <a:solidFill>
                  <a:srgbClr val="0000FF"/>
                </a:solidFill>
                <a:latin typeface="Consolas" pitchFamily="49" charset="0"/>
                <a:ea typeface="仿宋" pitchFamily="49" charset="-122"/>
                <a:cs typeface="Consolas" pitchFamily="49" charset="0"/>
              </a:rPr>
              <a:t>表示任务</a:t>
            </a:r>
            <a:r>
              <a:rPr lang="en-US" altLang="zh-CN">
                <a:solidFill>
                  <a:srgbClr val="0000FF"/>
                </a:solidFill>
                <a:latin typeface="Consolas" pitchFamily="49" charset="0"/>
                <a:ea typeface="仿宋" pitchFamily="49" charset="-122"/>
                <a:cs typeface="Consolas" pitchFamily="49" charset="0"/>
              </a:rPr>
              <a:t>j</a:t>
            </a:r>
            <a:r>
              <a:rPr lang="zh-CN" altLang="en-US">
                <a:solidFill>
                  <a:srgbClr val="0000FF"/>
                </a:solidFill>
                <a:latin typeface="Consolas" pitchFamily="49" charset="0"/>
                <a:ea typeface="仿宋" pitchFamily="49" charset="-122"/>
                <a:cs typeface="Consolas" pitchFamily="49" charset="0"/>
              </a:rPr>
              <a:t>尚未分配。</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buBlip>
                <a:blip r:embed="rId2"/>
              </a:buBlip>
            </a:pPr>
            <a:r>
              <a:rPr lang="zh-CN" altLang="zh-CN">
                <a:solidFill>
                  <a:srgbClr val="0000FF"/>
                </a:solidFill>
                <a:latin typeface="Consolas" pitchFamily="49" charset="0"/>
                <a:ea typeface="仿宋" pitchFamily="49" charset="-122"/>
                <a:cs typeface="Consolas" pitchFamily="49" charset="0"/>
              </a:rPr>
              <a:t>用</a:t>
            </a:r>
            <a:r>
              <a:rPr lang="en-US" altLang="zh-CN">
                <a:solidFill>
                  <a:srgbClr val="0000FF"/>
                </a:solidFill>
                <a:latin typeface="Consolas" pitchFamily="49" charset="0"/>
                <a:ea typeface="仿宋" pitchFamily="49" charset="-122"/>
                <a:cs typeface="Consolas" pitchFamily="49" charset="0"/>
              </a:rPr>
              <a:t>bestx</a:t>
            </a:r>
            <a:r>
              <a:rPr lang="zh-CN" altLang="zh-CN">
                <a:solidFill>
                  <a:srgbClr val="0000FF"/>
                </a:solidFill>
                <a:latin typeface="Consolas" pitchFamily="49" charset="0"/>
                <a:ea typeface="仿宋" pitchFamily="49" charset="-122"/>
                <a:cs typeface="Consolas" pitchFamily="49" charset="0"/>
              </a:rPr>
              <a:t>数组存放最优分配方案，</a:t>
            </a:r>
            <a:r>
              <a:rPr lang="en-US" altLang="zh-CN">
                <a:solidFill>
                  <a:srgbClr val="0000FF"/>
                </a:solidFill>
                <a:latin typeface="Consolas" pitchFamily="49" charset="0"/>
                <a:ea typeface="仿宋" pitchFamily="49" charset="-122"/>
                <a:cs typeface="Consolas" pitchFamily="49" charset="0"/>
              </a:rPr>
              <a:t>bestc</a:t>
            </a:r>
            <a:r>
              <a:rPr lang="zh-CN" altLang="zh-CN">
                <a:solidFill>
                  <a:srgbClr val="0000FF"/>
                </a:solidFill>
                <a:latin typeface="Consolas" pitchFamily="49" charset="0"/>
                <a:ea typeface="仿宋" pitchFamily="49" charset="-122"/>
                <a:cs typeface="Consolas" pitchFamily="49" charset="0"/>
              </a:rPr>
              <a:t>（初始值为∞）存放最优成本。</a:t>
            </a:r>
            <a:endParaRPr lang="en-US" altLang="zh-CN">
              <a:solidFill>
                <a:srgbClr val="0000FF"/>
              </a:solidFill>
              <a:latin typeface="Consolas" pitchFamily="49" charset="0"/>
              <a:ea typeface="仿宋" pitchFamily="49" charset="-122"/>
              <a:cs typeface="Consolas" pitchFamily="49" charset="0"/>
            </a:endParaRPr>
          </a:p>
          <a:p>
            <a:pPr marL="457200" indent="-457200" algn="l">
              <a:lnSpc>
                <a:spcPts val="2800"/>
              </a:lnSpc>
              <a:buBlip>
                <a:blip r:embed="rId2"/>
              </a:buBlip>
            </a:pPr>
            <a:r>
              <a:rPr lang="zh-CN" altLang="zh-CN">
                <a:solidFill>
                  <a:srgbClr val="0000FF"/>
                </a:solidFill>
                <a:latin typeface="Consolas" pitchFamily="49" charset="0"/>
                <a:ea typeface="仿宋" pitchFamily="49" charset="-122"/>
                <a:cs typeface="Consolas" pitchFamily="49" charset="0"/>
              </a:rPr>
              <a:t>若一个结点的</a:t>
            </a:r>
            <a:r>
              <a:rPr lang="en-US" altLang="zh-CN">
                <a:solidFill>
                  <a:srgbClr val="0000FF"/>
                </a:solidFill>
                <a:latin typeface="Consolas" pitchFamily="49" charset="0"/>
                <a:ea typeface="仿宋" pitchFamily="49" charset="-122"/>
                <a:cs typeface="Consolas" pitchFamily="49" charset="0"/>
              </a:rPr>
              <a:t>lb</a:t>
            </a:r>
            <a:r>
              <a:rPr lang="zh-CN" altLang="zh-CN">
                <a:solidFill>
                  <a:srgbClr val="0000FF"/>
                </a:solidFill>
                <a:latin typeface="Consolas" pitchFamily="49" charset="0"/>
                <a:ea typeface="仿宋" pitchFamily="49" charset="-122"/>
                <a:cs typeface="Consolas" pitchFamily="49" charset="0"/>
              </a:rPr>
              <a:t>满足</a:t>
            </a:r>
            <a:r>
              <a:rPr lang="en-US" altLang="zh-CN">
                <a:solidFill>
                  <a:srgbClr val="0000FF"/>
                </a:solidFill>
                <a:latin typeface="Consolas" pitchFamily="49" charset="0"/>
                <a:ea typeface="仿宋" pitchFamily="49" charset="-122"/>
                <a:cs typeface="Consolas" pitchFamily="49" charset="0"/>
              </a:rPr>
              <a:t>lb</a:t>
            </a:r>
            <a:r>
              <a:rPr lang="zh-CN" altLang="zh-CN">
                <a:solidFill>
                  <a:srgbClr val="0000FF"/>
                </a:solidFill>
                <a:latin typeface="+mj-ea"/>
                <a:ea typeface="+mj-ea"/>
                <a:cs typeface="Consolas" pitchFamily="49" charset="0"/>
              </a:rPr>
              <a:t>≥</a:t>
            </a:r>
            <a:r>
              <a:rPr lang="en-US" altLang="zh-CN">
                <a:solidFill>
                  <a:srgbClr val="0000FF"/>
                </a:solidFill>
                <a:latin typeface="Consolas" pitchFamily="49" charset="0"/>
                <a:ea typeface="仿宋" pitchFamily="49" charset="-122"/>
                <a:cs typeface="Consolas" pitchFamily="49" charset="0"/>
              </a:rPr>
              <a:t>bestc</a:t>
            </a:r>
            <a:r>
              <a:rPr lang="zh-CN" altLang="zh-CN">
                <a:solidFill>
                  <a:srgbClr val="0000FF"/>
                </a:solidFill>
                <a:latin typeface="Consolas" pitchFamily="49" charset="0"/>
                <a:ea typeface="仿宋" pitchFamily="49" charset="-122"/>
                <a:cs typeface="Consolas" pitchFamily="49" charset="0"/>
              </a:rPr>
              <a:t>则该路径走下去不可能找到最优解，将其剪支，也就是仅仅扩展满足</a:t>
            </a:r>
            <a:r>
              <a:rPr lang="en-US" altLang="zh-CN">
                <a:solidFill>
                  <a:srgbClr val="FF0000"/>
                </a:solidFill>
                <a:latin typeface="Consolas" pitchFamily="49" charset="0"/>
                <a:ea typeface="仿宋" pitchFamily="49" charset="-122"/>
                <a:cs typeface="Consolas" pitchFamily="49" charset="0"/>
              </a:rPr>
              <a:t>lb&lt;bestc</a:t>
            </a:r>
            <a:r>
              <a:rPr lang="zh-CN" altLang="zh-CN">
                <a:solidFill>
                  <a:srgbClr val="0000FF"/>
                </a:solidFill>
                <a:latin typeface="Consolas" pitchFamily="49" charset="0"/>
                <a:ea typeface="仿宋" pitchFamily="49" charset="-122"/>
                <a:cs typeface="Consolas" pitchFamily="49" charset="0"/>
              </a:rPr>
              <a:t>的结点。</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81</a:t>
            </a:fld>
            <a:r>
              <a:rPr lang="en-US" altLang="zh-CN"/>
              <a:t>/126</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4317" name="Rectangle 4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4315" name="Rectangle 43"/>
          <p:cNvSpPr>
            <a:spLocks noChangeArrowheads="1"/>
          </p:cNvSpPr>
          <p:nvPr/>
        </p:nvSpPr>
        <p:spPr bwMode="auto">
          <a:xfrm>
            <a:off x="4569420" y="292927"/>
            <a:ext cx="1161911" cy="720000"/>
          </a:xfrm>
          <a:prstGeom prst="rect">
            <a:avLst/>
          </a:prstGeom>
          <a:solidFill>
            <a:srgbClr val="0000FF"/>
          </a:solidFill>
          <a:ln>
            <a:solidFill>
              <a:srgbClr val="FF0000"/>
            </a:solidFill>
            <a:headEnd/>
            <a:tailEnd type="none" w="sm" len="med"/>
          </a:ln>
          <a:effectLst>
            <a:outerShdw blurRad="76200" dir="18900000" sy="23000" kx="-1200000" algn="bl" rotWithShape="0">
              <a:prstClr val="black">
                <a:alpha val="20000"/>
              </a:prstClr>
            </a:outerShdw>
          </a:effectLst>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chemeClr val="bg1"/>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=0</a:t>
            </a:r>
            <a:r>
              <a:rPr kumimoji="0" lang="zh-CN" altLang="en-US"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cost=0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lb=10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chemeClr val="bg1"/>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p>
        </p:txBody>
      </p:sp>
      <p:sp>
        <p:nvSpPr>
          <p:cNvPr id="54313" name="Rectangle 41"/>
          <p:cNvSpPr>
            <a:spLocks noChangeArrowheads="1"/>
          </p:cNvSpPr>
          <p:nvPr/>
        </p:nvSpPr>
        <p:spPr bwMode="auto">
          <a:xfrm>
            <a:off x="4341785" y="292927"/>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1</a:t>
            </a:r>
          </a:p>
        </p:txBody>
      </p:sp>
      <p:sp>
        <p:nvSpPr>
          <p:cNvPr id="54312" name="Rectangle 40"/>
          <p:cNvSpPr>
            <a:spLocks noChangeArrowheads="1"/>
          </p:cNvSpPr>
          <p:nvPr/>
        </p:nvSpPr>
        <p:spPr bwMode="auto">
          <a:xfrm>
            <a:off x="1479621" y="1665240"/>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7</a:t>
            </a:r>
          </a:p>
        </p:txBody>
      </p:sp>
      <p:sp>
        <p:nvSpPr>
          <p:cNvPr id="54308" name="Rectangle 36"/>
          <p:cNvSpPr>
            <a:spLocks noChangeArrowheads="1"/>
          </p:cNvSpPr>
          <p:nvPr/>
        </p:nvSpPr>
        <p:spPr bwMode="auto">
          <a:xfrm>
            <a:off x="6455139" y="1620084"/>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9</a:t>
            </a:r>
          </a:p>
        </p:txBody>
      </p:sp>
      <p:sp>
        <p:nvSpPr>
          <p:cNvPr id="54306" name="Rectangle 34"/>
          <p:cNvSpPr>
            <a:spLocks noChangeArrowheads="1"/>
          </p:cNvSpPr>
          <p:nvPr/>
        </p:nvSpPr>
        <p:spPr bwMode="auto">
          <a:xfrm>
            <a:off x="8284947" y="1620084"/>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8</a:t>
            </a:r>
          </a:p>
        </p:txBody>
      </p:sp>
      <p:sp>
        <p:nvSpPr>
          <p:cNvPr id="54298" name="Rectangle 26"/>
          <p:cNvSpPr>
            <a:spLocks noChangeArrowheads="1"/>
          </p:cNvSpPr>
          <p:nvPr/>
        </p:nvSpPr>
        <p:spPr bwMode="auto">
          <a:xfrm>
            <a:off x="4013817" y="2988059"/>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5</a:t>
            </a:r>
          </a:p>
        </p:txBody>
      </p:sp>
      <p:sp>
        <p:nvSpPr>
          <p:cNvPr id="54296" name="Rectangle 24"/>
          <p:cNvSpPr>
            <a:spLocks noChangeArrowheads="1"/>
          </p:cNvSpPr>
          <p:nvPr/>
        </p:nvSpPr>
        <p:spPr bwMode="auto">
          <a:xfrm>
            <a:off x="5572132" y="3025712"/>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6</a:t>
            </a:r>
          </a:p>
        </p:txBody>
      </p:sp>
      <p:grpSp>
        <p:nvGrpSpPr>
          <p:cNvPr id="50" name="组合 49"/>
          <p:cNvGrpSpPr/>
          <p:nvPr/>
        </p:nvGrpSpPr>
        <p:grpSpPr>
          <a:xfrm>
            <a:off x="1479621" y="904844"/>
            <a:ext cx="7227152" cy="1679269"/>
            <a:chOff x="1479621" y="904844"/>
            <a:chExt cx="7227152" cy="1679269"/>
          </a:xfrm>
        </p:grpSpPr>
        <p:sp>
          <p:nvSpPr>
            <p:cNvPr id="54314" name="Rectangle 42"/>
            <p:cNvSpPr>
              <a:spLocks noChangeArrowheads="1"/>
            </p:cNvSpPr>
            <p:nvPr/>
          </p:nvSpPr>
          <p:spPr bwMode="auto">
            <a:xfrm>
              <a:off x="1479621" y="1864113"/>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cost=9</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lb=17</a:t>
              </a: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[]={0,</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311" name="Rectangle 39"/>
            <p:cNvSpPr>
              <a:spLocks noChangeArrowheads="1"/>
            </p:cNvSpPr>
            <p:nvPr/>
          </p:nvSpPr>
          <p:spPr bwMode="auto">
            <a:xfrm>
              <a:off x="3753817" y="1864113"/>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lb=10</a:t>
              </a: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309" name="Rectangle 37"/>
            <p:cNvSpPr>
              <a:spLocks noChangeArrowheads="1"/>
            </p:cNvSpPr>
            <p:nvPr/>
          </p:nvSpPr>
          <p:spPr bwMode="auto">
            <a:xfrm>
              <a:off x="5592161" y="1864113"/>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cost=7</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lb=20</a:t>
              </a: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en-US" altLang="zh-CN" sz="1500">
                  <a:solidFill>
                    <a:srgbClr val="0000FF"/>
                  </a:solidFill>
                  <a:latin typeface="Consolas" pitchFamily="49" charset="0"/>
                  <a:ea typeface="仿宋" pitchFamily="49" charset="-122"/>
                  <a:cs typeface="Times New Roman" pitchFamily="18" charset="0"/>
                </a:rPr>
                <a:t> </a:t>
              </a:r>
              <a:r>
                <a:rPr kumimoji="0" lang="en-US" altLang="zh-CN" sz="1500">
                  <a:solidFill>
                    <a:srgbClr val="0000FF"/>
                  </a:solidFill>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a:solidFill>
                    <a:srgbClr val="0000FF"/>
                  </a:solidFill>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a:solidFill>
                    <a:srgbClr val="0000FF"/>
                  </a:solidFill>
                  <a:latin typeface="Times New Roman" pitchFamily="18" charset="0"/>
                  <a:ea typeface="仿宋" pitchFamily="49" charset="-122"/>
                  <a:cs typeface="Times New Roman" pitchFamily="18" charset="0"/>
                </a:rPr>
                <a:t>}</a:t>
              </a:r>
              <a:endPar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endParaRPr>
            </a:p>
          </p:txBody>
        </p:sp>
        <p:sp>
          <p:nvSpPr>
            <p:cNvPr id="54307" name="Rectangle 35"/>
            <p:cNvSpPr>
              <a:spLocks noChangeArrowheads="1"/>
            </p:cNvSpPr>
            <p:nvPr/>
          </p:nvSpPr>
          <p:spPr bwMode="auto">
            <a:xfrm>
              <a:off x="7544862" y="1864113"/>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cost=8</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lb=18</a:t>
              </a:r>
            </a:p>
            <a:p>
              <a:pPr lvl="0" algn="l" eaLnBrk="0" hangingPunct="0">
                <a:lnSpc>
                  <a:spcPct val="100000"/>
                </a:lnSpc>
                <a:spcBef>
                  <a:spcPct val="0"/>
                </a:spcBef>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a:solidFill>
                    <a:srgbClr val="0000FF"/>
                  </a:solidFill>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a:solidFill>
                    <a:srgbClr val="0000FF"/>
                  </a:solidFill>
                  <a:latin typeface="Times New Roman" pitchFamily="18" charset="0"/>
                  <a:ea typeface="仿宋" pitchFamily="49" charset="-122"/>
                  <a:cs typeface="Times New Roman" pitchFamily="18" charset="0"/>
                </a:rPr>
                <a:t>,</a:t>
              </a:r>
              <a:r>
                <a:rPr kumimoji="0" lang="en-US" altLang="zh-CN" sz="1500">
                  <a:solidFill>
                    <a:srgbClr val="0000FF"/>
                  </a:solidFill>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305" name="Rectangle 33"/>
            <p:cNvSpPr>
              <a:spLocks noChangeArrowheads="1"/>
            </p:cNvSpPr>
            <p:nvPr/>
          </p:nvSpPr>
          <p:spPr bwMode="auto">
            <a:xfrm>
              <a:off x="2383351" y="1018081"/>
              <a:ext cx="929960"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c[0][0]=9</a:t>
              </a:r>
            </a:p>
          </p:txBody>
        </p:sp>
        <p:sp>
          <p:nvSpPr>
            <p:cNvPr id="54304" name="Rectangle 32"/>
            <p:cNvSpPr>
              <a:spLocks noChangeArrowheads="1"/>
            </p:cNvSpPr>
            <p:nvPr/>
          </p:nvSpPr>
          <p:spPr bwMode="auto">
            <a:xfrm>
              <a:off x="3731965" y="1235098"/>
              <a:ext cx="937512"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=1</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c[0][1]=2</a:t>
              </a:r>
            </a:p>
          </p:txBody>
        </p:sp>
        <p:sp>
          <p:nvSpPr>
            <p:cNvPr id="54303" name="Rectangle 31"/>
            <p:cNvSpPr>
              <a:spLocks noChangeArrowheads="1"/>
            </p:cNvSpPr>
            <p:nvPr/>
          </p:nvSpPr>
          <p:spPr bwMode="auto">
            <a:xfrm>
              <a:off x="4944857" y="1283692"/>
              <a:ext cx="841589"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c[0][2]=7</a:t>
              </a:r>
            </a:p>
          </p:txBody>
        </p:sp>
        <p:sp>
          <p:nvSpPr>
            <p:cNvPr id="54302" name="Rectangle 30"/>
            <p:cNvSpPr>
              <a:spLocks noChangeArrowheads="1"/>
            </p:cNvSpPr>
            <p:nvPr/>
          </p:nvSpPr>
          <p:spPr bwMode="auto">
            <a:xfrm>
              <a:off x="6897240" y="946238"/>
              <a:ext cx="948301"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c[0][3]=8</a:t>
              </a:r>
            </a:p>
          </p:txBody>
        </p:sp>
        <p:sp>
          <p:nvSpPr>
            <p:cNvPr id="54292" name="AutoShape 20"/>
            <p:cNvSpPr>
              <a:spLocks noChangeShapeType="1"/>
            </p:cNvSpPr>
            <p:nvPr/>
          </p:nvSpPr>
          <p:spPr bwMode="auto">
            <a:xfrm flipH="1">
              <a:off x="4335312" y="1000108"/>
              <a:ext cx="593878" cy="864004"/>
            </a:xfrm>
            <a:prstGeom prst="straightConnector1">
              <a:avLst/>
            </a:prstGeom>
            <a:noFill/>
            <a:ln w="38100">
              <a:solidFill>
                <a:srgbClr val="FF00FF"/>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91" name="AutoShape 19"/>
            <p:cNvSpPr>
              <a:spLocks noChangeShapeType="1"/>
            </p:cNvSpPr>
            <p:nvPr/>
          </p:nvSpPr>
          <p:spPr bwMode="auto">
            <a:xfrm>
              <a:off x="5357818" y="1000108"/>
              <a:ext cx="815837" cy="864004"/>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90" name="AutoShape 18"/>
            <p:cNvSpPr>
              <a:spLocks noChangeShapeType="1"/>
            </p:cNvSpPr>
            <p:nvPr/>
          </p:nvSpPr>
          <p:spPr bwMode="auto">
            <a:xfrm>
              <a:off x="5739962" y="904844"/>
              <a:ext cx="2386395" cy="959269"/>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89" name="AutoShape 17"/>
            <p:cNvSpPr>
              <a:spLocks noChangeShapeType="1"/>
            </p:cNvSpPr>
            <p:nvPr/>
          </p:nvSpPr>
          <p:spPr bwMode="auto">
            <a:xfrm flipH="1">
              <a:off x="2061116" y="912942"/>
              <a:ext cx="2489964" cy="95117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grpSp>
      <p:grpSp>
        <p:nvGrpSpPr>
          <p:cNvPr id="51" name="组合 50"/>
          <p:cNvGrpSpPr/>
          <p:nvPr/>
        </p:nvGrpSpPr>
        <p:grpSpPr>
          <a:xfrm>
            <a:off x="1436468" y="1665240"/>
            <a:ext cx="5492377" cy="2259690"/>
            <a:chOff x="1436468" y="1665240"/>
            <a:chExt cx="5492377" cy="2259690"/>
          </a:xfrm>
        </p:grpSpPr>
        <p:sp>
          <p:nvSpPr>
            <p:cNvPr id="54310" name="Rectangle 38"/>
            <p:cNvSpPr>
              <a:spLocks noChangeArrowheads="1"/>
            </p:cNvSpPr>
            <p:nvPr/>
          </p:nvSpPr>
          <p:spPr bwMode="auto">
            <a:xfrm>
              <a:off x="3559626" y="1665240"/>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2</a:t>
              </a:r>
            </a:p>
          </p:txBody>
        </p:sp>
        <p:sp>
          <p:nvSpPr>
            <p:cNvPr id="54301" name="Rectangle 29"/>
            <p:cNvSpPr>
              <a:spLocks noChangeArrowheads="1"/>
            </p:cNvSpPr>
            <p:nvPr/>
          </p:nvSpPr>
          <p:spPr bwMode="auto">
            <a:xfrm>
              <a:off x="1436468" y="3204930"/>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cost=8</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a:t>
              </a:r>
              <a:r>
                <a:rPr kumimoji="0" lang="en-US" altLang="zh-CN" sz="15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300" name="Rectangle 28"/>
            <p:cNvSpPr>
              <a:spLocks noChangeArrowheads="1"/>
            </p:cNvSpPr>
            <p:nvPr/>
          </p:nvSpPr>
          <p:spPr bwMode="auto">
            <a:xfrm>
              <a:off x="3739792" y="3204930"/>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cost=5</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lb=14</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[]={1,2,</a:t>
              </a:r>
              <a:r>
                <a:rPr kumimoji="0" lang="en-US" altLang="zh-CN" sz="1500" i="0" u="none" strike="noStrike" cap="none" normalizeH="0" baseline="0">
                  <a:ln>
                    <a:noFill/>
                  </a:ln>
                  <a:solidFill>
                    <a:srgbClr val="0000FF"/>
                  </a:solidFill>
                  <a:effectLst/>
                  <a:latin typeface="Consolas" pitchFamily="49" charset="0"/>
                  <a:ea typeface="+mj-ea"/>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Consolas" pitchFamily="49" charset="0"/>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299" name="Rectangle 27"/>
            <p:cNvSpPr>
              <a:spLocks noChangeArrowheads="1"/>
            </p:cNvSpPr>
            <p:nvPr/>
          </p:nvSpPr>
          <p:spPr bwMode="auto">
            <a:xfrm>
              <a:off x="5735647" y="3204930"/>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=2</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cost=9</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lb=17</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[]={1,3,</a:t>
              </a:r>
              <a:r>
                <a:rPr kumimoji="0" lang="en-US" altLang="zh-CN" sz="1500" i="0" u="none" strike="noStrike" cap="none" normalizeH="0" baseline="0">
                  <a:ln>
                    <a:noFill/>
                  </a:ln>
                  <a:solidFill>
                    <a:srgbClr val="0000FF"/>
                  </a:solidFill>
                  <a:effectLst/>
                  <a:latin typeface="Consolas" pitchFamily="49" charset="0"/>
                  <a:ea typeface="+mj-ea"/>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Consolas" pitchFamily="49" charset="0"/>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295" name="Rectangle 23"/>
            <p:cNvSpPr>
              <a:spLocks noChangeArrowheads="1"/>
            </p:cNvSpPr>
            <p:nvPr/>
          </p:nvSpPr>
          <p:spPr bwMode="auto">
            <a:xfrm>
              <a:off x="2792570" y="2880671"/>
              <a:ext cx="881413"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=0</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c[1][0]=6</a:t>
              </a:r>
            </a:p>
          </p:txBody>
        </p:sp>
        <p:sp>
          <p:nvSpPr>
            <p:cNvPr id="54294" name="Rectangle 22"/>
            <p:cNvSpPr>
              <a:spLocks noChangeArrowheads="1"/>
            </p:cNvSpPr>
            <p:nvPr/>
          </p:nvSpPr>
          <p:spPr bwMode="auto">
            <a:xfrm>
              <a:off x="4395727" y="2700099"/>
              <a:ext cx="953695"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c[1][2]=3</a:t>
              </a:r>
            </a:p>
          </p:txBody>
        </p:sp>
        <p:sp>
          <p:nvSpPr>
            <p:cNvPr id="54293" name="Rectangle 21"/>
            <p:cNvSpPr>
              <a:spLocks noChangeArrowheads="1"/>
            </p:cNvSpPr>
            <p:nvPr/>
          </p:nvSpPr>
          <p:spPr bwMode="auto">
            <a:xfrm>
              <a:off x="5993490" y="2619110"/>
              <a:ext cx="935355"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c[1][3]=7</a:t>
              </a:r>
            </a:p>
          </p:txBody>
        </p:sp>
        <p:sp>
          <p:nvSpPr>
            <p:cNvPr id="54288" name="AutoShape 16"/>
            <p:cNvSpPr>
              <a:spLocks noChangeShapeType="1"/>
            </p:cNvSpPr>
            <p:nvPr/>
          </p:nvSpPr>
          <p:spPr bwMode="auto">
            <a:xfrm flipH="1">
              <a:off x="4321286" y="2613038"/>
              <a:ext cx="0" cy="594000"/>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87" name="AutoShape 15"/>
            <p:cNvSpPr>
              <a:spLocks noChangeShapeType="1"/>
            </p:cNvSpPr>
            <p:nvPr/>
          </p:nvSpPr>
          <p:spPr bwMode="auto">
            <a:xfrm flipH="1">
              <a:off x="2017962" y="2500306"/>
              <a:ext cx="1768219" cy="704624"/>
            </a:xfrm>
            <a:prstGeom prst="straightConnector1">
              <a:avLst/>
            </a:prstGeom>
            <a:noFill/>
            <a:ln w="38100">
              <a:solidFill>
                <a:srgbClr val="FF00FF"/>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86" name="AutoShape 14"/>
            <p:cNvSpPr>
              <a:spLocks noChangeShapeType="1"/>
            </p:cNvSpPr>
            <p:nvPr/>
          </p:nvSpPr>
          <p:spPr bwMode="auto">
            <a:xfrm>
              <a:off x="4929189" y="2571744"/>
              <a:ext cx="1387951" cy="633186"/>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grpSp>
      <p:sp>
        <p:nvSpPr>
          <p:cNvPr id="54283" name="Rectangle 11"/>
          <p:cNvSpPr>
            <a:spLocks noChangeArrowheads="1"/>
          </p:cNvSpPr>
          <p:nvPr/>
        </p:nvSpPr>
        <p:spPr bwMode="auto">
          <a:xfrm>
            <a:off x="1975888" y="4301880"/>
            <a:ext cx="417511" cy="170977"/>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10</a:t>
            </a:r>
          </a:p>
        </p:txBody>
      </p:sp>
      <p:grpSp>
        <p:nvGrpSpPr>
          <p:cNvPr id="53" name="组合 52"/>
          <p:cNvGrpSpPr/>
          <p:nvPr/>
        </p:nvGrpSpPr>
        <p:grpSpPr>
          <a:xfrm>
            <a:off x="519453" y="2970062"/>
            <a:ext cx="2933367" cy="2286686"/>
            <a:chOff x="519453" y="2970062"/>
            <a:chExt cx="2933367" cy="2286686"/>
          </a:xfrm>
        </p:grpSpPr>
        <p:sp>
          <p:nvSpPr>
            <p:cNvPr id="54297" name="Rectangle 25"/>
            <p:cNvSpPr>
              <a:spLocks noChangeArrowheads="1"/>
            </p:cNvSpPr>
            <p:nvPr/>
          </p:nvSpPr>
          <p:spPr bwMode="auto">
            <a:xfrm>
              <a:off x="1436468" y="2970062"/>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3</a:t>
              </a:r>
            </a:p>
          </p:txBody>
        </p:sp>
        <p:sp>
          <p:nvSpPr>
            <p:cNvPr id="54285" name="Rectangle 13"/>
            <p:cNvSpPr>
              <a:spLocks noChangeArrowheads="1"/>
            </p:cNvSpPr>
            <p:nvPr/>
          </p:nvSpPr>
          <p:spPr bwMode="auto">
            <a:xfrm>
              <a:off x="519453" y="4536748"/>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cost=9</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lb=13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[]={1,0,2,</a:t>
              </a:r>
              <a:r>
                <a:rPr kumimoji="0" lang="en-US" altLang="zh-CN" sz="1500" i="0" u="none" strike="noStrike" cap="none" normalizeH="0" baseline="0">
                  <a:ln>
                    <a:noFill/>
                  </a:ln>
                  <a:solidFill>
                    <a:srgbClr val="0000FF"/>
                  </a:solidFill>
                  <a:effectLst/>
                  <a:latin typeface="Consolas" pitchFamily="49" charset="0"/>
                  <a:ea typeface="+mj-ea"/>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284" name="Rectangle 12"/>
            <p:cNvSpPr>
              <a:spLocks noChangeArrowheads="1"/>
            </p:cNvSpPr>
            <p:nvPr/>
          </p:nvSpPr>
          <p:spPr bwMode="auto">
            <a:xfrm>
              <a:off x="2084851" y="4536748"/>
              <a:ext cx="1161911" cy="720000"/>
            </a:xfrm>
            <a:prstGeom prst="rect">
              <a:avLst/>
            </a:prstGeom>
            <a:solidFill>
              <a:schemeClr val="bg1">
                <a:lumMod val="95000"/>
              </a:schemeClr>
            </a:solidFill>
            <a:ln>
              <a:headEnd/>
              <a:tailEnd type="none" w="sm" len="med"/>
            </a:ln>
          </p:spPr>
          <p:style>
            <a:lnRef idx="1">
              <a:schemeClr val="accent5"/>
            </a:lnRef>
            <a:fillRef idx="2">
              <a:schemeClr val="accent5"/>
            </a:fillRef>
            <a:effectRef idx="1">
              <a:schemeClr val="accent5"/>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=3</a:t>
              </a:r>
              <a:r>
                <a:rPr kumimoji="0" lang="zh-CN" altLang="en-US"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cost=16</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lb=25</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[]={1,0,3,</a:t>
              </a:r>
              <a:r>
                <a:rPr kumimoji="0" lang="en-US" altLang="zh-CN" sz="1500" i="0" u="none" strike="noStrike" cap="none" normalizeH="0" baseline="0">
                  <a:ln>
                    <a:noFill/>
                  </a:ln>
                  <a:solidFill>
                    <a:srgbClr val="0000FF"/>
                  </a:solidFill>
                  <a:effectLst/>
                  <a:latin typeface="Consolas" pitchFamily="49" charset="0"/>
                  <a:ea typeface="仿宋" pitchFamily="49" charset="-122"/>
                  <a:cs typeface="Times New Roman" pitchFamily="18" charset="0"/>
                </a:rPr>
                <a:t>-</a:t>
              </a:r>
              <a:r>
                <a:rPr kumimoji="0" lang="en-US" altLang="zh-CN" sz="1500" i="0" u="none" strike="noStrike" cap="none" normalizeH="0" baseline="0">
                  <a:ln>
                    <a:noFill/>
                  </a:ln>
                  <a:solidFill>
                    <a:srgbClr val="0000FF"/>
                  </a:solidFill>
                  <a:effectLst/>
                  <a:latin typeface="Times New Roman" pitchFamily="18" charset="0"/>
                  <a:ea typeface="仿宋" pitchFamily="49" charset="-122"/>
                  <a:cs typeface="Times New Roman" pitchFamily="18" charset="0"/>
                </a:rPr>
                <a:t>}</a:t>
              </a:r>
            </a:p>
          </p:txBody>
        </p:sp>
        <p:sp>
          <p:nvSpPr>
            <p:cNvPr id="54278" name="AutoShape 6"/>
            <p:cNvSpPr>
              <a:spLocks noChangeShapeType="1"/>
            </p:cNvSpPr>
            <p:nvPr/>
          </p:nvSpPr>
          <p:spPr bwMode="auto">
            <a:xfrm>
              <a:off x="2214546" y="3929066"/>
              <a:ext cx="451800" cy="607682"/>
            </a:xfrm>
            <a:prstGeom prst="straightConnector1">
              <a:avLst/>
            </a:prstGeom>
            <a:noFill/>
            <a:ln w="19050">
              <a:solidFill>
                <a:srgbClr val="000000"/>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77" name="Rectangle 5"/>
            <p:cNvSpPr>
              <a:spLocks noChangeArrowheads="1"/>
            </p:cNvSpPr>
            <p:nvPr/>
          </p:nvSpPr>
          <p:spPr bwMode="auto">
            <a:xfrm>
              <a:off x="672648" y="3877138"/>
              <a:ext cx="949380"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=2</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c[2][2]=1</a:t>
              </a:r>
            </a:p>
          </p:txBody>
        </p:sp>
        <p:sp>
          <p:nvSpPr>
            <p:cNvPr id="54276" name="Rectangle 4"/>
            <p:cNvSpPr>
              <a:spLocks noChangeArrowheads="1"/>
            </p:cNvSpPr>
            <p:nvPr/>
          </p:nvSpPr>
          <p:spPr bwMode="auto">
            <a:xfrm>
              <a:off x="2534727" y="3955426"/>
              <a:ext cx="918093"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c[2][3]=8</a:t>
              </a:r>
            </a:p>
          </p:txBody>
        </p:sp>
        <p:sp>
          <p:nvSpPr>
            <p:cNvPr id="54274" name="AutoShape 2"/>
            <p:cNvSpPr>
              <a:spLocks noChangeShapeType="1"/>
            </p:cNvSpPr>
            <p:nvPr/>
          </p:nvSpPr>
          <p:spPr bwMode="auto">
            <a:xfrm flipH="1">
              <a:off x="1208832" y="3929066"/>
              <a:ext cx="505648" cy="607682"/>
            </a:xfrm>
            <a:prstGeom prst="straightConnector1">
              <a:avLst/>
            </a:prstGeom>
            <a:noFill/>
            <a:ln w="38100">
              <a:solidFill>
                <a:srgbClr val="FF00FF"/>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grpSp>
      <p:graphicFrame>
        <p:nvGraphicFramePr>
          <p:cNvPr id="52" name="表格 51"/>
          <p:cNvGraphicFramePr>
            <a:graphicFrameLocks noGrp="1"/>
          </p:cNvGraphicFramePr>
          <p:nvPr/>
        </p:nvGraphicFramePr>
        <p:xfrm>
          <a:off x="3929058" y="4429132"/>
          <a:ext cx="3571900" cy="1643075"/>
        </p:xfrm>
        <a:graphic>
          <a:graphicData uri="http://schemas.openxmlformats.org/drawingml/2006/table">
            <a:tbl>
              <a:tblPr>
                <a:tableStyleId>{35758FB7-9AC5-4552-8A53-C91805E547FA}</a:tableStyleId>
              </a:tblPr>
              <a:tblGrid>
                <a:gridCol w="633417">
                  <a:extLst>
                    <a:ext uri="{9D8B030D-6E8A-4147-A177-3AD203B41FA5}">
                      <a16:colId xmlns:a16="http://schemas.microsoft.com/office/drawing/2014/main" val="20000"/>
                    </a:ext>
                  </a:extLst>
                </a:gridCol>
                <a:gridCol w="734188">
                  <a:extLst>
                    <a:ext uri="{9D8B030D-6E8A-4147-A177-3AD203B41FA5}">
                      <a16:colId xmlns:a16="http://schemas.microsoft.com/office/drawing/2014/main" val="20001"/>
                    </a:ext>
                  </a:extLst>
                </a:gridCol>
                <a:gridCol w="734765">
                  <a:extLst>
                    <a:ext uri="{9D8B030D-6E8A-4147-A177-3AD203B41FA5}">
                      <a16:colId xmlns:a16="http://schemas.microsoft.com/office/drawing/2014/main" val="20002"/>
                    </a:ext>
                  </a:extLst>
                </a:gridCol>
                <a:gridCol w="734765">
                  <a:extLst>
                    <a:ext uri="{9D8B030D-6E8A-4147-A177-3AD203B41FA5}">
                      <a16:colId xmlns:a16="http://schemas.microsoft.com/office/drawing/2014/main" val="20003"/>
                    </a:ext>
                  </a:extLst>
                </a:gridCol>
                <a:gridCol w="734765">
                  <a:extLst>
                    <a:ext uri="{9D8B030D-6E8A-4147-A177-3AD203B41FA5}">
                      <a16:colId xmlns:a16="http://schemas.microsoft.com/office/drawing/2014/main" val="20004"/>
                    </a:ext>
                  </a:extLst>
                </a:gridCol>
              </a:tblGrid>
              <a:tr h="328615">
                <a:tc>
                  <a:txBody>
                    <a:bodyPr/>
                    <a:lstStyle/>
                    <a:p>
                      <a:pPr algn="ctr">
                        <a:lnSpc>
                          <a:spcPts val="2400"/>
                        </a:lnSpc>
                        <a:spcAft>
                          <a:spcPts val="0"/>
                        </a:spcAft>
                      </a:pPr>
                      <a:r>
                        <a:rPr lang="zh-CN" sz="1600" b="1" kern="100">
                          <a:solidFill>
                            <a:srgbClr val="FF0000"/>
                          </a:solidFill>
                          <a:latin typeface="Consolas" pitchFamily="49" charset="0"/>
                          <a:ea typeface="仿宋" pitchFamily="49" charset="-122"/>
                          <a:cs typeface="Consolas" pitchFamily="49" charset="0"/>
                        </a:rPr>
                        <a:t>人员</a:t>
                      </a: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itchFamily="49" charset="0"/>
                          <a:ea typeface="仿宋" pitchFamily="49" charset="-122"/>
                          <a:cs typeface="Consolas" pitchFamily="49" charset="0"/>
                        </a:rPr>
                        <a:t>任务</a:t>
                      </a:r>
                      <a:r>
                        <a:rPr lang="en-US" altLang="zh-CN"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itchFamily="49" charset="0"/>
                          <a:ea typeface="仿宋" pitchFamily="49" charset="-122"/>
                          <a:cs typeface="Consolas" pitchFamily="49" charset="0"/>
                        </a:rPr>
                        <a:t>任务</a:t>
                      </a:r>
                      <a:r>
                        <a:rPr lang="en-US" altLang="zh-CN"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itchFamily="49" charset="0"/>
                          <a:ea typeface="仿宋" pitchFamily="49" charset="-122"/>
                          <a:cs typeface="Consolas" pitchFamily="49" charset="0"/>
                        </a:rPr>
                        <a:t>任务</a:t>
                      </a:r>
                      <a:r>
                        <a:rPr lang="en-US" altLang="zh-CN" sz="1600" b="1" kern="100">
                          <a:solidFill>
                            <a:srgbClr val="FF0000"/>
                          </a:solidFill>
                          <a:latin typeface="Consolas" pitchFamily="49" charset="0"/>
                          <a:ea typeface="仿宋" pitchFamily="49" charset="-122"/>
                          <a:cs typeface="Consolas" pitchFamily="49" charset="0"/>
                        </a:rPr>
                        <a:t>2</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zh-CN" sz="1600" b="1" kern="100">
                          <a:solidFill>
                            <a:srgbClr val="FF0000"/>
                          </a:solidFill>
                          <a:latin typeface="Consolas" pitchFamily="49" charset="0"/>
                          <a:ea typeface="仿宋" pitchFamily="49" charset="-122"/>
                          <a:cs typeface="Consolas" pitchFamily="49" charset="0"/>
                        </a:rPr>
                        <a:t>任务</a:t>
                      </a:r>
                      <a:r>
                        <a:rPr lang="en-US" altLang="zh-CN" sz="1600" b="1" kern="100">
                          <a:solidFill>
                            <a:srgbClr val="FF0000"/>
                          </a:solidFill>
                          <a:latin typeface="Consolas" pitchFamily="49" charset="0"/>
                          <a:ea typeface="仿宋" pitchFamily="49" charset="-122"/>
                          <a:cs typeface="Consolas" pitchFamily="49" charset="0"/>
                        </a:rPr>
                        <a:t>3</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0"/>
                  </a:ext>
                </a:extLst>
              </a:tr>
              <a:tr h="328615">
                <a:tc>
                  <a:txBody>
                    <a:bodyPr/>
                    <a:lstStyle/>
                    <a:p>
                      <a:pPr algn="ctr">
                        <a:lnSpc>
                          <a:spcPts val="2400"/>
                        </a:lnSpc>
                        <a:spcAft>
                          <a:spcPts val="0"/>
                        </a:spcAft>
                      </a:pPr>
                      <a:r>
                        <a:rPr lang="pt-BR" sz="1600" kern="100">
                          <a:solidFill>
                            <a:schemeClr val="tx1"/>
                          </a:solidFill>
                          <a:latin typeface="Consolas" pitchFamily="49" charset="0"/>
                          <a:ea typeface="仿宋" pitchFamily="49" charset="-122"/>
                          <a:cs typeface="Consolas" pitchFamily="49" charset="0"/>
                        </a:rPr>
                        <a:t>0</a:t>
                      </a:r>
                      <a:endParaRPr lang="zh-CN" sz="16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9</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7</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8</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1"/>
                  </a:ext>
                </a:extLst>
              </a:tr>
              <a:tr h="328615">
                <a:tc>
                  <a:txBody>
                    <a:bodyPr/>
                    <a:lstStyle/>
                    <a:p>
                      <a:pPr algn="ctr">
                        <a:lnSpc>
                          <a:spcPts val="2400"/>
                        </a:lnSpc>
                        <a:spcAft>
                          <a:spcPts val="0"/>
                        </a:spcAft>
                      </a:pPr>
                      <a:r>
                        <a:rPr lang="pt-BR" sz="1600" kern="100">
                          <a:solidFill>
                            <a:schemeClr val="tx1"/>
                          </a:solidFill>
                          <a:latin typeface="Consolas" pitchFamily="49" charset="0"/>
                          <a:ea typeface="仿宋" pitchFamily="49" charset="-122"/>
                          <a:cs typeface="Consolas" pitchFamily="49" charset="0"/>
                        </a:rPr>
                        <a:t>1</a:t>
                      </a:r>
                      <a:endParaRPr lang="zh-CN" sz="16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6</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7</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2"/>
                  </a:ext>
                </a:extLst>
              </a:tr>
              <a:tr h="328615">
                <a:tc>
                  <a:txBody>
                    <a:bodyPr/>
                    <a:lstStyle/>
                    <a:p>
                      <a:pPr algn="ctr">
                        <a:lnSpc>
                          <a:spcPts val="2400"/>
                        </a:lnSpc>
                        <a:spcAft>
                          <a:spcPts val="0"/>
                        </a:spcAft>
                      </a:pPr>
                      <a:r>
                        <a:rPr lang="pt-BR" sz="1600" kern="100">
                          <a:solidFill>
                            <a:schemeClr val="tx1"/>
                          </a:solidFill>
                          <a:latin typeface="Consolas" pitchFamily="49" charset="0"/>
                          <a:ea typeface="仿宋" pitchFamily="49" charset="-122"/>
                          <a:cs typeface="Consolas" pitchFamily="49" charset="0"/>
                        </a:rPr>
                        <a:t>2</a:t>
                      </a:r>
                      <a:endParaRPr lang="zh-CN" sz="16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5</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8</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8</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3"/>
                  </a:ext>
                </a:extLst>
              </a:tr>
              <a:tr h="328615">
                <a:tc>
                  <a:txBody>
                    <a:bodyPr/>
                    <a:lstStyle/>
                    <a:p>
                      <a:pPr algn="ctr">
                        <a:lnSpc>
                          <a:spcPts val="2400"/>
                        </a:lnSpc>
                        <a:spcAft>
                          <a:spcPts val="0"/>
                        </a:spcAft>
                      </a:pPr>
                      <a:r>
                        <a:rPr lang="pt-BR" sz="1600" kern="100">
                          <a:solidFill>
                            <a:schemeClr val="tx1"/>
                          </a:solidFill>
                          <a:latin typeface="Consolas" pitchFamily="49" charset="0"/>
                          <a:ea typeface="仿宋" pitchFamily="49" charset="-122"/>
                          <a:cs typeface="Consolas" pitchFamily="49" charset="0"/>
                        </a:rPr>
                        <a:t>3</a:t>
                      </a:r>
                      <a:endParaRPr lang="zh-CN" sz="1600" kern="100">
                        <a:solidFill>
                          <a:schemeClr val="tx1"/>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7</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6</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9</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algn="ctr">
                        <a:lnSpc>
                          <a:spcPts val="2400"/>
                        </a:lnSpc>
                        <a:spcAft>
                          <a:spcPts val="0"/>
                        </a:spcAft>
                      </a:pPr>
                      <a:r>
                        <a:rPr lang="pt-BR" sz="1600" kern="100">
                          <a:solidFill>
                            <a:srgbClr val="0000FF"/>
                          </a:solidFill>
                          <a:latin typeface="Consolas" pitchFamily="49" charset="0"/>
                          <a:ea typeface="仿宋" pitchFamily="49" charset="-122"/>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extLst>
                  <a:ext uri="{0D108BD9-81ED-4DB2-BD59-A6C34878D82A}">
                    <a16:rowId xmlns:a16="http://schemas.microsoft.com/office/drawing/2014/main" val="10004"/>
                  </a:ext>
                </a:extLst>
              </a:tr>
            </a:tbl>
          </a:graphicData>
        </a:graphic>
      </p:graphicFrame>
      <p:grpSp>
        <p:nvGrpSpPr>
          <p:cNvPr id="55" name="组合 54"/>
          <p:cNvGrpSpPr/>
          <p:nvPr/>
        </p:nvGrpSpPr>
        <p:grpSpPr>
          <a:xfrm>
            <a:off x="508665" y="4301880"/>
            <a:ext cx="2706013" cy="2232693"/>
            <a:chOff x="508665" y="4301880"/>
            <a:chExt cx="2706013" cy="2232693"/>
          </a:xfrm>
        </p:grpSpPr>
        <p:sp>
          <p:nvSpPr>
            <p:cNvPr id="54279" name="AutoShape 7"/>
            <p:cNvSpPr>
              <a:spLocks noChangeShapeType="1"/>
            </p:cNvSpPr>
            <p:nvPr/>
          </p:nvSpPr>
          <p:spPr bwMode="auto">
            <a:xfrm flipH="1">
              <a:off x="1090160" y="5239096"/>
              <a:ext cx="0" cy="583200"/>
            </a:xfrm>
            <a:prstGeom prst="straightConnector1">
              <a:avLst/>
            </a:prstGeom>
            <a:noFill/>
            <a:ln w="38100">
              <a:solidFill>
                <a:srgbClr val="FF00FF"/>
              </a:solidFill>
              <a:round/>
              <a:headEnd/>
              <a:tailEnd type="none" w="sm" len="med"/>
            </a:ln>
          </p:spPr>
          <p:txBody>
            <a:bodyPr vert="horz" wrap="square" lIns="91440" tIns="45720" rIns="91440" bIns="45720" numCol="1" anchor="t" anchorCtr="0" compatLnSpc="1">
              <a:prstTxWarp prst="textNoShape">
                <a:avLst/>
              </a:prstTxWarp>
            </a:bodyPr>
            <a:lstStyle/>
            <a:p>
              <a:endParaRPr lang="zh-CN" altLang="en-US" sz="1500">
                <a:solidFill>
                  <a:srgbClr val="0000FF"/>
                </a:solidFill>
                <a:ea typeface="仿宋" pitchFamily="49" charset="-122"/>
                <a:cs typeface="Times New Roman" pitchFamily="18" charset="0"/>
              </a:endParaRPr>
            </a:p>
          </p:txBody>
        </p:sp>
        <p:sp>
          <p:nvSpPr>
            <p:cNvPr id="54282" name="Rectangle 10"/>
            <p:cNvSpPr>
              <a:spLocks noChangeArrowheads="1"/>
            </p:cNvSpPr>
            <p:nvPr/>
          </p:nvSpPr>
          <p:spPr bwMode="auto">
            <a:xfrm>
              <a:off x="519453" y="4301880"/>
              <a:ext cx="260001" cy="188974"/>
            </a:xfrm>
            <a:prstGeom prst="rect">
              <a:avLst/>
            </a:prstGeom>
            <a:noFill/>
            <a:ln w="9525">
              <a:noFill/>
              <a:miter lim="800000"/>
              <a:headEnd/>
              <a:tailEnd type="none" w="sm" len="med"/>
            </a:ln>
          </p:spPr>
          <p:txBody>
            <a:bodyPr vert="horz" wrap="square" lIns="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0" u="none" strike="noStrike" cap="none" normalizeH="0" baseline="0">
                  <a:ln>
                    <a:noFill/>
                  </a:ln>
                  <a:solidFill>
                    <a:srgbClr val="FF00FF"/>
                  </a:solidFill>
                  <a:effectLst/>
                  <a:ea typeface="仿宋" pitchFamily="49" charset="-122"/>
                  <a:cs typeface="Times New Roman" pitchFamily="18" charset="0"/>
                </a:rPr>
                <a:t>4</a:t>
              </a:r>
            </a:p>
          </p:txBody>
        </p:sp>
        <p:sp>
          <p:nvSpPr>
            <p:cNvPr id="54281" name="Rectangle 9"/>
            <p:cNvSpPr>
              <a:spLocks noChangeArrowheads="1"/>
            </p:cNvSpPr>
            <p:nvPr/>
          </p:nvSpPr>
          <p:spPr bwMode="auto">
            <a:xfrm>
              <a:off x="508665" y="5814573"/>
              <a:ext cx="1161911" cy="720000"/>
            </a:xfrm>
            <a:prstGeom prst="rect">
              <a:avLst/>
            </a:prstGeom>
            <a:solidFill>
              <a:srgbClr val="FF0000"/>
            </a:solidFill>
            <a:ln>
              <a:headEnd/>
              <a:tailEnd type="none" w="sm" len="med"/>
            </a:ln>
          </p:spPr>
          <p:style>
            <a:lnRef idx="1">
              <a:schemeClr val="accent2"/>
            </a:lnRef>
            <a:fillRef idx="2">
              <a:schemeClr val="accent2"/>
            </a:fillRef>
            <a:effectRef idx="1">
              <a:schemeClr val="accent2"/>
            </a:effectRef>
            <a:fontRef idx="minor">
              <a:schemeClr val="dk1"/>
            </a:fontRef>
          </p:style>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chemeClr val="bg1"/>
                  </a:solidFill>
                  <a:effectLst/>
                  <a:latin typeface="Times New Roman" pitchFamily="18" charset="0"/>
                  <a:ea typeface="仿宋" pitchFamily="49" charset="-122"/>
                  <a:cs typeface="Times New Roman" pitchFamily="18" charset="0"/>
                </a:rPr>
                <a:t>i</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=4</a:t>
              </a:r>
              <a:r>
                <a:rPr kumimoji="0" lang="zh-CN" altLang="en-US"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cost=13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lb=13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1" u="none" strike="noStrike" cap="none" normalizeH="0" baseline="0">
                  <a:ln>
                    <a:noFill/>
                  </a:ln>
                  <a:solidFill>
                    <a:schemeClr val="bg1"/>
                  </a:solidFill>
                  <a:effectLst/>
                  <a:latin typeface="Times New Roman" pitchFamily="18" charset="0"/>
                  <a:ea typeface="仿宋" pitchFamily="49" charset="-122"/>
                  <a:cs typeface="Times New Roman" pitchFamily="18" charset="0"/>
                </a:rPr>
                <a:t>x</a:t>
              </a:r>
              <a:r>
                <a:rPr kumimoji="0" lang="en-US" altLang="zh-CN" sz="1500" i="0" u="none" strike="noStrike" cap="none" normalizeH="0" baseline="0">
                  <a:ln>
                    <a:noFill/>
                  </a:ln>
                  <a:solidFill>
                    <a:schemeClr val="bg1"/>
                  </a:solidFill>
                  <a:effectLst/>
                  <a:latin typeface="Times New Roman" pitchFamily="18" charset="0"/>
                  <a:ea typeface="仿宋" pitchFamily="49" charset="-122"/>
                  <a:cs typeface="Times New Roman" pitchFamily="18" charset="0"/>
                </a:rPr>
                <a:t>[]={1,0,2,3}</a:t>
              </a:r>
            </a:p>
          </p:txBody>
        </p:sp>
        <p:sp>
          <p:nvSpPr>
            <p:cNvPr id="54275" name="Rectangle 3"/>
            <p:cNvSpPr>
              <a:spLocks noChangeArrowheads="1"/>
            </p:cNvSpPr>
            <p:nvPr/>
          </p:nvSpPr>
          <p:spPr bwMode="auto">
            <a:xfrm>
              <a:off x="1165679" y="5296244"/>
              <a:ext cx="895438" cy="432000"/>
            </a:xfrm>
            <a:prstGeom prst="rect">
              <a:avLst/>
            </a:prstGeom>
            <a:noFill/>
            <a:ln w="9525">
              <a:noFill/>
              <a:miter lim="800000"/>
              <a:headEnd/>
              <a:tailEnd type="none" w="sm" len="med"/>
            </a:ln>
          </p:spPr>
          <p:txBody>
            <a:bodyPr vert="horz" wrap="square" lIns="36000" tIns="0" rIns="0" bIns="0" numCol="1" anchor="t" anchorCtr="0" compatLnSpc="1">
              <a:prstTxWarp prst="textNoShape">
                <a:avLst/>
              </a:prstTxWarp>
            </a:bodyPr>
            <a:lstStyle/>
            <a:p>
              <a:pPr marL="0" marR="0" lvl="0" algn="l" defTabSz="914400" rtl="0" eaLnBrk="1" fontAlgn="base" latinLnBrk="0" hangingPunct="1">
                <a:lnSpc>
                  <a:spcPct val="100000"/>
                </a:lnSpc>
                <a:spcBef>
                  <a:spcPct val="0"/>
                </a:spcBef>
                <a:spcAft>
                  <a:spcPct val="0"/>
                </a:spcAft>
                <a:buClrTx/>
                <a:buSzTx/>
                <a:buFontTx/>
                <a:buNone/>
                <a:tabLst/>
              </a:pPr>
              <a:r>
                <a:rPr kumimoji="0" lang="en-US" altLang="zh-CN" sz="1500" i="1" u="none" strike="noStrike" cap="none" normalizeH="0" baseline="0">
                  <a:ln>
                    <a:noFill/>
                  </a:ln>
                  <a:solidFill>
                    <a:srgbClr val="0000FF"/>
                  </a:solidFill>
                  <a:effectLst/>
                  <a:ea typeface="仿宋" pitchFamily="49" charset="-122"/>
                  <a:cs typeface="Times New Roman" pitchFamily="18" charset="0"/>
                </a:rPr>
                <a:t>j</a:t>
              </a:r>
              <a:r>
                <a:rPr kumimoji="0" lang="en-US" altLang="zh-CN" sz="1500" i="0" u="none" strike="noStrike" cap="none" normalizeH="0" baseline="0">
                  <a:ln>
                    <a:noFill/>
                  </a:ln>
                  <a:solidFill>
                    <a:srgbClr val="0000FF"/>
                  </a:solidFill>
                  <a:effectLst/>
                  <a:ea typeface="仿宋" pitchFamily="49" charset="-122"/>
                  <a:cs typeface="Times New Roman" pitchFamily="18" charset="0"/>
                </a:rPr>
                <a:t>=3</a:t>
              </a:r>
            </a:p>
            <a:p>
              <a:pPr marL="0" marR="0" lvl="0" algn="l" defTabSz="914400" rtl="0" eaLnBrk="0" fontAlgn="base" latinLnBrk="0" hangingPunct="0">
                <a:lnSpc>
                  <a:spcPct val="100000"/>
                </a:lnSpc>
                <a:spcBef>
                  <a:spcPct val="0"/>
                </a:spcBef>
                <a:spcAft>
                  <a:spcPct val="0"/>
                </a:spcAft>
                <a:buClrTx/>
                <a:buSzTx/>
                <a:buFontTx/>
                <a:buNone/>
                <a:tabLst/>
              </a:pPr>
              <a:r>
                <a:rPr kumimoji="0" lang="en-US" altLang="zh-CN" sz="1500" i="0" u="none" strike="noStrike" cap="none" normalizeH="0" baseline="0">
                  <a:ln>
                    <a:noFill/>
                  </a:ln>
                  <a:solidFill>
                    <a:srgbClr val="0000FF"/>
                  </a:solidFill>
                  <a:effectLst/>
                  <a:ea typeface="仿宋" pitchFamily="49" charset="-122"/>
                  <a:cs typeface="Times New Roman" pitchFamily="18" charset="0"/>
                </a:rPr>
                <a:t>c[3][3]=4</a:t>
              </a:r>
            </a:p>
          </p:txBody>
        </p:sp>
        <p:sp>
          <p:nvSpPr>
            <p:cNvPr id="48" name="TextBox 47"/>
            <p:cNvSpPr txBox="1"/>
            <p:nvPr/>
          </p:nvSpPr>
          <p:spPr>
            <a:xfrm>
              <a:off x="1714480" y="6000768"/>
              <a:ext cx="1500198" cy="369332"/>
            </a:xfrm>
            <a:prstGeom prst="rect">
              <a:avLst/>
            </a:prstGeom>
            <a:noFill/>
          </p:spPr>
          <p:txBody>
            <a:bodyPr wrap="square" rtlCol="0">
              <a:spAutoFit/>
            </a:bodyPr>
            <a:lstStyle/>
            <a:p>
              <a:pPr algn="l">
                <a:lnSpc>
                  <a:spcPct val="100000"/>
                </a:lnSpc>
                <a:spcBef>
                  <a:spcPts val="0"/>
                </a:spcBef>
              </a:pPr>
              <a:r>
                <a:rPr lang="en-US" altLang="zh-CN" sz="1800">
                  <a:solidFill>
                    <a:srgbClr val="FF0000"/>
                  </a:solidFill>
                  <a:latin typeface="Consolas" pitchFamily="49" charset="0"/>
                  <a:ea typeface="楷体" pitchFamily="49" charset="-122"/>
                  <a:cs typeface="Times New Roman" pitchFamily="18" charset="0"/>
                </a:rPr>
                <a:t>bestc=13</a:t>
              </a:r>
              <a:endParaRPr lang="zh-CN" altLang="en-US" sz="1800">
                <a:solidFill>
                  <a:srgbClr val="FF0000"/>
                </a:solidFill>
                <a:latin typeface="Consolas" pitchFamily="49" charset="0"/>
                <a:ea typeface="楷体" pitchFamily="49" charset="-122"/>
                <a:cs typeface="Times New Roman" pitchFamily="18" charset="0"/>
              </a:endParaRPr>
            </a:p>
          </p:txBody>
        </p:sp>
      </p:grpSp>
      <p:sp>
        <p:nvSpPr>
          <p:cNvPr id="49" name="灯片编号占位符 48"/>
          <p:cNvSpPr>
            <a:spLocks noGrp="1"/>
          </p:cNvSpPr>
          <p:nvPr>
            <p:ph type="sldNum" sz="quarter" idx="12"/>
          </p:nvPr>
        </p:nvSpPr>
        <p:spPr/>
        <p:txBody>
          <a:bodyPr/>
          <a:lstStyle/>
          <a:p>
            <a:fld id="{7AF016A1-9F15-429F-9EFD-84004B73C732}" type="slidenum">
              <a:rPr lang="en-US" altLang="zh-CN" smtClean="0"/>
              <a:pPr/>
              <a:t>82</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98"/>
                                        </p:tgtEl>
                                        <p:attrNameLst>
                                          <p:attrName>style.visibility</p:attrName>
                                        </p:attrNameLst>
                                      </p:cBhvr>
                                      <p:to>
                                        <p:strVal val="visible"/>
                                      </p:to>
                                    </p:set>
                                  </p:childTnLst>
                                </p:cTn>
                              </p:par>
                            </p:childTnLst>
                          </p:cTn>
                        </p:par>
                        <p:par>
                          <p:cTn id="23" fill="hold">
                            <p:stCondLst>
                              <p:cond delay="0"/>
                            </p:stCondLst>
                            <p:childTnLst>
                              <p:par>
                                <p:cTn id="24" presetID="26" presetClass="emph" presetSubtype="0" fill="hold" grpId="1" nodeType="afterEffect">
                                  <p:stCondLst>
                                    <p:cond delay="0"/>
                                  </p:stCondLst>
                                  <p:childTnLst>
                                    <p:animEffect transition="out" filter="fade">
                                      <p:cBhvr>
                                        <p:cTn id="25" dur="500" tmFilter="0, 0; .2, .5; .8, .5; 1, 0"/>
                                        <p:tgtEl>
                                          <p:spTgt spid="54298"/>
                                        </p:tgtEl>
                                      </p:cBhvr>
                                    </p:animEffect>
                                    <p:animScale>
                                      <p:cBhvr>
                                        <p:cTn id="26" dur="250" autoRev="1" fill="hold"/>
                                        <p:tgtEl>
                                          <p:spTgt spid="5429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296"/>
                                        </p:tgtEl>
                                        <p:attrNameLst>
                                          <p:attrName>style.visibility</p:attrName>
                                        </p:attrNameLst>
                                      </p:cBhvr>
                                      <p:to>
                                        <p:strVal val="visible"/>
                                      </p:to>
                                    </p:set>
                                  </p:childTnLst>
                                </p:cTn>
                              </p:par>
                            </p:childTnLst>
                          </p:cTn>
                        </p:par>
                        <p:par>
                          <p:cTn id="31" fill="hold">
                            <p:stCondLst>
                              <p:cond delay="0"/>
                            </p:stCondLst>
                            <p:childTnLst>
                              <p:par>
                                <p:cTn id="32" presetID="26" presetClass="emph" presetSubtype="0" fill="hold" grpId="1" nodeType="afterEffect">
                                  <p:stCondLst>
                                    <p:cond delay="0"/>
                                  </p:stCondLst>
                                  <p:childTnLst>
                                    <p:animEffect transition="out" filter="fade">
                                      <p:cBhvr>
                                        <p:cTn id="33" dur="500" tmFilter="0, 0; .2, .5; .8, .5; 1, 0"/>
                                        <p:tgtEl>
                                          <p:spTgt spid="54296"/>
                                        </p:tgtEl>
                                      </p:cBhvr>
                                    </p:animEffect>
                                    <p:animScale>
                                      <p:cBhvr>
                                        <p:cTn id="34" dur="250" autoRev="1" fill="hold"/>
                                        <p:tgtEl>
                                          <p:spTgt spid="54296"/>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312"/>
                                        </p:tgtEl>
                                        <p:attrNameLst>
                                          <p:attrName>style.visibility</p:attrName>
                                        </p:attrNameLst>
                                      </p:cBhvr>
                                      <p:to>
                                        <p:strVal val="visible"/>
                                      </p:to>
                                    </p:set>
                                  </p:childTnLst>
                                </p:cTn>
                              </p:par>
                            </p:childTnLst>
                          </p:cTn>
                        </p:par>
                        <p:par>
                          <p:cTn id="39" fill="hold">
                            <p:stCondLst>
                              <p:cond delay="0"/>
                            </p:stCondLst>
                            <p:childTnLst>
                              <p:par>
                                <p:cTn id="40" presetID="26" presetClass="emph" presetSubtype="0" fill="hold" grpId="1" nodeType="afterEffect">
                                  <p:stCondLst>
                                    <p:cond delay="0"/>
                                  </p:stCondLst>
                                  <p:childTnLst>
                                    <p:animEffect transition="out" filter="fade">
                                      <p:cBhvr>
                                        <p:cTn id="41" dur="500" tmFilter="0, 0; .2, .5; .8, .5; 1, 0"/>
                                        <p:tgtEl>
                                          <p:spTgt spid="54312"/>
                                        </p:tgtEl>
                                      </p:cBhvr>
                                    </p:animEffect>
                                    <p:animScale>
                                      <p:cBhvr>
                                        <p:cTn id="42" dur="250" autoRev="1" fill="hold"/>
                                        <p:tgtEl>
                                          <p:spTgt spid="54312"/>
                                        </p:tgtEl>
                                      </p:cBhvr>
                                      <p:by x="105000" y="105000"/>
                                    </p:animScale>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4306"/>
                                        </p:tgtEl>
                                        <p:attrNameLst>
                                          <p:attrName>style.visibility</p:attrName>
                                        </p:attrNameLst>
                                      </p:cBhvr>
                                      <p:to>
                                        <p:strVal val="visible"/>
                                      </p:to>
                                    </p:set>
                                  </p:childTnLst>
                                </p:cTn>
                              </p:par>
                            </p:childTnLst>
                          </p:cTn>
                        </p:par>
                        <p:par>
                          <p:cTn id="47" fill="hold">
                            <p:stCondLst>
                              <p:cond delay="0"/>
                            </p:stCondLst>
                            <p:childTnLst>
                              <p:par>
                                <p:cTn id="48" presetID="26" presetClass="emph" presetSubtype="0" fill="hold" grpId="1" nodeType="afterEffect">
                                  <p:stCondLst>
                                    <p:cond delay="0"/>
                                  </p:stCondLst>
                                  <p:childTnLst>
                                    <p:animEffect transition="out" filter="fade">
                                      <p:cBhvr>
                                        <p:cTn id="49" dur="500" tmFilter="0, 0; .2, .5; .8, .5; 1, 0"/>
                                        <p:tgtEl>
                                          <p:spTgt spid="54306"/>
                                        </p:tgtEl>
                                      </p:cBhvr>
                                    </p:animEffect>
                                    <p:animScale>
                                      <p:cBhvr>
                                        <p:cTn id="50" dur="250" autoRev="1" fill="hold"/>
                                        <p:tgtEl>
                                          <p:spTgt spid="54306"/>
                                        </p:tgtEl>
                                      </p:cBhvr>
                                      <p:by x="105000" y="105000"/>
                                    </p:animScale>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4308"/>
                                        </p:tgtEl>
                                        <p:attrNameLst>
                                          <p:attrName>style.visibility</p:attrName>
                                        </p:attrNameLst>
                                      </p:cBhvr>
                                      <p:to>
                                        <p:strVal val="visible"/>
                                      </p:to>
                                    </p:set>
                                  </p:childTnLst>
                                </p:cTn>
                              </p:par>
                            </p:childTnLst>
                          </p:cTn>
                        </p:par>
                        <p:par>
                          <p:cTn id="55" fill="hold">
                            <p:stCondLst>
                              <p:cond delay="0"/>
                            </p:stCondLst>
                            <p:childTnLst>
                              <p:par>
                                <p:cTn id="56" presetID="26" presetClass="emph" presetSubtype="0" fill="hold" grpId="1" nodeType="afterEffect">
                                  <p:stCondLst>
                                    <p:cond delay="0"/>
                                  </p:stCondLst>
                                  <p:childTnLst>
                                    <p:animEffect transition="out" filter="fade">
                                      <p:cBhvr>
                                        <p:cTn id="57" dur="500" tmFilter="0, 0; .2, .5; .8, .5; 1, 0"/>
                                        <p:tgtEl>
                                          <p:spTgt spid="54308"/>
                                        </p:tgtEl>
                                      </p:cBhvr>
                                    </p:animEffect>
                                    <p:animScale>
                                      <p:cBhvr>
                                        <p:cTn id="58" dur="250" autoRev="1" fill="hold"/>
                                        <p:tgtEl>
                                          <p:spTgt spid="54308"/>
                                        </p:tgtEl>
                                      </p:cBhvr>
                                      <p:by x="105000" y="105000"/>
                                    </p:animScale>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4283"/>
                                        </p:tgtEl>
                                        <p:attrNameLst>
                                          <p:attrName>style.visibility</p:attrName>
                                        </p:attrNameLst>
                                      </p:cBhvr>
                                      <p:to>
                                        <p:strVal val="visible"/>
                                      </p:to>
                                    </p:set>
                                  </p:childTnLst>
                                </p:cTn>
                              </p:par>
                            </p:childTnLst>
                          </p:cTn>
                        </p:par>
                        <p:par>
                          <p:cTn id="63" fill="hold">
                            <p:stCondLst>
                              <p:cond delay="0"/>
                            </p:stCondLst>
                            <p:childTnLst>
                              <p:par>
                                <p:cTn id="64" presetID="26" presetClass="emph" presetSubtype="0" fill="hold" grpId="1" nodeType="afterEffect">
                                  <p:stCondLst>
                                    <p:cond delay="0"/>
                                  </p:stCondLst>
                                  <p:childTnLst>
                                    <p:animEffect transition="out" filter="fade">
                                      <p:cBhvr>
                                        <p:cTn id="65" dur="500" tmFilter="0, 0; .2, .5; .8, .5; 1, 0"/>
                                        <p:tgtEl>
                                          <p:spTgt spid="54283"/>
                                        </p:tgtEl>
                                      </p:cBhvr>
                                    </p:animEffect>
                                    <p:animScale>
                                      <p:cBhvr>
                                        <p:cTn id="66" dur="250" autoRev="1" fill="hold"/>
                                        <p:tgtEl>
                                          <p:spTgt spid="5428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12" grpId="0"/>
      <p:bldP spid="54312" grpId="1"/>
      <p:bldP spid="54308" grpId="0"/>
      <p:bldP spid="54308" grpId="1"/>
      <p:bldP spid="54306" grpId="0"/>
      <p:bldP spid="54306" grpId="1"/>
      <p:bldP spid="54298" grpId="0"/>
      <p:bldP spid="54298" grpId="1"/>
      <p:bldP spid="54296" grpId="0"/>
      <p:bldP spid="54296" grpId="1"/>
      <p:bldP spid="54283" grpId="0"/>
      <p:bldP spid="54283"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571480"/>
            <a:ext cx="8643998" cy="51467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人员或者任务数</a:t>
            </a:r>
          </a:p>
          <a:p>
            <a:pPr algn="l" defTabSz="360000">
              <a:lnSpc>
                <a:spcPts val="2600"/>
              </a:lnSpc>
              <a:spcBef>
                <a:spcPts val="0"/>
              </a:spcBef>
            </a:pPr>
            <a:r>
              <a:rPr lang="en-US" altLang="zh-CN" sz="2000">
                <a:solidFill>
                  <a:srgbClr val="0000FF"/>
                </a:solidFill>
                <a:latin typeface="Consolas" pitchFamily="49" charset="0"/>
                <a:ea typeface="仿宋" pitchFamily="49" charset="-122"/>
              </a:rPr>
              <a:t>vector&lt;vector&lt;int&gt;&gt; c;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成本数组</a:t>
            </a:r>
          </a:p>
          <a:p>
            <a:pPr algn="l" defTabSz="360000">
              <a:lnSpc>
                <a:spcPts val="2600"/>
              </a:lnSpc>
              <a:spcBef>
                <a:spcPts val="0"/>
              </a:spcBef>
            </a:pPr>
            <a:r>
              <a:rPr lang="en-US" altLang="zh-CN" sz="2000">
                <a:solidFill>
                  <a:srgbClr val="0000FF"/>
                </a:solidFill>
                <a:latin typeface="Consolas" pitchFamily="49" charset="0"/>
                <a:ea typeface="仿宋" pitchFamily="49" charset="-122"/>
              </a:rPr>
              <a:t>vector&lt;int&gt; bestx;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最优分配方案</a:t>
            </a:r>
          </a:p>
          <a:p>
            <a:pPr algn="l" defTabSz="360000">
              <a:lnSpc>
                <a:spcPts val="2600"/>
              </a:lnSpc>
              <a:spcBef>
                <a:spcPts val="0"/>
              </a:spcBef>
            </a:pPr>
            <a:r>
              <a:rPr lang="en-US" altLang="zh-CN" sz="2000">
                <a:solidFill>
                  <a:srgbClr val="0000FF"/>
                </a:solidFill>
                <a:latin typeface="Consolas" pitchFamily="49" charset="0"/>
                <a:ea typeface="仿宋" pitchFamily="49" charset="-122"/>
              </a:rPr>
              <a:t>int bestc=INF;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最小成本</a:t>
            </a:r>
          </a:p>
          <a:p>
            <a:pPr algn="l" defTabSz="360000">
              <a:lnSpc>
                <a:spcPts val="2600"/>
              </a:lnSpc>
              <a:spcBef>
                <a:spcPts val="0"/>
              </a:spcBef>
            </a:pPr>
            <a:r>
              <a:rPr lang="en-US" altLang="zh-CN" sz="2000">
                <a:solidFill>
                  <a:srgbClr val="0000FF"/>
                </a:solidFill>
                <a:latin typeface="Consolas" pitchFamily="49" charset="0"/>
                <a:ea typeface="仿宋" pitchFamily="49" charset="-122"/>
              </a:rPr>
              <a:t>int sum=0;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累计搜索的结点个数</a:t>
            </a:r>
            <a:endParaRPr lang="en-US" altLang="zh-CN" sz="2000">
              <a:solidFill>
                <a:srgbClr val="00B0F0"/>
              </a:solidFill>
              <a:latin typeface="Consolas" pitchFamily="49" charset="0"/>
              <a:ea typeface="仿宋" pitchFamily="49" charset="-122"/>
            </a:endParaRP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(QNode&amp;e,priority_queue&lt;QNode&gt;&amp;pq)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结点</a:t>
            </a:r>
            <a:r>
              <a:rPr lang="en-US" altLang="zh-CN" sz="2000">
                <a:solidFill>
                  <a:srgbClr val="00B050"/>
                </a:solidFill>
                <a:latin typeface="Consolas" pitchFamily="49" charset="0"/>
                <a:ea typeface="仿宋" pitchFamily="49" charset="-122"/>
              </a:rPr>
              <a:t>e</a:t>
            </a:r>
            <a:r>
              <a:rPr lang="zh-CN" altLang="zh-CN" sz="2000">
                <a:solidFill>
                  <a:srgbClr val="00B050"/>
                </a:solidFill>
                <a:latin typeface="Consolas" pitchFamily="49" charset="0"/>
                <a:ea typeface="仿宋" pitchFamily="49" charset="-122"/>
              </a:rPr>
              <a:t>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(e.i==n)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到达叶子结点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e.cost&lt;bestc</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比较更新最优解</a:t>
            </a:r>
          </a:p>
          <a:p>
            <a:pPr algn="l" defTabSz="360000">
              <a:lnSpc>
                <a:spcPts val="2600"/>
              </a:lnSpc>
              <a:spcBef>
                <a:spcPts val="0"/>
              </a:spcBef>
            </a:pPr>
            <a:r>
              <a:rPr lang="en-US" altLang="zh-CN" sz="2000">
                <a:solidFill>
                  <a:srgbClr val="0000FF"/>
                </a:solidFill>
                <a:latin typeface="Consolas" pitchFamily="49" charset="0"/>
                <a:ea typeface="仿宋" pitchFamily="49" charset="-122"/>
              </a:rPr>
              <a:t>			bestc=e.cost;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bestx=e.x;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else pq.push(e);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非叶子结点进队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83</a:t>
            </a:fld>
            <a:r>
              <a:rPr lang="en-US" altLang="zh-CN"/>
              <a:t>/126</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14282" y="635258"/>
            <a:ext cx="8643998" cy="33770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求解任务分配</a:t>
            </a:r>
          </a:p>
          <a:p>
            <a:pPr algn="l" defTabSz="360000">
              <a:lnSpc>
                <a:spcPts val="2800"/>
              </a:lnSpc>
              <a:spcBef>
                <a:spcPts val="0"/>
              </a:spcBef>
            </a:pPr>
            <a:r>
              <a:rPr lang="en-US" altLang="zh-CN" sz="2000">
                <a:solidFill>
                  <a:srgbClr val="0000FF"/>
                </a:solidFill>
                <a:latin typeface="Consolas" pitchFamily="49" charset="0"/>
                <a:ea typeface="仿宋" pitchFamily="49" charset="-122"/>
              </a:rPr>
              <a:t>	QNode e,e1;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priority_queue&lt;QNode&gt; pq;</a:t>
            </a:r>
            <a:endParaRPr lang="zh-CN" altLang="zh-CN" sz="2000">
              <a:solidFill>
                <a:srgbClr val="00660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根结点，指定人员为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e.cost=0;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e.x=vector&lt;int&gt;(n,-1);				</a:t>
            </a:r>
            <a:r>
              <a:rPr lang="en-US" altLang="zh-CN" sz="2000">
                <a:solidFill>
                  <a:srgbClr val="00B0F0"/>
                </a:solidFill>
                <a:latin typeface="Consolas" pitchFamily="49" charset="0"/>
                <a:ea typeface="仿宋" pitchFamily="49" charset="-122"/>
              </a:rPr>
              <a:t>//</a:t>
            </a:r>
            <a:r>
              <a:rPr lang="zh-CN" altLang="en-US" sz="2000">
                <a:solidFill>
                  <a:srgbClr val="00B0F0"/>
                </a:solidFill>
                <a:latin typeface="Consolas" pitchFamily="49" charset="0"/>
                <a:ea typeface="仿宋" pitchFamily="49" charset="-122"/>
              </a:rPr>
              <a:t>初始化为</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e.used.resize(n);						</a:t>
            </a:r>
            <a:r>
              <a:rPr lang="en-US" altLang="zh-CN" sz="2000">
                <a:solidFill>
                  <a:srgbClr val="00B0F0"/>
                </a:solidFill>
                <a:latin typeface="Consolas" pitchFamily="49" charset="0"/>
                <a:ea typeface="仿宋" pitchFamily="49" charset="-122"/>
              </a:rPr>
              <a:t>//</a:t>
            </a:r>
            <a:r>
              <a:rPr lang="zh-CN" altLang="en-US" sz="2000">
                <a:solidFill>
                  <a:srgbClr val="00B0F0"/>
                </a:solidFill>
                <a:latin typeface="Consolas" pitchFamily="49" charset="0"/>
                <a:ea typeface="仿宋" pitchFamily="49" charset="-122"/>
              </a:rPr>
              <a:t>初始化为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求根结点的</a:t>
            </a:r>
            <a:r>
              <a:rPr lang="en-US" altLang="zh-CN" sz="2000">
                <a:solidFill>
                  <a:srgbClr val="00B0F0"/>
                </a:solidFill>
                <a:latin typeface="Consolas" pitchFamily="49" charset="0"/>
                <a:ea typeface="仿宋" pitchFamily="49" charset="-122"/>
              </a:rPr>
              <a:t>lb</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pq.push(e);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根结点进队</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84</a:t>
            </a:fld>
            <a:r>
              <a:rPr lang="en-US" altLang="zh-CN"/>
              <a:t>/126</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142876" y="180281"/>
            <a:ext cx="8929718" cy="57962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	while (!pq.empty())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e=pq.top(); pq.pop();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，为人员</a:t>
            </a:r>
            <a:r>
              <a:rPr lang="en-US" altLang="zh-CN" sz="2000">
                <a:solidFill>
                  <a:srgbClr val="00B0F0"/>
                </a:solidFill>
                <a:latin typeface="Consolas" pitchFamily="49" charset="0"/>
                <a:ea typeface="仿宋" pitchFamily="49" charset="-122"/>
              </a:rPr>
              <a:t>e.i</a:t>
            </a:r>
            <a:r>
              <a:rPr lang="zh-CN" altLang="zh-CN" sz="2000">
                <a:solidFill>
                  <a:srgbClr val="00B0F0"/>
                </a:solidFill>
                <a:latin typeface="Consolas" pitchFamily="49" charset="0"/>
                <a:ea typeface="仿宋" pitchFamily="49" charset="-122"/>
              </a:rPr>
              <a:t>分配任务</a:t>
            </a: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共</a:t>
            </a:r>
            <a:r>
              <a:rPr lang="en-US" altLang="zh-CN" sz="2000">
                <a:solidFill>
                  <a:srgbClr val="00B0F0"/>
                </a:solidFill>
                <a:latin typeface="Consolas" pitchFamily="49" charset="0"/>
                <a:ea typeface="仿宋" pitchFamily="49" charset="-122"/>
              </a:rPr>
              <a:t>n</a:t>
            </a:r>
            <a:r>
              <a:rPr lang="zh-CN" altLang="zh-CN" sz="2000">
                <a:solidFill>
                  <a:srgbClr val="00B0F0"/>
                </a:solidFill>
                <a:latin typeface="Consolas" pitchFamily="49" charset="0"/>
                <a:ea typeface="仿宋" pitchFamily="49" charset="-122"/>
              </a:rPr>
              <a:t>个任务</a:t>
            </a: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e.used[j]</a:t>
            </a:r>
            <a:r>
              <a:rPr lang="en-US" altLang="zh-CN" sz="2000">
                <a:solidFill>
                  <a:srgbClr val="0000FF"/>
                </a:solidFill>
                <a:latin typeface="Consolas" pitchFamily="49" charset="0"/>
                <a:ea typeface="仿宋" pitchFamily="49" charset="-122"/>
              </a:rPr>
              <a:t>) continue;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任务</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已分配时跳过</a:t>
            </a:r>
          </a:p>
          <a:p>
            <a:pPr algn="l" defTabSz="360000">
              <a:lnSpc>
                <a:spcPts val="2600"/>
              </a:lnSpc>
              <a:spcBef>
                <a:spcPts val="0"/>
              </a:spcBef>
            </a:pPr>
            <a:r>
              <a:rPr lang="en-US" altLang="zh-CN" sz="2000">
                <a:solidFill>
                  <a:srgbClr val="0000FF"/>
                </a:solidFill>
                <a:latin typeface="Consolas" pitchFamily="49" charset="0"/>
                <a:ea typeface="仿宋" pitchFamily="49" charset="-122"/>
              </a:rPr>
              <a:t>			e1.i=e.i+1;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子结点</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的层次加</a:t>
            </a:r>
            <a:r>
              <a:rPr lang="en-US" altLang="zh-CN" sz="2000">
                <a:solidFill>
                  <a:srgbClr val="00B0F0"/>
                </a:solidFill>
                <a:latin typeface="Consolas" pitchFamily="49" charset="0"/>
                <a:ea typeface="仿宋" pitchFamily="49" charset="-122"/>
              </a:rPr>
              <a:t>1</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e1.x=e.x;</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e1.x[e.i]=j;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为人员</a:t>
            </a:r>
            <a:r>
              <a:rPr lang="en-US" altLang="zh-CN" sz="2000">
                <a:solidFill>
                  <a:srgbClr val="00B0F0"/>
                </a:solidFill>
                <a:latin typeface="Consolas" pitchFamily="49" charset="0"/>
                <a:ea typeface="仿宋" pitchFamily="49" charset="-122"/>
              </a:rPr>
              <a:t>e.i</a:t>
            </a:r>
            <a:r>
              <a:rPr lang="zh-CN" altLang="zh-CN" sz="2000">
                <a:solidFill>
                  <a:srgbClr val="00B0F0"/>
                </a:solidFill>
                <a:latin typeface="Consolas" pitchFamily="49" charset="0"/>
                <a:ea typeface="仿宋" pitchFamily="49" charset="-122"/>
              </a:rPr>
              <a:t>分配任务</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e1.used=e.used;</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e1.used[j]=1;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标志任务</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已经分配</a:t>
            </a:r>
          </a:p>
          <a:p>
            <a:pPr algn="l" defTabSz="360000">
              <a:lnSpc>
                <a:spcPts val="2600"/>
              </a:lnSpc>
              <a:spcBef>
                <a:spcPts val="0"/>
              </a:spcBef>
            </a:pPr>
            <a:r>
              <a:rPr lang="en-US" altLang="zh-CN" sz="2000">
                <a:solidFill>
                  <a:srgbClr val="0000FF"/>
                </a:solidFill>
                <a:latin typeface="Consolas" pitchFamily="49" charset="0"/>
                <a:ea typeface="仿宋" pitchFamily="49" charset="-122"/>
              </a:rPr>
              <a:t>			e1.cost=e.cost+c[e.i][j];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bound</a:t>
            </a:r>
            <a:r>
              <a:rPr lang="en-US" altLang="zh-CN" sz="2000">
                <a:solidFill>
                  <a:srgbClr val="0000FF"/>
                </a:solidFill>
                <a:latin typeface="Consolas" pitchFamily="49" charset="0"/>
                <a:ea typeface="仿宋" pitchFamily="49" charset="-122"/>
              </a:rPr>
              <a:t>(e1);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的</a:t>
            </a:r>
            <a:r>
              <a:rPr lang="en-US" altLang="zh-CN" sz="2000">
                <a:solidFill>
                  <a:srgbClr val="00B0F0"/>
                </a:solidFill>
                <a:latin typeface="Consolas" pitchFamily="49" charset="0"/>
                <a:ea typeface="仿宋" pitchFamily="49" charset="-122"/>
              </a:rPr>
              <a:t>lb</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e1.lb&lt;bestc</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剪支</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EnQueue</a:t>
            </a:r>
            <a:r>
              <a:rPr lang="en-US" altLang="zh-CN" sz="2000">
                <a:solidFill>
                  <a:srgbClr val="0000FF"/>
                </a:solidFill>
                <a:latin typeface="Consolas" pitchFamily="49" charset="0"/>
                <a:ea typeface="仿宋" pitchFamily="49" charset="-122"/>
              </a:rPr>
              <a:t>(e1,pq);</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85</a:t>
            </a:fld>
            <a:r>
              <a:rPr lang="en-US" altLang="zh-CN"/>
              <a:t>/126</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TextBox 3"/>
          <p:cNvSpPr txBox="1"/>
          <p:nvPr/>
        </p:nvSpPr>
        <p:spPr>
          <a:xfrm>
            <a:off x="285720" y="571480"/>
            <a:ext cx="8643998" cy="324106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allocate</a:t>
            </a:r>
            <a:r>
              <a:rPr lang="en-US" altLang="zh-CN" sz="2000">
                <a:solidFill>
                  <a:srgbClr val="0000FF"/>
                </a:solidFill>
                <a:latin typeface="Consolas" pitchFamily="49" charset="0"/>
                <a:ea typeface="仿宋" pitchFamily="49" charset="-122"/>
              </a:rPr>
              <a:t>(vector&lt;vector&lt;int&gt;&gt;&amp;C)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求解算法</a:t>
            </a:r>
          </a:p>
          <a:p>
            <a:pPr algn="l" defTabSz="360000">
              <a:lnSpc>
                <a:spcPts val="2700"/>
              </a:lnSpc>
              <a:spcBef>
                <a:spcPts val="0"/>
              </a:spcBef>
            </a:pPr>
            <a:r>
              <a:rPr lang="en-US" altLang="zh-CN" sz="2000">
                <a:solidFill>
                  <a:srgbClr val="0000FF"/>
                </a:solidFill>
                <a:latin typeface="Consolas" pitchFamily="49" charset="0"/>
                <a:ea typeface="仿宋" pitchFamily="49" charset="-122"/>
              </a:rPr>
              <a:t>	c=C;</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n=c.size();</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k=0;k&lt;n;k++)</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第</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个人员分配第</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个任务</a:t>
            </a:r>
            <a:r>
              <a:rPr lang="en-US" altLang="zh-CN" sz="2000">
                <a:solidFill>
                  <a:srgbClr val="0000FF"/>
                </a:solidFill>
                <a:latin typeface="Consolas" pitchFamily="49" charset="0"/>
                <a:ea typeface="仿宋" pitchFamily="49" charset="-122"/>
              </a:rPr>
              <a:t>\n",k,bestx[k]);</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总成本</a:t>
            </a:r>
            <a:r>
              <a:rPr lang="en-US" altLang="zh-CN" sz="2000">
                <a:solidFill>
                  <a:srgbClr val="0000FF"/>
                </a:solidFill>
                <a:latin typeface="Consolas" pitchFamily="49" charset="0"/>
                <a:ea typeface="仿宋" pitchFamily="49" charset="-122"/>
              </a:rPr>
              <a:t>=%d\n",bestc);</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printf("sum=%d\n",sum);</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TextBox 4"/>
          <p:cNvSpPr txBox="1"/>
          <p:nvPr/>
        </p:nvSpPr>
        <p:spPr>
          <a:xfrm>
            <a:off x="285720" y="4500570"/>
            <a:ext cx="8429684" cy="964367"/>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bfs</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：算法的解空间是排列树，</a:t>
            </a:r>
            <a:r>
              <a:rPr lang="en-US" altLang="zh-CN" sz="2200">
                <a:solidFill>
                  <a:srgbClr val="0000FF"/>
                </a:solidFill>
                <a:latin typeface="Consolas" pitchFamily="49" charset="0"/>
                <a:ea typeface="仿宋" pitchFamily="49" charset="-122"/>
              </a:rPr>
              <a:t>bound()</a:t>
            </a:r>
            <a:r>
              <a:rPr lang="zh-CN" altLang="en-US" sz="2200">
                <a:solidFill>
                  <a:srgbClr val="0000FF"/>
                </a:solidFill>
                <a:latin typeface="Consolas" pitchFamily="49" charset="0"/>
                <a:ea typeface="仿宋" pitchFamily="49" charset="-122"/>
              </a:rPr>
              <a:t>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en-US" altLang="zh-CN" sz="2200">
                <a:solidFill>
                  <a:srgbClr val="0000FF"/>
                </a:solidFill>
                <a:latin typeface="Consolas" pitchFamily="49" charset="0"/>
                <a:ea typeface="仿宋" pitchFamily="49" charset="-122"/>
              </a:rPr>
              <a:t>)</a:t>
            </a:r>
            <a:r>
              <a:rPr lang="zh-CN" altLang="en-US"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最坏的时间复杂度为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baseline="30000">
                <a:solidFill>
                  <a:srgbClr val="0000FF"/>
                </a:solidFill>
                <a:latin typeface="Consolas" pitchFamily="49" charset="0"/>
                <a:ea typeface="仿宋" pitchFamily="49" charset="-122"/>
              </a:rPr>
              <a:t>2</a:t>
            </a:r>
            <a:r>
              <a:rPr lang="zh-CN" altLang="zh-CN" sz="2200">
                <a:solidFill>
                  <a:srgbClr val="0000FF"/>
                </a:solidFill>
                <a:latin typeface="Consolas" pitchFamily="49" charset="0"/>
                <a:ea typeface="仿宋" pitchFamily="49" charset="-122"/>
              </a:rPr>
              <a:t>×</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a:t>
            </a:r>
            <a:r>
              <a:rPr lang="zh-CN" altLang="zh-CN" sz="2200">
                <a:solidFill>
                  <a:srgbClr val="0000FF"/>
                </a:solidFill>
                <a:latin typeface="Consolas" pitchFamily="49" charset="0"/>
                <a:ea typeface="仿宋" pitchFamily="49" charset="-122"/>
              </a:rPr>
              <a:t>。</a:t>
            </a: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86</a:t>
            </a:fld>
            <a:r>
              <a:rPr lang="en-US" altLang="zh-CN"/>
              <a:t>/126</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428860" y="500042"/>
            <a:ext cx="3929090"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pt-BR"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6.9 </a:t>
            </a:r>
            <a:r>
              <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旅行商</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问题</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357158" y="1428736"/>
            <a:ext cx="8429684" cy="1603104"/>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defTabSz="360000">
              <a:lnSpc>
                <a:spcPts val="3600"/>
              </a:lnSpc>
              <a:spcBef>
                <a:spcPts val="0"/>
              </a:spcBef>
            </a:pPr>
            <a:r>
              <a:rPr lang="en-US" altLang="zh-CN">
                <a:solidFill>
                  <a:srgbClr val="FF0000"/>
                </a:solidFill>
                <a:latin typeface="楷体" pitchFamily="49" charset="-122"/>
                <a:ea typeface="楷体" pitchFamily="49" charset="-122"/>
                <a:sym typeface="Wingdings"/>
              </a:rPr>
              <a:t></a:t>
            </a:r>
            <a:r>
              <a:rPr lang="zh-CN" altLang="zh-CN">
                <a:solidFill>
                  <a:srgbClr val="FF0000"/>
                </a:solidFill>
                <a:latin typeface="楷体" pitchFamily="49" charset="-122"/>
                <a:ea typeface="楷体" pitchFamily="49" charset="-122"/>
              </a:rPr>
              <a:t>问题描述</a:t>
            </a:r>
            <a:r>
              <a:rPr lang="zh-CN" altLang="zh-CN">
                <a:solidFill>
                  <a:srgbClr val="0000FF"/>
                </a:solidFill>
                <a:latin typeface="楷体" pitchFamily="49" charset="-122"/>
                <a:ea typeface="楷体" pitchFamily="49" charset="-122"/>
              </a:rPr>
              <a:t>：</a:t>
            </a:r>
            <a:r>
              <a:rPr lang="zh-CN" altLang="zh-CN">
                <a:solidFill>
                  <a:srgbClr val="0000FF"/>
                </a:solidFill>
                <a:latin typeface="Consolas" pitchFamily="49" charset="0"/>
                <a:ea typeface="仿宋" pitchFamily="49" charset="-122"/>
                <a:cs typeface="Times New Roman" pitchFamily="18" charset="0"/>
              </a:rPr>
              <a:t>假设有一个</a:t>
            </a:r>
            <a:r>
              <a:rPr lang="zh-CN" altLang="en-US">
                <a:solidFill>
                  <a:srgbClr val="0000FF"/>
                </a:solidFill>
                <a:latin typeface="Consolas" pitchFamily="49" charset="0"/>
                <a:ea typeface="仿宋" pitchFamily="49" charset="-122"/>
                <a:cs typeface="Times New Roman" pitchFamily="18" charset="0"/>
              </a:rPr>
              <a:t>旅行商</a:t>
            </a:r>
            <a:r>
              <a:rPr lang="zh-CN" altLang="zh-CN">
                <a:solidFill>
                  <a:srgbClr val="0000FF"/>
                </a:solidFill>
                <a:latin typeface="Consolas" pitchFamily="49" charset="0"/>
                <a:ea typeface="仿宋" pitchFamily="49" charset="-122"/>
                <a:cs typeface="Times New Roman" pitchFamily="18" charset="0"/>
              </a:rPr>
              <a:t>要拜访</a:t>
            </a:r>
            <a:r>
              <a:rPr lang="en-US" altLang="zh-CN" i="1">
                <a:solidFill>
                  <a:srgbClr val="0000FF"/>
                </a:solidFill>
                <a:latin typeface="Consolas" pitchFamily="49" charset="0"/>
                <a:ea typeface="仿宋" pitchFamily="49" charset="-122"/>
                <a:cs typeface="Times New Roman" pitchFamily="18" charset="0"/>
              </a:rPr>
              <a:t>n</a:t>
            </a:r>
            <a:r>
              <a:rPr lang="zh-CN" altLang="zh-CN">
                <a:solidFill>
                  <a:srgbClr val="0000FF"/>
                </a:solidFill>
                <a:latin typeface="Consolas" pitchFamily="49" charset="0"/>
                <a:ea typeface="仿宋" pitchFamily="49" charset="-122"/>
                <a:cs typeface="Times New Roman" pitchFamily="18" charset="0"/>
              </a:rPr>
              <a:t>个城市，他必须选择所要走的路径，路径的限制是每个城市只能拜访一次，而且最后要回到原来出发的城市，要求路径长度最短的路径。</a:t>
            </a:r>
          </a:p>
        </p:txBody>
      </p:sp>
      <p:grpSp>
        <p:nvGrpSpPr>
          <p:cNvPr id="5" name="组合 98"/>
          <p:cNvGrpSpPr/>
          <p:nvPr/>
        </p:nvGrpSpPr>
        <p:grpSpPr>
          <a:xfrm>
            <a:off x="785786" y="3428999"/>
            <a:ext cx="7286676" cy="2432914"/>
            <a:chOff x="1214414" y="3429000"/>
            <a:chExt cx="6286544" cy="2000264"/>
          </a:xfrm>
        </p:grpSpPr>
        <p:sp>
          <p:nvSpPr>
            <p:cNvPr id="6" name="Text Box 29"/>
            <p:cNvSpPr txBox="1">
              <a:spLocks noChangeArrowheads="1"/>
            </p:cNvSpPr>
            <p:nvPr/>
          </p:nvSpPr>
          <p:spPr bwMode="auto">
            <a:xfrm>
              <a:off x="1940597" y="4749139"/>
              <a:ext cx="244951"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7" name="Text Box 28"/>
            <p:cNvSpPr txBox="1">
              <a:spLocks noChangeArrowheads="1"/>
            </p:cNvSpPr>
            <p:nvPr/>
          </p:nvSpPr>
          <p:spPr bwMode="auto">
            <a:xfrm>
              <a:off x="1745503" y="4536871"/>
              <a:ext cx="246035" cy="246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9</a:t>
              </a:r>
            </a:p>
          </p:txBody>
        </p:sp>
        <p:sp>
          <p:nvSpPr>
            <p:cNvPr id="8" name="Text Box 27"/>
            <p:cNvSpPr txBox="1">
              <a:spLocks noChangeArrowheads="1"/>
            </p:cNvSpPr>
            <p:nvPr/>
          </p:nvSpPr>
          <p:spPr bwMode="auto">
            <a:xfrm>
              <a:off x="1774767" y="4223883"/>
              <a:ext cx="247119" cy="244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9" name="Text Box 26"/>
            <p:cNvSpPr txBox="1">
              <a:spLocks noChangeArrowheads="1"/>
            </p:cNvSpPr>
            <p:nvPr/>
          </p:nvSpPr>
          <p:spPr bwMode="auto">
            <a:xfrm>
              <a:off x="2056569" y="3941220"/>
              <a:ext cx="246035" cy="246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36</a:t>
              </a:r>
            </a:p>
          </p:txBody>
        </p:sp>
        <p:sp>
          <p:nvSpPr>
            <p:cNvPr id="10" name="Text Box 25"/>
            <p:cNvSpPr txBox="1">
              <a:spLocks noChangeArrowheads="1"/>
            </p:cNvSpPr>
            <p:nvPr/>
          </p:nvSpPr>
          <p:spPr bwMode="auto">
            <a:xfrm>
              <a:off x="1498384" y="4328934"/>
              <a:ext cx="244951"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1" name="Text Box 24"/>
            <p:cNvSpPr txBox="1">
              <a:spLocks noChangeArrowheads="1"/>
            </p:cNvSpPr>
            <p:nvPr/>
          </p:nvSpPr>
          <p:spPr bwMode="auto">
            <a:xfrm>
              <a:off x="1214414" y="4332183"/>
              <a:ext cx="247119"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12" name="Text Box 23"/>
            <p:cNvSpPr txBox="1">
              <a:spLocks noChangeArrowheads="1"/>
            </p:cNvSpPr>
            <p:nvPr/>
          </p:nvSpPr>
          <p:spPr bwMode="auto">
            <a:xfrm>
              <a:off x="2485776" y="3789599"/>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13" name="Text Box 22"/>
            <p:cNvSpPr txBox="1">
              <a:spLocks noChangeArrowheads="1"/>
            </p:cNvSpPr>
            <p:nvPr/>
          </p:nvSpPr>
          <p:spPr bwMode="auto">
            <a:xfrm>
              <a:off x="2485776" y="3500438"/>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6</a:t>
              </a:r>
            </a:p>
          </p:txBody>
        </p:sp>
        <p:sp>
          <p:nvSpPr>
            <p:cNvPr id="14" name="Oval 21"/>
            <p:cNvSpPr>
              <a:spLocks noChangeArrowheads="1"/>
            </p:cNvSpPr>
            <p:nvPr/>
          </p:nvSpPr>
          <p:spPr bwMode="auto">
            <a:xfrm>
              <a:off x="1318464" y="3652058"/>
              <a:ext cx="368511" cy="368221"/>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0</a:t>
              </a:r>
            </a:p>
          </p:txBody>
        </p:sp>
        <p:sp>
          <p:nvSpPr>
            <p:cNvPr id="15" name="Oval 20"/>
            <p:cNvSpPr>
              <a:spLocks noChangeArrowheads="1"/>
            </p:cNvSpPr>
            <p:nvPr/>
          </p:nvSpPr>
          <p:spPr bwMode="auto">
            <a:xfrm>
              <a:off x="1318464" y="4978735"/>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2</a:t>
              </a:r>
            </a:p>
          </p:txBody>
        </p:sp>
        <p:sp>
          <p:nvSpPr>
            <p:cNvPr id="16" name="Oval 19"/>
            <p:cNvSpPr>
              <a:spLocks noChangeArrowheads="1"/>
            </p:cNvSpPr>
            <p:nvPr/>
          </p:nvSpPr>
          <p:spPr bwMode="auto">
            <a:xfrm>
              <a:off x="3165353" y="3620651"/>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1</a:t>
              </a:r>
            </a:p>
          </p:txBody>
        </p:sp>
        <p:sp>
          <p:nvSpPr>
            <p:cNvPr id="18" name="Oval 18"/>
            <p:cNvSpPr>
              <a:spLocks noChangeArrowheads="1"/>
            </p:cNvSpPr>
            <p:nvPr/>
          </p:nvSpPr>
          <p:spPr bwMode="auto">
            <a:xfrm>
              <a:off x="3165353" y="4947328"/>
              <a:ext cx="368511" cy="368221"/>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3</a:t>
              </a:r>
            </a:p>
          </p:txBody>
        </p:sp>
        <p:sp>
          <p:nvSpPr>
            <p:cNvPr id="19" name="Freeform 17"/>
            <p:cNvSpPr>
              <a:spLocks/>
            </p:cNvSpPr>
            <p:nvPr/>
          </p:nvSpPr>
          <p:spPr bwMode="auto">
            <a:xfrm>
              <a:off x="1704316" y="3836169"/>
              <a:ext cx="1475126" cy="1083"/>
            </a:xfrm>
            <a:custGeom>
              <a:avLst/>
              <a:gdLst/>
              <a:ahLst/>
              <a:cxnLst>
                <a:cxn ang="0">
                  <a:pos x="0" y="0"/>
                </a:cxn>
                <a:cxn ang="0">
                  <a:pos x="1270" y="6"/>
                </a:cxn>
              </a:cxnLst>
              <a:rect l="0" t="0" r="r" b="b"/>
              <a:pathLst>
                <a:path w="1270" h="6">
                  <a:moveTo>
                    <a:pt x="0" y="0"/>
                  </a:moveTo>
                  <a:lnTo>
                    <a:pt x="1270" y="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0" name="Freeform 16"/>
            <p:cNvSpPr>
              <a:spLocks/>
            </p:cNvSpPr>
            <p:nvPr/>
          </p:nvSpPr>
          <p:spPr bwMode="auto">
            <a:xfrm>
              <a:off x="1684807" y="3758192"/>
              <a:ext cx="1475126" cy="1083"/>
            </a:xfrm>
            <a:custGeom>
              <a:avLst/>
              <a:gdLst/>
              <a:ahLst/>
              <a:cxnLst>
                <a:cxn ang="0">
                  <a:pos x="1267" y="14"/>
                </a:cxn>
                <a:cxn ang="0">
                  <a:pos x="0" y="0"/>
                </a:cxn>
              </a:cxnLst>
              <a:rect l="0" t="0" r="r" b="b"/>
              <a:pathLst>
                <a:path w="1267" h="14">
                  <a:moveTo>
                    <a:pt x="1267" y="14"/>
                  </a:moveTo>
                  <a:lnTo>
                    <a:pt x="0"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1" name="Text Box 15"/>
            <p:cNvSpPr txBox="1">
              <a:spLocks noChangeArrowheads="1"/>
            </p:cNvSpPr>
            <p:nvPr/>
          </p:nvSpPr>
          <p:spPr bwMode="auto">
            <a:xfrm>
              <a:off x="2274424" y="5183423"/>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2" name="Text Box 14"/>
            <p:cNvSpPr txBox="1">
              <a:spLocks noChangeArrowheads="1"/>
            </p:cNvSpPr>
            <p:nvPr/>
          </p:nvSpPr>
          <p:spPr bwMode="auto">
            <a:xfrm>
              <a:off x="2274424" y="4855273"/>
              <a:ext cx="246035"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8</a:t>
              </a:r>
            </a:p>
          </p:txBody>
        </p:sp>
        <p:sp>
          <p:nvSpPr>
            <p:cNvPr id="23" name="Freeform 13"/>
            <p:cNvSpPr>
              <a:spLocks/>
            </p:cNvSpPr>
            <p:nvPr/>
          </p:nvSpPr>
          <p:spPr bwMode="auto">
            <a:xfrm>
              <a:off x="1689142" y="5204000"/>
              <a:ext cx="1475126" cy="2166"/>
            </a:xfrm>
            <a:custGeom>
              <a:avLst/>
              <a:gdLst/>
              <a:ahLst/>
              <a:cxnLst>
                <a:cxn ang="0">
                  <a:pos x="0" y="2"/>
                </a:cxn>
                <a:cxn ang="0">
                  <a:pos x="1341" y="0"/>
                </a:cxn>
              </a:cxnLst>
              <a:rect l="0" t="0" r="r" b="b"/>
              <a:pathLst>
                <a:path w="1341" h="2">
                  <a:moveTo>
                    <a:pt x="0" y="2"/>
                  </a:moveTo>
                  <a:lnTo>
                    <a:pt x="1341" y="0"/>
                  </a:lnTo>
                </a:path>
              </a:pathLst>
            </a:cu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4" name="Freeform 12"/>
            <p:cNvSpPr>
              <a:spLocks/>
            </p:cNvSpPr>
            <p:nvPr/>
          </p:nvSpPr>
          <p:spPr bwMode="auto">
            <a:xfrm>
              <a:off x="1679388" y="5118443"/>
              <a:ext cx="1475126" cy="1083"/>
            </a:xfrm>
            <a:custGeom>
              <a:avLst/>
              <a:gdLst/>
              <a:ahLst/>
              <a:cxnLst>
                <a:cxn ang="0">
                  <a:pos x="1344" y="3"/>
                </a:cxn>
                <a:cxn ang="0">
                  <a:pos x="0" y="0"/>
                </a:cxn>
              </a:cxnLst>
              <a:rect l="0" t="0" r="r" b="b"/>
              <a:pathLst>
                <a:path w="1344" h="3">
                  <a:moveTo>
                    <a:pt x="1344" y="3"/>
                  </a:moveTo>
                  <a:lnTo>
                    <a:pt x="0"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5" name="Line 11"/>
            <p:cNvSpPr>
              <a:spLocks noChangeShapeType="1"/>
            </p:cNvSpPr>
            <p:nvPr/>
          </p:nvSpPr>
          <p:spPr bwMode="auto">
            <a:xfrm>
              <a:off x="1442023" y="4023528"/>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6" name="Line 10"/>
            <p:cNvSpPr>
              <a:spLocks noChangeShapeType="1"/>
            </p:cNvSpPr>
            <p:nvPr/>
          </p:nvSpPr>
          <p:spPr bwMode="auto">
            <a:xfrm flipV="1">
              <a:off x="1531983" y="3995370"/>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27" name="Text Box 9"/>
            <p:cNvSpPr txBox="1">
              <a:spLocks noChangeArrowheads="1"/>
            </p:cNvSpPr>
            <p:nvPr/>
          </p:nvSpPr>
          <p:spPr bwMode="auto">
            <a:xfrm>
              <a:off x="3370201" y="4299693"/>
              <a:ext cx="247119" cy="2458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7</a:t>
              </a:r>
            </a:p>
          </p:txBody>
        </p:sp>
        <p:sp>
          <p:nvSpPr>
            <p:cNvPr id="28" name="Text Box 8"/>
            <p:cNvSpPr txBox="1">
              <a:spLocks noChangeArrowheads="1"/>
            </p:cNvSpPr>
            <p:nvPr/>
          </p:nvSpPr>
          <p:spPr bwMode="auto">
            <a:xfrm>
              <a:off x="3068889" y="4304025"/>
              <a:ext cx="244951" cy="2447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rgbClr val="0000FF"/>
                  </a:solidFill>
                  <a:effectLst/>
                  <a:latin typeface="Consolas" pitchFamily="49" charset="0"/>
                  <a:ea typeface="宋体" pitchFamily="2" charset="-122"/>
                  <a:cs typeface="Times New Roman" pitchFamily="18" charset="0"/>
                </a:rPr>
                <a:t>5</a:t>
              </a:r>
            </a:p>
          </p:txBody>
        </p:sp>
        <p:sp>
          <p:nvSpPr>
            <p:cNvPr id="29" name="Line 7"/>
            <p:cNvSpPr>
              <a:spLocks noChangeShapeType="1"/>
            </p:cNvSpPr>
            <p:nvPr/>
          </p:nvSpPr>
          <p:spPr bwMode="auto">
            <a:xfrm>
              <a:off x="3316008" y="3974793"/>
              <a:ext cx="1084" cy="982283"/>
            </a:xfrm>
            <a:prstGeom prst="line">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0" name="Line 6"/>
            <p:cNvSpPr>
              <a:spLocks noChangeShapeType="1"/>
            </p:cNvSpPr>
            <p:nvPr/>
          </p:nvSpPr>
          <p:spPr bwMode="auto">
            <a:xfrm flipV="1">
              <a:off x="3394046" y="3971544"/>
              <a:ext cx="1084" cy="982283"/>
            </a:xfrm>
            <a:prstGeom prst="line">
              <a:avLst/>
            </a:prstGeom>
            <a:noFill/>
            <a:ln w="28575">
              <a:solidFill>
                <a:srgbClr val="FF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1" name="Freeform 5"/>
            <p:cNvSpPr>
              <a:spLocks/>
            </p:cNvSpPr>
            <p:nvPr/>
          </p:nvSpPr>
          <p:spPr bwMode="auto">
            <a:xfrm>
              <a:off x="1669633" y="3919560"/>
              <a:ext cx="1549912" cy="1066757"/>
            </a:xfrm>
            <a:custGeom>
              <a:avLst/>
              <a:gdLst/>
              <a:ahLst/>
              <a:cxnLst>
                <a:cxn ang="0">
                  <a:pos x="0" y="0"/>
                </a:cxn>
                <a:cxn ang="0">
                  <a:pos x="1430" y="985"/>
                </a:cxn>
              </a:cxnLst>
              <a:rect l="0" t="0" r="r" b="b"/>
              <a:pathLst>
                <a:path w="1430" h="985">
                  <a:moveTo>
                    <a:pt x="0" y="0"/>
                  </a:moveTo>
                  <a:lnTo>
                    <a:pt x="1430" y="985"/>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2" name="Freeform 4"/>
            <p:cNvSpPr>
              <a:spLocks/>
            </p:cNvSpPr>
            <p:nvPr/>
          </p:nvSpPr>
          <p:spPr bwMode="auto">
            <a:xfrm>
              <a:off x="1581841" y="3997536"/>
              <a:ext cx="1585680" cy="1060259"/>
            </a:xfrm>
            <a:custGeom>
              <a:avLst/>
              <a:gdLst/>
              <a:ahLst/>
              <a:cxnLst>
                <a:cxn ang="0">
                  <a:pos x="1463" y="979"/>
                </a:cxn>
                <a:cxn ang="0">
                  <a:pos x="0" y="0"/>
                </a:cxn>
              </a:cxnLst>
              <a:rect l="0" t="0" r="r" b="b"/>
              <a:pathLst>
                <a:path w="1463" h="979">
                  <a:moveTo>
                    <a:pt x="1463" y="979"/>
                  </a:moveTo>
                  <a:lnTo>
                    <a:pt x="0" y="0"/>
                  </a:lnTo>
                </a:path>
              </a:pathLst>
            </a:custGeom>
            <a:noFill/>
            <a:ln w="19050">
              <a:solidFill>
                <a:srgbClr val="000000"/>
              </a:solidFill>
              <a:round/>
              <a:headEn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3" name="Freeform 3"/>
            <p:cNvSpPr>
              <a:spLocks/>
            </p:cNvSpPr>
            <p:nvPr/>
          </p:nvSpPr>
          <p:spPr bwMode="auto">
            <a:xfrm>
              <a:off x="1564499" y="3907647"/>
              <a:ext cx="1629034" cy="1080836"/>
            </a:xfrm>
            <a:custGeom>
              <a:avLst/>
              <a:gdLst/>
              <a:ahLst/>
              <a:cxnLst>
                <a:cxn ang="0">
                  <a:pos x="0" y="998"/>
                </a:cxn>
                <a:cxn ang="0">
                  <a:pos x="1503" y="0"/>
                </a:cxn>
              </a:cxnLst>
              <a:rect l="0" t="0" r="r" b="b"/>
              <a:pathLst>
                <a:path w="1503" h="998">
                  <a:moveTo>
                    <a:pt x="0" y="998"/>
                  </a:moveTo>
                  <a:lnTo>
                    <a:pt x="1503" y="0"/>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4" name="Freeform 2"/>
            <p:cNvSpPr>
              <a:spLocks/>
            </p:cNvSpPr>
            <p:nvPr/>
          </p:nvSpPr>
          <p:spPr bwMode="auto">
            <a:xfrm>
              <a:off x="1633866" y="3959631"/>
              <a:ext cx="1611692" cy="1067840"/>
            </a:xfrm>
            <a:custGeom>
              <a:avLst/>
              <a:gdLst/>
              <a:ahLst/>
              <a:cxnLst>
                <a:cxn ang="0">
                  <a:pos x="1487" y="0"/>
                </a:cxn>
                <a:cxn ang="0">
                  <a:pos x="0" y="986"/>
                </a:cxn>
              </a:cxnLst>
              <a:rect l="0" t="0" r="r" b="b"/>
              <a:pathLst>
                <a:path w="1487" h="986">
                  <a:moveTo>
                    <a:pt x="1487" y="0"/>
                  </a:moveTo>
                  <a:lnTo>
                    <a:pt x="0" y="986"/>
                  </a:lnTo>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cs typeface="Times New Roman" pitchFamily="18" charset="0"/>
              </a:endParaRPr>
            </a:p>
          </p:txBody>
        </p:sp>
        <p:sp>
          <p:nvSpPr>
            <p:cNvPr id="35" name="TextBox 34"/>
            <p:cNvSpPr txBox="1"/>
            <p:nvPr/>
          </p:nvSpPr>
          <p:spPr>
            <a:xfrm>
              <a:off x="4214810" y="3429000"/>
              <a:ext cx="3286148" cy="1923134"/>
            </a:xfrm>
            <a:prstGeom prst="rect">
              <a:avLst/>
            </a:prstGeom>
            <a:noFill/>
          </p:spPr>
          <p:txBody>
            <a:bodyPr wrap="square" rtlCol="0">
              <a:spAutoFit/>
            </a:bodyPr>
            <a:lstStyle/>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28</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29</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26</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a:solidFill>
                    <a:srgbClr val="FF3300"/>
                  </a:solidFill>
                  <a:latin typeface="Consolas" pitchFamily="49" charset="0"/>
                  <a:ea typeface="仿宋" pitchFamily="49" charset="-122"/>
                  <a:cs typeface="Times New Roman" pitchFamily="18" charset="0"/>
                </a:rPr>
                <a:t>路径</a:t>
              </a:r>
              <a:r>
                <a:rPr lang="en-US" altLang="zh-CN" sz="2000">
                  <a:solidFill>
                    <a:srgbClr val="FF3300"/>
                  </a:solidFill>
                  <a:latin typeface="Consolas" pitchFamily="49" charset="0"/>
                  <a:ea typeface="仿宋" pitchFamily="49" charset="-122"/>
                  <a:cs typeface="Times New Roman" pitchFamily="18" charset="0"/>
                </a:rPr>
                <a:t>4</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0</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2</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3</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1</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0</a:t>
              </a:r>
              <a:r>
                <a:rPr lang="zh-CN" altLang="zh-CN" sz="2000">
                  <a:solidFill>
                    <a:srgbClr val="FF3300"/>
                  </a:solidFill>
                  <a:latin typeface="Consolas" pitchFamily="49" charset="0"/>
                  <a:ea typeface="仿宋" pitchFamily="49" charset="-122"/>
                  <a:cs typeface="Times New Roman" pitchFamily="18" charset="0"/>
                </a:rPr>
                <a:t>：</a:t>
              </a:r>
              <a:r>
                <a:rPr lang="en-US" altLang="zh-CN" sz="2000">
                  <a:solidFill>
                    <a:srgbClr val="FF3300"/>
                  </a:solidFill>
                  <a:latin typeface="Consolas" pitchFamily="49" charset="0"/>
                  <a:ea typeface="仿宋" pitchFamily="49" charset="-122"/>
                  <a:cs typeface="Times New Roman" pitchFamily="18" charset="0"/>
                </a:rPr>
                <a:t>23</a:t>
              </a:r>
              <a:endParaRPr lang="zh-CN" altLang="zh-CN" sz="2000">
                <a:solidFill>
                  <a:srgbClr val="FF3300"/>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5</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59</a:t>
              </a:r>
              <a:endParaRPr lang="zh-CN" altLang="zh-CN" sz="2000" b="0">
                <a:solidFill>
                  <a:srgbClr val="0000FF"/>
                </a:solidFill>
                <a:latin typeface="Consolas" pitchFamily="49" charset="0"/>
                <a:ea typeface="仿宋" pitchFamily="49" charset="-122"/>
                <a:cs typeface="Times New Roman" pitchFamily="18" charset="0"/>
              </a:endParaRPr>
            </a:p>
            <a:p>
              <a:pPr algn="l"/>
              <a:r>
                <a:rPr lang="zh-CN" altLang="zh-CN" sz="2000" b="0">
                  <a:solidFill>
                    <a:srgbClr val="0000FF"/>
                  </a:solidFill>
                  <a:latin typeface="Consolas" pitchFamily="49" charset="0"/>
                  <a:ea typeface="仿宋" pitchFamily="49" charset="-122"/>
                  <a:cs typeface="Times New Roman" pitchFamily="18" charset="0"/>
                </a:rPr>
                <a:t>路径</a:t>
              </a:r>
              <a:r>
                <a:rPr lang="en-US" altLang="zh-CN" sz="2000" b="0">
                  <a:solidFill>
                    <a:srgbClr val="0000FF"/>
                  </a:solidFill>
                  <a:latin typeface="Consolas" pitchFamily="49" charset="0"/>
                  <a:ea typeface="仿宋" pitchFamily="49" charset="-122"/>
                  <a:cs typeface="Times New Roman" pitchFamily="18" charset="0"/>
                </a:rPr>
                <a:t>6</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3</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1</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2</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0</a:t>
              </a:r>
              <a:r>
                <a:rPr lang="zh-CN" altLang="zh-CN" sz="2000" b="0">
                  <a:solidFill>
                    <a:srgbClr val="0000FF"/>
                  </a:solidFill>
                  <a:latin typeface="Consolas" pitchFamily="49" charset="0"/>
                  <a:ea typeface="仿宋" pitchFamily="49" charset="-122"/>
                  <a:cs typeface="Times New Roman" pitchFamily="18" charset="0"/>
                </a:rPr>
                <a:t>：</a:t>
              </a:r>
              <a:r>
                <a:rPr lang="en-US" altLang="zh-CN" sz="2000" b="0">
                  <a:solidFill>
                    <a:srgbClr val="0000FF"/>
                  </a:solidFill>
                  <a:latin typeface="Consolas" pitchFamily="49" charset="0"/>
                  <a:ea typeface="仿宋" pitchFamily="49" charset="-122"/>
                  <a:cs typeface="Times New Roman" pitchFamily="18" charset="0"/>
                </a:rPr>
                <a:t>59</a:t>
              </a:r>
              <a:endParaRPr lang="zh-CN" altLang="zh-CN" sz="2000" b="0">
                <a:solidFill>
                  <a:srgbClr val="0000FF"/>
                </a:solidFill>
                <a:latin typeface="Consolas" pitchFamily="49" charset="0"/>
                <a:ea typeface="仿宋" pitchFamily="49" charset="-122"/>
                <a:cs typeface="Times New Roman" pitchFamily="18" charset="0"/>
              </a:endParaRP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pPr/>
              <a:t>87</a:t>
            </a:fld>
            <a:r>
              <a:rPr lang="en-US" altLang="zh-CN"/>
              <a:t>/126</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1000100" y="500042"/>
            <a:ext cx="800105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rPr>
              <a:t>采用邻接矩阵</a:t>
            </a:r>
            <a:r>
              <a:rPr lang="pt-BR"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存储</a:t>
            </a:r>
            <a:r>
              <a:rPr lang="zh-CN" altLang="en-US">
                <a:solidFill>
                  <a:srgbClr val="0000FF"/>
                </a:solidFill>
                <a:latin typeface="Consolas" pitchFamily="49" charset="0"/>
                <a:ea typeface="仿宋" pitchFamily="49" charset="-122"/>
              </a:rPr>
              <a:t>图。</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2"/>
              </a:buBlip>
            </a:pPr>
            <a:r>
              <a:rPr lang="zh-CN" altLang="zh-CN">
                <a:solidFill>
                  <a:srgbClr val="0000FF"/>
                </a:solidFill>
                <a:latin typeface="Consolas" pitchFamily="49" charset="0"/>
                <a:ea typeface="仿宋" pitchFamily="49" charset="-122"/>
              </a:rPr>
              <a:t>起始点为</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，设</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路径即解向量</a:t>
            </a:r>
            <a:r>
              <a:rPr lang="en-US" altLang="zh-CN" i="1">
                <a:solidFill>
                  <a:srgbClr val="0000FF"/>
                </a:solidFill>
                <a:latin typeface="Consolas" pitchFamily="49" charset="0"/>
                <a:ea typeface="仿宋" pitchFamily="49" charset="-122"/>
              </a:rPr>
              <a:t>x</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zh-CN" altLang="zh-CN">
                <a:solidFill>
                  <a:srgbClr val="0000FF"/>
                </a:solidFill>
                <a:latin typeface="+mn-ea"/>
              </a:rPr>
              <a:t>…</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x</a:t>
            </a:r>
            <a:r>
              <a:rPr lang="en-US" altLang="zh-CN" i="1" baseline="-25000">
                <a:solidFill>
                  <a:srgbClr val="0000FF"/>
                </a:solidFill>
                <a:latin typeface="Consolas" pitchFamily="49" charset="0"/>
                <a:ea typeface="仿宋" pitchFamily="49" charset="-122"/>
              </a:rPr>
              <a:t>n</a:t>
            </a:r>
            <a:r>
              <a:rPr lang="en-US" altLang="zh-CN" baseline="-25000">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s</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，采用</a:t>
            </a:r>
            <a:r>
              <a:rPr lang="zh-CN" altLang="zh-CN">
                <a:solidFill>
                  <a:srgbClr val="FF0000"/>
                </a:solidFill>
                <a:latin typeface="Consolas" pitchFamily="49" charset="0"/>
                <a:ea typeface="仿宋" pitchFamily="49" charset="-122"/>
              </a:rPr>
              <a:t>优先队列式分支限界法</a:t>
            </a:r>
            <a:r>
              <a:rPr lang="zh-CN" altLang="zh-CN">
                <a:solidFill>
                  <a:srgbClr val="0000FF"/>
                </a:solidFill>
                <a:latin typeface="Consolas" pitchFamily="49" charset="0"/>
                <a:ea typeface="仿宋" pitchFamily="49" charset="-122"/>
              </a:rPr>
              <a:t>求解，设计优先队列中结点类型如下：</a:t>
            </a:r>
            <a:endParaRPr lang="en-US" altLang="zh-CN">
              <a:solidFill>
                <a:srgbClr val="0000FF"/>
              </a:solidFill>
              <a:latin typeface="Consolas" pitchFamily="49" charset="0"/>
              <a:ea typeface="仿宋" pitchFamily="49" charset="-122"/>
              <a:cs typeface="Consolas" pitchFamily="49" charset="0"/>
            </a:endParaRPr>
          </a:p>
        </p:txBody>
      </p:sp>
      <p:sp>
        <p:nvSpPr>
          <p:cNvPr id="14" name="TextBox 13"/>
          <p:cNvSpPr txBox="1"/>
          <p:nvPr/>
        </p:nvSpPr>
        <p:spPr>
          <a:xfrm>
            <a:off x="285720" y="2786058"/>
            <a:ext cx="8643998" cy="35309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优先队列的结点类型</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解空间的层次</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当前顶点</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vector&lt;int&gt; used;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用于路径中顶点判重</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int length;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当前路径长度</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vector&lt;int&gt; path;</a:t>
            </a:r>
          </a:p>
          <a:p>
            <a:pPr algn="l" defTabSz="360000">
              <a:lnSpc>
                <a:spcPct val="100000"/>
              </a:lnSpc>
              <a:spcBef>
                <a:spcPts val="0"/>
              </a:spcBef>
            </a:pP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QNode&amp;b) const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length&gt;b.length;				</a:t>
            </a:r>
            <a:r>
              <a:rPr lang="en-US" altLang="zh-CN" sz="2000">
                <a:solidFill>
                  <a:srgbClr val="00B0F0"/>
                </a:solidFill>
                <a:latin typeface="Consolas" pitchFamily="49" charset="0"/>
                <a:ea typeface="仿宋" pitchFamily="49" charset="-122"/>
              </a:rPr>
              <a:t>//length</a:t>
            </a:r>
            <a:r>
              <a:rPr lang="zh-CN" altLang="zh-CN" sz="2000">
                <a:solidFill>
                  <a:srgbClr val="00B0F0"/>
                </a:solidFill>
                <a:latin typeface="Consolas" pitchFamily="49" charset="0"/>
                <a:ea typeface="仿宋" pitchFamily="49" charset="-122"/>
              </a:rPr>
              <a:t>越小越优先出队</a:t>
            </a: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88</a:t>
            </a:fld>
            <a:r>
              <a:rPr lang="en-US" altLang="zh-CN"/>
              <a:t>/126</a:t>
            </a:r>
          </a:p>
        </p:txBody>
      </p:sp>
      <p:pic>
        <p:nvPicPr>
          <p:cNvPr id="7" name="Picture 4"/>
          <p:cNvPicPr>
            <a:picLocks noChangeAspect="1" noChangeArrowheads="1"/>
          </p:cNvPicPr>
          <p:nvPr/>
        </p:nvPicPr>
        <p:blipFill>
          <a:blip r:embed="rId3" cstate="print"/>
          <a:srcRect/>
          <a:stretch>
            <a:fillRect/>
          </a:stretch>
        </p:blipFill>
        <p:spPr bwMode="auto">
          <a:xfrm>
            <a:off x="285720" y="107154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TextBox 4"/>
          <p:cNvSpPr txBox="1"/>
          <p:nvPr/>
        </p:nvSpPr>
        <p:spPr>
          <a:xfrm>
            <a:off x="357158" y="500042"/>
            <a:ext cx="8572560" cy="249299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2"/>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used</a:t>
            </a:r>
            <a:r>
              <a:rPr lang="zh-CN" altLang="zh-CN">
                <a:solidFill>
                  <a:srgbClr val="0000FF"/>
                </a:solidFill>
                <a:latin typeface="Consolas" pitchFamily="49" charset="0"/>
                <a:ea typeface="仿宋" pitchFamily="49" charset="-122"/>
              </a:rPr>
              <a:t>数组表示路径上经过了哪些顶点时，其空间为</a:t>
            </a:r>
            <a:r>
              <a:rPr lang="en-US" altLang="zh-CN">
                <a:solidFill>
                  <a:srgbClr val="0000FF"/>
                </a:solidFill>
                <a:latin typeface="Consolas" pitchFamily="49" charset="0"/>
                <a:ea typeface="仿宋" pitchFamily="49" charset="-122"/>
              </a:rPr>
              <a:t>O(</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，当队列中结点个数较多时需要消耗大量的空间，为此可以采用</a:t>
            </a:r>
            <a:r>
              <a:rPr lang="zh-CN" altLang="zh-CN">
                <a:solidFill>
                  <a:srgbClr val="FF0000"/>
                </a:solidFill>
                <a:latin typeface="Consolas" pitchFamily="49" charset="0"/>
                <a:ea typeface="仿宋" pitchFamily="49" charset="-122"/>
              </a:rPr>
              <a:t>状态压缩</a:t>
            </a:r>
            <a:r>
              <a:rPr lang="zh-CN" altLang="zh-CN">
                <a:solidFill>
                  <a:srgbClr val="0000FF"/>
                </a:solidFill>
                <a:latin typeface="Consolas" pitchFamily="49" charset="0"/>
                <a:ea typeface="仿宋" pitchFamily="49" charset="-122"/>
              </a:rPr>
              <a:t>方式。</a:t>
            </a:r>
          </a:p>
          <a:p>
            <a:pPr marL="457200" indent="-457200" algn="l">
              <a:lnSpc>
                <a:spcPct val="100000"/>
              </a:lnSpc>
              <a:buBlip>
                <a:blip r:embed="rId2"/>
              </a:buBlip>
            </a:pPr>
            <a:r>
              <a:rPr lang="zh-CN" altLang="zh-CN">
                <a:solidFill>
                  <a:srgbClr val="0000FF"/>
                </a:solidFill>
                <a:latin typeface="Consolas" pitchFamily="49" charset="0"/>
                <a:ea typeface="仿宋" pitchFamily="49" charset="-122"/>
              </a:rPr>
              <a:t>假设</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个顶点的编号是</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used</a:t>
            </a:r>
            <a:r>
              <a:rPr lang="zh-CN" altLang="zh-CN">
                <a:solidFill>
                  <a:srgbClr val="0000FF"/>
                </a:solidFill>
                <a:latin typeface="Consolas" pitchFamily="49" charset="0"/>
                <a:ea typeface="仿宋" pitchFamily="49" charset="-122"/>
              </a:rPr>
              <a:t>数组元素为</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或者</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used[</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表示路径上包含顶点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，否则表示路径上不包含顶点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642910" y="3286124"/>
            <a:ext cx="7929618" cy="246200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(int used,int 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判断顶点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是否在</a:t>
            </a:r>
            <a:r>
              <a:rPr lang="en-US" altLang="zh-CN" sz="2000">
                <a:solidFill>
                  <a:srgbClr val="00B0F0"/>
                </a:solidFill>
                <a:latin typeface="Consolas" pitchFamily="49" charset="0"/>
                <a:ea typeface="仿宋" pitchFamily="49" charset="-122"/>
              </a:rPr>
              <a:t>used</a:t>
            </a:r>
            <a:r>
              <a:rPr lang="zh-CN" altLang="zh-CN" sz="2000">
                <a:solidFill>
                  <a:srgbClr val="00B0F0"/>
                </a:solidFill>
                <a:latin typeface="Consolas" pitchFamily="49" charset="0"/>
                <a:ea typeface="仿宋" pitchFamily="49" charset="-122"/>
              </a:rPr>
              <a:t>中</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(used&amp;(1&lt;&lt;j))!=0;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addj</a:t>
            </a:r>
            <a:r>
              <a:rPr lang="en-US" altLang="zh-CN" sz="2000">
                <a:solidFill>
                  <a:srgbClr val="0000FF"/>
                </a:solidFill>
                <a:latin typeface="Consolas" pitchFamily="49" charset="0"/>
                <a:ea typeface="仿宋" pitchFamily="49" charset="-122"/>
              </a:rPr>
              <a:t>(int used,int 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在</a:t>
            </a:r>
            <a:r>
              <a:rPr lang="en-US" altLang="zh-CN" sz="2000">
                <a:solidFill>
                  <a:srgbClr val="00B0F0"/>
                </a:solidFill>
                <a:latin typeface="Consolas" pitchFamily="49" charset="0"/>
                <a:ea typeface="仿宋" pitchFamily="49" charset="-122"/>
              </a:rPr>
              <a:t>used</a:t>
            </a:r>
            <a:r>
              <a:rPr lang="zh-CN" altLang="zh-CN" sz="2000">
                <a:solidFill>
                  <a:srgbClr val="00B0F0"/>
                </a:solidFill>
                <a:latin typeface="Consolas" pitchFamily="49" charset="0"/>
                <a:ea typeface="仿宋" pitchFamily="49" charset="-122"/>
              </a:rPr>
              <a:t>中添加顶点</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used | (1&lt;&lt;j);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89</a:t>
            </a:fld>
            <a:r>
              <a:rPr lang="en-US" altLang="zh-CN"/>
              <a:t>/126</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357158" y="571480"/>
            <a:ext cx="8429684" cy="409520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(vector&lt;vector&lt;int&gt;&gt;&amp;A,int n,int s) {</a:t>
            </a:r>
          </a:p>
          <a:p>
            <a:pPr algn="l" defTabSz="360000">
              <a:lnSpc>
                <a:spcPts val="28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状态压缩的分支限界法算法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QNode e,e1;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priority_queue&lt;QNode&gt; qu;</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e.vno=s;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起始顶点为</a:t>
            </a:r>
            <a:r>
              <a:rPr lang="en-US" altLang="zh-CN" sz="2000">
                <a:solidFill>
                  <a:srgbClr val="00B0F0"/>
                </a:solidFill>
                <a:latin typeface="Consolas" pitchFamily="49" charset="0"/>
                <a:ea typeface="仿宋" pitchFamily="49" charset="-122"/>
              </a:rPr>
              <a:t>s</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e.path.push_back(s);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起点添加到</a:t>
            </a:r>
            <a:r>
              <a:rPr lang="en-US" altLang="zh-CN" sz="2000">
                <a:solidFill>
                  <a:srgbClr val="00B0F0"/>
                </a:solidFill>
                <a:latin typeface="Consolas" pitchFamily="49" charset="0"/>
                <a:ea typeface="仿宋" pitchFamily="49" charset="-122"/>
              </a:rPr>
              <a:t>path</a:t>
            </a:r>
            <a:r>
              <a:rPr lang="zh-CN" altLang="zh-CN" sz="2000">
                <a:solidFill>
                  <a:srgbClr val="00B0F0"/>
                </a:solidFill>
                <a:latin typeface="Consolas" pitchFamily="49" charset="0"/>
                <a:ea typeface="仿宋" pitchFamily="49" charset="-122"/>
              </a:rPr>
              <a:t>中</a:t>
            </a:r>
          </a:p>
          <a:p>
            <a:pPr algn="l" defTabSz="360000">
              <a:lnSpc>
                <a:spcPts val="2800"/>
              </a:lnSpc>
              <a:spcBef>
                <a:spcPts val="0"/>
              </a:spcBef>
            </a:pPr>
            <a:r>
              <a:rPr lang="en-US" altLang="zh-CN" sz="2000">
                <a:solidFill>
                  <a:srgbClr val="0000FF"/>
                </a:solidFill>
                <a:latin typeface="Consolas" pitchFamily="49" charset="0"/>
                <a:ea typeface="仿宋" pitchFamily="49" charset="-122"/>
              </a:rPr>
              <a:t>	e.length=0;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e.used=0;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e.used=addj(e.used,s);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表示顶点</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已经访问</a:t>
            </a: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qu.push(e);</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90</a:t>
            </a:fld>
            <a:r>
              <a:rPr lang="en-US" altLang="zh-CN"/>
              <a:t>/126</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285720" y="571480"/>
            <a:ext cx="8715436" cy="39578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while(</a:t>
            </a:r>
            <a:r>
              <a:rPr lang="en-US" altLang="zh-CN" sz="2000">
                <a:solidFill>
                  <a:srgbClr val="FF00FF"/>
                </a:solidFill>
                <a:latin typeface="Consolas" pitchFamily="49" charset="0"/>
                <a:ea typeface="仿宋" pitchFamily="49" charset="-122"/>
              </a:rPr>
              <a:t>!qu.empty()</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e=qu.top();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出队一个结点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扩展下一层</a:t>
            </a: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试探</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的顶点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(e.used,j))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出现时跳过</a:t>
            </a:r>
          </a:p>
          <a:p>
            <a:pPr algn="l" defTabSz="360000">
              <a:lnSpc>
                <a:spcPts val="3000"/>
              </a:lnSpc>
              <a:spcBef>
                <a:spcPts val="0"/>
              </a:spcBef>
            </a:pPr>
            <a:r>
              <a:rPr lang="en-US" altLang="zh-CN" sz="2000">
                <a:solidFill>
                  <a:srgbClr val="0000FF"/>
                </a:solidFill>
                <a:latin typeface="Consolas" pitchFamily="49" charset="0"/>
                <a:ea typeface="仿宋" pitchFamily="49" charset="-122"/>
              </a:rPr>
              <a:t>			continue;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e1.vno=j;											</a:t>
            </a:r>
            <a:r>
              <a:rPr lang="en-US" altLang="zh-CN" sz="2000">
                <a:solidFill>
                  <a:srgbClr val="00B0F0"/>
                </a:solidFill>
                <a:latin typeface="Consolas" pitchFamily="49" charset="0"/>
                <a:ea typeface="仿宋" pitchFamily="49" charset="-122"/>
              </a:rPr>
              <a:t>//e1.i</a:t>
            </a:r>
            <a:r>
              <a:rPr lang="zh-CN" altLang="zh-CN" sz="2000">
                <a:solidFill>
                  <a:srgbClr val="00B0F0"/>
                </a:solidFill>
                <a:latin typeface="Consolas" pitchFamily="49" charset="0"/>
                <a:ea typeface="仿宋" pitchFamily="49" charset="-122"/>
              </a:rPr>
              <a:t>层选择顶点</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e1.path=e.path; e1.path.push_back(j);</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e1.used=</a:t>
            </a:r>
            <a:r>
              <a:rPr lang="en-US" altLang="zh-CN" sz="2000">
                <a:solidFill>
                  <a:srgbClr val="FF0000"/>
                </a:solidFill>
                <a:latin typeface="Consolas" pitchFamily="49" charset="0"/>
                <a:ea typeface="仿宋" pitchFamily="49" charset="-122"/>
              </a:rPr>
              <a:t>addj</a:t>
            </a:r>
            <a:r>
              <a:rPr lang="en-US" altLang="zh-CN" sz="2000">
                <a:solidFill>
                  <a:srgbClr val="0000FF"/>
                </a:solidFill>
                <a:latin typeface="Consolas" pitchFamily="49" charset="0"/>
                <a:ea typeface="仿宋" pitchFamily="49" charset="-122"/>
              </a:rPr>
              <a:t>(e.used,j);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路径中添加顶点</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e1.length=e.length+A[e.vno][e1.vno];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累计路径长度</a:t>
            </a: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91</a:t>
            </a:fld>
            <a:r>
              <a:rPr lang="en-US" altLang="zh-CN"/>
              <a:t>/126</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214282" y="285728"/>
            <a:ext cx="8572560" cy="51165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e1.i==n-1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为叶子结点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if(e1.length+A[e1.vno][s]&lt;minpathlen) {</a:t>
            </a:r>
          </a:p>
          <a:p>
            <a:pPr algn="l" defTabSz="360000">
              <a:lnSpc>
                <a:spcPts val="3000"/>
              </a:lnSpc>
              <a:spcBef>
                <a:spcPts val="0"/>
              </a:spcBef>
            </a:pPr>
            <a:r>
              <a:rPr lang="en-US" altLang="zh-CN" sz="2000">
                <a:solidFill>
                  <a:srgbClr val="0000FF"/>
                </a:solidFill>
                <a:latin typeface="Consolas" pitchFamily="49" charset="0"/>
                <a:ea typeface="仿宋" pitchFamily="49" charset="-122"/>
              </a:rPr>
              <a:t>					minpathlen=e1.length+A[e1.vno][s];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minpath=e1.path;</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e1.i&lt;n-1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为非叶子结点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C00000"/>
                </a:solidFill>
                <a:latin typeface="Consolas" pitchFamily="49" charset="0"/>
                <a:ea typeface="仿宋" pitchFamily="49" charset="-122"/>
              </a:rPr>
              <a:t>e1.length&lt;minpathlen</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剪支</a:t>
            </a:r>
          </a:p>
          <a:p>
            <a:pPr algn="l" defTabSz="360000">
              <a:lnSpc>
                <a:spcPts val="3000"/>
              </a:lnSpc>
              <a:spcBef>
                <a:spcPts val="0"/>
              </a:spcBef>
            </a:pPr>
            <a:r>
              <a:rPr lang="en-US" altLang="zh-CN" sz="2000">
                <a:solidFill>
                  <a:srgbClr val="0000FF"/>
                </a:solidFill>
                <a:latin typeface="Consolas" pitchFamily="49" charset="0"/>
                <a:ea typeface="仿宋" pitchFamily="49" charset="-122"/>
              </a:rPr>
              <a:t>					qu.push(e1);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进队</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92</a:t>
            </a:fld>
            <a:r>
              <a:rPr lang="en-US" altLang="zh-CN"/>
              <a:t>/126</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82"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500034" y="714356"/>
            <a:ext cx="8143932" cy="35776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TSP</a:t>
            </a:r>
            <a:r>
              <a:rPr lang="en-US" altLang="zh-CN" sz="2000">
                <a:solidFill>
                  <a:srgbClr val="0000FF"/>
                </a:solidFill>
                <a:latin typeface="Consolas" pitchFamily="49" charset="0"/>
                <a:ea typeface="仿宋" pitchFamily="49" charset="-122"/>
              </a:rPr>
              <a:t>(vector&lt;vector&lt;int&gt;&gt;&amp;A,int n,int s) {</a:t>
            </a:r>
          </a:p>
          <a:p>
            <a:pPr algn="l" defTabSz="360000">
              <a:lnSpc>
                <a:spcPts val="3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求解</a:t>
            </a:r>
            <a:r>
              <a:rPr lang="en-US" altLang="zh-CN" sz="2000">
                <a:solidFill>
                  <a:srgbClr val="00B050"/>
                </a:solidFill>
                <a:latin typeface="Consolas" pitchFamily="49" charset="0"/>
                <a:ea typeface="仿宋" pitchFamily="49" charset="-122"/>
              </a:rPr>
              <a:t>TSP(</a:t>
            </a:r>
            <a:r>
              <a:rPr lang="zh-CN" altLang="zh-CN" sz="2000">
                <a:solidFill>
                  <a:srgbClr val="00B050"/>
                </a:solidFill>
                <a:latin typeface="Consolas" pitchFamily="49" charset="0"/>
                <a:ea typeface="仿宋" pitchFamily="49" charset="-122"/>
              </a:rPr>
              <a:t>起始点为</a:t>
            </a:r>
            <a:r>
              <a:rPr lang="en-US" altLang="zh-CN" sz="2000">
                <a:solidFill>
                  <a:srgbClr val="00B050"/>
                </a:solidFill>
                <a:latin typeface="Consolas" pitchFamily="49" charset="0"/>
                <a:ea typeface="仿宋" pitchFamily="49" charset="-122"/>
              </a:rPr>
              <a:t>s)</a:t>
            </a:r>
            <a:endParaRPr lang="zh-CN" altLang="zh-CN" sz="2000">
              <a:solidFill>
                <a:srgbClr val="00B05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(A,n,s);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从</a:t>
            </a:r>
            <a:r>
              <a:rPr lang="en-US" altLang="zh-CN" sz="2000">
                <a:solidFill>
                  <a:srgbClr val="0000FF"/>
                </a:solidFill>
                <a:latin typeface="Consolas" pitchFamily="49" charset="0"/>
                <a:ea typeface="仿宋" pitchFamily="49" charset="-122"/>
              </a:rPr>
              <a:t>%d</a:t>
            </a:r>
            <a:r>
              <a:rPr lang="zh-CN" altLang="zh-CN" sz="2000">
                <a:solidFill>
                  <a:srgbClr val="0000FF"/>
                </a:solidFill>
                <a:latin typeface="Consolas" pitchFamily="49" charset="0"/>
                <a:ea typeface="仿宋" pitchFamily="49" charset="-122"/>
              </a:rPr>
              <a:t>出发的</a:t>
            </a:r>
            <a:r>
              <a:rPr lang="en-US" altLang="zh-CN" sz="2000">
                <a:solidFill>
                  <a:srgbClr val="0000FF"/>
                </a:solidFill>
                <a:latin typeface="Consolas" pitchFamily="49" charset="0"/>
                <a:ea typeface="仿宋" pitchFamily="49" charset="-122"/>
              </a:rPr>
              <a:t>TSP</a:t>
            </a:r>
            <a:r>
              <a:rPr lang="zh-CN" altLang="zh-CN" sz="2000">
                <a:solidFill>
                  <a:srgbClr val="0000FF"/>
                </a:solidFill>
                <a:latin typeface="Consolas" pitchFamily="49" charset="0"/>
                <a:ea typeface="仿宋" pitchFamily="49" charset="-122"/>
              </a:rPr>
              <a:t>路径长度</a:t>
            </a:r>
            <a:r>
              <a:rPr lang="en-US" altLang="zh-CN" sz="2000">
                <a:solidFill>
                  <a:srgbClr val="0000FF"/>
                </a:solidFill>
                <a:latin typeface="Consolas" pitchFamily="49" charset="0"/>
                <a:ea typeface="仿宋" pitchFamily="49" charset="-122"/>
              </a:rPr>
              <a:t>=%d\n",s,minpathlen);</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a:t>
            </a:r>
            <a:r>
              <a:rPr lang="zh-CN" altLang="zh-CN" sz="2000">
                <a:solidFill>
                  <a:srgbClr val="0000FF"/>
                </a:solidFill>
                <a:latin typeface="Consolas" pitchFamily="49" charset="0"/>
                <a:ea typeface="仿宋" pitchFamily="49" charset="-122"/>
              </a:rPr>
              <a:t>路径</a:t>
            </a:r>
            <a:r>
              <a:rPr lang="en-US" altLang="zh-CN" sz="2000">
                <a:solidFill>
                  <a:srgbClr val="0000FF"/>
                </a:solidFill>
                <a:latin typeface="Consolas" pitchFamily="49" charset="0"/>
                <a:ea typeface="仿宋" pitchFamily="49" charset="-122"/>
              </a:rPr>
              <a:t>: ");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i=0;i&lt;minpath.size();i++)</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printf("%d-&gt;",minpath[i]);</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printf("%d\n",s);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93</a:t>
            </a:fld>
            <a:r>
              <a:rPr lang="en-US" altLang="zh-CN"/>
              <a:t>/126</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428736"/>
            <a:ext cx="8429684" cy="2503249"/>
          </a:xfrm>
          <a:prstGeom prst="rect">
            <a:avLst/>
          </a:prstGeom>
          <a:solidFill>
            <a:schemeClr val="bg1"/>
          </a:solidFill>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600"/>
              </a:spcBef>
              <a:buBlip>
                <a:blip r:embed="rId3"/>
              </a:buBlip>
            </a:pPr>
            <a:r>
              <a:rPr lang="zh-CN" altLang="en-US">
                <a:solidFill>
                  <a:srgbClr val="0000FF"/>
                </a:solidFill>
                <a:latin typeface="Consolas" pitchFamily="49" charset="0"/>
                <a:ea typeface="仿宋" pitchFamily="49" charset="-122"/>
              </a:rPr>
              <a:t>上述算法的</a:t>
            </a:r>
            <a:r>
              <a:rPr lang="zh-CN" altLang="zh-CN">
                <a:solidFill>
                  <a:srgbClr val="0000FF"/>
                </a:solidFill>
                <a:latin typeface="Consolas" pitchFamily="49" charset="0"/>
                <a:ea typeface="仿宋" pitchFamily="49" charset="-122"/>
              </a:rPr>
              <a:t>剪支</a:t>
            </a:r>
            <a:r>
              <a:rPr lang="zh-CN" altLang="en-US">
                <a:solidFill>
                  <a:srgbClr val="0000FF"/>
                </a:solidFill>
                <a:latin typeface="Consolas" pitchFamily="49" charset="0"/>
                <a:ea typeface="仿宋" pitchFamily="49" charset="-122"/>
              </a:rPr>
              <a:t>方式：</a:t>
            </a:r>
            <a:r>
              <a:rPr lang="en-US" altLang="zh-CN">
                <a:solidFill>
                  <a:srgbClr val="0000FF"/>
                </a:solidFill>
                <a:latin typeface="Consolas" pitchFamily="49" charset="0"/>
                <a:ea typeface="仿宋" pitchFamily="49" charset="-122"/>
              </a:rPr>
              <a:t>if(</a:t>
            </a:r>
            <a:r>
              <a:rPr lang="en-US" altLang="zh-CN">
                <a:solidFill>
                  <a:srgbClr val="006600"/>
                </a:solidFill>
                <a:latin typeface="Consolas" pitchFamily="49" charset="0"/>
                <a:ea typeface="仿宋" pitchFamily="49" charset="-122"/>
              </a:rPr>
              <a:t>e1.length&lt;minpathlen</a:t>
            </a:r>
            <a:r>
              <a:rPr lang="en-US" altLang="zh-CN">
                <a:solidFill>
                  <a:srgbClr val="0000FF"/>
                </a:solidFill>
                <a:latin typeface="Consolas" pitchFamily="49" charset="0"/>
                <a:ea typeface="仿宋" pitchFamily="49" charset="-122"/>
              </a:rPr>
              <a:t>) </a:t>
            </a:r>
            <a:r>
              <a:rPr lang="en-US" altLang="zh-CN">
                <a:solidFill>
                  <a:srgbClr val="0000FF"/>
                </a:solidFill>
                <a:latin typeface="+mj-ea"/>
                <a:ea typeface="+mj-ea"/>
              </a:rPr>
              <a:t>…</a:t>
            </a:r>
            <a:r>
              <a:rPr lang="en-US" altLang="zh-CN">
                <a:solidFill>
                  <a:srgbClr val="0000FF"/>
                </a:solidFill>
                <a:latin typeface="Consolas" pitchFamily="49" charset="0"/>
                <a:ea typeface="仿宋" pitchFamily="49" charset="-122"/>
              </a:rPr>
              <a:t> </a:t>
            </a:r>
            <a:r>
              <a:rPr lang="en-US" altLang="zh-CN">
                <a:solidFill>
                  <a:srgbClr val="0000FF"/>
                </a:solidFill>
                <a:latin typeface="Consolas" pitchFamily="49" charset="0"/>
                <a:ea typeface="仿宋" pitchFamily="49" charset="-122"/>
                <a:sym typeface="Wingdings"/>
              </a:rPr>
              <a:t> </a:t>
            </a:r>
            <a:r>
              <a:rPr lang="zh-CN" altLang="en-US">
                <a:solidFill>
                  <a:srgbClr val="FF0000"/>
                </a:solidFill>
                <a:latin typeface="楷体" pitchFamily="49" charset="-122"/>
                <a:ea typeface="楷体" pitchFamily="49" charset="-122"/>
                <a:sym typeface="Wingdings"/>
              </a:rPr>
              <a:t>不理想</a:t>
            </a:r>
            <a:r>
              <a:rPr lang="zh-CN" altLang="en-US">
                <a:solidFill>
                  <a:srgbClr val="0000FF"/>
                </a:solidFill>
                <a:latin typeface="Consolas" pitchFamily="49" charset="0"/>
                <a:ea typeface="仿宋" pitchFamily="49" charset="-122"/>
                <a:sym typeface="Wingdings"/>
              </a:rPr>
              <a:t>！</a:t>
            </a:r>
            <a:endParaRPr lang="en-US" altLang="zh-CN">
              <a:solidFill>
                <a:srgbClr val="0000FF"/>
              </a:solidFill>
              <a:latin typeface="Consolas" pitchFamily="49" charset="0"/>
              <a:ea typeface="仿宋" pitchFamily="49" charset="-122"/>
              <a:sym typeface="Wingdings"/>
            </a:endParaRPr>
          </a:p>
          <a:p>
            <a:pPr marL="457200" indent="-457200" algn="l">
              <a:lnSpc>
                <a:spcPts val="3400"/>
              </a:lnSpc>
              <a:spcBef>
                <a:spcPts val="600"/>
              </a:spcBef>
              <a:buBlip>
                <a:blip r:embed="rId3"/>
              </a:buBlip>
            </a:pPr>
            <a:r>
              <a:rPr lang="zh-CN" altLang="en-US">
                <a:solidFill>
                  <a:srgbClr val="0000FF"/>
                </a:solidFill>
                <a:latin typeface="Consolas" pitchFamily="49" charset="0"/>
                <a:ea typeface="仿宋" pitchFamily="49" charset="-122"/>
              </a:rPr>
              <a:t>求出</a:t>
            </a:r>
            <a:r>
              <a:rPr lang="en-US" altLang="zh-CN">
                <a:solidFill>
                  <a:srgbClr val="0000FF"/>
                </a:solidFill>
                <a:latin typeface="Consolas" pitchFamily="49" charset="0"/>
                <a:ea typeface="仿宋" pitchFamily="49" charset="-122"/>
              </a:rPr>
              <a:t>dist</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dist[</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zh-CN" altLang="en-US">
                <a:solidFill>
                  <a:srgbClr val="0000FF"/>
                </a:solidFill>
                <a:latin typeface="Consolas" pitchFamily="49" charset="0"/>
                <a:ea typeface="仿宋" pitchFamily="49" charset="-122"/>
              </a:rPr>
              <a:t>为</a:t>
            </a:r>
            <a:r>
              <a:rPr lang="zh-CN" altLang="zh-CN">
                <a:solidFill>
                  <a:srgbClr val="0000FF"/>
                </a:solidFill>
                <a:latin typeface="Consolas" pitchFamily="49" charset="0"/>
                <a:ea typeface="仿宋" pitchFamily="49" charset="-122"/>
              </a:rPr>
              <a:t>顶点</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到顶点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的最短路径长度</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en-US" altLang="zh-CN">
                <a:solidFill>
                  <a:srgbClr val="0000FF"/>
                </a:solidFill>
                <a:latin typeface="Consolas" pitchFamily="49" charset="0"/>
                <a:ea typeface="仿宋" pitchFamily="49" charset="-122"/>
              </a:rPr>
              <a:t>e1.lb=e1.length+dist[e1.vno]</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400"/>
              </a:lnSpc>
              <a:spcBef>
                <a:spcPts val="600"/>
              </a:spcBef>
              <a:buBlip>
                <a:blip r:embed="rId3"/>
              </a:buBlip>
            </a:pPr>
            <a:r>
              <a:rPr lang="zh-CN" altLang="zh-CN">
                <a:solidFill>
                  <a:srgbClr val="0000FF"/>
                </a:solidFill>
                <a:latin typeface="Consolas" pitchFamily="49" charset="0"/>
                <a:ea typeface="仿宋" pitchFamily="49" charset="-122"/>
              </a:rPr>
              <a:t>剪支操作是</a:t>
            </a:r>
            <a:r>
              <a:rPr lang="zh-CN" altLang="zh-CN">
                <a:solidFill>
                  <a:srgbClr val="FF0000"/>
                </a:solidFill>
                <a:latin typeface="Consolas" pitchFamily="49" charset="0"/>
                <a:ea typeface="仿宋" pitchFamily="49" charset="-122"/>
              </a:rPr>
              <a:t>仅仅扩展</a:t>
            </a:r>
            <a:r>
              <a:rPr lang="en-US" altLang="zh-CN">
                <a:solidFill>
                  <a:srgbClr val="FF0000"/>
                </a:solidFill>
                <a:latin typeface="Consolas" pitchFamily="49" charset="0"/>
                <a:ea typeface="仿宋" pitchFamily="49" charset="-122"/>
              </a:rPr>
              <a:t>e1.lb&lt;minpathlen</a:t>
            </a:r>
            <a:r>
              <a:rPr lang="zh-CN" altLang="zh-CN">
                <a:solidFill>
                  <a:srgbClr val="FF0000"/>
                </a:solidFill>
                <a:latin typeface="Consolas" pitchFamily="49" charset="0"/>
                <a:ea typeface="仿宋" pitchFamily="49" charset="-122"/>
              </a:rPr>
              <a:t>的结点</a:t>
            </a:r>
            <a:r>
              <a:rPr lang="en-US" altLang="zh-CN">
                <a:solidFill>
                  <a:srgbClr val="FF0000"/>
                </a:solidFill>
                <a:latin typeface="Consolas" pitchFamily="49" charset="0"/>
                <a:ea typeface="仿宋" pitchFamily="49" charset="-122"/>
              </a:rPr>
              <a:t>e1</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4" name="TextBox 3"/>
          <p:cNvSpPr txBox="1"/>
          <p:nvPr/>
        </p:nvSpPr>
        <p:spPr>
          <a:xfrm>
            <a:off x="571472" y="500042"/>
            <a:ext cx="2643206" cy="587441"/>
          </a:xfrm>
          <a:prstGeom prst="rect">
            <a:avLst/>
          </a:prstGeom>
        </p:spPr>
        <p:style>
          <a:lnRef idx="3">
            <a:schemeClr val="lt1"/>
          </a:lnRef>
          <a:fillRef idx="1">
            <a:schemeClr val="dk1"/>
          </a:fillRef>
          <a:effectRef idx="1">
            <a:schemeClr val="dk1"/>
          </a:effectRef>
          <a:fontRef idx="minor">
            <a:schemeClr val="lt1"/>
          </a:fontRef>
        </p:style>
        <p:txBody>
          <a:bodyPr wrap="square" tIns="108000" bIns="108000" rtlCol="0">
            <a:spAutoFit/>
          </a:bodyPr>
          <a:lstStyle/>
          <a:p>
            <a:pPr>
              <a:lnSpc>
                <a:spcPct val="100000"/>
              </a:lnSpc>
              <a:spcBef>
                <a:spcPts val="0"/>
              </a:spcBef>
            </a:pPr>
            <a:r>
              <a:rPr lang="zh-CN" altLang="en-US">
                <a:solidFill>
                  <a:schemeClr val="bg1"/>
                </a:solidFill>
                <a:latin typeface="微软雅黑" pitchFamily="34" charset="-122"/>
                <a:ea typeface="微软雅黑" pitchFamily="34" charset="-122"/>
                <a:cs typeface="Consolas" pitchFamily="49" charset="0"/>
              </a:rPr>
              <a:t>进一步改进性能</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94</a:t>
            </a:fld>
            <a:r>
              <a:rPr lang="en-US" altLang="zh-CN"/>
              <a:t>/126</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129956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mindists</a:t>
            </a:r>
            <a:r>
              <a:rPr lang="en-US" altLang="zh-CN" sz="2000">
                <a:solidFill>
                  <a:srgbClr val="0000FF"/>
                </a:solidFill>
                <a:latin typeface="Consolas" pitchFamily="49" charset="0"/>
                <a:ea typeface="仿宋" pitchFamily="49" charset="-122"/>
              </a:rPr>
              <a:t>(vector&lt;vector&lt;int&gt;&gt;&amp;A,int n,int s)	</a:t>
            </a:r>
          </a:p>
          <a:p>
            <a:pPr algn="l" defTabSz="360000">
              <a:lnSpc>
                <a:spcPts val="3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求单源最短路径</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原理见</a:t>
            </a:r>
            <a:r>
              <a:rPr lang="en-US" altLang="zh-CN" sz="2000">
                <a:solidFill>
                  <a:srgbClr val="00B050"/>
                </a:solidFill>
                <a:latin typeface="Consolas" pitchFamily="49" charset="0"/>
                <a:ea typeface="仿宋" pitchFamily="49" charset="-122"/>
              </a:rPr>
              <a:t>6.4</a:t>
            </a:r>
            <a:r>
              <a:rPr lang="zh-CN" altLang="zh-CN" sz="2000">
                <a:solidFill>
                  <a:srgbClr val="00B050"/>
                </a:solidFill>
                <a:latin typeface="Consolas" pitchFamily="49" charset="0"/>
                <a:ea typeface="仿宋" pitchFamily="49" charset="-122"/>
              </a:rPr>
              <a:t>节</a:t>
            </a:r>
            <a:r>
              <a:rPr lang="en-US" altLang="zh-CN" sz="2000">
                <a:solidFill>
                  <a:srgbClr val="00B050"/>
                </a:solidFill>
                <a:latin typeface="Consolas" pitchFamily="49" charset="0"/>
                <a:ea typeface="仿宋" pitchFamily="49" charset="-122"/>
              </a:rPr>
              <a:t>)</a:t>
            </a:r>
            <a:endParaRPr lang="zh-CN" altLang="zh-CN" sz="2000">
              <a:solidFill>
                <a:srgbClr val="00B05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zh-CN" altLang="zh-CN" sz="2000">
                <a:solidFill>
                  <a:srgbClr val="0000FF"/>
                </a:solidFill>
                <a:latin typeface="+mn-ea"/>
              </a:rPr>
              <a:t>…</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285720" y="2571744"/>
            <a:ext cx="8643998" cy="9233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ct val="100000"/>
              </a:lnSpc>
              <a:spcBef>
                <a:spcPts val="1200"/>
              </a:spcBef>
            </a:pPr>
            <a:r>
              <a:rPr lang="zh-CN" altLang="en-US" sz="2200">
                <a:solidFill>
                  <a:srgbClr val="FF0000"/>
                </a:solidFill>
                <a:latin typeface="Consolas" pitchFamily="49" charset="0"/>
                <a:ea typeface="楷体" pitchFamily="49" charset="-122"/>
                <a:cs typeface="Consolas" pitchFamily="49" charset="0"/>
              </a:rPr>
              <a:t>将</a:t>
            </a:r>
            <a:r>
              <a:rPr lang="en-US" altLang="zh-CN" sz="2200">
                <a:solidFill>
                  <a:srgbClr val="FF0000"/>
                </a:solidFill>
                <a:latin typeface="Consolas" pitchFamily="49" charset="0"/>
                <a:ea typeface="楷体" pitchFamily="49" charset="-122"/>
                <a:cs typeface="Consolas" pitchFamily="49" charset="0"/>
              </a:rPr>
              <a:t>A</a:t>
            </a:r>
            <a:r>
              <a:rPr lang="zh-CN" altLang="en-US" sz="2200">
                <a:solidFill>
                  <a:srgbClr val="FF0000"/>
                </a:solidFill>
                <a:latin typeface="Consolas" pitchFamily="49" charset="0"/>
                <a:ea typeface="楷体" pitchFamily="49" charset="-122"/>
                <a:cs typeface="Consolas" pitchFamily="49" charset="0"/>
              </a:rPr>
              <a:t>中的边逆置</a:t>
            </a:r>
            <a:r>
              <a:rPr lang="zh-CN" altLang="en-US" sz="2200">
                <a:solidFill>
                  <a:srgbClr val="0000FF"/>
                </a:solidFill>
                <a:latin typeface="Consolas" pitchFamily="49" charset="0"/>
                <a:ea typeface="楷体" pitchFamily="49" charset="-122"/>
                <a:cs typeface="Consolas" pitchFamily="49" charset="0"/>
              </a:rPr>
              <a:t>：</a:t>
            </a:r>
            <a:endParaRPr lang="en-US" altLang="zh-CN" sz="2200">
              <a:solidFill>
                <a:srgbClr val="0000FF"/>
              </a:solidFill>
              <a:latin typeface="Consolas" pitchFamily="49" charset="0"/>
              <a:ea typeface="楷体" pitchFamily="49" charset="-122"/>
              <a:cs typeface="Consolas" pitchFamily="49" charset="0"/>
            </a:endParaRPr>
          </a:p>
          <a:p>
            <a:pPr algn="l">
              <a:lnSpc>
                <a:spcPct val="100000"/>
              </a:lnSpc>
              <a:spcBef>
                <a:spcPts val="1200"/>
              </a:spcBef>
            </a:pPr>
            <a:r>
              <a:rPr lang="zh-CN" altLang="en-US" sz="2200">
                <a:solidFill>
                  <a:srgbClr val="0000FF"/>
                </a:solidFill>
                <a:latin typeface="Consolas" pitchFamily="49" charset="0"/>
                <a:ea typeface="仿宋" pitchFamily="49" charset="-122"/>
                <a:cs typeface="Consolas" pitchFamily="49" charset="0"/>
              </a:rPr>
              <a:t>源点</a:t>
            </a:r>
            <a:r>
              <a:rPr lang="en-US" altLang="zh-CN" sz="2200">
                <a:solidFill>
                  <a:srgbClr val="0000FF"/>
                </a:solidFill>
                <a:latin typeface="Consolas" pitchFamily="49" charset="0"/>
                <a:ea typeface="仿宋" pitchFamily="49" charset="-122"/>
                <a:cs typeface="Consolas" pitchFamily="49" charset="0"/>
              </a:rPr>
              <a:t>s</a:t>
            </a:r>
            <a:r>
              <a:rPr lang="zh-CN" altLang="en-US" sz="2200">
                <a:solidFill>
                  <a:srgbClr val="0000FF"/>
                </a:solidFill>
                <a:latin typeface="Consolas" pitchFamily="49" charset="0"/>
                <a:ea typeface="仿宋" pitchFamily="49" charset="-122"/>
                <a:cs typeface="Consolas" pitchFamily="49" charset="0"/>
              </a:rPr>
              <a:t>到其他顶点</a:t>
            </a:r>
            <a:r>
              <a:rPr lang="en-US" altLang="zh-CN" sz="2200" i="1">
                <a:solidFill>
                  <a:srgbClr val="0000FF"/>
                </a:solidFill>
                <a:latin typeface="Consolas" pitchFamily="49" charset="0"/>
                <a:ea typeface="仿宋" pitchFamily="49" charset="-122"/>
                <a:cs typeface="Consolas" pitchFamily="49" charset="0"/>
              </a:rPr>
              <a:t>i</a:t>
            </a:r>
            <a:r>
              <a:rPr lang="zh-CN" altLang="en-US" sz="2200">
                <a:solidFill>
                  <a:srgbClr val="0000FF"/>
                </a:solidFill>
                <a:latin typeface="Consolas" pitchFamily="49" charset="0"/>
                <a:ea typeface="仿宋" pitchFamily="49" charset="-122"/>
                <a:cs typeface="Consolas" pitchFamily="49" charset="0"/>
              </a:rPr>
              <a:t>的最短路径长度≡顶点</a:t>
            </a:r>
            <a:r>
              <a:rPr lang="en-US" altLang="zh-CN" sz="2200" i="1">
                <a:solidFill>
                  <a:srgbClr val="0000FF"/>
                </a:solidFill>
                <a:latin typeface="Consolas" pitchFamily="49" charset="0"/>
                <a:ea typeface="仿宋" pitchFamily="49" charset="-122"/>
                <a:cs typeface="Consolas" pitchFamily="49" charset="0"/>
              </a:rPr>
              <a:t>i</a:t>
            </a:r>
            <a:r>
              <a:rPr lang="zh-CN" altLang="en-US" sz="2200">
                <a:solidFill>
                  <a:srgbClr val="0000FF"/>
                </a:solidFill>
                <a:latin typeface="Consolas" pitchFamily="49" charset="0"/>
                <a:ea typeface="仿宋" pitchFamily="49" charset="-122"/>
                <a:cs typeface="Consolas" pitchFamily="49" charset="0"/>
              </a:rPr>
              <a:t>到源点</a:t>
            </a:r>
            <a:r>
              <a:rPr lang="en-US" altLang="zh-CN" sz="2200">
                <a:solidFill>
                  <a:srgbClr val="0000FF"/>
                </a:solidFill>
                <a:latin typeface="Consolas" pitchFamily="49" charset="0"/>
                <a:ea typeface="仿宋" pitchFamily="49" charset="-122"/>
                <a:cs typeface="Consolas" pitchFamily="49" charset="0"/>
              </a:rPr>
              <a:t>s</a:t>
            </a:r>
            <a:r>
              <a:rPr lang="zh-CN" altLang="en-US" sz="2200">
                <a:solidFill>
                  <a:srgbClr val="0000FF"/>
                </a:solidFill>
                <a:latin typeface="Consolas" pitchFamily="49" charset="0"/>
                <a:ea typeface="仿宋" pitchFamily="49" charset="-122"/>
                <a:cs typeface="Consolas" pitchFamily="49" charset="0"/>
              </a:rPr>
              <a:t>的最短路径长度</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95</a:t>
            </a:fld>
            <a:r>
              <a:rPr lang="en-US" altLang="zh-CN"/>
              <a:t>/126</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28384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(vector&lt;vector&lt;int&gt;&gt;&amp;A,int n,int s)	{</a:t>
            </a:r>
          </a:p>
          <a:p>
            <a:pPr algn="l" defTabSz="360000">
              <a:lnSpc>
                <a:spcPts val="3000"/>
              </a:lnSpc>
              <a:spcBef>
                <a:spcPts val="0"/>
              </a:spcBef>
            </a:pP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优化限界函数值的算法</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mindists</a:t>
            </a:r>
            <a:r>
              <a:rPr lang="en-US" altLang="zh-CN" sz="2000">
                <a:solidFill>
                  <a:srgbClr val="0000FF"/>
                </a:solidFill>
                <a:latin typeface="Consolas" pitchFamily="49" charset="0"/>
                <a:ea typeface="仿宋" pitchFamily="49" charset="-122"/>
              </a:rPr>
              <a:t>(A,n,s);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dist</a:t>
            </a:r>
            <a:r>
              <a:rPr lang="zh-CN" altLang="zh-CN" sz="2000">
                <a:solidFill>
                  <a:srgbClr val="00B0F0"/>
                </a:solidFill>
                <a:latin typeface="Consolas" pitchFamily="49" charset="0"/>
                <a:ea typeface="仿宋" pitchFamily="49" charset="-122"/>
              </a:rPr>
              <a:t>数组</a:t>
            </a:r>
            <a:endParaRPr lang="en-US"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mj-ea"/>
                <a:ea typeface="+mj-ea"/>
              </a:rPr>
              <a:t>	…</a:t>
            </a:r>
          </a:p>
          <a:p>
            <a:pPr algn="l" defTabSz="360000">
              <a:lnSpc>
                <a:spcPts val="3000"/>
              </a:lnSpc>
              <a:spcBef>
                <a:spcPts val="0"/>
              </a:spcBef>
            </a:pPr>
            <a:r>
              <a:rPr lang="en-US" altLang="zh-CN" sz="2000">
                <a:solidFill>
                  <a:srgbClr val="0000FF"/>
                </a:solidFill>
                <a:latin typeface="Consolas" pitchFamily="49" charset="0"/>
                <a:ea typeface="仿宋" pitchFamily="49" charset="-122"/>
              </a:rPr>
              <a:t>	e1.lb=e1.length+</a:t>
            </a:r>
            <a:r>
              <a:rPr lang="en-US" altLang="zh-CN" sz="2000">
                <a:solidFill>
                  <a:srgbClr val="006600"/>
                </a:solidFill>
                <a:latin typeface="Consolas" pitchFamily="49" charset="0"/>
                <a:ea typeface="仿宋" pitchFamily="49" charset="-122"/>
              </a:rPr>
              <a:t>dist</a:t>
            </a:r>
            <a:r>
              <a:rPr lang="en-US" altLang="zh-CN" sz="2000">
                <a:solidFill>
                  <a:srgbClr val="0000FF"/>
                </a:solidFill>
                <a:latin typeface="Consolas" pitchFamily="49" charset="0"/>
                <a:ea typeface="仿宋" pitchFamily="49" charset="-122"/>
              </a:rPr>
              <a:t>[e1.vno];</a:t>
            </a:r>
          </a:p>
          <a:p>
            <a:pPr algn="l" defTabSz="360000">
              <a:lnSpc>
                <a:spcPts val="3000"/>
              </a:lnSpc>
              <a:spcBef>
                <a:spcPts val="0"/>
              </a:spcBef>
            </a:pPr>
            <a:r>
              <a:rPr lang="en-US" altLang="zh-CN" sz="2000">
                <a:solidFill>
                  <a:srgbClr val="0000FF"/>
                </a:solidFill>
                <a:latin typeface="+mj-ea"/>
                <a:ea typeface="+mj-ea"/>
              </a:rPr>
              <a:t>	…</a:t>
            </a: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TextBox 3"/>
          <p:cNvSpPr txBox="1"/>
          <p:nvPr/>
        </p:nvSpPr>
        <p:spPr>
          <a:xfrm>
            <a:off x="428596" y="3786190"/>
            <a:ext cx="7929618" cy="1400383"/>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400"/>
              </a:lnSpc>
              <a:spcBef>
                <a:spcPts val="0"/>
              </a:spcBef>
            </a:pPr>
            <a:r>
              <a:rPr lang="en-US" altLang="zh-CN" sz="2200">
                <a:solidFill>
                  <a:srgbClr val="FF0000"/>
                </a:solidFill>
                <a:latin typeface="Consolas" pitchFamily="49" charset="0"/>
                <a:ea typeface="楷体" pitchFamily="49" charset="-122"/>
                <a:sym typeface="Wingdings"/>
              </a:rPr>
              <a:t></a:t>
            </a:r>
            <a:r>
              <a:rPr lang="en-US" altLang="zh-CN" sz="2200">
                <a:solidFill>
                  <a:srgbClr val="FF0000"/>
                </a:solidFill>
                <a:latin typeface="Consolas" pitchFamily="49" charset="0"/>
                <a:ea typeface="楷体" pitchFamily="49" charset="-122"/>
              </a:rPr>
              <a:t>TSP()</a:t>
            </a:r>
            <a:r>
              <a:rPr lang="zh-CN" altLang="zh-CN" sz="2200">
                <a:solidFill>
                  <a:srgbClr val="FF0000"/>
                </a:solidFill>
                <a:latin typeface="Consolas" pitchFamily="49" charset="0"/>
                <a:ea typeface="楷体" pitchFamily="49" charset="-122"/>
              </a:rPr>
              <a:t>算法分析</a:t>
            </a:r>
            <a:r>
              <a:rPr lang="zh-CN" altLang="zh-CN" sz="2200">
                <a:solidFill>
                  <a:srgbClr val="0000FF"/>
                </a:solidFill>
                <a:latin typeface="Consolas" pitchFamily="49" charset="0"/>
                <a:ea typeface="仿宋" pitchFamily="49" charset="-122"/>
              </a:rPr>
              <a:t>：与回溯算法一样，其解空间树是一棵排列树，尽管通过剪支可以提高时间性能，但具体与实例相关，所以算法的最坏时间复杂度为</a:t>
            </a:r>
            <a:r>
              <a:rPr lang="en-US" altLang="zh-CN" sz="2200">
                <a:solidFill>
                  <a:srgbClr val="0000FF"/>
                </a:solidFill>
                <a:latin typeface="Consolas" pitchFamily="49" charset="0"/>
                <a:ea typeface="仿宋" pitchFamily="49" charset="-122"/>
              </a:rPr>
              <a:t>O((</a:t>
            </a:r>
            <a:r>
              <a:rPr lang="en-US" altLang="zh-CN" sz="2200" i="1">
                <a:solidFill>
                  <a:srgbClr val="0000FF"/>
                </a:solidFill>
                <a:latin typeface="Consolas" pitchFamily="49" charset="0"/>
                <a:ea typeface="仿宋" pitchFamily="49" charset="-122"/>
              </a:rPr>
              <a:t>n</a:t>
            </a:r>
            <a:r>
              <a:rPr lang="en-US" altLang="zh-CN" sz="2200">
                <a:solidFill>
                  <a:srgbClr val="0000FF"/>
                </a:solidFill>
                <a:latin typeface="Consolas" pitchFamily="49" charset="0"/>
                <a:ea typeface="仿宋" pitchFamily="49" charset="-122"/>
              </a:rPr>
              <a:t>-1)!)</a:t>
            </a:r>
            <a:r>
              <a:rPr lang="zh-CN" altLang="zh-CN" sz="2200">
                <a:solidFill>
                  <a:srgbClr val="0000FF"/>
                </a:solidFill>
                <a:latin typeface="Consolas" pitchFamily="49" charset="0"/>
                <a:ea typeface="仿宋" pitchFamily="49" charset="-122"/>
              </a:rPr>
              <a:t>。</a:t>
            </a: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96</a:t>
            </a:fld>
            <a:r>
              <a:rPr lang="en-US" altLang="zh-CN"/>
              <a:t>/126</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357166"/>
            <a:ext cx="8501122" cy="4760278"/>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6.3</a:t>
            </a:r>
            <a:r>
              <a:rPr lang="zh-CN" altLang="zh-CN">
                <a:solidFill>
                  <a:srgbClr val="FF0000"/>
                </a:solidFill>
                <a:latin typeface="Consolas" pitchFamily="49" charset="0"/>
                <a:ea typeface="楷体" pitchFamily="49" charset="-122"/>
              </a:rPr>
              <a:t>】</a:t>
            </a:r>
            <a:r>
              <a:rPr lang="en-US" altLang="zh-CN">
                <a:solidFill>
                  <a:srgbClr val="FF0000"/>
                </a:solidFill>
                <a:latin typeface="Consolas" pitchFamily="49" charset="0"/>
                <a:ea typeface="楷体" pitchFamily="49" charset="-122"/>
              </a:rPr>
              <a:t>=</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3.9</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旅行计划</a:t>
            </a:r>
            <a:r>
              <a:rPr lang="en-US" altLang="zh-CN">
                <a:solidFill>
                  <a:srgbClr val="0000FF"/>
                </a:solidFill>
                <a:latin typeface="Consolas" pitchFamily="49" charset="0"/>
                <a:ea typeface="仿宋" pitchFamily="49" charset="-122"/>
              </a:rPr>
              <a:t>   </a:t>
            </a: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LintCode1891</a:t>
            </a:r>
            <a:r>
              <a:rPr lang="zh-CN" altLang="zh-CN">
                <a:solidFill>
                  <a:srgbClr val="0000FF"/>
                </a:solidFill>
                <a:latin typeface="Consolas" pitchFamily="49" charset="0"/>
                <a:ea typeface="仿宋" pitchFamily="49" charset="-122"/>
              </a:rPr>
              <a:t>★★）有</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a:t>
            </a:r>
            <a:r>
              <a:rPr lang="zh-CN" altLang="zh-CN">
                <a:solidFill>
                  <a:srgbClr val="0000FF"/>
                </a:solidFill>
                <a:latin typeface="Consolas" pitchFamily="49" charset="0"/>
                <a:ea typeface="仿宋" pitchFamily="49" charset="-122"/>
              </a:rPr>
              <a:t>）个城市，城市编号为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。给出邻接矩阵</a:t>
            </a:r>
            <a:r>
              <a:rPr lang="en-US" altLang="zh-CN">
                <a:solidFill>
                  <a:srgbClr val="0000FF"/>
                </a:solidFill>
                <a:latin typeface="Consolas" pitchFamily="49" charset="0"/>
                <a:ea typeface="仿宋" pitchFamily="49" charset="-122"/>
              </a:rPr>
              <a:t>arr</a:t>
            </a:r>
            <a:r>
              <a:rPr lang="zh-CN" altLang="zh-CN">
                <a:solidFill>
                  <a:srgbClr val="0000FF"/>
                </a:solidFill>
                <a:latin typeface="Consolas" pitchFamily="49" charset="0"/>
                <a:ea typeface="仿宋" pitchFamily="49" charset="-122"/>
              </a:rPr>
              <a:t>代表任意两个城市的距离，其中</a:t>
            </a:r>
            <a:r>
              <a:rPr lang="en-US" altLang="zh-CN">
                <a:solidFill>
                  <a:srgbClr val="0000FF"/>
                </a:solidFill>
                <a:latin typeface="Consolas" pitchFamily="49" charset="0"/>
                <a:ea typeface="仿宋" pitchFamily="49" charset="-122"/>
              </a:rPr>
              <a:t>arr[</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arr[</a:t>
            </a:r>
            <a:r>
              <a:rPr lang="en-US" altLang="zh-CN" i="1">
                <a:solidFill>
                  <a:srgbClr val="0000FF"/>
                </a:solidFill>
                <a:latin typeface="Consolas" pitchFamily="49" charset="0"/>
                <a:ea typeface="仿宋" pitchFamily="49" charset="-122"/>
              </a:rPr>
              <a:t>i</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mj-ea"/>
                <a:ea typeface="+mj-ea"/>
              </a:rPr>
              <a:t>≤</a:t>
            </a:r>
            <a:r>
              <a:rPr lang="en-US" altLang="zh-CN">
                <a:solidFill>
                  <a:srgbClr val="0000FF"/>
                </a:solidFill>
                <a:latin typeface="Consolas" pitchFamily="49" charset="0"/>
                <a:ea typeface="仿宋" pitchFamily="49" charset="-122"/>
              </a:rPr>
              <a:t>10000</a:t>
            </a:r>
            <a:r>
              <a:rPr lang="zh-CN" altLang="zh-CN">
                <a:solidFill>
                  <a:srgbClr val="0000FF"/>
                </a:solidFill>
                <a:latin typeface="Consolas" pitchFamily="49" charset="0"/>
                <a:ea typeface="仿宋" pitchFamily="49" charset="-122"/>
              </a:rPr>
              <a:t>）表示从城市</a:t>
            </a:r>
            <a:r>
              <a:rPr lang="en-US" altLang="zh-CN" i="1">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到城市</a:t>
            </a:r>
            <a:r>
              <a:rPr lang="en-US" altLang="zh-CN" i="1">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的距离。</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在周末制定了一个游玩计划，她从所在的</a:t>
            </a:r>
            <a:r>
              <a:rPr lang="zh-CN" altLang="zh-CN">
                <a:solidFill>
                  <a:srgbClr val="FF0000"/>
                </a:solidFill>
                <a:latin typeface="Consolas" pitchFamily="49" charset="0"/>
                <a:ea typeface="仿宋" pitchFamily="49" charset="-122"/>
              </a:rPr>
              <a:t>城市</a:t>
            </a:r>
            <a:r>
              <a:rPr lang="en-US" altLang="zh-CN">
                <a:solidFill>
                  <a:srgbClr val="FF0000"/>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开始，游玩其他的</a:t>
            </a:r>
            <a:r>
              <a:rPr lang="en-US" altLang="zh-CN">
                <a:solidFill>
                  <a:srgbClr val="0000FF"/>
                </a:solidFill>
                <a:latin typeface="Consolas" pitchFamily="49" charset="0"/>
                <a:ea typeface="仿宋" pitchFamily="49" charset="-122"/>
              </a:rPr>
              <a:t>1~</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的全部城市，最后回到城市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想知道她能完成游玩计划需要行走的最小距离，返回这个最小距离。除了城市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之外每个城市都只能经过一次，且城市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只能是起点和终点，</a:t>
            </a: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中途不可经过城市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arr={{0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，对应的路径是城市</a:t>
            </a:r>
            <a:r>
              <a:rPr lang="en-US" altLang="zh-CN">
                <a:solidFill>
                  <a:srgbClr val="0000FF"/>
                </a:solidFill>
                <a:latin typeface="Consolas" pitchFamily="49" charset="0"/>
                <a:ea typeface="仿宋" pitchFamily="49" charset="-122"/>
              </a:rPr>
              <a:t>0-&gt;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2-&gt;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1-&gt;</a:t>
            </a:r>
            <a:r>
              <a:rPr lang="zh-CN" altLang="zh-CN">
                <a:solidFill>
                  <a:srgbClr val="0000FF"/>
                </a:solidFill>
                <a:latin typeface="Consolas" pitchFamily="49" charset="0"/>
                <a:ea typeface="仿宋" pitchFamily="49" charset="-122"/>
              </a:rPr>
              <a:t>城市</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   </a:t>
            </a:r>
            <a:endParaRPr lang="zh-CN" altLang="zh-CN" sz="2000">
              <a:solidFill>
                <a:srgbClr val="006600"/>
              </a:solidFill>
              <a:latin typeface="Consolas" pitchFamily="49" charset="0"/>
              <a:ea typeface="仿宋" pitchFamily="49" charset="-122"/>
            </a:endParaRPr>
          </a:p>
        </p:txBody>
      </p:sp>
      <p:grpSp>
        <p:nvGrpSpPr>
          <p:cNvPr id="2" name="组合 26"/>
          <p:cNvGrpSpPr/>
          <p:nvPr/>
        </p:nvGrpSpPr>
        <p:grpSpPr>
          <a:xfrm>
            <a:off x="3428992" y="5143512"/>
            <a:ext cx="2071702" cy="1500198"/>
            <a:chOff x="1928794" y="4857760"/>
            <a:chExt cx="2071702" cy="1500198"/>
          </a:xfrm>
        </p:grpSpPr>
        <p:sp>
          <p:nvSpPr>
            <p:cNvPr id="4" name="椭圆 3"/>
            <p:cNvSpPr/>
            <p:nvPr/>
          </p:nvSpPr>
          <p:spPr>
            <a:xfrm>
              <a:off x="1928794"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0</a:t>
              </a:r>
              <a:endParaRPr lang="zh-CN" altLang="en-US" sz="2000">
                <a:latin typeface="Consolas" pitchFamily="49" charset="0"/>
              </a:endParaRPr>
            </a:p>
          </p:txBody>
        </p:sp>
        <p:sp>
          <p:nvSpPr>
            <p:cNvPr id="5" name="椭圆 4"/>
            <p:cNvSpPr/>
            <p:nvPr/>
          </p:nvSpPr>
          <p:spPr>
            <a:xfrm>
              <a:off x="3571868" y="5072074"/>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1</a:t>
              </a:r>
              <a:endParaRPr lang="zh-CN" altLang="en-US" sz="2000">
                <a:latin typeface="Consolas" pitchFamily="49" charset="0"/>
              </a:endParaRPr>
            </a:p>
          </p:txBody>
        </p:sp>
        <p:sp>
          <p:nvSpPr>
            <p:cNvPr id="6" name="椭圆 5"/>
            <p:cNvSpPr/>
            <p:nvPr/>
          </p:nvSpPr>
          <p:spPr>
            <a:xfrm>
              <a:off x="2786050" y="5929330"/>
              <a:ext cx="428628" cy="428628"/>
            </a:xfrm>
            <a:prstGeom prst="ellipse">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600"/>
                </a:lnSpc>
                <a:spcBef>
                  <a:spcPts val="0"/>
                </a:spcBef>
              </a:pPr>
              <a:r>
                <a:rPr lang="en-US" altLang="zh-CN" sz="2000">
                  <a:latin typeface="Consolas" pitchFamily="49" charset="0"/>
                </a:rPr>
                <a:t>2</a:t>
              </a:r>
              <a:endParaRPr lang="zh-CN" altLang="en-US" sz="2000">
                <a:latin typeface="Consolas" pitchFamily="49" charset="0"/>
              </a:endParaRPr>
            </a:p>
          </p:txBody>
        </p:sp>
        <p:cxnSp>
          <p:nvCxnSpPr>
            <p:cNvPr id="8" name="直接箭头连接符 7"/>
            <p:cNvCxnSpPr/>
            <p:nvPr/>
          </p:nvCxnSpPr>
          <p:spPr>
            <a:xfrm>
              <a:off x="2357422" y="5218654"/>
              <a:ext cx="1214446"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11" name="直接箭头连接符 10"/>
            <p:cNvCxnSpPr/>
            <p:nvPr/>
          </p:nvCxnSpPr>
          <p:spPr>
            <a:xfrm rot="16200000" flipH="1">
              <a:off x="2226917" y="5505665"/>
              <a:ext cx="554170" cy="554170"/>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2786050" y="528638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sp>
          <p:nvSpPr>
            <p:cNvPr id="13" name="TextBox 12"/>
            <p:cNvSpPr txBox="1"/>
            <p:nvPr/>
          </p:nvSpPr>
          <p:spPr>
            <a:xfrm>
              <a:off x="2143108" y="5715016"/>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14" name="TextBox 13"/>
            <p:cNvSpPr txBox="1"/>
            <p:nvPr/>
          </p:nvSpPr>
          <p:spPr>
            <a:xfrm>
              <a:off x="2786050" y="4857760"/>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16" name="直接箭头连接符 15"/>
            <p:cNvCxnSpPr/>
            <p:nvPr/>
          </p:nvCxnSpPr>
          <p:spPr>
            <a:xfrm rot="10800000">
              <a:off x="2357422" y="5308966"/>
              <a:ext cx="1214446" cy="1588"/>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p:nvPr/>
          </p:nvCxnSpPr>
          <p:spPr>
            <a:xfrm rot="5400000">
              <a:off x="3082321" y="5451072"/>
              <a:ext cx="554170" cy="482732"/>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3109373" y="5444257"/>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21" name="TextBox 20"/>
            <p:cNvSpPr txBox="1"/>
            <p:nvPr/>
          </p:nvSpPr>
          <p:spPr>
            <a:xfrm>
              <a:off x="2545454" y="5500702"/>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2</a:t>
              </a:r>
              <a:endParaRPr lang="zh-CN" altLang="en-US" sz="1800">
                <a:solidFill>
                  <a:srgbClr val="0000FF"/>
                </a:solidFill>
                <a:latin typeface="Consolas" pitchFamily="49" charset="0"/>
                <a:ea typeface="楷体" pitchFamily="49" charset="-122"/>
                <a:cs typeface="Consolas" pitchFamily="49" charset="0"/>
              </a:endParaRPr>
            </a:p>
          </p:txBody>
        </p:sp>
        <p:sp>
          <p:nvSpPr>
            <p:cNvPr id="22" name="TextBox 21"/>
            <p:cNvSpPr txBox="1"/>
            <p:nvPr/>
          </p:nvSpPr>
          <p:spPr>
            <a:xfrm>
              <a:off x="3357554" y="5643578"/>
              <a:ext cx="35719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Consolas" pitchFamily="49" charset="0"/>
                  <a:ea typeface="楷体" pitchFamily="49" charset="-122"/>
                  <a:cs typeface="Consolas" pitchFamily="49" charset="0"/>
                </a:rPr>
                <a:t>1</a:t>
              </a:r>
              <a:endParaRPr lang="zh-CN" altLang="en-US" sz="1800">
                <a:solidFill>
                  <a:srgbClr val="0000FF"/>
                </a:solidFill>
                <a:latin typeface="Consolas" pitchFamily="49" charset="0"/>
                <a:ea typeface="楷体" pitchFamily="49" charset="-122"/>
                <a:cs typeface="Consolas" pitchFamily="49" charset="0"/>
              </a:endParaRPr>
            </a:p>
          </p:txBody>
        </p:sp>
        <p:cxnSp>
          <p:nvCxnSpPr>
            <p:cNvPr id="24" name="直接箭头连接符 23"/>
            <p:cNvCxnSpPr>
              <a:stCxn id="6" idx="1"/>
              <a:endCxn id="4" idx="5"/>
            </p:cNvCxnSpPr>
            <p:nvPr/>
          </p:nvCxnSpPr>
          <p:spPr>
            <a:xfrm rot="16200000" flipV="1">
              <a:off x="2294651" y="5437931"/>
              <a:ext cx="554170" cy="554170"/>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flipH="1" flipV="1">
              <a:off x="3138766" y="5518806"/>
              <a:ext cx="554170" cy="482732"/>
            </a:xfrm>
            <a:prstGeom prst="straightConnector1">
              <a:avLst/>
            </a:prstGeom>
            <a:ln w="3810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23" name="灯片编号占位符 22"/>
          <p:cNvSpPr>
            <a:spLocks noGrp="1"/>
          </p:cNvSpPr>
          <p:nvPr>
            <p:ph type="sldNum" sz="quarter" idx="12"/>
          </p:nvPr>
        </p:nvSpPr>
        <p:spPr/>
        <p:txBody>
          <a:bodyPr/>
          <a:lstStyle/>
          <a:p>
            <a:fld id="{7AF016A1-9F15-429F-9EFD-84004B73C732}" type="slidenum">
              <a:rPr lang="en-US" altLang="zh-CN" smtClean="0"/>
              <a:pPr/>
              <a:t>97</a:t>
            </a:fld>
            <a:r>
              <a:rPr lang="en-US" altLang="zh-CN"/>
              <a:t>/126</a:t>
            </a:r>
          </a:p>
        </p:txBody>
      </p:sp>
      <p:grpSp>
        <p:nvGrpSpPr>
          <p:cNvPr id="25" name="组合 24"/>
          <p:cNvGrpSpPr/>
          <p:nvPr/>
        </p:nvGrpSpPr>
        <p:grpSpPr>
          <a:xfrm>
            <a:off x="428596" y="0"/>
            <a:ext cx="1041400" cy="1044575"/>
            <a:chOff x="857224" y="1071546"/>
            <a:chExt cx="1041400" cy="1044575"/>
          </a:xfrm>
        </p:grpSpPr>
        <p:sp>
          <p:nvSpPr>
            <p:cNvPr id="2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2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1521162"/>
            <a:ext cx="8001056" cy="183640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100"/>
              </a:lnSpc>
              <a:spcBef>
                <a:spcPts val="1200"/>
              </a:spcBef>
              <a:buBlip>
                <a:blip r:embed="rId3"/>
              </a:buBlip>
            </a:pPr>
            <a:r>
              <a:rPr lang="en-US" altLang="zh-CN">
                <a:solidFill>
                  <a:srgbClr val="0000FF"/>
                </a:solidFill>
                <a:latin typeface="Consolas" pitchFamily="49" charset="0"/>
                <a:ea typeface="仿宋" pitchFamily="49" charset="-122"/>
              </a:rPr>
              <a:t>Alice</a:t>
            </a:r>
            <a:r>
              <a:rPr lang="zh-CN" altLang="zh-CN">
                <a:solidFill>
                  <a:srgbClr val="0000FF"/>
                </a:solidFill>
                <a:latin typeface="Consolas" pitchFamily="49" charset="0"/>
                <a:ea typeface="仿宋" pitchFamily="49" charset="-122"/>
              </a:rPr>
              <a:t>最小距离的旅游路径就是一条</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路径，这里假设求</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路径长度。</a:t>
            </a:r>
            <a:endParaRPr lang="en-US" altLang="zh-CN">
              <a:solidFill>
                <a:srgbClr val="0000FF"/>
              </a:solidFill>
              <a:latin typeface="Consolas" pitchFamily="49" charset="0"/>
              <a:ea typeface="仿宋" pitchFamily="49" charset="-122"/>
            </a:endParaRPr>
          </a:p>
          <a:p>
            <a:pPr marL="457200" indent="-457200" algn="l">
              <a:lnSpc>
                <a:spcPts val="3100"/>
              </a:lnSpc>
              <a:spcBef>
                <a:spcPts val="1200"/>
              </a:spcBef>
              <a:buBlip>
                <a:blip r:embed="rId3"/>
              </a:buBlip>
            </a:pPr>
            <a:r>
              <a:rPr lang="zh-CN" altLang="zh-CN">
                <a:solidFill>
                  <a:srgbClr val="0000FF"/>
                </a:solidFill>
                <a:latin typeface="Consolas" pitchFamily="49" charset="0"/>
                <a:ea typeface="仿宋" pitchFamily="49" charset="-122"/>
              </a:rPr>
              <a:t>采用</a:t>
            </a:r>
            <a:r>
              <a:rPr lang="zh-CN" altLang="en-US">
                <a:solidFill>
                  <a:srgbClr val="0000FF"/>
                </a:solidFill>
                <a:latin typeface="Consolas" pitchFamily="49" charset="0"/>
                <a:ea typeface="仿宋" pitchFamily="49" charset="-122"/>
              </a:rPr>
              <a:t>优先队列式分支限界法</a:t>
            </a:r>
            <a:r>
              <a:rPr lang="zh-CN" altLang="zh-CN">
                <a:solidFill>
                  <a:srgbClr val="0000FF"/>
                </a:solidFill>
                <a:latin typeface="Consolas" pitchFamily="49" charset="0"/>
                <a:ea typeface="仿宋" pitchFamily="49" charset="-122"/>
              </a:rPr>
              <a:t>求解本例的思路与前面讨论的求解</a:t>
            </a:r>
            <a:r>
              <a:rPr lang="en-US" altLang="zh-CN">
                <a:solidFill>
                  <a:srgbClr val="0000FF"/>
                </a:solidFill>
                <a:latin typeface="Consolas" pitchFamily="49" charset="0"/>
                <a:ea typeface="仿宋" pitchFamily="49" charset="-122"/>
              </a:rPr>
              <a:t>TSP</a:t>
            </a:r>
            <a:r>
              <a:rPr lang="zh-CN" altLang="zh-CN">
                <a:solidFill>
                  <a:srgbClr val="0000FF"/>
                </a:solidFill>
                <a:latin typeface="Consolas" pitchFamily="49" charset="0"/>
                <a:ea typeface="仿宋" pitchFamily="49" charset="-122"/>
              </a:rPr>
              <a:t>路径完全相同，仅仅将起始点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设置为</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即可。</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98</a:t>
            </a:fld>
            <a:r>
              <a:rPr lang="en-US" altLang="zh-CN"/>
              <a:t>/126</a:t>
            </a:r>
          </a:p>
        </p:txBody>
      </p:sp>
      <p:pic>
        <p:nvPicPr>
          <p:cNvPr id="6" name="Picture 4"/>
          <p:cNvPicPr>
            <a:picLocks noChangeAspect="1" noChangeArrowheads="1"/>
          </p:cNvPicPr>
          <p:nvPr/>
        </p:nvPicPr>
        <p:blipFill>
          <a:blip r:embed="rId4" cstate="print"/>
          <a:srcRect/>
          <a:stretch>
            <a:fillRect/>
          </a:stretch>
        </p:blipFill>
        <p:spPr bwMode="auto">
          <a:xfrm>
            <a:off x="642911" y="71435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381307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优先队列的结点类型</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i;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解空间的层次</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当前顶点</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used;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用于路径中顶点判重</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length;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当前路径长度</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lb; </a:t>
            </a:r>
          </a:p>
          <a:p>
            <a:pPr algn="l" defTabSz="360000">
              <a:lnSpc>
                <a:spcPts val="2600"/>
              </a:lnSpc>
              <a:spcBef>
                <a:spcPts val="0"/>
              </a:spcBef>
            </a:pP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operator&lt;</a:t>
            </a:r>
            <a:r>
              <a:rPr lang="en-US" altLang="zh-CN" sz="2000">
                <a:solidFill>
                  <a:srgbClr val="0000FF"/>
                </a:solidFill>
                <a:latin typeface="Consolas" pitchFamily="49" charset="0"/>
                <a:ea typeface="仿宋" pitchFamily="49" charset="-122"/>
              </a:rPr>
              <a:t>(const QNode&amp;b) const {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lb&gt;b.lb;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按</a:t>
            </a:r>
            <a:r>
              <a:rPr lang="en-US" altLang="zh-CN" sz="2000">
                <a:solidFill>
                  <a:srgbClr val="00B0F0"/>
                </a:solidFill>
                <a:latin typeface="Consolas" pitchFamily="49" charset="0"/>
                <a:ea typeface="仿宋" pitchFamily="49" charset="-122"/>
              </a:rPr>
              <a:t>lb</a:t>
            </a:r>
            <a:r>
              <a:rPr lang="zh-CN" altLang="zh-CN" sz="2000">
                <a:solidFill>
                  <a:srgbClr val="00B0F0"/>
                </a:solidFill>
                <a:latin typeface="Consolas" pitchFamily="49" charset="0"/>
                <a:ea typeface="仿宋" pitchFamily="49" charset="-122"/>
              </a:rPr>
              <a:t>越小越优先出队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99</a:t>
            </a:fld>
            <a:r>
              <a:rPr lang="en-US" altLang="zh-CN"/>
              <a:t>/126</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299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const int INF=0x3f3f3f3f;</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vector&lt;vector&lt;int&gt;&gt; A;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邻接矩阵</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n;</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int S=0;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vector&lt;int&gt; </a:t>
            </a:r>
            <a:r>
              <a:rPr lang="en-US" altLang="zh-CN" sz="2000">
                <a:solidFill>
                  <a:srgbClr val="006600"/>
                </a:solidFill>
                <a:latin typeface="Consolas" pitchFamily="49" charset="0"/>
                <a:ea typeface="仿宋" pitchFamily="49" charset="-122"/>
              </a:rPr>
              <a:t>dist</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//dist[i]</a:t>
            </a:r>
            <a:r>
              <a:rPr lang="zh-CN" altLang="zh-CN" sz="2000">
                <a:solidFill>
                  <a:srgbClr val="00B0F0"/>
                </a:solidFill>
                <a:latin typeface="Consolas" pitchFamily="49" charset="0"/>
                <a:ea typeface="仿宋" pitchFamily="49" charset="-122"/>
              </a:rPr>
              <a:t>表示</a:t>
            </a:r>
            <a:r>
              <a:rPr lang="en-US" altLang="zh-CN" sz="2000">
                <a:solidFill>
                  <a:srgbClr val="00B0F0"/>
                </a:solidFill>
                <a:latin typeface="Consolas" pitchFamily="49" charset="0"/>
                <a:ea typeface="仿宋" pitchFamily="49" charset="-122"/>
              </a:rPr>
              <a:t>i</a:t>
            </a:r>
            <a:r>
              <a:rPr lang="zh-CN" altLang="zh-CN" sz="2000">
                <a:solidFill>
                  <a:srgbClr val="00B0F0"/>
                </a:solidFill>
                <a:latin typeface="Consolas" pitchFamily="49" charset="0"/>
                <a:ea typeface="仿宋" pitchFamily="49" charset="-122"/>
              </a:rPr>
              <a:t>到起点</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的最短路径长度</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minpathlen;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最短路径长度</a:t>
            </a:r>
          </a:p>
          <a:p>
            <a:pPr algn="l" defTabSz="360000">
              <a:lnSpc>
                <a:spcPts val="28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100</a:t>
            </a:fld>
            <a:r>
              <a:rPr lang="en-US" altLang="zh-CN"/>
              <a:t>/126</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54628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travelPlan</a:t>
            </a:r>
            <a:r>
              <a:rPr lang="en-US" altLang="zh-CN" sz="2000">
                <a:solidFill>
                  <a:srgbClr val="0000FF"/>
                </a:solidFill>
                <a:latin typeface="Consolas" pitchFamily="49" charset="0"/>
                <a:ea typeface="仿宋" pitchFamily="49" charset="-122"/>
              </a:rPr>
              <a:t>(vector&lt;vector&lt;int&gt;&gt; &amp;arr)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n=arr.size();</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if(n==1) return 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A=arr;</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minpathlen=INF;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	bfs</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minpathlen;</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endParaRPr lang="en-US"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bool </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(int used,int j)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判断顶点</a:t>
            </a:r>
            <a:r>
              <a:rPr lang="en-US" altLang="zh-CN" sz="2000">
                <a:solidFill>
                  <a:srgbClr val="00B050"/>
                </a:solidFill>
                <a:latin typeface="Consolas" pitchFamily="49" charset="0"/>
                <a:ea typeface="仿宋" pitchFamily="49" charset="-122"/>
              </a:rPr>
              <a:t>j</a:t>
            </a:r>
            <a:r>
              <a:rPr lang="zh-CN" altLang="zh-CN" sz="2000">
                <a:solidFill>
                  <a:srgbClr val="00B050"/>
                </a:solidFill>
                <a:latin typeface="Consolas" pitchFamily="49" charset="0"/>
                <a:ea typeface="仿宋" pitchFamily="49" charset="-122"/>
              </a:rPr>
              <a:t>是否在</a:t>
            </a:r>
            <a:r>
              <a:rPr lang="en-US" altLang="zh-CN" sz="2000">
                <a:solidFill>
                  <a:srgbClr val="00B050"/>
                </a:solidFill>
                <a:latin typeface="Consolas" pitchFamily="49" charset="0"/>
                <a:ea typeface="仿宋" pitchFamily="49" charset="-122"/>
              </a:rPr>
              <a:t>used</a:t>
            </a:r>
            <a:r>
              <a:rPr lang="zh-CN" altLang="zh-CN" sz="2000">
                <a:solidFill>
                  <a:srgbClr val="00B050"/>
                </a:solidFill>
                <a:latin typeface="Consolas" pitchFamily="49" charset="0"/>
                <a:ea typeface="仿宋" pitchFamily="49" charset="-122"/>
              </a:rPr>
              <a:t>中</a:t>
            </a: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(used&amp;(1&lt;&lt;j))!=0;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endParaRPr lang="en-US"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int </a:t>
            </a:r>
            <a:r>
              <a:rPr lang="en-US" altLang="zh-CN" sz="2000">
                <a:solidFill>
                  <a:srgbClr val="FF0000"/>
                </a:solidFill>
                <a:latin typeface="Consolas" pitchFamily="49" charset="0"/>
                <a:ea typeface="仿宋" pitchFamily="49" charset="-122"/>
              </a:rPr>
              <a:t>addj</a:t>
            </a:r>
            <a:r>
              <a:rPr lang="en-US" altLang="zh-CN" sz="2000">
                <a:solidFill>
                  <a:srgbClr val="0000FF"/>
                </a:solidFill>
                <a:latin typeface="Consolas" pitchFamily="49" charset="0"/>
                <a:ea typeface="仿宋" pitchFamily="49" charset="-122"/>
              </a:rPr>
              <a:t>(int used,int j)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在</a:t>
            </a:r>
            <a:r>
              <a:rPr lang="en-US" altLang="zh-CN" sz="2000">
                <a:solidFill>
                  <a:srgbClr val="00B050"/>
                </a:solidFill>
                <a:latin typeface="Consolas" pitchFamily="49" charset="0"/>
                <a:ea typeface="仿宋" pitchFamily="49" charset="-122"/>
              </a:rPr>
              <a:t>used</a:t>
            </a:r>
            <a:r>
              <a:rPr lang="zh-CN" altLang="zh-CN" sz="2000">
                <a:solidFill>
                  <a:srgbClr val="00B050"/>
                </a:solidFill>
                <a:latin typeface="Consolas" pitchFamily="49" charset="0"/>
                <a:ea typeface="仿宋" pitchFamily="49" charset="-122"/>
              </a:rPr>
              <a:t>中添加顶点</a:t>
            </a:r>
            <a:r>
              <a:rPr lang="en-US" altLang="zh-CN" sz="2000">
                <a:solidFill>
                  <a:srgbClr val="00B050"/>
                </a:solidFill>
                <a:latin typeface="Consolas" pitchFamily="49" charset="0"/>
                <a:ea typeface="仿宋" pitchFamily="49" charset="-122"/>
              </a:rPr>
              <a:t>j</a:t>
            </a:r>
            <a:endParaRPr lang="zh-CN" altLang="zh-CN" sz="2000">
              <a:solidFill>
                <a:srgbClr val="00B05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return used | (1&lt;&lt;j);</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101</a:t>
            </a:fld>
            <a:r>
              <a:rPr lang="en-US" altLang="zh-CN"/>
              <a:t>/126</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579624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6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mindists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求单源最短路径</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原理见</a:t>
            </a:r>
            <a:r>
              <a:rPr lang="en-US" altLang="zh-CN" sz="2000">
                <a:solidFill>
                  <a:srgbClr val="00B050"/>
                </a:solidFill>
                <a:latin typeface="Consolas" pitchFamily="49" charset="0"/>
                <a:ea typeface="仿宋" pitchFamily="49" charset="-122"/>
              </a:rPr>
              <a:t>6.4</a:t>
            </a:r>
            <a:r>
              <a:rPr lang="zh-CN" altLang="zh-CN" sz="2000">
                <a:solidFill>
                  <a:srgbClr val="00B050"/>
                </a:solidFill>
                <a:latin typeface="Consolas" pitchFamily="49" charset="0"/>
                <a:ea typeface="仿宋" pitchFamily="49" charset="-122"/>
              </a:rPr>
              <a:t>节</a:t>
            </a:r>
            <a:r>
              <a:rPr lang="en-US" altLang="zh-CN" sz="2000">
                <a:solidFill>
                  <a:srgbClr val="00B050"/>
                </a:solidFill>
                <a:latin typeface="Consolas" pitchFamily="49" charset="0"/>
                <a:ea typeface="仿宋" pitchFamily="49" charset="-122"/>
              </a:rPr>
              <a:t>)</a:t>
            </a:r>
            <a:endParaRPr lang="zh-CN" altLang="zh-CN" sz="2000">
              <a:solidFill>
                <a:srgbClr val="00B05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dist=vector&lt;int&gt;(n,INF);</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queue&lt;int&gt; qu;</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源点结点</a:t>
            </a:r>
            <a:r>
              <a:rPr lang="en-US" altLang="zh-CN" sz="2000">
                <a:solidFill>
                  <a:srgbClr val="00B0F0"/>
                </a:solidFill>
                <a:latin typeface="Consolas" pitchFamily="49" charset="0"/>
                <a:ea typeface="仿宋" pitchFamily="49" charset="-122"/>
              </a:rPr>
              <a:t>e</a:t>
            </a:r>
            <a:r>
              <a:rPr lang="zh-CN" altLang="zh-CN" sz="2000">
                <a:solidFill>
                  <a:srgbClr val="00B0F0"/>
                </a:solidFill>
                <a:latin typeface="Consolas" pitchFamily="49" charset="0"/>
                <a:ea typeface="仿宋" pitchFamily="49" charset="-122"/>
              </a:rPr>
              <a:t>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dist[S]=0;</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while(!qu.empty())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队列不空循环</a:t>
            </a:r>
          </a:p>
          <a:p>
            <a:pPr algn="l" defTabSz="360000">
              <a:lnSpc>
                <a:spcPts val="2600"/>
              </a:lnSpc>
              <a:spcBef>
                <a:spcPts val="0"/>
              </a:spcBef>
            </a:pPr>
            <a:r>
              <a:rPr lang="en-US" altLang="zh-CN" sz="2000">
                <a:solidFill>
                  <a:srgbClr val="0000FF"/>
                </a:solidFill>
                <a:latin typeface="Consolas" pitchFamily="49" charset="0"/>
                <a:ea typeface="仿宋" pitchFamily="49" charset="-122"/>
              </a:rPr>
              <a:t>		int u=qu.front();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出队顶点</a:t>
            </a:r>
            <a:r>
              <a:rPr lang="en-US" altLang="zh-CN" sz="2000">
                <a:solidFill>
                  <a:srgbClr val="00B0F0"/>
                </a:solidFill>
                <a:latin typeface="Consolas" pitchFamily="49" charset="0"/>
                <a:ea typeface="仿宋" pitchFamily="49" charset="-122"/>
              </a:rPr>
              <a:t>u</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for (int v=0;v&lt;n;v++)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找相邻点</a:t>
            </a:r>
            <a:r>
              <a:rPr lang="en-US" altLang="zh-CN" sz="2000">
                <a:solidFill>
                  <a:srgbClr val="00B0F0"/>
                </a:solidFill>
                <a:latin typeface="Consolas" pitchFamily="49" charset="0"/>
                <a:ea typeface="仿宋" pitchFamily="49" charset="-122"/>
              </a:rPr>
              <a:t>v</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if(A[v][u]!=0 &amp;&amp; A[v][u]!=INF)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存在边</a:t>
            </a:r>
            <a:r>
              <a:rPr lang="en-US" altLang="zh-CN" sz="2000">
                <a:solidFill>
                  <a:srgbClr val="00B0F0"/>
                </a:solidFill>
                <a:latin typeface="Consolas" pitchFamily="49" charset="0"/>
                <a:ea typeface="仿宋" pitchFamily="49" charset="-122"/>
              </a:rPr>
              <a:t>&lt;v,u&gt;</a:t>
            </a:r>
            <a:endParaRPr lang="zh-CN" altLang="zh-CN" sz="2000">
              <a:solidFill>
                <a:srgbClr val="00B0F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006600"/>
                </a:solidFill>
                <a:latin typeface="Consolas" pitchFamily="49" charset="0"/>
                <a:ea typeface="仿宋" pitchFamily="49" charset="-122"/>
              </a:rPr>
              <a:t>if(dist[u]+A[v][u]&lt;dist[v]) {	//</a:t>
            </a:r>
            <a:r>
              <a:rPr lang="zh-CN" altLang="zh-CN" sz="2000">
                <a:solidFill>
                  <a:srgbClr val="006600"/>
                </a:solidFill>
                <a:latin typeface="Consolas" pitchFamily="49" charset="0"/>
                <a:ea typeface="仿宋" pitchFamily="49" charset="-122"/>
              </a:rPr>
              <a:t>剪支</a:t>
            </a:r>
            <a:r>
              <a:rPr lang="en-US" altLang="zh-CN" sz="2000">
                <a:solidFill>
                  <a:srgbClr val="006600"/>
                </a:solidFill>
                <a:latin typeface="Consolas" pitchFamily="49" charset="0"/>
                <a:ea typeface="仿宋" pitchFamily="49" charset="-122"/>
              </a:rPr>
              <a:t>(</a:t>
            </a:r>
            <a:r>
              <a:rPr lang="zh-CN" altLang="zh-CN" sz="2000">
                <a:solidFill>
                  <a:srgbClr val="006600"/>
                </a:solidFill>
                <a:latin typeface="Consolas" pitchFamily="49" charset="0"/>
                <a:ea typeface="仿宋" pitchFamily="49" charset="-122"/>
              </a:rPr>
              <a:t>边松弛</a:t>
            </a:r>
            <a:r>
              <a:rPr lang="en-US" altLang="zh-CN" sz="2000">
                <a:solidFill>
                  <a:srgbClr val="006600"/>
                </a:solidFill>
                <a:latin typeface="Consolas" pitchFamily="49" charset="0"/>
                <a:ea typeface="仿宋" pitchFamily="49" charset="-122"/>
              </a:rPr>
              <a:t>)</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6600"/>
                </a:solidFill>
                <a:latin typeface="Consolas" pitchFamily="49" charset="0"/>
                <a:ea typeface="仿宋" pitchFamily="49" charset="-122"/>
              </a:rPr>
              <a:t>					dist[v]=dist[u]+A[v][u];</a:t>
            </a:r>
            <a:endParaRPr lang="zh-CN" altLang="zh-CN" sz="2000">
              <a:solidFill>
                <a:srgbClr val="006600"/>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qu.push(v);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v</a:t>
            </a:r>
            <a:r>
              <a:rPr lang="zh-CN" altLang="zh-CN" sz="2000">
                <a:solidFill>
                  <a:srgbClr val="00B0F0"/>
                </a:solidFill>
                <a:latin typeface="Consolas" pitchFamily="49" charset="0"/>
                <a:ea typeface="仿宋" pitchFamily="49" charset="-122"/>
              </a:rPr>
              <a:t>进队</a:t>
            </a: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6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102</a:t>
            </a:fld>
            <a:r>
              <a:rPr lang="en-US" altLang="zh-CN"/>
              <a:t>/126</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571480"/>
            <a:ext cx="8715436" cy="4071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void </a:t>
            </a:r>
            <a:r>
              <a:rPr lang="en-US" altLang="zh-CN" sz="2000">
                <a:solidFill>
                  <a:srgbClr val="FF0000"/>
                </a:solidFill>
                <a:latin typeface="Consolas" pitchFamily="49" charset="0"/>
                <a:ea typeface="仿宋" pitchFamily="49" charset="-122"/>
              </a:rPr>
              <a:t>bfs</a:t>
            </a:r>
            <a:r>
              <a:rPr lang="en-US" altLang="zh-CN" sz="2000">
                <a:solidFill>
                  <a:srgbClr val="0000FF"/>
                </a:solidFill>
                <a:latin typeface="Consolas" pitchFamily="49" charset="0"/>
                <a:ea typeface="仿宋" pitchFamily="49" charset="-122"/>
              </a:rPr>
              <a:t>()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优化限界函数值的分支限界法算法</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r>
              <a:rPr lang="en-US" altLang="zh-CN" sz="2000">
                <a:solidFill>
                  <a:srgbClr val="FF0000"/>
                </a:solidFill>
                <a:latin typeface="Consolas" pitchFamily="49" charset="0"/>
                <a:ea typeface="仿宋" pitchFamily="49" charset="-122"/>
              </a:rPr>
              <a:t>mindists</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求</a:t>
            </a:r>
            <a:r>
              <a:rPr lang="en-US" altLang="zh-CN" sz="2000">
                <a:solidFill>
                  <a:srgbClr val="00B0F0"/>
                </a:solidFill>
                <a:latin typeface="Consolas" pitchFamily="49" charset="0"/>
                <a:ea typeface="仿宋" pitchFamily="49" charset="-122"/>
              </a:rPr>
              <a:t>dist</a:t>
            </a:r>
            <a:r>
              <a:rPr lang="zh-CN" altLang="zh-CN" sz="2000">
                <a:solidFill>
                  <a:srgbClr val="00B0F0"/>
                </a:solidFill>
                <a:latin typeface="Consolas" pitchFamily="49" charset="0"/>
                <a:ea typeface="仿宋" pitchFamily="49" charset="-122"/>
              </a:rPr>
              <a:t>数组</a:t>
            </a:r>
          </a:p>
          <a:p>
            <a:pPr algn="l" defTabSz="360000">
              <a:lnSpc>
                <a:spcPts val="2800"/>
              </a:lnSpc>
              <a:spcBef>
                <a:spcPts val="0"/>
              </a:spcBef>
            </a:pPr>
            <a:r>
              <a:rPr lang="en-US" altLang="zh-CN" sz="2000">
                <a:solidFill>
                  <a:srgbClr val="0000FF"/>
                </a:solidFill>
                <a:latin typeface="Consolas" pitchFamily="49" charset="0"/>
                <a:ea typeface="仿宋" pitchFamily="49" charset="-122"/>
              </a:rPr>
              <a:t>	QNode e,e1;</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priority_queue&lt;QNode&gt; qu;</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e.i=0;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根结点层次为</a:t>
            </a:r>
            <a:r>
              <a:rPr lang="en-US" altLang="zh-CN" sz="2000">
                <a:solidFill>
                  <a:srgbClr val="00B0F0"/>
                </a:solidFill>
                <a:latin typeface="Consolas" pitchFamily="49" charset="0"/>
                <a:ea typeface="仿宋" pitchFamily="49" charset="-122"/>
              </a:rPr>
              <a:t>0</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e.vno=S;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起始顶点为</a:t>
            </a:r>
            <a:r>
              <a:rPr lang="en-US" altLang="zh-CN" sz="2000">
                <a:solidFill>
                  <a:srgbClr val="00B0F0"/>
                </a:solidFill>
                <a:latin typeface="Consolas" pitchFamily="49" charset="0"/>
                <a:ea typeface="仿宋" pitchFamily="49" charset="-122"/>
              </a:rPr>
              <a:t>s</a:t>
            </a: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e.length=0;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e.lb=e.length+dist[S];</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e.used=0;</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e.used=addj(e.used,S);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表示顶点</a:t>
            </a:r>
            <a:r>
              <a:rPr lang="en-US" altLang="zh-CN" sz="2000">
                <a:solidFill>
                  <a:srgbClr val="00B0F0"/>
                </a:solidFill>
                <a:latin typeface="Consolas" pitchFamily="49" charset="0"/>
                <a:ea typeface="仿宋" pitchFamily="49" charset="-122"/>
              </a:rPr>
              <a:t>s</a:t>
            </a:r>
            <a:r>
              <a:rPr lang="zh-CN" altLang="zh-CN" sz="2000">
                <a:solidFill>
                  <a:srgbClr val="00B0F0"/>
                </a:solidFill>
                <a:latin typeface="Consolas" pitchFamily="49" charset="0"/>
                <a:ea typeface="仿宋" pitchFamily="49" charset="-122"/>
              </a:rPr>
              <a:t>已经访问</a:t>
            </a:r>
          </a:p>
          <a:p>
            <a:pPr algn="l" defTabSz="360000">
              <a:lnSpc>
                <a:spcPts val="2800"/>
              </a:lnSpc>
              <a:spcBef>
                <a:spcPts val="0"/>
              </a:spcBef>
            </a:pPr>
            <a:r>
              <a:rPr lang="en-US" altLang="zh-CN" sz="2000">
                <a:solidFill>
                  <a:srgbClr val="0000FF"/>
                </a:solidFill>
                <a:latin typeface="Consolas" pitchFamily="49" charset="0"/>
                <a:ea typeface="仿宋" pitchFamily="49" charset="-122"/>
              </a:rPr>
              <a:t>	qu.push(e);</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103</a:t>
            </a:fld>
            <a:r>
              <a:rPr lang="en-US" altLang="zh-CN"/>
              <a:t>/126</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133823"/>
            <a:ext cx="8715436" cy="39624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while(!qu.empty()) {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e=qu.top(); qu.pop();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出队一个结点</a:t>
            </a:r>
            <a:r>
              <a:rPr lang="en-US" altLang="zh-CN" sz="2000">
                <a:solidFill>
                  <a:srgbClr val="00B0F0"/>
                </a:solidFill>
                <a:latin typeface="Consolas" pitchFamily="49" charset="0"/>
                <a:ea typeface="仿宋" pitchFamily="49" charset="-122"/>
              </a:rPr>
              <a:t>e</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e1.i=e.i+1;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扩展下一层</a:t>
            </a: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j=0;j&lt;n;j++)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试探</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a:t>
            </a:r>
            <a:r>
              <a:rPr lang="en-US" altLang="zh-CN" sz="2000">
                <a:solidFill>
                  <a:srgbClr val="00B0F0"/>
                </a:solidFill>
                <a:latin typeface="Consolas" pitchFamily="49" charset="0"/>
                <a:ea typeface="仿宋" pitchFamily="49" charset="-122"/>
              </a:rPr>
              <a:t>n-1</a:t>
            </a:r>
            <a:r>
              <a:rPr lang="zh-CN" altLang="zh-CN" sz="2000">
                <a:solidFill>
                  <a:srgbClr val="00B0F0"/>
                </a:solidFill>
                <a:latin typeface="Consolas" pitchFamily="49" charset="0"/>
                <a:ea typeface="仿宋" pitchFamily="49" charset="-122"/>
              </a:rPr>
              <a:t>的顶点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00"/>
                </a:solidFill>
                <a:latin typeface="Consolas" pitchFamily="49" charset="0"/>
                <a:ea typeface="仿宋" pitchFamily="49" charset="-122"/>
              </a:rPr>
              <a:t>inset</a:t>
            </a:r>
            <a:r>
              <a:rPr lang="en-US" altLang="zh-CN" sz="2000">
                <a:solidFill>
                  <a:srgbClr val="0000FF"/>
                </a:solidFill>
                <a:latin typeface="Consolas" pitchFamily="49" charset="0"/>
                <a:ea typeface="仿宋" pitchFamily="49" charset="-122"/>
              </a:rPr>
              <a:t>(e.used,j))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出现时跳过</a:t>
            </a:r>
          </a:p>
          <a:p>
            <a:pPr algn="l" defTabSz="360000">
              <a:lnSpc>
                <a:spcPts val="3000"/>
              </a:lnSpc>
              <a:spcBef>
                <a:spcPts val="0"/>
              </a:spcBef>
            </a:pPr>
            <a:r>
              <a:rPr lang="en-US" altLang="zh-CN" sz="2000">
                <a:solidFill>
                  <a:srgbClr val="0000FF"/>
                </a:solidFill>
                <a:latin typeface="Consolas" pitchFamily="49" charset="0"/>
                <a:ea typeface="仿宋" pitchFamily="49" charset="-122"/>
              </a:rPr>
              <a:t>			continue;</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e1.vno=j;								</a:t>
            </a:r>
            <a:r>
              <a:rPr lang="en-US" altLang="zh-CN" sz="2000">
                <a:solidFill>
                  <a:srgbClr val="00B0F0"/>
                </a:solidFill>
                <a:latin typeface="Consolas" pitchFamily="49" charset="0"/>
                <a:ea typeface="仿宋" pitchFamily="49" charset="-122"/>
              </a:rPr>
              <a:t>//e1.i</a:t>
            </a:r>
            <a:r>
              <a:rPr lang="zh-CN" altLang="zh-CN" sz="2000">
                <a:solidFill>
                  <a:srgbClr val="00B0F0"/>
                </a:solidFill>
                <a:latin typeface="Consolas" pitchFamily="49" charset="0"/>
                <a:ea typeface="仿宋" pitchFamily="49" charset="-122"/>
              </a:rPr>
              <a:t>层选择顶点</a:t>
            </a:r>
            <a:r>
              <a:rPr lang="en-US" altLang="zh-CN" sz="2000">
                <a:solidFill>
                  <a:srgbClr val="00B0F0"/>
                </a:solidFill>
                <a:latin typeface="Consolas" pitchFamily="49" charset="0"/>
                <a:ea typeface="仿宋" pitchFamily="49" charset="-122"/>
              </a:rPr>
              <a:t>j</a:t>
            </a:r>
            <a:endParaRPr lang="zh-CN" altLang="zh-CN" sz="2000">
              <a:solidFill>
                <a:srgbClr val="00B0F0"/>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e1.used=addj(e.used,j);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标识顶点</a:t>
            </a:r>
            <a:r>
              <a:rPr lang="en-US" altLang="zh-CN" sz="2000">
                <a:solidFill>
                  <a:srgbClr val="00B0F0"/>
                </a:solidFill>
                <a:latin typeface="Consolas" pitchFamily="49" charset="0"/>
                <a:ea typeface="仿宋" pitchFamily="49" charset="-122"/>
              </a:rPr>
              <a:t>j</a:t>
            </a:r>
            <a:r>
              <a:rPr lang="zh-CN" altLang="zh-CN" sz="2000">
                <a:solidFill>
                  <a:srgbClr val="00B0F0"/>
                </a:solidFill>
                <a:latin typeface="Consolas" pitchFamily="49" charset="0"/>
                <a:ea typeface="仿宋" pitchFamily="49" charset="-122"/>
              </a:rPr>
              <a:t>已经访问</a:t>
            </a:r>
          </a:p>
          <a:p>
            <a:pPr algn="l" defTabSz="360000">
              <a:lnSpc>
                <a:spcPts val="3000"/>
              </a:lnSpc>
              <a:spcBef>
                <a:spcPts val="0"/>
              </a:spcBef>
            </a:pPr>
            <a:r>
              <a:rPr lang="en-US" altLang="zh-CN" sz="2000">
                <a:solidFill>
                  <a:srgbClr val="0000FF"/>
                </a:solidFill>
                <a:latin typeface="Consolas" pitchFamily="49" charset="0"/>
                <a:ea typeface="仿宋" pitchFamily="49" charset="-122"/>
              </a:rPr>
              <a:t>		e1.length=e.length+A[e.vno][e1.vno];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累计路径长度</a:t>
            </a:r>
          </a:p>
          <a:p>
            <a:pPr algn="l" defTabSz="360000">
              <a:lnSpc>
                <a:spcPts val="3000"/>
              </a:lnSpc>
              <a:spcBef>
                <a:spcPts val="0"/>
              </a:spcBef>
            </a:pPr>
            <a:r>
              <a:rPr lang="en-US" altLang="zh-CN" sz="2000">
                <a:solidFill>
                  <a:srgbClr val="0000FF"/>
                </a:solidFill>
                <a:latin typeface="Consolas" pitchFamily="49" charset="0"/>
                <a:ea typeface="仿宋" pitchFamily="49" charset="-122"/>
              </a:rPr>
              <a:t>		e1.lb=e1.length+dist[e1.vno];</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104</a:t>
            </a:fld>
            <a:r>
              <a:rPr lang="en-US" altLang="zh-CN"/>
              <a:t>/126</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44" y="133823"/>
            <a:ext cx="8715436" cy="51165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e1.i==n-1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为叶子结点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e1.length+A[e1.vno][S]&lt;minpathlen</a:t>
            </a:r>
            <a:r>
              <a:rPr lang="en-US" altLang="zh-CN" sz="2000">
                <a:solidFill>
                  <a:srgbClr val="0000FF"/>
                </a:solidFill>
                <a:latin typeface="Consolas" pitchFamily="49" charset="0"/>
                <a:ea typeface="仿宋" pitchFamily="49" charset="-122"/>
              </a:rPr>
              <a:t>) {</a:t>
            </a:r>
          </a:p>
          <a:p>
            <a:pPr algn="l" defTabSz="360000">
              <a:lnSpc>
                <a:spcPts val="3000"/>
              </a:lnSpc>
              <a:spcBef>
                <a:spcPts val="0"/>
              </a:spcBef>
            </a:pPr>
            <a:r>
              <a:rPr lang="en-US" altLang="zh-CN" sz="2000">
                <a:solidFill>
                  <a:srgbClr val="0000FF"/>
                </a:solidFill>
                <a:latin typeface="Consolas" pitchFamily="49" charset="0"/>
                <a:ea typeface="仿宋" pitchFamily="49" charset="-122"/>
              </a:rPr>
              <a:t>						minpathlen=e1.length+A[e1.vno][S];</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e1.i&lt;n-1</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为非叶子结点</a:t>
            </a: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3300"/>
                </a:solidFill>
                <a:latin typeface="Consolas" pitchFamily="49" charset="0"/>
                <a:ea typeface="仿宋" pitchFamily="49" charset="-122"/>
              </a:rPr>
              <a:t>e1.length+dist[e1.vno]&lt;minpathlen</a:t>
            </a:r>
            <a:r>
              <a:rPr lang="en-US" altLang="zh-CN" sz="2000">
                <a:solidFill>
                  <a:srgbClr val="0000FF"/>
                </a:solidFill>
                <a:latin typeface="Consolas" pitchFamily="49" charset="0"/>
                <a:ea typeface="仿宋" pitchFamily="49" charset="-122"/>
              </a:rPr>
              <a:t>)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剪支</a:t>
            </a:r>
          </a:p>
          <a:p>
            <a:pPr algn="l" defTabSz="360000">
              <a:lnSpc>
                <a:spcPts val="3000"/>
              </a:lnSpc>
              <a:spcBef>
                <a:spcPts val="0"/>
              </a:spcBef>
            </a:pPr>
            <a:r>
              <a:rPr lang="en-US" altLang="zh-CN" sz="2000">
                <a:solidFill>
                  <a:srgbClr val="0000FF"/>
                </a:solidFill>
                <a:latin typeface="Consolas" pitchFamily="49" charset="0"/>
                <a:ea typeface="仿宋" pitchFamily="49" charset="-122"/>
              </a:rPr>
              <a:t>						qu.push(e1);										</a:t>
            </a:r>
            <a:r>
              <a:rPr lang="en-US" altLang="zh-CN" sz="2000">
                <a:solidFill>
                  <a:srgbClr val="00B0F0"/>
                </a:solidFill>
                <a:latin typeface="Consolas" pitchFamily="49" charset="0"/>
                <a:ea typeface="仿宋" pitchFamily="49" charset="-122"/>
              </a:rPr>
              <a:t>//e1</a:t>
            </a:r>
            <a:r>
              <a:rPr lang="zh-CN" altLang="zh-CN" sz="2000">
                <a:solidFill>
                  <a:srgbClr val="00B0F0"/>
                </a:solidFill>
                <a:latin typeface="Consolas" pitchFamily="49" charset="0"/>
                <a:ea typeface="仿宋" pitchFamily="49" charset="-122"/>
              </a:rPr>
              <a:t>进队</a:t>
            </a: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grpSp>
        <p:nvGrpSpPr>
          <p:cNvPr id="4" name="组合 9"/>
          <p:cNvGrpSpPr/>
          <p:nvPr/>
        </p:nvGrpSpPr>
        <p:grpSpPr>
          <a:xfrm>
            <a:off x="857224" y="5643578"/>
            <a:ext cx="6858048" cy="461665"/>
            <a:chOff x="1071538" y="6286520"/>
            <a:chExt cx="6858048" cy="461665"/>
          </a:xfrm>
        </p:grpSpPr>
        <p:sp>
          <p:nvSpPr>
            <p:cNvPr id="5" name="TextBox 4"/>
            <p:cNvSpPr txBox="1"/>
            <p:nvPr/>
          </p:nvSpPr>
          <p:spPr>
            <a:xfrm>
              <a:off x="1928794" y="6286520"/>
              <a:ext cx="600079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61ms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5.64MB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7" name="灯片编号占位符 6"/>
          <p:cNvSpPr>
            <a:spLocks noGrp="1"/>
          </p:cNvSpPr>
          <p:nvPr>
            <p:ph type="sldNum" sz="quarter" idx="12"/>
          </p:nvPr>
        </p:nvSpPr>
        <p:spPr/>
        <p:txBody>
          <a:bodyPr/>
          <a:lstStyle/>
          <a:p>
            <a:fld id="{7AF016A1-9F15-429F-9EFD-84004B73C732}" type="slidenum">
              <a:rPr lang="en-US" altLang="zh-CN" smtClean="0"/>
              <a:pPr/>
              <a:t>105</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1928794" y="428604"/>
            <a:ext cx="4786346" cy="58477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6.10* A*</a:t>
            </a:r>
            <a:r>
              <a:rPr lang="zh-CN" altLang="zh-CN"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rPr>
              <a:t>算法及其应用</a:t>
            </a:r>
            <a:endParaRPr lang="zh-CN" altLang="en-US" sz="32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5" name="TextBox 4"/>
          <p:cNvSpPr txBox="1"/>
          <p:nvPr/>
        </p:nvSpPr>
        <p:spPr>
          <a:xfrm>
            <a:off x="357158" y="1643050"/>
            <a:ext cx="364333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pt-BR" altLang="zh-CN" sz="2800">
                <a:latin typeface="Consolas" pitchFamily="49" charset="0"/>
                <a:ea typeface="微软雅黑" pitchFamily="34" charset="-122"/>
                <a:cs typeface="Consolas" pitchFamily="49" charset="0"/>
              </a:rPr>
              <a:t>6.10.1 </a:t>
            </a:r>
            <a:r>
              <a:rPr lang="en-US" altLang="zh-CN" sz="2800">
                <a:latin typeface="Consolas" pitchFamily="49" charset="0"/>
                <a:ea typeface="微软雅黑" pitchFamily="34" charset="-122"/>
                <a:cs typeface="Consolas" pitchFamily="49" charset="0"/>
              </a:rPr>
              <a:t>A*</a:t>
            </a:r>
            <a:r>
              <a:rPr lang="zh-CN" altLang="en-US" sz="2800">
                <a:latin typeface="Consolas" pitchFamily="49" charset="0"/>
                <a:ea typeface="微软雅黑" pitchFamily="34" charset="-122"/>
                <a:cs typeface="Consolas" pitchFamily="49" charset="0"/>
              </a:rPr>
              <a:t>算法概述</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500034" y="2500306"/>
            <a:ext cx="8358246"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A-Star</a:t>
            </a:r>
            <a:r>
              <a:rPr lang="zh-CN" altLang="zh-CN">
                <a:solidFill>
                  <a:srgbClr val="0000FF"/>
                </a:solidFill>
                <a:latin typeface="Consolas" pitchFamily="49" charset="0"/>
                <a:ea typeface="仿宋" pitchFamily="49" charset="-122"/>
              </a:rPr>
              <a:t>）算法是一种</a:t>
            </a:r>
            <a:r>
              <a:rPr lang="zh-CN" altLang="zh-CN">
                <a:solidFill>
                  <a:srgbClr val="FF0000"/>
                </a:solidFill>
                <a:latin typeface="Consolas" pitchFamily="49" charset="0"/>
                <a:ea typeface="仿宋" pitchFamily="49" charset="-122"/>
              </a:rPr>
              <a:t>启发式</a:t>
            </a:r>
            <a:r>
              <a:rPr lang="zh-CN" altLang="zh-CN">
                <a:solidFill>
                  <a:srgbClr val="0000FF"/>
                </a:solidFill>
                <a:latin typeface="Consolas" pitchFamily="49" charset="0"/>
                <a:ea typeface="仿宋" pitchFamily="49" charset="-122"/>
              </a:rPr>
              <a:t>搜索算法，可以高效地搜索从一个初始状态到达一个目标状态的最小代价的路径。</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算法类似于优先队列式分支限界法，当从一个结点扩展出多个子结点时，</a:t>
            </a: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给每个可选的子结点设置一个代价值，然后选择代价最小的子结点尝试。</a:t>
            </a:r>
            <a:endParaRPr lang="zh-CN" altLang="en-US">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106</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071546"/>
            <a:ext cx="8501122" cy="160236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算法在搜索过程中设置两个表即</a:t>
            </a:r>
            <a:r>
              <a:rPr lang="en-US" altLang="zh-CN">
                <a:solidFill>
                  <a:srgbClr val="0000FF"/>
                </a:solidFill>
                <a:latin typeface="Consolas" pitchFamily="49" charset="0"/>
                <a:ea typeface="仿宋" pitchFamily="49" charset="-122"/>
              </a:rPr>
              <a:t>OPEN</a:t>
            </a:r>
            <a:r>
              <a:rPr lang="zh-CN" altLang="zh-CN">
                <a:solidFill>
                  <a:srgbClr val="0000FF"/>
                </a:solidFill>
                <a:latin typeface="Consolas" pitchFamily="49" charset="0"/>
                <a:ea typeface="仿宋" pitchFamily="49" charset="-122"/>
              </a:rPr>
              <a:t>表和</a:t>
            </a:r>
            <a:r>
              <a:rPr lang="en-US" altLang="zh-CN">
                <a:solidFill>
                  <a:srgbClr val="0000FF"/>
                </a:solidFill>
                <a:latin typeface="Consolas" pitchFamily="49" charset="0"/>
                <a:ea typeface="仿宋" pitchFamily="49" charset="-122"/>
              </a:rPr>
              <a:t>CLOSED</a:t>
            </a:r>
            <a:r>
              <a:rPr lang="zh-CN" altLang="zh-CN">
                <a:solidFill>
                  <a:srgbClr val="0000FF"/>
                </a:solidFill>
                <a:latin typeface="Consolas" pitchFamily="49" charset="0"/>
                <a:ea typeface="仿宋" pitchFamily="49" charset="-122"/>
              </a:rPr>
              <a:t>表</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OPEN</a:t>
            </a:r>
            <a:r>
              <a:rPr lang="zh-CN" altLang="zh-CN">
                <a:solidFill>
                  <a:srgbClr val="0000FF"/>
                </a:solidFill>
                <a:latin typeface="Consolas" pitchFamily="49" charset="0"/>
                <a:ea typeface="仿宋" pitchFamily="49" charset="-122"/>
              </a:rPr>
              <a:t>表保存了所有已生成而未考察的结点</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en-US" altLang="zh-CN">
                <a:solidFill>
                  <a:srgbClr val="0000FF"/>
                </a:solidFill>
                <a:latin typeface="Consolas" pitchFamily="49" charset="0"/>
                <a:ea typeface="仿宋" pitchFamily="49" charset="-122"/>
              </a:rPr>
              <a:t>CLOSED</a:t>
            </a:r>
            <a:r>
              <a:rPr lang="zh-CN" altLang="zh-CN">
                <a:solidFill>
                  <a:srgbClr val="0000FF"/>
                </a:solidFill>
                <a:latin typeface="Consolas" pitchFamily="49" charset="0"/>
                <a:ea typeface="仿宋" pitchFamily="49" charset="-122"/>
              </a:rPr>
              <a:t>表中记录已访问过的结点。</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107</a:t>
            </a:fld>
            <a:r>
              <a:rPr lang="en-US" altLang="zh-CN"/>
              <a:t>/126</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142984"/>
            <a:ext cx="8429684" cy="413049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把起点</a:t>
            </a:r>
            <a:r>
              <a:rPr lang="en-US" altLang="zh-CN" sz="2200">
                <a:solidFill>
                  <a:srgbClr val="0000FF"/>
                </a:solidFill>
                <a:latin typeface="Consolas" pitchFamily="49" charset="0"/>
                <a:ea typeface="仿宋" pitchFamily="49" charset="-122"/>
              </a:rPr>
              <a:t>s</a:t>
            </a:r>
            <a:r>
              <a:rPr lang="zh-CN" altLang="zh-CN" sz="2200">
                <a:solidFill>
                  <a:srgbClr val="0000FF"/>
                </a:solidFill>
                <a:latin typeface="Consolas" pitchFamily="49" charset="0"/>
                <a:ea typeface="仿宋" pitchFamily="49" charset="-122"/>
              </a:rPr>
              <a:t>放入</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a:t>
            </a:r>
            <a:r>
              <a:rPr lang="en-US" altLang="zh-CN" sz="2200">
                <a:solidFill>
                  <a:srgbClr val="0000FF"/>
                </a:solidFill>
                <a:latin typeface="Consolas" pitchFamily="49" charset="0"/>
                <a:ea typeface="仿宋" pitchFamily="49" charset="-122"/>
              </a:rPr>
              <a:t>CLOSED</a:t>
            </a:r>
            <a:r>
              <a:rPr lang="zh-CN" altLang="zh-CN" sz="2200">
                <a:solidFill>
                  <a:srgbClr val="0000FF"/>
                </a:solidFill>
                <a:latin typeface="Consolas" pitchFamily="49" charset="0"/>
                <a:ea typeface="仿宋" pitchFamily="49" charset="-122"/>
              </a:rPr>
              <a:t>表为空。</a:t>
            </a:r>
          </a:p>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如果</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表为空，说明</a:t>
            </a:r>
            <a:r>
              <a:rPr lang="en-US" altLang="zh-CN" sz="2200">
                <a:solidFill>
                  <a:srgbClr val="0000FF"/>
                </a:solidFill>
                <a:latin typeface="Consolas" pitchFamily="49" charset="0"/>
                <a:ea typeface="仿宋" pitchFamily="49" charset="-122"/>
              </a:rPr>
              <a:t>s</a:t>
            </a:r>
            <a:r>
              <a:rPr lang="zh-CN" altLang="zh-CN" sz="2200">
                <a:solidFill>
                  <a:srgbClr val="0000FF"/>
                </a:solidFill>
                <a:latin typeface="Consolas" pitchFamily="49" charset="0"/>
                <a:ea typeface="仿宋" pitchFamily="49" charset="-122"/>
              </a:rPr>
              <a:t>到</a:t>
            </a:r>
            <a:r>
              <a:rPr lang="en-US" altLang="zh-CN" sz="2200">
                <a:solidFill>
                  <a:srgbClr val="0000FF"/>
                </a:solidFill>
                <a:latin typeface="Consolas" pitchFamily="49" charset="0"/>
                <a:ea typeface="仿宋" pitchFamily="49" charset="-122"/>
              </a:rPr>
              <a:t>goal</a:t>
            </a:r>
            <a:r>
              <a:rPr lang="zh-CN" altLang="zh-CN" sz="2200">
                <a:solidFill>
                  <a:srgbClr val="0000FF"/>
                </a:solidFill>
                <a:latin typeface="Consolas" pitchFamily="49" charset="0"/>
                <a:ea typeface="仿宋" pitchFamily="49" charset="-122"/>
              </a:rPr>
              <a:t>没有路径，则失败退出。</a:t>
            </a:r>
          </a:p>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选择</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表的第一个结点</a:t>
            </a:r>
            <a:r>
              <a:rPr lang="en-US" altLang="zh-CN" sz="2200" i="1">
                <a:solidFill>
                  <a:srgbClr val="0000FF"/>
                </a:solidFill>
                <a:latin typeface="Consolas" pitchFamily="49" charset="0"/>
                <a:ea typeface="仿宋" pitchFamily="49" charset="-122"/>
              </a:rPr>
              <a:t>u</a:t>
            </a:r>
            <a:r>
              <a:rPr lang="zh-CN" altLang="zh-CN" sz="2200">
                <a:solidFill>
                  <a:srgbClr val="0000FF"/>
                </a:solidFill>
                <a:latin typeface="Consolas" pitchFamily="49" charset="0"/>
                <a:ea typeface="仿宋" pitchFamily="49" charset="-122"/>
              </a:rPr>
              <a:t>，把它从</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表移入</a:t>
            </a:r>
            <a:r>
              <a:rPr lang="en-US" altLang="zh-CN" sz="2200">
                <a:solidFill>
                  <a:srgbClr val="0000FF"/>
                </a:solidFill>
                <a:latin typeface="Consolas" pitchFamily="49" charset="0"/>
                <a:ea typeface="仿宋" pitchFamily="49" charset="-122"/>
              </a:rPr>
              <a:t>CLOSED</a:t>
            </a:r>
            <a:r>
              <a:rPr lang="zh-CN" altLang="zh-CN" sz="2200">
                <a:solidFill>
                  <a:srgbClr val="0000FF"/>
                </a:solidFill>
                <a:latin typeface="Consolas" pitchFamily="49" charset="0"/>
                <a:ea typeface="仿宋" pitchFamily="49" charset="-122"/>
              </a:rPr>
              <a:t>表中，并在</a:t>
            </a:r>
            <a:r>
              <a:rPr lang="en-US" altLang="zh-CN" sz="2200">
                <a:solidFill>
                  <a:srgbClr val="0000FF"/>
                </a:solidFill>
                <a:latin typeface="Consolas" pitchFamily="49" charset="0"/>
                <a:ea typeface="仿宋" pitchFamily="49" charset="-122"/>
              </a:rPr>
              <a:t>CLOSED</a:t>
            </a:r>
            <a:r>
              <a:rPr lang="zh-CN" altLang="zh-CN" sz="2200">
                <a:solidFill>
                  <a:srgbClr val="0000FF"/>
                </a:solidFill>
                <a:latin typeface="Consolas" pitchFamily="49" charset="0"/>
                <a:ea typeface="仿宋" pitchFamily="49" charset="-122"/>
              </a:rPr>
              <a:t>表中建立</a:t>
            </a:r>
            <a:r>
              <a:rPr lang="en-US" altLang="zh-CN" sz="2200" i="1">
                <a:solidFill>
                  <a:srgbClr val="0000FF"/>
                </a:solidFill>
                <a:latin typeface="Consolas" pitchFamily="49" charset="0"/>
                <a:ea typeface="仿宋" pitchFamily="49" charset="-122"/>
              </a:rPr>
              <a:t>v</a:t>
            </a:r>
            <a:r>
              <a:rPr lang="zh-CN" altLang="zh-CN" sz="2200">
                <a:solidFill>
                  <a:srgbClr val="0000FF"/>
                </a:solidFill>
                <a:latin typeface="Consolas" pitchFamily="49" charset="0"/>
                <a:ea typeface="仿宋" pitchFamily="49" charset="-122"/>
              </a:rPr>
              <a:t>到</a:t>
            </a:r>
            <a:r>
              <a:rPr lang="en-US" altLang="zh-CN" sz="2200" i="1">
                <a:solidFill>
                  <a:srgbClr val="0000FF"/>
                </a:solidFill>
                <a:latin typeface="Consolas" pitchFamily="49" charset="0"/>
                <a:ea typeface="仿宋" pitchFamily="49" charset="-122"/>
              </a:rPr>
              <a:t>u</a:t>
            </a:r>
            <a:r>
              <a:rPr lang="zh-CN" altLang="zh-CN" sz="2200">
                <a:solidFill>
                  <a:srgbClr val="0000FF"/>
                </a:solidFill>
                <a:latin typeface="Consolas" pitchFamily="49" charset="0"/>
                <a:ea typeface="仿宋" pitchFamily="49" charset="-122"/>
              </a:rPr>
              <a:t>的双亲指针关系。</a:t>
            </a:r>
          </a:p>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若</a:t>
            </a:r>
            <a:r>
              <a:rPr lang="en-US" altLang="zh-CN" sz="2200" i="1">
                <a:solidFill>
                  <a:srgbClr val="FF00FF"/>
                </a:solidFill>
                <a:latin typeface="Consolas" pitchFamily="49" charset="0"/>
                <a:ea typeface="仿宋" pitchFamily="49" charset="-122"/>
              </a:rPr>
              <a:t>u</a:t>
            </a:r>
            <a:r>
              <a:rPr lang="en-US" altLang="zh-CN" sz="2200">
                <a:solidFill>
                  <a:srgbClr val="FF00FF"/>
                </a:solidFill>
                <a:latin typeface="Consolas" pitchFamily="49" charset="0"/>
                <a:ea typeface="仿宋" pitchFamily="49" charset="-122"/>
              </a:rPr>
              <a:t>=goal</a:t>
            </a:r>
            <a:r>
              <a:rPr lang="zh-CN" altLang="zh-CN" sz="2200">
                <a:solidFill>
                  <a:srgbClr val="FF00FF"/>
                </a:solidFill>
                <a:latin typeface="Consolas" pitchFamily="49" charset="0"/>
                <a:ea typeface="仿宋" pitchFamily="49" charset="-122"/>
              </a:rPr>
              <a:t>，则找到</a:t>
            </a:r>
            <a:r>
              <a:rPr lang="en-US" altLang="zh-CN" sz="2200" i="1">
                <a:solidFill>
                  <a:srgbClr val="FF00FF"/>
                </a:solidFill>
                <a:latin typeface="Consolas" pitchFamily="49" charset="0"/>
                <a:ea typeface="仿宋" pitchFamily="49" charset="-122"/>
              </a:rPr>
              <a:t>s</a:t>
            </a:r>
            <a:r>
              <a:rPr lang="zh-CN" altLang="zh-CN" sz="2200">
                <a:solidFill>
                  <a:srgbClr val="FF00FF"/>
                </a:solidFill>
                <a:latin typeface="Consolas" pitchFamily="49" charset="0"/>
                <a:ea typeface="仿宋" pitchFamily="49" charset="-122"/>
              </a:rPr>
              <a:t>到</a:t>
            </a:r>
            <a:r>
              <a:rPr lang="en-US" altLang="zh-CN" sz="2200">
                <a:solidFill>
                  <a:srgbClr val="FF00FF"/>
                </a:solidFill>
                <a:latin typeface="Consolas" pitchFamily="49" charset="0"/>
                <a:ea typeface="仿宋" pitchFamily="49" charset="-122"/>
              </a:rPr>
              <a:t>goal</a:t>
            </a:r>
            <a:r>
              <a:rPr lang="zh-CN" altLang="zh-CN" sz="2200">
                <a:solidFill>
                  <a:srgbClr val="FF00FF"/>
                </a:solidFill>
                <a:latin typeface="Consolas" pitchFamily="49" charset="0"/>
                <a:ea typeface="仿宋" pitchFamily="49" charset="-122"/>
              </a:rPr>
              <a:t>的一条最小代价的路径</a:t>
            </a:r>
            <a:r>
              <a:rPr lang="zh-CN" altLang="zh-CN" sz="2200">
                <a:solidFill>
                  <a:srgbClr val="0000FF"/>
                </a:solidFill>
                <a:latin typeface="Consolas" pitchFamily="49" charset="0"/>
                <a:ea typeface="仿宋" pitchFamily="49" charset="-122"/>
              </a:rPr>
              <a:t>（可以利用</a:t>
            </a:r>
            <a:r>
              <a:rPr lang="en-US" altLang="zh-CN" sz="2200">
                <a:solidFill>
                  <a:srgbClr val="0000FF"/>
                </a:solidFill>
                <a:latin typeface="Consolas" pitchFamily="49" charset="0"/>
                <a:ea typeface="仿宋" pitchFamily="49" charset="-122"/>
              </a:rPr>
              <a:t>CLOSED</a:t>
            </a:r>
            <a:r>
              <a:rPr lang="zh-CN" altLang="zh-CN" sz="2200">
                <a:solidFill>
                  <a:srgbClr val="0000FF"/>
                </a:solidFill>
                <a:latin typeface="Consolas" pitchFamily="49" charset="0"/>
                <a:ea typeface="仿宋" pitchFamily="49" charset="-122"/>
              </a:rPr>
              <a:t>表中的双亲指针关系输出该路径），成功退出。</a:t>
            </a:r>
          </a:p>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扩展结点</a:t>
            </a:r>
            <a:r>
              <a:rPr lang="en-US" altLang="zh-CN" sz="2200" i="1">
                <a:solidFill>
                  <a:srgbClr val="0000FF"/>
                </a:solidFill>
                <a:latin typeface="Consolas" pitchFamily="49" charset="0"/>
                <a:ea typeface="仿宋" pitchFamily="49" charset="-122"/>
              </a:rPr>
              <a:t>u</a:t>
            </a:r>
            <a:r>
              <a:rPr lang="zh-CN" altLang="zh-CN" sz="2200">
                <a:solidFill>
                  <a:srgbClr val="0000FF"/>
                </a:solidFill>
                <a:latin typeface="Consolas" pitchFamily="49" charset="0"/>
                <a:ea typeface="仿宋" pitchFamily="49" charset="-122"/>
              </a:rPr>
              <a:t>，将</a:t>
            </a:r>
            <a:r>
              <a:rPr lang="en-US" altLang="zh-CN" sz="2200" i="1">
                <a:solidFill>
                  <a:srgbClr val="0000FF"/>
                </a:solidFill>
                <a:latin typeface="Consolas" pitchFamily="49" charset="0"/>
                <a:ea typeface="仿宋" pitchFamily="49" charset="-122"/>
              </a:rPr>
              <a:t>u</a:t>
            </a:r>
            <a:r>
              <a:rPr lang="zh-CN" altLang="zh-CN" sz="2200">
                <a:solidFill>
                  <a:srgbClr val="0000FF"/>
                </a:solidFill>
                <a:latin typeface="Consolas" pitchFamily="49" charset="0"/>
                <a:ea typeface="仿宋" pitchFamily="49" charset="-122"/>
              </a:rPr>
              <a:t>的所有非祖先的子结点</a:t>
            </a:r>
            <a:r>
              <a:rPr lang="en-US" altLang="zh-CN" sz="2200" i="1">
                <a:solidFill>
                  <a:srgbClr val="0000FF"/>
                </a:solidFill>
                <a:latin typeface="Consolas" pitchFamily="49" charset="0"/>
                <a:ea typeface="仿宋" pitchFamily="49" charset="-122"/>
              </a:rPr>
              <a:t>v</a:t>
            </a:r>
            <a:r>
              <a:rPr lang="zh-CN" altLang="zh-CN" sz="2200">
                <a:solidFill>
                  <a:srgbClr val="0000FF"/>
                </a:solidFill>
                <a:latin typeface="Consolas" pitchFamily="49" charset="0"/>
                <a:ea typeface="仿宋" pitchFamily="49" charset="-122"/>
              </a:rPr>
              <a:t>添加到</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表中，同时计算出这些子结点</a:t>
            </a:r>
            <a:r>
              <a:rPr lang="en-US" altLang="zh-CN" sz="2200" i="1">
                <a:solidFill>
                  <a:srgbClr val="0000FF"/>
                </a:solidFill>
                <a:latin typeface="Consolas" pitchFamily="49" charset="0"/>
                <a:ea typeface="仿宋" pitchFamily="49" charset="-122"/>
              </a:rPr>
              <a:t>v</a:t>
            </a:r>
            <a:r>
              <a:rPr lang="zh-CN" altLang="zh-CN" sz="2200">
                <a:solidFill>
                  <a:srgbClr val="0000FF"/>
                </a:solidFill>
                <a:latin typeface="Consolas" pitchFamily="49" charset="0"/>
                <a:ea typeface="仿宋" pitchFamily="49" charset="-122"/>
              </a:rPr>
              <a:t>的代价值。</a:t>
            </a:r>
          </a:p>
          <a:p>
            <a:pPr marL="457200" indent="-457200" algn="l" defTabSz="360000">
              <a:lnSpc>
                <a:spcPts val="3200"/>
              </a:lnSpc>
              <a:spcBef>
                <a:spcPts val="600"/>
              </a:spcBef>
              <a:buFont typeface="+mj-ea"/>
              <a:buAutoNum type="circleNumDbPlain"/>
            </a:pPr>
            <a:r>
              <a:rPr lang="zh-CN" altLang="zh-CN" sz="2200">
                <a:solidFill>
                  <a:srgbClr val="0000FF"/>
                </a:solidFill>
                <a:latin typeface="Consolas" pitchFamily="49" charset="0"/>
                <a:ea typeface="仿宋" pitchFamily="49" charset="-122"/>
              </a:rPr>
              <a:t>按</a:t>
            </a:r>
            <a:r>
              <a:rPr lang="zh-CN" altLang="zh-CN" sz="2200">
                <a:solidFill>
                  <a:srgbClr val="FF0000"/>
                </a:solidFill>
                <a:latin typeface="Consolas" pitchFamily="49" charset="0"/>
                <a:ea typeface="仿宋" pitchFamily="49" charset="-122"/>
              </a:rPr>
              <a:t>代价值递增</a:t>
            </a:r>
            <a:r>
              <a:rPr lang="zh-CN" altLang="zh-CN" sz="2200">
                <a:solidFill>
                  <a:srgbClr val="0000FF"/>
                </a:solidFill>
                <a:latin typeface="Consolas" pitchFamily="49" charset="0"/>
                <a:ea typeface="仿宋" pitchFamily="49" charset="-122"/>
              </a:rPr>
              <a:t>重排</a:t>
            </a:r>
            <a:r>
              <a:rPr lang="en-US" altLang="zh-CN" sz="2200">
                <a:solidFill>
                  <a:srgbClr val="0000FF"/>
                </a:solidFill>
                <a:latin typeface="Consolas" pitchFamily="49" charset="0"/>
                <a:ea typeface="仿宋" pitchFamily="49" charset="-122"/>
              </a:rPr>
              <a:t>OPEN</a:t>
            </a:r>
            <a:r>
              <a:rPr lang="zh-CN" altLang="zh-CN" sz="2200">
                <a:solidFill>
                  <a:srgbClr val="0000FF"/>
                </a:solidFill>
                <a:latin typeface="Consolas" pitchFamily="49" charset="0"/>
                <a:ea typeface="仿宋" pitchFamily="49" charset="-122"/>
              </a:rPr>
              <a:t>表，转向</a:t>
            </a:r>
            <a:r>
              <a:rPr lang="zh-CN" altLang="en-US" sz="2200">
                <a:solidFill>
                  <a:srgbClr val="0000FF"/>
                </a:solidFill>
                <a:latin typeface="Consolas" pitchFamily="49" charset="0"/>
                <a:ea typeface="仿宋" pitchFamily="49" charset="-122"/>
              </a:rPr>
              <a:t>② </a:t>
            </a:r>
            <a:r>
              <a:rPr lang="zh-CN" altLang="zh-CN" sz="2200">
                <a:solidFill>
                  <a:srgbClr val="0000FF"/>
                </a:solidFill>
                <a:latin typeface="Consolas" pitchFamily="49" charset="0"/>
                <a:ea typeface="仿宋" pitchFamily="49" charset="-122"/>
              </a:rPr>
              <a:t>。</a:t>
            </a:r>
          </a:p>
        </p:txBody>
      </p:sp>
      <p:sp>
        <p:nvSpPr>
          <p:cNvPr id="4" name="TextBox 3"/>
          <p:cNvSpPr txBox="1"/>
          <p:nvPr/>
        </p:nvSpPr>
        <p:spPr>
          <a:xfrm>
            <a:off x="357158" y="357166"/>
            <a:ext cx="7215238"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采用</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算法从起点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搜索到目标</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的步骤如下：</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108</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00042"/>
            <a:ext cx="3643338" cy="523220"/>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pt-BR" altLang="zh-CN" sz="2800">
                <a:latin typeface="Consolas" pitchFamily="49" charset="0"/>
                <a:ea typeface="微软雅黑" pitchFamily="34" charset="-122"/>
                <a:cs typeface="Consolas" pitchFamily="49" charset="0"/>
              </a:rPr>
              <a:t>6.10.2 </a:t>
            </a:r>
            <a:r>
              <a:rPr lang="zh-CN" altLang="en-US" sz="2800">
                <a:latin typeface="Consolas" pitchFamily="49" charset="0"/>
                <a:ea typeface="微软雅黑" pitchFamily="34" charset="-122"/>
                <a:cs typeface="Consolas" pitchFamily="49" charset="0"/>
              </a:rPr>
              <a:t>启发式函数</a:t>
            </a:r>
            <a:endParaRPr lang="zh-CN" altLang="zh-CN" sz="2800">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 name="TextBox 3"/>
          <p:cNvSpPr txBox="1"/>
          <p:nvPr/>
        </p:nvSpPr>
        <p:spPr>
          <a:xfrm>
            <a:off x="571472" y="1357298"/>
            <a:ext cx="342902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1.</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启发式函数的性质</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5" name="TextBox 4"/>
          <p:cNvSpPr txBox="1"/>
          <p:nvPr/>
        </p:nvSpPr>
        <p:spPr>
          <a:xfrm>
            <a:off x="428596" y="2285992"/>
            <a:ext cx="8501090" cy="278537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假设从起点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搜索到达目标</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的最小代价路径，当搜索到结点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时，有以下符号表示。</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600"/>
              </a:spcBef>
            </a:pPr>
            <a:r>
              <a:rPr lang="en-US" altLang="zh-CN" sz="2200">
                <a:solidFill>
                  <a:srgbClr val="0000FF"/>
                </a:solidFill>
                <a:latin typeface="Consolas" pitchFamily="49" charset="0"/>
                <a:ea typeface="仿宋" pitchFamily="49" charset="-122"/>
              </a:rPr>
              <a:t>   </a:t>
            </a:r>
            <a:r>
              <a:rPr lang="en-US" altLang="zh-CN" sz="2200">
                <a:solidFill>
                  <a:srgbClr val="FF00FF"/>
                </a:solidFill>
                <a:latin typeface="Consolas" pitchFamily="49" charset="0"/>
                <a:ea typeface="仿宋" pitchFamily="49" charset="-122"/>
              </a:rPr>
              <a:t>H(</a:t>
            </a:r>
            <a:r>
              <a:rPr lang="en-US" altLang="zh-CN" sz="2200" i="1">
                <a:solidFill>
                  <a:srgbClr val="FF00FF"/>
                </a:solidFill>
                <a:latin typeface="Consolas" pitchFamily="49" charset="0"/>
                <a:ea typeface="仿宋" pitchFamily="49" charset="-122"/>
              </a:rPr>
              <a:t>n</a:t>
            </a:r>
            <a:r>
              <a:rPr lang="en-US" altLang="zh-CN" sz="2200">
                <a:solidFill>
                  <a:srgbClr val="FF00FF"/>
                </a:solidFill>
                <a:latin typeface="Consolas" pitchFamily="49" charset="0"/>
                <a:ea typeface="仿宋" pitchFamily="49" charset="-122"/>
              </a:rPr>
              <a:t>)=</a:t>
            </a:r>
            <a:r>
              <a:rPr lang="zh-CN" altLang="zh-CN" sz="2200">
                <a:solidFill>
                  <a:srgbClr val="FF00FF"/>
                </a:solidFill>
                <a:latin typeface="Consolas" pitchFamily="49" charset="0"/>
                <a:ea typeface="仿宋" pitchFamily="49" charset="-122"/>
              </a:rPr>
              <a:t>结点</a:t>
            </a:r>
            <a:r>
              <a:rPr lang="en-US" altLang="zh-CN" sz="2200" i="1">
                <a:solidFill>
                  <a:srgbClr val="FF00FF"/>
                </a:solidFill>
                <a:latin typeface="Consolas" pitchFamily="49" charset="0"/>
                <a:ea typeface="仿宋" pitchFamily="49" charset="-122"/>
              </a:rPr>
              <a:t>n</a:t>
            </a:r>
            <a:r>
              <a:rPr lang="zh-CN" altLang="zh-CN" sz="2200">
                <a:solidFill>
                  <a:srgbClr val="FF00FF"/>
                </a:solidFill>
                <a:latin typeface="Consolas" pitchFamily="49" charset="0"/>
                <a:ea typeface="仿宋" pitchFamily="49" charset="-122"/>
              </a:rPr>
              <a:t>和目标</a:t>
            </a:r>
            <a:r>
              <a:rPr lang="en-US" altLang="zh-CN" sz="2200">
                <a:solidFill>
                  <a:srgbClr val="FF00FF"/>
                </a:solidFill>
                <a:latin typeface="Consolas" pitchFamily="49" charset="0"/>
                <a:ea typeface="仿宋" pitchFamily="49" charset="-122"/>
              </a:rPr>
              <a:t>goal</a:t>
            </a:r>
            <a:r>
              <a:rPr lang="zh-CN" altLang="zh-CN" sz="2200">
                <a:solidFill>
                  <a:srgbClr val="FF00FF"/>
                </a:solidFill>
                <a:latin typeface="Consolas" pitchFamily="49" charset="0"/>
                <a:ea typeface="仿宋" pitchFamily="49" charset="-122"/>
              </a:rPr>
              <a:t>之间最小代价路径的实际代价。</a:t>
            </a:r>
          </a:p>
          <a:p>
            <a:pPr marL="457200" indent="-457200" algn="l" defTabSz="360000">
              <a:lnSpc>
                <a:spcPts val="3200"/>
              </a:lnSpc>
              <a:spcBef>
                <a:spcPts val="600"/>
              </a:spcBef>
            </a:pPr>
            <a:r>
              <a:rPr lang="en-US" altLang="zh-CN" sz="2200">
                <a:solidFill>
                  <a:srgbClr val="FF00FF"/>
                </a:solidFill>
                <a:latin typeface="Consolas" pitchFamily="49" charset="0"/>
                <a:ea typeface="仿宋" pitchFamily="49" charset="-122"/>
              </a:rPr>
              <a:t>   G(</a:t>
            </a:r>
            <a:r>
              <a:rPr lang="en-US" altLang="zh-CN" sz="2200" i="1">
                <a:solidFill>
                  <a:srgbClr val="FF00FF"/>
                </a:solidFill>
                <a:latin typeface="Consolas" pitchFamily="49" charset="0"/>
                <a:ea typeface="仿宋" pitchFamily="49" charset="-122"/>
              </a:rPr>
              <a:t>n</a:t>
            </a:r>
            <a:r>
              <a:rPr lang="en-US" altLang="zh-CN" sz="2200">
                <a:solidFill>
                  <a:srgbClr val="FF00FF"/>
                </a:solidFill>
                <a:latin typeface="Consolas" pitchFamily="49" charset="0"/>
                <a:ea typeface="仿宋" pitchFamily="49" charset="-122"/>
              </a:rPr>
              <a:t>)=</a:t>
            </a:r>
            <a:r>
              <a:rPr lang="zh-CN" altLang="zh-CN" sz="2200">
                <a:solidFill>
                  <a:srgbClr val="FF00FF"/>
                </a:solidFill>
                <a:latin typeface="Consolas" pitchFamily="49" charset="0"/>
                <a:ea typeface="仿宋" pitchFamily="49" charset="-122"/>
              </a:rPr>
              <a:t>从起点</a:t>
            </a:r>
            <a:r>
              <a:rPr lang="en-US" altLang="zh-CN" sz="2200" i="1">
                <a:solidFill>
                  <a:srgbClr val="FF00FF"/>
                </a:solidFill>
                <a:latin typeface="Consolas" pitchFamily="49" charset="0"/>
                <a:ea typeface="仿宋" pitchFamily="49" charset="-122"/>
              </a:rPr>
              <a:t>s</a:t>
            </a:r>
            <a:r>
              <a:rPr lang="zh-CN" altLang="zh-CN" sz="2200">
                <a:solidFill>
                  <a:srgbClr val="FF00FF"/>
                </a:solidFill>
                <a:latin typeface="Consolas" pitchFamily="49" charset="0"/>
                <a:ea typeface="仿宋" pitchFamily="49" charset="-122"/>
              </a:rPr>
              <a:t>到结点</a:t>
            </a:r>
            <a:r>
              <a:rPr lang="en-US" altLang="zh-CN" sz="2200" i="1">
                <a:solidFill>
                  <a:srgbClr val="FF00FF"/>
                </a:solidFill>
                <a:latin typeface="Consolas" pitchFamily="49" charset="0"/>
                <a:ea typeface="仿宋" pitchFamily="49" charset="-122"/>
              </a:rPr>
              <a:t>n</a:t>
            </a:r>
            <a:r>
              <a:rPr lang="zh-CN" altLang="zh-CN" sz="2200">
                <a:solidFill>
                  <a:srgbClr val="FF00FF"/>
                </a:solidFill>
                <a:latin typeface="Consolas" pitchFamily="49" charset="0"/>
                <a:ea typeface="仿宋" pitchFamily="49" charset="-122"/>
              </a:rPr>
              <a:t>的最小代价路径的代价。</a:t>
            </a:r>
          </a:p>
          <a:p>
            <a:pPr marL="457200" indent="-457200" algn="l" defTabSz="360000">
              <a:lnSpc>
                <a:spcPts val="3200"/>
              </a:lnSpc>
              <a:spcBef>
                <a:spcPts val="600"/>
              </a:spcBef>
              <a:buBlip>
                <a:blip r:embed="rId3"/>
              </a:buBlip>
            </a:pPr>
            <a:r>
              <a:rPr lang="zh-CN" altLang="zh-CN">
                <a:solidFill>
                  <a:srgbClr val="0000FF"/>
                </a:solidFill>
                <a:latin typeface="Consolas" pitchFamily="49" charset="0"/>
                <a:ea typeface="仿宋" pitchFamily="49" charset="-122"/>
              </a:rPr>
              <a:t>那么</a:t>
            </a:r>
            <a:r>
              <a:rPr lang="en-US" altLang="zh-CN">
                <a:solidFill>
                  <a:srgbClr val="0000FF"/>
                </a:solidFill>
                <a:latin typeface="Consolas" pitchFamily="49" charset="0"/>
                <a:ea typeface="仿宋" pitchFamily="49" charset="-122"/>
              </a:rPr>
              <a:t>F(</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)+H(</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就是从起点</a:t>
            </a:r>
            <a:r>
              <a:rPr lang="en-US" altLang="zh-CN" i="1">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到目标</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并且经过结点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的最小代价路径的代价。</a:t>
            </a:r>
            <a:endParaRPr lang="zh-CN" altLang="en-US">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109</a:t>
            </a:fld>
            <a:r>
              <a:rPr lang="en-US" altLang="zh-CN"/>
              <a:t>/126</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000108"/>
            <a:ext cx="8358246" cy="1810752"/>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对于每个结点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，设</a:t>
            </a:r>
            <a:r>
              <a:rPr lang="en-US" altLang="zh-CN" i="1">
                <a:solidFill>
                  <a:srgbClr val="0000FF"/>
                </a:solidFill>
                <a:latin typeface="Consolas" pitchFamily="49" charset="0"/>
                <a:ea typeface="仿宋" pitchFamily="49" charset="-122"/>
              </a:rPr>
              <a:t>h</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H(</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的一个估计，称为</a:t>
            </a:r>
            <a:r>
              <a:rPr lang="zh-CN" altLang="zh-CN">
                <a:solidFill>
                  <a:srgbClr val="FF0000"/>
                </a:solidFill>
                <a:latin typeface="Consolas" pitchFamily="49" charset="0"/>
                <a:ea typeface="仿宋" pitchFamily="49" charset="-122"/>
              </a:rPr>
              <a:t>启发式函数</a:t>
            </a:r>
            <a:r>
              <a:rPr lang="zh-CN" altLang="en-US">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是</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算法找到的</a:t>
            </a:r>
            <a:r>
              <a:rPr lang="zh-CN" altLang="en-US">
                <a:solidFill>
                  <a:srgbClr val="0000FF"/>
                </a:solidFill>
                <a:latin typeface="Consolas" pitchFamily="49" charset="0"/>
                <a:ea typeface="仿宋" pitchFamily="49" charset="-122"/>
              </a:rPr>
              <a:t>从</a:t>
            </a:r>
            <a:r>
              <a:rPr lang="en-US" altLang="zh-CN">
                <a:solidFill>
                  <a:srgbClr val="0000FF"/>
                </a:solidFill>
                <a:latin typeface="Consolas" pitchFamily="49" charset="0"/>
                <a:ea typeface="仿宋" pitchFamily="49" charset="-122"/>
              </a:rPr>
              <a:t>s</a:t>
            </a:r>
            <a:r>
              <a:rPr lang="zh-CN" altLang="zh-CN">
                <a:solidFill>
                  <a:srgbClr val="0000FF"/>
                </a:solidFill>
                <a:latin typeface="Consolas" pitchFamily="49" charset="0"/>
                <a:ea typeface="仿宋" pitchFamily="49" charset="-122"/>
              </a:rPr>
              <a:t>到结点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的最小代价路径的代价，即用</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近似</a:t>
            </a:r>
            <a:r>
              <a:rPr lang="en-US" altLang="zh-CN">
                <a:solidFill>
                  <a:srgbClr val="0000FF"/>
                </a:solidFill>
                <a:latin typeface="Consolas" pitchFamily="49" charset="0"/>
                <a:ea typeface="仿宋" pitchFamily="49" charset="-122"/>
              </a:rPr>
              <a:t>G(</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600"/>
              </a:spcBef>
              <a:buBlip>
                <a:blip r:embed="rId3"/>
              </a:buBlip>
            </a:pPr>
            <a:r>
              <a:rPr lang="zh-CN" altLang="zh-CN">
                <a:solidFill>
                  <a:srgbClr val="0000FF"/>
                </a:solidFill>
                <a:latin typeface="Consolas" pitchFamily="49" charset="0"/>
                <a:ea typeface="仿宋" pitchFamily="49" charset="-122"/>
              </a:rPr>
              <a:t>在</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算法中用</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表示代价值。</a:t>
            </a:r>
            <a:endParaRPr lang="zh-CN" altLang="en-US">
              <a:solidFill>
                <a:srgbClr val="0000FF"/>
              </a:solidFill>
              <a:latin typeface="Consolas" pitchFamily="49" charset="0"/>
              <a:ea typeface="仿宋" pitchFamily="49" charset="-122"/>
              <a:cs typeface="Consolas" pitchFamily="49" charset="0"/>
            </a:endParaRPr>
          </a:p>
        </p:txBody>
      </p:sp>
      <p:sp>
        <p:nvSpPr>
          <p:cNvPr id="4" name="椭圆 3"/>
          <p:cNvSpPr/>
          <p:nvPr/>
        </p:nvSpPr>
        <p:spPr>
          <a:xfrm>
            <a:off x="1428728"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5" name="椭圆 4"/>
          <p:cNvSpPr/>
          <p:nvPr/>
        </p:nvSpPr>
        <p:spPr>
          <a:xfrm>
            <a:off x="3000364"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椭圆 5"/>
          <p:cNvSpPr/>
          <p:nvPr/>
        </p:nvSpPr>
        <p:spPr>
          <a:xfrm>
            <a:off x="5715008" y="3686234"/>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8" name="直接箭头连接符 7"/>
          <p:cNvCxnSpPr>
            <a:stCxn id="4" idx="6"/>
            <a:endCxn id="5" idx="2"/>
          </p:cNvCxnSpPr>
          <p:nvPr/>
        </p:nvCxnSpPr>
        <p:spPr>
          <a:xfrm>
            <a:off x="1785918" y="3864829"/>
            <a:ext cx="1214446"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10" name="直接箭头连接符 9"/>
          <p:cNvCxnSpPr>
            <a:stCxn id="5" idx="6"/>
            <a:endCxn id="6" idx="2"/>
          </p:cNvCxnSpPr>
          <p:nvPr/>
        </p:nvCxnSpPr>
        <p:spPr>
          <a:xfrm>
            <a:off x="3357554" y="3864829"/>
            <a:ext cx="235745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1" name="TextBox 10"/>
          <p:cNvSpPr txBox="1"/>
          <p:nvPr/>
        </p:nvSpPr>
        <p:spPr>
          <a:xfrm>
            <a:off x="1214414" y="3286124"/>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s</a:t>
            </a:r>
            <a:endParaRPr lang="zh-CN" altLang="en-US" sz="2000">
              <a:solidFill>
                <a:srgbClr val="0000FF"/>
              </a:solidFill>
              <a:latin typeface="Consolas" pitchFamily="49" charset="0"/>
              <a:ea typeface="楷体" pitchFamily="49" charset="-122"/>
              <a:cs typeface="Consolas" pitchFamily="49" charset="0"/>
            </a:endParaRPr>
          </a:p>
        </p:txBody>
      </p:sp>
      <p:sp>
        <p:nvSpPr>
          <p:cNvPr id="12" name="TextBox 11"/>
          <p:cNvSpPr txBox="1"/>
          <p:nvPr/>
        </p:nvSpPr>
        <p:spPr>
          <a:xfrm>
            <a:off x="2857488" y="3286124"/>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n</a:t>
            </a:r>
            <a:endParaRPr lang="zh-CN" altLang="en-US" sz="2000" i="1">
              <a:solidFill>
                <a:srgbClr val="0000FF"/>
              </a:solidFill>
              <a:latin typeface="Consolas" pitchFamily="49" charset="0"/>
              <a:ea typeface="楷体" pitchFamily="49" charset="-122"/>
              <a:cs typeface="Consolas" pitchFamily="49" charset="0"/>
            </a:endParaRPr>
          </a:p>
        </p:txBody>
      </p:sp>
      <p:sp>
        <p:nvSpPr>
          <p:cNvPr id="13" name="TextBox 12"/>
          <p:cNvSpPr txBox="1"/>
          <p:nvPr/>
        </p:nvSpPr>
        <p:spPr>
          <a:xfrm>
            <a:off x="5715008" y="3286124"/>
            <a:ext cx="107157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goal</a:t>
            </a:r>
            <a:endParaRPr lang="zh-CN" altLang="en-US" sz="2000">
              <a:solidFill>
                <a:srgbClr val="0000FF"/>
              </a:solidFill>
              <a:latin typeface="Consolas" pitchFamily="49" charset="0"/>
              <a:ea typeface="楷体" pitchFamily="49" charset="-122"/>
              <a:cs typeface="Consolas" pitchFamily="49" charset="0"/>
            </a:endParaRPr>
          </a:p>
        </p:txBody>
      </p:sp>
      <p:sp>
        <p:nvSpPr>
          <p:cNvPr id="14" name="左大括号 13"/>
          <p:cNvSpPr/>
          <p:nvPr/>
        </p:nvSpPr>
        <p:spPr>
          <a:xfrm rot="16200000">
            <a:off x="2159703" y="3526763"/>
            <a:ext cx="324000" cy="150019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 name="TextBox 14"/>
          <p:cNvSpPr txBox="1"/>
          <p:nvPr/>
        </p:nvSpPr>
        <p:spPr>
          <a:xfrm>
            <a:off x="2143108" y="4472052"/>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g</a:t>
            </a:r>
            <a:endParaRPr lang="zh-CN" altLang="en-US" sz="2000" i="1">
              <a:solidFill>
                <a:srgbClr val="0000FF"/>
              </a:solidFill>
              <a:latin typeface="Consolas" pitchFamily="49" charset="0"/>
              <a:ea typeface="楷体" pitchFamily="49" charset="-122"/>
              <a:cs typeface="Consolas" pitchFamily="49" charset="0"/>
            </a:endParaRPr>
          </a:p>
        </p:txBody>
      </p:sp>
      <p:sp>
        <p:nvSpPr>
          <p:cNvPr id="16" name="左大括号 15"/>
          <p:cNvSpPr/>
          <p:nvPr/>
        </p:nvSpPr>
        <p:spPr>
          <a:xfrm rot="16200000">
            <a:off x="4410000" y="2990978"/>
            <a:ext cx="324000" cy="257176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8" name="TextBox 17"/>
          <p:cNvSpPr txBox="1"/>
          <p:nvPr/>
        </p:nvSpPr>
        <p:spPr>
          <a:xfrm>
            <a:off x="4429124" y="4472052"/>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h</a:t>
            </a:r>
            <a:endParaRPr lang="zh-CN" altLang="en-US" sz="2000" i="1">
              <a:solidFill>
                <a:srgbClr val="0000FF"/>
              </a:solidFill>
              <a:latin typeface="Consolas" pitchFamily="49" charset="0"/>
              <a:ea typeface="楷体" pitchFamily="49" charset="-122"/>
              <a:cs typeface="Consolas" pitchFamily="49" charset="0"/>
            </a:endParaRPr>
          </a:p>
        </p:txBody>
      </p:sp>
      <p:sp>
        <p:nvSpPr>
          <p:cNvPr id="19" name="灯片编号占位符 18"/>
          <p:cNvSpPr>
            <a:spLocks noGrp="1"/>
          </p:cNvSpPr>
          <p:nvPr>
            <p:ph type="sldNum" sz="quarter" idx="12"/>
          </p:nvPr>
        </p:nvSpPr>
        <p:spPr/>
        <p:txBody>
          <a:bodyPr/>
          <a:lstStyle/>
          <a:p>
            <a:fld id="{7AF016A1-9F15-429F-9EFD-84004B73C732}" type="slidenum">
              <a:rPr lang="en-US" altLang="zh-CN" smtClean="0"/>
              <a:pPr/>
              <a:t>110</a:t>
            </a:fld>
            <a:r>
              <a:rPr lang="en-US" altLang="zh-CN"/>
              <a:t>/126</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1357298"/>
            <a:ext cx="8001056" cy="1733808"/>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0"/>
              </a:spcBef>
              <a:buBlip>
                <a:blip r:embed="rId3"/>
              </a:buBlip>
            </a:pPr>
            <a:r>
              <a:rPr lang="zh-CN" altLang="zh-CN">
                <a:solidFill>
                  <a:srgbClr val="0000FF"/>
                </a:solidFill>
                <a:latin typeface="Consolas" pitchFamily="49" charset="0"/>
                <a:ea typeface="仿宋" pitchFamily="49" charset="-122"/>
              </a:rPr>
              <a:t>对于路径上的任意结点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，若满足</a:t>
            </a:r>
            <a:r>
              <a:rPr lang="en-US" altLang="zh-CN" i="1">
                <a:solidFill>
                  <a:srgbClr val="0000FF"/>
                </a:solidFill>
                <a:latin typeface="Consolas" pitchFamily="49" charset="0"/>
                <a:ea typeface="仿宋" pitchFamily="49" charset="-122"/>
              </a:rPr>
              <a:t>h</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mn-ea"/>
                <a:ea typeface="+mn-ea"/>
              </a:rPr>
              <a:t>≤</a:t>
            </a:r>
            <a:r>
              <a:rPr lang="en-US" altLang="zh-CN">
                <a:solidFill>
                  <a:srgbClr val="0000FF"/>
                </a:solidFill>
                <a:latin typeface="Consolas" pitchFamily="49" charset="0"/>
                <a:ea typeface="仿宋" pitchFamily="49" charset="-122"/>
              </a:rPr>
              <a:t>H(</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，也就是估计出的从结点</a:t>
            </a:r>
            <a:r>
              <a:rPr lang="en-US" altLang="zh-CN" i="1">
                <a:solidFill>
                  <a:srgbClr val="0000FF"/>
                </a:solidFill>
                <a:latin typeface="Consolas" pitchFamily="49" charset="0"/>
                <a:ea typeface="仿宋" pitchFamily="49" charset="-122"/>
              </a:rPr>
              <a:t>n</a:t>
            </a:r>
            <a:r>
              <a:rPr lang="zh-CN" altLang="zh-CN">
                <a:solidFill>
                  <a:srgbClr val="0000FF"/>
                </a:solidFill>
                <a:latin typeface="Consolas" pitchFamily="49" charset="0"/>
                <a:ea typeface="仿宋" pitchFamily="49" charset="-122"/>
              </a:rPr>
              <a:t>到目标</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的最小代价路径的代价总是不超过实际最小代价路径的代价，称</a:t>
            </a:r>
            <a:r>
              <a:rPr lang="zh-CN" altLang="zh-CN">
                <a:solidFill>
                  <a:srgbClr val="FF3300"/>
                </a:solidFill>
                <a:latin typeface="Consolas" pitchFamily="49" charset="0"/>
                <a:ea typeface="楷体" pitchFamily="49" charset="-122"/>
              </a:rPr>
              <a:t>启发式函数</a:t>
            </a:r>
            <a:r>
              <a:rPr lang="en-US" altLang="zh-CN" i="1">
                <a:solidFill>
                  <a:srgbClr val="FF3300"/>
                </a:solidFill>
                <a:latin typeface="Consolas" pitchFamily="49" charset="0"/>
                <a:ea typeface="楷体" pitchFamily="49" charset="-122"/>
              </a:rPr>
              <a:t>h</a:t>
            </a:r>
            <a:r>
              <a:rPr lang="en-US" altLang="zh-CN">
                <a:solidFill>
                  <a:srgbClr val="FF3300"/>
                </a:solidFill>
                <a:latin typeface="Consolas" pitchFamily="49" charset="0"/>
                <a:ea typeface="楷体" pitchFamily="49" charset="-122"/>
              </a:rPr>
              <a:t>(</a:t>
            </a:r>
            <a:r>
              <a:rPr lang="en-US" altLang="zh-CN" i="1">
                <a:solidFill>
                  <a:srgbClr val="FF3300"/>
                </a:solidFill>
                <a:latin typeface="Consolas" pitchFamily="49" charset="0"/>
                <a:ea typeface="楷体" pitchFamily="49" charset="-122"/>
              </a:rPr>
              <a:t>n</a:t>
            </a:r>
            <a:r>
              <a:rPr lang="en-US" altLang="zh-CN">
                <a:solidFill>
                  <a:srgbClr val="FF3300"/>
                </a:solidFill>
                <a:latin typeface="Consolas" pitchFamily="49" charset="0"/>
                <a:ea typeface="楷体" pitchFamily="49" charset="-122"/>
              </a:rPr>
              <a:t>)</a:t>
            </a:r>
            <a:r>
              <a:rPr lang="zh-CN" altLang="zh-CN">
                <a:solidFill>
                  <a:srgbClr val="FF3300"/>
                </a:solidFill>
                <a:latin typeface="Consolas" pitchFamily="49" charset="0"/>
                <a:ea typeface="楷体" pitchFamily="49" charset="-122"/>
              </a:rPr>
              <a:t>是可接纳的</a:t>
            </a:r>
            <a:r>
              <a:rPr lang="zh-CN" altLang="zh-CN">
                <a:solidFill>
                  <a:srgbClr val="0000FF"/>
                </a:solidFill>
                <a:latin typeface="Consolas" pitchFamily="49" charset="0"/>
                <a:ea typeface="仿宋" pitchFamily="49" charset="-122"/>
              </a:rPr>
              <a:t>。</a:t>
            </a:r>
          </a:p>
        </p:txBody>
      </p:sp>
      <p:sp>
        <p:nvSpPr>
          <p:cNvPr id="4" name="TextBox 3"/>
          <p:cNvSpPr txBox="1"/>
          <p:nvPr/>
        </p:nvSpPr>
        <p:spPr>
          <a:xfrm>
            <a:off x="428596" y="428604"/>
            <a:ext cx="8429684"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为了使</a:t>
            </a:r>
            <a:r>
              <a:rPr lang="en-US" altLang="zh-CN">
                <a:solidFill>
                  <a:srgbClr val="0000FF"/>
                </a:solidFill>
                <a:latin typeface="Consolas" pitchFamily="49" charset="0"/>
                <a:ea typeface="仿宋" pitchFamily="49" charset="-122"/>
              </a:rPr>
              <a:t>A*</a:t>
            </a:r>
            <a:r>
              <a:rPr lang="zh-CN" altLang="zh-CN">
                <a:solidFill>
                  <a:srgbClr val="0000FF"/>
                </a:solidFill>
                <a:latin typeface="Consolas" pitchFamily="49" charset="0"/>
                <a:ea typeface="仿宋" pitchFamily="49" charset="-122"/>
              </a:rPr>
              <a:t>算法能够找到最短路径，</a:t>
            </a:r>
            <a:r>
              <a:rPr lang="en-US" altLang="zh-CN" i="1">
                <a:solidFill>
                  <a:srgbClr val="0000FF"/>
                </a:solidFill>
                <a:latin typeface="Consolas" pitchFamily="49" charset="0"/>
                <a:ea typeface="仿宋" pitchFamily="49" charset="-122"/>
              </a:rPr>
              <a:t>h</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必须具有两个性质：</a:t>
            </a:r>
          </a:p>
        </p:txBody>
      </p:sp>
      <p:sp>
        <p:nvSpPr>
          <p:cNvPr id="5" name="椭圆 4"/>
          <p:cNvSpPr/>
          <p:nvPr/>
        </p:nvSpPr>
        <p:spPr>
          <a:xfrm>
            <a:off x="1643042"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6" name="椭圆 5"/>
          <p:cNvSpPr/>
          <p:nvPr/>
        </p:nvSpPr>
        <p:spPr>
          <a:xfrm>
            <a:off x="3214678"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椭圆 6"/>
          <p:cNvSpPr/>
          <p:nvPr/>
        </p:nvSpPr>
        <p:spPr>
          <a:xfrm>
            <a:off x="5929322" y="3971986"/>
            <a:ext cx="357190" cy="357190"/>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cxnSp>
        <p:nvCxnSpPr>
          <p:cNvPr id="8" name="直接箭头连接符 7"/>
          <p:cNvCxnSpPr>
            <a:stCxn id="5" idx="6"/>
            <a:endCxn id="6" idx="2"/>
          </p:cNvCxnSpPr>
          <p:nvPr/>
        </p:nvCxnSpPr>
        <p:spPr>
          <a:xfrm>
            <a:off x="2000232" y="4150581"/>
            <a:ext cx="1214446"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cxnSp>
        <p:nvCxnSpPr>
          <p:cNvPr id="9" name="直接箭头连接符 8"/>
          <p:cNvCxnSpPr>
            <a:stCxn id="6" idx="6"/>
            <a:endCxn id="7" idx="2"/>
          </p:cNvCxnSpPr>
          <p:nvPr/>
        </p:nvCxnSpPr>
        <p:spPr>
          <a:xfrm>
            <a:off x="3571868" y="4150581"/>
            <a:ext cx="2357454" cy="1588"/>
          </a:xfrm>
          <a:prstGeom prst="straightConnector1">
            <a:avLst/>
          </a:prstGeom>
          <a:ln w="19050">
            <a:prstDash val="dash"/>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1428728" y="3571876"/>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s</a:t>
            </a:r>
            <a:endParaRPr lang="zh-CN" altLang="en-US" sz="2000">
              <a:solidFill>
                <a:srgbClr val="0000FF"/>
              </a:solidFill>
              <a:latin typeface="Consolas" pitchFamily="49" charset="0"/>
              <a:ea typeface="楷体" pitchFamily="49" charset="-122"/>
              <a:cs typeface="Consolas" pitchFamily="49" charset="0"/>
            </a:endParaRPr>
          </a:p>
        </p:txBody>
      </p:sp>
      <p:sp>
        <p:nvSpPr>
          <p:cNvPr id="11" name="TextBox 10"/>
          <p:cNvSpPr txBox="1"/>
          <p:nvPr/>
        </p:nvSpPr>
        <p:spPr>
          <a:xfrm>
            <a:off x="3071802" y="3571876"/>
            <a:ext cx="35719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n</a:t>
            </a:r>
            <a:endParaRPr lang="zh-CN" altLang="en-US" sz="2000">
              <a:solidFill>
                <a:srgbClr val="0000FF"/>
              </a:solidFill>
              <a:latin typeface="Consolas" pitchFamily="49" charset="0"/>
              <a:ea typeface="楷体" pitchFamily="49" charset="-122"/>
              <a:cs typeface="Consolas" pitchFamily="49" charset="0"/>
            </a:endParaRPr>
          </a:p>
        </p:txBody>
      </p:sp>
      <p:sp>
        <p:nvSpPr>
          <p:cNvPr id="12" name="TextBox 11"/>
          <p:cNvSpPr txBox="1"/>
          <p:nvPr/>
        </p:nvSpPr>
        <p:spPr>
          <a:xfrm>
            <a:off x="5929322" y="3571876"/>
            <a:ext cx="1071570"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楷体" pitchFamily="49" charset="-122"/>
                <a:cs typeface="Consolas" pitchFamily="49" charset="0"/>
              </a:rPr>
              <a:t>goal</a:t>
            </a:r>
            <a:endParaRPr lang="zh-CN" altLang="en-US" sz="2000">
              <a:solidFill>
                <a:srgbClr val="0000FF"/>
              </a:solidFill>
              <a:latin typeface="Consolas" pitchFamily="49" charset="0"/>
              <a:ea typeface="楷体" pitchFamily="49" charset="-122"/>
              <a:cs typeface="Consolas" pitchFamily="49" charset="0"/>
            </a:endParaRPr>
          </a:p>
        </p:txBody>
      </p:sp>
      <p:sp>
        <p:nvSpPr>
          <p:cNvPr id="13" name="左大括号 12"/>
          <p:cNvSpPr/>
          <p:nvPr/>
        </p:nvSpPr>
        <p:spPr>
          <a:xfrm rot="16200000">
            <a:off x="2374017" y="3812515"/>
            <a:ext cx="324000" cy="150019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4" name="TextBox 13"/>
          <p:cNvSpPr txBox="1"/>
          <p:nvPr/>
        </p:nvSpPr>
        <p:spPr>
          <a:xfrm>
            <a:off x="2357422" y="4757804"/>
            <a:ext cx="357190"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g</a:t>
            </a:r>
            <a:endParaRPr lang="zh-CN" altLang="en-US" sz="2000" i="1">
              <a:solidFill>
                <a:srgbClr val="0000FF"/>
              </a:solidFill>
              <a:latin typeface="Consolas" pitchFamily="49" charset="0"/>
              <a:ea typeface="楷体" pitchFamily="49" charset="-122"/>
              <a:cs typeface="Consolas" pitchFamily="49" charset="0"/>
            </a:endParaRPr>
          </a:p>
        </p:txBody>
      </p:sp>
      <p:sp>
        <p:nvSpPr>
          <p:cNvPr id="15" name="左大括号 14"/>
          <p:cNvSpPr/>
          <p:nvPr/>
        </p:nvSpPr>
        <p:spPr>
          <a:xfrm rot="16200000">
            <a:off x="4624314" y="3276730"/>
            <a:ext cx="324000" cy="2571768"/>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6" name="TextBox 15"/>
          <p:cNvSpPr txBox="1"/>
          <p:nvPr/>
        </p:nvSpPr>
        <p:spPr>
          <a:xfrm>
            <a:off x="4643438" y="4757804"/>
            <a:ext cx="1500198" cy="400110"/>
          </a:xfrm>
          <a:prstGeom prst="rect">
            <a:avLst/>
          </a:prstGeom>
          <a:noFill/>
        </p:spPr>
        <p:txBody>
          <a:bodyPr wrap="square" rtlCol="0">
            <a:spAutoFit/>
          </a:bodyPr>
          <a:lstStyle/>
          <a:p>
            <a:pPr algn="l">
              <a:lnSpc>
                <a:spcPct val="100000"/>
              </a:lnSpc>
              <a:spcBef>
                <a:spcPts val="0"/>
              </a:spcBef>
            </a:pPr>
            <a:r>
              <a:rPr lang="en-US" altLang="zh-CN" sz="2000" i="1">
                <a:solidFill>
                  <a:srgbClr val="FF3300"/>
                </a:solidFill>
                <a:latin typeface="Consolas" pitchFamily="49" charset="0"/>
                <a:ea typeface="楷体" pitchFamily="49" charset="-122"/>
                <a:cs typeface="Consolas" pitchFamily="49" charset="0"/>
              </a:rPr>
              <a:t>h</a:t>
            </a:r>
            <a:r>
              <a:rPr lang="zh-CN" altLang="zh-CN" sz="2000">
                <a:solidFill>
                  <a:srgbClr val="FF3300"/>
                </a:solidFill>
                <a:latin typeface="+mn-ea"/>
              </a:rPr>
              <a:t>≤</a:t>
            </a:r>
            <a:r>
              <a:rPr lang="en-US" altLang="zh-CN" sz="2000">
                <a:solidFill>
                  <a:srgbClr val="FF3300"/>
                </a:solidFill>
                <a:latin typeface="Consolas" pitchFamily="49" charset="0"/>
                <a:ea typeface="仿宋" pitchFamily="49" charset="-122"/>
              </a:rPr>
              <a:t>H(</a:t>
            </a:r>
            <a:r>
              <a:rPr lang="en-US" altLang="zh-CN" sz="2000" i="1">
                <a:solidFill>
                  <a:srgbClr val="FF3300"/>
                </a:solidFill>
                <a:latin typeface="Consolas" pitchFamily="49" charset="0"/>
                <a:ea typeface="仿宋" pitchFamily="49" charset="-122"/>
              </a:rPr>
              <a:t>n</a:t>
            </a:r>
            <a:r>
              <a:rPr lang="en-US" altLang="zh-CN" sz="2000">
                <a:solidFill>
                  <a:srgbClr val="FF3300"/>
                </a:solidFill>
                <a:latin typeface="Consolas" pitchFamily="49" charset="0"/>
                <a:ea typeface="仿宋" pitchFamily="49" charset="-122"/>
              </a:rPr>
              <a:t>)</a:t>
            </a:r>
            <a:endParaRPr lang="zh-CN" altLang="en-US" sz="2000" i="1">
              <a:solidFill>
                <a:srgbClr val="FF3300"/>
              </a:solidFill>
              <a:latin typeface="Consolas" pitchFamily="49" charset="0"/>
              <a:ea typeface="楷体" pitchFamily="49" charset="-122"/>
              <a:cs typeface="Consolas" pitchFamily="49" charset="0"/>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111</a:t>
            </a:fld>
            <a:r>
              <a:rPr lang="en-US" altLang="zh-CN"/>
              <a:t>/126</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642918"/>
            <a:ext cx="8001056" cy="180113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400"/>
              </a:lnSpc>
              <a:spcBef>
                <a:spcPts val="0"/>
              </a:spcBef>
              <a:buBlip>
                <a:blip r:embed="rId3"/>
              </a:buBlip>
            </a:pPr>
            <a:r>
              <a:rPr lang="zh-CN" altLang="zh-CN">
                <a:solidFill>
                  <a:srgbClr val="0000FF"/>
                </a:solidFill>
                <a:latin typeface="Consolas" pitchFamily="49" charset="0"/>
                <a:ea typeface="仿宋" pitchFamily="49" charset="-122"/>
              </a:rPr>
              <a:t>对于路径上的任意两个结点</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和</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，并且</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到</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j</a:t>
            </a:r>
            <a:r>
              <a:rPr lang="zh-CN" altLang="zh-CN">
                <a:solidFill>
                  <a:srgbClr val="0000FF"/>
                </a:solidFill>
                <a:latin typeface="Consolas" pitchFamily="49" charset="0"/>
                <a:ea typeface="仿宋" pitchFamily="49" charset="-122"/>
              </a:rPr>
              <a:t>是</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的子结点）的代价为</a:t>
            </a:r>
            <a:r>
              <a:rPr lang="en-US" altLang="zh-CN">
                <a:solidFill>
                  <a:srgbClr val="0000FF"/>
                </a:solidFill>
                <a:latin typeface="Consolas" pitchFamily="49" charset="0"/>
                <a:ea typeface="仿宋" pitchFamily="49" charset="-122"/>
              </a:rPr>
              <a:t>c(</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i</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n</a:t>
            </a:r>
            <a:r>
              <a:rPr lang="en-US" altLang="zh-CN" i="1" baseline="-25000">
                <a:solidFill>
                  <a:srgbClr val="0000FF"/>
                </a:solidFill>
                <a:latin typeface="Consolas" pitchFamily="49" charset="0"/>
                <a:ea typeface="仿宋" pitchFamily="49" charset="-122"/>
              </a:rPr>
              <a:t>j</a:t>
            </a:r>
            <a:r>
              <a:rPr lang="en-US" altLang="zh-CN">
                <a:solidFill>
                  <a:srgbClr val="0000FF"/>
                </a:solidFill>
                <a:latin typeface="Consolas" pitchFamily="49" charset="0"/>
                <a:ea typeface="仿宋" pitchFamily="49" charset="-122"/>
              </a:rPr>
              <a:t>)</a:t>
            </a:r>
            <a:r>
              <a:rPr lang="zh-CN" altLang="zh-CN">
                <a:solidFill>
                  <a:srgbClr val="0000FF"/>
                </a:solidFill>
                <a:latin typeface="Consolas" pitchFamily="49" charset="0"/>
                <a:ea typeface="仿宋" pitchFamily="49" charset="-122"/>
              </a:rPr>
              <a:t>，若满足</a:t>
            </a:r>
            <a:r>
              <a:rPr lang="en-US" altLang="zh-CN">
                <a:solidFill>
                  <a:srgbClr val="0000FF"/>
                </a:solidFill>
                <a:latin typeface="Consolas" pitchFamily="49" charset="0"/>
                <a:ea typeface="仿宋" pitchFamily="49" charset="-122"/>
              </a:rPr>
              <a:t> 	</a:t>
            </a:r>
            <a:r>
              <a:rPr lang="en-US" altLang="zh-CN" i="1">
                <a:solidFill>
                  <a:srgbClr val="006600"/>
                </a:solidFill>
                <a:latin typeface="Consolas" pitchFamily="49" charset="0"/>
                <a:ea typeface="仿宋" pitchFamily="49" charset="-122"/>
              </a:rPr>
              <a:t>h</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n</a:t>
            </a:r>
            <a:r>
              <a:rPr lang="en-US" altLang="zh-CN" i="1" baseline="-25000">
                <a:solidFill>
                  <a:srgbClr val="006600"/>
                </a:solidFill>
                <a:latin typeface="Consolas" pitchFamily="49" charset="0"/>
                <a:ea typeface="仿宋" pitchFamily="49" charset="-122"/>
              </a:rPr>
              <a:t>i</a:t>
            </a:r>
            <a:r>
              <a:rPr lang="en-US" altLang="zh-CN">
                <a:solidFill>
                  <a:srgbClr val="006600"/>
                </a:solidFill>
                <a:latin typeface="Consolas" pitchFamily="49" charset="0"/>
                <a:ea typeface="仿宋" pitchFamily="49" charset="-122"/>
              </a:rPr>
              <a:t>)</a:t>
            </a:r>
            <a:r>
              <a:rPr lang="zh-CN" altLang="zh-CN">
                <a:solidFill>
                  <a:srgbClr val="006600"/>
                </a:solidFill>
                <a:latin typeface="+mn-ea"/>
              </a:rPr>
              <a:t>≤</a:t>
            </a:r>
            <a:r>
              <a:rPr lang="en-US" altLang="zh-CN">
                <a:solidFill>
                  <a:srgbClr val="006600"/>
                </a:solidFill>
                <a:latin typeface="Consolas" pitchFamily="49" charset="0"/>
                <a:ea typeface="仿宋" pitchFamily="49" charset="-122"/>
              </a:rPr>
              <a:t>c(</a:t>
            </a:r>
            <a:r>
              <a:rPr lang="en-US" altLang="zh-CN" i="1">
                <a:solidFill>
                  <a:srgbClr val="006600"/>
                </a:solidFill>
                <a:latin typeface="Consolas" pitchFamily="49" charset="0"/>
                <a:ea typeface="仿宋" pitchFamily="49" charset="-122"/>
              </a:rPr>
              <a:t>n</a:t>
            </a:r>
            <a:r>
              <a:rPr lang="en-US" altLang="zh-CN" i="1" baseline="-25000">
                <a:solidFill>
                  <a:srgbClr val="006600"/>
                </a:solidFill>
                <a:latin typeface="Consolas" pitchFamily="49" charset="0"/>
                <a:ea typeface="仿宋" pitchFamily="49" charset="-122"/>
              </a:rPr>
              <a:t>i</a:t>
            </a:r>
            <a:r>
              <a:rPr lang="zh-CN"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n</a:t>
            </a:r>
            <a:r>
              <a:rPr lang="en-US" altLang="zh-CN" i="1" baseline="-25000">
                <a:solidFill>
                  <a:srgbClr val="006600"/>
                </a:solidFill>
                <a:latin typeface="Consolas" pitchFamily="49" charset="0"/>
                <a:ea typeface="仿宋" pitchFamily="49" charset="-122"/>
              </a:rPr>
              <a:t>j</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h</a:t>
            </a:r>
            <a:r>
              <a:rPr lang="en-US" altLang="zh-CN">
                <a:solidFill>
                  <a:srgbClr val="006600"/>
                </a:solidFill>
                <a:latin typeface="Consolas" pitchFamily="49" charset="0"/>
                <a:ea typeface="仿宋" pitchFamily="49" charset="-122"/>
              </a:rPr>
              <a:t>(</a:t>
            </a:r>
            <a:r>
              <a:rPr lang="en-US" altLang="zh-CN" i="1">
                <a:solidFill>
                  <a:srgbClr val="006600"/>
                </a:solidFill>
                <a:latin typeface="Consolas" pitchFamily="49" charset="0"/>
                <a:ea typeface="仿宋" pitchFamily="49" charset="-122"/>
              </a:rPr>
              <a:t>n</a:t>
            </a:r>
            <a:r>
              <a:rPr lang="en-US" altLang="zh-CN" i="1" baseline="-25000">
                <a:solidFill>
                  <a:srgbClr val="006600"/>
                </a:solidFill>
                <a:latin typeface="Consolas" pitchFamily="49" charset="0"/>
                <a:ea typeface="仿宋" pitchFamily="49" charset="-122"/>
              </a:rPr>
              <a:t>j</a:t>
            </a:r>
            <a:r>
              <a:rPr lang="en-US" altLang="zh-CN">
                <a:solidFill>
                  <a:srgbClr val="006600"/>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称</a:t>
            </a:r>
            <a:r>
              <a:rPr lang="zh-CN" altLang="zh-CN">
                <a:solidFill>
                  <a:srgbClr val="FF3300"/>
                </a:solidFill>
                <a:latin typeface="Consolas" pitchFamily="49" charset="0"/>
                <a:ea typeface="楷体" pitchFamily="49" charset="-122"/>
              </a:rPr>
              <a:t>启发式函数</a:t>
            </a:r>
            <a:r>
              <a:rPr lang="en-US" altLang="zh-CN" i="1">
                <a:solidFill>
                  <a:srgbClr val="FF3300"/>
                </a:solidFill>
                <a:latin typeface="Consolas" pitchFamily="49" charset="0"/>
                <a:ea typeface="楷体" pitchFamily="49" charset="-122"/>
              </a:rPr>
              <a:t>h</a:t>
            </a:r>
            <a:r>
              <a:rPr lang="en-US" altLang="zh-CN">
                <a:solidFill>
                  <a:srgbClr val="FF3300"/>
                </a:solidFill>
                <a:latin typeface="Consolas" pitchFamily="49" charset="0"/>
                <a:ea typeface="楷体" pitchFamily="49" charset="-122"/>
              </a:rPr>
              <a:t>(</a:t>
            </a:r>
            <a:r>
              <a:rPr lang="en-US" altLang="zh-CN" i="1">
                <a:solidFill>
                  <a:srgbClr val="FF3300"/>
                </a:solidFill>
                <a:latin typeface="Consolas" pitchFamily="49" charset="0"/>
                <a:ea typeface="楷体" pitchFamily="49" charset="-122"/>
              </a:rPr>
              <a:t>n</a:t>
            </a:r>
            <a:r>
              <a:rPr lang="en-US" altLang="zh-CN">
                <a:solidFill>
                  <a:srgbClr val="FF3300"/>
                </a:solidFill>
                <a:latin typeface="Consolas" pitchFamily="49" charset="0"/>
                <a:ea typeface="楷体" pitchFamily="49" charset="-122"/>
              </a:rPr>
              <a:t>)</a:t>
            </a:r>
            <a:r>
              <a:rPr lang="zh-CN" altLang="zh-CN">
                <a:solidFill>
                  <a:srgbClr val="FF3300"/>
                </a:solidFill>
                <a:latin typeface="Consolas" pitchFamily="49" charset="0"/>
                <a:ea typeface="楷体" pitchFamily="49" charset="-122"/>
              </a:rPr>
              <a:t>是一致的</a:t>
            </a:r>
            <a:r>
              <a:rPr lang="zh-CN" altLang="zh-CN">
                <a:solidFill>
                  <a:srgbClr val="0000FF"/>
                </a:solidFill>
                <a:latin typeface="Consolas" pitchFamily="49" charset="0"/>
                <a:ea typeface="仿宋" pitchFamily="49" charset="-122"/>
              </a:rPr>
              <a:t>（或单调的），如图所示。</a:t>
            </a:r>
          </a:p>
        </p:txBody>
      </p:sp>
      <p:sp>
        <p:nvSpPr>
          <p:cNvPr id="3085"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83" name="Rectangle 11"/>
          <p:cNvSpPr>
            <a:spLocks noChangeArrowheads="1"/>
          </p:cNvSpPr>
          <p:nvPr/>
        </p:nvSpPr>
        <p:spPr bwMode="auto">
          <a:xfrm>
            <a:off x="4830145" y="3329118"/>
            <a:ext cx="713030" cy="3885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h</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2" name="Rectangle 10"/>
          <p:cNvSpPr>
            <a:spLocks noChangeArrowheads="1"/>
          </p:cNvSpPr>
          <p:nvPr/>
        </p:nvSpPr>
        <p:spPr bwMode="auto">
          <a:xfrm>
            <a:off x="3699811" y="4487761"/>
            <a:ext cx="713030" cy="3885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h</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1" name="Rectangle 9"/>
          <p:cNvSpPr>
            <a:spLocks noChangeArrowheads="1"/>
          </p:cNvSpPr>
          <p:nvPr/>
        </p:nvSpPr>
        <p:spPr bwMode="auto">
          <a:xfrm>
            <a:off x="2176443" y="3234741"/>
            <a:ext cx="943040" cy="3885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c(</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r>
              <a:rPr kumimoji="0" lang="en-US" altLang="zh-CN" sz="2000" i="0" u="none" strike="noStrike" cap="none" normalizeH="0" baseline="0">
                <a:ln>
                  <a:noFill/>
                </a:ln>
                <a:solidFill>
                  <a:srgbClr val="0000FF"/>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80" name="Oval 8"/>
          <p:cNvSpPr>
            <a:spLocks noChangeArrowheads="1"/>
          </p:cNvSpPr>
          <p:nvPr/>
        </p:nvSpPr>
        <p:spPr bwMode="auto">
          <a:xfrm>
            <a:off x="3630808" y="2868759"/>
            <a:ext cx="604597" cy="5194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j</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9" name="Oval 7"/>
          <p:cNvSpPr>
            <a:spLocks noChangeArrowheads="1"/>
          </p:cNvSpPr>
          <p:nvPr/>
        </p:nvSpPr>
        <p:spPr bwMode="auto">
          <a:xfrm>
            <a:off x="2084813" y="4064005"/>
            <a:ext cx="604597" cy="519488"/>
          </a:xfrm>
          <a:prstGeom prst="ellipse">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18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00FF"/>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00FF"/>
                </a:solidFill>
                <a:effectLst/>
                <a:latin typeface="Consolas" pitchFamily="49" charset="0"/>
                <a:ea typeface="宋体" pitchFamily="2" charset="-122"/>
                <a:cs typeface="Times New Roman" pitchFamily="18" charset="0"/>
              </a:rPr>
              <a:t>i</a:t>
            </a:r>
            <a:endParaRPr kumimoji="0" lang="en-US"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8" name="AutoShape 6"/>
          <p:cNvSpPr>
            <a:spLocks noChangeShapeType="1"/>
          </p:cNvSpPr>
          <p:nvPr/>
        </p:nvSpPr>
        <p:spPr bwMode="auto">
          <a:xfrm flipV="1">
            <a:off x="2600693" y="3129207"/>
            <a:ext cx="1030115" cy="1010820"/>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77" name="Oval 5"/>
          <p:cNvSpPr>
            <a:spLocks noChangeArrowheads="1"/>
          </p:cNvSpPr>
          <p:nvPr/>
        </p:nvSpPr>
        <p:spPr bwMode="auto">
          <a:xfrm>
            <a:off x="5454457" y="4263916"/>
            <a:ext cx="604597" cy="519488"/>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0" tIns="1800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i="0" u="none" strike="noStrike" cap="none" normalizeH="0" baseline="0">
              <a:ln>
                <a:noFill/>
              </a:ln>
              <a:solidFill>
                <a:srgbClr val="0000FF"/>
              </a:solidFill>
              <a:effectLst/>
              <a:latin typeface="Consolas" pitchFamily="49" charset="0"/>
              <a:ea typeface="宋体" pitchFamily="2" charset="-122"/>
              <a:cs typeface="宋体" pitchFamily="2" charset="-122"/>
            </a:endParaRPr>
          </a:p>
        </p:txBody>
      </p:sp>
      <p:sp>
        <p:nvSpPr>
          <p:cNvPr id="3076" name="AutoShape 4"/>
          <p:cNvSpPr>
            <a:spLocks noChangeShapeType="1"/>
          </p:cNvSpPr>
          <p:nvPr/>
        </p:nvSpPr>
        <p:spPr bwMode="auto">
          <a:xfrm>
            <a:off x="4235405" y="3129207"/>
            <a:ext cx="1307770" cy="121073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75" name="AutoShape 3"/>
          <p:cNvSpPr>
            <a:spLocks noChangeShapeType="1"/>
          </p:cNvSpPr>
          <p:nvPr/>
        </p:nvSpPr>
        <p:spPr bwMode="auto">
          <a:xfrm>
            <a:off x="2689411" y="4324453"/>
            <a:ext cx="2765047" cy="199912"/>
          </a:xfrm>
          <a:prstGeom prst="straightConnector1">
            <a:avLst/>
          </a:pr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2000">
              <a:solidFill>
                <a:srgbClr val="0000FF"/>
              </a:solidFill>
              <a:latin typeface="Consolas" pitchFamily="49" charset="0"/>
            </a:endParaRPr>
          </a:p>
        </p:txBody>
      </p:sp>
      <p:sp>
        <p:nvSpPr>
          <p:cNvPr id="3074" name="Rectangle 2"/>
          <p:cNvSpPr>
            <a:spLocks noChangeArrowheads="1"/>
          </p:cNvSpPr>
          <p:nvPr/>
        </p:nvSpPr>
        <p:spPr bwMode="auto">
          <a:xfrm>
            <a:off x="2643175" y="4972054"/>
            <a:ext cx="2766924" cy="388560"/>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h</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66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0" u="none" strike="noStrike" cap="none" normalizeH="0" baseline="0">
                <a:ln>
                  <a:noFill/>
                </a:ln>
                <a:solidFill>
                  <a:srgbClr val="006600"/>
                </a:solidFill>
                <a:effectLst/>
                <a:latin typeface="+mn-ea"/>
                <a:ea typeface="+mn-ea"/>
                <a:cs typeface="Times New Roman" pitchFamily="18" charset="0"/>
              </a:rPr>
              <a:t>≤</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c(</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6600"/>
                </a:solidFill>
                <a:effectLst/>
                <a:latin typeface="Consolas" pitchFamily="49" charset="0"/>
                <a:ea typeface="宋体" pitchFamily="2" charset="-122"/>
                <a:cs typeface="Times New Roman" pitchFamily="18" charset="0"/>
              </a:rPr>
              <a:t>i</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6600"/>
                </a:solidFill>
                <a:effectLst/>
                <a:latin typeface="Consolas" pitchFamily="49" charset="0"/>
                <a:ea typeface="宋体" pitchFamily="2" charset="-122"/>
                <a:cs typeface="Times New Roman" pitchFamily="18" charset="0"/>
              </a:rPr>
              <a:t>j</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h</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r>
              <a:rPr kumimoji="0" lang="en-US" altLang="zh-CN" sz="2000" i="1" u="none" strike="noStrike" cap="none" normalizeH="0" baseline="0">
                <a:ln>
                  <a:noFill/>
                </a:ln>
                <a:solidFill>
                  <a:srgbClr val="006600"/>
                </a:solidFill>
                <a:effectLst/>
                <a:latin typeface="Consolas" pitchFamily="49" charset="0"/>
                <a:ea typeface="宋体" pitchFamily="2" charset="-122"/>
                <a:cs typeface="Times New Roman" pitchFamily="18" charset="0"/>
              </a:rPr>
              <a:t>n</a:t>
            </a:r>
            <a:r>
              <a:rPr kumimoji="0" lang="en-US" altLang="zh-CN" sz="2000" i="1" u="none" strike="noStrike" cap="none" normalizeH="0" baseline="-30000">
                <a:ln>
                  <a:noFill/>
                </a:ln>
                <a:solidFill>
                  <a:srgbClr val="006600"/>
                </a:solidFill>
                <a:effectLst/>
                <a:latin typeface="Consolas" pitchFamily="49" charset="0"/>
                <a:ea typeface="宋体" pitchFamily="2" charset="-122"/>
                <a:cs typeface="Times New Roman" pitchFamily="18" charset="0"/>
              </a:rPr>
              <a:t>j</a:t>
            </a:r>
            <a:r>
              <a:rPr kumimoji="0" lang="en-US" altLang="zh-CN" sz="2000" i="0" u="none" strike="noStrike" cap="none" normalizeH="0" baseline="0">
                <a:ln>
                  <a:noFill/>
                </a:ln>
                <a:solidFill>
                  <a:srgbClr val="006600"/>
                </a:solidFill>
                <a:effectLst/>
                <a:latin typeface="Consolas" pitchFamily="49" charset="0"/>
                <a:ea typeface="宋体" pitchFamily="2" charset="-122"/>
                <a:cs typeface="Times New Roman" pitchFamily="18" charset="0"/>
              </a:rPr>
              <a:t>)</a:t>
            </a:r>
            <a:endParaRPr kumimoji="0" lang="en-US" altLang="zh-CN" sz="2000" i="0" u="none" strike="noStrike" cap="none" normalizeH="0" baseline="0">
              <a:ln>
                <a:noFill/>
              </a:ln>
              <a:solidFill>
                <a:srgbClr val="006600"/>
              </a:solidFill>
              <a:effectLst/>
              <a:latin typeface="Consolas" pitchFamily="49" charset="0"/>
              <a:ea typeface="宋体" pitchFamily="2" charset="-122"/>
              <a:cs typeface="宋体" pitchFamily="2" charset="-122"/>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112</a:t>
            </a:fld>
            <a:r>
              <a:rPr lang="en-US" altLang="zh-CN"/>
              <a:t>/126</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571480"/>
            <a:ext cx="4500594" cy="551090"/>
          </a:xfrm>
          <a:prstGeom prst="rect">
            <a:avLst/>
          </a:prstGeom>
        </p:spPr>
        <p:style>
          <a:lnRef idx="3">
            <a:schemeClr val="lt1"/>
          </a:lnRef>
          <a:fillRef idx="1">
            <a:schemeClr val="accent1"/>
          </a:fillRef>
          <a:effectRef idx="1">
            <a:schemeClr val="accent1"/>
          </a:effectRef>
          <a:fontRef idx="minor">
            <a:schemeClr val="lt1"/>
          </a:fontRef>
        </p:style>
        <p:txBody>
          <a:bodyPr wrap="square" tIns="108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en-US" altLang="zh-CN"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2.</a:t>
            </a:r>
            <a:r>
              <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rPr>
              <a:t>设计启发式函数常用的距离</a:t>
            </a:r>
            <a:endParaRPr lang="zh-CN" altLang="en-US"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微软雅黑" pitchFamily="34" charset="-122"/>
              <a:ea typeface="微软雅黑" pitchFamily="34" charset="-122"/>
              <a:cs typeface="Consolas" pitchFamily="49" charset="0"/>
            </a:endParaRPr>
          </a:p>
        </p:txBody>
      </p:sp>
      <p:sp>
        <p:nvSpPr>
          <p:cNvPr id="4" name="TextBox 3"/>
          <p:cNvSpPr txBox="1"/>
          <p:nvPr/>
        </p:nvSpPr>
        <p:spPr>
          <a:xfrm>
            <a:off x="571472" y="1714488"/>
            <a:ext cx="2928958"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itchFamily="49" charset="0"/>
                <a:ea typeface="微软雅黑" pitchFamily="34" charset="-122"/>
              </a:rPr>
              <a:t>（</a:t>
            </a:r>
            <a:r>
              <a:rPr lang="en-US" altLang="zh-CN">
                <a:solidFill>
                  <a:srgbClr val="FF0000"/>
                </a:solidFill>
                <a:latin typeface="Consolas" pitchFamily="49" charset="0"/>
                <a:ea typeface="微软雅黑" pitchFamily="34" charset="-122"/>
              </a:rPr>
              <a:t>1</a:t>
            </a:r>
            <a:r>
              <a:rPr lang="zh-CN" altLang="zh-CN">
                <a:solidFill>
                  <a:srgbClr val="FF0000"/>
                </a:solidFill>
                <a:latin typeface="Consolas" pitchFamily="49" charset="0"/>
                <a:ea typeface="微软雅黑" pitchFamily="34" charset="-122"/>
              </a:rPr>
              <a:t>）曼哈顿距离</a:t>
            </a:r>
          </a:p>
        </p:txBody>
      </p:sp>
      <p:sp>
        <p:nvSpPr>
          <p:cNvPr id="6" name="TextBox 5"/>
          <p:cNvSpPr txBox="1"/>
          <p:nvPr/>
        </p:nvSpPr>
        <p:spPr>
          <a:xfrm>
            <a:off x="1357290" y="2857496"/>
            <a:ext cx="3929090"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itchFamily="49" charset="0"/>
                <a:ea typeface="楷体" pitchFamily="49" charset="-122"/>
                <a:cs typeface="Consolas" pitchFamily="49" charset="0"/>
              </a:rPr>
              <a:t>D(</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x</a:t>
            </a:r>
            <a:r>
              <a:rPr lang="en-US" altLang="zh-CN" sz="2200" i="1" baseline="-25000">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x</a:t>
            </a:r>
            <a:r>
              <a:rPr lang="en-US" altLang="zh-CN" sz="2200" i="1" baseline="-25000">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i="1" baseline="-25000">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i="1" baseline="-25000">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a:t>
            </a:r>
            <a:endParaRPr lang="zh-CN" altLang="en-US" sz="2200">
              <a:solidFill>
                <a:srgbClr val="0000FF"/>
              </a:solidFill>
              <a:latin typeface="Consolas" pitchFamily="49" charset="0"/>
              <a:ea typeface="楷体" pitchFamily="49" charset="-122"/>
              <a:cs typeface="Consolas" pitchFamily="49" charset="0"/>
            </a:endParaRPr>
          </a:p>
        </p:txBody>
      </p:sp>
      <p:sp>
        <p:nvSpPr>
          <p:cNvPr id="7" name="TextBox 6"/>
          <p:cNvSpPr txBox="1"/>
          <p:nvPr/>
        </p:nvSpPr>
        <p:spPr>
          <a:xfrm>
            <a:off x="357158" y="3571876"/>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假定直线行走一个网格的曼哈顿距离为</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，则启发式函数为：</a:t>
            </a: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1357290" y="4357694"/>
            <a:ext cx="5643602"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itchFamily="49" charset="0"/>
                <a:ea typeface="楷体" pitchFamily="49" charset="-122"/>
                <a:cs typeface="Consolas" pitchFamily="49" charset="0"/>
              </a:rPr>
              <a:t>h</a:t>
            </a:r>
            <a:r>
              <a:rPr lang="en-US" altLang="zh-CN" sz="2200">
                <a:solidFill>
                  <a:srgbClr val="0000FF"/>
                </a:solidFill>
                <a:latin typeface="Consolas" pitchFamily="49" charset="0"/>
                <a:ea typeface="楷体" pitchFamily="49" charset="-122"/>
                <a:cs typeface="Consolas" pitchFamily="49" charset="0"/>
              </a:rPr>
              <a:t>(n)=d*(|n.</a:t>
            </a:r>
            <a:r>
              <a:rPr lang="en-US" altLang="zh-CN" sz="2200" i="1">
                <a:solidFill>
                  <a:srgbClr val="0000FF"/>
                </a:solidFill>
                <a:latin typeface="Consolas" pitchFamily="49" charset="0"/>
                <a:ea typeface="楷体" pitchFamily="49" charset="-122"/>
                <a:cs typeface="Consolas" pitchFamily="49" charset="0"/>
              </a:rPr>
              <a:t>x</a:t>
            </a:r>
            <a:r>
              <a:rPr lang="en-US" altLang="zh-CN" sz="2200">
                <a:solidFill>
                  <a:srgbClr val="0000FF"/>
                </a:solidFill>
                <a:latin typeface="Consolas" pitchFamily="49" charset="0"/>
                <a:ea typeface="楷体" pitchFamily="49" charset="-122"/>
                <a:cs typeface="Consolas" pitchFamily="49" charset="0"/>
              </a:rPr>
              <a:t>-goal.</a:t>
            </a:r>
            <a:r>
              <a:rPr lang="en-US" altLang="zh-CN" sz="2200" i="1">
                <a:solidFill>
                  <a:srgbClr val="0000FF"/>
                </a:solidFill>
                <a:latin typeface="Consolas" pitchFamily="49" charset="0"/>
                <a:ea typeface="楷体" pitchFamily="49" charset="-122"/>
                <a:cs typeface="Consolas" pitchFamily="49" charset="0"/>
              </a:rPr>
              <a:t>x</a:t>
            </a:r>
            <a:r>
              <a:rPr lang="en-US" altLang="zh-CN" sz="2200">
                <a:solidFill>
                  <a:srgbClr val="0000FF"/>
                </a:solidFill>
                <a:latin typeface="Consolas" pitchFamily="49" charset="0"/>
                <a:ea typeface="楷体" pitchFamily="49" charset="-122"/>
                <a:cs typeface="Consolas" pitchFamily="49" charset="0"/>
              </a:rPr>
              <a:t>|+|n.</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-goal.</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a:t>
            </a:r>
            <a:endParaRPr lang="zh-CN" altLang="en-US" sz="2200">
              <a:solidFill>
                <a:srgbClr val="0000FF"/>
              </a:solidFill>
              <a:latin typeface="Consolas" pitchFamily="49" charset="0"/>
              <a:ea typeface="楷体"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113</a:t>
            </a:fld>
            <a:r>
              <a:rPr lang="en-US" altLang="zh-CN"/>
              <a:t>/126</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71480"/>
            <a:ext cx="2928958"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itchFamily="49" charset="0"/>
                <a:ea typeface="微软雅黑" pitchFamily="34" charset="-122"/>
              </a:rPr>
              <a:t>（</a:t>
            </a:r>
            <a:r>
              <a:rPr lang="en-US" altLang="zh-CN">
                <a:solidFill>
                  <a:srgbClr val="FF0000"/>
                </a:solidFill>
                <a:latin typeface="Consolas" pitchFamily="49" charset="0"/>
                <a:ea typeface="微软雅黑" pitchFamily="34" charset="-122"/>
              </a:rPr>
              <a:t>2</a:t>
            </a:r>
            <a:r>
              <a:rPr lang="zh-CN" altLang="zh-CN">
                <a:solidFill>
                  <a:srgbClr val="FF0000"/>
                </a:solidFill>
                <a:latin typeface="Consolas" pitchFamily="49" charset="0"/>
                <a:ea typeface="微软雅黑" pitchFamily="34" charset="-122"/>
              </a:rPr>
              <a:t>）</a:t>
            </a:r>
            <a:r>
              <a:rPr lang="zh-CN" altLang="en-US">
                <a:solidFill>
                  <a:srgbClr val="FF0000"/>
                </a:solidFill>
                <a:latin typeface="Consolas" pitchFamily="49" charset="0"/>
                <a:ea typeface="微软雅黑" pitchFamily="34" charset="-122"/>
              </a:rPr>
              <a:t>对角线</a:t>
            </a:r>
            <a:r>
              <a:rPr lang="zh-CN" altLang="zh-CN">
                <a:solidFill>
                  <a:srgbClr val="FF0000"/>
                </a:solidFill>
                <a:latin typeface="Consolas" pitchFamily="49" charset="0"/>
                <a:ea typeface="微软雅黑" pitchFamily="34" charset="-122"/>
              </a:rPr>
              <a:t>距离</a:t>
            </a:r>
          </a:p>
        </p:txBody>
      </p:sp>
      <p:sp>
        <p:nvSpPr>
          <p:cNvPr id="6" name="TextBox 5"/>
          <p:cNvSpPr txBox="1"/>
          <p:nvPr/>
        </p:nvSpPr>
        <p:spPr>
          <a:xfrm>
            <a:off x="1357290" y="1714488"/>
            <a:ext cx="4429156" cy="430887"/>
          </a:xfrm>
          <a:prstGeom prst="rect">
            <a:avLst/>
          </a:prstGeom>
          <a:noFill/>
        </p:spPr>
        <p:txBody>
          <a:bodyPr wrap="square" rtlCol="0">
            <a:spAutoFit/>
          </a:bodyPr>
          <a:lstStyle/>
          <a:p>
            <a:pPr algn="l">
              <a:lnSpc>
                <a:spcPct val="100000"/>
              </a:lnSpc>
              <a:spcBef>
                <a:spcPts val="0"/>
              </a:spcBef>
            </a:pPr>
            <a:r>
              <a:rPr lang="en-US" altLang="zh-CN" sz="2200">
                <a:solidFill>
                  <a:srgbClr val="0000FF"/>
                </a:solidFill>
                <a:latin typeface="Consolas" pitchFamily="49" charset="0"/>
                <a:ea typeface="楷体" pitchFamily="49" charset="-122"/>
                <a:cs typeface="Consolas" pitchFamily="49" charset="0"/>
              </a:rPr>
              <a:t>D(</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)=max{|</a:t>
            </a:r>
            <a:r>
              <a:rPr lang="en-US" altLang="zh-CN" sz="2200" i="1">
                <a:solidFill>
                  <a:srgbClr val="0000FF"/>
                </a:solidFill>
                <a:latin typeface="Consolas" pitchFamily="49" charset="0"/>
                <a:ea typeface="楷体" pitchFamily="49" charset="-122"/>
                <a:cs typeface="Consolas" pitchFamily="49" charset="0"/>
              </a:rPr>
              <a:t>x</a:t>
            </a:r>
            <a:r>
              <a:rPr lang="en-US" altLang="zh-CN" sz="2200" i="1" baseline="-25000">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x</a:t>
            </a:r>
            <a:r>
              <a:rPr lang="en-US" altLang="zh-CN" sz="2200" i="1" baseline="-25000">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i="1" baseline="-25000">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y</a:t>
            </a:r>
            <a:r>
              <a:rPr lang="en-US" altLang="zh-CN" sz="2200" i="1" baseline="-25000">
                <a:solidFill>
                  <a:srgbClr val="0000FF"/>
                </a:solidFill>
                <a:latin typeface="Consolas" pitchFamily="49" charset="0"/>
                <a:ea typeface="楷体" pitchFamily="49" charset="-122"/>
                <a:cs typeface="Consolas" pitchFamily="49" charset="0"/>
              </a:rPr>
              <a:t>j</a:t>
            </a:r>
            <a:r>
              <a:rPr lang="en-US" altLang="zh-CN" sz="2200">
                <a:solidFill>
                  <a:srgbClr val="0000FF"/>
                </a:solidFill>
                <a:latin typeface="Consolas" pitchFamily="49" charset="0"/>
                <a:ea typeface="楷体" pitchFamily="49" charset="-122"/>
                <a:cs typeface="Consolas" pitchFamily="49" charset="0"/>
              </a:rPr>
              <a:t>|}</a:t>
            </a:r>
            <a:endParaRPr lang="zh-CN" altLang="en-US" sz="2200">
              <a:solidFill>
                <a:srgbClr val="0000FF"/>
              </a:solidFill>
              <a:latin typeface="Consolas" pitchFamily="49" charset="0"/>
              <a:ea typeface="楷体" pitchFamily="49" charset="-122"/>
              <a:cs typeface="Consolas" pitchFamily="49" charset="0"/>
            </a:endParaRPr>
          </a:p>
        </p:txBody>
      </p:sp>
      <p:sp>
        <p:nvSpPr>
          <p:cNvPr id="7" name="TextBox 6"/>
          <p:cNvSpPr txBox="1"/>
          <p:nvPr/>
        </p:nvSpPr>
        <p:spPr>
          <a:xfrm>
            <a:off x="357158" y="2357430"/>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假定直线行走和对角行走的代价都为</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 则启发式函数为：</a:t>
            </a:r>
            <a:endParaRPr lang="zh-CN" altLang="en-US">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1285852" y="3286124"/>
            <a:ext cx="5643602" cy="430887"/>
          </a:xfrm>
          <a:prstGeom prst="rect">
            <a:avLst/>
          </a:prstGeom>
          <a:noFill/>
        </p:spPr>
        <p:txBody>
          <a:bodyPr wrap="square" rtlCol="0">
            <a:spAutoFit/>
          </a:bodyPr>
          <a:lstStyle/>
          <a:p>
            <a:pPr algn="l">
              <a:lnSpc>
                <a:spcPct val="100000"/>
              </a:lnSpc>
              <a:spcBef>
                <a:spcPts val="0"/>
              </a:spcBef>
            </a:pPr>
            <a:r>
              <a:rPr lang="en-US" altLang="zh-CN" sz="2200" i="1">
                <a:solidFill>
                  <a:srgbClr val="0000FF"/>
                </a:solidFill>
                <a:latin typeface="Consolas" pitchFamily="49" charset="0"/>
                <a:ea typeface="楷体" pitchFamily="49" charset="-122"/>
                <a:cs typeface="Consolas" pitchFamily="49" charset="0"/>
              </a:rPr>
              <a:t>h</a:t>
            </a:r>
            <a:r>
              <a:rPr lang="en-US" altLang="zh-CN" sz="2200">
                <a:solidFill>
                  <a:srgbClr val="0000FF"/>
                </a:solidFill>
                <a:latin typeface="Consolas" pitchFamily="49" charset="0"/>
                <a:ea typeface="楷体" pitchFamily="49" charset="-122"/>
                <a:cs typeface="Consolas" pitchFamily="49" charset="0"/>
              </a:rPr>
              <a:t>(n)=d*(|n.</a:t>
            </a:r>
            <a:r>
              <a:rPr lang="en-US" altLang="zh-CN" sz="2200" i="1">
                <a:solidFill>
                  <a:srgbClr val="0000FF"/>
                </a:solidFill>
                <a:latin typeface="Consolas" pitchFamily="49" charset="0"/>
                <a:ea typeface="楷体" pitchFamily="49" charset="-122"/>
                <a:cs typeface="Consolas" pitchFamily="49" charset="0"/>
              </a:rPr>
              <a:t>x</a:t>
            </a:r>
            <a:r>
              <a:rPr lang="en-US" altLang="zh-CN" sz="2200">
                <a:solidFill>
                  <a:srgbClr val="0000FF"/>
                </a:solidFill>
                <a:latin typeface="Consolas" pitchFamily="49" charset="0"/>
                <a:ea typeface="楷体" pitchFamily="49" charset="-122"/>
                <a:cs typeface="Consolas" pitchFamily="49" charset="0"/>
              </a:rPr>
              <a:t>-goal.</a:t>
            </a:r>
            <a:r>
              <a:rPr lang="en-US" altLang="zh-CN" sz="2200" i="1">
                <a:solidFill>
                  <a:srgbClr val="0000FF"/>
                </a:solidFill>
                <a:latin typeface="Consolas" pitchFamily="49" charset="0"/>
                <a:ea typeface="楷体" pitchFamily="49" charset="-122"/>
                <a:cs typeface="Consolas" pitchFamily="49" charset="0"/>
              </a:rPr>
              <a:t>x</a:t>
            </a:r>
            <a:r>
              <a:rPr lang="en-US" altLang="zh-CN" sz="2200">
                <a:solidFill>
                  <a:srgbClr val="0000FF"/>
                </a:solidFill>
                <a:latin typeface="Consolas" pitchFamily="49" charset="0"/>
                <a:ea typeface="楷体" pitchFamily="49" charset="-122"/>
                <a:cs typeface="Consolas" pitchFamily="49" charset="0"/>
              </a:rPr>
              <a:t>|,|n.</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-goal.</a:t>
            </a:r>
            <a:r>
              <a:rPr lang="en-US" altLang="zh-CN" sz="2200" i="1">
                <a:solidFill>
                  <a:srgbClr val="0000FF"/>
                </a:solidFill>
                <a:latin typeface="Consolas" pitchFamily="49" charset="0"/>
                <a:ea typeface="楷体" pitchFamily="49" charset="-122"/>
                <a:cs typeface="Consolas" pitchFamily="49" charset="0"/>
              </a:rPr>
              <a:t>y</a:t>
            </a:r>
            <a:r>
              <a:rPr lang="en-US" altLang="zh-CN" sz="2200">
                <a:solidFill>
                  <a:srgbClr val="0000FF"/>
                </a:solidFill>
                <a:latin typeface="Consolas" pitchFamily="49" charset="0"/>
                <a:ea typeface="楷体" pitchFamily="49" charset="-122"/>
                <a:cs typeface="Consolas" pitchFamily="49" charset="0"/>
              </a:rPr>
              <a:t>|)</a:t>
            </a:r>
            <a:endParaRPr lang="zh-CN" altLang="en-US" sz="2200">
              <a:solidFill>
                <a:srgbClr val="0000FF"/>
              </a:solidFill>
              <a:latin typeface="Consolas" pitchFamily="49" charset="0"/>
              <a:ea typeface="楷体" pitchFamily="49" charset="-122"/>
              <a:cs typeface="Consolas" pitchFamily="49" charset="0"/>
            </a:endParaRPr>
          </a:p>
        </p:txBody>
      </p:sp>
      <p:sp>
        <p:nvSpPr>
          <p:cNvPr id="9" name="灯片编号占位符 8"/>
          <p:cNvSpPr>
            <a:spLocks noGrp="1"/>
          </p:cNvSpPr>
          <p:nvPr>
            <p:ph type="sldNum" sz="quarter" idx="12"/>
          </p:nvPr>
        </p:nvSpPr>
        <p:spPr/>
        <p:txBody>
          <a:bodyPr/>
          <a:lstStyle/>
          <a:p>
            <a:fld id="{7AF016A1-9F15-429F-9EFD-84004B73C732}" type="slidenum">
              <a:rPr lang="en-US" altLang="zh-CN" smtClean="0"/>
              <a:pPr/>
              <a:t>114</a:t>
            </a:fld>
            <a:r>
              <a:rPr lang="en-US" altLang="zh-CN"/>
              <a:t>/126</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571480"/>
            <a:ext cx="3357586" cy="514738"/>
          </a:xfrm>
          <a:prstGeom prst="rect">
            <a:avLst/>
          </a:prstGeom>
        </p:spPr>
        <p:style>
          <a:lnRef idx="1">
            <a:schemeClr val="accent3"/>
          </a:lnRef>
          <a:fillRef idx="2">
            <a:schemeClr val="accent3"/>
          </a:fillRef>
          <a:effectRef idx="1">
            <a:schemeClr val="accent3"/>
          </a:effectRef>
          <a:fontRef idx="minor">
            <a:schemeClr val="dk1"/>
          </a:fontRef>
        </p:style>
        <p:txBody>
          <a:bodyPr wrap="square" tIns="72000" bIns="72000" rtlCol="0">
            <a:spAutoFit/>
          </a:bodyPr>
          <a:lstStyle/>
          <a:p>
            <a:pPr>
              <a:lnSpc>
                <a:spcPct val="100000"/>
              </a:lnSpc>
              <a:spcBef>
                <a:spcPts val="0"/>
              </a:spcBef>
            </a:pPr>
            <a:r>
              <a:rPr lang="zh-CN" altLang="zh-CN">
                <a:solidFill>
                  <a:srgbClr val="FF0000"/>
                </a:solidFill>
                <a:latin typeface="Consolas" pitchFamily="49" charset="0"/>
                <a:ea typeface="微软雅黑" pitchFamily="34" charset="-122"/>
              </a:rPr>
              <a:t>（</a:t>
            </a:r>
            <a:r>
              <a:rPr lang="en-US" altLang="zh-CN">
                <a:solidFill>
                  <a:srgbClr val="FF0000"/>
                </a:solidFill>
                <a:latin typeface="Consolas" pitchFamily="49" charset="0"/>
                <a:ea typeface="微软雅黑" pitchFamily="34" charset="-122"/>
              </a:rPr>
              <a:t>3</a:t>
            </a:r>
            <a:r>
              <a:rPr lang="zh-CN" altLang="zh-CN">
                <a:solidFill>
                  <a:srgbClr val="FF0000"/>
                </a:solidFill>
                <a:latin typeface="Consolas" pitchFamily="49" charset="0"/>
                <a:ea typeface="微软雅黑" pitchFamily="34" charset="-122"/>
              </a:rPr>
              <a:t>）欧几里得距离</a:t>
            </a:r>
          </a:p>
        </p:txBody>
      </p:sp>
      <p:sp>
        <p:nvSpPr>
          <p:cNvPr id="7" name="TextBox 6"/>
          <p:cNvSpPr txBox="1"/>
          <p:nvPr/>
        </p:nvSpPr>
        <p:spPr>
          <a:xfrm>
            <a:off x="357158" y="2357430"/>
            <a:ext cx="8358246"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假设直线行走和对角线行走的代价都为</a:t>
            </a:r>
            <a:r>
              <a:rPr lang="en-US" altLang="zh-CN" i="1">
                <a:solidFill>
                  <a:srgbClr val="0000FF"/>
                </a:solidFill>
                <a:latin typeface="Consolas" pitchFamily="49" charset="0"/>
                <a:ea typeface="仿宋" pitchFamily="49" charset="-122"/>
              </a:rPr>
              <a:t>d</a:t>
            </a:r>
            <a:r>
              <a:rPr lang="zh-CN" altLang="zh-CN">
                <a:solidFill>
                  <a:srgbClr val="0000FF"/>
                </a:solidFill>
                <a:latin typeface="Consolas" pitchFamily="49" charset="0"/>
                <a:ea typeface="仿宋" pitchFamily="49" charset="-122"/>
              </a:rPr>
              <a:t>， 则启发式函数为：</a:t>
            </a:r>
            <a:endParaRPr lang="zh-CN" altLang="en-US">
              <a:solidFill>
                <a:srgbClr val="0000FF"/>
              </a:solidFill>
              <a:latin typeface="Consolas" pitchFamily="49" charset="0"/>
              <a:ea typeface="仿宋" pitchFamily="49" charset="-122"/>
              <a:cs typeface="Consolas" pitchFamily="49" charset="0"/>
            </a:endParaRPr>
          </a:p>
        </p:txBody>
      </p:sp>
      <p:pic>
        <p:nvPicPr>
          <p:cNvPr id="203778" name="Picture 2"/>
          <p:cNvPicPr>
            <a:picLocks noChangeAspect="1" noChangeArrowheads="1"/>
          </p:cNvPicPr>
          <p:nvPr/>
        </p:nvPicPr>
        <p:blipFill>
          <a:blip r:embed="rId3" cstate="print"/>
          <a:srcRect/>
          <a:stretch>
            <a:fillRect/>
          </a:stretch>
        </p:blipFill>
        <p:spPr bwMode="auto">
          <a:xfrm>
            <a:off x="1714480" y="1643050"/>
            <a:ext cx="3400425" cy="590550"/>
          </a:xfrm>
          <a:prstGeom prst="rect">
            <a:avLst/>
          </a:prstGeom>
          <a:noFill/>
          <a:ln w="9525">
            <a:noFill/>
            <a:miter lim="800000"/>
            <a:headEnd/>
            <a:tailEnd/>
          </a:ln>
        </p:spPr>
      </p:pic>
      <p:pic>
        <p:nvPicPr>
          <p:cNvPr id="203779" name="Picture 3"/>
          <p:cNvPicPr>
            <a:picLocks noChangeAspect="1" noChangeArrowheads="1"/>
          </p:cNvPicPr>
          <p:nvPr/>
        </p:nvPicPr>
        <p:blipFill>
          <a:blip r:embed="rId4" cstate="print"/>
          <a:srcRect/>
          <a:stretch>
            <a:fillRect/>
          </a:stretch>
        </p:blipFill>
        <p:spPr bwMode="auto">
          <a:xfrm>
            <a:off x="1071538" y="3357562"/>
            <a:ext cx="6188317" cy="500066"/>
          </a:xfrm>
          <a:prstGeom prst="rect">
            <a:avLst/>
          </a:prstGeom>
          <a:noFill/>
          <a:ln w="9525">
            <a:noFill/>
            <a:miter lim="800000"/>
            <a:headEnd/>
            <a:tailEnd/>
          </a:ln>
        </p:spPr>
      </p:pic>
      <p:sp>
        <p:nvSpPr>
          <p:cNvPr id="9" name="灯片编号占位符 8"/>
          <p:cNvSpPr>
            <a:spLocks noGrp="1"/>
          </p:cNvSpPr>
          <p:nvPr>
            <p:ph type="sldNum" sz="quarter" idx="12"/>
          </p:nvPr>
        </p:nvSpPr>
        <p:spPr/>
        <p:txBody>
          <a:bodyPr/>
          <a:lstStyle/>
          <a:p>
            <a:fld id="{7AF016A1-9F15-429F-9EFD-84004B73C732}" type="slidenum">
              <a:rPr lang="en-US" altLang="zh-CN" smtClean="0"/>
              <a:pPr/>
              <a:t>115</a:t>
            </a:fld>
            <a:r>
              <a:rPr lang="en-US" altLang="zh-CN"/>
              <a:t>/126</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771437"/>
            <a:ext cx="8286808" cy="5657959"/>
          </a:xfrm>
          <a:prstGeom prst="rect">
            <a:avLst/>
          </a:prstGeom>
          <a:ln>
            <a:solidFill>
              <a:schemeClr val="accent6">
                <a:lumMod val="20000"/>
                <a:lumOff val="80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defTabSz="360000">
              <a:lnSpc>
                <a:spcPts val="3200"/>
              </a:lnSpc>
              <a:spcBef>
                <a:spcPts val="600"/>
              </a:spcBef>
            </a:pPr>
            <a:r>
              <a:rPr lang="en-US" altLang="zh-CN">
                <a:solidFill>
                  <a:srgbClr val="FF0000"/>
                </a:solidFill>
                <a:latin typeface="Consolas" pitchFamily="49" charset="0"/>
                <a:ea typeface="楷体" pitchFamily="49" charset="-122"/>
              </a:rPr>
              <a:t>       </a:t>
            </a:r>
            <a:r>
              <a:rPr lang="zh-CN" altLang="zh-CN">
                <a:solidFill>
                  <a:srgbClr val="FF0000"/>
                </a:solidFill>
                <a:latin typeface="Consolas" pitchFamily="49" charset="0"/>
                <a:ea typeface="楷体" pitchFamily="49" charset="-122"/>
              </a:rPr>
              <a:t>【例</a:t>
            </a:r>
            <a:r>
              <a:rPr lang="en-US" altLang="zh-CN">
                <a:solidFill>
                  <a:srgbClr val="FF0000"/>
                </a:solidFill>
                <a:latin typeface="Consolas" pitchFamily="49" charset="0"/>
                <a:ea typeface="楷体" pitchFamily="49" charset="-122"/>
              </a:rPr>
              <a:t>6.4</a:t>
            </a:r>
            <a:r>
              <a:rPr lang="zh-CN" altLang="zh-CN">
                <a:solidFill>
                  <a:srgbClr val="FF0000"/>
                </a:solidFill>
                <a:latin typeface="Consolas" pitchFamily="49" charset="0"/>
                <a:ea typeface="楷体" pitchFamily="49" charset="-122"/>
              </a:rPr>
              <a:t>】</a:t>
            </a:r>
            <a:r>
              <a:rPr lang="zh-CN" altLang="zh-CN">
                <a:solidFill>
                  <a:srgbClr val="0000FF"/>
                </a:solidFill>
                <a:latin typeface="Consolas" pitchFamily="49" charset="0"/>
                <a:ea typeface="仿宋" pitchFamily="49" charset="-122"/>
              </a:rPr>
              <a:t>八数码（</a:t>
            </a:r>
            <a:r>
              <a:rPr lang="en-US" altLang="zh-CN">
                <a:solidFill>
                  <a:srgbClr val="0000FF"/>
                </a:solidFill>
                <a:latin typeface="Consolas" pitchFamily="49" charset="0"/>
                <a:ea typeface="仿宋" pitchFamily="49" charset="-122"/>
              </a:rPr>
              <a:t>LintCode176</a:t>
            </a:r>
            <a:r>
              <a:rPr lang="zh-CN" altLang="zh-CN">
                <a:solidFill>
                  <a:srgbClr val="0000FF"/>
                </a:solidFill>
                <a:latin typeface="Consolas" pitchFamily="49" charset="0"/>
                <a:ea typeface="仿宋" pitchFamily="49" charset="-122"/>
              </a:rPr>
              <a:t>★★★）。现在你有一个</a:t>
            </a:r>
            <a:r>
              <a:rPr lang="en-US" altLang="zh-CN">
                <a:solidFill>
                  <a:srgbClr val="0000FF"/>
                </a:solidFill>
                <a:latin typeface="Consolas" pitchFamily="49" charset="0"/>
                <a:ea typeface="仿宋" pitchFamily="49" charset="-122"/>
              </a:rPr>
              <a:t>3×3</a:t>
            </a:r>
            <a:r>
              <a:rPr lang="zh-CN" altLang="zh-CN">
                <a:solidFill>
                  <a:srgbClr val="0000FF"/>
                </a:solidFill>
                <a:latin typeface="Consolas" pitchFamily="49" charset="0"/>
                <a:ea typeface="仿宋" pitchFamily="49" charset="-122"/>
              </a:rPr>
              <a:t>的矩阵，其中填了</a:t>
            </a:r>
            <a:r>
              <a:rPr lang="en-US" altLang="zh-CN">
                <a:solidFill>
                  <a:srgbClr val="0000FF"/>
                </a:solidFill>
                <a:latin typeface="Consolas" pitchFamily="49" charset="0"/>
                <a:ea typeface="仿宋" pitchFamily="49" charset="-122"/>
              </a:rPr>
              <a:t>1~8</a:t>
            </a:r>
            <a:r>
              <a:rPr lang="zh-CN" altLang="zh-CN">
                <a:solidFill>
                  <a:srgbClr val="0000FF"/>
                </a:solidFill>
                <a:latin typeface="Consolas" pitchFamily="49" charset="0"/>
                <a:ea typeface="仿宋" pitchFamily="49" charset="-122"/>
              </a:rPr>
              <a:t>和一个空白位置，空白位置用</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来表示。现在你可以将与填充</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数字的格子相邻的格子移动到这个位置，原来的位置即变成空，即原来的位置变成了</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。设计一个算法求最少移动几次使得最后的矩阵变成</a:t>
            </a:r>
            <a:r>
              <a:rPr lang="en-US" altLang="zh-CN">
                <a:solidFill>
                  <a:srgbClr val="FF00FF"/>
                </a:solidFill>
                <a:latin typeface="Consolas" pitchFamily="49" charset="0"/>
                <a:ea typeface="仿宋" pitchFamily="49" charset="-122"/>
              </a:rPr>
              <a:t>{{1</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2</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3}</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{4</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5</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6}</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{7</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8</a:t>
            </a:r>
            <a:r>
              <a:rPr lang="zh-CN" altLang="zh-CN">
                <a:solidFill>
                  <a:srgbClr val="FF00FF"/>
                </a:solidFill>
                <a:latin typeface="Consolas" pitchFamily="49" charset="0"/>
                <a:ea typeface="仿宋" pitchFamily="49" charset="-122"/>
              </a:rPr>
              <a:t>，</a:t>
            </a:r>
            <a:r>
              <a:rPr lang="en-US" altLang="zh-CN">
                <a:solidFill>
                  <a:srgbClr val="FF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，如果得到的最小移动次数小于等于</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，则返回</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，否则返回</a:t>
            </a:r>
            <a:r>
              <a:rPr lang="en-US" altLang="zh-CN">
                <a:solidFill>
                  <a:srgbClr val="0000FF"/>
                </a:solidFill>
                <a:latin typeface="Consolas" pitchFamily="49" charset="0"/>
                <a:ea typeface="仿宋" pitchFamily="49" charset="-122"/>
              </a:rPr>
              <a:t>"false"</a:t>
            </a:r>
            <a:r>
              <a:rPr lang="zh-CN" altLang="zh-CN">
                <a:solidFill>
                  <a:srgbClr val="0000FF"/>
                </a:solidFill>
                <a:latin typeface="Consolas" pitchFamily="49" charset="0"/>
                <a:ea typeface="仿宋" pitchFamily="49" charset="-122"/>
              </a:rPr>
              <a:t>。保证给定输入一定有解。</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例如，</a:t>
            </a:r>
            <a:r>
              <a:rPr lang="en-US" altLang="zh-CN">
                <a:solidFill>
                  <a:srgbClr val="0000FF"/>
                </a:solidFill>
                <a:latin typeface="Consolas" pitchFamily="49" charset="0"/>
                <a:ea typeface="仿宋" pitchFamily="49" charset="-122"/>
              </a:rPr>
              <a:t>arr={{1</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{4</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2</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6}</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{7</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5</a:t>
            </a:r>
            <a:r>
              <a:rPr lang="zh-CN" altLang="zh-CN">
                <a:solidFill>
                  <a:srgbClr val="0000FF"/>
                </a:solidFill>
                <a:latin typeface="Consolas" pitchFamily="49" charset="0"/>
                <a:ea typeface="仿宋" pitchFamily="49" charset="-122"/>
              </a:rPr>
              <a:t>，</a:t>
            </a:r>
            <a:r>
              <a:rPr lang="en-US" altLang="zh-CN">
                <a:solidFill>
                  <a:srgbClr val="0000FF"/>
                </a:solidFill>
                <a:latin typeface="Consolas" pitchFamily="49" charset="0"/>
                <a:ea typeface="仿宋" pitchFamily="49" charset="-122"/>
              </a:rPr>
              <a:t>8}}</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k</a:t>
            </a:r>
            <a:r>
              <a:rPr lang="en-US" altLang="zh-CN">
                <a:solidFill>
                  <a:srgbClr val="0000FF"/>
                </a:solidFill>
                <a:latin typeface="Consolas" pitchFamily="49" charset="0"/>
                <a:ea typeface="仿宋" pitchFamily="49" charset="-122"/>
              </a:rPr>
              <a:t>=3</a:t>
            </a:r>
            <a:r>
              <a:rPr lang="zh-CN" altLang="zh-CN">
                <a:solidFill>
                  <a:srgbClr val="0000FF"/>
                </a:solidFill>
                <a:latin typeface="Consolas" pitchFamily="49" charset="0"/>
                <a:ea typeface="仿宋" pitchFamily="49" charset="-122"/>
              </a:rPr>
              <a:t>，答案是</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algn="l" defTabSz="360000">
              <a:lnSpc>
                <a:spcPts val="3200"/>
              </a:lnSpc>
              <a:spcBef>
                <a:spcPts val="600"/>
              </a:spcBef>
            </a:pPr>
            <a:r>
              <a:rPr lang="en-US" altLang="zh-CN">
                <a:solidFill>
                  <a:srgbClr val="0000FF"/>
                </a:solidFill>
                <a:latin typeface="Consolas" pitchFamily="49" charset="0"/>
                <a:ea typeface="仿宋" pitchFamily="49" charset="-122"/>
              </a:rPr>
              <a:t>   </a:t>
            </a:r>
            <a:r>
              <a:rPr lang="zh-CN" altLang="zh-CN">
                <a:solidFill>
                  <a:srgbClr val="0000FF"/>
                </a:solidFill>
                <a:latin typeface="Consolas" pitchFamily="49" charset="0"/>
                <a:ea typeface="仿宋" pitchFamily="49" charset="-122"/>
              </a:rPr>
              <a:t>要求设计如下成员函数：</a:t>
            </a:r>
          </a:p>
          <a:p>
            <a:pPr algn="l" defTabSz="360000">
              <a:lnSpc>
                <a:spcPts val="3200"/>
              </a:lnSpc>
              <a:spcBef>
                <a:spcPts val="600"/>
              </a:spcBef>
            </a:pPr>
            <a:r>
              <a:rPr lang="en-US" altLang="zh-CN" sz="2000">
                <a:solidFill>
                  <a:srgbClr val="006600"/>
                </a:solidFill>
                <a:latin typeface="Consolas" pitchFamily="49" charset="0"/>
                <a:ea typeface="仿宋" pitchFamily="49" charset="-122"/>
              </a:rPr>
              <a:t>    string digitalHuarongRoad(vector&lt;vector&lt;int&gt;&gt; &amp;arr, int k) {}</a:t>
            </a:r>
            <a:endParaRPr lang="zh-CN" altLang="en-US" sz="2000">
              <a:solidFill>
                <a:srgbClr val="006600"/>
              </a:solidFill>
              <a:latin typeface="Consolas" pitchFamily="49" charset="0"/>
              <a:ea typeface="仿宋" pitchFamily="49" charset="-122"/>
              <a:cs typeface="Consolas" pitchFamily="49" charset="0"/>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116</a:t>
            </a:fld>
            <a:r>
              <a:rPr lang="en-US" altLang="zh-CN"/>
              <a:t>/126</a:t>
            </a:r>
          </a:p>
        </p:txBody>
      </p:sp>
      <p:grpSp>
        <p:nvGrpSpPr>
          <p:cNvPr id="6" name="组合 5"/>
          <p:cNvGrpSpPr/>
          <p:nvPr/>
        </p:nvGrpSpPr>
        <p:grpSpPr>
          <a:xfrm>
            <a:off x="428596" y="71414"/>
            <a:ext cx="1041400" cy="1044575"/>
            <a:chOff x="857224" y="1071546"/>
            <a:chExt cx="1041400" cy="1044575"/>
          </a:xfrm>
        </p:grpSpPr>
        <p:sp>
          <p:nvSpPr>
            <p:cNvPr id="7" name="Freeform 8"/>
            <p:cNvSpPr>
              <a:spLocks noEditPoints="1"/>
            </p:cNvSpPr>
            <p:nvPr/>
          </p:nvSpPr>
          <p:spPr bwMode="auto">
            <a:xfrm>
              <a:off x="857224" y="1071546"/>
              <a:ext cx="1041400" cy="1044575"/>
            </a:xfrm>
            <a:custGeom>
              <a:avLst/>
              <a:gdLst>
                <a:gd name="T0" fmla="*/ 964145 w 337"/>
                <a:gd name="T1" fmla="*/ 540830 h 338"/>
                <a:gd name="T2" fmla="*/ 964145 w 337"/>
                <a:gd name="T3" fmla="*/ 494473 h 338"/>
                <a:gd name="T4" fmla="*/ 1041400 w 337"/>
                <a:gd name="T5" fmla="*/ 441936 h 338"/>
                <a:gd name="T6" fmla="*/ 1007408 w 337"/>
                <a:gd name="T7" fmla="*/ 321408 h 338"/>
                <a:gd name="T8" fmla="*/ 914701 w 337"/>
                <a:gd name="T9" fmla="*/ 318317 h 338"/>
                <a:gd name="T10" fmla="*/ 889980 w 337"/>
                <a:gd name="T11" fmla="*/ 275051 h 338"/>
                <a:gd name="T12" fmla="*/ 930153 w 337"/>
                <a:gd name="T13" fmla="*/ 191608 h 338"/>
                <a:gd name="T14" fmla="*/ 843627 w 337"/>
                <a:gd name="T15" fmla="*/ 105076 h 338"/>
                <a:gd name="T16" fmla="*/ 760191 w 337"/>
                <a:gd name="T17" fmla="*/ 148342 h 338"/>
                <a:gd name="T18" fmla="*/ 716928 w 337"/>
                <a:gd name="T19" fmla="*/ 123618 h 338"/>
                <a:gd name="T20" fmla="*/ 710748 w 337"/>
                <a:gd name="T21" fmla="*/ 30905 h 338"/>
                <a:gd name="T22" fmla="*/ 652034 w 337"/>
                <a:gd name="T23" fmla="*/ 15452 h 338"/>
                <a:gd name="T24" fmla="*/ 590230 w 337"/>
                <a:gd name="T25" fmla="*/ 0 h 338"/>
                <a:gd name="T26" fmla="*/ 540786 w 337"/>
                <a:gd name="T27" fmla="*/ 77261 h 338"/>
                <a:gd name="T28" fmla="*/ 494433 w 337"/>
                <a:gd name="T29" fmla="*/ 77261 h 338"/>
                <a:gd name="T30" fmla="*/ 441900 w 337"/>
                <a:gd name="T31" fmla="*/ 3090 h 338"/>
                <a:gd name="T32" fmla="*/ 321382 w 337"/>
                <a:gd name="T33" fmla="*/ 33995 h 338"/>
                <a:gd name="T34" fmla="*/ 318291 w 337"/>
                <a:gd name="T35" fmla="*/ 126709 h 338"/>
                <a:gd name="T36" fmla="*/ 275028 w 337"/>
                <a:gd name="T37" fmla="*/ 151432 h 338"/>
                <a:gd name="T38" fmla="*/ 191593 w 337"/>
                <a:gd name="T39" fmla="*/ 111257 h 338"/>
                <a:gd name="T40" fmla="*/ 105067 w 337"/>
                <a:gd name="T41" fmla="*/ 200880 h 338"/>
                <a:gd name="T42" fmla="*/ 148330 w 337"/>
                <a:gd name="T43" fmla="*/ 281232 h 338"/>
                <a:gd name="T44" fmla="*/ 123608 w 337"/>
                <a:gd name="T45" fmla="*/ 324498 h 338"/>
                <a:gd name="T46" fmla="*/ 30902 w 337"/>
                <a:gd name="T47" fmla="*/ 330679 h 338"/>
                <a:gd name="T48" fmla="*/ 15451 w 337"/>
                <a:gd name="T49" fmla="*/ 392488 h 338"/>
                <a:gd name="T50" fmla="*/ 0 w 337"/>
                <a:gd name="T51" fmla="*/ 451207 h 338"/>
                <a:gd name="T52" fmla="*/ 77255 w 337"/>
                <a:gd name="T53" fmla="*/ 500654 h 338"/>
                <a:gd name="T54" fmla="*/ 77255 w 337"/>
                <a:gd name="T55" fmla="*/ 550102 h 338"/>
                <a:gd name="T56" fmla="*/ 0 w 337"/>
                <a:gd name="T57" fmla="*/ 602639 h 338"/>
                <a:gd name="T58" fmla="*/ 33992 w 337"/>
                <a:gd name="T59" fmla="*/ 723167 h 338"/>
                <a:gd name="T60" fmla="*/ 126699 w 337"/>
                <a:gd name="T61" fmla="*/ 726258 h 338"/>
                <a:gd name="T62" fmla="*/ 151420 w 337"/>
                <a:gd name="T63" fmla="*/ 766434 h 338"/>
                <a:gd name="T64" fmla="*/ 111247 w 337"/>
                <a:gd name="T65" fmla="*/ 849876 h 338"/>
                <a:gd name="T66" fmla="*/ 200864 w 337"/>
                <a:gd name="T67" fmla="*/ 939499 h 338"/>
                <a:gd name="T68" fmla="*/ 281209 w 337"/>
                <a:gd name="T69" fmla="*/ 896233 h 338"/>
                <a:gd name="T70" fmla="*/ 324472 w 337"/>
                <a:gd name="T71" fmla="*/ 920957 h 338"/>
                <a:gd name="T72" fmla="*/ 330652 w 337"/>
                <a:gd name="T73" fmla="*/ 1013670 h 338"/>
                <a:gd name="T74" fmla="*/ 389366 w 337"/>
                <a:gd name="T75" fmla="*/ 1029123 h 338"/>
                <a:gd name="T76" fmla="*/ 451170 w 337"/>
                <a:gd name="T77" fmla="*/ 1044575 h 338"/>
                <a:gd name="T78" fmla="*/ 500614 w 337"/>
                <a:gd name="T79" fmla="*/ 964223 h 338"/>
                <a:gd name="T80" fmla="*/ 550057 w 337"/>
                <a:gd name="T81" fmla="*/ 964223 h 338"/>
                <a:gd name="T82" fmla="*/ 602591 w 337"/>
                <a:gd name="T83" fmla="*/ 1041485 h 338"/>
                <a:gd name="T84" fmla="*/ 720018 w 337"/>
                <a:gd name="T85" fmla="*/ 1007489 h 338"/>
                <a:gd name="T86" fmla="*/ 726199 w 337"/>
                <a:gd name="T87" fmla="*/ 914776 h 338"/>
                <a:gd name="T88" fmla="*/ 766372 w 337"/>
                <a:gd name="T89" fmla="*/ 890052 h 338"/>
                <a:gd name="T90" fmla="*/ 849807 w 337"/>
                <a:gd name="T91" fmla="*/ 933318 h 338"/>
                <a:gd name="T92" fmla="*/ 936333 w 337"/>
                <a:gd name="T93" fmla="*/ 843695 h 338"/>
                <a:gd name="T94" fmla="*/ 896160 w 337"/>
                <a:gd name="T95" fmla="*/ 760253 h 338"/>
                <a:gd name="T96" fmla="*/ 917792 w 337"/>
                <a:gd name="T97" fmla="*/ 720077 h 338"/>
                <a:gd name="T98" fmla="*/ 1010498 w 337"/>
                <a:gd name="T99" fmla="*/ 713896 h 338"/>
                <a:gd name="T100" fmla="*/ 1025949 w 337"/>
                <a:gd name="T101" fmla="*/ 652087 h 338"/>
                <a:gd name="T102" fmla="*/ 1041400 w 337"/>
                <a:gd name="T103" fmla="*/ 593368 h 338"/>
                <a:gd name="T104" fmla="*/ 964145 w 337"/>
                <a:gd name="T105" fmla="*/ 540830 h 338"/>
                <a:gd name="T106" fmla="*/ 432629 w 337"/>
                <a:gd name="T107" fmla="*/ 868419 h 338"/>
                <a:gd name="T108" fmla="*/ 176142 w 337"/>
                <a:gd name="T109" fmla="*/ 432664 h 338"/>
                <a:gd name="T110" fmla="*/ 611861 w 337"/>
                <a:gd name="T111" fmla="*/ 176156 h 338"/>
                <a:gd name="T112" fmla="*/ 868348 w 337"/>
                <a:gd name="T113" fmla="*/ 611911 h 338"/>
                <a:gd name="T114" fmla="*/ 432629 w 337"/>
                <a:gd name="T115" fmla="*/ 868419 h 33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337" h="338">
                  <a:moveTo>
                    <a:pt x="312" y="175"/>
                  </a:moveTo>
                  <a:cubicBezTo>
                    <a:pt x="312" y="170"/>
                    <a:pt x="312" y="165"/>
                    <a:pt x="312" y="160"/>
                  </a:cubicBezTo>
                  <a:cubicBezTo>
                    <a:pt x="337" y="143"/>
                    <a:pt x="337" y="143"/>
                    <a:pt x="337" y="143"/>
                  </a:cubicBezTo>
                  <a:cubicBezTo>
                    <a:pt x="326" y="104"/>
                    <a:pt x="326" y="104"/>
                    <a:pt x="326" y="104"/>
                  </a:cubicBezTo>
                  <a:cubicBezTo>
                    <a:pt x="296" y="103"/>
                    <a:pt x="296" y="103"/>
                    <a:pt x="296" y="103"/>
                  </a:cubicBezTo>
                  <a:cubicBezTo>
                    <a:pt x="294" y="98"/>
                    <a:pt x="291" y="94"/>
                    <a:pt x="288" y="89"/>
                  </a:cubicBezTo>
                  <a:cubicBezTo>
                    <a:pt x="301" y="62"/>
                    <a:pt x="301" y="62"/>
                    <a:pt x="301" y="62"/>
                  </a:cubicBezTo>
                  <a:cubicBezTo>
                    <a:pt x="273" y="34"/>
                    <a:pt x="273" y="34"/>
                    <a:pt x="273" y="34"/>
                  </a:cubicBezTo>
                  <a:cubicBezTo>
                    <a:pt x="246" y="48"/>
                    <a:pt x="246" y="48"/>
                    <a:pt x="246" y="48"/>
                  </a:cubicBezTo>
                  <a:cubicBezTo>
                    <a:pt x="242" y="45"/>
                    <a:pt x="237" y="42"/>
                    <a:pt x="232" y="40"/>
                  </a:cubicBezTo>
                  <a:cubicBezTo>
                    <a:pt x="230" y="10"/>
                    <a:pt x="230" y="10"/>
                    <a:pt x="230" y="10"/>
                  </a:cubicBezTo>
                  <a:cubicBezTo>
                    <a:pt x="211" y="5"/>
                    <a:pt x="211" y="5"/>
                    <a:pt x="211" y="5"/>
                  </a:cubicBezTo>
                  <a:cubicBezTo>
                    <a:pt x="191" y="0"/>
                    <a:pt x="191" y="0"/>
                    <a:pt x="191" y="0"/>
                  </a:cubicBezTo>
                  <a:cubicBezTo>
                    <a:pt x="175" y="25"/>
                    <a:pt x="175" y="25"/>
                    <a:pt x="175" y="25"/>
                  </a:cubicBezTo>
                  <a:cubicBezTo>
                    <a:pt x="170" y="25"/>
                    <a:pt x="165" y="25"/>
                    <a:pt x="160" y="25"/>
                  </a:cubicBezTo>
                  <a:cubicBezTo>
                    <a:pt x="143" y="1"/>
                    <a:pt x="143" y="1"/>
                    <a:pt x="143" y="1"/>
                  </a:cubicBezTo>
                  <a:cubicBezTo>
                    <a:pt x="104" y="11"/>
                    <a:pt x="104" y="11"/>
                    <a:pt x="104" y="11"/>
                  </a:cubicBezTo>
                  <a:cubicBezTo>
                    <a:pt x="103" y="41"/>
                    <a:pt x="103" y="41"/>
                    <a:pt x="103" y="41"/>
                  </a:cubicBezTo>
                  <a:cubicBezTo>
                    <a:pt x="98" y="44"/>
                    <a:pt x="93" y="46"/>
                    <a:pt x="89" y="49"/>
                  </a:cubicBezTo>
                  <a:cubicBezTo>
                    <a:pt x="62" y="36"/>
                    <a:pt x="62" y="36"/>
                    <a:pt x="62" y="36"/>
                  </a:cubicBezTo>
                  <a:cubicBezTo>
                    <a:pt x="34" y="65"/>
                    <a:pt x="34" y="65"/>
                    <a:pt x="34" y="65"/>
                  </a:cubicBezTo>
                  <a:cubicBezTo>
                    <a:pt x="48" y="91"/>
                    <a:pt x="48" y="91"/>
                    <a:pt x="48" y="91"/>
                  </a:cubicBezTo>
                  <a:cubicBezTo>
                    <a:pt x="45" y="96"/>
                    <a:pt x="42" y="100"/>
                    <a:pt x="40" y="105"/>
                  </a:cubicBezTo>
                  <a:cubicBezTo>
                    <a:pt x="10" y="107"/>
                    <a:pt x="10" y="107"/>
                    <a:pt x="10" y="107"/>
                  </a:cubicBezTo>
                  <a:cubicBezTo>
                    <a:pt x="5" y="127"/>
                    <a:pt x="5" y="127"/>
                    <a:pt x="5" y="127"/>
                  </a:cubicBezTo>
                  <a:cubicBezTo>
                    <a:pt x="0" y="146"/>
                    <a:pt x="0" y="146"/>
                    <a:pt x="0" y="146"/>
                  </a:cubicBezTo>
                  <a:cubicBezTo>
                    <a:pt x="25" y="162"/>
                    <a:pt x="25" y="162"/>
                    <a:pt x="25" y="162"/>
                  </a:cubicBezTo>
                  <a:cubicBezTo>
                    <a:pt x="25" y="168"/>
                    <a:pt x="25" y="173"/>
                    <a:pt x="25" y="178"/>
                  </a:cubicBezTo>
                  <a:cubicBezTo>
                    <a:pt x="0" y="195"/>
                    <a:pt x="0" y="195"/>
                    <a:pt x="0" y="195"/>
                  </a:cubicBezTo>
                  <a:cubicBezTo>
                    <a:pt x="11" y="234"/>
                    <a:pt x="11" y="234"/>
                    <a:pt x="11" y="234"/>
                  </a:cubicBezTo>
                  <a:cubicBezTo>
                    <a:pt x="41" y="235"/>
                    <a:pt x="41" y="235"/>
                    <a:pt x="41" y="235"/>
                  </a:cubicBezTo>
                  <a:cubicBezTo>
                    <a:pt x="44" y="240"/>
                    <a:pt x="46" y="244"/>
                    <a:pt x="49" y="248"/>
                  </a:cubicBezTo>
                  <a:cubicBezTo>
                    <a:pt x="36" y="275"/>
                    <a:pt x="36" y="275"/>
                    <a:pt x="36" y="275"/>
                  </a:cubicBezTo>
                  <a:cubicBezTo>
                    <a:pt x="65" y="304"/>
                    <a:pt x="65" y="304"/>
                    <a:pt x="65" y="304"/>
                  </a:cubicBezTo>
                  <a:cubicBezTo>
                    <a:pt x="91" y="290"/>
                    <a:pt x="91" y="290"/>
                    <a:pt x="91" y="290"/>
                  </a:cubicBezTo>
                  <a:cubicBezTo>
                    <a:pt x="96" y="293"/>
                    <a:pt x="100" y="295"/>
                    <a:pt x="105" y="298"/>
                  </a:cubicBezTo>
                  <a:cubicBezTo>
                    <a:pt x="107" y="328"/>
                    <a:pt x="107" y="328"/>
                    <a:pt x="107" y="328"/>
                  </a:cubicBezTo>
                  <a:cubicBezTo>
                    <a:pt x="126" y="333"/>
                    <a:pt x="126" y="333"/>
                    <a:pt x="126" y="333"/>
                  </a:cubicBezTo>
                  <a:cubicBezTo>
                    <a:pt x="146" y="338"/>
                    <a:pt x="146" y="338"/>
                    <a:pt x="146" y="338"/>
                  </a:cubicBezTo>
                  <a:cubicBezTo>
                    <a:pt x="162" y="312"/>
                    <a:pt x="162" y="312"/>
                    <a:pt x="162" y="312"/>
                  </a:cubicBezTo>
                  <a:cubicBezTo>
                    <a:pt x="167" y="313"/>
                    <a:pt x="173" y="313"/>
                    <a:pt x="178" y="312"/>
                  </a:cubicBezTo>
                  <a:cubicBezTo>
                    <a:pt x="195" y="337"/>
                    <a:pt x="195" y="337"/>
                    <a:pt x="195" y="337"/>
                  </a:cubicBezTo>
                  <a:cubicBezTo>
                    <a:pt x="233" y="326"/>
                    <a:pt x="233" y="326"/>
                    <a:pt x="233" y="326"/>
                  </a:cubicBezTo>
                  <a:cubicBezTo>
                    <a:pt x="235" y="296"/>
                    <a:pt x="235" y="296"/>
                    <a:pt x="235" y="296"/>
                  </a:cubicBezTo>
                  <a:cubicBezTo>
                    <a:pt x="239" y="294"/>
                    <a:pt x="244" y="291"/>
                    <a:pt x="248" y="288"/>
                  </a:cubicBezTo>
                  <a:cubicBezTo>
                    <a:pt x="275" y="302"/>
                    <a:pt x="275" y="302"/>
                    <a:pt x="275" y="302"/>
                  </a:cubicBezTo>
                  <a:cubicBezTo>
                    <a:pt x="303" y="273"/>
                    <a:pt x="303" y="273"/>
                    <a:pt x="303" y="273"/>
                  </a:cubicBezTo>
                  <a:cubicBezTo>
                    <a:pt x="290" y="246"/>
                    <a:pt x="290" y="246"/>
                    <a:pt x="290" y="246"/>
                  </a:cubicBezTo>
                  <a:cubicBezTo>
                    <a:pt x="293" y="242"/>
                    <a:pt x="295" y="237"/>
                    <a:pt x="297" y="233"/>
                  </a:cubicBezTo>
                  <a:cubicBezTo>
                    <a:pt x="327" y="231"/>
                    <a:pt x="327" y="231"/>
                    <a:pt x="327" y="231"/>
                  </a:cubicBezTo>
                  <a:cubicBezTo>
                    <a:pt x="332" y="211"/>
                    <a:pt x="332" y="211"/>
                    <a:pt x="332" y="211"/>
                  </a:cubicBezTo>
                  <a:cubicBezTo>
                    <a:pt x="337" y="192"/>
                    <a:pt x="337" y="192"/>
                    <a:pt x="337" y="192"/>
                  </a:cubicBezTo>
                  <a:lnTo>
                    <a:pt x="312" y="175"/>
                  </a:lnTo>
                  <a:close/>
                  <a:moveTo>
                    <a:pt x="140" y="281"/>
                  </a:moveTo>
                  <a:cubicBezTo>
                    <a:pt x="78" y="265"/>
                    <a:pt x="41" y="202"/>
                    <a:pt x="57" y="140"/>
                  </a:cubicBezTo>
                  <a:cubicBezTo>
                    <a:pt x="73" y="78"/>
                    <a:pt x="136" y="41"/>
                    <a:pt x="198" y="57"/>
                  </a:cubicBezTo>
                  <a:cubicBezTo>
                    <a:pt x="259" y="73"/>
                    <a:pt x="297" y="136"/>
                    <a:pt x="281" y="198"/>
                  </a:cubicBezTo>
                  <a:cubicBezTo>
                    <a:pt x="265" y="260"/>
                    <a:pt x="202" y="297"/>
                    <a:pt x="140" y="281"/>
                  </a:cubicBezTo>
                  <a:close/>
                </a:path>
              </a:pathLst>
            </a:custGeom>
            <a:solidFill>
              <a:srgbClr val="1848C0"/>
            </a:solidFill>
            <a:ln>
              <a:noFill/>
            </a:ln>
          </p:spPr>
          <p:txBody>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endParaRPr lang="zh-CN" altLang="en-US"/>
            </a:p>
          </p:txBody>
        </p:sp>
        <p:sp>
          <p:nvSpPr>
            <p:cNvPr id="8" name="Rectangle 16"/>
            <p:cNvSpPr>
              <a:spLocks noChangeArrowheads="1"/>
            </p:cNvSpPr>
            <p:nvPr/>
          </p:nvSpPr>
          <p:spPr bwMode="auto">
            <a:xfrm>
              <a:off x="1066774" y="1399481"/>
              <a:ext cx="6635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a:lstStyle>
            <a:p>
              <a:pPr algn="ctr">
                <a:lnSpc>
                  <a:spcPct val="120000"/>
                </a:lnSpc>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rPr>
                <a:t>实例</a:t>
              </a:r>
              <a:endParaRPr lang="zh-CN"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itchFamily="2" charset="-122"/>
                <a:ea typeface="华文中宋" pitchFamily="2" charset="-122"/>
              </a:endParaRPr>
            </a:p>
          </p:txBody>
        </p:sp>
      </p:gr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1142984"/>
            <a:ext cx="8001056" cy="4064574"/>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采用</a:t>
            </a:r>
            <a:r>
              <a:rPr lang="en-US" altLang="zh-CN">
                <a:solidFill>
                  <a:srgbClr val="FF0000"/>
                </a:solidFill>
                <a:latin typeface="Consolas" pitchFamily="49" charset="0"/>
                <a:ea typeface="仿宋" pitchFamily="49" charset="-122"/>
              </a:rPr>
              <a:t>A*</a:t>
            </a:r>
            <a:r>
              <a:rPr lang="zh-CN" altLang="zh-CN">
                <a:solidFill>
                  <a:srgbClr val="FF0000"/>
                </a:solidFill>
                <a:latin typeface="Consolas" pitchFamily="49" charset="0"/>
                <a:ea typeface="仿宋" pitchFamily="49" charset="-122"/>
              </a:rPr>
              <a:t>算法</a:t>
            </a:r>
            <a:r>
              <a:rPr lang="zh-CN" altLang="zh-CN">
                <a:solidFill>
                  <a:srgbClr val="0000FF"/>
                </a:solidFill>
                <a:latin typeface="Consolas" pitchFamily="49" charset="0"/>
                <a:ea typeface="仿宋" pitchFamily="49" charset="-122"/>
              </a:rPr>
              <a:t>，这里仅仅求最小移动次数而不必求移动的路径，所以不用</a:t>
            </a:r>
            <a:r>
              <a:rPr lang="en-US" altLang="zh-CN">
                <a:solidFill>
                  <a:srgbClr val="0000FF"/>
                </a:solidFill>
                <a:latin typeface="Consolas" pitchFamily="49" charset="0"/>
                <a:ea typeface="仿宋" pitchFamily="49" charset="-122"/>
              </a:rPr>
              <a:t>CLOSED</a:t>
            </a:r>
            <a:r>
              <a:rPr lang="zh-CN" altLang="zh-CN">
                <a:solidFill>
                  <a:srgbClr val="0000FF"/>
                </a:solidFill>
                <a:latin typeface="Consolas" pitchFamily="49" charset="0"/>
                <a:ea typeface="仿宋" pitchFamily="49" charset="-122"/>
              </a:rPr>
              <a:t>表，将</a:t>
            </a:r>
            <a:r>
              <a:rPr lang="en-US" altLang="zh-CN">
                <a:solidFill>
                  <a:srgbClr val="0000FF"/>
                </a:solidFill>
                <a:latin typeface="Consolas" pitchFamily="49" charset="0"/>
                <a:ea typeface="仿宋" pitchFamily="49" charset="-122"/>
              </a:rPr>
              <a:t>OPEN</a:t>
            </a:r>
            <a:r>
              <a:rPr lang="zh-CN" altLang="zh-CN">
                <a:solidFill>
                  <a:srgbClr val="0000FF"/>
                </a:solidFill>
                <a:latin typeface="Consolas" pitchFamily="49" charset="0"/>
                <a:ea typeface="仿宋" pitchFamily="49" charset="-122"/>
              </a:rPr>
              <a:t>表用优先队列实现，优先队列结点类型为</a:t>
            </a:r>
            <a:r>
              <a:rPr lang="en-US" altLang="zh-CN">
                <a:solidFill>
                  <a:srgbClr val="0000FF"/>
                </a:solidFill>
                <a:latin typeface="Consolas" pitchFamily="49" charset="0"/>
                <a:ea typeface="仿宋" pitchFamily="49" charset="-122"/>
              </a:rPr>
              <a:t>QNode</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启发式函数</a:t>
            </a:r>
            <a:r>
              <a:rPr lang="en-US" altLang="zh-CN" i="1">
                <a:solidFill>
                  <a:srgbClr val="0000FF"/>
                </a:solidFill>
                <a:latin typeface="Consolas" pitchFamily="49" charset="0"/>
                <a:ea typeface="仿宋" pitchFamily="49" charset="-122"/>
              </a:rPr>
              <a:t>f</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g</a:t>
            </a:r>
            <a:r>
              <a:rPr lang="en-US"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h</a:t>
            </a:r>
            <a:r>
              <a:rPr lang="zh-CN" altLang="zh-CN">
                <a:solidFill>
                  <a:srgbClr val="0000FF"/>
                </a:solidFill>
                <a:latin typeface="Consolas" pitchFamily="49" charset="0"/>
                <a:ea typeface="仿宋" pitchFamily="49" charset="-122"/>
              </a:rPr>
              <a:t>，其中</a:t>
            </a:r>
            <a:r>
              <a:rPr lang="en-US" altLang="zh-CN" i="1">
                <a:solidFill>
                  <a:srgbClr val="0000FF"/>
                </a:solidFill>
                <a:latin typeface="Consolas" pitchFamily="49" charset="0"/>
                <a:ea typeface="仿宋" pitchFamily="49" charset="-122"/>
              </a:rPr>
              <a:t>g</a:t>
            </a:r>
            <a:r>
              <a:rPr lang="zh-CN" altLang="zh-CN">
                <a:solidFill>
                  <a:srgbClr val="0000FF"/>
                </a:solidFill>
                <a:latin typeface="Consolas" pitchFamily="49" charset="0"/>
                <a:ea typeface="仿宋" pitchFamily="49" charset="-122"/>
              </a:rPr>
              <a:t>为从初始状态到当前位置的最小移动次数，</a:t>
            </a:r>
            <a:r>
              <a:rPr lang="en-US" altLang="zh-CN" i="1">
                <a:solidFill>
                  <a:srgbClr val="FF0000"/>
                </a:solidFill>
                <a:latin typeface="Consolas" pitchFamily="49" charset="0"/>
                <a:ea typeface="仿宋" pitchFamily="49" charset="-122"/>
              </a:rPr>
              <a:t>h</a:t>
            </a:r>
            <a:r>
              <a:rPr lang="zh-CN" altLang="zh-CN">
                <a:solidFill>
                  <a:srgbClr val="FF0000"/>
                </a:solidFill>
                <a:latin typeface="Consolas" pitchFamily="49" charset="0"/>
                <a:ea typeface="仿宋" pitchFamily="49" charset="-122"/>
              </a:rPr>
              <a:t>为当前棋盘状态</a:t>
            </a:r>
            <a:r>
              <a:rPr lang="en-US" altLang="zh-CN">
                <a:solidFill>
                  <a:srgbClr val="FF0000"/>
                </a:solidFill>
                <a:latin typeface="Consolas" pitchFamily="49" charset="0"/>
                <a:ea typeface="仿宋" pitchFamily="49" charset="-122"/>
              </a:rPr>
              <a:t>str</a:t>
            </a:r>
            <a:r>
              <a:rPr lang="zh-CN" altLang="zh-CN">
                <a:solidFill>
                  <a:srgbClr val="FF0000"/>
                </a:solidFill>
                <a:latin typeface="Consolas" pitchFamily="49" charset="0"/>
                <a:ea typeface="仿宋" pitchFamily="49" charset="-122"/>
              </a:rPr>
              <a:t>与目标状态（不计目标状态</a:t>
            </a:r>
            <a:r>
              <a:rPr lang="en-US" altLang="zh-CN">
                <a:solidFill>
                  <a:srgbClr val="FF0000"/>
                </a:solidFill>
                <a:latin typeface="Consolas" pitchFamily="49" charset="0"/>
                <a:ea typeface="仿宋" pitchFamily="49" charset="-122"/>
              </a:rPr>
              <a:t>0</a:t>
            </a:r>
            <a:r>
              <a:rPr lang="zh-CN" altLang="zh-CN">
                <a:solidFill>
                  <a:srgbClr val="FF0000"/>
                </a:solidFill>
                <a:latin typeface="Consolas" pitchFamily="49" charset="0"/>
                <a:ea typeface="仿宋" pitchFamily="49" charset="-122"/>
              </a:rPr>
              <a:t>位置）对应位置不同元素的个</a:t>
            </a:r>
            <a:r>
              <a:rPr lang="zh-CN" altLang="zh-CN">
                <a:solidFill>
                  <a:srgbClr val="0000FF"/>
                </a:solidFill>
                <a:latin typeface="Consolas" pitchFamily="49" charset="0"/>
                <a:ea typeface="仿宋" pitchFamily="49" charset="-122"/>
              </a:rPr>
              <a:t>数。</a:t>
            </a:r>
            <a:endParaRPr lang="en-US" altLang="zh-CN">
              <a:solidFill>
                <a:srgbClr val="0000FF"/>
              </a:solidFill>
              <a:latin typeface="Consolas" pitchFamily="49" charset="0"/>
              <a:ea typeface="仿宋" pitchFamily="49" charset="-122"/>
            </a:endParaRPr>
          </a:p>
          <a:p>
            <a:pPr marL="457200" indent="-457200" algn="l" defTabSz="360000">
              <a:lnSpc>
                <a:spcPts val="3200"/>
              </a:lnSpc>
              <a:spcBef>
                <a:spcPts val="1200"/>
              </a:spcBef>
              <a:buBlip>
                <a:blip r:embed="rId3"/>
              </a:buBlip>
            </a:pPr>
            <a:r>
              <a:rPr lang="zh-CN" altLang="zh-CN">
                <a:solidFill>
                  <a:srgbClr val="0000FF"/>
                </a:solidFill>
                <a:latin typeface="Consolas" pitchFamily="49" charset="0"/>
                <a:ea typeface="仿宋" pitchFamily="49" charset="-122"/>
              </a:rPr>
              <a:t>定义优先队列按</a:t>
            </a:r>
            <a:r>
              <a:rPr lang="en-US" altLang="zh-CN" i="1">
                <a:solidFill>
                  <a:srgbClr val="0000FF"/>
                </a:solidFill>
                <a:latin typeface="Consolas" pitchFamily="49" charset="0"/>
                <a:ea typeface="仿宋" pitchFamily="49" charset="-122"/>
              </a:rPr>
              <a:t>f</a:t>
            </a:r>
            <a:r>
              <a:rPr lang="zh-CN" altLang="zh-CN">
                <a:solidFill>
                  <a:srgbClr val="0000FF"/>
                </a:solidFill>
                <a:latin typeface="Consolas" pitchFamily="49" charset="0"/>
                <a:ea typeface="仿宋" pitchFamily="49" charset="-122"/>
              </a:rPr>
              <a:t>越小越优先出队扩展，当扩展的子结点</a:t>
            </a:r>
            <a:r>
              <a:rPr lang="en-US" altLang="zh-CN">
                <a:solidFill>
                  <a:srgbClr val="0000FF"/>
                </a:solidFill>
                <a:latin typeface="Consolas" pitchFamily="49" charset="0"/>
                <a:ea typeface="仿宋" pitchFamily="49" charset="-122"/>
              </a:rPr>
              <a:t>e1</a:t>
            </a:r>
            <a:r>
              <a:rPr lang="zh-CN" altLang="zh-CN">
                <a:solidFill>
                  <a:srgbClr val="0000FF"/>
                </a:solidFill>
                <a:latin typeface="Consolas" pitchFamily="49" charset="0"/>
                <a:ea typeface="仿宋" pitchFamily="49" charset="-122"/>
              </a:rPr>
              <a:t>的棋盘状态与</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相同时，若</a:t>
            </a:r>
            <a:r>
              <a:rPr lang="en-US" altLang="zh-CN">
                <a:solidFill>
                  <a:srgbClr val="0000FF"/>
                </a:solidFill>
                <a:latin typeface="Consolas" pitchFamily="49" charset="0"/>
                <a:ea typeface="仿宋" pitchFamily="49" charset="-122"/>
              </a:rPr>
              <a:t>e1.g</a:t>
            </a:r>
            <a:r>
              <a:rPr lang="en-US" altLang="zh-CN">
                <a:solidFill>
                  <a:srgbClr val="0000FF"/>
                </a:solidFill>
                <a:latin typeface="+mn-ea"/>
              </a:rPr>
              <a:t>≤</a:t>
            </a:r>
            <a:r>
              <a:rPr lang="en-US" altLang="zh-CN" i="1">
                <a:solidFill>
                  <a:srgbClr val="0000FF"/>
                </a:solidFill>
                <a:latin typeface="Consolas" pitchFamily="49" charset="0"/>
                <a:ea typeface="仿宋" pitchFamily="49" charset="-122"/>
              </a:rPr>
              <a:t>k</a:t>
            </a:r>
            <a:r>
              <a:rPr lang="zh-CN" altLang="zh-CN">
                <a:solidFill>
                  <a:srgbClr val="0000FF"/>
                </a:solidFill>
                <a:latin typeface="Consolas" pitchFamily="49" charset="0"/>
                <a:ea typeface="仿宋" pitchFamily="49" charset="-122"/>
              </a:rPr>
              <a:t>返回</a:t>
            </a:r>
            <a:r>
              <a:rPr lang="en-US" altLang="zh-CN">
                <a:solidFill>
                  <a:srgbClr val="0000FF"/>
                </a:solidFill>
                <a:latin typeface="Consolas" pitchFamily="49" charset="0"/>
                <a:ea typeface="仿宋" pitchFamily="49" charset="-122"/>
              </a:rPr>
              <a:t>"true"</a:t>
            </a:r>
            <a:r>
              <a:rPr lang="zh-CN" altLang="zh-CN">
                <a:solidFill>
                  <a:srgbClr val="0000FF"/>
                </a:solidFill>
                <a:latin typeface="Consolas" pitchFamily="49" charset="0"/>
                <a:ea typeface="仿宋" pitchFamily="49" charset="-122"/>
              </a:rPr>
              <a:t>，否则返回</a:t>
            </a:r>
            <a:r>
              <a:rPr lang="en-US" altLang="zh-CN">
                <a:solidFill>
                  <a:srgbClr val="0000FF"/>
                </a:solidFill>
                <a:latin typeface="Consolas" pitchFamily="49" charset="0"/>
                <a:ea typeface="仿宋" pitchFamily="49" charset="-122"/>
              </a:rPr>
              <a:t>"false"</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117</a:t>
            </a:fld>
            <a:r>
              <a:rPr lang="en-US" altLang="zh-CN"/>
              <a:t>/126</a:t>
            </a:r>
          </a:p>
        </p:txBody>
      </p:sp>
      <p:pic>
        <p:nvPicPr>
          <p:cNvPr id="6" name="Picture 4"/>
          <p:cNvPicPr>
            <a:picLocks noChangeAspect="1" noChangeArrowheads="1"/>
          </p:cNvPicPr>
          <p:nvPr/>
        </p:nvPicPr>
        <p:blipFill>
          <a:blip r:embed="rId4" cstate="print"/>
          <a:srcRect/>
          <a:stretch>
            <a:fillRect/>
          </a:stretch>
        </p:blipFill>
        <p:spPr bwMode="auto">
          <a:xfrm>
            <a:off x="714348" y="357166"/>
            <a:ext cx="500066" cy="4710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714356"/>
            <a:ext cx="8215370" cy="2298065"/>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题目中的状态为</a:t>
            </a:r>
            <a:r>
              <a:rPr lang="en-US" altLang="zh-CN">
                <a:solidFill>
                  <a:srgbClr val="0000FF"/>
                </a:solidFill>
                <a:latin typeface="Consolas" pitchFamily="49" charset="0"/>
                <a:ea typeface="仿宋" pitchFamily="49" charset="-122"/>
              </a:rPr>
              <a:t>3×3</a:t>
            </a:r>
            <a:r>
              <a:rPr lang="zh-CN" altLang="zh-CN">
                <a:solidFill>
                  <a:srgbClr val="0000FF"/>
                </a:solidFill>
                <a:latin typeface="Consolas" pitchFamily="49" charset="0"/>
                <a:ea typeface="仿宋" pitchFamily="49" charset="-122"/>
              </a:rPr>
              <a:t>的棋盘，在搜索中需要将该状态进队，如果用数组表示，可能会占用较多的空间，为此将</a:t>
            </a:r>
            <a:r>
              <a:rPr lang="en-US" altLang="zh-CN">
                <a:solidFill>
                  <a:srgbClr val="0000FF"/>
                </a:solidFill>
                <a:latin typeface="Consolas" pitchFamily="49" charset="0"/>
                <a:ea typeface="仿宋" pitchFamily="49" charset="-122"/>
              </a:rPr>
              <a:t>3×3</a:t>
            </a:r>
            <a:r>
              <a:rPr lang="zh-CN" altLang="zh-CN">
                <a:solidFill>
                  <a:srgbClr val="0000FF"/>
                </a:solidFill>
                <a:latin typeface="Consolas" pitchFamily="49" charset="0"/>
                <a:ea typeface="仿宋" pitchFamily="49" charset="-122"/>
              </a:rPr>
              <a:t>的棋盘中的数字转换为数字符并按行、列顺序连起来构成棋盘字符串，用</a:t>
            </a:r>
            <a:r>
              <a:rPr lang="en-US" altLang="zh-CN">
                <a:solidFill>
                  <a:srgbClr val="0000FF"/>
                </a:solidFill>
                <a:latin typeface="Consolas" pitchFamily="49" charset="0"/>
                <a:ea typeface="仿宋" pitchFamily="49" charset="-122"/>
              </a:rPr>
              <a:t>string</a:t>
            </a:r>
            <a:r>
              <a:rPr lang="zh-CN" altLang="zh-CN">
                <a:solidFill>
                  <a:srgbClr val="0000FF"/>
                </a:solidFill>
                <a:latin typeface="Consolas" pitchFamily="49" charset="0"/>
                <a:ea typeface="仿宋" pitchFamily="49" charset="-122"/>
              </a:rPr>
              <a:t>类型表示。</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目标状态</a:t>
            </a:r>
            <a:r>
              <a:rPr lang="en-US" altLang="zh-CN">
                <a:solidFill>
                  <a:srgbClr val="0000FF"/>
                </a:solidFill>
                <a:latin typeface="Consolas" pitchFamily="49" charset="0"/>
                <a:ea typeface="仿宋" pitchFamily="49" charset="-122"/>
              </a:rPr>
              <a:t>goal</a:t>
            </a:r>
            <a:r>
              <a:rPr lang="zh-CN" altLang="zh-CN">
                <a:solidFill>
                  <a:srgbClr val="0000FF"/>
                </a:solidFill>
                <a:latin typeface="Consolas" pitchFamily="49" charset="0"/>
                <a:ea typeface="仿宋" pitchFamily="49" charset="-122"/>
              </a:rPr>
              <a:t>对应的字符串为</a:t>
            </a:r>
            <a:r>
              <a:rPr lang="en-US" altLang="zh-CN">
                <a:solidFill>
                  <a:srgbClr val="0000FF"/>
                </a:solidFill>
                <a:latin typeface="Consolas" pitchFamily="49" charset="0"/>
                <a:ea typeface="仿宋" pitchFamily="49" charset="-122"/>
              </a:rPr>
              <a:t>"123456780"</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p:txBody>
      </p:sp>
      <p:sp>
        <p:nvSpPr>
          <p:cNvPr id="5" name="TextBox 4"/>
          <p:cNvSpPr txBox="1"/>
          <p:nvPr/>
        </p:nvSpPr>
        <p:spPr>
          <a:xfrm>
            <a:off x="1571604" y="3429000"/>
            <a:ext cx="6072230" cy="400110"/>
          </a:xfrm>
          <a:prstGeom prst="rect">
            <a:avLst/>
          </a:prstGeom>
          <a:noFill/>
        </p:spPr>
        <p:txBody>
          <a:bodyPr wrap="square" rtlCol="0">
            <a:spAutoFit/>
          </a:bodyPr>
          <a:lstStyle/>
          <a:p>
            <a:pPr algn="l">
              <a:lnSpc>
                <a:spcPct val="100000"/>
              </a:lnSpc>
              <a:spcBef>
                <a:spcPts val="0"/>
              </a:spcBef>
            </a:pPr>
            <a:r>
              <a:rPr lang="en-US" altLang="zh-CN" sz="2000">
                <a:solidFill>
                  <a:srgbClr val="FF00FF"/>
                </a:solidFill>
                <a:latin typeface="Consolas" pitchFamily="49" charset="0"/>
                <a:ea typeface="仿宋" pitchFamily="49" charset="-122"/>
              </a:rPr>
              <a:t>goal={{1</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2</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3}</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{4</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5</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6}</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{7</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8</a:t>
            </a:r>
            <a:r>
              <a:rPr lang="zh-CN" altLang="zh-CN" sz="2000">
                <a:solidFill>
                  <a:srgbClr val="FF00FF"/>
                </a:solidFill>
                <a:latin typeface="Consolas" pitchFamily="49" charset="0"/>
                <a:ea typeface="仿宋" pitchFamily="49" charset="-122"/>
              </a:rPr>
              <a:t>，</a:t>
            </a:r>
            <a:r>
              <a:rPr lang="en-US" altLang="zh-CN" sz="2000">
                <a:solidFill>
                  <a:srgbClr val="FF00FF"/>
                </a:solidFill>
                <a:latin typeface="Consolas" pitchFamily="49" charset="0"/>
                <a:ea typeface="仿宋" pitchFamily="49" charset="-122"/>
              </a:rPr>
              <a:t>0}}</a:t>
            </a:r>
            <a:endParaRPr lang="zh-CN" altLang="en-US" sz="2000">
              <a:solidFill>
                <a:srgbClr val="0000FF"/>
              </a:solidFill>
              <a:latin typeface="Consolas" pitchFamily="49" charset="0"/>
              <a:ea typeface="楷体" pitchFamily="49" charset="-122"/>
              <a:cs typeface="Consolas" pitchFamily="49" charset="0"/>
            </a:endParaRPr>
          </a:p>
        </p:txBody>
      </p:sp>
      <p:sp>
        <p:nvSpPr>
          <p:cNvPr id="6" name="矩形 5"/>
          <p:cNvSpPr/>
          <p:nvPr/>
        </p:nvSpPr>
        <p:spPr>
          <a:xfrm>
            <a:off x="2214546"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1</a:t>
            </a:r>
            <a:endParaRPr lang="zh-CN" altLang="en-US" sz="2000">
              <a:latin typeface="Consolas" pitchFamily="49" charset="0"/>
            </a:endParaRPr>
          </a:p>
        </p:txBody>
      </p:sp>
      <p:sp>
        <p:nvSpPr>
          <p:cNvPr id="7" name="矩形 6"/>
          <p:cNvSpPr/>
          <p:nvPr/>
        </p:nvSpPr>
        <p:spPr>
          <a:xfrm>
            <a:off x="2714612"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2</a:t>
            </a:r>
            <a:endParaRPr lang="zh-CN" altLang="en-US" sz="2000">
              <a:latin typeface="Consolas" pitchFamily="49" charset="0"/>
            </a:endParaRPr>
          </a:p>
        </p:txBody>
      </p:sp>
      <p:sp>
        <p:nvSpPr>
          <p:cNvPr id="8" name="矩形 7"/>
          <p:cNvSpPr/>
          <p:nvPr/>
        </p:nvSpPr>
        <p:spPr>
          <a:xfrm>
            <a:off x="3214678" y="442913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3</a:t>
            </a:r>
            <a:endParaRPr lang="zh-CN" altLang="en-US" sz="2000">
              <a:latin typeface="Consolas" pitchFamily="49" charset="0"/>
            </a:endParaRPr>
          </a:p>
        </p:txBody>
      </p:sp>
      <p:sp>
        <p:nvSpPr>
          <p:cNvPr id="9" name="矩形 8"/>
          <p:cNvSpPr/>
          <p:nvPr/>
        </p:nvSpPr>
        <p:spPr>
          <a:xfrm>
            <a:off x="2214546"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4</a:t>
            </a:r>
            <a:endParaRPr lang="zh-CN" altLang="en-US" sz="2000">
              <a:latin typeface="Consolas" pitchFamily="49" charset="0"/>
            </a:endParaRPr>
          </a:p>
        </p:txBody>
      </p:sp>
      <p:sp>
        <p:nvSpPr>
          <p:cNvPr id="10" name="矩形 9"/>
          <p:cNvSpPr/>
          <p:nvPr/>
        </p:nvSpPr>
        <p:spPr>
          <a:xfrm>
            <a:off x="2714612"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5</a:t>
            </a:r>
            <a:endParaRPr lang="zh-CN" altLang="en-US" sz="2000">
              <a:latin typeface="Consolas" pitchFamily="49" charset="0"/>
            </a:endParaRPr>
          </a:p>
        </p:txBody>
      </p:sp>
      <p:sp>
        <p:nvSpPr>
          <p:cNvPr id="11" name="矩形 10"/>
          <p:cNvSpPr/>
          <p:nvPr/>
        </p:nvSpPr>
        <p:spPr>
          <a:xfrm>
            <a:off x="3214678" y="478632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6</a:t>
            </a:r>
            <a:endParaRPr lang="zh-CN" altLang="en-US" sz="2000">
              <a:latin typeface="Consolas" pitchFamily="49" charset="0"/>
            </a:endParaRPr>
          </a:p>
        </p:txBody>
      </p:sp>
      <p:sp>
        <p:nvSpPr>
          <p:cNvPr id="12" name="矩形 11"/>
          <p:cNvSpPr/>
          <p:nvPr/>
        </p:nvSpPr>
        <p:spPr>
          <a:xfrm>
            <a:off x="2214546"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7</a:t>
            </a:r>
            <a:endParaRPr lang="zh-CN" altLang="en-US" sz="2000">
              <a:latin typeface="Consolas" pitchFamily="49" charset="0"/>
            </a:endParaRPr>
          </a:p>
        </p:txBody>
      </p:sp>
      <p:sp>
        <p:nvSpPr>
          <p:cNvPr id="13" name="矩形 12"/>
          <p:cNvSpPr/>
          <p:nvPr/>
        </p:nvSpPr>
        <p:spPr>
          <a:xfrm>
            <a:off x="2714612"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8</a:t>
            </a:r>
            <a:endParaRPr lang="zh-CN" altLang="en-US" sz="2000">
              <a:latin typeface="Consolas" pitchFamily="49" charset="0"/>
            </a:endParaRPr>
          </a:p>
        </p:txBody>
      </p:sp>
      <p:sp>
        <p:nvSpPr>
          <p:cNvPr id="14" name="矩形 13"/>
          <p:cNvSpPr/>
          <p:nvPr/>
        </p:nvSpPr>
        <p:spPr>
          <a:xfrm>
            <a:off x="3214678" y="5143512"/>
            <a:ext cx="500066" cy="357190"/>
          </a:xfrm>
          <a:prstGeom prst="rect">
            <a:avLst/>
          </a:prstGeom>
          <a:ln>
            <a:tailEnd type="none"/>
          </a:ln>
        </p:spPr>
        <p:style>
          <a:lnRef idx="1">
            <a:schemeClr val="accent5"/>
          </a:lnRef>
          <a:fillRef idx="2">
            <a:schemeClr val="accent5"/>
          </a:fillRef>
          <a:effectRef idx="1">
            <a:schemeClr val="accent5"/>
          </a:effectRef>
          <a:fontRef idx="minor">
            <a:schemeClr val="dk1"/>
          </a:fontRef>
        </p:style>
        <p:txBody>
          <a:bodyPr rtlCol="0" anchor="ctr"/>
          <a:lstStyle/>
          <a:p>
            <a:pPr algn="ctr">
              <a:lnSpc>
                <a:spcPts val="2400"/>
              </a:lnSpc>
              <a:spcBef>
                <a:spcPts val="0"/>
              </a:spcBef>
            </a:pPr>
            <a:r>
              <a:rPr lang="en-US" altLang="zh-CN" sz="2000">
                <a:latin typeface="Consolas" pitchFamily="49" charset="0"/>
              </a:rPr>
              <a:t>0</a:t>
            </a:r>
            <a:endParaRPr lang="zh-CN" altLang="en-US" sz="2000">
              <a:latin typeface="Consolas" pitchFamily="49" charset="0"/>
            </a:endParaRPr>
          </a:p>
        </p:txBody>
      </p:sp>
      <p:sp>
        <p:nvSpPr>
          <p:cNvPr id="15" name="右箭头 14"/>
          <p:cNvSpPr/>
          <p:nvPr/>
        </p:nvSpPr>
        <p:spPr>
          <a:xfrm>
            <a:off x="4143372" y="4643446"/>
            <a:ext cx="500066" cy="357190"/>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6" name="TextBox 15"/>
          <p:cNvSpPr txBox="1"/>
          <p:nvPr/>
        </p:nvSpPr>
        <p:spPr>
          <a:xfrm>
            <a:off x="4857752" y="4643446"/>
            <a:ext cx="192882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rPr>
              <a:t>"123456780"</a:t>
            </a:r>
            <a:endParaRPr lang="zh-CN" altLang="en-US" sz="2000">
              <a:solidFill>
                <a:srgbClr val="0000FF"/>
              </a:solidFill>
              <a:latin typeface="Consolas" pitchFamily="49" charset="0"/>
              <a:ea typeface="楷体" pitchFamily="49" charset="-122"/>
              <a:cs typeface="Consolas" pitchFamily="49" charset="0"/>
            </a:endParaRPr>
          </a:p>
        </p:txBody>
      </p:sp>
      <p:sp>
        <p:nvSpPr>
          <p:cNvPr id="18" name="灯片编号占位符 17"/>
          <p:cNvSpPr>
            <a:spLocks noGrp="1"/>
          </p:cNvSpPr>
          <p:nvPr>
            <p:ph type="sldNum" sz="quarter" idx="12"/>
          </p:nvPr>
        </p:nvSpPr>
        <p:spPr/>
        <p:txBody>
          <a:bodyPr/>
          <a:lstStyle/>
          <a:p>
            <a:fld id="{7AF016A1-9F15-429F-9EFD-84004B73C732}" type="slidenum">
              <a:rPr lang="en-US" altLang="zh-CN" smtClean="0"/>
              <a:pPr/>
              <a:t>118</a:t>
            </a:fld>
            <a:r>
              <a:rPr lang="en-US" altLang="zh-CN"/>
              <a:t>/126</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714356"/>
            <a:ext cx="8215370" cy="286232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用</a:t>
            </a:r>
            <a:r>
              <a:rPr lang="en-US" altLang="zh-CN">
                <a:solidFill>
                  <a:srgbClr val="0000FF"/>
                </a:solidFill>
                <a:latin typeface="Consolas" pitchFamily="49" charset="0"/>
                <a:ea typeface="仿宋" pitchFamily="49" charset="-122"/>
              </a:rPr>
              <a:t>unordered_set&lt;string&gt;</a:t>
            </a:r>
            <a:r>
              <a:rPr lang="zh-CN" altLang="zh-CN">
                <a:solidFill>
                  <a:srgbClr val="0000FF"/>
                </a:solidFill>
                <a:latin typeface="Consolas" pitchFamily="49" charset="0"/>
                <a:ea typeface="仿宋" pitchFamily="49" charset="-122"/>
              </a:rPr>
              <a:t>类型的容器</a:t>
            </a:r>
            <a:r>
              <a:rPr lang="en-US" altLang="zh-CN">
                <a:solidFill>
                  <a:srgbClr val="0000FF"/>
                </a:solidFill>
                <a:latin typeface="Consolas" pitchFamily="49" charset="0"/>
                <a:ea typeface="仿宋" pitchFamily="49" charset="-122"/>
              </a:rPr>
              <a:t>visited</a:t>
            </a:r>
            <a:r>
              <a:rPr lang="zh-CN" altLang="zh-CN">
                <a:solidFill>
                  <a:srgbClr val="0000FF"/>
                </a:solidFill>
                <a:latin typeface="Consolas" pitchFamily="49" charset="0"/>
                <a:ea typeface="仿宋" pitchFamily="49" charset="-122"/>
              </a:rPr>
              <a:t>记录访问过的棋盘状态，</a:t>
            </a:r>
            <a:r>
              <a:rPr lang="zh-CN" altLang="zh-CN">
                <a:solidFill>
                  <a:srgbClr val="FF0000"/>
                </a:solidFill>
                <a:latin typeface="Consolas" pitchFamily="49" charset="0"/>
                <a:ea typeface="仿宋" pitchFamily="49" charset="-122"/>
              </a:rPr>
              <a:t>避免访问重复的状态</a:t>
            </a:r>
            <a:r>
              <a:rPr lang="zh-CN" altLang="en-US">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优先队列的每个结点包含棋盘字符串</a:t>
            </a:r>
            <a:r>
              <a:rPr lang="en-US" altLang="zh-CN">
                <a:solidFill>
                  <a:srgbClr val="0000FF"/>
                </a:solidFill>
                <a:latin typeface="Consolas" pitchFamily="49" charset="0"/>
                <a:ea typeface="仿宋" pitchFamily="49" charset="-122"/>
              </a:rPr>
              <a:t>grid</a:t>
            </a:r>
            <a:r>
              <a:rPr lang="zh-CN" altLang="zh-CN">
                <a:solidFill>
                  <a:srgbClr val="0000FF"/>
                </a:solidFill>
                <a:latin typeface="Consolas" pitchFamily="49" charset="0"/>
                <a:ea typeface="仿宋" pitchFamily="49" charset="-122"/>
              </a:rPr>
              <a:t>和其中</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的二维位置（</a:t>
            </a:r>
            <a:r>
              <a:rPr lang="en-US" altLang="zh-CN" i="1">
                <a:solidFill>
                  <a:srgbClr val="0000FF"/>
                </a:solidFill>
                <a:latin typeface="Consolas" pitchFamily="49" charset="0"/>
                <a:ea typeface="仿宋" pitchFamily="49" charset="-122"/>
              </a:rPr>
              <a:t>x</a:t>
            </a:r>
            <a:r>
              <a:rPr lang="zh-CN" altLang="zh-CN">
                <a:solidFill>
                  <a:srgbClr val="0000FF"/>
                </a:solidFill>
                <a:latin typeface="Consolas" pitchFamily="49" charset="0"/>
                <a:ea typeface="仿宋" pitchFamily="49" charset="-122"/>
              </a:rPr>
              <a:t>，</a:t>
            </a:r>
            <a:r>
              <a:rPr lang="en-US" altLang="zh-CN" i="1">
                <a:solidFill>
                  <a:srgbClr val="0000FF"/>
                </a:solidFill>
                <a:latin typeface="Consolas" pitchFamily="49" charset="0"/>
                <a:ea typeface="仿宋" pitchFamily="49" charset="-122"/>
              </a:rPr>
              <a:t>y</a:t>
            </a:r>
            <a:r>
              <a:rPr lang="zh-CN" altLang="zh-CN">
                <a:solidFill>
                  <a:srgbClr val="0000FF"/>
                </a:solidFill>
                <a:latin typeface="Consolas" pitchFamily="49" charset="0"/>
                <a:ea typeface="仿宋" pitchFamily="49" charset="-122"/>
              </a:rPr>
              <a:t>）。</a:t>
            </a:r>
            <a:endParaRPr lang="en-US" altLang="zh-CN">
              <a:solidFill>
                <a:srgbClr val="0000FF"/>
              </a:solidFill>
              <a:latin typeface="Consolas" pitchFamily="49" charset="0"/>
              <a:ea typeface="仿宋" pitchFamily="49" charset="-122"/>
            </a:endParaRPr>
          </a:p>
          <a:p>
            <a:pPr marL="457200" indent="-457200" algn="l">
              <a:lnSpc>
                <a:spcPts val="3200"/>
              </a:lnSpc>
              <a:spcBef>
                <a:spcPts val="1200"/>
              </a:spcBef>
              <a:buBlip>
                <a:blip r:embed="rId3"/>
              </a:buBlip>
            </a:pPr>
            <a:r>
              <a:rPr lang="zh-CN" altLang="zh-CN">
                <a:solidFill>
                  <a:srgbClr val="0000FF"/>
                </a:solidFill>
                <a:latin typeface="Consolas" pitchFamily="49" charset="0"/>
                <a:ea typeface="仿宋" pitchFamily="49" charset="-122"/>
              </a:rPr>
              <a:t>扩展方式是将</a:t>
            </a:r>
            <a:r>
              <a:rPr lang="en-US" altLang="zh-CN">
                <a:solidFill>
                  <a:srgbClr val="0000FF"/>
                </a:solidFill>
                <a:latin typeface="Consolas" pitchFamily="49" charset="0"/>
                <a:ea typeface="仿宋" pitchFamily="49" charset="-122"/>
              </a:rPr>
              <a:t>0</a:t>
            </a:r>
            <a:r>
              <a:rPr lang="zh-CN" altLang="zh-CN">
                <a:solidFill>
                  <a:srgbClr val="0000FF"/>
                </a:solidFill>
                <a:latin typeface="Consolas" pitchFamily="49" charset="0"/>
                <a:ea typeface="仿宋" pitchFamily="49" charset="-122"/>
              </a:rPr>
              <a:t>与相邻位置的数字交换</a:t>
            </a:r>
            <a:r>
              <a:rPr lang="zh-CN" altLang="en-US">
                <a:solidFill>
                  <a:srgbClr val="0000FF"/>
                </a:solidFill>
                <a:latin typeface="Consolas" pitchFamily="49" charset="0"/>
                <a:ea typeface="仿宋" pitchFamily="49" charset="-122"/>
              </a:rPr>
              <a:t>（队列中保存</a:t>
            </a:r>
            <a:r>
              <a:rPr lang="en-US" altLang="zh-CN">
                <a:solidFill>
                  <a:srgbClr val="0000FF"/>
                </a:solidFill>
                <a:latin typeface="Consolas" pitchFamily="49" charset="0"/>
                <a:ea typeface="仿宋" pitchFamily="49" charset="-122"/>
              </a:rPr>
              <a:t>0</a:t>
            </a:r>
            <a:r>
              <a:rPr lang="zh-CN" altLang="en-US">
                <a:solidFill>
                  <a:srgbClr val="0000FF"/>
                </a:solidFill>
                <a:latin typeface="Consolas" pitchFamily="49" charset="0"/>
                <a:ea typeface="仿宋" pitchFamily="49" charset="-122"/>
              </a:rPr>
              <a:t>的行列号）</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7AF016A1-9F15-429F-9EFD-84004B73C732}" type="slidenum">
              <a:rPr lang="en-US" altLang="zh-CN" smtClean="0"/>
              <a:pPr/>
              <a:t>119</a:t>
            </a:fld>
            <a:r>
              <a:rPr lang="en-US" altLang="zh-CN"/>
              <a:t>/126</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337706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800"/>
              </a:lnSpc>
              <a:spcBef>
                <a:spcPts val="0"/>
              </a:spcBef>
            </a:pPr>
            <a:r>
              <a:rPr lang="en-US" altLang="zh-CN" sz="2000">
                <a:solidFill>
                  <a:srgbClr val="0000FF"/>
                </a:solidFill>
                <a:latin typeface="Consolas" pitchFamily="49" charset="0"/>
                <a:ea typeface="仿宋" pitchFamily="49" charset="-122"/>
              </a:rPr>
              <a:t>struct </a:t>
            </a:r>
            <a:r>
              <a:rPr lang="en-US" altLang="zh-CN" sz="2000">
                <a:solidFill>
                  <a:srgbClr val="FF0000"/>
                </a:solidFill>
                <a:latin typeface="Consolas" pitchFamily="49" charset="0"/>
                <a:ea typeface="仿宋" pitchFamily="49" charset="-122"/>
              </a:rPr>
              <a:t>QNode</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优先队列结点类型</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x,y;                              </a:t>
            </a:r>
            <a:r>
              <a:rPr lang="en-US" altLang="zh-CN" sz="2000">
                <a:solidFill>
                  <a:srgbClr val="00B0F0"/>
                </a:solidFill>
                <a:latin typeface="Consolas" pitchFamily="49" charset="0"/>
                <a:ea typeface="仿宋" pitchFamily="49" charset="-122"/>
              </a:rPr>
              <a:t>	//0</a:t>
            </a:r>
            <a:r>
              <a:rPr lang="zh-CN" altLang="zh-CN" sz="2000">
                <a:solidFill>
                  <a:srgbClr val="00B0F0"/>
                </a:solidFill>
                <a:latin typeface="Consolas" pitchFamily="49" charset="0"/>
                <a:ea typeface="仿宋" pitchFamily="49" charset="-122"/>
              </a:rPr>
              <a:t>的位置</a:t>
            </a:r>
          </a:p>
          <a:p>
            <a:pPr algn="l" defTabSz="360000">
              <a:lnSpc>
                <a:spcPts val="2800"/>
              </a:lnSpc>
              <a:spcBef>
                <a:spcPts val="0"/>
              </a:spcBef>
            </a:pPr>
            <a:r>
              <a:rPr lang="en-US" altLang="zh-CN" sz="2000">
                <a:solidFill>
                  <a:srgbClr val="0000FF"/>
                </a:solidFill>
                <a:latin typeface="Consolas" pitchFamily="49" charset="0"/>
                <a:ea typeface="仿宋" pitchFamily="49" charset="-122"/>
              </a:rPr>
              <a:t>  	string grid;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棋盘字符串</a:t>
            </a:r>
          </a:p>
          <a:p>
            <a:pPr algn="l" defTabSz="360000">
              <a:lnSpc>
                <a:spcPts val="2800"/>
              </a:lnSpc>
              <a:spcBef>
                <a:spcPts val="0"/>
              </a:spcBef>
            </a:pPr>
            <a:r>
              <a:rPr lang="en-US" altLang="zh-CN" sz="2000">
                <a:solidFill>
                  <a:srgbClr val="0000FF"/>
                </a:solidFill>
                <a:latin typeface="Consolas" pitchFamily="49" charset="0"/>
                <a:ea typeface="仿宋" pitchFamily="49" charset="-122"/>
              </a:rPr>
              <a:t>  	int f,g,h;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启发式函数</a:t>
            </a:r>
            <a:endParaRPr lang="en-US" altLang="zh-CN" sz="2000">
              <a:solidFill>
                <a:srgbClr val="00B0F0"/>
              </a:solidFill>
              <a:latin typeface="Consolas" pitchFamily="49" charset="0"/>
              <a:ea typeface="仿宋" pitchFamily="49" charset="-122"/>
            </a:endParaRPr>
          </a:p>
          <a:p>
            <a:pPr algn="l" defTabSz="360000">
              <a:lnSpc>
                <a:spcPts val="2800"/>
              </a:lnSpc>
              <a:spcBef>
                <a:spcPts val="0"/>
              </a:spcBef>
            </a:pPr>
            <a:endParaRPr lang="zh-CN" altLang="zh-CN" sz="2000">
              <a:solidFill>
                <a:srgbClr val="00B0F0"/>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  	bool </a:t>
            </a:r>
            <a:r>
              <a:rPr lang="en-US" altLang="zh-CN" sz="2000">
                <a:solidFill>
                  <a:srgbClr val="FF0000"/>
                </a:solidFill>
                <a:latin typeface="Consolas" pitchFamily="49" charset="0"/>
                <a:ea typeface="仿宋" pitchFamily="49" charset="-122"/>
              </a:rPr>
              <a:t>operator</a:t>
            </a:r>
            <a:r>
              <a:rPr lang="en-US" altLang="zh-CN" sz="2000">
                <a:solidFill>
                  <a:srgbClr val="0000FF"/>
                </a:solidFill>
                <a:latin typeface="Consolas" pitchFamily="49" charset="0"/>
                <a:ea typeface="仿宋" pitchFamily="49" charset="-122"/>
              </a:rPr>
              <a:t>&lt;(const QNode &amp;s) const{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重载</a:t>
            </a:r>
            <a:r>
              <a:rPr lang="en-US" altLang="zh-CN" sz="2000">
                <a:solidFill>
                  <a:srgbClr val="00B0F0"/>
                </a:solidFill>
                <a:latin typeface="Consolas" pitchFamily="49" charset="0"/>
                <a:ea typeface="仿宋" pitchFamily="49" charset="-122"/>
              </a:rPr>
              <a:t>&lt;</a:t>
            </a:r>
            <a:r>
              <a:rPr lang="zh-CN" altLang="zh-CN" sz="2000">
                <a:solidFill>
                  <a:srgbClr val="00B0F0"/>
                </a:solidFill>
                <a:latin typeface="Consolas" pitchFamily="49" charset="0"/>
                <a:ea typeface="仿宋" pitchFamily="49" charset="-122"/>
              </a:rPr>
              <a:t>关系函数</a:t>
            </a:r>
          </a:p>
          <a:p>
            <a:pPr algn="l" defTabSz="360000">
              <a:lnSpc>
                <a:spcPts val="2800"/>
              </a:lnSpc>
              <a:spcBef>
                <a:spcPts val="0"/>
              </a:spcBef>
            </a:pPr>
            <a:r>
              <a:rPr lang="en-US" altLang="zh-CN" sz="2000">
                <a:solidFill>
                  <a:srgbClr val="0000FF"/>
                </a:solidFill>
                <a:latin typeface="Consolas" pitchFamily="49" charset="0"/>
                <a:ea typeface="仿宋" pitchFamily="49" charset="-122"/>
              </a:rPr>
              <a:t>  		return f&gt;s.f;                   		</a:t>
            </a:r>
            <a:r>
              <a:rPr lang="en-US" altLang="zh-CN" sz="2000">
                <a:solidFill>
                  <a:srgbClr val="00B0F0"/>
                </a:solidFill>
                <a:latin typeface="Consolas" pitchFamily="49" charset="0"/>
                <a:ea typeface="仿宋" pitchFamily="49" charset="-122"/>
              </a:rPr>
              <a:t>//f</a:t>
            </a:r>
            <a:r>
              <a:rPr lang="zh-CN" altLang="zh-CN" sz="2000">
                <a:solidFill>
                  <a:srgbClr val="00B0F0"/>
                </a:solidFill>
                <a:latin typeface="Consolas" pitchFamily="49" charset="0"/>
                <a:ea typeface="仿宋" pitchFamily="49" charset="-122"/>
              </a:rPr>
              <a:t>越小越优先出队</a:t>
            </a:r>
          </a:p>
          <a:p>
            <a:pPr algn="l" defTabSz="360000">
              <a:lnSpc>
                <a:spcPts val="28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8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6" name="灯片编号占位符 5"/>
          <p:cNvSpPr>
            <a:spLocks noGrp="1"/>
          </p:cNvSpPr>
          <p:nvPr>
            <p:ph type="sldNum" sz="quarter" idx="12"/>
          </p:nvPr>
        </p:nvSpPr>
        <p:spPr/>
        <p:txBody>
          <a:bodyPr/>
          <a:lstStyle/>
          <a:p>
            <a:fld id="{7AF016A1-9F15-429F-9EFD-84004B73C732}" type="slidenum">
              <a:rPr lang="en-US" altLang="zh-CN" smtClean="0"/>
              <a:pPr/>
              <a:t>120</a:t>
            </a:fld>
            <a:r>
              <a:rPr lang="en-US" altLang="zh-CN"/>
              <a:t>/126</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206901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class Solution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int dx[4]={0,0,1,-1};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水平方向偏移量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dy[4]={1,-1,0,0};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垂直方向偏移量</a:t>
            </a:r>
          </a:p>
          <a:p>
            <a:pPr algn="l" defTabSz="360000">
              <a:lnSpc>
                <a:spcPts val="3000"/>
              </a:lnSpc>
              <a:spcBef>
                <a:spcPts val="0"/>
              </a:spcBef>
            </a:pPr>
            <a:r>
              <a:rPr lang="en-US" altLang="zh-CN" sz="2000">
                <a:solidFill>
                  <a:srgbClr val="0000FF"/>
                </a:solidFill>
                <a:latin typeface="Consolas" pitchFamily="49" charset="0"/>
                <a:ea typeface="仿宋" pitchFamily="49" charset="-122"/>
              </a:rPr>
              <a:t>   string goal="123456780";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public:</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121</a:t>
            </a:fld>
            <a:r>
              <a:rPr lang="en-US" altLang="zh-CN"/>
              <a:t>/126</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285728"/>
            <a:ext cx="8715436" cy="531855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700"/>
              </a:lnSpc>
              <a:spcBef>
                <a:spcPts val="0"/>
              </a:spcBef>
            </a:pPr>
            <a:r>
              <a:rPr lang="en-US" altLang="zh-CN" sz="2000">
                <a:solidFill>
                  <a:srgbClr val="0000FF"/>
                </a:solidFill>
                <a:latin typeface="Consolas" pitchFamily="49" charset="0"/>
                <a:ea typeface="仿宋" pitchFamily="49" charset="-122"/>
              </a:rPr>
              <a:t>string </a:t>
            </a:r>
            <a:r>
              <a:rPr lang="en-US" altLang="zh-CN" sz="2000">
                <a:solidFill>
                  <a:srgbClr val="FF0000"/>
                </a:solidFill>
                <a:latin typeface="Consolas" pitchFamily="49" charset="0"/>
                <a:ea typeface="仿宋" pitchFamily="49" charset="-122"/>
              </a:rPr>
              <a:t>digitalHuarongRoad</a:t>
            </a:r>
            <a:r>
              <a:rPr lang="en-US" altLang="zh-CN" sz="2000">
                <a:solidFill>
                  <a:srgbClr val="0000FF"/>
                </a:solidFill>
                <a:latin typeface="Consolas" pitchFamily="49" charset="0"/>
                <a:ea typeface="仿宋" pitchFamily="49" charset="-122"/>
              </a:rPr>
              <a:t>(vector&lt;vector&lt;int&gt;&gt; &amp;arr,int k)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n=arr.size();					</a:t>
            </a:r>
            <a:r>
              <a:rPr lang="en-US" altLang="zh-CN" sz="2000">
                <a:solidFill>
                  <a:srgbClr val="00B0F0"/>
                </a:solidFill>
                <a:latin typeface="Consolas" pitchFamily="49" charset="0"/>
                <a:ea typeface="仿宋" pitchFamily="49" charset="-122"/>
              </a:rPr>
              <a:t>//n=3</a:t>
            </a:r>
            <a:endParaRPr lang="zh-CN" altLang="zh-CN" sz="2000">
              <a:solidFill>
                <a:srgbClr val="00B0F0"/>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(n==0) return "true";</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(k==0) return "false";</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string str;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int x,y;</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i=0;i&lt;n;i++) {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将</a:t>
            </a:r>
            <a:r>
              <a:rPr lang="en-US" altLang="zh-CN" sz="2000">
                <a:solidFill>
                  <a:srgbClr val="00B0F0"/>
                </a:solidFill>
                <a:latin typeface="Consolas" pitchFamily="49" charset="0"/>
                <a:ea typeface="仿宋" pitchFamily="49" charset="-122"/>
              </a:rPr>
              <a:t>arr</a:t>
            </a:r>
            <a:r>
              <a:rPr lang="zh-CN" altLang="zh-CN" sz="2000">
                <a:solidFill>
                  <a:srgbClr val="00B0F0"/>
                </a:solidFill>
                <a:latin typeface="Consolas" pitchFamily="49" charset="0"/>
                <a:ea typeface="仿宋" pitchFamily="49" charset="-122"/>
              </a:rPr>
              <a:t>转换为</a:t>
            </a:r>
            <a:r>
              <a:rPr lang="en-US" altLang="zh-CN" sz="2000">
                <a:solidFill>
                  <a:srgbClr val="00B0F0"/>
                </a:solidFill>
                <a:latin typeface="Consolas" pitchFamily="49" charset="0"/>
                <a:ea typeface="仿宋" pitchFamily="49" charset="-122"/>
              </a:rPr>
              <a:t>str</a:t>
            </a:r>
            <a:r>
              <a:rPr lang="zh-CN" altLang="zh-CN" sz="2000">
                <a:solidFill>
                  <a:srgbClr val="00B0F0"/>
                </a:solidFill>
                <a:latin typeface="Consolas" pitchFamily="49" charset="0"/>
                <a:ea typeface="仿宋" pitchFamily="49" charset="-122"/>
              </a:rPr>
              <a:t>并找到</a:t>
            </a:r>
            <a:r>
              <a:rPr lang="en-US" altLang="zh-CN" sz="2000">
                <a:solidFill>
                  <a:srgbClr val="00B0F0"/>
                </a:solidFill>
                <a:latin typeface="Consolas" pitchFamily="49" charset="0"/>
                <a:ea typeface="仿宋" pitchFamily="49" charset="-122"/>
              </a:rPr>
              <a:t>0</a:t>
            </a:r>
            <a:r>
              <a:rPr lang="zh-CN" altLang="zh-CN" sz="2000">
                <a:solidFill>
                  <a:srgbClr val="00B0F0"/>
                </a:solidFill>
                <a:latin typeface="Consolas" pitchFamily="49" charset="0"/>
                <a:ea typeface="仿宋" pitchFamily="49" charset="-122"/>
              </a:rPr>
              <a:t>的位置</a:t>
            </a:r>
          </a:p>
          <a:p>
            <a:pPr algn="l" defTabSz="360000">
              <a:lnSpc>
                <a:spcPts val="2700"/>
              </a:lnSpc>
              <a:spcBef>
                <a:spcPts val="0"/>
              </a:spcBef>
            </a:pPr>
            <a:r>
              <a:rPr lang="en-US" altLang="zh-CN" sz="2000">
                <a:solidFill>
                  <a:srgbClr val="0000FF"/>
                </a:solidFill>
                <a:latin typeface="Consolas" pitchFamily="49" charset="0"/>
                <a:ea typeface="仿宋" pitchFamily="49" charset="-122"/>
              </a:rPr>
              <a:t>    	for (int j=0;j&lt;n;j++)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str.push_back(arr[i][j]+'0');</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arr[i][j]==0</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x=i; y=j;</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7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goal==str</a:t>
            </a:r>
            <a:r>
              <a:rPr lang="en-US" altLang="zh-CN" sz="2000">
                <a:solidFill>
                  <a:srgbClr val="0000FF"/>
                </a:solidFill>
                <a:latin typeface="Consolas" pitchFamily="49" charset="0"/>
                <a:ea typeface="仿宋" pitchFamily="49" charset="-122"/>
              </a:rPr>
              <a:t>) return "true";</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122</a:t>
            </a:fld>
            <a:r>
              <a:rPr lang="en-US" altLang="zh-CN"/>
              <a:t>/126</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399261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unordered_set&lt;string&gt; visited;</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priority_queue&lt;QNode&gt; pq;</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QNode e,e1;</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e.x=x; e.y=y;</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e.grid=str;</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e.g=0;</a:t>
            </a:r>
          </a:p>
          <a:p>
            <a:pPr algn="l" defTabSz="360000">
              <a:lnSpc>
                <a:spcPts val="3000"/>
              </a:lnSpc>
              <a:spcBef>
                <a:spcPts val="0"/>
              </a:spcBef>
            </a:pPr>
            <a:r>
              <a:rPr lang="en-US" altLang="zh-CN" sz="2000">
                <a:solidFill>
                  <a:srgbClr val="0000FF"/>
                </a:solidFill>
                <a:latin typeface="Consolas" pitchFamily="49" charset="0"/>
                <a:ea typeface="仿宋" pitchFamily="49" charset="-122"/>
              </a:rPr>
              <a:t>e.h=</a:t>
            </a:r>
            <a:r>
              <a:rPr lang="en-US" altLang="zh-CN" sz="2000">
                <a:solidFill>
                  <a:srgbClr val="FF0000"/>
                </a:solidFill>
                <a:latin typeface="Consolas" pitchFamily="49" charset="0"/>
                <a:ea typeface="仿宋" pitchFamily="49" charset="-122"/>
              </a:rPr>
              <a:t>geth</a:t>
            </a:r>
            <a:r>
              <a:rPr lang="en-US" altLang="zh-CN" sz="2000">
                <a:solidFill>
                  <a:srgbClr val="0000FF"/>
                </a:solidFill>
                <a:latin typeface="Consolas" pitchFamily="49" charset="0"/>
                <a:ea typeface="仿宋" pitchFamily="49" charset="-122"/>
              </a:rPr>
              <a:t>(str);</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e.f=e.g+e.h;</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pq.push(e);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初始状态进队</a:t>
            </a:r>
          </a:p>
          <a:p>
            <a:pPr algn="l" defTabSz="360000">
              <a:lnSpc>
                <a:spcPts val="3000"/>
              </a:lnSpc>
              <a:spcBef>
                <a:spcPts val="0"/>
              </a:spcBef>
            </a:pPr>
            <a:r>
              <a:rPr lang="en-US" altLang="zh-CN" sz="2000">
                <a:solidFill>
                  <a:srgbClr val="0000FF"/>
                </a:solidFill>
                <a:latin typeface="Consolas" pitchFamily="49" charset="0"/>
                <a:ea typeface="仿宋" pitchFamily="49" charset="-122"/>
              </a:rPr>
              <a:t>visited.insert(e.grid);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标记初始状态已访问</a:t>
            </a: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123</a:t>
            </a:fld>
            <a:r>
              <a:rPr lang="en-US" altLang="zh-CN"/>
              <a:t>/126</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506983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2400"/>
              </a:lnSpc>
              <a:spcBef>
                <a:spcPts val="0"/>
              </a:spcBef>
            </a:pPr>
            <a:r>
              <a:rPr lang="en-US" altLang="zh-CN" sz="2000">
                <a:solidFill>
                  <a:srgbClr val="0000FF"/>
                </a:solidFill>
                <a:latin typeface="Consolas" pitchFamily="49" charset="0"/>
                <a:ea typeface="仿宋" pitchFamily="49" charset="-122"/>
              </a:rPr>
              <a:t>while (!pq.empty())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e=pq.top(); pq.pop();</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x=e.x;y=e.y;str=e.grid;</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p0=x*n+y;</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for (int di=0;di&lt;4;di++)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nx=x+dx[di];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ny=y+dy[di];</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(nx&gt;=0 &amp;&amp; nx&lt;3 &amp;&amp; ny&gt;=0 &amp;&amp; ny&lt;3)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int p1=nx*n+ny;</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swap(str[p0],str[p1]);</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goal==str</a:t>
            </a: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e.g+1&lt;=k</a:t>
            </a:r>
            <a:r>
              <a:rPr lang="en-US" altLang="zh-CN" sz="2000">
                <a:solidFill>
                  <a:srgbClr val="0000FF"/>
                </a:solidFill>
                <a:latin typeface="Consolas" pitchFamily="49" charset="0"/>
                <a:ea typeface="仿宋" pitchFamily="49" charset="-122"/>
              </a:rPr>
              <a:t>)</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"true";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子结点与目标状态相同返回</a:t>
            </a:r>
            <a:r>
              <a:rPr lang="en-US" altLang="zh-CN" sz="2000">
                <a:solidFill>
                  <a:srgbClr val="00B0F0"/>
                </a:solidFill>
                <a:latin typeface="Consolas" pitchFamily="49" charset="0"/>
                <a:ea typeface="仿宋" pitchFamily="49" charset="-122"/>
              </a:rPr>
              <a:t>true</a:t>
            </a:r>
            <a:endParaRPr lang="zh-CN" altLang="zh-CN" sz="2000">
              <a:solidFill>
                <a:srgbClr val="00B0F0"/>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else</a:t>
            </a:r>
          </a:p>
          <a:p>
            <a:pPr algn="l" defTabSz="360000">
              <a:lnSpc>
                <a:spcPts val="2400"/>
              </a:lnSpc>
              <a:spcBef>
                <a:spcPts val="0"/>
              </a:spcBef>
            </a:pPr>
            <a:r>
              <a:rPr lang="en-US" altLang="zh-CN" sz="2000">
                <a:solidFill>
                  <a:srgbClr val="0000FF"/>
                </a:solidFill>
                <a:latin typeface="Consolas" pitchFamily="49" charset="0"/>
                <a:ea typeface="仿宋" pitchFamily="49" charset="-122"/>
              </a:rPr>
              <a:t>					return "false";</a:t>
            </a:r>
            <a:endParaRPr lang="zh-CN" altLang="zh-CN" sz="2000">
              <a:solidFill>
                <a:srgbClr val="0000FF"/>
              </a:solidFill>
              <a:latin typeface="Consolas" pitchFamily="49" charset="0"/>
              <a:ea typeface="仿宋" pitchFamily="49" charset="-122"/>
            </a:endParaRPr>
          </a:p>
          <a:p>
            <a:pPr algn="l" defTabSz="360000">
              <a:lnSpc>
                <a:spcPts val="24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124</a:t>
            </a:fld>
            <a:r>
              <a:rPr lang="en-US" altLang="zh-CN"/>
              <a:t>/126</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71480"/>
            <a:ext cx="8715436" cy="44542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ct val="100000"/>
              </a:lnSpc>
              <a:spcBef>
                <a:spcPts val="0"/>
              </a:spcBef>
            </a:pPr>
            <a:r>
              <a:rPr lang="en-US" altLang="zh-CN" sz="2000">
                <a:solidFill>
                  <a:srgbClr val="0000FF"/>
                </a:solidFill>
                <a:latin typeface="Consolas" pitchFamily="49" charset="0"/>
                <a:ea typeface="仿宋" pitchFamily="49" charset="-122"/>
              </a:rPr>
              <a:t>        	if (</a:t>
            </a:r>
            <a:r>
              <a:rPr lang="en-US" altLang="zh-CN" sz="2000">
                <a:solidFill>
                  <a:srgbClr val="FF00FF"/>
                </a:solidFill>
                <a:latin typeface="Consolas" pitchFamily="49" charset="0"/>
                <a:ea typeface="仿宋" pitchFamily="49" charset="-122"/>
              </a:rPr>
              <a:t>!visited.count(str)</a:t>
            </a:r>
            <a:r>
              <a:rPr lang="en-US" altLang="zh-CN" sz="2000">
                <a:solidFill>
                  <a:srgbClr val="0000FF"/>
                </a:solidFill>
                <a:latin typeface="Consolas" pitchFamily="49" charset="0"/>
                <a:ea typeface="仿宋" pitchFamily="49" charset="-122"/>
              </a:rPr>
              <a:t>) {	</a:t>
            </a:r>
            <a:r>
              <a:rPr lang="en-US" altLang="zh-CN" sz="2000">
                <a:solidFill>
                  <a:srgbClr val="00B0F0"/>
                </a:solidFill>
                <a:latin typeface="Consolas" pitchFamily="49" charset="0"/>
                <a:ea typeface="仿宋" pitchFamily="49" charset="-122"/>
              </a:rPr>
              <a:t>//</a:t>
            </a:r>
            <a:r>
              <a:rPr lang="zh-CN" altLang="en-US" sz="2000">
                <a:solidFill>
                  <a:srgbClr val="00B0F0"/>
                </a:solidFill>
                <a:latin typeface="Consolas" pitchFamily="49" charset="0"/>
                <a:ea typeface="仿宋" pitchFamily="49" charset="-122"/>
              </a:rPr>
              <a:t>不重复</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visited.insert(str);</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e1.x=nx; e1.y=ny; e1.grid=str;</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e1.g=e.g+1;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e1.h=geth(str);</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e1.f=e1.g+e1.h;</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pq.push(e1);</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swap(str[p0],str[p1]);  		</a:t>
            </a:r>
            <a:r>
              <a:rPr lang="en-US" altLang="zh-CN" sz="2000">
                <a:solidFill>
                  <a:srgbClr val="00B0F0"/>
                </a:solidFill>
                <a:latin typeface="Consolas" pitchFamily="49" charset="0"/>
                <a:ea typeface="仿宋" pitchFamily="49" charset="-122"/>
              </a:rPr>
              <a:t>//</a:t>
            </a:r>
            <a:r>
              <a:rPr lang="zh-CN" altLang="zh-CN" sz="2000">
                <a:solidFill>
                  <a:srgbClr val="00B0F0"/>
                </a:solidFill>
                <a:latin typeface="Consolas" pitchFamily="49" charset="0"/>
                <a:ea typeface="仿宋" pitchFamily="49" charset="-122"/>
              </a:rPr>
              <a:t>恢复</a:t>
            </a:r>
            <a:r>
              <a:rPr lang="en-US" altLang="zh-CN" sz="2000">
                <a:solidFill>
                  <a:srgbClr val="00B0F0"/>
                </a:solidFill>
                <a:latin typeface="Consolas" pitchFamily="49" charset="0"/>
                <a:ea typeface="仿宋" pitchFamily="49" charset="-122"/>
              </a:rPr>
              <a:t>str</a:t>
            </a:r>
            <a:endParaRPr lang="zh-CN" altLang="zh-CN" sz="2000">
              <a:solidFill>
                <a:srgbClr val="00B0F0"/>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ct val="100000"/>
              </a:lnSpc>
              <a:spcBef>
                <a:spcPts val="0"/>
              </a:spcBef>
            </a:pPr>
            <a:r>
              <a:rPr lang="en-US" altLang="zh-CN" sz="2000">
                <a:solidFill>
                  <a:srgbClr val="0000FF"/>
                </a:solidFill>
                <a:latin typeface="Consolas" pitchFamily="49" charset="0"/>
                <a:ea typeface="仿宋" pitchFamily="49" charset="-122"/>
              </a:rPr>
              <a:t>	return "false";                </a:t>
            </a:r>
            <a:r>
              <a:rPr lang="en-US" altLang="zh-CN" sz="2000">
                <a:solidFill>
                  <a:srgbClr val="00B0F0"/>
                </a:solidFill>
                <a:latin typeface="Consolas" pitchFamily="49" charset="0"/>
                <a:ea typeface="仿宋" pitchFamily="49" charset="-122"/>
              </a:rPr>
              <a:t> 		//</a:t>
            </a:r>
            <a:r>
              <a:rPr lang="zh-CN" altLang="zh-CN" sz="2000">
                <a:solidFill>
                  <a:srgbClr val="00B0F0"/>
                </a:solidFill>
                <a:latin typeface="Consolas" pitchFamily="49" charset="0"/>
                <a:ea typeface="仿宋" pitchFamily="49" charset="-122"/>
              </a:rPr>
              <a:t>没有找到返回</a:t>
            </a:r>
            <a:r>
              <a:rPr lang="en-US" altLang="zh-CN" sz="2000">
                <a:solidFill>
                  <a:srgbClr val="00B0F0"/>
                </a:solidFill>
                <a:latin typeface="Consolas" pitchFamily="49" charset="0"/>
                <a:ea typeface="仿宋" pitchFamily="49" charset="-122"/>
              </a:rPr>
              <a:t>false</a:t>
            </a:r>
          </a:p>
          <a:p>
            <a:pPr algn="l" defTabSz="360000">
              <a:lnSpc>
                <a:spcPct val="100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4" name="灯片编号占位符 3"/>
          <p:cNvSpPr>
            <a:spLocks noGrp="1"/>
          </p:cNvSpPr>
          <p:nvPr>
            <p:ph type="sldNum" sz="quarter" idx="12"/>
          </p:nvPr>
        </p:nvSpPr>
        <p:spPr/>
        <p:txBody>
          <a:bodyPr/>
          <a:lstStyle/>
          <a:p>
            <a:fld id="{7AF016A1-9F15-429F-9EFD-84004B73C732}" type="slidenum">
              <a:rPr lang="en-US" altLang="zh-CN" smtClean="0"/>
              <a:pPr/>
              <a:t>125</a:t>
            </a:fld>
            <a:r>
              <a:rPr lang="en-US" altLang="zh-CN"/>
              <a:t>/126</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9"/>
          <p:cNvGrpSpPr/>
          <p:nvPr/>
        </p:nvGrpSpPr>
        <p:grpSpPr>
          <a:xfrm>
            <a:off x="642910" y="4857760"/>
            <a:ext cx="6858048" cy="461665"/>
            <a:chOff x="1071538" y="6286520"/>
            <a:chExt cx="6858048" cy="461665"/>
          </a:xfrm>
        </p:grpSpPr>
        <p:sp>
          <p:nvSpPr>
            <p:cNvPr id="4" name="TextBox 3"/>
            <p:cNvSpPr txBox="1"/>
            <p:nvPr/>
          </p:nvSpPr>
          <p:spPr>
            <a:xfrm>
              <a:off x="1928794" y="6286520"/>
              <a:ext cx="6000792" cy="461665"/>
            </a:xfrm>
            <a:prstGeom prst="rect">
              <a:avLst/>
            </a:prstGeom>
            <a:noFill/>
          </p:spPr>
          <p:txBody>
            <a:bodyPr wrap="square" rtlCol="0">
              <a:spAutoFit/>
            </a:bodyPr>
            <a:lstStyle/>
            <a:p>
              <a:pPr algn="l">
                <a:lnSpc>
                  <a:spcPct val="100000"/>
                </a:lnSpc>
                <a:spcBef>
                  <a:spcPts val="0"/>
                </a:spcBef>
              </a:pPr>
              <a:r>
                <a:rPr lang="zh-CN" altLang="zh-CN">
                  <a:solidFill>
                    <a:srgbClr val="0000FF"/>
                  </a:solidFill>
                  <a:latin typeface="Consolas" pitchFamily="49" charset="0"/>
                  <a:ea typeface="仿宋" pitchFamily="49" charset="-122"/>
                </a:rPr>
                <a:t>执行用时为</a:t>
              </a:r>
              <a:r>
                <a:rPr lang="en-US" altLang="zh-CN">
                  <a:solidFill>
                    <a:srgbClr val="0000FF"/>
                  </a:solidFill>
                  <a:latin typeface="Consolas" pitchFamily="49" charset="0"/>
                  <a:ea typeface="仿宋" pitchFamily="49" charset="-122"/>
                </a:rPr>
                <a:t>305ms</a:t>
              </a:r>
              <a:r>
                <a:rPr lang="zh-CN" altLang="zh-CN">
                  <a:solidFill>
                    <a:srgbClr val="0000FF"/>
                  </a:solidFill>
                  <a:latin typeface="Consolas" pitchFamily="49" charset="0"/>
                  <a:ea typeface="仿宋" pitchFamily="49" charset="-122"/>
                </a:rPr>
                <a:t>，内存消耗为</a:t>
              </a:r>
              <a:r>
                <a:rPr lang="en-US" altLang="zh-CN">
                  <a:solidFill>
                    <a:srgbClr val="0000FF"/>
                  </a:solidFill>
                  <a:latin typeface="Consolas" pitchFamily="49" charset="0"/>
                  <a:ea typeface="仿宋" pitchFamily="49" charset="-122"/>
                </a:rPr>
                <a:t>5.7MB</a:t>
              </a:r>
              <a:r>
                <a:rPr lang="zh-CN" altLang="zh-CN">
                  <a:solidFill>
                    <a:srgbClr val="0000FF"/>
                  </a:solidFill>
                  <a:latin typeface="Consolas" pitchFamily="49" charset="0"/>
                  <a:ea typeface="仿宋" pitchFamily="49" charset="-122"/>
                </a:rPr>
                <a:t>。</a:t>
              </a:r>
              <a:endParaRPr lang="zh-CN" altLang="en-US">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1071538" y="6286520"/>
              <a:ext cx="785818" cy="441018"/>
            </a:xfrm>
            <a:prstGeom prst="rect">
              <a:avLst/>
            </a:prstGeom>
            <a:ln>
              <a:noFill/>
            </a:ln>
            <a:effectLst>
              <a:outerShdw blurRad="76200" dir="13500000" sy="23000" kx="1200000" algn="br" rotWithShape="0">
                <a:prstClr val="black">
                  <a:alpha val="20000"/>
                </a:prstClr>
              </a:outerShdw>
            </a:effectLst>
            <a:scene3d>
              <a:camera prst="orthographicFront"/>
              <a:lightRig rig="threePt" dir="t"/>
            </a:scene3d>
            <a:sp3d>
              <a:bevelT prst="convex"/>
            </a:sp3d>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ts val="3000"/>
                </a:lnSpc>
                <a:spcBef>
                  <a:spcPts val="0"/>
                </a:spcBef>
              </a:pPr>
              <a:r>
                <a:rPr lang="en-US" altLang="zh-CN" sz="2000">
                  <a:solidFill>
                    <a:srgbClr val="FF3300"/>
                  </a:solidFill>
                  <a:latin typeface="Eras Bold ITC" pitchFamily="34" charset="0"/>
                  <a:ea typeface="仿宋" pitchFamily="49" charset="-122"/>
                  <a:cs typeface="Courier New" pitchFamily="49" charset="0"/>
                </a:rPr>
                <a:t>EXE</a:t>
              </a:r>
              <a:endParaRPr lang="zh-CN" altLang="en-US" sz="2000">
                <a:solidFill>
                  <a:srgbClr val="FF3300"/>
                </a:solidFill>
                <a:latin typeface="Forte" pitchFamily="66" charset="0"/>
                <a:ea typeface="仿宋" pitchFamily="49" charset="-122"/>
                <a:cs typeface="Consolas" pitchFamily="49" charset="0"/>
              </a:endParaRPr>
            </a:p>
          </p:txBody>
        </p:sp>
      </p:grpSp>
      <p:sp>
        <p:nvSpPr>
          <p:cNvPr id="6" name="TextBox 5"/>
          <p:cNvSpPr txBox="1"/>
          <p:nvPr/>
        </p:nvSpPr>
        <p:spPr>
          <a:xfrm>
            <a:off x="285720" y="571480"/>
            <a:ext cx="8715436" cy="360789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defTabSz="360000">
              <a:lnSpc>
                <a:spcPts val="3000"/>
              </a:lnSpc>
              <a:spcBef>
                <a:spcPts val="0"/>
              </a:spcBef>
            </a:pPr>
            <a:r>
              <a:rPr lang="en-US" altLang="zh-CN" sz="2000">
                <a:solidFill>
                  <a:srgbClr val="0000FF"/>
                </a:solidFill>
                <a:latin typeface="Consolas" pitchFamily="49" charset="0"/>
                <a:ea typeface="仿宋" pitchFamily="49" charset="-122"/>
              </a:rPr>
              <a:t>  	int </a:t>
            </a:r>
            <a:r>
              <a:rPr lang="en-US" altLang="zh-CN" sz="2000">
                <a:solidFill>
                  <a:srgbClr val="FF0000"/>
                </a:solidFill>
                <a:latin typeface="Consolas" pitchFamily="49" charset="0"/>
                <a:ea typeface="仿宋" pitchFamily="49" charset="-122"/>
              </a:rPr>
              <a:t>geth</a:t>
            </a:r>
            <a:r>
              <a:rPr lang="en-US" altLang="zh-CN" sz="2000">
                <a:solidFill>
                  <a:srgbClr val="0000FF"/>
                </a:solidFill>
                <a:latin typeface="Consolas" pitchFamily="49" charset="0"/>
                <a:ea typeface="仿宋" pitchFamily="49" charset="-122"/>
              </a:rPr>
              <a:t>(string &amp;str) {    	</a:t>
            </a:r>
            <a:r>
              <a:rPr lang="en-US" altLang="zh-CN" sz="2000">
                <a:solidFill>
                  <a:srgbClr val="00B050"/>
                </a:solidFill>
                <a:latin typeface="Consolas" pitchFamily="49" charset="0"/>
                <a:ea typeface="仿宋" pitchFamily="49" charset="-122"/>
              </a:rPr>
              <a:t>//</a:t>
            </a:r>
            <a:r>
              <a:rPr lang="zh-CN" altLang="zh-CN" sz="2000">
                <a:solidFill>
                  <a:srgbClr val="00B050"/>
                </a:solidFill>
                <a:latin typeface="Consolas" pitchFamily="49" charset="0"/>
                <a:ea typeface="仿宋" pitchFamily="49" charset="-122"/>
              </a:rPr>
              <a:t>计算启发式函数值</a:t>
            </a:r>
          </a:p>
          <a:p>
            <a:pPr algn="l" defTabSz="360000">
              <a:lnSpc>
                <a:spcPts val="3000"/>
              </a:lnSpc>
              <a:spcBef>
                <a:spcPts val="0"/>
              </a:spcBef>
            </a:pPr>
            <a:r>
              <a:rPr lang="en-US" altLang="zh-CN" sz="2000">
                <a:solidFill>
                  <a:srgbClr val="0000FF"/>
                </a:solidFill>
                <a:latin typeface="Consolas" pitchFamily="49" charset="0"/>
                <a:ea typeface="仿宋" pitchFamily="49" charset="-122"/>
              </a:rPr>
              <a:t>   	int h=0;</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for(int i=0;i&lt;9;i++)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if(</a:t>
            </a:r>
            <a:r>
              <a:rPr lang="en-US" altLang="zh-CN" sz="2000">
                <a:solidFill>
                  <a:srgbClr val="FF00FF"/>
                </a:solidFill>
                <a:latin typeface="Consolas" pitchFamily="49" charset="0"/>
                <a:ea typeface="仿宋" pitchFamily="49" charset="-122"/>
              </a:rPr>
              <a:t>goal[i]!='0' &amp;&amp; goal[i]!=str[i]</a:t>
            </a: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h++;</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return h;</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	}</a:t>
            </a:r>
            <a:endParaRPr lang="zh-CN" altLang="zh-CN" sz="2000">
              <a:solidFill>
                <a:srgbClr val="0000FF"/>
              </a:solidFill>
              <a:latin typeface="Consolas" pitchFamily="49" charset="0"/>
              <a:ea typeface="仿宋" pitchFamily="49" charset="-122"/>
            </a:endParaRPr>
          </a:p>
          <a:p>
            <a:pPr algn="l" defTabSz="360000">
              <a:lnSpc>
                <a:spcPts val="3000"/>
              </a:lnSpc>
              <a:spcBef>
                <a:spcPts val="0"/>
              </a:spcBef>
            </a:pPr>
            <a:r>
              <a:rPr lang="en-US" altLang="zh-CN" sz="2000">
                <a:solidFill>
                  <a:srgbClr val="0000FF"/>
                </a:solidFill>
                <a:latin typeface="Consolas" pitchFamily="49" charset="0"/>
                <a:ea typeface="仿宋" pitchFamily="49" charset="-122"/>
              </a:rPr>
              <a:t>};</a:t>
            </a:r>
            <a:endParaRPr lang="zh-CN" altLang="zh-CN" sz="2000">
              <a:solidFill>
                <a:srgbClr val="0000FF"/>
              </a:solidFill>
              <a:latin typeface="Consolas" pitchFamily="49" charset="0"/>
              <a:ea typeface="仿宋" pitchFamily="49" charset="-122"/>
            </a:endParaRPr>
          </a:p>
        </p:txBody>
      </p:sp>
      <p:sp>
        <p:nvSpPr>
          <p:cNvPr id="7" name="灯片编号占位符 6"/>
          <p:cNvSpPr>
            <a:spLocks noGrp="1"/>
          </p:cNvSpPr>
          <p:nvPr>
            <p:ph type="sldNum" sz="quarter" idx="12"/>
          </p:nvPr>
        </p:nvSpPr>
        <p:spPr/>
        <p:txBody>
          <a:bodyPr/>
          <a:lstStyle/>
          <a:p>
            <a:fld id="{7AF016A1-9F15-429F-9EFD-84004B73C732}" type="slidenum">
              <a:rPr lang="en-US" altLang="zh-CN" smtClean="0"/>
              <a:pPr/>
              <a:t>126</a:t>
            </a:fld>
            <a:r>
              <a:rPr lang="en-US" altLang="zh-CN"/>
              <a:t>/126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3D01EF0-EFE1-239D-424D-B266C9A99E42}"/>
              </a:ext>
            </a:extLst>
          </p:cNvPr>
          <p:cNvSpPr>
            <a:spLocks noGrp="1"/>
          </p:cNvSpPr>
          <p:nvPr>
            <p:ph type="sldNum" sz="quarter" idx="12"/>
          </p:nvPr>
        </p:nvSpPr>
        <p:spPr/>
        <p:txBody>
          <a:bodyPr/>
          <a:lstStyle/>
          <a:p>
            <a:fld id="{7AF016A1-9F15-429F-9EFD-84004B73C732}" type="slidenum">
              <a:rPr lang="en-US" altLang="zh-CN" smtClean="0"/>
              <a:pPr/>
              <a:t>127</a:t>
            </a:fld>
            <a:r>
              <a:rPr lang="en-US" altLang="zh-CN"/>
              <a:t>/126</a:t>
            </a:r>
          </a:p>
        </p:txBody>
      </p:sp>
      <p:pic>
        <p:nvPicPr>
          <p:cNvPr id="1026" name="Picture 2">
            <a:extLst>
              <a:ext uri="{FF2B5EF4-FFF2-40B4-BE49-F238E27FC236}">
                <a16:creationId xmlns:a16="http://schemas.microsoft.com/office/drawing/2014/main" id="{F266C78D-5F87-D338-C530-D1EE31C58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86000"/>
            <a:ext cx="2286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F9BF96CF-C3A1-44B4-7728-BEB870BDB125}"/>
              </a:ext>
            </a:extLst>
          </p:cNvPr>
          <p:cNvSpPr txBox="1"/>
          <p:nvPr/>
        </p:nvSpPr>
        <p:spPr>
          <a:xfrm>
            <a:off x="4283968" y="4869160"/>
            <a:ext cx="649537" cy="369332"/>
          </a:xfrm>
          <a:prstGeom prst="rect">
            <a:avLst/>
          </a:prstGeom>
          <a:noFill/>
        </p:spPr>
        <p:txBody>
          <a:bodyPr wrap="none" rtlCol="0">
            <a:spAutoFit/>
          </a:bodyPr>
          <a:lstStyle/>
          <a:p>
            <a:pPr algn="l">
              <a:lnSpc>
                <a:spcPct val="100000"/>
              </a:lnSpc>
              <a:spcBef>
                <a:spcPts val="0"/>
              </a:spcBef>
            </a:pPr>
            <a:r>
              <a:rPr lang="zh-CN" altLang="en-US" sz="1800">
                <a:solidFill>
                  <a:srgbClr val="0000FF"/>
                </a:solidFill>
                <a:latin typeface="Consolas" pitchFamily="49" charset="0"/>
                <a:ea typeface="楷体" pitchFamily="49" charset="-122"/>
                <a:cs typeface="Consolas" pitchFamily="49" charset="0"/>
              </a:rPr>
              <a:t>思政</a:t>
            </a:r>
          </a:p>
        </p:txBody>
      </p:sp>
    </p:spTree>
    <p:extLst>
      <p:ext uri="{BB962C8B-B14F-4D97-AF65-F5344CB8AC3E}">
        <p14:creationId xmlns:p14="http://schemas.microsoft.com/office/powerpoint/2010/main" val="88972029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楷体"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4993</TotalTime>
  <Words>15785</Words>
  <Application>Microsoft Office PowerPoint</Application>
  <PresentationFormat>全屏显示(4:3)</PresentationFormat>
  <Paragraphs>1861</Paragraphs>
  <Slides>127</Slides>
  <Notes>88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127</vt:i4>
      </vt:variant>
    </vt:vector>
  </HeadingPairs>
  <TitlesOfParts>
    <vt:vector size="139" baseType="lpstr">
      <vt:lpstr>Estrangelo Edessa</vt:lpstr>
      <vt:lpstr>仿宋</vt:lpstr>
      <vt:lpstr>华文中宋</vt:lpstr>
      <vt:lpstr>楷体</vt:lpstr>
      <vt:lpstr>微软雅黑</vt:lpstr>
      <vt:lpstr>Arial</vt:lpstr>
      <vt:lpstr>Calibri</vt:lpstr>
      <vt:lpstr>Consolas</vt:lpstr>
      <vt:lpstr>Eras Bold ITC</vt:lpstr>
      <vt:lpstr>Forte</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jj wei</cp:lastModifiedBy>
  <cp:revision>1885</cp:revision>
  <dcterms:created xsi:type="dcterms:W3CDTF">2004-03-31T23:50:14Z</dcterms:created>
  <dcterms:modified xsi:type="dcterms:W3CDTF">2024-01-28T08:41:13Z</dcterms:modified>
</cp:coreProperties>
</file>