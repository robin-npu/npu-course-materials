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133"/>
  </p:notesMasterIdLst>
  <p:handoutMasterIdLst>
    <p:handoutMasterId r:id="rId134"/>
  </p:handoutMasterIdLst>
  <p:sldIdLst>
    <p:sldId id="362" r:id="rId2"/>
    <p:sldId id="522" r:id="rId3"/>
    <p:sldId id="365" r:id="rId4"/>
    <p:sldId id="366" r:id="rId5"/>
    <p:sldId id="615" r:id="rId6"/>
    <p:sldId id="372" r:id="rId7"/>
    <p:sldId id="371" r:id="rId8"/>
    <p:sldId id="655" r:id="rId9"/>
    <p:sldId id="660" r:id="rId10"/>
    <p:sldId id="374" r:id="rId11"/>
    <p:sldId id="616" r:id="rId12"/>
    <p:sldId id="404" r:id="rId13"/>
    <p:sldId id="617" r:id="rId14"/>
    <p:sldId id="661" r:id="rId15"/>
    <p:sldId id="618" r:id="rId16"/>
    <p:sldId id="619" r:id="rId17"/>
    <p:sldId id="620" r:id="rId18"/>
    <p:sldId id="621" r:id="rId19"/>
    <p:sldId id="628" r:id="rId20"/>
    <p:sldId id="629" r:id="rId21"/>
    <p:sldId id="622" r:id="rId22"/>
    <p:sldId id="624" r:id="rId23"/>
    <p:sldId id="623" r:id="rId24"/>
    <p:sldId id="625" r:id="rId25"/>
    <p:sldId id="626" r:id="rId26"/>
    <p:sldId id="627" r:id="rId27"/>
    <p:sldId id="632" r:id="rId28"/>
    <p:sldId id="633" r:id="rId29"/>
    <p:sldId id="654" r:id="rId30"/>
    <p:sldId id="634" r:id="rId31"/>
    <p:sldId id="636" r:id="rId32"/>
    <p:sldId id="637" r:id="rId33"/>
    <p:sldId id="662" r:id="rId34"/>
    <p:sldId id="663" r:id="rId35"/>
    <p:sldId id="665" r:id="rId36"/>
    <p:sldId id="670" r:id="rId37"/>
    <p:sldId id="673" r:id="rId38"/>
    <p:sldId id="674" r:id="rId39"/>
    <p:sldId id="669" r:id="rId40"/>
    <p:sldId id="671" r:id="rId41"/>
    <p:sldId id="672" r:id="rId42"/>
    <p:sldId id="675" r:id="rId43"/>
    <p:sldId id="664" r:id="rId44"/>
    <p:sldId id="666" r:id="rId45"/>
    <p:sldId id="667" r:id="rId46"/>
    <p:sldId id="676" r:id="rId47"/>
    <p:sldId id="668" r:id="rId48"/>
    <p:sldId id="677" r:id="rId49"/>
    <p:sldId id="678" r:id="rId50"/>
    <p:sldId id="679" r:id="rId51"/>
    <p:sldId id="680" r:id="rId52"/>
    <p:sldId id="688" r:id="rId53"/>
    <p:sldId id="682" r:id="rId54"/>
    <p:sldId id="681" r:id="rId55"/>
    <p:sldId id="683" r:id="rId56"/>
    <p:sldId id="689" r:id="rId57"/>
    <p:sldId id="684" r:id="rId58"/>
    <p:sldId id="690" r:id="rId59"/>
    <p:sldId id="691" r:id="rId60"/>
    <p:sldId id="692" r:id="rId61"/>
    <p:sldId id="693" r:id="rId62"/>
    <p:sldId id="694" r:id="rId63"/>
    <p:sldId id="695" r:id="rId64"/>
    <p:sldId id="697" r:id="rId65"/>
    <p:sldId id="698" r:id="rId66"/>
    <p:sldId id="699" r:id="rId67"/>
    <p:sldId id="700" r:id="rId68"/>
    <p:sldId id="704" r:id="rId69"/>
    <p:sldId id="703" r:id="rId70"/>
    <p:sldId id="701" r:id="rId71"/>
    <p:sldId id="706" r:id="rId72"/>
    <p:sldId id="705" r:id="rId73"/>
    <p:sldId id="702" r:id="rId74"/>
    <p:sldId id="685" r:id="rId75"/>
    <p:sldId id="696" r:id="rId76"/>
    <p:sldId id="707" r:id="rId77"/>
    <p:sldId id="708" r:id="rId78"/>
    <p:sldId id="709" r:id="rId79"/>
    <p:sldId id="711" r:id="rId80"/>
    <p:sldId id="712" r:id="rId81"/>
    <p:sldId id="713" r:id="rId82"/>
    <p:sldId id="714" r:id="rId83"/>
    <p:sldId id="715" r:id="rId84"/>
    <p:sldId id="718" r:id="rId85"/>
    <p:sldId id="720" r:id="rId86"/>
    <p:sldId id="721" r:id="rId87"/>
    <p:sldId id="725" r:id="rId88"/>
    <p:sldId id="716" r:id="rId89"/>
    <p:sldId id="722" r:id="rId90"/>
    <p:sldId id="723" r:id="rId91"/>
    <p:sldId id="724" r:id="rId92"/>
    <p:sldId id="726" r:id="rId93"/>
    <p:sldId id="727" r:id="rId94"/>
    <p:sldId id="728" r:id="rId95"/>
    <p:sldId id="729" r:id="rId96"/>
    <p:sldId id="730" r:id="rId97"/>
    <p:sldId id="733" r:id="rId98"/>
    <p:sldId id="734" r:id="rId99"/>
    <p:sldId id="737" r:id="rId100"/>
    <p:sldId id="739" r:id="rId101"/>
    <p:sldId id="744" r:id="rId102"/>
    <p:sldId id="745" r:id="rId103"/>
    <p:sldId id="746" r:id="rId104"/>
    <p:sldId id="740" r:id="rId105"/>
    <p:sldId id="741" r:id="rId106"/>
    <p:sldId id="742" r:id="rId107"/>
    <p:sldId id="748" r:id="rId108"/>
    <p:sldId id="749" r:id="rId109"/>
    <p:sldId id="750" r:id="rId110"/>
    <p:sldId id="751" r:id="rId111"/>
    <p:sldId id="752" r:id="rId112"/>
    <p:sldId id="753" r:id="rId113"/>
    <p:sldId id="754" r:id="rId114"/>
    <p:sldId id="757" r:id="rId115"/>
    <p:sldId id="761" r:id="rId116"/>
    <p:sldId id="767" r:id="rId117"/>
    <p:sldId id="762" r:id="rId118"/>
    <p:sldId id="763" r:id="rId119"/>
    <p:sldId id="764" r:id="rId120"/>
    <p:sldId id="765" r:id="rId121"/>
    <p:sldId id="766" r:id="rId122"/>
    <p:sldId id="768" r:id="rId123"/>
    <p:sldId id="771" r:id="rId124"/>
    <p:sldId id="772" r:id="rId125"/>
    <p:sldId id="773" r:id="rId126"/>
    <p:sldId id="775" r:id="rId127"/>
    <p:sldId id="776" r:id="rId128"/>
    <p:sldId id="777" r:id="rId129"/>
    <p:sldId id="778" r:id="rId130"/>
    <p:sldId id="779" r:id="rId131"/>
    <p:sldId id="780" r:id="rId132"/>
  </p:sldIdLst>
  <p:sldSz cx="9144000" cy="6858000" type="screen4x3"/>
  <p:notesSz cx="6858000" cy="9144000"/>
  <p:defaultTextStyle>
    <a:defPPr>
      <a:defRPr lang="zh-CN"/>
    </a:defPPr>
    <a:lvl1pPr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1pPr>
    <a:lvl2pPr marL="4572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2pPr>
    <a:lvl3pPr marL="9144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6600"/>
    <a:srgbClr val="FF3399"/>
    <a:srgbClr val="FFFFFF"/>
    <a:srgbClr val="0000FF"/>
    <a:srgbClr val="FF3300"/>
    <a:srgbClr val="339933"/>
    <a:srgbClr val="000000"/>
    <a:srgbClr val="3333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99" d="100"/>
          <a:sy n="99" d="100"/>
        </p:scale>
        <p:origin x="129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handoutMaster" Target="handoutMasters/handout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48C81-2EE0-4ADC-AD51-9DC87E0EF387}" type="datetimeFigureOut">
              <a:rPr lang="zh-CN" altLang="en-US" smtClean="0"/>
              <a:pPr/>
              <a:t>2024-01-28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0761C-5A44-4BA0-B4C5-00F13EA65E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fld id="{0D1E2EF4-146E-47B5-A412-FFD548A1AB6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0000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fld id="{7AF016A1-9F15-429F-9EFD-84004B73C732}" type="slidenum">
              <a:rPr lang="en-US" altLang="zh-CN" smtClean="0"/>
              <a:pPr/>
              <a:t>‹#›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3DD41-1E0E-46B0-ABE7-D5048A3DF73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642910" y="2285992"/>
            <a:ext cx="1428760" cy="448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en-US" sz="22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教材：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158" y="2821902"/>
            <a:ext cx="8429684" cy="32650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72000" bIns="144000" rtlCol="0">
            <a:spAutoFit/>
          </a:bodyPr>
          <a:lstStyle/>
          <a:p>
            <a:pPr marL="457200" indent="-457200" algn="l">
              <a:lnSpc>
                <a:spcPct val="15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《</a:t>
            </a:r>
            <a:r>
              <a:rPr lang="zh-CN" altLang="en-US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算法设计与分析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》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（第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版），</a:t>
            </a:r>
            <a:r>
              <a:rPr lang="zh-CN" altLang="en-US" sz="2200" b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李春葆等 清华大学出版社 </a:t>
            </a:r>
            <a:r>
              <a:rPr lang="en-US" altLang="zh-CN" sz="2200" b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2024</a:t>
            </a: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《</a:t>
            </a:r>
            <a:r>
              <a:rPr lang="zh-CN" altLang="en-US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算法设计与分析（第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</a:t>
            </a:r>
            <a:r>
              <a:rPr lang="zh-CN" altLang="en-US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版）学习指导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》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zh-CN" altLang="en-US" sz="2200" b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李春葆等 清华大学出版社 </a:t>
            </a:r>
            <a:r>
              <a:rPr lang="en-US" altLang="zh-CN" sz="2200" b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2024</a:t>
            </a: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《</a:t>
            </a:r>
            <a:r>
              <a:rPr lang="zh-CN" altLang="en-US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算法设计与分析（第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</a:t>
            </a:r>
            <a:r>
              <a:rPr lang="zh-CN" altLang="en-US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版）在线编程实验指导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》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zh-CN" altLang="en-US" sz="2200" b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李春葆等 清华大学出版社 </a:t>
            </a:r>
            <a:r>
              <a:rPr lang="en-US" altLang="zh-CN" sz="2200" b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2024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71802" y="142852"/>
            <a:ext cx="2120903" cy="23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143108" y="500042"/>
            <a:ext cx="4500594" cy="879829"/>
          </a:xfrm>
          <a:prstGeom prst="rect">
            <a:avLst/>
          </a:prstGeom>
          <a:ln>
            <a:noFill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216000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章</a:t>
            </a:r>
            <a:r>
              <a:rPr lang="en-US" altLang="zh-CN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绪论</a:t>
            </a:r>
          </a:p>
        </p:txBody>
      </p:sp>
      <p:sp>
        <p:nvSpPr>
          <p:cNvPr id="5" name="TextBox 4">
            <a:hlinkClick r:id="rId3" action="ppaction://hlinksldjump"/>
          </p:cNvPr>
          <p:cNvSpPr txBox="1"/>
          <p:nvPr/>
        </p:nvSpPr>
        <p:spPr>
          <a:xfrm>
            <a:off x="3175338" y="2438751"/>
            <a:ext cx="504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1.1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算法概述</a:t>
            </a:r>
          </a:p>
        </p:txBody>
      </p:sp>
      <p:sp>
        <p:nvSpPr>
          <p:cNvPr id="9" name="TextBox 8">
            <a:hlinkClick r:id="rId4" action="ppaction://hlinksldjump"/>
          </p:cNvPr>
          <p:cNvSpPr txBox="1"/>
          <p:nvPr/>
        </p:nvSpPr>
        <p:spPr>
          <a:xfrm>
            <a:off x="3175338" y="3477284"/>
            <a:ext cx="504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1.2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算法分析</a:t>
            </a:r>
          </a:p>
        </p:txBody>
      </p:sp>
      <p:grpSp>
        <p:nvGrpSpPr>
          <p:cNvPr id="16" name="组合 79"/>
          <p:cNvGrpSpPr>
            <a:grpSpLocks/>
          </p:cNvGrpSpPr>
          <p:nvPr/>
        </p:nvGrpSpPr>
        <p:grpSpPr bwMode="auto">
          <a:xfrm>
            <a:off x="571472" y="2679762"/>
            <a:ext cx="2160000" cy="2177998"/>
            <a:chOff x="6379728" y="2488774"/>
            <a:chExt cx="2513016" cy="2533955"/>
          </a:xfrm>
        </p:grpSpPr>
        <p:sp>
          <p:nvSpPr>
            <p:cNvPr id="17" name="任意多边形 82"/>
            <p:cNvSpPr/>
            <p:nvPr/>
          </p:nvSpPr>
          <p:spPr>
            <a:xfrm rot="3738964">
              <a:off x="6379728" y="2488774"/>
              <a:ext cx="2513016" cy="2513016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kern="0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18" name="任意多边形 83"/>
            <p:cNvSpPr/>
            <p:nvPr/>
          </p:nvSpPr>
          <p:spPr>
            <a:xfrm rot="16377237">
              <a:off x="6409519" y="2545928"/>
              <a:ext cx="2476803" cy="2476799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kern="0">
                <a:solidFill>
                  <a:srgbClr val="FFFFFF"/>
                </a:solidFill>
              </a:endParaRPr>
            </a:p>
          </p:txBody>
        </p:sp>
      </p:grpSp>
      <p:sp>
        <p:nvSpPr>
          <p:cNvPr id="19" name="文本框 20"/>
          <p:cNvSpPr txBox="1">
            <a:spLocks noChangeArrowheads="1"/>
          </p:cNvSpPr>
          <p:nvPr/>
        </p:nvSpPr>
        <p:spPr bwMode="auto">
          <a:xfrm>
            <a:off x="822994" y="3789539"/>
            <a:ext cx="16787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altLang="zh-CN" sz="2000" b="1" dirty="0">
                <a:solidFill>
                  <a:srgbClr val="9900FF"/>
                </a:solidFill>
              </a:rPr>
              <a:t>CONTENTS</a:t>
            </a:r>
            <a:endParaRPr lang="zh-CN" altLang="en-US" sz="2000" b="1" dirty="0">
              <a:solidFill>
                <a:srgbClr val="9900FF"/>
              </a:solidFill>
            </a:endParaRPr>
          </a:p>
        </p:txBody>
      </p:sp>
      <p:sp>
        <p:nvSpPr>
          <p:cNvPr id="20" name="文本框 20"/>
          <p:cNvSpPr txBox="1">
            <a:spLocks noChangeArrowheads="1"/>
          </p:cNvSpPr>
          <p:nvPr/>
        </p:nvSpPr>
        <p:spPr bwMode="auto">
          <a:xfrm>
            <a:off x="967010" y="3109529"/>
            <a:ext cx="14122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zh-CN" altLang="en-US" sz="3200" b="1" dirty="0">
                <a:solidFill>
                  <a:srgbClr val="008000"/>
                </a:solidFill>
              </a:rPr>
              <a:t>提纲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3175338" y="4572008"/>
            <a:ext cx="504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1.3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算法设计工具</a:t>
            </a: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—STL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8662" y="2714620"/>
            <a:ext cx="7500990" cy="143885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算法</a:t>
            </a:r>
            <a:r>
              <a:rPr lang="zh-CN" altLang="zh-CN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algorithm</a:t>
            </a:r>
            <a:r>
              <a:rPr lang="zh-CN" altLang="zh-CN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）是求解问题的一系列计算步骤，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是一个由若干运算或指令组成的有限序列，</a:t>
            </a:r>
            <a:r>
              <a:rPr lang="zh-CN" altLang="zh-CN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用来将输入数据转换成输出结果</a:t>
            </a:r>
            <a:r>
              <a:rPr lang="zh-CN" altLang="en-US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9" name="棱台 8"/>
          <p:cNvSpPr/>
          <p:nvPr/>
        </p:nvSpPr>
        <p:spPr>
          <a:xfrm>
            <a:off x="3500430" y="4500570"/>
            <a:ext cx="1785950" cy="1071570"/>
          </a:xfrm>
          <a:prstGeom prst="bevel">
            <a:avLst/>
          </a:prstGeom>
          <a:ln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</a:p>
        </p:txBody>
      </p:sp>
      <p:sp>
        <p:nvSpPr>
          <p:cNvPr id="10" name="右箭头 9"/>
          <p:cNvSpPr/>
          <p:nvPr/>
        </p:nvSpPr>
        <p:spPr>
          <a:xfrm>
            <a:off x="2786050" y="4857760"/>
            <a:ext cx="500066" cy="285752"/>
          </a:xfrm>
          <a:prstGeom prst="right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000232" y="4814897"/>
            <a:ext cx="10001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200">
                <a:solidFill>
                  <a:srgbClr val="0000FF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2198" y="4814897"/>
            <a:ext cx="10001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200">
                <a:solidFill>
                  <a:srgbClr val="0000FF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输出</a:t>
            </a:r>
          </a:p>
        </p:txBody>
      </p:sp>
      <p:sp>
        <p:nvSpPr>
          <p:cNvPr id="13" name="右箭头 12"/>
          <p:cNvSpPr/>
          <p:nvPr/>
        </p:nvSpPr>
        <p:spPr>
          <a:xfrm>
            <a:off x="5500694" y="4857760"/>
            <a:ext cx="500066" cy="285752"/>
          </a:xfrm>
          <a:prstGeom prst="right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28596" y="1714488"/>
            <a:ext cx="378621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1.1.1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什么是算法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5" name="TextBox 14">
            <a:hlinkClick r:id="rId4" action="ppaction://hlinksldjump"/>
          </p:cNvPr>
          <p:cNvSpPr txBox="1"/>
          <p:nvPr/>
        </p:nvSpPr>
        <p:spPr>
          <a:xfrm>
            <a:off x="2714612" y="500042"/>
            <a:ext cx="3429024" cy="58477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1.1  </a:t>
            </a:r>
            <a:r>
              <a:rPr lang="zh-CN" altLang="zh-CN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  <a:r>
              <a:rPr lang="zh-CN" altLang="en-US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概述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72" y="928670"/>
            <a:ext cx="2643206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zh-CN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算法</a:t>
            </a:r>
            <a:r>
              <a:rPr lang="zh-CN" altLang="en-US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en-US" altLang="zh-CN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en-US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大</a:t>
            </a:r>
            <a:r>
              <a:rPr lang="zh-CN" altLang="zh-CN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特性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58" y="1785926"/>
            <a:ext cx="8429684" cy="311209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80000" bIns="108000" rtlCol="0">
            <a:spAutoFit/>
          </a:bodyPr>
          <a:lstStyle/>
          <a:p>
            <a:pPr marL="457200" indent="-457200" algn="l">
              <a:lnSpc>
                <a:spcPts val="44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有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穷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性</a:t>
            </a: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：在有限步之后结束。</a:t>
            </a:r>
          </a:p>
          <a:p>
            <a:pPr marL="457200" indent="-457200" algn="l">
              <a:lnSpc>
                <a:spcPts val="44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确定性</a:t>
            </a: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：每一条指令必须有确切的含义，不会产生二义性。</a:t>
            </a:r>
          </a:p>
          <a:p>
            <a:pPr marL="457200" indent="-457200" algn="l">
              <a:lnSpc>
                <a:spcPts val="44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可行性</a:t>
            </a: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：人们仅用笔和纸做有限次运算就能完成。</a:t>
            </a:r>
          </a:p>
          <a:p>
            <a:pPr marL="457200" indent="-457200" algn="l">
              <a:lnSpc>
                <a:spcPts val="44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</a:t>
            </a: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：有零个或多个输入。</a:t>
            </a:r>
            <a:endParaRPr lang="en-US" altLang="zh-CN">
              <a:solidFill>
                <a:srgbClr val="0000FF"/>
              </a:solidFill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44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输出</a:t>
            </a: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：有一个或多个输出。</a:t>
            </a:r>
            <a:endParaRPr lang="zh-CN" altLang="en-US">
              <a:solidFill>
                <a:srgbClr val="0000FF"/>
              </a:solidFill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9"/>
          <p:cNvSpPr>
            <a:spLocks noChangeAspect="1" noChangeArrowheads="1" noTextEdit="1"/>
          </p:cNvSpPr>
          <p:nvPr/>
        </p:nvSpPr>
        <p:spPr bwMode="auto">
          <a:xfrm>
            <a:off x="1080492" y="1785926"/>
            <a:ext cx="6277590" cy="150019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5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223115" y="2616637"/>
            <a:ext cx="3876169" cy="65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wrap="square" lIns="7200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lnSpc>
                <a:spcPts val="4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算法（有穷性、确定性、可行性）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000100" y="2805108"/>
            <a:ext cx="653038" cy="3866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输入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713308" y="2848908"/>
            <a:ext cx="490672" cy="214509"/>
          </a:xfrm>
          <a:prstGeom prst="rightArrow">
            <a:avLst>
              <a:gd name="adj1" fmla="val 50000"/>
              <a:gd name="adj2" fmla="val 57166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500"/>
              </a:lnSpc>
            </a:pP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6737567" y="2808973"/>
            <a:ext cx="834829" cy="3866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输出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6141654" y="2848908"/>
            <a:ext cx="492038" cy="214509"/>
          </a:xfrm>
          <a:prstGeom prst="rightArrow">
            <a:avLst>
              <a:gd name="adj1" fmla="val 50000"/>
              <a:gd name="adj2" fmla="val 57325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500"/>
              </a:lnSpc>
            </a:pP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2" name="Line 2"/>
          <p:cNvSpPr>
            <a:spLocks noChangeShapeType="1"/>
          </p:cNvSpPr>
          <p:nvPr/>
        </p:nvSpPr>
        <p:spPr bwMode="auto">
          <a:xfrm flipH="1">
            <a:off x="4146165" y="1785926"/>
            <a:ext cx="0" cy="812949"/>
          </a:xfrm>
          <a:prstGeom prst="line">
            <a:avLst/>
          </a:prstGeom>
          <a:ln>
            <a:headEnd/>
            <a:tailEnd type="arrow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500"/>
              </a:lnSpc>
            </a:pP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5" name="横卷形 14"/>
          <p:cNvSpPr/>
          <p:nvPr/>
        </p:nvSpPr>
        <p:spPr>
          <a:xfrm>
            <a:off x="3000364" y="785794"/>
            <a:ext cx="2214578" cy="1000132"/>
          </a:xfrm>
          <a:prstGeom prst="horizontalScroll">
            <a:avLst/>
          </a:prstGeom>
          <a:ln>
            <a:tailEnd type="non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kumimoji="0"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问题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214282" y="785794"/>
            <a:ext cx="8643998" cy="364865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180000" bIns="108000" rtlCol="0">
            <a:spAutoFit/>
          </a:bodyPr>
          <a:lstStyle/>
          <a:p>
            <a:pPr algn="l" defTabSz="360000">
              <a:spcBef>
                <a:spcPts val="600"/>
              </a:spcBef>
              <a:spcAft>
                <a:spcPts val="1200"/>
              </a:spcAft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Times New Roman" pitchFamily="18" charset="0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Times New Roman" pitchFamily="18" charset="0"/>
              </a:rPr>
              <a:t>1.1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Times New Roman" pitchFamily="18" charset="0"/>
              </a:rPr>
              <a:t>】</a:t>
            </a:r>
            <a:r>
              <a:rPr lang="zh-CN" altLang="zh-CN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有下列两段描述：</a:t>
            </a:r>
          </a:p>
          <a:p>
            <a:pPr algn="l" defTabSz="360000">
              <a:spcBef>
                <a:spcPts val="600"/>
              </a:spcBef>
              <a:spcAft>
                <a:spcPts val="1200"/>
              </a:spcAft>
            </a:pPr>
            <a:r>
              <a:rPr lang="en-US" altLang="zh-CN" sz="2200">
                <a:solidFill>
                  <a:srgbClr val="006600"/>
                </a:solidFill>
                <a:ea typeface="楷体" pitchFamily="49" charset="-122"/>
                <a:cs typeface="Times New Roman" pitchFamily="18" charset="0"/>
              </a:rPr>
              <a:t>   </a:t>
            </a:r>
            <a:r>
              <a:rPr lang="zh-CN" altLang="zh-CN" sz="2200">
                <a:solidFill>
                  <a:srgbClr val="006600"/>
                </a:solidFill>
                <a:ea typeface="楷体" pitchFamily="49" charset="-122"/>
                <a:cs typeface="Times New Roman" pitchFamily="18" charset="0"/>
              </a:rPr>
              <a:t>描述</a:t>
            </a:r>
            <a:r>
              <a:rPr lang="en-US" altLang="zh-CN" sz="2200">
                <a:solidFill>
                  <a:srgbClr val="006600"/>
                </a:solidFill>
                <a:ea typeface="楷体" pitchFamily="49" charset="-122"/>
                <a:cs typeface="Times New Roman" pitchFamily="18" charset="0"/>
              </a:rPr>
              <a:t>1</a:t>
            </a:r>
            <a:r>
              <a:rPr lang="zh-CN" altLang="zh-CN" sz="2200">
                <a:solidFill>
                  <a:srgbClr val="006600"/>
                </a:solidFill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sz="2200">
                <a:solidFill>
                  <a:srgbClr val="006600"/>
                </a:solidFill>
                <a:ea typeface="楷体" pitchFamily="49" charset="-122"/>
                <a:cs typeface="Times New Roman" pitchFamily="18" charset="0"/>
              </a:rPr>
              <a:t>			          				</a:t>
            </a:r>
            <a:r>
              <a:rPr lang="zh-CN" altLang="zh-CN" sz="2200">
                <a:solidFill>
                  <a:srgbClr val="006600"/>
                </a:solidFill>
                <a:ea typeface="楷体" pitchFamily="49" charset="-122"/>
                <a:cs typeface="Times New Roman" pitchFamily="18" charset="0"/>
              </a:rPr>
              <a:t>描述</a:t>
            </a:r>
            <a:r>
              <a:rPr lang="en-US" altLang="zh-CN" sz="2200">
                <a:solidFill>
                  <a:srgbClr val="006600"/>
                </a:solidFill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zh-CN" sz="2200">
                <a:solidFill>
                  <a:srgbClr val="006600"/>
                </a:solidFill>
                <a:ea typeface="楷体" pitchFamily="49" charset="-122"/>
                <a:cs typeface="Times New Roman" pitchFamily="18" charset="0"/>
              </a:rPr>
              <a:t>：</a:t>
            </a:r>
          </a:p>
          <a:p>
            <a:pPr algn="l" defTabSz="360000"/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exam1() {							void exam2() {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n=2;									int x,y;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while (n%2==0)							y=0;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n+=2;										x=5/y;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printf("%d\n",n);						printf("%d,%d\n",x,y);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	</a:t>
            </a:r>
            <a:r>
              <a:rPr lang="en-US" altLang="zh-CN" sz="1800"/>
              <a:t>											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28662" y="4559866"/>
            <a:ext cx="5786478" cy="1012274"/>
            <a:chOff x="928662" y="4559866"/>
            <a:chExt cx="5786478" cy="1012274"/>
          </a:xfrm>
        </p:grpSpPr>
        <p:sp>
          <p:nvSpPr>
            <p:cNvPr id="22" name="TextBox 21"/>
            <p:cNvSpPr txBox="1"/>
            <p:nvPr/>
          </p:nvSpPr>
          <p:spPr>
            <a:xfrm>
              <a:off x="928662" y="5110475"/>
              <a:ext cx="20252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违反有穷性</a:t>
              </a:r>
              <a:endParaRPr lang="zh-CN" altLang="en-US">
                <a:solidFill>
                  <a:srgbClr val="0000FF"/>
                </a:solidFill>
                <a:latin typeface="仿宋" pitchFamily="49" charset="-122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86314" y="5110475"/>
              <a:ext cx="19288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违反可行性</a:t>
              </a:r>
              <a:endParaRPr lang="zh-CN" altLang="en-US">
                <a:solidFill>
                  <a:srgbClr val="0000FF"/>
                </a:solidFill>
                <a:latin typeface="仿宋" pitchFamily="49" charset="-122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6" name="上箭头 25"/>
            <p:cNvSpPr/>
            <p:nvPr/>
          </p:nvSpPr>
          <p:spPr>
            <a:xfrm>
              <a:off x="1643042" y="4559866"/>
              <a:ext cx="214314" cy="428628"/>
            </a:xfrm>
            <a:prstGeom prst="up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上箭头 26"/>
            <p:cNvSpPr/>
            <p:nvPr/>
          </p:nvSpPr>
          <p:spPr>
            <a:xfrm>
              <a:off x="5500694" y="4559866"/>
              <a:ext cx="214314" cy="428628"/>
            </a:xfrm>
            <a:prstGeom prst="up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28596" y="500042"/>
            <a:ext cx="328614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1.1.2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算法描述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0034" y="1643050"/>
            <a:ext cx="8072494" cy="214417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rtlCol="0">
            <a:spAutoFit/>
          </a:bodyPr>
          <a:lstStyle/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一个算法采用一个或者多个函数描述。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将算法的输入和输出用函数的参数表示。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输出参数设计为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引用型参数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，引用型参数名前需加上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&amp;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，表示这样的形参在执行后会将结果回传给对应的实参。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00034" y="285728"/>
            <a:ext cx="7929618" cy="4839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216000" tIns="72000" bIns="72000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latin typeface="Consolas" pitchFamily="49" charset="0"/>
                <a:ea typeface="楷体" pitchFamily="49" charset="-122"/>
                <a:cs typeface="Consolas" pitchFamily="49" charset="0"/>
              </a:rPr>
              <a:t>Sum</a:t>
            </a:r>
            <a:r>
              <a:rPr lang="zh-CN" altLang="zh-CN" sz="2200">
                <a:latin typeface="Consolas" pitchFamily="49" charset="0"/>
                <a:ea typeface="楷体" pitchFamily="49" charset="-122"/>
                <a:cs typeface="Consolas" pitchFamily="49" charset="0"/>
              </a:rPr>
              <a:t>问题</a:t>
            </a:r>
            <a:r>
              <a:rPr lang="zh-CN" altLang="en-US" sz="2200">
                <a:latin typeface="Consolas" pitchFamily="49" charset="0"/>
                <a:ea typeface="楷体" pitchFamily="49" charset="-122"/>
                <a:cs typeface="Consolas" pitchFamily="49" charset="0"/>
              </a:rPr>
              <a:t>：</a:t>
            </a:r>
            <a:r>
              <a:rPr lang="zh-CN" altLang="zh-CN" sz="2200">
                <a:latin typeface="Consolas" pitchFamily="49" charset="0"/>
                <a:ea typeface="楷体" pitchFamily="49" charset="-122"/>
                <a:cs typeface="Consolas" pitchFamily="49" charset="0"/>
              </a:rPr>
              <a:t>求</a:t>
            </a:r>
            <a:r>
              <a:rPr lang="en-US" altLang="zh-CN" sz="2200">
                <a:latin typeface="Consolas" pitchFamily="49" charset="0"/>
                <a:ea typeface="楷体" pitchFamily="49" charset="-122"/>
                <a:cs typeface="Consolas" pitchFamily="49" charset="0"/>
              </a:rPr>
              <a:t>s=1+2+</a:t>
            </a:r>
            <a:r>
              <a:rPr lang="en-US" altLang="zh-CN" sz="2200">
                <a:latin typeface="+mj-ea"/>
                <a:ea typeface="+mj-ea"/>
                <a:cs typeface="Consolas" pitchFamily="49" charset="0"/>
              </a:rPr>
              <a:t>…</a:t>
            </a:r>
            <a:r>
              <a:rPr lang="en-US" altLang="zh-CN" sz="2200">
                <a:latin typeface="Consolas" pitchFamily="49" charset="0"/>
                <a:ea typeface="楷体" pitchFamily="49" charset="-122"/>
                <a:cs typeface="Consolas" pitchFamily="49" charset="0"/>
              </a:rPr>
              <a:t>+</a:t>
            </a:r>
            <a:r>
              <a:rPr lang="en-US" altLang="zh-CN" sz="2200" i="1"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zh-CN" altLang="zh-CN" sz="2200">
                <a:latin typeface="Consolas" pitchFamily="49" charset="0"/>
                <a:ea typeface="楷体" pitchFamily="49" charset="-122"/>
                <a:cs typeface="Consolas" pitchFamily="49" charset="0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2500298" y="928670"/>
            <a:ext cx="285752" cy="428628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000100" y="2143116"/>
            <a:ext cx="7715304" cy="286498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bool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Sum1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(int n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int s)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{	if (n&lt;=0) return false;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参数错误时返回假</a:t>
            </a: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  	s=0;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  	for (int i=1;i&lt;=n;i++)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   	s+=i;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  	return true;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参数正确并计算出正确结果时返回真</a:t>
            </a: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7158" y="1428736"/>
            <a:ext cx="5643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>
                <a:solidFill>
                  <a:srgbClr val="006600"/>
                </a:solidFill>
                <a:latin typeface="仿宋" pitchFamily="49" charset="-122"/>
                <a:ea typeface="仿宋" pitchFamily="49" charset="-122"/>
              </a:rPr>
              <a:t>算法的返回值：正确执行时返回真，否则返回假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7950" y="1428736"/>
            <a:ext cx="135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>
                <a:solidFill>
                  <a:srgbClr val="006600"/>
                </a:solidFill>
                <a:latin typeface="仿宋" pitchFamily="49" charset="-122"/>
                <a:ea typeface="仿宋" pitchFamily="49" charset="-122"/>
              </a:rPr>
              <a:t>算法形参</a:t>
            </a:r>
          </a:p>
        </p:txBody>
      </p:sp>
      <p:cxnSp>
        <p:nvCxnSpPr>
          <p:cNvPr id="16" name="直接箭头连接符 15"/>
          <p:cNvCxnSpPr/>
          <p:nvPr/>
        </p:nvCxnSpPr>
        <p:spPr>
          <a:xfrm rot="5400000" flipH="1" flipV="1">
            <a:off x="1249339" y="2035165"/>
            <a:ext cx="357190" cy="1588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3929058" y="1785926"/>
            <a:ext cx="2500330" cy="500066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428596" y="5357826"/>
            <a:ext cx="8715404" cy="920045"/>
            <a:chOff x="428596" y="5357826"/>
            <a:chExt cx="8715404" cy="920045"/>
          </a:xfrm>
        </p:grpSpPr>
        <p:sp>
          <p:nvSpPr>
            <p:cNvPr id="18" name="TextBox 17"/>
            <p:cNvSpPr txBox="1"/>
            <p:nvPr/>
          </p:nvSpPr>
          <p:spPr>
            <a:xfrm>
              <a:off x="1357258" y="5572140"/>
              <a:ext cx="778674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2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int a=10</a:t>
              </a:r>
              <a:r>
                <a:rPr lang="zh-CN" altLang="zh-CN" sz="22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</a:t>
              </a:r>
              <a:r>
                <a:rPr lang="en-US" altLang="zh-CN" sz="22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b=0</a:t>
              </a:r>
              <a:r>
                <a:rPr lang="zh-CN" altLang="en-US" sz="22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；</a:t>
              </a:r>
              <a:r>
                <a:rPr lang="zh-CN" altLang="zh-CN" sz="22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调用</a:t>
              </a:r>
              <a:r>
                <a:rPr lang="en-US" altLang="zh-CN" sz="22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Sum1(a,b)</a:t>
              </a:r>
              <a:r>
                <a:rPr lang="zh-CN" altLang="zh-CN" sz="22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，执行后发现实参</a:t>
              </a:r>
              <a:r>
                <a:rPr lang="en-US" altLang="zh-CN" sz="22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b=0</a:t>
              </a:r>
              <a:r>
                <a:rPr lang="zh-CN" altLang="en-US" sz="22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！</a:t>
              </a:r>
              <a:endParaRPr lang="zh-CN" altLang="en-US" sz="22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28596" y="5357826"/>
              <a:ext cx="914401" cy="920045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00100" y="2257460"/>
            <a:ext cx="7643866" cy="28694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bool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Sum2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(int n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&amp;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s)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{ 	if (n&lt;=0) return false;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参数错误时返回假</a:t>
            </a: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  	s=0;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  	for (int i=1;i&lt;=n;i++)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   	s+=i;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  	return true;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参数正确并计算出正确结果时返回真</a:t>
            </a: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158" y="1543080"/>
            <a:ext cx="5643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>
                <a:solidFill>
                  <a:srgbClr val="006600"/>
                </a:solidFill>
                <a:latin typeface="仿宋" pitchFamily="49" charset="-122"/>
                <a:ea typeface="仿宋" pitchFamily="49" charset="-122"/>
              </a:rPr>
              <a:t>算法的返回值：正确执行时返回真，否则返回假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0826" y="1543080"/>
            <a:ext cx="135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>
                <a:solidFill>
                  <a:srgbClr val="006600"/>
                </a:solidFill>
                <a:latin typeface="仿宋" pitchFamily="49" charset="-122"/>
                <a:ea typeface="仿宋" pitchFamily="49" charset="-122"/>
              </a:rPr>
              <a:t>引用参数</a:t>
            </a:r>
            <a:endParaRPr lang="zh-CN" altLang="zh-CN" sz="2000">
              <a:solidFill>
                <a:srgbClr val="006600"/>
              </a:solidFill>
              <a:latin typeface="仿宋" pitchFamily="49" charset="-122"/>
              <a:ea typeface="仿宋" pitchFamily="49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rot="5400000" flipH="1" flipV="1">
            <a:off x="1249339" y="2149509"/>
            <a:ext cx="357190" cy="1588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4214810" y="1857364"/>
            <a:ext cx="2500330" cy="500066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2910" y="500042"/>
            <a:ext cx="214314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正确的算法</a:t>
            </a:r>
            <a:endParaRPr lang="zh-CN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28728" y="2753021"/>
            <a:ext cx="6215106" cy="246487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Sum3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(int n) {</a:t>
            </a: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	int s=0;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  	for (int i=1;i&lt;=n;i++)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   	s+=i;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  	return s;</a:t>
            </a: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472" y="1181385"/>
            <a:ext cx="7929618" cy="83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只有一个输出并且通过约束输入总能够得到正确结果时，可以直接用函数返回值表示输出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下箭头 8"/>
          <p:cNvSpPr/>
          <p:nvPr/>
        </p:nvSpPr>
        <p:spPr>
          <a:xfrm>
            <a:off x="4071934" y="2110079"/>
            <a:ext cx="214314" cy="428628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214678" y="5467665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C00000"/>
                </a:solidFill>
                <a:latin typeface="楷体" pitchFamily="49" charset="-122"/>
                <a:ea typeface="楷体" pitchFamily="49" charset="-122"/>
              </a:rPr>
              <a:t>简化的算法形式</a:t>
            </a:r>
            <a:endParaRPr lang="zh-CN" altLang="en-US">
              <a:solidFill>
                <a:srgbClr val="C00000"/>
              </a:solidFill>
              <a:latin typeface="楷体" pitchFamily="49" charset="-122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</a:t>
            </a:fld>
            <a:r>
              <a:rPr lang="en-US" altLang="zh-CN"/>
              <a:t>/129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10" y="500042"/>
            <a:ext cx="214314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简化的算法</a:t>
            </a:r>
            <a:endParaRPr lang="zh-CN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642918"/>
            <a:ext cx="485778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1.1.3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算法设计的基本步骤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2084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0844" name="Text Box 12"/>
          <p:cNvSpPr txBox="1">
            <a:spLocks noChangeArrowheads="1"/>
          </p:cNvSpPr>
          <p:nvPr/>
        </p:nvSpPr>
        <p:spPr bwMode="auto">
          <a:xfrm>
            <a:off x="2655101" y="1587205"/>
            <a:ext cx="2714644" cy="42247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0" tIns="108000" rIns="0" bIns="108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分析求解问题</a:t>
            </a:r>
            <a:endParaRPr kumimoji="0" lang="zh-CN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楷体" pitchFamily="49" charset="-122"/>
              <a:ea typeface="楷体" pitchFamily="49" charset="-122"/>
              <a:cs typeface="宋体" pitchFamily="2" charset="-122"/>
            </a:endParaRPr>
          </a:p>
        </p:txBody>
      </p:sp>
      <p:sp>
        <p:nvSpPr>
          <p:cNvPr id="120843" name="Text Box 11"/>
          <p:cNvSpPr txBox="1">
            <a:spLocks noChangeArrowheads="1"/>
          </p:cNvSpPr>
          <p:nvPr/>
        </p:nvSpPr>
        <p:spPr bwMode="auto">
          <a:xfrm>
            <a:off x="2643174" y="3059663"/>
            <a:ext cx="2714644" cy="70454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0" tIns="108000" rIns="0" bIns="108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选择数据结构和</a:t>
            </a:r>
            <a:endParaRPr kumimoji="0" lang="zh-CN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楷体" pitchFamily="49" charset="-122"/>
              <a:ea typeface="楷体" pitchFamily="49" charset="-122"/>
              <a:cs typeface="宋体" pitchFamily="2" charset="-122"/>
            </a:endParaRPr>
          </a:p>
          <a:p>
            <a:pPr marL="0" marR="0" lvl="0" algn="ctr" defTabSz="914400" rtl="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算法设计策略</a:t>
            </a:r>
            <a:endParaRPr kumimoji="0" lang="zh-CN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楷体" pitchFamily="49" charset="-122"/>
              <a:ea typeface="楷体" pitchFamily="49" charset="-122"/>
              <a:cs typeface="宋体" pitchFamily="2" charset="-122"/>
            </a:endParaRPr>
          </a:p>
        </p:txBody>
      </p:sp>
      <p:sp>
        <p:nvSpPr>
          <p:cNvPr id="120842" name="Text Box 10"/>
          <p:cNvSpPr txBox="1">
            <a:spLocks noChangeArrowheads="1"/>
          </p:cNvSpPr>
          <p:nvPr/>
        </p:nvSpPr>
        <p:spPr bwMode="auto">
          <a:xfrm>
            <a:off x="2643174" y="4037573"/>
            <a:ext cx="2714644" cy="42247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0" tIns="108000" rIns="0" bIns="108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描述算法</a:t>
            </a:r>
            <a:endParaRPr kumimoji="0" lang="zh-CN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楷体" pitchFamily="49" charset="-122"/>
              <a:ea typeface="楷体" pitchFamily="49" charset="-122"/>
              <a:cs typeface="宋体" pitchFamily="2" charset="-122"/>
            </a:endParaRPr>
          </a:p>
        </p:txBody>
      </p:sp>
      <p:sp>
        <p:nvSpPr>
          <p:cNvPr id="120841" name="Text Box 9"/>
          <p:cNvSpPr txBox="1">
            <a:spLocks noChangeArrowheads="1"/>
          </p:cNvSpPr>
          <p:nvPr/>
        </p:nvSpPr>
        <p:spPr bwMode="auto">
          <a:xfrm>
            <a:off x="2643174" y="4728448"/>
            <a:ext cx="2714644" cy="42247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0" tIns="108000" rIns="0" bIns="108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证明算法正确性</a:t>
            </a:r>
            <a:endParaRPr kumimoji="0" lang="zh-CN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楷体" pitchFamily="49" charset="-122"/>
              <a:ea typeface="楷体" pitchFamily="49" charset="-122"/>
              <a:cs typeface="宋体" pitchFamily="2" charset="-122"/>
            </a:endParaRPr>
          </a:p>
        </p:txBody>
      </p:sp>
      <p:sp>
        <p:nvSpPr>
          <p:cNvPr id="120840" name="Text Box 8"/>
          <p:cNvSpPr txBox="1">
            <a:spLocks noChangeArrowheads="1"/>
          </p:cNvSpPr>
          <p:nvPr/>
        </p:nvSpPr>
        <p:spPr bwMode="auto">
          <a:xfrm>
            <a:off x="2643174" y="5429264"/>
            <a:ext cx="2714644" cy="42123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0" tIns="108000" rIns="0" bIns="108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算法分析</a:t>
            </a:r>
            <a:endParaRPr kumimoji="0" lang="zh-CN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楷体" pitchFamily="49" charset="-122"/>
              <a:ea typeface="楷体" pitchFamily="49" charset="-122"/>
              <a:cs typeface="宋体" pitchFamily="2" charset="-122"/>
            </a:endParaRPr>
          </a:p>
        </p:txBody>
      </p:sp>
      <p:sp>
        <p:nvSpPr>
          <p:cNvPr id="120839" name="Line 7"/>
          <p:cNvSpPr>
            <a:spLocks noChangeShapeType="1"/>
          </p:cNvSpPr>
          <p:nvPr/>
        </p:nvSpPr>
        <p:spPr bwMode="auto">
          <a:xfrm>
            <a:off x="3920858" y="2029563"/>
            <a:ext cx="1596" cy="282066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0838" name="Line 6"/>
          <p:cNvSpPr>
            <a:spLocks noChangeShapeType="1"/>
          </p:cNvSpPr>
          <p:nvPr/>
        </p:nvSpPr>
        <p:spPr bwMode="auto">
          <a:xfrm>
            <a:off x="3926822" y="3764206"/>
            <a:ext cx="1596" cy="282066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0837" name="Line 5"/>
          <p:cNvSpPr>
            <a:spLocks noChangeShapeType="1"/>
          </p:cNvSpPr>
          <p:nvPr/>
        </p:nvSpPr>
        <p:spPr bwMode="auto">
          <a:xfrm>
            <a:off x="3914895" y="4451353"/>
            <a:ext cx="1596" cy="28082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0836" name="Line 4"/>
          <p:cNvSpPr>
            <a:spLocks noChangeShapeType="1"/>
          </p:cNvSpPr>
          <p:nvPr/>
        </p:nvSpPr>
        <p:spPr bwMode="auto">
          <a:xfrm>
            <a:off x="3914895" y="5150926"/>
            <a:ext cx="1596" cy="28082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20835" name="Text Box 3"/>
          <p:cNvSpPr txBox="1">
            <a:spLocks noChangeArrowheads="1"/>
          </p:cNvSpPr>
          <p:nvPr/>
        </p:nvSpPr>
        <p:spPr bwMode="auto">
          <a:xfrm>
            <a:off x="2655101" y="2332753"/>
            <a:ext cx="2714644" cy="422477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0" tIns="108000" rIns="0" bIns="108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建立数学模型</a:t>
            </a:r>
            <a:endParaRPr kumimoji="0" lang="zh-CN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楷体" pitchFamily="49" charset="-122"/>
              <a:ea typeface="楷体" pitchFamily="49" charset="-122"/>
              <a:cs typeface="宋体" pitchFamily="2" charset="-122"/>
            </a:endParaRPr>
          </a:p>
        </p:txBody>
      </p:sp>
      <p:sp>
        <p:nvSpPr>
          <p:cNvPr id="120834" name="Line 2"/>
          <p:cNvSpPr>
            <a:spLocks noChangeShapeType="1"/>
          </p:cNvSpPr>
          <p:nvPr/>
        </p:nvSpPr>
        <p:spPr bwMode="auto">
          <a:xfrm>
            <a:off x="3920858" y="2775112"/>
            <a:ext cx="1596" cy="282066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14546" y="285728"/>
            <a:ext cx="3786214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1.2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算法分析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96" y="1118429"/>
            <a:ext cx="5000660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1.2.1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算法时间复杂度分析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910" y="1975685"/>
            <a:ext cx="4786346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什么是算法时间复杂度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分析</a:t>
            </a:r>
            <a:endParaRPr lang="zh-CN" altLang="en-US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8596" y="2786058"/>
            <a:ext cx="8286808" cy="300354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08000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事前分析估算法</a:t>
            </a:r>
            <a:r>
              <a:rPr lang="zh-CN" altLang="en-US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认为算法的“运行工作量”的大小只依赖于问题规模</a:t>
            </a:r>
            <a:r>
              <a:rPr lang="en-US" altLang="zh-CN" i="1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en-US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，</a:t>
            </a: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或者说它是问题规模的函数</a:t>
            </a:r>
            <a:r>
              <a:rPr lang="zh-CN" altLang="en-US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算法执行时间是算法中所有语句的执行时间之和</a:t>
            </a: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，可以简单地用算法中基本操作的执行次数来度量</a:t>
            </a:r>
            <a:r>
              <a:rPr lang="zh-CN" altLang="en-US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算法中的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基本操作</a:t>
            </a: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是指最深层循环内的原操作</a:t>
            </a:r>
            <a:r>
              <a:rPr lang="zh-CN" altLang="en-US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>
              <a:solidFill>
                <a:srgbClr val="0000FF"/>
              </a:solidFill>
              <a:ea typeface="仿宋" pitchFamily="49" charset="-122"/>
              <a:cs typeface="Times New Roman" pitchFamily="18" charset="0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算法中</a:t>
            </a: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所有基本操作的执行次数</a:t>
            </a:r>
            <a:r>
              <a:rPr lang="zh-CN" altLang="en-US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为</a:t>
            </a:r>
            <a:r>
              <a:rPr lang="en-US" altLang="zh-CN" i="1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f</a:t>
            </a:r>
            <a:r>
              <a:rPr lang="en-US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0034" y="1500174"/>
            <a:ext cx="8143932" cy="92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算法时间复杂度分析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是一种渐进分析，是指当问题规模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很大并趋于无穷大时对算法的时间性能分析，可表示为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：</a:t>
            </a:r>
          </a:p>
        </p:txBody>
      </p:sp>
      <p:sp>
        <p:nvSpPr>
          <p:cNvPr id="132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32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4678" y="2571744"/>
            <a:ext cx="1993294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42910" y="3429000"/>
            <a:ext cx="69294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仿宋" pitchFamily="49" charset="-122"/>
                <a:ea typeface="仿宋" pitchFamily="49" charset="-122"/>
                <a:cs typeface="Times New Roman" pitchFamily="18" charset="0"/>
              </a:rPr>
              <a:t>同时忽略低阶项和最高阶系数。</a:t>
            </a:r>
            <a:endParaRPr lang="zh-CN" altLang="en-US" sz="2200">
              <a:solidFill>
                <a:srgbClr val="0000FF"/>
              </a:solidFill>
              <a:latin typeface="仿宋" pitchFamily="49" charset="-122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上箭头 8"/>
          <p:cNvSpPr/>
          <p:nvPr/>
        </p:nvSpPr>
        <p:spPr>
          <a:xfrm>
            <a:off x="4143372" y="4071942"/>
            <a:ext cx="285752" cy="428628"/>
          </a:xfrm>
          <a:prstGeom prst="up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786050" y="4643446"/>
            <a:ext cx="2928958" cy="785818"/>
          </a:xfrm>
          <a:prstGeom prst="ellipse">
            <a:avLst/>
          </a:prstGeom>
          <a:ln>
            <a:tailEnd type="none"/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r>
              <a:rPr lang="zh-CN" altLang="zh-CN" sz="2200">
                <a:solidFill>
                  <a:srgbClr val="C00000"/>
                </a:solidFill>
                <a:latin typeface="Consolas" pitchFamily="49" charset="0"/>
                <a:ea typeface="楷体" pitchFamily="49" charset="-122"/>
              </a:rPr>
              <a:t>渐进时间复杂度</a:t>
            </a:r>
            <a:endParaRPr lang="zh-CN" altLang="en-US" sz="2200">
              <a:solidFill>
                <a:srgbClr val="C0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71472" y="714356"/>
            <a:ext cx="7500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渐进时间复杂度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反映的是一种增长趋势。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57159" y="2428868"/>
          <a:ext cx="8572560" cy="3134457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776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73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01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5818"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算法的阶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n!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2</a:t>
                      </a:r>
                      <a:r>
                        <a:rPr lang="en-US" sz="2000" kern="100" baseline="300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n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n</a:t>
                      </a:r>
                      <a:r>
                        <a:rPr lang="en-US" sz="2000" kern="100" baseline="300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n</a:t>
                      </a:r>
                      <a:r>
                        <a:rPr lang="en-US" sz="2000" kern="100" baseline="300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2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nlog</a:t>
                      </a:r>
                      <a:r>
                        <a:rPr lang="en-US" sz="2000" kern="100" baseline="-250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2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n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n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316"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秒解决的最大问题规模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n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26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464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10000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4.5×10</a:t>
                      </a:r>
                      <a:r>
                        <a:rPr lang="en-US" sz="2000" kern="100" baseline="300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6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100000000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2639"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机器速度提高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2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倍后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秒解决的最大问题规模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n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27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584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14142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8.6×10</a:t>
                      </a:r>
                      <a:r>
                        <a:rPr lang="en-US" sz="2000" kern="100" baseline="300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6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4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200000000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428728" y="1571612"/>
            <a:ext cx="60722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算法的阶及其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秒解决的最大问题规模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8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1078" name="Text Box 6"/>
          <p:cNvSpPr txBox="1">
            <a:spLocks noChangeArrowheads="1"/>
          </p:cNvSpPr>
          <p:nvPr/>
        </p:nvSpPr>
        <p:spPr bwMode="auto">
          <a:xfrm>
            <a:off x="785786" y="1428736"/>
            <a:ext cx="1143458" cy="6762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horz" wrap="square" lIns="216000" tIns="180000" rIns="216000" bIns="180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楷体" pitchFamily="49" charset="-122"/>
                <a:ea typeface="楷体" pitchFamily="49" charset="-122"/>
                <a:cs typeface="Times New Roman" pitchFamily="18" charset="0"/>
              </a:rPr>
              <a:t>算法</a:t>
            </a:r>
          </a:p>
        </p:txBody>
      </p:sp>
      <p:sp>
        <p:nvSpPr>
          <p:cNvPr id="131077" name="AutoShape 5"/>
          <p:cNvSpPr>
            <a:spLocks noChangeArrowheads="1"/>
          </p:cNvSpPr>
          <p:nvPr/>
        </p:nvSpPr>
        <p:spPr bwMode="auto">
          <a:xfrm>
            <a:off x="2185435" y="1656369"/>
            <a:ext cx="446035" cy="210519"/>
          </a:xfrm>
          <a:prstGeom prst="rightArrow">
            <a:avLst>
              <a:gd name="adj1" fmla="val 50000"/>
              <a:gd name="adj2" fmla="val 53005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200">
              <a:solidFill>
                <a:srgbClr val="0000FF"/>
              </a:solidFill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31076" name="Text Box 4"/>
          <p:cNvSpPr txBox="1">
            <a:spLocks noChangeArrowheads="1"/>
          </p:cNvSpPr>
          <p:nvPr/>
        </p:nvSpPr>
        <p:spPr bwMode="auto">
          <a:xfrm>
            <a:off x="2714612" y="1000108"/>
            <a:ext cx="2643206" cy="1643074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wrap="square" lIns="108000" tIns="108000" rIns="144000" bIns="14400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ea typeface="仿宋" pitchFamily="49" charset="-122"/>
                <a:cs typeface="Times New Roman" pitchFamily="18" charset="0"/>
              </a:rPr>
              <a:t>分析问题规模</a:t>
            </a:r>
            <a:r>
              <a:rPr kumimoji="0" lang="en-US" altLang="zh-CN" i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zh-CN" altLang="en-US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ea typeface="仿宋" pitchFamily="49" charset="-122"/>
                <a:cs typeface="Times New Roman" pitchFamily="18" charset="0"/>
              </a:rPr>
              <a:t>，找出其中的基本语句，求出其运算次数</a:t>
            </a:r>
            <a:r>
              <a:rPr kumimoji="0" lang="en-US" altLang="zh-CN" i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ea typeface="仿宋" pitchFamily="49" charset="-122"/>
                <a:cs typeface="Times New Roman" pitchFamily="18" charset="0"/>
              </a:rPr>
              <a:t>(</a:t>
            </a:r>
            <a:r>
              <a:rPr kumimoji="0" lang="en-US" altLang="zh-CN" i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ea typeface="仿宋" pitchFamily="49" charset="-122"/>
                <a:cs typeface="Times New Roman" pitchFamily="18" charset="0"/>
              </a:rPr>
              <a:t>n</a:t>
            </a:r>
            <a:r>
              <a:rPr kumimoji="0" lang="en-US" altLang="zh-CN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ea typeface="仿宋" pitchFamily="49" charset="-122"/>
                <a:cs typeface="Times New Roman" pitchFamily="18" charset="0"/>
              </a:rPr>
              <a:t>)</a:t>
            </a:r>
          </a:p>
        </p:txBody>
      </p:sp>
      <p:sp>
        <p:nvSpPr>
          <p:cNvPr id="131075" name="AutoShape 3"/>
          <p:cNvSpPr>
            <a:spLocks noChangeArrowheads="1"/>
          </p:cNvSpPr>
          <p:nvPr/>
        </p:nvSpPr>
        <p:spPr bwMode="auto">
          <a:xfrm>
            <a:off x="5678551" y="1618269"/>
            <a:ext cx="446035" cy="210519"/>
          </a:xfrm>
          <a:prstGeom prst="rightArrow">
            <a:avLst>
              <a:gd name="adj1" fmla="val 50000"/>
              <a:gd name="adj2" fmla="val 53005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200">
              <a:solidFill>
                <a:srgbClr val="0000FF"/>
              </a:solidFill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31074" name="Text Box 2"/>
          <p:cNvSpPr txBox="1">
            <a:spLocks noChangeArrowheads="1"/>
          </p:cNvSpPr>
          <p:nvPr/>
        </p:nvSpPr>
        <p:spPr bwMode="auto">
          <a:xfrm>
            <a:off x="6164503" y="1357298"/>
            <a:ext cx="2050835" cy="71438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用大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O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、大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  <a:sym typeface="Symbol" pitchFamily="18" charset="2"/>
              </a:rPr>
              <a:t>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或</a:t>
            </a:r>
            <a:r>
              <a:rPr kumimoji="0" lang="zh-CN" altLang="pt-BR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  <a:sym typeface="Symbol" pitchFamily="18" charset="2"/>
              </a:rPr>
              <a:t>大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  <a:sym typeface="Symbol" pitchFamily="18" charset="2"/>
              </a:rPr>
              <a:t>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表示</a:t>
            </a:r>
            <a:endParaRPr kumimoji="0" lang="zh-CN" altLang="en-US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Consolas" pitchFamily="49" charset="0"/>
              <a:sym typeface="Symbol" pitchFamily="18" charset="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285728"/>
            <a:ext cx="4143404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2. 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渐进符号（</a:t>
            </a: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O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  <a:sym typeface="Symbol"/>
              </a:rPr>
              <a:t>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  <a:sym typeface="Symbol"/>
              </a:rPr>
              <a:t>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）</a:t>
            </a:r>
            <a:endParaRPr lang="zh-CN" altLang="en-US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j-lt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1142984"/>
            <a:ext cx="8786874" cy="124649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定义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1.1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（读作“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的大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”），其含义是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存在正常量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，使得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6600"/>
                </a:solidFill>
                <a:latin typeface="+mj-ea"/>
                <a:ea typeface="+mj-ea"/>
                <a:cs typeface="Consolas" pitchFamily="49" charset="0"/>
              </a:rPr>
              <a:t>≥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有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en-US" altLang="zh-CN">
                <a:solidFill>
                  <a:srgbClr val="006600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en-US" altLang="zh-CN">
                <a:solidFill>
                  <a:srgbClr val="006600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en-US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66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也就是说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的阶不高于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的阶，称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上界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85852" y="2714620"/>
            <a:ext cx="4006178" cy="2741576"/>
            <a:chOff x="-1341392" y="1253450"/>
            <a:chExt cx="4006178" cy="2741576"/>
          </a:xfrm>
        </p:grpSpPr>
        <p:sp>
          <p:nvSpPr>
            <p:cNvPr id="8" name="Rectangle 32"/>
            <p:cNvSpPr>
              <a:spLocks noChangeArrowheads="1"/>
            </p:cNvSpPr>
            <p:nvPr/>
          </p:nvSpPr>
          <p:spPr bwMode="auto">
            <a:xfrm>
              <a:off x="1946502" y="1484426"/>
              <a:ext cx="525601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cg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" name="Rectangle 31"/>
            <p:cNvSpPr>
              <a:spLocks noChangeArrowheads="1"/>
            </p:cNvSpPr>
            <p:nvPr/>
          </p:nvSpPr>
          <p:spPr bwMode="auto">
            <a:xfrm>
              <a:off x="2288542" y="2097012"/>
              <a:ext cx="376244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3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f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" name="AutoShape 18"/>
            <p:cNvSpPr>
              <a:spLocks noChangeShapeType="1"/>
            </p:cNvSpPr>
            <p:nvPr/>
          </p:nvSpPr>
          <p:spPr bwMode="auto">
            <a:xfrm>
              <a:off x="373120" y="1253450"/>
              <a:ext cx="1140" cy="238105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11" name="AutoShape 17"/>
            <p:cNvSpPr>
              <a:spLocks noChangeShapeType="1"/>
            </p:cNvSpPr>
            <p:nvPr/>
          </p:nvSpPr>
          <p:spPr bwMode="auto">
            <a:xfrm>
              <a:off x="373120" y="3634504"/>
              <a:ext cx="2075040" cy="100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12" name="AutoShape 16"/>
            <p:cNvSpPr>
              <a:spLocks noChangeShapeType="1"/>
            </p:cNvSpPr>
            <p:nvPr/>
          </p:nvSpPr>
          <p:spPr bwMode="auto">
            <a:xfrm flipH="1">
              <a:off x="806370" y="2890362"/>
              <a:ext cx="1140" cy="751172"/>
            </a:xfrm>
            <a:prstGeom prst="straightConnector1">
              <a:avLst/>
            </a:prstGeom>
            <a:noFill/>
            <a:ln w="19050">
              <a:solidFill>
                <a:srgbClr val="FF3399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2345548" y="3713839"/>
              <a:ext cx="206364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-1341392" y="2467896"/>
              <a:ext cx="1403256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f</a:t>
              </a:r>
              <a:r>
                <a:rPr kumimoji="0" lang="pt-BR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kumimoji="0" lang="pt-BR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pt-BR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)=O(</a:t>
              </a:r>
              <a:r>
                <a:rPr kumimoji="0" lang="pt-BR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g</a:t>
              </a:r>
              <a:r>
                <a:rPr kumimoji="0" lang="pt-BR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kumimoji="0" lang="pt-BR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pt-BR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))</a:t>
              </a:r>
              <a:endParaRPr kumimoji="0" lang="pt-BR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374260" y="2076927"/>
              <a:ext cx="1994091" cy="1213122"/>
            </a:xfrm>
            <a:custGeom>
              <a:avLst/>
              <a:gdLst/>
              <a:ahLst/>
              <a:cxnLst>
                <a:cxn ang="0">
                  <a:pos x="0" y="980"/>
                </a:cxn>
                <a:cxn ang="0">
                  <a:pos x="169" y="1160"/>
                </a:cxn>
                <a:cxn ang="0">
                  <a:pos x="258" y="690"/>
                </a:cxn>
                <a:cxn ang="0">
                  <a:pos x="389" y="830"/>
                </a:cxn>
                <a:cxn ang="0">
                  <a:pos x="519" y="960"/>
                </a:cxn>
                <a:cxn ang="0">
                  <a:pos x="789" y="830"/>
                </a:cxn>
                <a:cxn ang="0">
                  <a:pos x="1249" y="510"/>
                </a:cxn>
                <a:cxn ang="0">
                  <a:pos x="1749" y="0"/>
                </a:cxn>
              </a:cxnLst>
              <a:rect l="0" t="0" r="r" b="b"/>
              <a:pathLst>
                <a:path w="1749" h="1208">
                  <a:moveTo>
                    <a:pt x="0" y="980"/>
                  </a:moveTo>
                  <a:cubicBezTo>
                    <a:pt x="63" y="1094"/>
                    <a:pt x="126" y="1208"/>
                    <a:pt x="169" y="1160"/>
                  </a:cubicBezTo>
                  <a:cubicBezTo>
                    <a:pt x="212" y="1112"/>
                    <a:pt x="221" y="745"/>
                    <a:pt x="258" y="690"/>
                  </a:cubicBezTo>
                  <a:cubicBezTo>
                    <a:pt x="295" y="635"/>
                    <a:pt x="345" y="785"/>
                    <a:pt x="389" y="830"/>
                  </a:cubicBezTo>
                  <a:cubicBezTo>
                    <a:pt x="433" y="875"/>
                    <a:pt x="452" y="960"/>
                    <a:pt x="519" y="960"/>
                  </a:cubicBezTo>
                  <a:cubicBezTo>
                    <a:pt x="586" y="960"/>
                    <a:pt x="667" y="905"/>
                    <a:pt x="789" y="830"/>
                  </a:cubicBezTo>
                  <a:cubicBezTo>
                    <a:pt x="911" y="755"/>
                    <a:pt x="1089" y="648"/>
                    <a:pt x="1249" y="510"/>
                  </a:cubicBezTo>
                  <a:cubicBezTo>
                    <a:pt x="1409" y="372"/>
                    <a:pt x="1645" y="106"/>
                    <a:pt x="1749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374260" y="1675231"/>
              <a:ext cx="1982690" cy="1536488"/>
            </a:xfrm>
            <a:custGeom>
              <a:avLst/>
              <a:gdLst/>
              <a:ahLst/>
              <a:cxnLst>
                <a:cxn ang="0">
                  <a:pos x="0" y="1530"/>
                </a:cxn>
                <a:cxn ang="0">
                  <a:pos x="429" y="1180"/>
                </a:cxn>
                <a:cxn ang="0">
                  <a:pos x="919" y="960"/>
                </a:cxn>
                <a:cxn ang="0">
                  <a:pos x="1739" y="0"/>
                </a:cxn>
              </a:cxnLst>
              <a:rect l="0" t="0" r="r" b="b"/>
              <a:pathLst>
                <a:path w="1739" h="1530">
                  <a:moveTo>
                    <a:pt x="0" y="1530"/>
                  </a:moveTo>
                  <a:cubicBezTo>
                    <a:pt x="138" y="1402"/>
                    <a:pt x="276" y="1275"/>
                    <a:pt x="429" y="1180"/>
                  </a:cubicBezTo>
                  <a:cubicBezTo>
                    <a:pt x="582" y="1085"/>
                    <a:pt x="701" y="1157"/>
                    <a:pt x="919" y="960"/>
                  </a:cubicBezTo>
                  <a:cubicBezTo>
                    <a:pt x="1137" y="763"/>
                    <a:pt x="1568" y="200"/>
                    <a:pt x="1739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726561" y="3673669"/>
              <a:ext cx="296434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0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14348" y="5543569"/>
            <a:ext cx="7715304" cy="902435"/>
            <a:chOff x="714348" y="5543569"/>
            <a:chExt cx="7715304" cy="902435"/>
          </a:xfrm>
        </p:grpSpPr>
        <p:sp>
          <p:nvSpPr>
            <p:cNvPr id="18" name="TextBox 17"/>
            <p:cNvSpPr txBox="1"/>
            <p:nvPr/>
          </p:nvSpPr>
          <p:spPr>
            <a:xfrm>
              <a:off x="714348" y="5615007"/>
              <a:ext cx="77153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ea typeface="仿宋" pitchFamily="49" charset="-122"/>
                  <a:cs typeface="Times New Roman" pitchFamily="18" charset="0"/>
                </a:rPr>
                <a:t>可以利用极限来证明，即如果</a:t>
              </a:r>
              <a:r>
                <a:rPr lang="en-US" altLang="zh-CN">
                  <a:solidFill>
                    <a:srgbClr val="0000FF"/>
                  </a:solidFill>
                  <a:ea typeface="仿宋" pitchFamily="49" charset="-122"/>
                  <a:cs typeface="Times New Roman" pitchFamily="18" charset="0"/>
                </a:rPr>
                <a:t>                    =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</a:t>
              </a:r>
              <a:r>
                <a:rPr lang="zh-CN" altLang="zh-CN">
                  <a:solidFill>
                    <a:srgbClr val="0000FF"/>
                  </a:solidFill>
                  <a:ea typeface="仿宋" pitchFamily="49" charset="-122"/>
                  <a:cs typeface="Times New Roman" pitchFamily="18" charset="0"/>
                </a:rPr>
                <a:t>并且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</a:t>
              </a:r>
              <a:r>
                <a:rPr lang="zh-CN" altLang="zh-CN">
                  <a:solidFill>
                    <a:srgbClr val="0000FF"/>
                  </a:solidFill>
                  <a:latin typeface="+mj-ea"/>
                  <a:ea typeface="+mj-ea"/>
                  <a:cs typeface="Times New Roman" pitchFamily="18" charset="0"/>
                </a:rPr>
                <a:t>≠</a:t>
              </a:r>
              <a:r>
                <a:rPr lang="zh-CN" altLang="zh-CN">
                  <a:solidFill>
                    <a:srgbClr val="0000FF"/>
                  </a:solidFill>
                  <a:ea typeface="仿宋" pitchFamily="49" charset="-122"/>
                  <a:cs typeface="Times New Roman" pitchFamily="18" charset="0"/>
                </a:rPr>
                <a:t>∞，则有</a:t>
              </a:r>
              <a:r>
                <a:rPr lang="en-US" altLang="zh-CN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</a:t>
              </a:r>
              <a:r>
                <a:rPr lang="en-US" altLang="zh-CN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lang="en-US" altLang="zh-CN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en-US" altLang="zh-CN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)=O(</a:t>
              </a:r>
              <a:r>
                <a:rPr lang="en-US" altLang="zh-CN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g</a:t>
              </a:r>
              <a:r>
                <a:rPr lang="en-US" altLang="zh-CN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lang="en-US" altLang="zh-CN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en-US" altLang="zh-CN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))</a:t>
              </a:r>
              <a:r>
                <a:rPr lang="zh-CN" altLang="zh-CN">
                  <a:solidFill>
                    <a:srgbClr val="0000FF"/>
                  </a:solidFill>
                  <a:ea typeface="仿宋" pitchFamily="49" charset="-122"/>
                  <a:cs typeface="Times New Roman" pitchFamily="18" charset="0"/>
                </a:rPr>
                <a:t>。</a:t>
              </a:r>
              <a:endParaRPr lang="zh-CN" altLang="en-US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pic>
          <p:nvPicPr>
            <p:cNvPr id="13005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933961" y="5543569"/>
              <a:ext cx="1209675" cy="600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1" name="灯片编号占位符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28596" y="4600526"/>
            <a:ext cx="7858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一般地，如果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)=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m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m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m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m</a:t>
            </a:r>
            <a:r>
              <a:rPr lang="pt-BR" altLang="zh-CN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-1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…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lang="pt-BR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m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&gt;0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），有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lang="pt-BR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)=O(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 i="1" baseline="30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m</a:t>
            </a:r>
            <a:r>
              <a:rPr lang="pt-BR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8596" y="1928802"/>
            <a:ext cx="1000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例如</a:t>
            </a:r>
            <a:endParaRPr lang="zh-CN" altLang="en-US">
              <a:solidFill>
                <a:srgbClr val="0000FF"/>
              </a:solidFill>
              <a:latin typeface="楷体" pitchFamily="49" charset="-122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28596" y="2743138"/>
            <a:ext cx="7286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+2=O(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，因为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             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成立。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pic>
        <p:nvPicPr>
          <p:cNvPr id="129076" name="Picture 5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8926" y="2743138"/>
            <a:ext cx="260985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TextBox 41"/>
          <p:cNvSpPr txBox="1"/>
          <p:nvPr/>
        </p:nvSpPr>
        <p:spPr>
          <a:xfrm>
            <a:off x="428596" y="3743270"/>
            <a:ext cx="8215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10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+4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+2=O(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en-US" altLang="zh-CN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4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，因为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                 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成立。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pic>
        <p:nvPicPr>
          <p:cNvPr id="129077" name="Picture 5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7642" y="3690882"/>
            <a:ext cx="314325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9" name="组合 48"/>
          <p:cNvGrpSpPr/>
          <p:nvPr/>
        </p:nvGrpSpPr>
        <p:grpSpPr>
          <a:xfrm>
            <a:off x="571472" y="671493"/>
            <a:ext cx="5286412" cy="757243"/>
            <a:chOff x="285720" y="600055"/>
            <a:chExt cx="4914129" cy="757243"/>
          </a:xfrm>
        </p:grpSpPr>
        <p:grpSp>
          <p:nvGrpSpPr>
            <p:cNvPr id="46" name="组合 45"/>
            <p:cNvGrpSpPr/>
            <p:nvPr/>
          </p:nvGrpSpPr>
          <p:grpSpPr>
            <a:xfrm>
              <a:off x="538134" y="642918"/>
              <a:ext cx="4661715" cy="600075"/>
              <a:chOff x="785786" y="642918"/>
              <a:chExt cx="4661715" cy="600075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1962132" y="766744"/>
                <a:ext cx="348536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220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=</a:t>
                </a:r>
                <a:r>
                  <a:rPr lang="en-US" altLang="zh-CN" sz="2200">
                    <a:solidFill>
                      <a:srgbClr val="0000FF"/>
                    </a:solidFill>
                    <a:latin typeface="Consolas" pitchFamily="49" charset="0"/>
                    <a:ea typeface="楷体" pitchFamily="49" charset="-122"/>
                    <a:cs typeface="Times New Roman" pitchFamily="18" charset="0"/>
                  </a:rPr>
                  <a:t>c</a:t>
                </a:r>
                <a:r>
                  <a:rPr lang="zh-CN" altLang="zh-CN" sz="2200">
                    <a:solidFill>
                      <a:srgbClr val="0000FF"/>
                    </a:solidFill>
                    <a:latin typeface="Consolas" pitchFamily="49" charset="0"/>
                    <a:ea typeface="+mj-ea"/>
                    <a:cs typeface="Times New Roman" pitchFamily="18" charset="0"/>
                  </a:rPr>
                  <a:t>≠</a:t>
                </a:r>
                <a:r>
                  <a:rPr lang="zh-CN" altLang="zh-CN" sz="220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∞，则有</a:t>
                </a:r>
                <a:r>
                  <a:rPr lang="en-US" altLang="zh-CN" sz="2200" i="1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f</a:t>
                </a:r>
                <a:r>
                  <a:rPr lang="en-US" altLang="zh-CN" sz="220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(</a:t>
                </a:r>
                <a:r>
                  <a:rPr lang="en-US" altLang="zh-CN" sz="2200" i="1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n</a:t>
                </a:r>
                <a:r>
                  <a:rPr lang="en-US" altLang="zh-CN" sz="220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)=O(</a:t>
                </a:r>
                <a:r>
                  <a:rPr lang="en-US" altLang="zh-CN" sz="2200" i="1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g</a:t>
                </a:r>
                <a:r>
                  <a:rPr lang="en-US" altLang="zh-CN" sz="220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(</a:t>
                </a:r>
                <a:r>
                  <a:rPr lang="en-US" altLang="zh-CN" sz="2200" i="1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n</a:t>
                </a:r>
                <a:r>
                  <a:rPr lang="en-US" altLang="zh-CN" sz="220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))</a:t>
                </a:r>
                <a:r>
                  <a:rPr lang="zh-CN" altLang="zh-CN" sz="220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。</a:t>
                </a:r>
                <a:endParaRPr lang="zh-CN" altLang="en-US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endParaRPr>
              </a:p>
            </p:txBody>
          </p:sp>
          <p:pic>
            <p:nvPicPr>
              <p:cNvPr id="45" name="Picture 2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785786" y="642918"/>
                <a:ext cx="1209675" cy="600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48" name="圆角矩形 47"/>
            <p:cNvSpPr/>
            <p:nvPr/>
          </p:nvSpPr>
          <p:spPr>
            <a:xfrm>
              <a:off x="285720" y="600055"/>
              <a:ext cx="4714908" cy="757243"/>
            </a:xfrm>
            <a:prstGeom prst="roundRect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17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285720" y="500042"/>
            <a:ext cx="8715436" cy="124649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定义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1.2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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（读作“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的大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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”），其含义是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存在正常量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，使得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6600"/>
                </a:solidFill>
                <a:latin typeface="+mj-ea"/>
                <a:ea typeface="+mj-ea"/>
                <a:cs typeface="Consolas" pitchFamily="49" charset="0"/>
              </a:rPr>
              <a:t>≥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6600"/>
                </a:solidFill>
                <a:latin typeface="+mj-ea"/>
                <a:ea typeface="+mj-ea"/>
                <a:cs typeface="Consolas" pitchFamily="49" charset="0"/>
              </a:rPr>
              <a:t>≥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en-US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pt-BR" altLang="zh-CN">
              <a:solidFill>
                <a:srgbClr val="0066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也就是说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的阶不低于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的阶，称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下界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2143108" y="2000240"/>
            <a:ext cx="3893305" cy="2741576"/>
            <a:chOff x="1600148" y="1253450"/>
            <a:chExt cx="3893305" cy="2741576"/>
          </a:xfrm>
        </p:grpSpPr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4979253" y="1404086"/>
              <a:ext cx="376244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3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f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2" name="Rectangle 10"/>
            <p:cNvSpPr>
              <a:spLocks noChangeArrowheads="1"/>
            </p:cNvSpPr>
            <p:nvPr/>
          </p:nvSpPr>
          <p:spPr bwMode="auto">
            <a:xfrm>
              <a:off x="4967852" y="1996588"/>
              <a:ext cx="525601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cg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3" name="AutoShape 9"/>
            <p:cNvSpPr>
              <a:spLocks noChangeShapeType="1"/>
            </p:cNvSpPr>
            <p:nvPr/>
          </p:nvSpPr>
          <p:spPr bwMode="auto">
            <a:xfrm>
              <a:off x="3314660" y="1253450"/>
              <a:ext cx="1140" cy="238105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44" name="AutoShape 8"/>
            <p:cNvSpPr>
              <a:spLocks noChangeShapeType="1"/>
            </p:cNvSpPr>
            <p:nvPr/>
          </p:nvSpPr>
          <p:spPr bwMode="auto">
            <a:xfrm>
              <a:off x="3314660" y="3634504"/>
              <a:ext cx="2075040" cy="100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45" name="AutoShape 7"/>
            <p:cNvSpPr>
              <a:spLocks noChangeShapeType="1"/>
            </p:cNvSpPr>
            <p:nvPr/>
          </p:nvSpPr>
          <p:spPr bwMode="auto">
            <a:xfrm flipH="1">
              <a:off x="3873325" y="2709599"/>
              <a:ext cx="1140" cy="921893"/>
            </a:xfrm>
            <a:prstGeom prst="straightConnector1">
              <a:avLst/>
            </a:prstGeom>
            <a:noFill/>
            <a:ln w="19050">
              <a:solidFill>
                <a:srgbClr val="FF3399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46" name="Rectangle 6"/>
            <p:cNvSpPr>
              <a:spLocks noChangeArrowheads="1"/>
            </p:cNvSpPr>
            <p:nvPr/>
          </p:nvSpPr>
          <p:spPr bwMode="auto">
            <a:xfrm>
              <a:off x="5287089" y="3713839"/>
              <a:ext cx="206364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7" name="Rectangle 5"/>
            <p:cNvSpPr>
              <a:spLocks noChangeArrowheads="1"/>
            </p:cNvSpPr>
            <p:nvPr/>
          </p:nvSpPr>
          <p:spPr bwMode="auto">
            <a:xfrm>
              <a:off x="1600148" y="2539334"/>
              <a:ext cx="1319235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f</a:t>
              </a:r>
              <a:r>
                <a:rPr kumimoji="0" lang="pt-BR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kumimoji="0" lang="pt-BR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pt-BR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)=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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kumimoji="0" lang="pt-BR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g</a:t>
              </a:r>
              <a:r>
                <a:rPr kumimoji="0" lang="pt-BR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(</a:t>
              </a:r>
              <a:r>
                <a:rPr kumimoji="0" lang="pt-BR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n</a:t>
              </a:r>
              <a:r>
                <a:rPr kumimoji="0" lang="pt-BR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))</a:t>
              </a:r>
            </a:p>
          </p:txBody>
        </p:sp>
        <p:sp>
          <p:nvSpPr>
            <p:cNvPr id="48" name="Rectangle 4"/>
            <p:cNvSpPr>
              <a:spLocks noChangeArrowheads="1"/>
            </p:cNvSpPr>
            <p:nvPr/>
          </p:nvSpPr>
          <p:spPr bwMode="auto">
            <a:xfrm>
              <a:off x="3804917" y="3673669"/>
              <a:ext cx="296434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0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9" name="Freeform 3"/>
            <p:cNvSpPr>
              <a:spLocks/>
            </p:cNvSpPr>
            <p:nvPr/>
          </p:nvSpPr>
          <p:spPr bwMode="auto">
            <a:xfrm>
              <a:off x="3315801" y="1675231"/>
              <a:ext cx="1914282" cy="1365767"/>
            </a:xfrm>
            <a:custGeom>
              <a:avLst/>
              <a:gdLst/>
              <a:ahLst/>
              <a:cxnLst>
                <a:cxn ang="0">
                  <a:pos x="0" y="1360"/>
                </a:cxn>
                <a:cxn ang="0">
                  <a:pos x="169" y="1040"/>
                </a:cxn>
                <a:cxn ang="0">
                  <a:pos x="380" y="1300"/>
                </a:cxn>
                <a:cxn ang="0">
                  <a:pos x="569" y="810"/>
                </a:cxn>
                <a:cxn ang="0">
                  <a:pos x="869" y="490"/>
                </a:cxn>
                <a:cxn ang="0">
                  <a:pos x="1679" y="0"/>
                </a:cxn>
              </a:cxnLst>
              <a:rect l="0" t="0" r="r" b="b"/>
              <a:pathLst>
                <a:path w="1679" h="1360">
                  <a:moveTo>
                    <a:pt x="0" y="1360"/>
                  </a:moveTo>
                  <a:cubicBezTo>
                    <a:pt x="53" y="1205"/>
                    <a:pt x="106" y="1050"/>
                    <a:pt x="169" y="1040"/>
                  </a:cubicBezTo>
                  <a:cubicBezTo>
                    <a:pt x="232" y="1030"/>
                    <a:pt x="313" y="1338"/>
                    <a:pt x="380" y="1300"/>
                  </a:cubicBezTo>
                  <a:cubicBezTo>
                    <a:pt x="447" y="1262"/>
                    <a:pt x="487" y="945"/>
                    <a:pt x="569" y="810"/>
                  </a:cubicBezTo>
                  <a:cubicBezTo>
                    <a:pt x="651" y="675"/>
                    <a:pt x="684" y="625"/>
                    <a:pt x="869" y="490"/>
                  </a:cubicBezTo>
                  <a:cubicBezTo>
                    <a:pt x="1054" y="355"/>
                    <a:pt x="1366" y="177"/>
                    <a:pt x="1679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50" name="Freeform 2"/>
            <p:cNvSpPr>
              <a:spLocks/>
            </p:cNvSpPr>
            <p:nvPr/>
          </p:nvSpPr>
          <p:spPr bwMode="auto">
            <a:xfrm>
              <a:off x="3314660" y="2277775"/>
              <a:ext cx="1915422" cy="562375"/>
            </a:xfrm>
            <a:custGeom>
              <a:avLst/>
              <a:gdLst/>
              <a:ahLst/>
              <a:cxnLst>
                <a:cxn ang="0">
                  <a:pos x="0" y="560"/>
                </a:cxn>
                <a:cxn ang="0">
                  <a:pos x="500" y="430"/>
                </a:cxn>
                <a:cxn ang="0">
                  <a:pos x="890" y="320"/>
                </a:cxn>
                <a:cxn ang="0">
                  <a:pos x="1680" y="0"/>
                </a:cxn>
              </a:cxnLst>
              <a:rect l="0" t="0" r="r" b="b"/>
              <a:pathLst>
                <a:path w="1680" h="560">
                  <a:moveTo>
                    <a:pt x="0" y="560"/>
                  </a:moveTo>
                  <a:cubicBezTo>
                    <a:pt x="176" y="515"/>
                    <a:pt x="352" y="470"/>
                    <a:pt x="500" y="430"/>
                  </a:cubicBezTo>
                  <a:cubicBezTo>
                    <a:pt x="648" y="390"/>
                    <a:pt x="693" y="392"/>
                    <a:pt x="890" y="320"/>
                  </a:cubicBezTo>
                  <a:cubicBezTo>
                    <a:pt x="1087" y="248"/>
                    <a:pt x="1383" y="124"/>
                    <a:pt x="1680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357158" y="5357826"/>
            <a:ext cx="82153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可以利用极限来证明，即如果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          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并且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  <a:cs typeface="Times New Roman" pitchFamily="18" charset="0"/>
              </a:rPr>
              <a:t>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，则有</a:t>
            </a:r>
            <a:r>
              <a:rPr lang="pt-BR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lang="pt-BR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pt-BR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)=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  <a:sym typeface="Symbol"/>
              </a:rPr>
              <a:t></a:t>
            </a:r>
            <a:r>
              <a:rPr lang="pt-BR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pt-BR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g</a:t>
            </a:r>
            <a:r>
              <a:rPr lang="pt-BR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pt-BR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))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89475" y="5310201"/>
            <a:ext cx="180975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18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2581260" y="800082"/>
            <a:ext cx="3419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+mj-ea"/>
                <a:ea typeface="+mj-ea"/>
                <a:cs typeface="Times New Roman" pitchFamily="18" charset="0"/>
              </a:rPr>
              <a:t>≠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，则有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)=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  <a:sym typeface="Symbol"/>
              </a:rPr>
              <a:t>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g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))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785794"/>
            <a:ext cx="180975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500034" y="1714488"/>
            <a:ext cx="1000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例如</a:t>
            </a:r>
            <a:endParaRPr lang="zh-CN" altLang="en-US">
              <a:solidFill>
                <a:srgbClr val="0000FF"/>
              </a:solidFill>
              <a:latin typeface="楷体" pitchFamily="49" charset="-122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571472" y="642918"/>
            <a:ext cx="5643602" cy="757243"/>
          </a:xfrm>
          <a:prstGeom prst="roundRect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428596" y="2457386"/>
            <a:ext cx="8001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3</a:t>
            </a:r>
            <a:r>
              <a:rPr lang="pt-BR" altLang="zh-CN" i="1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+2=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  <a:sym typeface="Symbol"/>
              </a:rPr>
              <a:t>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)</a:t>
            </a: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，因为</a:t>
            </a:r>
            <a:r>
              <a:rPr lang="en-US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                                    </a:t>
            </a: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成立。</a:t>
            </a:r>
            <a:endParaRPr lang="zh-CN" altLang="en-US">
              <a:solidFill>
                <a:srgbClr val="0000FF"/>
              </a:solidFill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28596" y="3243204"/>
            <a:ext cx="8001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10</a:t>
            </a:r>
            <a:r>
              <a:rPr lang="pt-BR" altLang="zh-CN" i="1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 baseline="300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2</a:t>
            </a:r>
            <a:r>
              <a:rPr lang="pt-BR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+4</a:t>
            </a:r>
            <a:r>
              <a:rPr lang="pt-BR" altLang="zh-CN" i="1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+2=</a:t>
            </a:r>
            <a:r>
              <a:rPr lang="en-US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  <a:sym typeface="Symbol"/>
              </a:rPr>
              <a:t></a:t>
            </a:r>
            <a:r>
              <a:rPr lang="pt-BR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)</a:t>
            </a: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，因为</a:t>
            </a:r>
            <a:r>
              <a:rPr lang="en-US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                                              </a:t>
            </a:r>
            <a:r>
              <a:rPr lang="zh-CN" altLang="zh-CN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成立。</a:t>
            </a:r>
            <a:endParaRPr lang="zh-CN" altLang="en-US">
              <a:solidFill>
                <a:srgbClr val="0000FF"/>
              </a:solidFill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28596" y="3945443"/>
            <a:ext cx="7500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一般地，如果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pt-BR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pt-BR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pt-BR" altLang="zh-CN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pt-BR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），有</a:t>
            </a:r>
            <a:r>
              <a:rPr lang="pt-BR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pt-BR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</a:t>
            </a:r>
            <a:r>
              <a:rPr lang="pt-BR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i="1" baseline="30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pt-BR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71802" y="2428868"/>
            <a:ext cx="23907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14744" y="3148013"/>
            <a:ext cx="31623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19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2143108" y="2500306"/>
            <a:ext cx="3821866" cy="2852042"/>
            <a:chOff x="4464910" y="1142984"/>
            <a:chExt cx="3821866" cy="2852042"/>
          </a:xfrm>
        </p:grpSpPr>
        <p:sp>
          <p:nvSpPr>
            <p:cNvPr id="9" name="AutoShape 30"/>
            <p:cNvSpPr>
              <a:spLocks noChangeShapeType="1"/>
            </p:cNvSpPr>
            <p:nvPr/>
          </p:nvSpPr>
          <p:spPr bwMode="auto">
            <a:xfrm>
              <a:off x="6107984" y="1253450"/>
              <a:ext cx="1140" cy="238105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10" name="AutoShape 29"/>
            <p:cNvSpPr>
              <a:spLocks noChangeShapeType="1"/>
            </p:cNvSpPr>
            <p:nvPr/>
          </p:nvSpPr>
          <p:spPr bwMode="auto">
            <a:xfrm>
              <a:off x="6107984" y="3634504"/>
              <a:ext cx="2075040" cy="100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11" name="Freeform 28"/>
            <p:cNvSpPr>
              <a:spLocks/>
            </p:cNvSpPr>
            <p:nvPr/>
          </p:nvSpPr>
          <p:spPr bwMode="auto">
            <a:xfrm>
              <a:off x="6107984" y="1775655"/>
              <a:ext cx="1858415" cy="1649967"/>
            </a:xfrm>
            <a:custGeom>
              <a:avLst/>
              <a:gdLst/>
              <a:ahLst/>
              <a:cxnLst>
                <a:cxn ang="0">
                  <a:pos x="0" y="1460"/>
                </a:cxn>
                <a:cxn ang="0">
                  <a:pos x="220" y="1500"/>
                </a:cxn>
                <a:cxn ang="0">
                  <a:pos x="250" y="1590"/>
                </a:cxn>
                <a:cxn ang="0">
                  <a:pos x="390" y="1620"/>
                </a:cxn>
                <a:cxn ang="0">
                  <a:pos x="490" y="1450"/>
                </a:cxn>
                <a:cxn ang="0">
                  <a:pos x="720" y="860"/>
                </a:cxn>
                <a:cxn ang="0">
                  <a:pos x="1320" y="400"/>
                </a:cxn>
                <a:cxn ang="0">
                  <a:pos x="1630" y="0"/>
                </a:cxn>
              </a:cxnLst>
              <a:rect l="0" t="0" r="r" b="b"/>
              <a:pathLst>
                <a:path w="1630" h="1643">
                  <a:moveTo>
                    <a:pt x="0" y="1460"/>
                  </a:moveTo>
                  <a:cubicBezTo>
                    <a:pt x="89" y="1469"/>
                    <a:pt x="178" y="1478"/>
                    <a:pt x="220" y="1500"/>
                  </a:cubicBezTo>
                  <a:cubicBezTo>
                    <a:pt x="262" y="1522"/>
                    <a:pt x="222" y="1570"/>
                    <a:pt x="250" y="1590"/>
                  </a:cubicBezTo>
                  <a:cubicBezTo>
                    <a:pt x="278" y="1610"/>
                    <a:pt x="350" y="1643"/>
                    <a:pt x="390" y="1620"/>
                  </a:cubicBezTo>
                  <a:cubicBezTo>
                    <a:pt x="430" y="1597"/>
                    <a:pt x="435" y="1577"/>
                    <a:pt x="490" y="1450"/>
                  </a:cubicBezTo>
                  <a:cubicBezTo>
                    <a:pt x="545" y="1323"/>
                    <a:pt x="582" y="1035"/>
                    <a:pt x="720" y="860"/>
                  </a:cubicBezTo>
                  <a:cubicBezTo>
                    <a:pt x="858" y="685"/>
                    <a:pt x="1168" y="543"/>
                    <a:pt x="1320" y="400"/>
                  </a:cubicBezTo>
                  <a:cubicBezTo>
                    <a:pt x="1472" y="257"/>
                    <a:pt x="1566" y="83"/>
                    <a:pt x="163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12" name="Freeform 27"/>
            <p:cNvSpPr>
              <a:spLocks/>
            </p:cNvSpPr>
            <p:nvPr/>
          </p:nvSpPr>
          <p:spPr bwMode="auto">
            <a:xfrm>
              <a:off x="6107984" y="1384002"/>
              <a:ext cx="1812810" cy="2250502"/>
            </a:xfrm>
            <a:custGeom>
              <a:avLst/>
              <a:gdLst/>
              <a:ahLst/>
              <a:cxnLst>
                <a:cxn ang="0">
                  <a:pos x="0" y="2241"/>
                </a:cxn>
                <a:cxn ang="0">
                  <a:pos x="310" y="1260"/>
                </a:cxn>
                <a:cxn ang="0">
                  <a:pos x="630" y="1120"/>
                </a:cxn>
                <a:cxn ang="0">
                  <a:pos x="700" y="870"/>
                </a:cxn>
                <a:cxn ang="0">
                  <a:pos x="1107" y="360"/>
                </a:cxn>
                <a:cxn ang="0">
                  <a:pos x="1590" y="0"/>
                </a:cxn>
              </a:cxnLst>
              <a:rect l="0" t="0" r="r" b="b"/>
              <a:pathLst>
                <a:path w="1590" h="2241">
                  <a:moveTo>
                    <a:pt x="0" y="2241"/>
                  </a:moveTo>
                  <a:cubicBezTo>
                    <a:pt x="102" y="1844"/>
                    <a:pt x="205" y="1447"/>
                    <a:pt x="310" y="1260"/>
                  </a:cubicBezTo>
                  <a:cubicBezTo>
                    <a:pt x="415" y="1073"/>
                    <a:pt x="565" y="1185"/>
                    <a:pt x="630" y="1120"/>
                  </a:cubicBezTo>
                  <a:cubicBezTo>
                    <a:pt x="695" y="1055"/>
                    <a:pt x="621" y="996"/>
                    <a:pt x="700" y="870"/>
                  </a:cubicBezTo>
                  <a:cubicBezTo>
                    <a:pt x="780" y="744"/>
                    <a:pt x="959" y="505"/>
                    <a:pt x="1107" y="360"/>
                  </a:cubicBezTo>
                  <a:cubicBezTo>
                    <a:pt x="1255" y="215"/>
                    <a:pt x="1490" y="75"/>
                    <a:pt x="1590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auto">
            <a:xfrm>
              <a:off x="6107984" y="2358115"/>
              <a:ext cx="1904020" cy="1276389"/>
            </a:xfrm>
            <a:custGeom>
              <a:avLst/>
              <a:gdLst/>
              <a:ahLst/>
              <a:cxnLst>
                <a:cxn ang="0">
                  <a:pos x="0" y="1271"/>
                </a:cxn>
                <a:cxn ang="0">
                  <a:pos x="200" y="950"/>
                </a:cxn>
                <a:cxn ang="0">
                  <a:pos x="570" y="710"/>
                </a:cxn>
                <a:cxn ang="0">
                  <a:pos x="900" y="620"/>
                </a:cxn>
                <a:cxn ang="0">
                  <a:pos x="1170" y="280"/>
                </a:cxn>
                <a:cxn ang="0">
                  <a:pos x="1670" y="0"/>
                </a:cxn>
              </a:cxnLst>
              <a:rect l="0" t="0" r="r" b="b"/>
              <a:pathLst>
                <a:path w="1670" h="1271">
                  <a:moveTo>
                    <a:pt x="0" y="1271"/>
                  </a:moveTo>
                  <a:cubicBezTo>
                    <a:pt x="52" y="1157"/>
                    <a:pt x="105" y="1044"/>
                    <a:pt x="200" y="950"/>
                  </a:cubicBezTo>
                  <a:cubicBezTo>
                    <a:pt x="295" y="856"/>
                    <a:pt x="453" y="765"/>
                    <a:pt x="570" y="710"/>
                  </a:cubicBezTo>
                  <a:cubicBezTo>
                    <a:pt x="687" y="655"/>
                    <a:pt x="800" y="692"/>
                    <a:pt x="900" y="620"/>
                  </a:cubicBezTo>
                  <a:cubicBezTo>
                    <a:pt x="1000" y="548"/>
                    <a:pt x="1042" y="383"/>
                    <a:pt x="1170" y="280"/>
                  </a:cubicBezTo>
                  <a:cubicBezTo>
                    <a:pt x="1298" y="177"/>
                    <a:pt x="1484" y="88"/>
                    <a:pt x="1670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14" name="Rectangle 25"/>
            <p:cNvSpPr>
              <a:spLocks noChangeArrowheads="1"/>
            </p:cNvSpPr>
            <p:nvPr/>
          </p:nvSpPr>
          <p:spPr bwMode="auto">
            <a:xfrm>
              <a:off x="7487543" y="1142984"/>
              <a:ext cx="525601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c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2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g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" name="Rectangle 24"/>
            <p:cNvSpPr>
              <a:spLocks noChangeArrowheads="1"/>
            </p:cNvSpPr>
            <p:nvPr/>
          </p:nvSpPr>
          <p:spPr bwMode="auto">
            <a:xfrm>
              <a:off x="7761175" y="2076927"/>
              <a:ext cx="525601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c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1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g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" name="Rectangle 23"/>
            <p:cNvSpPr>
              <a:spLocks noChangeArrowheads="1"/>
            </p:cNvSpPr>
            <p:nvPr/>
          </p:nvSpPr>
          <p:spPr bwMode="auto">
            <a:xfrm>
              <a:off x="7886590" y="1504510"/>
              <a:ext cx="376244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3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f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" name="Rectangle 22"/>
            <p:cNvSpPr>
              <a:spLocks noChangeArrowheads="1"/>
            </p:cNvSpPr>
            <p:nvPr/>
          </p:nvSpPr>
          <p:spPr bwMode="auto">
            <a:xfrm>
              <a:off x="6609642" y="3713839"/>
              <a:ext cx="296434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en-US" altLang="zh-CN" sz="18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0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" name="AutoShape 21"/>
            <p:cNvSpPr>
              <a:spLocks noChangeShapeType="1"/>
            </p:cNvSpPr>
            <p:nvPr/>
          </p:nvSpPr>
          <p:spPr bwMode="auto">
            <a:xfrm flipH="1">
              <a:off x="6700852" y="2548920"/>
              <a:ext cx="1140" cy="1104664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</a:endParaRPr>
            </a:p>
          </p:txBody>
        </p:sp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8080412" y="3713839"/>
              <a:ext cx="206364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4464910" y="2357430"/>
              <a:ext cx="1483312" cy="2811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f</a:t>
              </a:r>
              <a:r>
                <a:rPr kumimoji="0" lang="pt-BR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kumimoji="0" lang="pt-BR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pt-BR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)=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</a:t>
              </a:r>
              <a:r>
                <a:rPr kumimoji="0" lang="pt-BR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kumimoji="0" lang="pt-BR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g</a:t>
              </a:r>
              <a:r>
                <a:rPr kumimoji="0" lang="pt-BR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(</a:t>
              </a:r>
              <a:r>
                <a:rPr kumimoji="0" lang="pt-BR" altLang="zh-CN" sz="18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n</a:t>
              </a:r>
              <a:r>
                <a:rPr kumimoji="0" lang="pt-BR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itchFamily="18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))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214282" y="428604"/>
            <a:ext cx="8643998" cy="160556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定义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1.</a:t>
            </a:r>
            <a:r>
              <a:rPr lang="pt-BR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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（读作“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的大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”），其含义是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存在正常量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pt-BR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pt-BR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，使得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6600"/>
                </a:solidFill>
                <a:latin typeface="+mn-ea"/>
                <a:ea typeface="+mn-ea"/>
                <a:cs typeface="Consolas" pitchFamily="49" charset="0"/>
              </a:rPr>
              <a:t>≥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时有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pt-BR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pt-BR" altLang="zh-CN">
                <a:solidFill>
                  <a:srgbClr val="006600"/>
                </a:solidFill>
                <a:latin typeface="+mn-ea"/>
                <a:ea typeface="+mn-ea"/>
                <a:cs typeface="Consolas" pitchFamily="49" charset="0"/>
              </a:rPr>
              <a:t>≤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pt-BR" altLang="zh-CN">
                <a:solidFill>
                  <a:srgbClr val="006600"/>
                </a:solidFill>
                <a:latin typeface="+mn-ea"/>
                <a:ea typeface="+mn-ea"/>
                <a:cs typeface="Consolas" pitchFamily="49" charset="0"/>
              </a:rPr>
              <a:t>≤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r>
              <a:rPr lang="pt-BR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en-US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66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也就是说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与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的同阶，也称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确界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428728" y="5531041"/>
            <a:ext cx="6572296" cy="898355"/>
            <a:chOff x="285720" y="5448314"/>
            <a:chExt cx="6572296" cy="898355"/>
          </a:xfrm>
        </p:grpSpPr>
        <p:sp>
          <p:nvSpPr>
            <p:cNvPr id="40" name="TextBox 39"/>
            <p:cNvSpPr txBox="1"/>
            <p:nvPr/>
          </p:nvSpPr>
          <p:spPr>
            <a:xfrm>
              <a:off x="285720" y="5515672"/>
              <a:ext cx="65722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可以利用极限来证明，即如果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                        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并且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0&lt;c&lt;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∞，则有</a:t>
              </a:r>
              <a:r>
                <a:rPr lang="pt-BR" altLang="zh-CN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</a:t>
              </a:r>
              <a:r>
                <a:rPr lang="pt-BR" altLang="zh-CN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lang="pt-BR" altLang="zh-CN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pt-BR" altLang="zh-CN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)=</a:t>
              </a:r>
              <a:r>
                <a:rPr lang="en-US" altLang="zh-CN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  <a:sym typeface="Symbol"/>
                </a:rPr>
                <a:t></a:t>
              </a:r>
              <a:r>
                <a:rPr lang="pt-BR" altLang="zh-CN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lang="pt-BR" altLang="zh-CN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g</a:t>
              </a:r>
              <a:r>
                <a:rPr lang="pt-BR" altLang="zh-CN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lang="pt-BR" altLang="zh-CN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lang="pt-BR" altLang="zh-CN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))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pic>
          <p:nvPicPr>
            <p:cNvPr id="13414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429124" y="5448314"/>
              <a:ext cx="1905000" cy="600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20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1736" y="698242"/>
            <a:ext cx="4286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2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sz="22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0&lt;c&lt;</a:t>
            </a:r>
            <a:r>
              <a:rPr lang="zh-CN" altLang="zh-CN" sz="22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∞，则有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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</a:t>
            </a:r>
            <a:r>
              <a:rPr lang="zh-CN" altLang="zh-CN" sz="22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。</a:t>
            </a:r>
            <a:endParaRPr lang="zh-CN" altLang="en-US" sz="2200">
              <a:solidFill>
                <a:srgbClr val="0000FF"/>
              </a:solidFill>
              <a:ea typeface="仿宋" pitchFamily="49" charset="-122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642918"/>
            <a:ext cx="19050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圆角矩形 5"/>
          <p:cNvSpPr/>
          <p:nvPr/>
        </p:nvSpPr>
        <p:spPr>
          <a:xfrm>
            <a:off x="642910" y="519092"/>
            <a:ext cx="6286544" cy="757243"/>
          </a:xfrm>
          <a:prstGeom prst="roundRect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00034" y="2071678"/>
            <a:ext cx="10001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例如</a:t>
            </a:r>
            <a:endParaRPr lang="zh-CN" altLang="en-US" sz="2200">
              <a:solidFill>
                <a:srgbClr val="0000FF"/>
              </a:solidFill>
              <a:latin typeface="楷体" pitchFamily="49" charset="-122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472" y="2643182"/>
            <a:ext cx="72866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+2=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  <a:sym typeface="Symbol"/>
              </a:rPr>
              <a:t>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)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pt-BR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10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+4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+2=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  <a:sym typeface="Symbol"/>
              </a:rPr>
              <a:t>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pt-BR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。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一般地，如果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pt-BR" altLang="zh-CN" sz="2200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pt-BR" altLang="zh-CN" sz="2200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pt-BR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sz="22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pt-BR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zh-CN" altLang="zh-CN" sz="220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pt-BR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pt-BR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pt-BR" altLang="zh-CN" sz="2200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&gt;0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），有</a:t>
            </a:r>
            <a:r>
              <a:rPr lang="pt-BR" altLang="zh-CN" sz="22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 sz="22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</a:t>
            </a:r>
            <a:r>
              <a:rPr lang="pt-BR" altLang="zh-CN" sz="22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sz="2200" i="1" baseline="30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pt-BR" altLang="zh-CN" sz="22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21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72" y="1928802"/>
            <a:ext cx="8215370" cy="210541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大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符号比大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符号和大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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符号都要精确，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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隐含着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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目前国内大部分教科书中习惯使用大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符号，本书主要也采用这种表示形式。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85786" y="642918"/>
            <a:ext cx="896901" cy="896901"/>
            <a:chOff x="388951" y="5103867"/>
            <a:chExt cx="896901" cy="896901"/>
          </a:xfrm>
        </p:grpSpPr>
        <p:sp>
          <p:nvSpPr>
            <p:cNvPr id="6" name="椭圆 5"/>
            <p:cNvSpPr/>
            <p:nvPr/>
          </p:nvSpPr>
          <p:spPr>
            <a:xfrm>
              <a:off x="388951" y="5103867"/>
              <a:ext cx="896901" cy="896901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4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4200000" scaled="0"/>
              </a:gradFill>
            </a:ln>
            <a:effectLst>
              <a:outerShdw blurRad="254000" dist="127000" dir="42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7" name="椭圆 6"/>
            <p:cNvSpPr/>
            <p:nvPr/>
          </p:nvSpPr>
          <p:spPr>
            <a:xfrm>
              <a:off x="479938" y="5204902"/>
              <a:ext cx="714380" cy="714380"/>
            </a:xfrm>
            <a:prstGeom prst="ellipse">
              <a:avLst/>
            </a:prstGeom>
            <a:solidFill>
              <a:srgbClr val="E3BF42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8" name="文本框 14"/>
            <p:cNvSpPr txBox="1"/>
            <p:nvPr/>
          </p:nvSpPr>
          <p:spPr>
            <a:xfrm>
              <a:off x="525185" y="5431228"/>
              <a:ext cx="646332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说明</a:t>
              </a:r>
              <a:endParaRPr lang="zh-CN" altLang="en-US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22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48" y="214290"/>
            <a:ext cx="5857916" cy="43088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FF0000"/>
                </a:solidFill>
                <a:ea typeface="楷体" pitchFamily="49" charset="-122"/>
                <a:cs typeface="Times New Roman" pitchFamily="18" charset="0"/>
              </a:rPr>
              <a:t>【例</a:t>
            </a:r>
            <a:r>
              <a:rPr lang="en-US" altLang="zh-CN" sz="2200">
                <a:solidFill>
                  <a:srgbClr val="FF0000"/>
                </a:solidFill>
                <a:ea typeface="楷体" pitchFamily="49" charset="-122"/>
                <a:cs typeface="Times New Roman" pitchFamily="18" charset="0"/>
              </a:rPr>
              <a:t>1-2</a:t>
            </a:r>
            <a:r>
              <a:rPr lang="zh-CN" altLang="zh-CN" sz="2200">
                <a:solidFill>
                  <a:srgbClr val="FF0000"/>
                </a:solidFill>
                <a:ea typeface="楷体" pitchFamily="49" charset="-122"/>
                <a:cs typeface="Times New Roman" pitchFamily="18" charset="0"/>
              </a:rPr>
              <a:t>】</a:t>
            </a:r>
            <a:r>
              <a:rPr lang="zh-CN" altLang="zh-CN" sz="22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分析以下算法的时间复杂度。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24" y="785794"/>
            <a:ext cx="5286412" cy="224676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2000" b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fun</a:t>
            </a: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n) {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s=0,i,j,k;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(i=0;i&lt;n;i++)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nb-NO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for (j=0;j&lt;i;j++)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nb-NO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for (k=0;k&lt;j;k++)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nb-NO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s++;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nb-NO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57290" y="3457518"/>
            <a:ext cx="29289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算法的基本操作是</a:t>
            </a:r>
            <a:r>
              <a:rPr lang="nb-NO" altLang="zh-CN" sz="22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rPr>
              <a:t>s++</a:t>
            </a:r>
            <a:endParaRPr lang="zh-CN" altLang="en-US" sz="2200">
              <a:solidFill>
                <a:srgbClr val="0000FF"/>
              </a:solidFill>
              <a:ea typeface="仿宋" pitchFamily="49" charset="-122"/>
              <a:cs typeface="Times New Roman" pitchFamily="18" charset="0"/>
            </a:endParaRPr>
          </a:p>
        </p:txBody>
      </p:sp>
      <p:pic>
        <p:nvPicPr>
          <p:cNvPr id="12595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5918" y="4071942"/>
            <a:ext cx="4929222" cy="1771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857224" y="6000768"/>
            <a:ext cx="40005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该算法的时间复杂度为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2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857224" y="3457518"/>
            <a:ext cx="50006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23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285728"/>
            <a:ext cx="3286148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3. 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渐进符号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的特性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34" y="1000108"/>
            <a:ext cx="7929618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）传递性</a:t>
            </a:r>
          </a:p>
          <a:p>
            <a:pPr algn="l">
              <a:lnSpc>
                <a:spcPct val="100000"/>
              </a:lnSpc>
            </a:pP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)=O(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g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g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)=O(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h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  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/>
              </a:rPr>
              <a:t>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)=O(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h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</a:pP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/>
              </a:rPr>
              <a:t>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g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g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/>
              </a:rPr>
              <a:t>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h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  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/>
              </a:rPr>
              <a:t>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/>
              </a:rPr>
              <a:t>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h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</a:pP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/>
              </a:rPr>
              <a:t>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g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g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/>
              </a:rPr>
              <a:t>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h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  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/>
              </a:rPr>
              <a:t>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/>
              </a:rPr>
              <a:t>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h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</a:pP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pt-BR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）自反性</a:t>
            </a:r>
          </a:p>
          <a:p>
            <a:pPr algn="l">
              <a:lnSpc>
                <a:spcPct val="100000"/>
              </a:lnSpc>
            </a:pP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)=O(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</a:pP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/>
              </a:rPr>
              <a:t>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</a:pP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/>
              </a:rPr>
              <a:t>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</a:pP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pt-BR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）对称性</a:t>
            </a:r>
          </a:p>
          <a:p>
            <a:pPr algn="l">
              <a:lnSpc>
                <a:spcPct val="100000"/>
              </a:lnSpc>
            </a:pP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/>
              </a:rPr>
              <a:t>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g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  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/>
              </a:rPr>
              <a:t>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g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/>
              </a:rPr>
              <a:t>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f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pt-BR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pt-BR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24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642918"/>
            <a:ext cx="5715040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微软雅黑" pitchFamily="34" charset="-122"/>
                <a:cs typeface="Times New Roman" pitchFamily="18" charset="0"/>
              </a:rPr>
              <a:t>4. </a:t>
            </a:r>
            <a:r>
              <a:rPr lang="zh-CN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微软雅黑" pitchFamily="34" charset="-122"/>
                <a:cs typeface="Times New Roman" pitchFamily="18" charset="0"/>
              </a:rPr>
              <a:t>算法的最好、最坏和平均情况分析</a:t>
            </a:r>
            <a:endParaRPr lang="zh-CN" altLang="en-US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1643050"/>
            <a:ext cx="8286808" cy="329266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   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定义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1.4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设一个算法的输入规模为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是所有输入的集合，任一输入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P(I)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出现的概率，有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P(I)=1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T(I)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是算法在输入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下所执行的基本操作次数，则该算法的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平均执行时间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A(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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I∈</a:t>
            </a:r>
            <a:r>
              <a:rPr lang="en-US" altLang="zh-CN" i="1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Dn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P(I)*T(I)</a:t>
            </a:r>
            <a:endParaRPr lang="en-US" altLang="zh-CN">
              <a:solidFill>
                <a:srgbClr val="0066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对应的时间复杂度称为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平均时间复杂度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平均时间复杂度反映算法的总体时间性能。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25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071546"/>
            <a:ext cx="8501122" cy="369879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算法的最好情况为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G(n)=min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 I∈</a:t>
            </a:r>
            <a:r>
              <a:rPr lang="en-US" altLang="zh-CN" i="1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Dn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T(I)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，是指算法在所有输入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下所执行基本操作的最少执行次数。对应的时间复杂度称为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最好时间复杂度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，最好时间复杂度反映算法的最佳性能，即为算法的时间下界。</a:t>
            </a: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算法的最坏情况为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W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(n)=max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 I∈</a:t>
            </a:r>
            <a:r>
              <a:rPr lang="en-US" altLang="zh-CN" i="1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Dn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T(I)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，是指算法在所有输入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下所执行基本操作的最大执行次数。对应的时间复杂度称为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最怀时间复杂度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，最怀时间复杂度为算法的时间上界。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26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142852"/>
            <a:ext cx="8643998" cy="116955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FF0000"/>
                </a:solidFill>
                <a:ea typeface="楷体" pitchFamily="49" charset="-122"/>
                <a:cs typeface="Times New Roman" pitchFamily="18" charset="0"/>
              </a:rPr>
              <a:t>【例</a:t>
            </a:r>
            <a:r>
              <a:rPr lang="en-US" altLang="zh-CN" sz="2200">
                <a:solidFill>
                  <a:srgbClr val="FF0000"/>
                </a:solidFill>
                <a:ea typeface="楷体" pitchFamily="49" charset="-122"/>
                <a:cs typeface="Times New Roman" pitchFamily="18" charset="0"/>
              </a:rPr>
              <a:t>1.4</a:t>
            </a:r>
            <a:r>
              <a:rPr lang="zh-CN" altLang="zh-CN" sz="2200">
                <a:solidFill>
                  <a:srgbClr val="FF0000"/>
                </a:solidFill>
                <a:ea typeface="楷体" pitchFamily="49" charset="-122"/>
                <a:cs typeface="Times New Roman" pitchFamily="18" charset="0"/>
              </a:rPr>
              <a:t>】</a:t>
            </a:r>
            <a:r>
              <a:rPr lang="zh-CN" altLang="zh-CN" sz="22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采用顺序查找方法，在长度为</a:t>
            </a:r>
            <a:r>
              <a:rPr lang="en-US" altLang="zh-CN" sz="2200" i="1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n</a:t>
            </a:r>
            <a:r>
              <a:rPr lang="zh-CN" altLang="zh-CN" sz="22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的一维</a:t>
            </a:r>
            <a:r>
              <a:rPr lang="zh-CN" altLang="en-US" sz="22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实数</a:t>
            </a:r>
            <a:r>
              <a:rPr lang="zh-CN" altLang="zh-CN" sz="22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数组</a:t>
            </a:r>
            <a:r>
              <a:rPr lang="en-US" altLang="zh-CN" sz="2200" i="1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sz="22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[0..</a:t>
            </a:r>
            <a:r>
              <a:rPr lang="en-US" altLang="zh-CN" sz="2200" i="1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n</a:t>
            </a:r>
            <a:r>
              <a:rPr lang="en-US" altLang="zh-CN" sz="22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-1]</a:t>
            </a:r>
            <a:r>
              <a:rPr lang="zh-CN" altLang="zh-CN" sz="22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中查找值为</a:t>
            </a:r>
            <a:r>
              <a:rPr lang="en-US" altLang="zh-CN" sz="2200" i="1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zh-CN" sz="22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的元素，即从数组的第一个元素开始，逐个与被查值</a:t>
            </a:r>
            <a:r>
              <a:rPr lang="en-US" altLang="zh-CN" sz="2200" i="1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zh-CN" sz="22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进行比较。找到后返回</a:t>
            </a:r>
            <a:r>
              <a:rPr lang="en-US" altLang="zh-CN" sz="22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1</a:t>
            </a:r>
            <a:r>
              <a:rPr lang="zh-CN" altLang="zh-CN" sz="22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，否则返回</a:t>
            </a:r>
            <a:r>
              <a:rPr lang="en-US" altLang="zh-CN" sz="22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0</a:t>
            </a:r>
            <a:r>
              <a:rPr lang="zh-CN" altLang="zh-CN" sz="2200">
                <a:solidFill>
                  <a:srgbClr val="0000FF"/>
                </a:solidFill>
                <a:ea typeface="楷体" pitchFamily="49" charset="-122"/>
                <a:cs typeface="Times New Roman" pitchFamily="18" charset="0"/>
              </a:rPr>
              <a:t>，对应的算法如下：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538" y="1428736"/>
            <a:ext cx="6215106" cy="320155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(double a[],int n,double x)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i=0;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while (i&lt;n)	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a[i]==x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break;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(i&lt;n) return 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return 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0034" y="4643446"/>
            <a:ext cx="7929618" cy="1913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600"/>
              </a:lnSpc>
              <a:spcBef>
                <a:spcPts val="60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回答以下问题：</a:t>
            </a:r>
          </a:p>
          <a:p>
            <a:pPr algn="l">
              <a:lnSpc>
                <a:spcPts val="2600"/>
              </a:lnSpc>
              <a:spcBef>
                <a:spcPts val="60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）分析该算法在等概率情况下</a:t>
            </a:r>
            <a:r>
              <a:rPr lang="zh-CN" altLang="zh-CN" sz="2200">
                <a:solidFill>
                  <a:srgbClr val="0066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成功查找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到值为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的元素的最好、最坏和平均时间复杂度。</a:t>
            </a:r>
          </a:p>
          <a:p>
            <a:pPr algn="l">
              <a:lnSpc>
                <a:spcPts val="2600"/>
              </a:lnSpc>
              <a:spcBef>
                <a:spcPts val="60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）假设被查值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x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在数组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中的概率是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p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，求算法的平均时间复杂度。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27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3786190"/>
            <a:ext cx="8215370" cy="275973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</a:t>
            </a:r>
            <a:r>
              <a:rPr lang="zh-CN" altLang="en-US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仅考虑查找成功的情况。</a:t>
            </a:r>
            <a:endParaRPr lang="en-US" altLang="zh-CN">
              <a:solidFill>
                <a:srgbClr val="0066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算法的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while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语句是基本操作（用于元素比较）。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数组中有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个元素，当第一个元素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[0]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等于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，此时基本操作仅执行一次，此时呈现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最好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的情况，即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)=1=O(1)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中最后一个元素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等于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，此时基本操作执行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次，此时呈现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最坏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的情况，即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W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=O(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214290"/>
            <a:ext cx="50006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7290" y="370321"/>
            <a:ext cx="6215106" cy="320155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(double a[],int n,double x)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i=0;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while (i&lt;n)	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a[i]==x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break;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(i&lt;n) return 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return 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28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72" y="3786190"/>
            <a:ext cx="8143932" cy="116955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对于成功查找的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平均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情况，假设查找到每个元素的概率相同，则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])=1/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  <a:cs typeface="Consolas" pitchFamily="49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），而成功找到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元素时基本操作正好执行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次，所以：</a:t>
            </a:r>
          </a:p>
        </p:txBody>
      </p:sp>
      <p:pic>
        <p:nvPicPr>
          <p:cNvPr id="137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5072074"/>
            <a:ext cx="6169134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1000100" y="285728"/>
            <a:ext cx="6215106" cy="320155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(double a[],int n,double x)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i=0;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while (i&lt;n)	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a[i]==x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break;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(i&lt;n) return 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return 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29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8501122" cy="240065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）这里是既考虑成功查找又考虑不成功查找的情况。</a:t>
            </a: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对于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成功查找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，被查值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中的概率为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时，算法执行有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种成功情况，在等概率情况下元素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被查找到的概率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])=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，成功找到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元素时基本操作执行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次。</a:t>
            </a: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对于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不成功查找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，其概率为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1-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，所有不成功查找基本操作都只执行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次，不妨看成一种情况。</a:t>
            </a:r>
          </a:p>
        </p:txBody>
      </p:sp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4" y="3000372"/>
            <a:ext cx="5214974" cy="1793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71472" y="5000636"/>
            <a:ext cx="8001056" cy="90794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如果已知查找的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有一半的机会在数组中，此时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=1/2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，则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A(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)=[(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+1)/4]+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30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72" y="571480"/>
            <a:ext cx="4929222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1.2.2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算法空间复杂度分析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1571612"/>
            <a:ext cx="8143932" cy="347787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一个算法的存储量包括形参所占空间和临时变量所占空间。在对算法进行存储空间分析时，只考察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临时变量所占空间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空间复杂度是对一个算法在运行过程中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临时占用的存储空间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大小的量度，一般也作为问题规模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的函数，以数量级形式给出，记作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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))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其中渐进符号的含义与时间复杂度中的含义相同。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31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4628" name="Text Box 4"/>
          <p:cNvSpPr txBox="1">
            <a:spLocks noChangeArrowheads="1"/>
          </p:cNvSpPr>
          <p:nvPr/>
        </p:nvSpPr>
        <p:spPr bwMode="auto">
          <a:xfrm>
            <a:off x="571472" y="2000240"/>
            <a:ext cx="3822616" cy="221457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3600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max</a:t>
            </a: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(int a[]</a:t>
            </a:r>
            <a:r>
              <a:rPr kumimoji="0" lang="zh-CN" altLang="en-US" sz="20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int n) {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0" marR="0" lvl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int maxi=0;</a:t>
            </a:r>
          </a:p>
          <a:p>
            <a:pPr marL="0" marR="0" lvl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  for (int i=1;i&lt;n;i++)</a:t>
            </a:r>
          </a:p>
          <a:p>
            <a:pPr marL="0" marR="0" lvl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    if (a[i]&gt;a[maxi])</a:t>
            </a:r>
          </a:p>
          <a:p>
            <a:pPr marL="0" marR="0" lvl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	    maxi=i;</a:t>
            </a:r>
          </a:p>
          <a:p>
            <a:pPr marL="0" marR="0" lvl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return a[maxi];</a:t>
            </a:r>
          </a:p>
          <a:p>
            <a:pPr marL="0" marR="0" lvl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154627" name="AutoShape 3"/>
          <p:cNvSpPr>
            <a:spLocks/>
          </p:cNvSpPr>
          <p:nvPr/>
        </p:nvSpPr>
        <p:spPr bwMode="auto">
          <a:xfrm>
            <a:off x="4501463" y="2373234"/>
            <a:ext cx="221815" cy="1403448"/>
          </a:xfrm>
          <a:prstGeom prst="rightBrace">
            <a:avLst>
              <a:gd name="adj1" fmla="val 52707"/>
              <a:gd name="adj2" fmla="val 50000"/>
            </a:avLst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154626" name="Text Box 2"/>
          <p:cNvSpPr txBox="1">
            <a:spLocks noChangeArrowheads="1"/>
          </p:cNvSpPr>
          <p:nvPr/>
        </p:nvSpPr>
        <p:spPr bwMode="auto">
          <a:xfrm>
            <a:off x="4929190" y="2428868"/>
            <a:ext cx="4000528" cy="140229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函数</a:t>
            </a:r>
            <a:r>
              <a:rPr kumimoji="0" lang="zh-CN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体内分配的变量空间为临时空间，不计形参占用的空间，这里的仅计</a:t>
            </a:r>
            <a:r>
              <a:rPr kumimoji="0" lang="en-US" altLang="zh-CN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kumimoji="0" lang="zh-CN" altLang="en-US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kumimoji="0" lang="en-US" altLang="zh-CN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maxi</a:t>
            </a:r>
            <a:r>
              <a:rPr kumimoji="0" lang="zh-CN" altLang="en-US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变量的空间，其空间复杂度为</a:t>
            </a:r>
            <a:r>
              <a:rPr kumimoji="0" lang="en-US" altLang="zh-CN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O(1)</a:t>
            </a:r>
            <a:r>
              <a:rPr kumimoji="0" lang="zh-CN" altLang="en-US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00" y="1000108"/>
            <a:ext cx="2357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算法的临时空间</a:t>
            </a:r>
            <a:endParaRPr lang="zh-CN" altLang="en-US">
              <a:solidFill>
                <a:srgbClr val="0000FF"/>
              </a:solidFill>
              <a:latin typeface="楷体" pitchFamily="49" charset="-122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32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071538" y="4071942"/>
            <a:ext cx="7500990" cy="132343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该算法是一个非递归算法，其中只临时分配了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固定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个变量的空间，它与问题规模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无关，所以其空间复杂度均为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O(1)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，即该算法为原地工作算法。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48" y="214290"/>
            <a:ext cx="6143668" cy="461665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1.5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分析例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1.2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算法的空间复杂度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7290" y="928670"/>
            <a:ext cx="5286412" cy="224676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2000" b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fun</a:t>
            </a: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n) {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s=0,i,j,k;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(i=0;i&lt;n;i++)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nb-NO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for (j=0;j&lt;i;j++)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nb-NO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for (k=0;k&lt;j;k++)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nb-NO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 s++;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nb-NO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857224" y="3569617"/>
            <a:ext cx="50006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33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>
            <a:hlinkClick r:id="rId2" action="ppaction://hlinksldjump"/>
          </p:cNvPr>
          <p:cNvSpPr txBox="1"/>
          <p:nvPr/>
        </p:nvSpPr>
        <p:spPr>
          <a:xfrm>
            <a:off x="2143108" y="428604"/>
            <a:ext cx="504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1.3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算法设计工具</a:t>
            </a: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—STL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0034" y="1571612"/>
            <a:ext cx="328614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pt-BR" altLang="zh-CN" sz="2800">
                <a:latin typeface="Consolas" pitchFamily="49" charset="0"/>
                <a:ea typeface="微软雅黑" pitchFamily="34" charset="-122"/>
              </a:rPr>
              <a:t>1.3.1 STL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概述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1226174" y="4743824"/>
            <a:ext cx="5834396" cy="1385219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176" name="AutoShape 8"/>
          <p:cNvSpPr>
            <a:spLocks noChangeArrowheads="1"/>
          </p:cNvSpPr>
          <p:nvPr/>
        </p:nvSpPr>
        <p:spPr bwMode="auto">
          <a:xfrm>
            <a:off x="1226174" y="2657782"/>
            <a:ext cx="5834396" cy="724548"/>
          </a:xfrm>
          <a:prstGeom prst="bevel">
            <a:avLst>
              <a:gd name="adj" fmla="val 12500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算　法</a:t>
            </a:r>
            <a:endParaRPr kumimoji="0" lang="zh-CN" sz="20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1499592" y="5326018"/>
            <a:ext cx="1321522" cy="6205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对象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3085713" y="5326018"/>
            <a:ext cx="1322992" cy="6205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对象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4651254" y="5473848"/>
            <a:ext cx="610046" cy="49094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…</a:t>
            </a:r>
            <a:endParaRPr kumimoji="0" lang="zh-CN" altLang="zh-CN" sz="20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5678778" y="5326018"/>
            <a:ext cx="1322992" cy="6205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288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3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对象</a:t>
            </a:r>
            <a:r>
              <a:rPr kumimoji="0" lang="en-US" altLang="zh-CN" sz="20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171" name="AutoShape 3"/>
          <p:cNvSpPr>
            <a:spLocks noChangeArrowheads="1"/>
          </p:cNvSpPr>
          <p:nvPr/>
        </p:nvSpPr>
        <p:spPr bwMode="auto">
          <a:xfrm>
            <a:off x="3619320" y="3314803"/>
            <a:ext cx="1058394" cy="1374269"/>
          </a:xfrm>
          <a:prstGeom prst="upDownArrow">
            <a:avLst>
              <a:gd name="adj1" fmla="val 50000"/>
              <a:gd name="adj2" fmla="val 20917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eaVert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迭代器</a:t>
            </a:r>
            <a:endParaRPr kumimoji="0" lang="zh-CN" sz="20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2508006" y="4822302"/>
            <a:ext cx="768806" cy="42341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容器</a:t>
            </a:r>
            <a:endParaRPr kumimoji="0" lang="zh-CN" sz="20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34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285728"/>
            <a:ext cx="3071834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1.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什么是</a:t>
            </a: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STL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容 器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00034" y="1214422"/>
          <a:ext cx="8429684" cy="4714908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000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7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909">
                <a:tc>
                  <a:txBody>
                    <a:bodyPr/>
                    <a:lstStyle/>
                    <a:p>
                      <a:pPr indent="269875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数据结构容器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说</a:t>
                      </a:r>
                      <a:r>
                        <a:rPr lang="en-US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  </a:t>
                      </a: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明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头文件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909"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vector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向量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&lt;vector&gt;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909"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string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字符串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&lt;string&gt;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909"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deque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双端队列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&lt;deque&gt;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909"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list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链表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&lt;list&gt;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909"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stack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栈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&lt;stack&gt;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909"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queue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队列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&lt;queue&gt;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909"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priority_queue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优先队列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&lt;queue&gt;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909"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set/multiset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集合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/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多重集合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&lt;set&gt;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909"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map/multimap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映射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/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多重映射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&lt;map&gt;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909"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unordered_set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哈希集合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&lt;unordered_set&gt;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909"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unordered_map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哈希映射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unordered_map&gt;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35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357166"/>
            <a:ext cx="3071834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2.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什么是</a:t>
            </a: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STL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34" y="1357298"/>
            <a:ext cx="8215370" cy="283346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STL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提供了大约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个通用算法，例如，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sort()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用于序列数据的排序，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find()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用于序列数据的查找等。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这些算法采用模板函数设计（即泛型设计），具有很好的通用性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在复杂算法设计中灵活使用它们可以简化实现细节，提高算法设计效率。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36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8595" y="381000"/>
          <a:ext cx="8572560" cy="561977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596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4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1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290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通用算法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说</a:t>
                      </a:r>
                      <a:r>
                        <a:rPr lang="en-US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  </a:t>
                      </a: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明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头文件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580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accumulate(beg,end,initv)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返回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[beg,end)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范围内的元素和再加上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initv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&lt;numeric&gt;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580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binary_search(beg,end,val)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在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[beg,end)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指定的有序序列中二分查找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val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&lt;algorithm&gt;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580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lower_bound(beg,end,val)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在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[beg,end)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指定的有序序列中二分查找第一个大于等于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val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的位置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&lt;algorithm&gt;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4580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upper_bound(beg,end,val)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在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[beg,end)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指定的有序序列中二分查找第一个大于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val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的位置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&lt;algorithm&gt;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290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max(a,b)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返回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a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和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b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中最大值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&lt;algorithm&gt;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290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min(a,b)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返回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a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和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b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中最小值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&lt;algorithm&gt;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290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swap(a,b)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交换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a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和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b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&lt;algorithm&gt;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290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reverse(beg,end)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逆置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[beg,end)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范围内的元素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&lt;algorithm&gt;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37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28595" y="381000"/>
          <a:ext cx="8572560" cy="5548329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596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4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1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246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通用算法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说</a:t>
                      </a:r>
                      <a:r>
                        <a:rPr lang="en-US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  </a:t>
                      </a: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明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头文件</a:t>
                      </a:r>
                      <a:endParaRPr lang="zh-CN" sz="2000" b="1" kern="100">
                        <a:solidFill>
                          <a:srgbClr val="FF0000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4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prev_permutation(beg,end)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重置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[beg,end)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标记的排列为上一个排列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&lt;algorithm&gt;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884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next_permutation(beg,end)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重置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[beg,end)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标记的排列为下一个排列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&lt;algorithm&gt;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884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sort(beg,end,[comp])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根据比较关系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comp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对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[beg,end)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范围内的元素排序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&lt;algorithm&gt;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884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sort(beg,end,[comp])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根据比较关系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comp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对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[beg,end)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范围内的元素采用稳定方法排序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&lt;algorithm&gt;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663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find(beg,end,val)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在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[beg,end)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范围内查找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val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元素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&lt;algorithm&gt;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2884">
                <a:tc>
                  <a:txBody>
                    <a:bodyPr/>
                    <a:lstStyle/>
                    <a:p>
                      <a:pPr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find(beg,end,val,pred)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在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[beg,end)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范围内查找满足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pred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谓词的元素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&lt;algorithm&gt;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Times New Roman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38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428604"/>
            <a:ext cx="3071834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3.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什么是</a:t>
            </a:r>
            <a:r>
              <a:rPr lang="en-US" altLang="zh-CN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STL</a:t>
            </a:r>
            <a:r>
              <a:rPr lang="zh-CN" altLang="en-US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j-lt"/>
                <a:ea typeface="微软雅黑" pitchFamily="34" charset="-122"/>
                <a:cs typeface="Times New Roman" pitchFamily="18" charset="0"/>
              </a:rPr>
              <a:t>迭代器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910" y="1500174"/>
            <a:ext cx="8001056" cy="204158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STL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迭代器用于访问容器中的数据对象。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迭代器像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C/C++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中的指针，算法通过迭代器来定位和操作容器中的元素。</a:t>
            </a: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使用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*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操作符来获取数据。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39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857232"/>
            <a:ext cx="5643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迭代器的常用运算如下：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34" y="1571612"/>
            <a:ext cx="6929486" cy="163121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++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：正向移动迭代器。</a:t>
            </a: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--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：反向移动迭代器。</a:t>
            </a: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*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：返回迭代器所指的元素值。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40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2000240"/>
            <a:ext cx="8786874" cy="166465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vector&lt;int&gt;::iterator it;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定义正向迭代器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it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for (it=myv.begin();it!=myv.end();++it)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从头到尾遍历元素</a:t>
            </a: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printf("%d ",*it);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输出：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1 2 3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printf("\n");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4282" y="308598"/>
            <a:ext cx="84296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例如，以下语句定义一个含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个整数的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myv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</a:p>
          <a:p>
            <a:pPr algn="l">
              <a:lnSpc>
                <a:spcPct val="100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vector&lt;int&gt; myv={1,2,3};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如果要正向输出所有元素，可以使用正向迭代器：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282" y="4660356"/>
            <a:ext cx="8786874" cy="126897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/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for(int x:myv)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printf("%d ",x);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输出：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1 2 3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printf("\n");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472" y="4071942"/>
            <a:ext cx="1357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或者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41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2143116"/>
            <a:ext cx="8786874" cy="191088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vector&lt;int&gt;::reverse_iterator rit;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定义反向迭代器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rit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for (rit=myv.rbegin();rit!=myv.rend();++rit)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从尾到头遍历</a:t>
            </a:r>
          </a:p>
          <a:p>
            <a:pPr algn="l" defTabSz="360000">
              <a:lnSpc>
                <a:spcPct val="100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printf("%d ",*rit);									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输出：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3 2 1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printf("\n");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4282" y="308598"/>
            <a:ext cx="84296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例如，以下语句定义一个含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个整数的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myv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</a:p>
          <a:p>
            <a:pPr algn="l">
              <a:lnSpc>
                <a:spcPct val="100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vector&lt;int&gt; myv={1,2,3};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如果要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反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向输出所有元素，可以使用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反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向迭代器：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42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571480"/>
            <a:ext cx="542928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1.3.2 vector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（向量容器）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1785926"/>
            <a:ext cx="8143932" cy="301621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向量容器相当于动态数组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当超过空间大小时通常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按两倍大小扩展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，用于存储具有相同数据类型的序列元素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可以从末尾快速的插入与删除元素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快速地随机访问元素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在序列中间插入、删除元素较慢，因为需要移动插入或删除处后面的所有元素。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43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285860"/>
            <a:ext cx="8786874" cy="383448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v1;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定义元素为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int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的向量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v2(10);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指定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的初始大小为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int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元素</a:t>
            </a:r>
          </a:p>
          <a:p>
            <a:pPr algn="l" defTabSz="360000">
              <a:lnSpc>
                <a:spcPts val="3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v3(10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指定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v3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的初始大小为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，</a:t>
            </a:r>
            <a:endParaRPr lang="en-US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且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元素值均为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v4(a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a+5);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用数组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a[0..4]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共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个元素</a:t>
            </a:r>
            <a:endParaRPr lang="en-US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初始化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v4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v5(v1);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由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复制产生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v5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428604"/>
            <a:ext cx="6715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定义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容器的几种方式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44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428604"/>
            <a:ext cx="500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主要的成员函数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1088485"/>
            <a:ext cx="8715436" cy="4555093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empty()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：判断容器是否为空。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：返回容器的中的实际元素个数。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reserve(n)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：为容器预分配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个元素的存储空间。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capacity()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：返回容器在重新进行内存分配以前所能容纳的元素个数。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resize(n) 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：调整容器的大小，使其能容纳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[k]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：返回容器中下标为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at(k)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：与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相同。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front()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：获取容器中的首元素。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back()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：获取容器中的尾元素。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push_back()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：在容器尾部添加了一个元素。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45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428604"/>
            <a:ext cx="500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主要的成员函数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1154559"/>
            <a:ext cx="8715436" cy="3631763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pop_back()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：删除容器尾部的元素。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insert(pos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pos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位置插入元素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erase()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：删除容器中某个迭代器或者迭代器区间指定的元素。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clear()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：删除容器中所有元素。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begin()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：返回容器中首元素的迭代器。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：返回容器中尾元素后面一个位置的迭代器。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rbegin()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：返回容器中尾元素的迭代器。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rend()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：返回容器中首元素前面一个位置的迭代器。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46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1428736"/>
            <a:ext cx="8429684" cy="324383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在许多应用中需要对数据排序，排序有多种方式，如递增排序、递减排序以及按某个成员排序等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342900" indent="-3429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可以利用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STL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通用算法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sort()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实现各种方式的排序，只是该算法针对的是采用数组（如数组、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deque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容器）存储的数据，不适合链表（如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容器）数据。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342900" indent="-3429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通用算法使用十分灵活，下面以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为例按照其元素类型分别讨论。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47</a:t>
            </a:fld>
            <a:r>
              <a:rPr lang="en-US" altLang="zh-CN"/>
              <a:t>/129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48" y="642918"/>
            <a:ext cx="214314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sort</a:t>
            </a: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的应用</a:t>
            </a:r>
            <a:endParaRPr lang="zh-CN" altLang="zh-CN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428604"/>
            <a:ext cx="3857652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）内置数据类型的排序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34" y="1357298"/>
            <a:ext cx="8215370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对于内置数据类型的数据，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sort()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默认是以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less&lt;T&gt;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（小于关系函数）作为关系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比较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函数实现递增排序，为了实现递减排序，需要调用大于关系函数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greater&lt;T&gt;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844" y="3302187"/>
            <a:ext cx="8858312" cy="226995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myv={2,1,5,4,3};						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//myv={2,1,5,4,3}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(myv.begin(),myv.end(),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less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&lt;int&gt;());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指定递增排序</a:t>
            </a: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(myv.begin(),myv.end(),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greater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&lt;int&gt;());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指定递减排序</a:t>
            </a: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(myv.begin(),myv.end());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不指定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less&lt;int&gt;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，</a:t>
            </a:r>
            <a:endParaRPr lang="en-US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		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默认为递增排序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48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1285860"/>
            <a:ext cx="8858312" cy="216736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2400"/>
              </a:spcBef>
            </a:pP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(myv.begin(),myv.end(),[](int a,int b)-&gt;bool { return a&lt;b; });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递增排序（默认）</a:t>
            </a:r>
          </a:p>
          <a:p>
            <a:pPr algn="l" defTabSz="360000">
              <a:lnSpc>
                <a:spcPts val="3200"/>
              </a:lnSpc>
              <a:spcBef>
                <a:spcPts val="2400"/>
              </a:spcBef>
            </a:pP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(myv.begin(),myv.end(),[](int a,int b)-&gt;bool { return a&gt;b; });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递减排序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96" y="500042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Lambda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表达式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形式：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49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428604"/>
            <a:ext cx="4857784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2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）</a:t>
            </a: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自定义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置数据类型的排序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96" y="1500174"/>
            <a:ext cx="8501122" cy="3329116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400"/>
              </a:lnSpc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方式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：在声明结构体类型中重载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运算符，以实现按指定成员的递增或者递减排序。如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sort(myv.begin(),myv.end())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调用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Stud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结构体中默认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运算符对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myv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容器的所有元素实现排序。</a:t>
            </a:r>
          </a:p>
          <a:p>
            <a:pPr algn="l">
              <a:lnSpc>
                <a:spcPts val="3400"/>
              </a:lnSpc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方式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：自己在结构体或类中重载函数调用运算符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以实现按指定成员的递增或者递减排序。如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sort(myv.begin(),myv.end(),Cmp())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调用结构体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Cmp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运算符对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myv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容器的所有元素实现排序。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50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428604"/>
            <a:ext cx="8858312" cy="610433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struct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Stud 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学生结构体类型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no;	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学号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string name;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姓名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Stud(int no1,string name1)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构造函数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no=no1;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name=name1;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bool operator&lt;(const Stud &amp;s) const {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方式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：重载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&lt;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运算符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return no&gt;s.no;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用于按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no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递减排序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struct Cmp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方式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：定义关系函数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()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bool operator()(const Stud &amp;s,const Stud &amp;t) const {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return s.name&lt;t.name; 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用于按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name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递增排序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51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428604"/>
            <a:ext cx="8858312" cy="441983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main()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Stud a[]={Stud(2,"Mary"),Stud(1,"John"),Stud(5,"Smith")};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n=sizeof(a)/sizeof(a[0]);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vector&lt;Stud&gt; myv(a,a+n);		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//myv: 2,Mary 1,John 5,Smith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(myv.begin(),myv.end());	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默认使用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&lt;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运算符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 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按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no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递减排序</a:t>
            </a:r>
            <a:endParaRPr lang="en-US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(myv.begin(),myv.end(),Cmp());	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使用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Cmp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()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运算符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 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按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name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递增排序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52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1285860"/>
            <a:ext cx="8858312" cy="216736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2400"/>
              </a:spcBef>
            </a:pP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(myv.begin(),myv.end(),[](Stud&amp; a,Stud&amp; b)-&gt;bool { return 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a.no&lt;b.no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 });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按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no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递增排序</a:t>
            </a:r>
          </a:p>
          <a:p>
            <a:pPr algn="l" defTabSz="360000">
              <a:lnSpc>
                <a:spcPts val="3200"/>
              </a:lnSpc>
              <a:spcBef>
                <a:spcPts val="2400"/>
              </a:spcBef>
            </a:pP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(myv.begin(),myv.end(),[](Stud&amp; a,Stud&amp; b)-&gt;bool { return 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a.name&gt;b.name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 });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按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name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递减排序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96" y="500042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Lambda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表达式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形式：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53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1592316"/>
            <a:ext cx="8643998" cy="383694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1.6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数组中的第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个最大元素（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LeetCode215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★★）。设计一个算法求无序数组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中第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数组的长度）大的整数，注意不是第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个不同的元素，而是数组排序后的第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个最大的元素。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楷体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nums={3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4}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=2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递减排序后是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{6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答案为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，若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=5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，答案为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楷体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要求设计如下成员函数：</a:t>
            </a: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   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楷体" pitchFamily="49" charset="-122"/>
              </a:rPr>
              <a:t>int findKthLargest(vector&lt;int&gt;&amp; nums, int k) {  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楷体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54</a:t>
            </a:fld>
            <a:r>
              <a:rPr lang="en-US" altLang="zh-CN"/>
              <a:t>/129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785786" y="214290"/>
            <a:ext cx="1041400" cy="1044575"/>
            <a:chOff x="857224" y="1071546"/>
            <a:chExt cx="1041400" cy="1044575"/>
          </a:xfrm>
        </p:grpSpPr>
        <p:sp>
          <p:nvSpPr>
            <p:cNvPr id="7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85786" y="2307043"/>
            <a:ext cx="7643866" cy="326509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findKthLargest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 nums,int k)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	int n=nums.size();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(nums.begin(),nums.end());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	return nums[n-k];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395567"/>
            <a:ext cx="1357322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1105429"/>
            <a:ext cx="8072494" cy="938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中全部元素递增排序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则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就是第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个最大元素。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71538" y="6000768"/>
            <a:ext cx="6643734" cy="461665"/>
            <a:chOff x="1071538" y="6286520"/>
            <a:chExt cx="6643734" cy="461665"/>
          </a:xfrm>
        </p:grpSpPr>
        <p:sp>
          <p:nvSpPr>
            <p:cNvPr id="7" name="TextBox 6"/>
            <p:cNvSpPr txBox="1"/>
            <p:nvPr/>
          </p:nvSpPr>
          <p:spPr>
            <a:xfrm>
              <a:off x="1857356" y="6286520"/>
              <a:ext cx="58579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112ms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44.4MB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55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85786" y="2500306"/>
            <a:ext cx="7643866" cy="326509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findKthLargest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 nums,int k)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	int n=nums.size();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(nums.begin(),nums.end(),greater&lt;int&gt;());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	return nums[k-1];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395567"/>
            <a:ext cx="1357322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1105429"/>
            <a:ext cx="8072494" cy="9178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中全部元素递减排序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</a:t>
            </a:r>
          </a:p>
          <a:p>
            <a:pPr marL="457200" indent="-4572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则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就是第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个最大元素。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1071538" y="6072206"/>
            <a:ext cx="6643734" cy="461665"/>
            <a:chOff x="1071538" y="6286520"/>
            <a:chExt cx="6643734" cy="461665"/>
          </a:xfrm>
        </p:grpSpPr>
        <p:sp>
          <p:nvSpPr>
            <p:cNvPr id="7" name="TextBox 6"/>
            <p:cNvSpPr txBox="1"/>
            <p:nvPr/>
          </p:nvSpPr>
          <p:spPr>
            <a:xfrm>
              <a:off x="1857356" y="6286520"/>
              <a:ext cx="58579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92ms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44.5MB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56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571480"/>
            <a:ext cx="542928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1.3.3 string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（</a:t>
            </a:r>
            <a:r>
              <a:rPr lang="zh-CN" altLang="en-US" sz="2800">
                <a:latin typeface="Consolas" pitchFamily="49" charset="0"/>
                <a:ea typeface="微软雅黑" pitchFamily="34" charset="-122"/>
              </a:rPr>
              <a:t>字符串容器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）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1857364"/>
            <a:ext cx="7858180" cy="3070712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string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是一个保存字符序列的容器，它的所有元素为字符类型，类似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vector&lt;char&gt;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除了字符串的一些常用操作以外，还包含了所有的序列容器的操作。字符串的常用操作包括增加、删除、修改、查找比较、连接、输入、输出等。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string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重载了许多运算符，包括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+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&lt;&lt;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等。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57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142984"/>
            <a:ext cx="8786874" cy="44922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string()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：建立一个空的字符串。</a:t>
            </a: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string(const string&amp; str)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：用字符串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建立当前字符串。</a:t>
            </a: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string(const string&amp; str, size_type i)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：用字符串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起始于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的字符建立当前字符串。</a:t>
            </a: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string(const string&amp; str,size_type i,size_type len)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：用字符串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起始于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len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个字符建立当前字符串。</a:t>
            </a: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string(const char* cstr)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：用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C-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字符串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cstr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建立当前字符串。</a:t>
            </a: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string(const char* chars,size_type len)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：用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C-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字符串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cstr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的开头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len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个字符建立当前字符串。</a:t>
            </a: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string(size_type len,char c)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：用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len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个字符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建立当前字符串。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20" y="428604"/>
            <a:ext cx="6715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定义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string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容器的几种方式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58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285728"/>
            <a:ext cx="500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string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主要的成员函数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857232"/>
            <a:ext cx="8715436" cy="5478423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empty()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：判断当前字符串是否为空串。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：返回当前字符串的实际字符个数（返回结果为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size_type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类型）。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length()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：返回当前字符串的实际字符个数。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compare(const string&amp; str)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：返回当前字符串与字符串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的比较结果。在比较时，若两者相等，返回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；前者小于后者，返回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；否则返回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[k]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：返回当前字符串中下标为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的字符。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at(k)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：与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相同。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front()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：获取当前字符串的首字符。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back()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：获取当前字符串中的尾字符。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push_back()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：在当前字符串尾部添加了一个字符。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pop_back()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：删除当前字符串尾部的字符。</a:t>
            </a: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append(str)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：在当前字符串的末尾添加一个字符串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59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142852"/>
            <a:ext cx="500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string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主要的成员函数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（续）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857232"/>
            <a:ext cx="8715436" cy="582839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insert(size_type 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const string&amp; str)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：在当前字符串的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处插入一个字符串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find(string&amp; s,size_type pos=0)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：在当前字符串中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pos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位置开始查找字符串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的第一个位置，找到后返回其位置，没有找到返回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replace(size_type 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size_type len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const string&amp; str)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：将当前字符串中起始于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len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个字符用一个字符串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替换。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replace(iterator beg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iterator end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const string&amp; str)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：将当前字符串中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[beg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end)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区间的所有字符用字符串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替换。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substr(size_type i)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：返回当前字符串起始于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的子串。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substr(size_type 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size_type len)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：返回当前字符串起始于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的长度为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len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的子串。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clear()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：删除当前字符串中的所有的字符。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erase(size_type i)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：删除当前字符串的从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开始的所有字符。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erase(size_type 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size_type len)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：删除当前字符串的从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开始的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len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个字符。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60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1467841"/>
            <a:ext cx="8643998" cy="324704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12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1.7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字符串中的单词数（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LintCode1243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★）。给定一个字符串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，其中一个单词定义为不含空格的连续字符串，单词用空格分隔，设计一个算法求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中的单词数。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s="Hello, my name is John"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，对应的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个单词是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"Hello"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"my"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"name"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"is"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"John"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要求设计的成员函数如下：</a:t>
            </a:r>
          </a:p>
          <a:p>
            <a:pPr algn="l">
              <a:lnSpc>
                <a:spcPts val="3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    int countSegments(string &amp;s) { 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61</a:t>
            </a:fld>
            <a:r>
              <a:rPr lang="en-US" altLang="zh-CN"/>
              <a:t>/129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85786" y="214290"/>
            <a:ext cx="1041400" cy="1044575"/>
            <a:chOff x="857224" y="1071546"/>
            <a:chExt cx="1041400" cy="1044575"/>
          </a:xfrm>
        </p:grpSpPr>
        <p:sp>
          <p:nvSpPr>
            <p:cNvPr id="7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00034" y="395567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1105429"/>
            <a:ext cx="8072494" cy="283988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8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存放单词数（初始时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置为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8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遍历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，先跳过开头的空格，向后查找第一个空格位置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，如果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说明找到了空格，则该空格之前有一个单词，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，再跳过连续的空格继续上述过程。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8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循环结束后若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遍历完时返回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，否则说明最后还有一个单词，返回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62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42852"/>
            <a:ext cx="8643998" cy="606586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countSegments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(string &amp;s)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	int n=s.length();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if(n==0) return 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int ans=0;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存放答案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int i=0;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while(i&lt;n &amp;&amp; s[i]==' ') i++;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跳过开头的空格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int j=s.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(" ",i);    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查找后面的空格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while (j!=-1)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ans++;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找到一个单词后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i=j+1;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while(i&lt;n &amp;&amp; s[i]==' ') i++;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跳过中间的空格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j=s.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find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(" ",i);       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查找下一个空格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if(i==n) return ans;         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遍历完时返回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ans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else return ans+1;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未遍历完时返回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ans+1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71538" y="6253483"/>
            <a:ext cx="6643734" cy="461665"/>
            <a:chOff x="1071538" y="6286520"/>
            <a:chExt cx="6643734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1857356" y="6286520"/>
              <a:ext cx="58579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41ms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4.13MB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63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571480"/>
            <a:ext cx="542928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1.3.4 deque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（双端队列容器）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1643050"/>
            <a:ext cx="8286808" cy="324383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deque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是一个双端队列类模板。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所谓双端队列就是将其中的所有元素看成是一个序列，这样有两个端点（分别称为队头端和队尾端），支持在两端插入和删除元素操作。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双端队列容器不像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把所有的元素保存在一块连续的内存块，而是采用多个连续的存储块存放数据元素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。所有扩容时性能较好。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64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142984"/>
            <a:ext cx="8786874" cy="257773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deque&lt;int&gt; dq1;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定义元素为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int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的双端队列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dq1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deque&lt;int&gt; dq2(10);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指定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dq2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的初始大小为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int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元素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deque&lt;int&gt; dq3(10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-1);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指定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dq3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个元素的初值均为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deque&lt;int&gt; dq4(dq2.begin()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dq2.end());		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dq2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的所有元素初始化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dq4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428604"/>
            <a:ext cx="6715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定义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deque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容器的几种方式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65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285728"/>
            <a:ext cx="500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deque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主要的成员函数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913006"/>
            <a:ext cx="8215370" cy="5444952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empty()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：判断双端队列容器是否为空队。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：返回双端队列容器中元素个数。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front()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：取队头元素。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back()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：取队尾元素。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push_front(e)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：在队头插入元素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push_back(e)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：在队尾插入元素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pop_front()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：删除队头一个元素。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pop_back()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：删除队尾一个元素。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erase()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：从双端队列容器中删除一个或几个元素。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clear()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：删除双端队列容器中所有元素。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begin()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：返回容器中首元素的迭代器。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：返回容器中尾元素后面一个位置的迭代器。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rbegin()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：返回容器中尾元素的迭代器。</a:t>
            </a: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rend()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：返回容器中首元素前面一个位置的迭代器。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66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1643195"/>
            <a:ext cx="8643998" cy="350031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1.8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滑动窗口（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POJ2823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）。时间限制：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12000ms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，空间限制：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65536KB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给定一个大小为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10^6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）的整数数组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，有一个长度为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的滑动窗口从左向右滑过数组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，每次移动一个元素，求该滑动窗口中最小元素和最大元素的序列。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7}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，得到最小元素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序列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，最大元素的序列是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7}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35" name="灯片编号占位符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67</a:t>
            </a:fld>
            <a:r>
              <a:rPr lang="en-US" altLang="zh-CN"/>
              <a:t>/129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785786" y="455599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500042"/>
            <a:ext cx="8643998" cy="446115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输入格式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：输入由两行组成，第一行是两个整数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，第二行包含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个整数，整数之间用空格分隔。</a:t>
            </a: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输出格式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：输出两行，第一行是滑动窗口最小元素序列，第二行是滑动窗口最大元素序列。</a:t>
            </a: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输入样例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8 3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 3 -1 -3 5 3 6 7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输出样例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-1 -3 -3 -3 3 3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3 3 5 5 6 7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68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428594" y="1341582"/>
          <a:ext cx="8429688" cy="38880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642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862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1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-1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-3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5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6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7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最小元素：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-1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，最大元素：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-1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-3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5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6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7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最小元素：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-3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，最大元素：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-1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-3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5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6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7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最小元素：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-3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，最大元素：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5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-1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-3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5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6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7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最小元素：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-3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，最大元素：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5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-1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-3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5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6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7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最小元素：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，最大元素：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6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b="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-1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-3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5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6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bg1"/>
                          </a:solidFill>
                          <a:latin typeface="Consolas" pitchFamily="49" charset="0"/>
                          <a:ea typeface="仿宋" pitchFamily="49" charset="-122"/>
                        </a:rPr>
                        <a:t>7</a:t>
                      </a:r>
                      <a:endParaRPr lang="zh-CN" sz="2000" b="1" kern="100">
                        <a:solidFill>
                          <a:schemeClr val="bg1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最小元素：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3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，最大元素：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7</a:t>
                      </a:r>
                      <a:endParaRPr lang="zh-CN" sz="20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</a:endParaRPr>
                    </a:p>
                  </a:txBody>
                  <a:tcPr marL="62345" marR="62345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500034" y="395567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7" name="灯片编号占位符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69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14282" y="785794"/>
            <a:ext cx="8786874" cy="4555093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考虑求滑动窗口最大元素序列，定义一个双端队列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maxdq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，用队头元素表示当前滑动窗口内最大元素的位置（下标），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存放所有滑动窗口中的最大元素（长度为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的数组中长度为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的滑动窗口共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遍历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，对于数组元素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① 若队列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maxdq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为空，将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从队尾进队。</a:t>
            </a: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② 若队列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maxdq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不空，将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和队尾元素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=nums[maxdq.back()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）进行比较，若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大于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从队尾出队，直到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小于等于队尾元素或队列为空，再将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从队尾进队。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70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14282" y="785794"/>
            <a:ext cx="8786874" cy="345222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对于当前滑动窗口，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队头元素位置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maxdq.front()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“过期”，也就是满足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-maxdp.front()</a:t>
            </a:r>
            <a:r>
              <a:rPr lang="zh-CN" altLang="zh-CN">
                <a:solidFill>
                  <a:srgbClr val="FF00FF"/>
                </a:solidFill>
                <a:latin typeface="+mj-ea"/>
                <a:ea typeface="+mj-ea"/>
              </a:rPr>
              <a:t>≥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，则将队头元素从队头出队。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时将新的队头元素作为滑动窗口的最大值添加的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中。</a:t>
            </a:r>
          </a:p>
          <a:p>
            <a:pPr marL="457200" indent="-457200" algn="l" defTabSz="360000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求滑动窗口最小元素序列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minans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时定义一个双端队列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mindq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，操作过程与上述过程类似。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71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72" y="1280212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nums: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" name="Rectangle 12" descr="浅色上对角线"/>
          <p:cNvSpPr>
            <a:spLocks noChangeArrowheads="1"/>
          </p:cNvSpPr>
          <p:nvPr/>
        </p:nvSpPr>
        <p:spPr bwMode="auto">
          <a:xfrm>
            <a:off x="1835881" y="2400418"/>
            <a:ext cx="2874783" cy="5000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160"/>
              </a:lnSpc>
            </a:pPr>
            <a:endParaRPr lang="zh-CN" altLang="en-US" sz="1800"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1775573" y="2078172"/>
            <a:ext cx="796163" cy="20782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前端</a:t>
            </a: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3990151" y="2093665"/>
            <a:ext cx="653287" cy="2964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ts val="216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后端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28" y="1280212"/>
            <a:ext cx="642942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0[</a:t>
            </a:r>
            <a:r>
              <a:rPr lang="en-US" altLang="zh-CN" sz="18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]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71670" y="1280212"/>
            <a:ext cx="642942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1[</a:t>
            </a:r>
            <a:r>
              <a:rPr lang="en-US" altLang="zh-CN" sz="18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3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]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14612" y="1280212"/>
            <a:ext cx="642942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2[</a:t>
            </a:r>
            <a:r>
              <a:rPr lang="en-US" altLang="zh-CN" sz="18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5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]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57554" y="1280212"/>
            <a:ext cx="642942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3[</a:t>
            </a:r>
            <a:r>
              <a:rPr lang="en-US" altLang="zh-CN" sz="18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]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00496" y="1280212"/>
            <a:ext cx="642942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4[</a:t>
            </a:r>
            <a:r>
              <a:rPr lang="en-US" altLang="zh-CN" sz="18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3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]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43438" y="1280212"/>
            <a:ext cx="642942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5[</a:t>
            </a:r>
            <a:r>
              <a:rPr lang="en-US" altLang="zh-CN" sz="18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3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]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86380" y="1280212"/>
            <a:ext cx="642942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6[</a:t>
            </a:r>
            <a:r>
              <a:rPr lang="en-US" altLang="zh-CN" sz="18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6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]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29322" y="1280212"/>
            <a:ext cx="642942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7[</a:t>
            </a:r>
            <a:r>
              <a:rPr lang="en-US" altLang="zh-CN" sz="18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7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]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86578" y="1280212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k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=3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7224" y="3709104"/>
            <a:ext cx="714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ans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0166" y="3721246"/>
            <a:ext cx="35719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5</a:t>
            </a:r>
            <a:endParaRPr lang="zh-CN" altLang="en-US" sz="2000">
              <a:solidFill>
                <a:srgbClr val="FF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071670" y="3721246"/>
            <a:ext cx="35719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5</a:t>
            </a:r>
            <a:endParaRPr lang="zh-CN" altLang="en-US" sz="2000">
              <a:solidFill>
                <a:srgbClr val="FF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643174" y="3721246"/>
            <a:ext cx="35719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5</a:t>
            </a:r>
            <a:endParaRPr lang="zh-CN" altLang="en-US" sz="2000">
              <a:solidFill>
                <a:srgbClr val="FF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14678" y="3721246"/>
            <a:ext cx="35719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4</a:t>
            </a:r>
            <a:endParaRPr lang="zh-CN" altLang="en-US" sz="2000">
              <a:solidFill>
                <a:srgbClr val="FF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86182" y="3721246"/>
            <a:ext cx="35719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6</a:t>
            </a:r>
            <a:endParaRPr lang="zh-CN" altLang="en-US" sz="2000">
              <a:solidFill>
                <a:srgbClr val="FF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57686" y="3721246"/>
            <a:ext cx="35719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Times New Roman" pitchFamily="18" charset="0"/>
              </a:rPr>
              <a:t>7</a:t>
            </a:r>
            <a:endParaRPr lang="zh-CN" altLang="en-US" sz="2000">
              <a:solidFill>
                <a:srgbClr val="FF00FF"/>
              </a:solidFill>
              <a:latin typeface="Consolas" pitchFamily="49" charset="0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2" name="组合 31"/>
          <p:cNvGrpSpPr/>
          <p:nvPr/>
        </p:nvGrpSpPr>
        <p:grpSpPr>
          <a:xfrm>
            <a:off x="1285852" y="4221312"/>
            <a:ext cx="2928958" cy="1136514"/>
            <a:chOff x="1285852" y="3500438"/>
            <a:chExt cx="2928958" cy="1136514"/>
          </a:xfrm>
        </p:grpSpPr>
        <p:sp>
          <p:nvSpPr>
            <p:cNvPr id="30" name="TextBox 29"/>
            <p:cNvSpPr txBox="1"/>
            <p:nvPr/>
          </p:nvSpPr>
          <p:spPr>
            <a:xfrm>
              <a:off x="1285852" y="3929066"/>
              <a:ext cx="29289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结果是</a:t>
              </a:r>
              <a:endPara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  <a:r>
                <a:rPr lang="zh-CN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  <a:r>
                <a:rPr lang="zh-CN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  <a:r>
                <a:rPr lang="zh-CN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  <a:r>
                <a:rPr lang="zh-CN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  <a:r>
                <a:rPr lang="zh-CN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7</a:t>
              </a:r>
              <a:r>
                <a:rPr lang="zh-CN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）</a:t>
              </a:r>
              <a:endParaRPr lang="zh-CN" altLang="en-US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31" name="下箭头 30"/>
            <p:cNvSpPr/>
            <p:nvPr/>
          </p:nvSpPr>
          <p:spPr>
            <a:xfrm>
              <a:off x="2500298" y="3500438"/>
              <a:ext cx="214314" cy="285752"/>
            </a:xfrm>
            <a:prstGeom prst="down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Consolas" pitchFamily="49" charset="0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357158" y="285728"/>
            <a:ext cx="7572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以（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4,3,5,4,3,3,6,7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）序列求最大序列为例（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=3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</a:t>
            </a:r>
          </a:p>
        </p:txBody>
      </p: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72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0.03076 C 0.00312 0.04441 0.00538 0.05806 0.03611 0.06315 C 0.06684 0.06824 0.13351 0.05968 0.18559 0.06153 C 0.23767 0.06338 0.31788 0.06037 0.34826 0.07471 C 0.37865 0.08906 0.37483 0.13139 0.36806 0.14804 C 0.36128 0.1647 0.36181 0.17048 0.30764 0.17441 C 0.25347 0.17835 0.14809 0.17488 0.04271 0.17141 " pathEditMode="relative" ptsTypes="aaaaa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84594E-6 C 0.02084 0.01041 0.04184 0.02082 0.08247 0.02938 C 0.12309 0.03793 0.20834 0.04326 0.24393 0.05135 C 0.27952 0.05945 0.28837 0.06107 0.29653 0.07772 C 0.30469 0.09438 0.33785 0.13578 0.2934 0.15082 C 0.24896 0.16586 0.08455 0.1647 0.02952 0.1684 " pathEditMode="relative" rAng="0" ptsTypes="aaaaaa">
                                      <p:cBhvr>
                                        <p:cTn id="1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00" y="8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1.84594E-6 C 0.05348 0.01781 0.10695 0.03562 0.14063 0.04973 C 0.17431 0.06384 0.19428 0.06731 0.20209 0.08489 C 0.2099 0.10247 0.23716 0.14041 0.18785 0.15521 C 0.13855 0.17002 -0.03489 0.17048 -0.0934 0.17441 " pathEditMode="relative" rAng="0" ptsTypes="aaaaa">
                                      <p:cBhvr>
                                        <p:cTn id="2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00" y="8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1.84594E-6 C -0.00573 -0.00486 -0.01129 -0.00949 0.00659 -0.00162 C 0.02448 0.00624 0.08732 0.02914 0.10781 0.04672 C 0.1283 0.06431 0.13125 0.08674 0.12968 0.10386 C 0.12812 0.12098 0.13837 0.13787 0.09791 0.1492 C 0.05746 0.16053 -0.06927 0.16678 -0.1132 0.17141 " pathEditMode="relative" rAng="0" ptsTypes="aaaaaa">
                                      <p:cBhvr>
                                        <p:cTn id="3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" y="8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1.84594E-6 C 0.02153 0.01388 0.04323 0.02776 0.05399 0.04233 C 0.06476 0.0569 0.06406 0.07263 0.06493 0.08767 C 0.0658 0.1027 0.0691 0.1219 0.05937 0.13324 C 0.04965 0.14457 0.03785 0.14874 0.0066 0.15521 C -0.02465 0.16169 -0.10052 0.16909 -0.12865 0.17279 " pathEditMode="relative" rAng="0" ptsTypes="aaaaaa">
                                      <p:cBhvr>
                                        <p:cTn id="4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0" y="8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84594E-6 C 0.02726 0.03562 0.05313 0.06893 0.02969 0.09808 C 0.00625 0.12722 -0.10521 0.15845 -0.14062 0.17441 " pathEditMode="relative" rAng="0" ptsTypes="aaa">
                                      <p:cBhvr>
                                        <p:cTn id="5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00" y="8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1.84594E-6 C 0.00869 0.03655 0.01754 0.0731 -0.00555 0.09947 C -0.02864 0.12584 -0.07725 0.14573 -0.13854 0.15822 C -0.19982 0.17071 -0.32465 0.17118 -0.37361 0.17441 " pathEditMode="relative" rAng="0" ptsTypes="aaaa">
                                      <p:cBhvr>
                                        <p:cTn id="8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00" y="8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5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556 0.0391 -0.01111 0.07842 -0.02865 0.10248 C -0.04618 0.12654 -0.03681 0.13417 -0.10556 0.14481 C -0.17431 0.15545 -0.30799 0.161 -0.44167 0.16679 " pathEditMode="relative" ptsTypes="aaaA">
                                      <p:cBhvr>
                                        <p:cTn id="10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5" grpId="0"/>
      <p:bldP spid="15" grpId="1"/>
      <p:bldP spid="16" grpId="0"/>
      <p:bldP spid="16" grpId="1"/>
      <p:bldP spid="16" grpId="2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0" grpId="2"/>
      <p:bldP spid="21" grpId="0"/>
      <p:bldP spid="21" grpId="1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220656"/>
            <a:ext cx="8643998" cy="593948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#include&lt;iostream&gt;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#include&lt;vector&gt;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#include&lt;deque&gt;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using namespace std;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#define MAXN 1000005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maxans[MAXN],minans[MAXN];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main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n,k;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scanf("%d%d",&amp;n,&amp;k);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 a;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x;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scanf("%d",&amp;x);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a.push_back(x);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73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42852"/>
            <a:ext cx="8643998" cy="655317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deque&lt;int&gt; maxdq;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deque&lt;int&gt; mindq;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m=0;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for(int i=0;i&lt;n;i++) {  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遍历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中元素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while(!maxdq.empty() &amp;&amp; a[i]&gt;a[maxdq.back()])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maxdq.pop_back();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将队尾小于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的元素从队尾出队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maxdq.push_back(i);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将元素下标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进队尾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if(i-maxdq.front()&gt;=k)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将队头过期的元素从队头出队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maxdq.pop_front();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while(!mindq.empty() &amp;&amp; a[i]&lt;a[mindq.back()])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mindq.pop_back();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将队尾大于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的元素从队尾出队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mindq.push_back(i);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将元素下标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进队尾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if(i-mindq.front()&gt;=k)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将队头过期的元素从队头出队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mindq.pop_front();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if(i&gt;=k-1)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//i&gt;=k-1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时对应一个窗口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maxans[m]=a[maxdq.front()];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队头添加到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maxans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minans[m++]=a[mindq.front()];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队头添加到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minans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74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9"/>
          <p:cNvGrpSpPr/>
          <p:nvPr/>
        </p:nvGrpSpPr>
        <p:grpSpPr>
          <a:xfrm>
            <a:off x="500034" y="4214818"/>
            <a:ext cx="7000924" cy="461665"/>
            <a:chOff x="1071538" y="6286520"/>
            <a:chExt cx="7000924" cy="461665"/>
          </a:xfrm>
        </p:grpSpPr>
        <p:sp>
          <p:nvSpPr>
            <p:cNvPr id="7" name="TextBox 6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9516ms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10944KB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14282" y="220656"/>
            <a:ext cx="8643998" cy="334511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for(int i=0;i&lt;m-1;i++)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printf("%d ",minans[i]);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printf("%d\n",minans[m-1]);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i=0;i&lt;m-1;i++)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printf("%d ",maxans[i]);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printf("%d\n",maxans[m-1]);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75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571480"/>
            <a:ext cx="5000660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1.3.5 list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（</a:t>
            </a:r>
            <a:r>
              <a:rPr lang="zh-CN" altLang="en-US" sz="2800">
                <a:latin typeface="Consolas" pitchFamily="49" charset="0"/>
                <a:ea typeface="微软雅黑" pitchFamily="34" charset="-122"/>
              </a:rPr>
              <a:t>链表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容器）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1643050"/>
            <a:ext cx="8286808" cy="324383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是一个双链表类模板，可以从任何地方快速插入与删除。采用循环双链表实现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不能随机访问元素，为了访问表容器中特定的元素，必须从表头开始，沿着指针从一个元素到下一个元素，直到找到要找的元素。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容器插入元素比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快，另外对每个元素单独分配空间，所以不存在空间不够而需要重新分配的情况。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76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142984"/>
            <a:ext cx="8786874" cy="198782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list&lt;int&gt; l1;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定义元素为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int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的链表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list&lt;int&gt; l2 (10);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指定链表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的初始大小为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int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元素</a:t>
            </a: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list&lt;inte&gt; l3 (10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-1);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指定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l3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个初始元素的初值均为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list&lt;int&gt; l4(a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a+5);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用数组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a[0..4]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共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个元素初始化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l4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428604"/>
            <a:ext cx="6715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定义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容器的几种方式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77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395567"/>
            <a:ext cx="500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主要的成员函数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1071546"/>
            <a:ext cx="8215370" cy="374448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empty()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：判断链表容器是否为空。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：返回链表容器中实际元素个数。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push_back()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：在链表尾部插入元素。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pop_back()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：删除链表容器的最后一个元素。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remove 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：删除链表容器中所有指定值的元素。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remove_if(cmp)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：删除链表容器中满足条件的元素。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erase()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：从链表容器中删除一个或几个元素。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unique()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：删除链表容器中相邻的重复元素。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clear()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：删除链表容器中所有的元素。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78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285728"/>
            <a:ext cx="500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主要的成员函数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913006"/>
            <a:ext cx="8358246" cy="4565224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insert(pos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pos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位置插入元素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，即将元素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插入到迭代器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pos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指定元素之前。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insert(pos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pos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位置插入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insert(pos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pos1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pos2)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：在迭代器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pos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处插入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[pos1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pos2)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reverse()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：反转链表。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sort()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：对链表容器中的元素排序。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begin()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：返回容器中首元素的迭代器。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：返回容器中尾元素后面一个位置的迭代器。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rbegin()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：返回容器中尾元素的迭代器。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rend()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：返回容器中首元素前面一个位置的迭代器。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79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85720" y="1435386"/>
            <a:ext cx="8643998" cy="406531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list&lt;int&gt; lst;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定义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list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容器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lst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list&lt;int&gt;::iterator it,it1,it2;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lst.push_back(5);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添加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5,2,4,1,3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lst.push_back(2);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lst.push_back(4);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lst.push_back(1);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lst.push_back(3);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it=lst.begin();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//it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指向首元素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5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it1=++lst.begin();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//it1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指向第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个元素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it2=--lst.end();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//it2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指向尾元素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3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85786" y="214290"/>
            <a:ext cx="928694" cy="857255"/>
            <a:chOff x="214282" y="142852"/>
            <a:chExt cx="1000100" cy="1071569"/>
          </a:xfrm>
        </p:grpSpPr>
        <p:sp>
          <p:nvSpPr>
            <p:cNvPr id="12" name="Oval 20"/>
            <p:cNvSpPr>
              <a:spLocks noChangeArrowheads="1"/>
            </p:cNvSpPr>
            <p:nvPr/>
          </p:nvSpPr>
          <p:spPr bwMode="gray">
            <a:xfrm>
              <a:off x="214282" y="142852"/>
              <a:ext cx="1000100" cy="1071569"/>
            </a:xfrm>
            <a:prstGeom prst="ellipse">
              <a:avLst/>
            </a:prstGeom>
            <a:solidFill>
              <a:srgbClr val="F8F8F8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13" name="Oval 21"/>
            <p:cNvSpPr>
              <a:spLocks noChangeArrowheads="1"/>
            </p:cNvSpPr>
            <p:nvPr/>
          </p:nvSpPr>
          <p:spPr bwMode="gray">
            <a:xfrm>
              <a:off x="255399" y="186960"/>
              <a:ext cx="916658" cy="98335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rgbClr val="FF0000">
                  <a:alpha val="70195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14" name="Oval 22"/>
            <p:cNvSpPr>
              <a:spLocks noChangeArrowheads="1"/>
            </p:cNvSpPr>
            <p:nvPr/>
          </p:nvSpPr>
          <p:spPr bwMode="gray">
            <a:xfrm>
              <a:off x="296515" y="233663"/>
              <a:ext cx="834424" cy="895136"/>
            </a:xfrm>
            <a:prstGeom prst="ellipse">
              <a:avLst/>
            </a:prstGeom>
            <a:noFill/>
            <a:ln w="38100">
              <a:solidFill>
                <a:srgbClr val="FF0000">
                  <a:alpha val="30196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latin typeface="Calibri" pitchFamily="34" charset="0"/>
                <a:cs typeface="Arial" pitchFamily="34" charset="0"/>
              </a:endParaRPr>
            </a:p>
          </p:txBody>
        </p:sp>
        <p:sp>
          <p:nvSpPr>
            <p:cNvPr id="15" name="Text Box 23"/>
            <p:cNvSpPr txBox="1">
              <a:spLocks noChangeArrowheads="1"/>
            </p:cNvSpPr>
            <p:nvPr/>
          </p:nvSpPr>
          <p:spPr bwMode="gray">
            <a:xfrm>
              <a:off x="317323" y="535760"/>
              <a:ext cx="850370" cy="42319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Consolas" pitchFamily="49" charset="0"/>
                </a:rPr>
                <a:t>示例</a:t>
              </a:r>
            </a:p>
          </p:txBody>
        </p:sp>
      </p:grp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80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571480"/>
            <a:ext cx="4643470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1.3.6 stack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（</a:t>
            </a:r>
            <a:r>
              <a:rPr lang="zh-CN" altLang="en-US" sz="2800">
                <a:latin typeface="Consolas" pitchFamily="49" charset="0"/>
                <a:ea typeface="微软雅黑" pitchFamily="34" charset="-122"/>
              </a:rPr>
              <a:t>栈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容器）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1643050"/>
            <a:ext cx="8286808" cy="368306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stack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是一个栈类模板，和数据结构中的栈一样，具有后进先出的特点。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stack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属于适配器容器，所谓适配器容器是指基于其他容器而实现的容器，也就是说适配器容器包含另一个容器作为其底层容器，在底层容器基础上实现适配器容器的功能。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stack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默认的底层容器是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deque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，也可以底层容器为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81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142984"/>
            <a:ext cx="8786874" cy="15261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stack&lt;int&gt; st1;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默认底层容器为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deque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stack&lt;int,vector&lt;int&gt;&gt; st2;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指定底层容器为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vector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stack&lt;int,list&lt;int&gt;&gt; st3;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指定底层容器为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list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428604"/>
            <a:ext cx="6715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定义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stack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容器的几种方式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82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395567"/>
            <a:ext cx="500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stack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主要的成员函数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1071546"/>
            <a:ext cx="8215370" cy="224676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empty()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：判断栈容器是否为空。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：返回栈容器中实际元素个数。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push(e)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：元素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进栈。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top()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：返回栈顶元素。</a:t>
            </a:r>
          </a:p>
          <a:p>
            <a:pPr marL="457200" indent="-457200" algn="l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pop()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：元素出栈。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557969" y="4071942"/>
            <a:ext cx="7157303" cy="928694"/>
            <a:chOff x="557969" y="4071942"/>
            <a:chExt cx="7157303" cy="928694"/>
          </a:xfrm>
        </p:grpSpPr>
        <p:sp>
          <p:nvSpPr>
            <p:cNvPr id="6" name="TextBox 5"/>
            <p:cNvSpPr txBox="1"/>
            <p:nvPr/>
          </p:nvSpPr>
          <p:spPr>
            <a:xfrm>
              <a:off x="1643042" y="4071942"/>
              <a:ext cx="6072230" cy="913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ts val="0"/>
                </a:spcBef>
              </a:pP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在调用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top()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和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pop()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之前务必通过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empty()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检测保证栈是非空的，否则出现不可预测的错误。</a:t>
              </a:r>
            </a:p>
          </p:txBody>
        </p:sp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57969" y="4143380"/>
              <a:ext cx="1013635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83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1403650"/>
            <a:ext cx="8643998" cy="381130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4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1.9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字符串解码（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LeetCode394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★★）。给定一个经过编码的有效字符串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解码后的字符串。编码规则是用“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”表示方括号内的字符串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（仅包含小写字母）正好重复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保证为正整数）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次。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4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s="3[a]2[bc]"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"aaabcbc"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s="abc3[cd]xyz"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"abccdcdcdxyz"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4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4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	string decodeString(string s) { 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84</a:t>
            </a:fld>
            <a:r>
              <a:rPr lang="en-US" altLang="zh-CN"/>
              <a:t>/129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85786" y="214290"/>
            <a:ext cx="1041400" cy="1044575"/>
            <a:chOff x="857224" y="1071546"/>
            <a:chExt cx="1041400" cy="1044575"/>
          </a:xfrm>
        </p:grpSpPr>
        <p:sp>
          <p:nvSpPr>
            <p:cNvPr id="7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500034" y="395567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1214422"/>
            <a:ext cx="8215370" cy="286232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对于有效字符串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，将其看成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+s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，其中每个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是连续字母串或者形如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的有效字符串（称为有效子串）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s="ab2[5[c]]3[de]"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，可以将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看成由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个有效子串构成即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s="ab"+"2[5[c]]"+"3[de]"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，将每个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解码为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，那么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的解码字符串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85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14282" y="785794"/>
            <a:ext cx="8786874" cy="351634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3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那么如何解码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"k[n[e]]"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呢？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3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关键是需要考虑方括号的匹配，其中第一个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']'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与第二个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'['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匹配，其中第二个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']'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与第一个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'['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匹配，也就是说这里的方括号采用遵循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最近匹配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原则，所以采用一个字符串栈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3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每次遇到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']'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就解码一次。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3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依次将解码串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进栈，最后依次出栈并逆序连接构成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即可。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86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28596" y="428604"/>
            <a:ext cx="428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s="x2[a2[c]]"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883802" y="998520"/>
            <a:ext cx="1188000" cy="1588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rot="5400000" flipH="1" flipV="1">
            <a:off x="2929720" y="1213628"/>
            <a:ext cx="571504" cy="1588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rot="5400000" flipH="1" flipV="1">
            <a:off x="3108579" y="1213628"/>
            <a:ext cx="571504" cy="1588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1285852" y="2071678"/>
            <a:ext cx="857256" cy="3543382"/>
            <a:chOff x="1285852" y="2071678"/>
            <a:chExt cx="857256" cy="3543382"/>
          </a:xfrm>
        </p:grpSpPr>
        <p:sp>
          <p:nvSpPr>
            <p:cNvPr id="7" name="矩形 6"/>
            <p:cNvSpPr/>
            <p:nvPr/>
          </p:nvSpPr>
          <p:spPr>
            <a:xfrm>
              <a:off x="1285852" y="2928934"/>
              <a:ext cx="714380" cy="428628"/>
            </a:xfrm>
            <a:prstGeom prst="rect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b="0">
                  <a:latin typeface="Consolas" pitchFamily="49" charset="0"/>
                </a:rPr>
                <a:t>2</a:t>
              </a:r>
              <a:endParaRPr lang="zh-CN" altLang="en-US" b="0">
                <a:latin typeface="Consolas" pitchFamily="49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285852" y="2500306"/>
              <a:ext cx="714380" cy="428628"/>
            </a:xfrm>
            <a:prstGeom prst="rect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b="0">
                  <a:latin typeface="Consolas" pitchFamily="49" charset="0"/>
                </a:rPr>
                <a:t>[</a:t>
              </a:r>
              <a:endParaRPr lang="zh-CN" altLang="en-US" b="0">
                <a:latin typeface="Consolas" pitchFamily="49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285852" y="2071678"/>
              <a:ext cx="714380" cy="428628"/>
            </a:xfrm>
            <a:prstGeom prst="rect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b="0">
                  <a:latin typeface="Consolas" pitchFamily="49" charset="0"/>
                </a:rPr>
                <a:t>c</a:t>
              </a:r>
              <a:endParaRPr lang="zh-CN" altLang="en-US" b="0">
                <a:latin typeface="Consolas" pitchFamily="49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285852" y="4643446"/>
              <a:ext cx="714380" cy="428628"/>
            </a:xfrm>
            <a:prstGeom prst="rect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b="0">
                  <a:latin typeface="Consolas" pitchFamily="49" charset="0"/>
                </a:rPr>
                <a:t>x</a:t>
              </a:r>
              <a:endParaRPr lang="zh-CN" altLang="en-US" b="0">
                <a:latin typeface="Consolas" pitchFamily="49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285852" y="4214818"/>
              <a:ext cx="714380" cy="428628"/>
            </a:xfrm>
            <a:prstGeom prst="rect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b="0">
                  <a:latin typeface="Consolas" pitchFamily="49" charset="0"/>
                </a:rPr>
                <a:t>2</a:t>
              </a:r>
              <a:endParaRPr lang="zh-CN" altLang="en-US" b="0">
                <a:latin typeface="Consolas" pitchFamily="49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285852" y="3786190"/>
              <a:ext cx="714380" cy="428628"/>
            </a:xfrm>
            <a:prstGeom prst="rect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b="0">
                  <a:latin typeface="Consolas" pitchFamily="49" charset="0"/>
                </a:rPr>
                <a:t>[</a:t>
              </a:r>
              <a:endParaRPr lang="zh-CN" altLang="en-US" b="0">
                <a:latin typeface="Consolas" pitchFamily="49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285852" y="3357562"/>
              <a:ext cx="714380" cy="428628"/>
            </a:xfrm>
            <a:prstGeom prst="rect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b="0">
                  <a:latin typeface="Consolas" pitchFamily="49" charset="0"/>
                </a:rPr>
                <a:t>a</a:t>
              </a:r>
              <a:endParaRPr lang="zh-CN" altLang="en-US" b="0">
                <a:latin typeface="Consolas" pitchFamily="49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85852" y="5214950"/>
              <a:ext cx="8572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栈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st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000364" y="2928934"/>
            <a:ext cx="857256" cy="2686126"/>
            <a:chOff x="3000364" y="2928934"/>
            <a:chExt cx="857256" cy="2686126"/>
          </a:xfrm>
        </p:grpSpPr>
        <p:sp>
          <p:nvSpPr>
            <p:cNvPr id="24" name="矩形 23"/>
            <p:cNvSpPr/>
            <p:nvPr/>
          </p:nvSpPr>
          <p:spPr>
            <a:xfrm>
              <a:off x="3000364" y="2928934"/>
              <a:ext cx="714380" cy="428628"/>
            </a:xfrm>
            <a:prstGeom prst="rect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b="0">
                  <a:latin typeface="Consolas" pitchFamily="49" charset="0"/>
                </a:rPr>
                <a:t>cc</a:t>
              </a:r>
              <a:endParaRPr lang="zh-CN" altLang="en-US" b="0">
                <a:latin typeface="Consolas" pitchFamily="49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3000364" y="4643446"/>
              <a:ext cx="714380" cy="428628"/>
            </a:xfrm>
            <a:prstGeom prst="rect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b="0">
                  <a:latin typeface="Consolas" pitchFamily="49" charset="0"/>
                </a:rPr>
                <a:t>x</a:t>
              </a:r>
              <a:endParaRPr lang="zh-CN" altLang="en-US" b="0">
                <a:latin typeface="Consolas" pitchFamily="49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3000364" y="4214818"/>
              <a:ext cx="714380" cy="428628"/>
            </a:xfrm>
            <a:prstGeom prst="rect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b="0">
                  <a:latin typeface="Consolas" pitchFamily="49" charset="0"/>
                </a:rPr>
                <a:t>2</a:t>
              </a:r>
              <a:endParaRPr lang="zh-CN" altLang="en-US" b="0">
                <a:latin typeface="Consolas" pitchFamily="49" charset="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3000364" y="3786190"/>
              <a:ext cx="714380" cy="428628"/>
            </a:xfrm>
            <a:prstGeom prst="rect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b="0">
                  <a:latin typeface="Consolas" pitchFamily="49" charset="0"/>
                </a:rPr>
                <a:t>[</a:t>
              </a:r>
              <a:endParaRPr lang="zh-CN" altLang="en-US" b="0">
                <a:latin typeface="Consolas" pitchFamily="49" charset="0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000364" y="3357562"/>
              <a:ext cx="714380" cy="428628"/>
            </a:xfrm>
            <a:prstGeom prst="rect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b="0">
                  <a:latin typeface="Consolas" pitchFamily="49" charset="0"/>
                </a:rPr>
                <a:t>a</a:t>
              </a:r>
              <a:endParaRPr lang="zh-CN" altLang="en-US" b="0">
                <a:latin typeface="Consolas" pitchFamily="49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000364" y="5214950"/>
              <a:ext cx="8572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栈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st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429124" y="4214818"/>
            <a:ext cx="1285884" cy="1400242"/>
            <a:chOff x="4429124" y="4214818"/>
            <a:chExt cx="1285884" cy="1400242"/>
          </a:xfrm>
        </p:grpSpPr>
        <p:sp>
          <p:nvSpPr>
            <p:cNvPr id="33" name="矩形 32"/>
            <p:cNvSpPr/>
            <p:nvPr/>
          </p:nvSpPr>
          <p:spPr>
            <a:xfrm>
              <a:off x="4429124" y="4643446"/>
              <a:ext cx="1285884" cy="428628"/>
            </a:xfrm>
            <a:prstGeom prst="rect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b="0">
                  <a:latin typeface="Consolas" pitchFamily="49" charset="0"/>
                </a:rPr>
                <a:t>x</a:t>
              </a:r>
              <a:endParaRPr lang="zh-CN" altLang="en-US" b="0">
                <a:latin typeface="Consolas" pitchFamily="49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4429124" y="4214818"/>
              <a:ext cx="1285884" cy="428628"/>
            </a:xfrm>
            <a:prstGeom prst="rect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b="0">
                  <a:latin typeface="Consolas" pitchFamily="49" charset="0"/>
                </a:rPr>
                <a:t>accacc</a:t>
              </a:r>
              <a:endParaRPr lang="zh-CN" altLang="en-US" b="0">
                <a:latin typeface="Consolas" pitchFamily="49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643438" y="5214950"/>
              <a:ext cx="8572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栈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st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429388" y="4429132"/>
            <a:ext cx="1571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xaccacc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1" name="灯片编号占位符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87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2844" y="214290"/>
            <a:ext cx="8643998" cy="518927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string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decodeString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(string s)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stack&lt;string&gt; st;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定义一个栈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st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int i=0,n=s.size();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while (i&lt;n) 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遍历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if 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isdigit(s[i])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 {       			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遇到数字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string tmp="";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	while(i&lt;n &amp;&amp; isdigit(s[i])) {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提取整数串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tmp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	tmp+=s[i++];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st.push(tmp);           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将整数串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tmp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进栈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88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2844" y="214290"/>
            <a:ext cx="8643998" cy="368059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else 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isalpha(s[i])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 {       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遇到字母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string tmp="";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while(i&lt;n &amp;&amp; isalpha(s[i])) {  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提取字母串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tmp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tmp+=s[i++];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st.push(tmp);               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将字母串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tmp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进栈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else 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s[i]=='['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        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遇到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'['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st.push(string(1,s[i++]));   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'['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转换为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"["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后进栈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89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2844" y="214290"/>
            <a:ext cx="8786874" cy="579656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 {                     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遇到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']'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string e="";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while (st.top()!="[") {    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[e]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e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e=st.top()+e;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同级字符串连接（逆向）</a:t>
            </a: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	st.pop();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st.pop();                  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出栈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"["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string d="";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int k=stoi(st.top()); st.pop();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提取数字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k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for (int i=0;i&lt;k;i++)      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"k[e]"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解码为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d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d+=e; 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st.push(d);               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进栈</a:t>
            </a: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i++;                       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跳过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']'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90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2844" y="214290"/>
            <a:ext cx="8786874" cy="32958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string ans="";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while(!st.empty()) { 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由栈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中所有串连接的逆序构成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ans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ans=st.top()+ans;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st.pop();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return 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5" name="组合 9"/>
          <p:cNvGrpSpPr/>
          <p:nvPr/>
        </p:nvGrpSpPr>
        <p:grpSpPr>
          <a:xfrm>
            <a:off x="500034" y="4214818"/>
            <a:ext cx="7000924" cy="461665"/>
            <a:chOff x="1071538" y="6286520"/>
            <a:chExt cx="7000924" cy="461665"/>
          </a:xfrm>
        </p:grpSpPr>
        <p:sp>
          <p:nvSpPr>
            <p:cNvPr id="7" name="TextBox 6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0ms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6.4MB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91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571480"/>
            <a:ext cx="485778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1.3.7 queue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（</a:t>
            </a:r>
            <a:r>
              <a:rPr lang="zh-CN" altLang="en-US" sz="2800">
                <a:latin typeface="Consolas" pitchFamily="49" charset="0"/>
                <a:ea typeface="微软雅黑" pitchFamily="34" charset="-122"/>
              </a:rPr>
              <a:t>队列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容器）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1643050"/>
            <a:ext cx="8286808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queue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是一个队列类模板，和数据结构中的队列一样，具有先进先出的特点。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queue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也是适配器容器，其默认的底层容器是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deque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，也可以指定底层容器为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queue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不允许顺序遍历，没有提供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begin()/end()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rbegin()/rend()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这样的用于迭代器的成员函数。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92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721563"/>
            <a:ext cx="8786874" cy="106449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queue&lt;int&gt; qu1;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默认底层容器为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deque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queue&lt;int,list&lt;int&gt;&gt; qu2;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指定底层容器为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list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1007183"/>
            <a:ext cx="6715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定义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queue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容器的几种方式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93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395567"/>
            <a:ext cx="500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queue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主要的成员函数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1071546"/>
            <a:ext cx="8215370" cy="251338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empty()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：判断队列容器是否为空。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：返回队列容器中实际元素个数。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front()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：返回队头元素。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back()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：返回队尾元素。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push(e)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：元素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进队。</a:t>
            </a: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pop()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：元素出队。</a:t>
            </a:r>
          </a:p>
        </p:txBody>
      </p:sp>
      <p:grpSp>
        <p:nvGrpSpPr>
          <p:cNvPr id="2" name="组合 8"/>
          <p:cNvGrpSpPr/>
          <p:nvPr/>
        </p:nvGrpSpPr>
        <p:grpSpPr>
          <a:xfrm>
            <a:off x="557969" y="4071942"/>
            <a:ext cx="7157303" cy="1282274"/>
            <a:chOff x="557969" y="4071942"/>
            <a:chExt cx="7157303" cy="1282274"/>
          </a:xfrm>
        </p:grpSpPr>
        <p:sp>
          <p:nvSpPr>
            <p:cNvPr id="6" name="TextBox 5"/>
            <p:cNvSpPr txBox="1"/>
            <p:nvPr/>
          </p:nvSpPr>
          <p:spPr>
            <a:xfrm>
              <a:off x="1643042" y="4071942"/>
              <a:ext cx="6072230" cy="1282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ts val="0"/>
                </a:spcBef>
              </a:pP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在调用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front()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、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back()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和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pop()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之前务必通过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empty()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检测保证队列是非空的，否则出现不可预测的错误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57969" y="4143380"/>
              <a:ext cx="1013635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94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1214422"/>
            <a:ext cx="8643998" cy="319574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1.10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对称二叉树（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LeetCode101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★）。给定一棵二叉树，设计一个算法检查它是否是镜像对称的，若是镜像对称的返回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true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，否则返回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false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例如，如图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所示的二叉树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是镜像对称的，返回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true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。而如图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(b)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所示的二叉树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不是镜像对称的，返回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false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	bool isSymmetric(TreeNode* root) {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en-US" altLang="zh-CN" b="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b="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9218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1652973" y="4582377"/>
            <a:ext cx="5480864" cy="1989895"/>
            <a:chOff x="1652973" y="4008541"/>
            <a:chExt cx="5480864" cy="1989895"/>
          </a:xfrm>
        </p:grpSpPr>
        <p:sp>
          <p:nvSpPr>
            <p:cNvPr id="92185" name="Oval 25"/>
            <p:cNvSpPr>
              <a:spLocks noChangeArrowheads="1"/>
            </p:cNvSpPr>
            <p:nvPr/>
          </p:nvSpPr>
          <p:spPr bwMode="auto">
            <a:xfrm>
              <a:off x="2663488" y="4008541"/>
              <a:ext cx="352563" cy="31445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2184" name="Oval 24"/>
            <p:cNvSpPr>
              <a:spLocks noChangeArrowheads="1"/>
            </p:cNvSpPr>
            <p:nvPr/>
          </p:nvSpPr>
          <p:spPr bwMode="auto">
            <a:xfrm>
              <a:off x="2047744" y="4609324"/>
              <a:ext cx="352563" cy="31345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2183" name="Oval 23"/>
            <p:cNvSpPr>
              <a:spLocks noChangeArrowheads="1"/>
            </p:cNvSpPr>
            <p:nvPr/>
          </p:nvSpPr>
          <p:spPr bwMode="auto">
            <a:xfrm>
              <a:off x="1652973" y="5293492"/>
              <a:ext cx="353804" cy="31345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2182" name="Oval 22"/>
            <p:cNvSpPr>
              <a:spLocks noChangeArrowheads="1"/>
            </p:cNvSpPr>
            <p:nvPr/>
          </p:nvSpPr>
          <p:spPr bwMode="auto">
            <a:xfrm>
              <a:off x="2375479" y="5293492"/>
              <a:ext cx="352563" cy="31345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2181" name="AutoShape 21"/>
            <p:cNvSpPr>
              <a:spLocks noChangeShapeType="1"/>
            </p:cNvSpPr>
            <p:nvPr/>
          </p:nvSpPr>
          <p:spPr bwMode="auto">
            <a:xfrm flipH="1">
              <a:off x="2224026" y="4276784"/>
              <a:ext cx="491602" cy="33254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92180" name="AutoShape 20"/>
            <p:cNvSpPr>
              <a:spLocks noChangeShapeType="1"/>
            </p:cNvSpPr>
            <p:nvPr/>
          </p:nvSpPr>
          <p:spPr bwMode="auto">
            <a:xfrm>
              <a:off x="2963911" y="4276784"/>
              <a:ext cx="350080" cy="37875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92179" name="AutoShape 19"/>
            <p:cNvSpPr>
              <a:spLocks noChangeShapeType="1"/>
            </p:cNvSpPr>
            <p:nvPr/>
          </p:nvSpPr>
          <p:spPr bwMode="auto">
            <a:xfrm flipH="1">
              <a:off x="1830496" y="4876561"/>
              <a:ext cx="269388" cy="41693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92178" name="AutoShape 18"/>
            <p:cNvSpPr>
              <a:spLocks noChangeShapeType="1"/>
            </p:cNvSpPr>
            <p:nvPr/>
          </p:nvSpPr>
          <p:spPr bwMode="auto">
            <a:xfrm>
              <a:off x="2348168" y="4876561"/>
              <a:ext cx="203593" cy="41693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92177" name="Rectangle 17"/>
            <p:cNvSpPr>
              <a:spLocks noChangeArrowheads="1"/>
            </p:cNvSpPr>
            <p:nvPr/>
          </p:nvSpPr>
          <p:spPr bwMode="auto">
            <a:xfrm>
              <a:off x="2062416" y="5786454"/>
              <a:ext cx="1603913" cy="211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）二叉树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2176" name="Oval 16"/>
            <p:cNvSpPr>
              <a:spLocks noChangeArrowheads="1"/>
            </p:cNvSpPr>
            <p:nvPr/>
          </p:nvSpPr>
          <p:spPr bwMode="auto">
            <a:xfrm>
              <a:off x="3261852" y="4609324"/>
              <a:ext cx="352563" cy="31345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2175" name="Oval 15"/>
            <p:cNvSpPr>
              <a:spLocks noChangeArrowheads="1"/>
            </p:cNvSpPr>
            <p:nvPr/>
          </p:nvSpPr>
          <p:spPr bwMode="auto">
            <a:xfrm>
              <a:off x="2867081" y="5293492"/>
              <a:ext cx="353804" cy="31345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2174" name="Oval 14"/>
            <p:cNvSpPr>
              <a:spLocks noChangeArrowheads="1"/>
            </p:cNvSpPr>
            <p:nvPr/>
          </p:nvSpPr>
          <p:spPr bwMode="auto">
            <a:xfrm>
              <a:off x="3589586" y="5293492"/>
              <a:ext cx="352563" cy="31345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2173" name="AutoShape 13"/>
            <p:cNvSpPr>
              <a:spLocks noChangeShapeType="1"/>
            </p:cNvSpPr>
            <p:nvPr/>
          </p:nvSpPr>
          <p:spPr bwMode="auto">
            <a:xfrm flipH="1">
              <a:off x="3044604" y="4876561"/>
              <a:ext cx="269388" cy="41693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92172" name="AutoShape 12"/>
            <p:cNvSpPr>
              <a:spLocks noChangeShapeType="1"/>
            </p:cNvSpPr>
            <p:nvPr/>
          </p:nvSpPr>
          <p:spPr bwMode="auto">
            <a:xfrm>
              <a:off x="3562275" y="4876561"/>
              <a:ext cx="203593" cy="41693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92171" name="Oval 11"/>
            <p:cNvSpPr>
              <a:spLocks noChangeArrowheads="1"/>
            </p:cNvSpPr>
            <p:nvPr/>
          </p:nvSpPr>
          <p:spPr bwMode="auto">
            <a:xfrm>
              <a:off x="5855175" y="4023611"/>
              <a:ext cx="352563" cy="31445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2170" name="Oval 10"/>
            <p:cNvSpPr>
              <a:spLocks noChangeArrowheads="1"/>
            </p:cNvSpPr>
            <p:nvPr/>
          </p:nvSpPr>
          <p:spPr bwMode="auto">
            <a:xfrm>
              <a:off x="5239432" y="4624393"/>
              <a:ext cx="352563" cy="31345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2169" name="Oval 9"/>
            <p:cNvSpPr>
              <a:spLocks noChangeArrowheads="1"/>
            </p:cNvSpPr>
            <p:nvPr/>
          </p:nvSpPr>
          <p:spPr bwMode="auto">
            <a:xfrm>
              <a:off x="5567166" y="5308562"/>
              <a:ext cx="352563" cy="31345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2168" name="AutoShape 8"/>
            <p:cNvSpPr>
              <a:spLocks noChangeShapeType="1"/>
            </p:cNvSpPr>
            <p:nvPr/>
          </p:nvSpPr>
          <p:spPr bwMode="auto">
            <a:xfrm flipH="1">
              <a:off x="5415713" y="4291853"/>
              <a:ext cx="491602" cy="33254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92167" name="AutoShape 7"/>
            <p:cNvSpPr>
              <a:spLocks noChangeShapeType="1"/>
            </p:cNvSpPr>
            <p:nvPr/>
          </p:nvSpPr>
          <p:spPr bwMode="auto">
            <a:xfrm>
              <a:off x="6155599" y="4291853"/>
              <a:ext cx="350080" cy="37875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92166" name="AutoShape 6"/>
            <p:cNvSpPr>
              <a:spLocks noChangeShapeType="1"/>
            </p:cNvSpPr>
            <p:nvPr/>
          </p:nvSpPr>
          <p:spPr bwMode="auto">
            <a:xfrm>
              <a:off x="5539855" y="4891631"/>
              <a:ext cx="203593" cy="41693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92165" name="Rectangle 5"/>
            <p:cNvSpPr>
              <a:spLocks noChangeArrowheads="1"/>
            </p:cNvSpPr>
            <p:nvPr/>
          </p:nvSpPr>
          <p:spPr bwMode="auto">
            <a:xfrm>
              <a:off x="5254103" y="5801524"/>
              <a:ext cx="1603913" cy="1969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）二叉树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2164" name="Oval 4"/>
            <p:cNvSpPr>
              <a:spLocks noChangeArrowheads="1"/>
            </p:cNvSpPr>
            <p:nvPr/>
          </p:nvSpPr>
          <p:spPr bwMode="auto">
            <a:xfrm>
              <a:off x="6453539" y="4624393"/>
              <a:ext cx="352563" cy="31345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2163" name="Oval 3"/>
            <p:cNvSpPr>
              <a:spLocks noChangeArrowheads="1"/>
            </p:cNvSpPr>
            <p:nvPr/>
          </p:nvSpPr>
          <p:spPr bwMode="auto">
            <a:xfrm>
              <a:off x="6781274" y="5308562"/>
              <a:ext cx="352563" cy="313452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2162" name="AutoShape 2"/>
            <p:cNvSpPr>
              <a:spLocks noChangeShapeType="1"/>
            </p:cNvSpPr>
            <p:nvPr/>
          </p:nvSpPr>
          <p:spPr bwMode="auto">
            <a:xfrm>
              <a:off x="6753963" y="4891631"/>
              <a:ext cx="203593" cy="41693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000"/>
                </a:lnSpc>
              </a:pP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95</a:t>
            </a:fld>
            <a:r>
              <a:rPr lang="en-US" altLang="zh-CN"/>
              <a:t>/129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785786" y="142852"/>
            <a:ext cx="1041400" cy="1044575"/>
            <a:chOff x="857224" y="1071546"/>
            <a:chExt cx="1041400" cy="1044575"/>
          </a:xfrm>
        </p:grpSpPr>
        <p:sp>
          <p:nvSpPr>
            <p:cNvPr id="33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500034" y="395567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1214422"/>
            <a:ext cx="8215370" cy="4478149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采用二叉树层次遍历方法求解。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分别同步层次遍历左右子树，先将左右孩子分别进队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qu1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qu2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在两个队列均不空时循环：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qu1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出队结点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qu2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出队结点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中一个空另外一个不空时返回假，否则若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结点值不同时返回假，否则将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的左右孩子（含空结点）依次进队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qu1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的右左孩子（含空结点）依次进队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qu2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循环结束后返回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true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96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2844" y="214290"/>
            <a:ext cx="8643998" cy="368059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bool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isSymmetric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(TreeNode* root)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 (root==NULL)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return true;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queue&lt;TreeNode*&gt; qu1,qu2;        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定义两个队列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TreeNode* p1,*p2;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qu1.push(root-&gt;left);          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左孩子进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qu1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qu2.push(root-&gt;right);         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右孩子进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qu2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97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2844" y="71414"/>
            <a:ext cx="8786874" cy="629855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while (!qu1.empty() &amp;&amp; !qu2.empty()) {						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p1=qu1.front(); qu1.pop();     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qu1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出队结点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p2=qu2.front(); qu2.pop();       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qu2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出队结点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p2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if ((p1 &amp;&amp; !p2) || (!p1 &amp;&amp; p2))  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一空一不空返回假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	return false;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if (p1!=NULL &amp;&amp; p2!=NULL)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if (p1-&gt;val!=p2-&gt;val)         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结点值不同返回假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	return false;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	qu1.push(p1-&gt;left);            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//p1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的左孩子进队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qu1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qu1.push(p1-&gt;right);            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//p1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的右孩子进队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qu1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qu2.push(p2-&gt;right);           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//p2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的右孩子进队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qu2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qu2.push(p2-&gt;left);            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//p2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的左孩子进队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qu2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 true;                     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循环结束后返回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true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5" name="组合 9"/>
          <p:cNvGrpSpPr/>
          <p:nvPr/>
        </p:nvGrpSpPr>
        <p:grpSpPr>
          <a:xfrm>
            <a:off x="928662" y="6324921"/>
            <a:ext cx="7000924" cy="461665"/>
            <a:chOff x="1071538" y="6286520"/>
            <a:chExt cx="7000924" cy="461665"/>
          </a:xfrm>
        </p:grpSpPr>
        <p:sp>
          <p:nvSpPr>
            <p:cNvPr id="7" name="TextBox 6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16.3MB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98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571480"/>
            <a:ext cx="700092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1.3.8 priority_queue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（优先队列容器）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1643050"/>
            <a:ext cx="8286808" cy="2269211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priority_queue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是一个优先队列类模板。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priority_queue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也是适配器容器，其默认的底层容器是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，也可以指定为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deque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优先队列中元素可以以任意顺序进队，但出队运算时只能出队最高优先级的元素。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99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00034" y="428604"/>
            <a:ext cx="500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priority_queue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主要的成员函数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1214422"/>
            <a:ext cx="8215370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empty()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：判断优先队列容器是否为空。</a:t>
            </a:r>
          </a:p>
          <a:p>
            <a:pPr marL="457200" indent="-457200" algn="l" defTabSz="360000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：返回优先队列容器中实际元素个数。</a:t>
            </a:r>
          </a:p>
          <a:p>
            <a:pPr marL="457200" indent="-457200" algn="l" defTabSz="360000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push(e)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：元素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进队。</a:t>
            </a:r>
          </a:p>
          <a:p>
            <a:pPr marL="457200" indent="-457200" algn="l" defTabSz="360000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top()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：获取队头元素。</a:t>
            </a:r>
          </a:p>
          <a:p>
            <a:pPr marL="457200" indent="-457200" algn="l" defTabSz="360000">
              <a:lnSpc>
                <a:spcPct val="100000"/>
              </a:lnSpc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pop()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：元素出队。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100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428604"/>
            <a:ext cx="4786346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）内置数据类型的</a:t>
            </a: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优先队列</a:t>
            </a:r>
            <a:endParaRPr lang="zh-CN" altLang="zh-CN">
              <a:solidFill>
                <a:srgbClr val="FF0000"/>
              </a:solidFill>
              <a:latin typeface="Consolas" pitchFamily="49" charset="0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1357298"/>
            <a:ext cx="8215370" cy="2147383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C/C++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内置数据类型，默认是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less&lt;T&gt;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（小于关系函数）作为关系函数，值越大优先级的越高（即默认为大根堆）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可以改为以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greater&lt;T&gt;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作为关系函数，这样值越大优先级的越低（即小根堆）。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688" y="4071942"/>
            <a:ext cx="8572592" cy="11414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priority_queue&lt;int&gt; pq1;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默认大根堆</a:t>
            </a:r>
          </a:p>
          <a:p>
            <a:pPr algn="l">
              <a:lnSpc>
                <a:spcPts val="3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priority_queue&lt;int,vector&lt;int&gt;,greater&lt;int&gt;&gt; pq2;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小根堆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101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1285860"/>
            <a:ext cx="8858312" cy="32958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auto comp1=[](int a,int b) { return a&lt;b; }; 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大根堆比较关系</a:t>
            </a:r>
          </a:p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priority_queue&lt;int,deque&lt;int&gt;,decltype(comp1)&gt; pq3(comp1);</a:t>
            </a:r>
          </a:p>
          <a:p>
            <a:pPr algn="l">
              <a:lnSpc>
                <a:spcPts val="30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auto comp2=[](int a,int b) { return a&gt;b; }; 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小根堆比较关系</a:t>
            </a:r>
          </a:p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priority_queue&lt;int,deque&lt;int&gt;,decltype(comp2)&gt; pq4(comp2);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500042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Lambda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表达式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形式：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102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42852"/>
            <a:ext cx="4929222" cy="5510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tIns="108000" bIns="72000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2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）</a:t>
            </a: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自定义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数据类型的</a:t>
            </a: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优先队列</a:t>
            </a:r>
            <a:endParaRPr lang="zh-CN" altLang="zh-CN">
              <a:solidFill>
                <a:srgbClr val="FF0000"/>
              </a:solidFill>
              <a:latin typeface="Consolas" pitchFamily="49" charset="0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2876" y="928670"/>
            <a:ext cx="8929718" cy="5324535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方式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在声明结构体类型中重载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运算符以指定优先级，如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priority_queue&lt;Stud&gt; pq1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调用默认的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运算符创建堆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pq1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（是大根堆还是小根堆由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重载函数体确定）。</a:t>
            </a: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方式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2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在声明结构体类型中重载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运算符以指定优先级，如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priority_queue&lt;Stud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vector&lt;Stud&gt;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greater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&lt;Stud&gt;&gt; pq2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调用重载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运算符创建堆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pq2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，此时需要指定优先队列的低层容器（这里为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，也可以是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deque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方式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3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自己在结构体或类中重载函数调用运算符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以指定元素的优先级，如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priority_queue&lt;Stud,vector&lt;Stud&gt;,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StudCmp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 pq3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调用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StudCmp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结构体的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运算符创建堆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pq3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，此时需要指定优先队列的低层容器（这里为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，也可以是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deque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，但不能是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103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500166" y="642918"/>
            <a:ext cx="7215238" cy="99001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1.11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数组中的第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个最大元素。题目描述见例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1.6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。这里采用优先队列求解。</a:t>
            </a:r>
          </a:p>
        </p:txBody>
      </p:sp>
      <p:sp>
        <p:nvSpPr>
          <p:cNvPr id="9218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85720" y="2235258"/>
            <a:ext cx="8643998" cy="383694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1.6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数组中的第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个最大元素（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LeetCode215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★★）。设计一个算法求无序数组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中第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数组的长度）大的整数，注意不是第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个不同的元素，而是数组排序后的第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个最大的元素。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楷体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nums={3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4}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=2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递减排序后是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{6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答案为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，若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=5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，答案为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楷体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要求设计如下成员函数：</a:t>
            </a: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   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楷体" pitchFamily="49" charset="-122"/>
              </a:rPr>
              <a:t>int findKthLargest(vector&lt;int&gt;&amp; nums, int k) {  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楷体" pitchFamily="49" charset="-122"/>
            </a:endParaRPr>
          </a:p>
        </p:txBody>
      </p:sp>
      <p:sp>
        <p:nvSpPr>
          <p:cNvPr id="31" name="下箭头 30"/>
          <p:cNvSpPr/>
          <p:nvPr/>
        </p:nvSpPr>
        <p:spPr>
          <a:xfrm>
            <a:off x="3929058" y="1806630"/>
            <a:ext cx="285752" cy="357190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104</a:t>
            </a:fld>
            <a:r>
              <a:rPr lang="en-US" altLang="zh-CN"/>
              <a:t>/129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15890" y="669913"/>
            <a:ext cx="1041400" cy="1044575"/>
            <a:chOff x="857224" y="1071546"/>
            <a:chExt cx="1041400" cy="1044575"/>
          </a:xfrm>
        </p:grpSpPr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500034" y="395567"/>
            <a:ext cx="121444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1214422"/>
            <a:ext cx="8215370" cy="151900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采用大根堆的优先队列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maxpq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求解。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先将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全部元素进队，再出队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次，最后出队的那个元素就是第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个最大的元素。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105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2844" y="398451"/>
            <a:ext cx="8643998" cy="524512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findKthLargest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 nums,int k)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priority_queue&lt;int&gt; maxpq;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定义大根堆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maxpq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	for(int i=0;i&lt;nums.size();i++)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全部元素进队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maxpq.push(nums[i]);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int 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for(int i=0;i&lt;k;i++)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出队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次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	ans=maxpq.top();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	maxpq.pop();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return 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5" name="组合 9"/>
          <p:cNvGrpSpPr/>
          <p:nvPr/>
        </p:nvGrpSpPr>
        <p:grpSpPr>
          <a:xfrm>
            <a:off x="928662" y="5929330"/>
            <a:ext cx="7000924" cy="461665"/>
            <a:chOff x="1071538" y="6286520"/>
            <a:chExt cx="7000924" cy="461665"/>
          </a:xfrm>
        </p:grpSpPr>
        <p:sp>
          <p:nvSpPr>
            <p:cNvPr id="7" name="TextBox 6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8ms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10.1MB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106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500034" y="395567"/>
            <a:ext cx="121444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1214422"/>
            <a:ext cx="8215370" cy="245195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采用小根堆的优先队列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minpq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先将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中前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个元素进队，再用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遍历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的剩余元素，将大于堆顶元素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替换该堆顶元素（即出队后将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nums[i]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进队），始终保持堆中恰好有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最后返回堆顶元素就是第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个最大的元素。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107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2844" y="214290"/>
            <a:ext cx="8858312" cy="596327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findKthLargest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 nums,int k)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priority_queue&lt;int,vector&lt;int&gt;,greater&lt;int&gt;&gt; minpq;	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小根堆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	for(int i=0;i&lt;k;i++)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进队前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个整数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		minpq.push(nums[i]);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	for(int i=k;i&lt;nums.size();i++)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处理其他的整数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nums[i]&gt;minpq.top()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minpq.pop();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		minpq.push(nums[i]);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	return minpq.top();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返回堆顶整数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928662" y="6324921"/>
            <a:ext cx="7000924" cy="461665"/>
            <a:chOff x="1071538" y="6286520"/>
            <a:chExt cx="7000924" cy="461665"/>
          </a:xfrm>
        </p:grpSpPr>
        <p:sp>
          <p:nvSpPr>
            <p:cNvPr id="7" name="TextBox 6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8ms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9.7MB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108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571480"/>
            <a:ext cx="864399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1.3.9 set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（集合容器）</a:t>
            </a: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/ multiset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（多重集容器）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1643050"/>
            <a:ext cx="8286808" cy="368306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set/multiset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是集合类模板，都属于关联容器，所谓关联容器就是每个元素有一个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key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（关键字），通过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key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进行元素操作，关键字与元素位置没有对应关系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中元素的关键字是唯一的，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multiset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中元素的关键字可以不唯一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它们内部采用红黑树组织，默认情况下按关键字自动进行升序排列，所以查找、插入和删除运算的速度比较快（时间复杂度均为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O(log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109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142984"/>
            <a:ext cx="8786874" cy="46955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set&lt;int&gt; s1; 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a[]= {10,20,30,40,50};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set&lt;int&gt; s2(a,a+5);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set&lt;int&gt; s3(s2);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set&lt;int&gt; s4(s2.begin(), s2.end());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struct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Cmp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bool operator() (const int&amp;a, const int&amp; b) const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return a&lt;b;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set&lt;int,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Cmp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&gt;s5;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428604"/>
            <a:ext cx="6715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定义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容器的几种方式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110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214290"/>
            <a:ext cx="500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主要的成员函数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714356"/>
            <a:ext cx="8643998" cy="582839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empty()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：判断容器是否为空。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：返回容器中实际元素个数。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find(k)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：若容器中存在关键字为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的元素，返回该元素的迭代器，否则返回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count(k)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：返回容器中关键字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出现的次数。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upper_bound()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：返回一个迭代器，指向第一个关键字大于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lower_bound()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：返回一个迭代器，指向第一个关键字大于或者等于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insert()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：插入元素。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erase()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：删除容器中的一个或几个元素。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clear()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：删除容器中的所有元素。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begin()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：用于正向迭代，返回容器中首元素的迭代器。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：用于正向迭代，返回容器中尾元素后面一个位置的迭代器。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rbegin()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：用于反向迭代，返回容器中尾元素的迭代器。</a:t>
            </a:r>
          </a:p>
          <a:p>
            <a:pPr marL="457200" indent="-457200" algn="l" defTabSz="360000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rend()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：用于反向迭代，返回容器中首元素前面一个位置的迭代器。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111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1590575"/>
            <a:ext cx="8643998" cy="319574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1.12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第三大的数（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LeetCode414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★）。给定一个非空数组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，设计一个算法求此数组中第三大的数（是指在所有不同整数中排第三大的数），如果不存在，则返回数组中最大的数。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nums={3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int thirdMax(vector&lt;int&gt;&amp; nums) { 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112</a:t>
            </a:fld>
            <a:r>
              <a:rPr lang="en-US" altLang="zh-CN"/>
              <a:t>/129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71472" y="428604"/>
            <a:ext cx="1041400" cy="1044575"/>
            <a:chOff x="857224" y="1071546"/>
            <a:chExt cx="1041400" cy="1044575"/>
          </a:xfrm>
        </p:grpSpPr>
        <p:sp>
          <p:nvSpPr>
            <p:cNvPr id="7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500034" y="395567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1214422"/>
            <a:ext cx="8215370" cy="1887696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建立一个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set&lt;int&gt;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类型的容器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中全部元素插入到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中（自动除重）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先让迭代器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指向最后元素（即最大元素）。如果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中元素个数少于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*it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，否则前移两次，再返回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*it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113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2844" y="214290"/>
            <a:ext cx="8643998" cy="521947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 thirdMax(vector&lt;int&gt;&amp; nums)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set&lt;int&gt; 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for(int x:nums)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全部元素插入到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s.insert(x);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set&lt;int&gt;::iterator it;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it=s.end();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it--;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让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指向最大元素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if(s.size()&lt;3)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return *it;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it--; it--;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前移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次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return *it;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返回第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大元素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5" name="组合 9"/>
          <p:cNvGrpSpPr/>
          <p:nvPr/>
        </p:nvGrpSpPr>
        <p:grpSpPr>
          <a:xfrm>
            <a:off x="642910" y="5753417"/>
            <a:ext cx="7000924" cy="461665"/>
            <a:chOff x="1071538" y="6286520"/>
            <a:chExt cx="7000924" cy="461665"/>
          </a:xfrm>
        </p:grpSpPr>
        <p:sp>
          <p:nvSpPr>
            <p:cNvPr id="7" name="TextBox 6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10.3MB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114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285728"/>
            <a:ext cx="8858312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1.3.10 map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（映射容器）</a:t>
            </a: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/ multimap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（多重映射容器）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1000108"/>
            <a:ext cx="8501122" cy="5144998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map/multimap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是映射类模板，同样属于关联容器即按关键字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key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进行元素操作。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map/multimap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中的元素属于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pai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结构体：</a:t>
            </a:r>
          </a:p>
          <a:p>
            <a:pPr marL="457200" indent="-457200" algn="l" defTabSz="360000">
              <a:lnSpc>
                <a:spcPts val="2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	struct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pair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2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T first;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2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T second;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2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pair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中有两个分量（二元组），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first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为第一个分量（在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中对应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key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second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为第二个分量（在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中对应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value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同时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pair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共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个运算符进行重载，提供了按照字典序对元素对进行大小比较的比较运算符模板函数。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115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57158" y="714356"/>
            <a:ext cx="8501122" cy="2827056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4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map/multimap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内部也是用红黑树组织，默认情况下按关键字自动进行升序排列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4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可以根据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key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快速地找到与之对应的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value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（查找时间为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O(log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4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中不允许关键字重复出现，支持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运算符，而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multimap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中允许关键字重复出现，但不支持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运算符。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116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071546"/>
            <a:ext cx="8786874" cy="526564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map&lt;char,int&gt; mp1;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mp1['a']=10;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mp1['b']=30;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mp1['c']=50;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mp1['d']=70;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map&lt;char,int&gt; mp2 (mp1.begin(),mp1.end());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map&lt;char,int&gt; mp3 (mp2);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struct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Cmp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bool operator() (const int&amp;a, const int&amp; b) const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return a&lt;b;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map&lt;char,int,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Cmp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 mp4;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428604"/>
            <a:ext cx="6715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定义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容器的几种方式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117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214290"/>
            <a:ext cx="500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主要的成员函数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928670"/>
            <a:ext cx="8643998" cy="5126275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empty()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：判断容器是否为空。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：返回容器中实际元素个数。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map[k]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：返回关键字为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的元素，不存在时插入以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为关键字的元素。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find()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：在容器中查找元素。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count()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：容器中指定关键字的元素个数（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中只有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insert(e)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：插入一个元素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并返回该元素的位置。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erase()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：删除容器中的一个或几个元素。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clear()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：删除所有元素。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begin()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：用于正向迭代，返回容器中首元素的迭代器。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：用于正向迭代，返回容器中尾元素后面一个位置的迭代器。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rbegin()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：用于反向迭代，返回容器中尾元素的迭代器。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rend()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：用于反向迭代，返回容器中首元素前面一个位置的迭代器。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118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714356"/>
            <a:ext cx="8643998" cy="4734629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1.13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有如下学生类型：</a:t>
            </a:r>
          </a:p>
          <a:p>
            <a:pPr lvl="1" algn="l" defTabSz="360000">
              <a:lnSpc>
                <a:spcPts val="28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struct 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Stud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{ 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//Stud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结构体</a:t>
            </a:r>
          </a:p>
          <a:p>
            <a:pPr lvl="1" algn="l" defTabSz="360000">
              <a:lnSpc>
                <a:spcPts val="28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score;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分数</a:t>
            </a:r>
          </a:p>
          <a:p>
            <a:pPr lvl="1" algn="l" defTabSz="360000">
              <a:lnSpc>
                <a:spcPts val="28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string name;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姓名</a:t>
            </a:r>
          </a:p>
          <a:p>
            <a:pPr lvl="1" algn="l" defTabSz="360000">
              <a:lnSpc>
                <a:spcPts val="28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Stud(int s,string n) {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构造函数</a:t>
            </a:r>
          </a:p>
          <a:p>
            <a:pPr lvl="1" algn="l" defTabSz="360000">
              <a:lnSpc>
                <a:spcPts val="28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score=s;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lvl="1" algn="l" defTabSz="360000">
              <a:lnSpc>
                <a:spcPts val="28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name=n;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lvl="1" algn="l" defTabSz="360000">
              <a:lnSpc>
                <a:spcPts val="28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lvl="1" algn="l" defTabSz="360000">
              <a:lnSpc>
                <a:spcPts val="28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给定一个包含若干学生元素的数组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，设计一个算法求最高分数的学生姓名（可能有多个最高分数的学生）。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119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500034" y="395567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1214422"/>
            <a:ext cx="8215370" cy="2785378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3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定义一个元素类型为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&lt;int,vector&lt;string&gt;&gt;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mymap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，其关键字为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类型的方式，值为具有相同方式的学生姓名即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vector&lt;string&gt;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类型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3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这里求最高分的姓名，为此设计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Cmp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结构体指定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mymap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按分数递减排列。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3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遍历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创建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mymap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中的元素，最后返回首元素的值即可。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120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2844" y="71414"/>
            <a:ext cx="8643998" cy="668141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struct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Cmp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//Cmp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结构体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bool operator()(const int&amp; a,const int&amp; b) const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return a&gt;b;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指定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mymap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按关键字递减排列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vector&lt;string&gt;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Maxscore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(vector&lt;Stud&gt;&amp; st)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map&lt;int,vector&lt;string&gt;,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Cmp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 mymap;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for(Stud x:st) {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遍历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st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if(mymap.count(x.score)==0)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没有找到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mymap[x.score]={x.name};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else {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找到了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vector&lt;string&gt; tmp=mymap[x.score];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tmp.push_back(x.name);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mymap[x.score]=tmp;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mymap.begin()-&gt;second;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121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405450"/>
            <a:ext cx="7286676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1.3.11 unordered_set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（哈希集合容器）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7158" y="1428736"/>
            <a:ext cx="8501122" cy="345222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unordered_set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类似，每个元素对应一个关键字，所有元素的关键字是唯一的。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只是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unordered_set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容器采用哈希表实现，利用拉链法解决冲突，所有元素是无序排列的，按关键字查找的时间复杂度接近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O(1)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定义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unordered_set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容器的方式与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类似，但不能指定关键字的排列方式。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122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214290"/>
            <a:ext cx="500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unordered_set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主要的成员函数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928670"/>
            <a:ext cx="8643998" cy="5324535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empty()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：判断容器是否为空。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：返回容器的长度。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[k]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：返回关键字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的元素的值。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at(k)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：与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[k]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的功能相同。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count(k)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：返回容器中关键字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出现的次数，结果为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find(k)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：如果容器中存在关键字为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的元素，返回其迭代器，否则返回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insert(e)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：插入元素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erase()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：从容器删除一个或几个元素。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clear()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：删除所有元素。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begin()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返回当前容器中首元素的迭代器。</a:t>
            </a:r>
          </a:p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end()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返回当前容器中尾元素后一个位置的迭代器。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123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785926"/>
            <a:ext cx="8643998" cy="96436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1.14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给定一个无序的整数序列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，设计一个算法求其中不相同的元素个数。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124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500034" y="395567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0034" y="1000108"/>
            <a:ext cx="8215370" cy="88421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定义一个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unorderd_set&lt;int&gt;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中所有元素插入到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中，返回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的长度即可。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5754" y="2214554"/>
            <a:ext cx="7858212" cy="252643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Count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(vector&lt;int&gt;&amp;v)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unordered_set&lt;int&gt; 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for(auto e:v)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s.insert(e);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125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405450"/>
            <a:ext cx="7286676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1.3.12 unordered_map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（哈希映射容器）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7158" y="1428736"/>
            <a:ext cx="8501122" cy="3452227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unordered_map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类似，每个元素为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pair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类型，所有元素的关键字是唯一的。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unordered_map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容器采用哈希表实现，利用拉链法解决冲突，所有元素是无序排列的，按关键字查找的时间复杂度接近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O(1)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4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定义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unordered_map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容器的方式与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类似，但不能指定关键字的排列方式。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126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214290"/>
            <a:ext cx="500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unordered_map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主要的成员函数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2844" y="965751"/>
            <a:ext cx="8858280" cy="4606389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empty()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：判断容器是否为空。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size()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：返回容器中实际元素个数。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map[k]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：返回关键字为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的元素，不存在时以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作为关键字插入一个元素。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at[k]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ma[k]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find(k)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：在容器中查找关键字为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count(k)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：返回容器中关键字为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的元素个数，结果只有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insert(e)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：插入一个元素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并返回该元素的位置。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erase()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：删除容器中的一个或几个元素。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clear()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：删除容器中所有元素。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begin()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：返回当前容器中首元素的迭代器。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end()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：返回当前容器中尾元素后一个位置的迭代器。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127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632955"/>
            <a:ext cx="8643998" cy="143885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5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1.15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给定一个由小写字母组成的字符串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，设计一个算法求其中所有唯一出现的字母，并且按照字母在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中出现的次序返回所有唯一出现字母构成的字符串。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128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357158" y="642918"/>
            <a:ext cx="71438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7158" y="1428736"/>
            <a:ext cx="8501122" cy="2269211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设计一个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unordered_map&lt;char,int&gt;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类型的哈希映射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cntmap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用于字母计数，遍历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一次求出所有字母出现的次数。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用字符串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存放答案（初始为空），再遍历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一次，将出现次数为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的字母添加到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中。最后返回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129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28596" y="714356"/>
            <a:ext cx="8429684" cy="365039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string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unique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(string&amp; s)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unordered_map&lt;char,int&gt; cntmap;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for(char x:s) cntmap[x]++;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string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for(char x:s)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cntmap[x]==1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ans.push_back(x);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ans;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130</a:t>
            </a:fld>
            <a:r>
              <a:rPr lang="en-US" altLang="zh-CN"/>
              <a:t>/129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68019B8-F216-1565-60E1-80D582F6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131</a:t>
            </a:fld>
            <a:r>
              <a:rPr lang="en-US" altLang="zh-CN"/>
              <a:t>/129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899D6B-E1AB-187C-51E3-7C79ED898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2860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75772B7-25BF-CC78-BA62-E3ABD262BD41}"/>
              </a:ext>
            </a:extLst>
          </p:cNvPr>
          <p:cNvSpPr txBox="1"/>
          <p:nvPr/>
        </p:nvSpPr>
        <p:spPr>
          <a:xfrm>
            <a:off x="3923928" y="46531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思政</a:t>
            </a:r>
          </a:p>
        </p:txBody>
      </p:sp>
    </p:spTree>
    <p:extLst>
      <p:ext uri="{BB962C8B-B14F-4D97-AF65-F5344CB8AC3E}">
        <p14:creationId xmlns:p14="http://schemas.microsoft.com/office/powerpoint/2010/main" val="3230109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>
          <a:tailEnd type="none"/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spDef>
    <a:lnDef>
      <a:spPr>
        <a:ln w="19050">
          <a:tailEnd type="arrow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00000"/>
          </a:lnSpc>
          <a:spcBef>
            <a:spcPts val="0"/>
          </a:spcBef>
          <a:defRPr sz="1800" smtClean="0">
            <a:solidFill>
              <a:srgbClr val="0000FF"/>
            </a:solidFill>
            <a:latin typeface="Consolas" pitchFamily="49" charset="0"/>
            <a:ea typeface="楷体" pitchFamily="49" charset="-122"/>
            <a:cs typeface="Consolas" pitchFamily="49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4552</TotalTime>
  <Words>14361</Words>
  <Application>Microsoft Office PowerPoint</Application>
  <PresentationFormat>全屏显示(4:3)</PresentationFormat>
  <Paragraphs>1306</Paragraphs>
  <Slides>131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131</vt:i4>
      </vt:variant>
    </vt:vector>
  </HeadingPairs>
  <TitlesOfParts>
    <vt:vector size="142" baseType="lpstr">
      <vt:lpstr>仿宋</vt:lpstr>
      <vt:lpstr>华文中宋</vt:lpstr>
      <vt:lpstr>楷体</vt:lpstr>
      <vt:lpstr>微软雅黑</vt:lpstr>
      <vt:lpstr>Arial</vt:lpstr>
      <vt:lpstr>Calibri</vt:lpstr>
      <vt:lpstr>Consolas</vt:lpstr>
      <vt:lpstr>Eras Bold ITC</vt:lpstr>
      <vt:lpstr>Forte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lcb; wbh</dc:creator>
  <cp:lastModifiedBy>jj wei</cp:lastModifiedBy>
  <cp:revision>1782</cp:revision>
  <dcterms:created xsi:type="dcterms:W3CDTF">2004-03-31T23:50:14Z</dcterms:created>
  <dcterms:modified xsi:type="dcterms:W3CDTF">2024-01-28T08:35:38Z</dcterms:modified>
</cp:coreProperties>
</file>