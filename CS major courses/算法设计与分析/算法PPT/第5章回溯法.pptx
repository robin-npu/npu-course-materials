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176"/>
  </p:notesMasterIdLst>
  <p:handoutMasterIdLst>
    <p:handoutMasterId r:id="rId177"/>
  </p:handoutMasterIdLst>
  <p:sldIdLst>
    <p:sldId id="522" r:id="rId2"/>
    <p:sldId id="365" r:id="rId3"/>
    <p:sldId id="733" r:id="rId4"/>
    <p:sldId id="532" r:id="rId5"/>
    <p:sldId id="533" r:id="rId6"/>
    <p:sldId id="539" r:id="rId7"/>
    <p:sldId id="534" r:id="rId8"/>
    <p:sldId id="535" r:id="rId9"/>
    <p:sldId id="536" r:id="rId10"/>
    <p:sldId id="540" r:id="rId11"/>
    <p:sldId id="537" r:id="rId12"/>
    <p:sldId id="538" r:id="rId13"/>
    <p:sldId id="526" r:id="rId14"/>
    <p:sldId id="541" r:id="rId15"/>
    <p:sldId id="542" r:id="rId16"/>
    <p:sldId id="543" r:id="rId17"/>
    <p:sldId id="545" r:id="rId18"/>
    <p:sldId id="544" r:id="rId19"/>
    <p:sldId id="546" r:id="rId20"/>
    <p:sldId id="547" r:id="rId21"/>
    <p:sldId id="527" r:id="rId22"/>
    <p:sldId id="743" r:id="rId23"/>
    <p:sldId id="744" r:id="rId24"/>
    <p:sldId id="745" r:id="rId25"/>
    <p:sldId id="746" r:id="rId26"/>
    <p:sldId id="747" r:id="rId27"/>
    <p:sldId id="748" r:id="rId28"/>
    <p:sldId id="749" r:id="rId29"/>
    <p:sldId id="750" r:id="rId30"/>
    <p:sldId id="751" r:id="rId31"/>
    <p:sldId id="752" r:id="rId32"/>
    <p:sldId id="753" r:id="rId33"/>
    <p:sldId id="528" r:id="rId34"/>
    <p:sldId id="529" r:id="rId35"/>
    <p:sldId id="555" r:id="rId36"/>
    <p:sldId id="583" r:id="rId37"/>
    <p:sldId id="584" r:id="rId38"/>
    <p:sldId id="585" r:id="rId39"/>
    <p:sldId id="586" r:id="rId40"/>
    <p:sldId id="556" r:id="rId41"/>
    <p:sldId id="557" r:id="rId42"/>
    <p:sldId id="587" r:id="rId43"/>
    <p:sldId id="588" r:id="rId44"/>
    <p:sldId id="589" r:id="rId45"/>
    <p:sldId id="590" r:id="rId46"/>
    <p:sldId id="592" r:id="rId47"/>
    <p:sldId id="524" r:id="rId48"/>
    <p:sldId id="558" r:id="rId49"/>
    <p:sldId id="559" r:id="rId50"/>
    <p:sldId id="593" r:id="rId51"/>
    <p:sldId id="594" r:id="rId52"/>
    <p:sldId id="595" r:id="rId53"/>
    <p:sldId id="597" r:id="rId54"/>
    <p:sldId id="599" r:id="rId55"/>
    <p:sldId id="596" r:id="rId56"/>
    <p:sldId id="560" r:id="rId57"/>
    <p:sldId id="561" r:id="rId58"/>
    <p:sldId id="600" r:id="rId59"/>
    <p:sldId id="601" r:id="rId60"/>
    <p:sldId id="605" r:id="rId61"/>
    <p:sldId id="602" r:id="rId62"/>
    <p:sldId id="603" r:id="rId63"/>
    <p:sldId id="604" r:id="rId64"/>
    <p:sldId id="562" r:id="rId65"/>
    <p:sldId id="618" r:id="rId66"/>
    <p:sldId id="619" r:id="rId67"/>
    <p:sldId id="620" r:id="rId68"/>
    <p:sldId id="621" r:id="rId69"/>
    <p:sldId id="622" r:id="rId70"/>
    <p:sldId id="631" r:id="rId71"/>
    <p:sldId id="635" r:id="rId72"/>
    <p:sldId id="636" r:id="rId73"/>
    <p:sldId id="632" r:id="rId74"/>
    <p:sldId id="623" r:id="rId75"/>
    <p:sldId id="633" r:id="rId76"/>
    <p:sldId id="634" r:id="rId77"/>
    <p:sldId id="625" r:id="rId78"/>
    <p:sldId id="637" r:id="rId79"/>
    <p:sldId id="639" r:id="rId80"/>
    <p:sldId id="638" r:id="rId81"/>
    <p:sldId id="642" r:id="rId82"/>
    <p:sldId id="643" r:id="rId83"/>
    <p:sldId id="644" r:id="rId84"/>
    <p:sldId id="624" r:id="rId85"/>
    <p:sldId id="645" r:id="rId86"/>
    <p:sldId id="646" r:id="rId87"/>
    <p:sldId id="647" r:id="rId88"/>
    <p:sldId id="658" r:id="rId89"/>
    <p:sldId id="659" r:id="rId90"/>
    <p:sldId id="660" r:id="rId91"/>
    <p:sldId id="648" r:id="rId92"/>
    <p:sldId id="661" r:id="rId93"/>
    <p:sldId id="649" r:id="rId94"/>
    <p:sldId id="650" r:id="rId95"/>
    <p:sldId id="662" r:id="rId96"/>
    <p:sldId id="651" r:id="rId97"/>
    <p:sldId id="652" r:id="rId98"/>
    <p:sldId id="754" r:id="rId99"/>
    <p:sldId id="755" r:id="rId100"/>
    <p:sldId id="756" r:id="rId101"/>
    <p:sldId id="757" r:id="rId102"/>
    <p:sldId id="758" r:id="rId103"/>
    <p:sldId id="759" r:id="rId104"/>
    <p:sldId id="628" r:id="rId105"/>
    <p:sldId id="629" r:id="rId106"/>
    <p:sldId id="669" r:id="rId107"/>
    <p:sldId id="671" r:id="rId108"/>
    <p:sldId id="668" r:id="rId109"/>
    <p:sldId id="666" r:id="rId110"/>
    <p:sldId id="665" r:id="rId111"/>
    <p:sldId id="672" r:id="rId112"/>
    <p:sldId id="673" r:id="rId113"/>
    <p:sldId id="674" r:id="rId114"/>
    <p:sldId id="675" r:id="rId115"/>
    <p:sldId id="676" r:id="rId116"/>
    <p:sldId id="677" r:id="rId117"/>
    <p:sldId id="678" r:id="rId118"/>
    <p:sldId id="679" r:id="rId119"/>
    <p:sldId id="670" r:id="rId120"/>
    <p:sldId id="735" r:id="rId121"/>
    <p:sldId id="736" r:id="rId122"/>
    <p:sldId id="737" r:id="rId123"/>
    <p:sldId id="738" r:id="rId124"/>
    <p:sldId id="739" r:id="rId125"/>
    <p:sldId id="740" r:id="rId126"/>
    <p:sldId id="741" r:id="rId127"/>
    <p:sldId id="742" r:id="rId128"/>
    <p:sldId id="606" r:id="rId129"/>
    <p:sldId id="690" r:id="rId130"/>
    <p:sldId id="691" r:id="rId131"/>
    <p:sldId id="694" r:id="rId132"/>
    <p:sldId id="612" r:id="rId133"/>
    <p:sldId id="695" r:id="rId134"/>
    <p:sldId id="693" r:id="rId135"/>
    <p:sldId id="692" r:id="rId136"/>
    <p:sldId id="680" r:id="rId137"/>
    <p:sldId id="681" r:id="rId138"/>
    <p:sldId id="696" r:id="rId139"/>
    <p:sldId id="734" r:id="rId140"/>
    <p:sldId id="683" r:id="rId141"/>
    <p:sldId id="698" r:id="rId142"/>
    <p:sldId id="697" r:id="rId143"/>
    <p:sldId id="682" r:id="rId144"/>
    <p:sldId id="684" r:id="rId145"/>
    <p:sldId id="685" r:id="rId146"/>
    <p:sldId id="699" r:id="rId147"/>
    <p:sldId id="608" r:id="rId148"/>
    <p:sldId id="701" r:id="rId149"/>
    <p:sldId id="702" r:id="rId150"/>
    <p:sldId id="703" r:id="rId151"/>
    <p:sldId id="715" r:id="rId152"/>
    <p:sldId id="705" r:id="rId153"/>
    <p:sldId id="686" r:id="rId154"/>
    <p:sldId id="611" r:id="rId155"/>
    <p:sldId id="609" r:id="rId156"/>
    <p:sldId id="716" r:id="rId157"/>
    <p:sldId id="717" r:id="rId158"/>
    <p:sldId id="718" r:id="rId159"/>
    <p:sldId id="613" r:id="rId160"/>
    <p:sldId id="724" r:id="rId161"/>
    <p:sldId id="725" r:id="rId162"/>
    <p:sldId id="726" r:id="rId163"/>
    <p:sldId id="727" r:id="rId164"/>
    <p:sldId id="728" r:id="rId165"/>
    <p:sldId id="729" r:id="rId166"/>
    <p:sldId id="730" r:id="rId167"/>
    <p:sldId id="731" r:id="rId168"/>
    <p:sldId id="732" r:id="rId169"/>
    <p:sldId id="616" r:id="rId170"/>
    <p:sldId id="617" r:id="rId171"/>
    <p:sldId id="563" r:id="rId172"/>
    <p:sldId id="722" r:id="rId173"/>
    <p:sldId id="723" r:id="rId174"/>
    <p:sldId id="760" r:id="rId175"/>
  </p:sldIdLst>
  <p:sldSz cx="9144000" cy="6858000" type="screen4x3"/>
  <p:notesSz cx="6858000" cy="9144000"/>
  <p:defaultTextStyle>
    <a:defPPr>
      <a:defRPr lang="zh-CN"/>
    </a:defPPr>
    <a:lvl1pPr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1pPr>
    <a:lvl2pPr marL="4572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2pPr>
    <a:lvl3pPr marL="9144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FF"/>
    <a:srgbClr val="FF00FF"/>
    <a:srgbClr val="F7EFED"/>
    <a:srgbClr val="FF3300"/>
    <a:srgbClr val="FF3399"/>
    <a:srgbClr val="339933"/>
    <a:srgbClr val="000000"/>
    <a:srgbClr val="3333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99" d="100"/>
          <a:sy n="99" d="100"/>
        </p:scale>
        <p:origin x="129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handoutMaster" Target="handoutMasters/handoutMaster1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heme" Target="theme/theme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notesMaster" Target="notesMasters/notesMaster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48C81-2EE0-4ADC-AD51-9DC87E0EF387}" type="datetimeFigureOut">
              <a:rPr lang="zh-CN" altLang="en-US" smtClean="0"/>
              <a:pPr/>
              <a:t>2024-01-28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0761C-5A44-4BA0-B4C5-00F13EA65E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fld id="{0D1E2EF4-146E-47B5-A412-FFD548A1AB6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154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155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158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170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171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172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173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0000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fld id="{7AF016A1-9F15-429F-9EFD-84004B73C732}" type="slidenum">
              <a:rPr lang="en-US" altLang="zh-CN" smtClean="0"/>
              <a:pPr/>
              <a:t>‹#›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3DD41-1E0E-46B0-ABE7-D5048A3DF73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285984" y="142852"/>
            <a:ext cx="4643470" cy="879829"/>
          </a:xfrm>
          <a:prstGeom prst="rect">
            <a:avLst/>
          </a:prstGeom>
          <a:ln>
            <a:noFill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216000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章</a:t>
            </a:r>
            <a:r>
              <a:rPr lang="en-US" altLang="zh-CN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回溯法</a:t>
            </a:r>
          </a:p>
        </p:txBody>
      </p:sp>
      <p:sp>
        <p:nvSpPr>
          <p:cNvPr id="5" name="TextBox 4">
            <a:hlinkClick r:id="rId3" action="ppaction://hlinksldjump"/>
          </p:cNvPr>
          <p:cNvSpPr txBox="1"/>
          <p:nvPr/>
        </p:nvSpPr>
        <p:spPr>
          <a:xfrm>
            <a:off x="285720" y="1928802"/>
            <a:ext cx="3643338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 </a:t>
            </a:r>
            <a:r>
              <a:rPr lang="zh-CN" altLang="en-US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回溯法概述</a:t>
            </a:r>
          </a:p>
        </p:txBody>
      </p:sp>
      <p:sp>
        <p:nvSpPr>
          <p:cNvPr id="9" name="TextBox 8">
            <a:hlinkClick r:id="" action="ppaction://noaction"/>
          </p:cNvPr>
          <p:cNvSpPr txBox="1"/>
          <p:nvPr/>
        </p:nvSpPr>
        <p:spPr>
          <a:xfrm>
            <a:off x="285720" y="2643182"/>
            <a:ext cx="3643338" cy="9541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5.2 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基于子集树的回溯算法框架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28596" y="285728"/>
            <a:ext cx="1678717" cy="1392180"/>
            <a:chOff x="428596" y="2679762"/>
            <a:chExt cx="1678717" cy="1392180"/>
          </a:xfrm>
        </p:grpSpPr>
        <p:grpSp>
          <p:nvGrpSpPr>
            <p:cNvPr id="16" name="组合 79"/>
            <p:cNvGrpSpPr>
              <a:grpSpLocks/>
            </p:cNvGrpSpPr>
            <p:nvPr/>
          </p:nvGrpSpPr>
          <p:grpSpPr bwMode="auto">
            <a:xfrm>
              <a:off x="571472" y="2679762"/>
              <a:ext cx="1357322" cy="1392180"/>
              <a:chOff x="6379728" y="2488774"/>
              <a:chExt cx="2513016" cy="2533955"/>
            </a:xfrm>
          </p:grpSpPr>
          <p:sp>
            <p:nvSpPr>
              <p:cNvPr id="17" name="任意多边形 82"/>
              <p:cNvSpPr/>
              <p:nvPr/>
            </p:nvSpPr>
            <p:spPr>
              <a:xfrm rot="3738964">
                <a:off x="6379728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8" name="任意多边形 83"/>
              <p:cNvSpPr/>
              <p:nvPr/>
            </p:nvSpPr>
            <p:spPr>
              <a:xfrm rot="16377237">
                <a:off x="6409519" y="2545928"/>
                <a:ext cx="2476803" cy="2476799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9" name="文本框 20"/>
            <p:cNvSpPr txBox="1">
              <a:spLocks noChangeArrowheads="1"/>
            </p:cNvSpPr>
            <p:nvPr/>
          </p:nvSpPr>
          <p:spPr bwMode="auto">
            <a:xfrm>
              <a:off x="428596" y="3334984"/>
              <a:ext cx="167871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lang="en-US" altLang="zh-CN" sz="1600" b="1" dirty="0">
                  <a:solidFill>
                    <a:srgbClr val="9900FF"/>
                  </a:solidFill>
                </a:rPr>
                <a:t>CONTENTS</a:t>
              </a:r>
              <a:endParaRPr lang="zh-CN" altLang="en-US" sz="1600" b="1" dirty="0">
                <a:solidFill>
                  <a:srgbClr val="9900FF"/>
                </a:solidFill>
              </a:endParaRPr>
            </a:p>
          </p:txBody>
        </p:sp>
        <p:sp>
          <p:nvSpPr>
            <p:cNvPr id="20" name="文本框 20"/>
            <p:cNvSpPr txBox="1">
              <a:spLocks noChangeArrowheads="1"/>
            </p:cNvSpPr>
            <p:nvPr/>
          </p:nvSpPr>
          <p:spPr bwMode="auto">
            <a:xfrm>
              <a:off x="808364" y="2965652"/>
              <a:ext cx="8189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lang="zh-CN" altLang="en-US" sz="1800" b="1" dirty="0">
                  <a:solidFill>
                    <a:srgbClr val="008000"/>
                  </a:solidFill>
                </a:rPr>
                <a:t>提纲</a:t>
              </a:r>
            </a:p>
          </p:txBody>
        </p:sp>
      </p:grpSp>
      <p:sp>
        <p:nvSpPr>
          <p:cNvPr id="12" name="TextBox 11">
            <a:hlinkClick r:id="" action="ppaction://noaction"/>
          </p:cNvPr>
          <p:cNvSpPr txBox="1"/>
          <p:nvPr/>
        </p:nvSpPr>
        <p:spPr>
          <a:xfrm>
            <a:off x="285720" y="3838931"/>
            <a:ext cx="3643338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5.3 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图的路径搜索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4" name="TextBox 13">
            <a:hlinkClick r:id="" action="ppaction://noaction"/>
          </p:cNvPr>
          <p:cNvSpPr txBox="1"/>
          <p:nvPr/>
        </p:nvSpPr>
        <p:spPr>
          <a:xfrm>
            <a:off x="285720" y="4710604"/>
            <a:ext cx="3643338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5.4 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构造表达式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3" name="TextBox 22">
            <a:hlinkClick r:id="" action="ppaction://noaction"/>
          </p:cNvPr>
          <p:cNvSpPr txBox="1"/>
          <p:nvPr/>
        </p:nvSpPr>
        <p:spPr>
          <a:xfrm>
            <a:off x="285720" y="5402406"/>
            <a:ext cx="3643338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5.5 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图的</a:t>
            </a:r>
            <a:r>
              <a:rPr lang="pt-BR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m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着色问题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4" name="TextBox 23">
            <a:hlinkClick r:id="" action="ppaction://noaction"/>
          </p:cNvPr>
          <p:cNvSpPr txBox="1"/>
          <p:nvPr/>
        </p:nvSpPr>
        <p:spPr>
          <a:xfrm>
            <a:off x="285720" y="6120490"/>
            <a:ext cx="3643338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5.6 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子集和问题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7" name="TextBox 26">
            <a:hlinkClick r:id="" action="ppaction://noaction"/>
          </p:cNvPr>
          <p:cNvSpPr txBox="1"/>
          <p:nvPr/>
        </p:nvSpPr>
        <p:spPr>
          <a:xfrm>
            <a:off x="4357686" y="1214422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5.7 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简单装载问题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8" name="TextBox 27">
            <a:hlinkClick r:id="" action="ppaction://noaction"/>
          </p:cNvPr>
          <p:cNvSpPr txBox="1"/>
          <p:nvPr/>
        </p:nvSpPr>
        <p:spPr>
          <a:xfrm>
            <a:off x="4357686" y="2812340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5.9</a:t>
            </a:r>
            <a:r>
              <a:rPr lang="nb-NO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 * 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完全背包问题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9" name="TextBox 28">
            <a:hlinkClick r:id="" action="ppaction://noaction"/>
          </p:cNvPr>
          <p:cNvSpPr txBox="1"/>
          <p:nvPr/>
        </p:nvSpPr>
        <p:spPr>
          <a:xfrm>
            <a:off x="4357686" y="1928802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5.8</a:t>
            </a:r>
            <a:r>
              <a:rPr lang="pt-BR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 0/1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背包问题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0" name="TextBox 29">
            <a:hlinkClick r:id="" action="ppaction://noaction"/>
          </p:cNvPr>
          <p:cNvSpPr txBox="1"/>
          <p:nvPr/>
        </p:nvSpPr>
        <p:spPr>
          <a:xfrm>
            <a:off x="4357686" y="3546463"/>
            <a:ext cx="3929090" cy="9541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5.10 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基于</a:t>
            </a:r>
            <a:r>
              <a:rPr lang="zh-CN" altLang="en-US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排列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树的回溯算法框架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1" name="TextBox 30">
            <a:hlinkClick r:id="" action="ppaction://noaction"/>
          </p:cNvPr>
          <p:cNvSpPr txBox="1"/>
          <p:nvPr/>
        </p:nvSpPr>
        <p:spPr>
          <a:xfrm>
            <a:off x="4357686" y="4710604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5.11</a:t>
            </a:r>
            <a:r>
              <a:rPr lang="en-US" altLang="zh-CN" sz="2800" i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 n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皇后问题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2" name="TextBox 31">
            <a:hlinkClick r:id="" action="ppaction://noaction"/>
          </p:cNvPr>
          <p:cNvSpPr txBox="1"/>
          <p:nvPr/>
        </p:nvSpPr>
        <p:spPr>
          <a:xfrm>
            <a:off x="4357686" y="5402406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5.12 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任务分配问题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3" name="TextBox 32">
            <a:hlinkClick r:id="" action="ppaction://noaction"/>
          </p:cNvPr>
          <p:cNvSpPr txBox="1"/>
          <p:nvPr/>
        </p:nvSpPr>
        <p:spPr>
          <a:xfrm>
            <a:off x="4357686" y="6120490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5.13 </a:t>
            </a:r>
            <a:r>
              <a:rPr lang="zh-CN" altLang="en-US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旅行商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问题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14282" y="1285860"/>
            <a:ext cx="378621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5.1.1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问题的解空间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/>
          <p:nvPr/>
        </p:nvSpPr>
        <p:spPr>
          <a:xfrm>
            <a:off x="2500298" y="357166"/>
            <a:ext cx="3643338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回溯法概述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34" y="2285992"/>
            <a:ext cx="8001056" cy="324383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一个复杂问题的解决方案是由若干个小的决策步骤组成的决策序列，其解可以表示成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，其中分量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对应第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步的选择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通常可以有两个或者多个取值，表示为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的取值候选集。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4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中各个分量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所有的取值的组合构成问题的解向量空间，简称为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解空间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或者解空间树。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71406" y="5000636"/>
            <a:ext cx="580496" cy="396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spc="-150">
                <a:latin typeface="Consolas" pitchFamily="49" charset="0"/>
                <a:ea typeface="仿宋" pitchFamily="49" charset="-122"/>
                <a:cs typeface="Consolas" pitchFamily="49" charset="0"/>
              </a:rPr>
              <a:t>11,12</a:t>
            </a:r>
            <a:endParaRPr lang="zh-CN" altLang="en-US" sz="1400" spc="-15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5" name="直接连接符 4"/>
          <p:cNvCxnSpPr>
            <a:stCxn id="37" idx="4"/>
            <a:endCxn id="4" idx="0"/>
          </p:cNvCxnSpPr>
          <p:nvPr/>
        </p:nvCxnSpPr>
        <p:spPr>
          <a:xfrm rot="5400000">
            <a:off x="271935" y="4629661"/>
            <a:ext cx="460694" cy="281256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2662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04810" y="5000636"/>
            <a:ext cx="571504" cy="396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spc="-150">
                <a:latin typeface="Consolas" pitchFamily="49" charset="0"/>
                <a:ea typeface="仿宋" pitchFamily="49" charset="-122"/>
                <a:cs typeface="Consolas" pitchFamily="49" charset="0"/>
              </a:rPr>
              <a:t>10,11</a:t>
            </a:r>
            <a:endParaRPr lang="zh-CN" altLang="en-US" sz="1400" spc="-15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9" name="直接连接符 8"/>
          <p:cNvCxnSpPr>
            <a:stCxn id="37" idx="4"/>
            <a:endCxn id="8" idx="0"/>
          </p:cNvCxnSpPr>
          <p:nvPr/>
        </p:nvCxnSpPr>
        <p:spPr>
          <a:xfrm rot="16200000" flipH="1">
            <a:off x="536389" y="4646463"/>
            <a:ext cx="460694" cy="247652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7224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142976" y="5000636"/>
            <a:ext cx="468000" cy="396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9,9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3" name="直接连接符 12"/>
          <p:cNvCxnSpPr>
            <a:stCxn id="41" idx="4"/>
            <a:endCxn id="12" idx="0"/>
          </p:cNvCxnSpPr>
          <p:nvPr/>
        </p:nvCxnSpPr>
        <p:spPr>
          <a:xfrm rot="5400000">
            <a:off x="1268880" y="4648039"/>
            <a:ext cx="460694" cy="24450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690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643042" y="5000636"/>
            <a:ext cx="468000" cy="396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8,8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8" name="直接连接符 17"/>
          <p:cNvCxnSpPr>
            <a:stCxn id="41" idx="4"/>
            <a:endCxn id="16" idx="0"/>
          </p:cNvCxnSpPr>
          <p:nvPr/>
        </p:nvCxnSpPr>
        <p:spPr>
          <a:xfrm rot="16200000" flipH="1">
            <a:off x="1518912" y="4642506"/>
            <a:ext cx="460694" cy="255565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33292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145"/>
          <p:cNvGrpSpPr/>
          <p:nvPr/>
        </p:nvGrpSpPr>
        <p:grpSpPr>
          <a:xfrm>
            <a:off x="2167172" y="4539942"/>
            <a:ext cx="511306" cy="856694"/>
            <a:chOff x="2167172" y="4539942"/>
            <a:chExt cx="511306" cy="856694"/>
          </a:xfrm>
        </p:grpSpPr>
        <p:sp>
          <p:nvSpPr>
            <p:cNvPr id="21" name="椭圆 20"/>
            <p:cNvSpPr/>
            <p:nvPr/>
          </p:nvSpPr>
          <p:spPr>
            <a:xfrm>
              <a:off x="2167172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8,8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22" name="直接连接符 21"/>
            <p:cNvCxnSpPr>
              <a:stCxn id="45" idx="4"/>
              <a:endCxn id="21" idx="0"/>
            </p:cNvCxnSpPr>
            <p:nvPr/>
          </p:nvCxnSpPr>
          <p:spPr>
            <a:xfrm rot="5400000">
              <a:off x="2309478" y="4631636"/>
              <a:ext cx="460694" cy="277306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2385982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3" name="组合 146"/>
          <p:cNvGrpSpPr/>
          <p:nvPr/>
        </p:nvGrpSpPr>
        <p:grpSpPr>
          <a:xfrm>
            <a:off x="2673190" y="4539942"/>
            <a:ext cx="468000" cy="856694"/>
            <a:chOff x="2673190" y="4539942"/>
            <a:chExt cx="468000" cy="856694"/>
          </a:xfrm>
        </p:grpSpPr>
        <p:sp>
          <p:nvSpPr>
            <p:cNvPr id="25" name="椭圆 24"/>
            <p:cNvSpPr/>
            <p:nvPr/>
          </p:nvSpPr>
          <p:spPr>
            <a:xfrm>
              <a:off x="2673190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7,7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26" name="直接连接符 25"/>
            <p:cNvCxnSpPr>
              <a:stCxn id="45" idx="4"/>
              <a:endCxn id="25" idx="0"/>
            </p:cNvCxnSpPr>
            <p:nvPr/>
          </p:nvCxnSpPr>
          <p:spPr>
            <a:xfrm rot="16200000" flipH="1">
              <a:off x="2562487" y="4655933"/>
              <a:ext cx="460694" cy="228712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2841662" y="4655478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7" name="组合 148"/>
          <p:cNvGrpSpPr/>
          <p:nvPr/>
        </p:nvGrpSpPr>
        <p:grpSpPr>
          <a:xfrm>
            <a:off x="3212628" y="4539942"/>
            <a:ext cx="468000" cy="856694"/>
            <a:chOff x="3212628" y="4539942"/>
            <a:chExt cx="468000" cy="856694"/>
          </a:xfrm>
        </p:grpSpPr>
        <p:sp>
          <p:nvSpPr>
            <p:cNvPr id="29" name="椭圆 28"/>
            <p:cNvSpPr/>
            <p:nvPr/>
          </p:nvSpPr>
          <p:spPr>
            <a:xfrm>
              <a:off x="3212628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6,5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30" name="直接连接符 29"/>
            <p:cNvCxnSpPr>
              <a:stCxn id="49" idx="4"/>
              <a:endCxn id="29" idx="0"/>
            </p:cNvCxnSpPr>
            <p:nvPr/>
          </p:nvCxnSpPr>
          <p:spPr>
            <a:xfrm rot="5400000">
              <a:off x="3330142" y="4656428"/>
              <a:ext cx="460694" cy="227722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3381566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11" name="组合 149"/>
          <p:cNvGrpSpPr/>
          <p:nvPr/>
        </p:nvGrpSpPr>
        <p:grpSpPr>
          <a:xfrm>
            <a:off x="3674350" y="4539942"/>
            <a:ext cx="506344" cy="856694"/>
            <a:chOff x="3674350" y="4539942"/>
            <a:chExt cx="506344" cy="856694"/>
          </a:xfrm>
        </p:grpSpPr>
        <p:sp>
          <p:nvSpPr>
            <p:cNvPr id="33" name="椭圆 32"/>
            <p:cNvSpPr/>
            <p:nvPr/>
          </p:nvSpPr>
          <p:spPr>
            <a:xfrm>
              <a:off x="3712694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5,4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34" name="直接连接符 33"/>
            <p:cNvCxnSpPr>
              <a:stCxn id="49" idx="4"/>
              <a:endCxn id="33" idx="0"/>
            </p:cNvCxnSpPr>
            <p:nvPr/>
          </p:nvCxnSpPr>
          <p:spPr>
            <a:xfrm rot="16200000" flipH="1">
              <a:off x="3580175" y="4634117"/>
              <a:ext cx="460694" cy="272344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3891666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37" name="椭圆 36"/>
          <p:cNvSpPr/>
          <p:nvPr/>
        </p:nvSpPr>
        <p:spPr>
          <a:xfrm>
            <a:off x="285720" y="4071942"/>
            <a:ext cx="71438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10,11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38" name="直接连接符 37"/>
          <p:cNvCxnSpPr>
            <a:stCxn id="53" idx="3"/>
            <a:endCxn id="37" idx="0"/>
          </p:cNvCxnSpPr>
          <p:nvPr/>
        </p:nvCxnSpPr>
        <p:spPr>
          <a:xfrm rot="5400000">
            <a:off x="400786" y="3531150"/>
            <a:ext cx="782917" cy="298667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4036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1333477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8,8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42" name="直接连接符 41"/>
          <p:cNvCxnSpPr>
            <a:stCxn id="53" idx="5"/>
            <a:endCxn id="41" idx="0"/>
          </p:cNvCxnSpPr>
          <p:nvPr/>
        </p:nvCxnSpPr>
        <p:spPr>
          <a:xfrm rot="16200000" flipH="1">
            <a:off x="1093716" y="3544180"/>
            <a:ext cx="782917" cy="272606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500166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2390478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7,7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46" name="直接连接符 45"/>
          <p:cNvCxnSpPr>
            <a:stCxn id="57" idx="3"/>
            <a:endCxn id="45" idx="0"/>
          </p:cNvCxnSpPr>
          <p:nvPr/>
        </p:nvCxnSpPr>
        <p:spPr>
          <a:xfrm rot="5400000">
            <a:off x="2417677" y="3549827"/>
            <a:ext cx="782917" cy="261313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57375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3386350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5,4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50" name="直接连接符 49"/>
          <p:cNvCxnSpPr>
            <a:stCxn id="57" idx="5"/>
            <a:endCxn id="49" idx="0"/>
          </p:cNvCxnSpPr>
          <p:nvPr/>
        </p:nvCxnSpPr>
        <p:spPr>
          <a:xfrm rot="16200000" flipH="1">
            <a:off x="3119259" y="3516850"/>
            <a:ext cx="782917" cy="327265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00430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857224" y="288956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8,8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54" name="直接连接符 53"/>
          <p:cNvCxnSpPr>
            <a:stCxn id="118" idx="3"/>
            <a:endCxn id="53" idx="7"/>
          </p:cNvCxnSpPr>
          <p:nvPr/>
        </p:nvCxnSpPr>
        <p:spPr>
          <a:xfrm rot="5400000">
            <a:off x="1401811" y="2346763"/>
            <a:ext cx="558396" cy="664276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582101" y="248901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2855438" y="288956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5,4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58" name="直接连接符 57"/>
          <p:cNvCxnSpPr>
            <a:stCxn id="118" idx="5"/>
            <a:endCxn id="57" idx="1"/>
          </p:cNvCxnSpPr>
          <p:nvPr/>
        </p:nvCxnSpPr>
        <p:spPr>
          <a:xfrm rot="16200000" flipH="1">
            <a:off x="2400918" y="2419226"/>
            <a:ext cx="558396" cy="51935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643174" y="250030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4286248" y="5000636"/>
            <a:ext cx="468000" cy="396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6,8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62" name="直接连接符 61"/>
          <p:cNvCxnSpPr>
            <a:stCxn id="93" idx="4"/>
            <a:endCxn id="61" idx="0"/>
          </p:cNvCxnSpPr>
          <p:nvPr/>
        </p:nvCxnSpPr>
        <p:spPr>
          <a:xfrm rot="5400000">
            <a:off x="4428554" y="4631636"/>
            <a:ext cx="460694" cy="277306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505058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15" name="组合 154"/>
          <p:cNvGrpSpPr/>
          <p:nvPr/>
        </p:nvGrpSpPr>
        <p:grpSpPr>
          <a:xfrm>
            <a:off x="4795306" y="4539942"/>
            <a:ext cx="468000" cy="856694"/>
            <a:chOff x="4795306" y="4539942"/>
            <a:chExt cx="468000" cy="856694"/>
          </a:xfrm>
        </p:grpSpPr>
        <p:sp>
          <p:nvSpPr>
            <p:cNvPr id="65" name="椭圆 64"/>
            <p:cNvSpPr/>
            <p:nvPr/>
          </p:nvSpPr>
          <p:spPr>
            <a:xfrm>
              <a:off x="4795306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5,7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66" name="直接连接符 65"/>
            <p:cNvCxnSpPr>
              <a:stCxn id="93" idx="4"/>
              <a:endCxn id="65" idx="0"/>
            </p:cNvCxnSpPr>
            <p:nvPr/>
          </p:nvCxnSpPr>
          <p:spPr>
            <a:xfrm rot="16200000" flipH="1">
              <a:off x="4683083" y="4654413"/>
              <a:ext cx="460694" cy="231752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TextBox 66"/>
            <p:cNvSpPr txBox="1"/>
            <p:nvPr/>
          </p:nvSpPr>
          <p:spPr>
            <a:xfrm>
              <a:off x="5009620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17" name="组合 156"/>
          <p:cNvGrpSpPr/>
          <p:nvPr/>
        </p:nvGrpSpPr>
        <p:grpSpPr>
          <a:xfrm>
            <a:off x="5295372" y="4539942"/>
            <a:ext cx="468000" cy="856694"/>
            <a:chOff x="5295372" y="4539942"/>
            <a:chExt cx="468000" cy="856694"/>
          </a:xfrm>
        </p:grpSpPr>
        <p:sp>
          <p:nvSpPr>
            <p:cNvPr id="69" name="椭圆 68"/>
            <p:cNvSpPr/>
            <p:nvPr/>
          </p:nvSpPr>
          <p:spPr>
            <a:xfrm>
              <a:off x="5295372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4,5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70" name="直接连接符 69"/>
            <p:cNvCxnSpPr>
              <a:stCxn id="97" idx="4"/>
              <a:endCxn id="69" idx="0"/>
            </p:cNvCxnSpPr>
            <p:nvPr/>
          </p:nvCxnSpPr>
          <p:spPr>
            <a:xfrm rot="5400000">
              <a:off x="5397463" y="4671851"/>
              <a:ext cx="460694" cy="196876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5478086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20" name="组合 157"/>
          <p:cNvGrpSpPr/>
          <p:nvPr/>
        </p:nvGrpSpPr>
        <p:grpSpPr>
          <a:xfrm>
            <a:off x="5726248" y="4539942"/>
            <a:ext cx="537190" cy="856694"/>
            <a:chOff x="5726248" y="4539942"/>
            <a:chExt cx="537190" cy="856694"/>
          </a:xfrm>
        </p:grpSpPr>
        <p:sp>
          <p:nvSpPr>
            <p:cNvPr id="73" name="椭圆 72"/>
            <p:cNvSpPr/>
            <p:nvPr/>
          </p:nvSpPr>
          <p:spPr>
            <a:xfrm>
              <a:off x="5795438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3,4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74" name="直接连接符 73"/>
            <p:cNvCxnSpPr>
              <a:stCxn id="97" idx="4"/>
              <a:endCxn id="73" idx="0"/>
            </p:cNvCxnSpPr>
            <p:nvPr/>
          </p:nvCxnSpPr>
          <p:spPr>
            <a:xfrm rot="16200000" flipH="1">
              <a:off x="5647496" y="4618694"/>
              <a:ext cx="460694" cy="3031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5985688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24" name="组合 160"/>
          <p:cNvGrpSpPr/>
          <p:nvPr/>
        </p:nvGrpSpPr>
        <p:grpSpPr>
          <a:xfrm>
            <a:off x="6319568" y="4539942"/>
            <a:ext cx="511306" cy="856694"/>
            <a:chOff x="6319568" y="4539942"/>
            <a:chExt cx="511306" cy="856694"/>
          </a:xfrm>
        </p:grpSpPr>
        <p:sp>
          <p:nvSpPr>
            <p:cNvPr id="77" name="椭圆 76"/>
            <p:cNvSpPr/>
            <p:nvPr/>
          </p:nvSpPr>
          <p:spPr>
            <a:xfrm>
              <a:off x="6319568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3,4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78" name="直接连接符 77"/>
            <p:cNvCxnSpPr>
              <a:stCxn id="101" idx="4"/>
              <a:endCxn id="77" idx="0"/>
            </p:cNvCxnSpPr>
            <p:nvPr/>
          </p:nvCxnSpPr>
          <p:spPr>
            <a:xfrm rot="5400000">
              <a:off x="6461874" y="4631636"/>
              <a:ext cx="460694" cy="277306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6538378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28" name="组合 161"/>
          <p:cNvGrpSpPr/>
          <p:nvPr/>
        </p:nvGrpSpPr>
        <p:grpSpPr>
          <a:xfrm>
            <a:off x="6825586" y="4539942"/>
            <a:ext cx="468000" cy="856694"/>
            <a:chOff x="6825586" y="4539942"/>
            <a:chExt cx="468000" cy="856694"/>
          </a:xfrm>
        </p:grpSpPr>
        <p:sp>
          <p:nvSpPr>
            <p:cNvPr id="81" name="椭圆 80"/>
            <p:cNvSpPr/>
            <p:nvPr/>
          </p:nvSpPr>
          <p:spPr>
            <a:xfrm>
              <a:off x="6825586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2,3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82" name="直接连接符 81"/>
            <p:cNvCxnSpPr>
              <a:stCxn id="101" idx="4"/>
              <a:endCxn id="81" idx="0"/>
            </p:cNvCxnSpPr>
            <p:nvPr/>
          </p:nvCxnSpPr>
          <p:spPr>
            <a:xfrm rot="16200000" flipH="1">
              <a:off x="6714883" y="4655933"/>
              <a:ext cx="460694" cy="228712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6994058" y="4655478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32" name="组合 163"/>
          <p:cNvGrpSpPr/>
          <p:nvPr/>
        </p:nvGrpSpPr>
        <p:grpSpPr>
          <a:xfrm>
            <a:off x="7365024" y="4539942"/>
            <a:ext cx="468000" cy="856694"/>
            <a:chOff x="7365024" y="4539942"/>
            <a:chExt cx="468000" cy="856694"/>
          </a:xfrm>
        </p:grpSpPr>
        <p:sp>
          <p:nvSpPr>
            <p:cNvPr id="85" name="椭圆 84"/>
            <p:cNvSpPr/>
            <p:nvPr/>
          </p:nvSpPr>
          <p:spPr>
            <a:xfrm>
              <a:off x="7365024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1,1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86" name="直接连接符 85"/>
            <p:cNvCxnSpPr>
              <a:stCxn id="105" idx="4"/>
              <a:endCxn id="85" idx="0"/>
            </p:cNvCxnSpPr>
            <p:nvPr/>
          </p:nvCxnSpPr>
          <p:spPr>
            <a:xfrm rot="5400000">
              <a:off x="7482538" y="4656428"/>
              <a:ext cx="460694" cy="227722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7533962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36" name="组合 164"/>
          <p:cNvGrpSpPr/>
          <p:nvPr/>
        </p:nvGrpSpPr>
        <p:grpSpPr>
          <a:xfrm>
            <a:off x="7826746" y="4539942"/>
            <a:ext cx="506344" cy="856694"/>
            <a:chOff x="7826746" y="4539942"/>
            <a:chExt cx="506344" cy="856694"/>
          </a:xfrm>
        </p:grpSpPr>
        <p:sp>
          <p:nvSpPr>
            <p:cNvPr id="89" name="椭圆 88"/>
            <p:cNvSpPr/>
            <p:nvPr/>
          </p:nvSpPr>
          <p:spPr>
            <a:xfrm>
              <a:off x="7865090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0,0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90" name="直接连接符 89"/>
            <p:cNvCxnSpPr>
              <a:stCxn id="105" idx="4"/>
              <a:endCxn id="89" idx="0"/>
            </p:cNvCxnSpPr>
            <p:nvPr/>
          </p:nvCxnSpPr>
          <p:spPr>
            <a:xfrm rot="16200000" flipH="1">
              <a:off x="7732571" y="4634117"/>
              <a:ext cx="460694" cy="272344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7976328" y="4645675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93" name="椭圆 92"/>
          <p:cNvSpPr/>
          <p:nvPr/>
        </p:nvSpPr>
        <p:spPr>
          <a:xfrm>
            <a:off x="4509554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5,7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94" name="直接连接符 93"/>
          <p:cNvCxnSpPr>
            <a:stCxn id="109" idx="3"/>
            <a:endCxn id="93" idx="0"/>
          </p:cNvCxnSpPr>
          <p:nvPr/>
        </p:nvCxnSpPr>
        <p:spPr>
          <a:xfrm rot="5400000">
            <a:off x="4554306" y="3532274"/>
            <a:ext cx="782917" cy="296419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799010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7" name="椭圆 96"/>
          <p:cNvSpPr/>
          <p:nvPr/>
        </p:nvSpPr>
        <p:spPr>
          <a:xfrm>
            <a:off x="5438248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3,4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98" name="直接连接符 97"/>
          <p:cNvCxnSpPr>
            <a:stCxn id="109" idx="5"/>
            <a:endCxn id="97" idx="0"/>
          </p:cNvCxnSpPr>
          <p:nvPr/>
        </p:nvCxnSpPr>
        <p:spPr>
          <a:xfrm rot="16200000" flipH="1">
            <a:off x="5222299" y="3567992"/>
            <a:ext cx="782917" cy="22498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652562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6542874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2,3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02" name="直接连接符 101"/>
          <p:cNvCxnSpPr>
            <a:stCxn id="113" idx="3"/>
            <a:endCxn id="101" idx="0"/>
          </p:cNvCxnSpPr>
          <p:nvPr/>
        </p:nvCxnSpPr>
        <p:spPr>
          <a:xfrm rot="5400000">
            <a:off x="6570073" y="3549827"/>
            <a:ext cx="782917" cy="261313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6809771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5" name="椭圆 104"/>
          <p:cNvSpPr/>
          <p:nvPr/>
        </p:nvSpPr>
        <p:spPr>
          <a:xfrm>
            <a:off x="7538746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0,0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06" name="直接连接符 105"/>
          <p:cNvCxnSpPr>
            <a:stCxn id="113" idx="5"/>
            <a:endCxn id="105" idx="0"/>
          </p:cNvCxnSpPr>
          <p:nvPr/>
        </p:nvCxnSpPr>
        <p:spPr>
          <a:xfrm rot="16200000" flipH="1">
            <a:off x="7271655" y="3516850"/>
            <a:ext cx="782917" cy="327265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7664115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9" name="椭圆 108"/>
          <p:cNvSpPr/>
          <p:nvPr/>
        </p:nvSpPr>
        <p:spPr>
          <a:xfrm>
            <a:off x="5009620" y="288956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3,4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10" name="直接连接符 109"/>
          <p:cNvCxnSpPr>
            <a:stCxn id="122" idx="3"/>
            <a:endCxn id="109" idx="7"/>
          </p:cNvCxnSpPr>
          <p:nvPr/>
        </p:nvCxnSpPr>
        <p:spPr>
          <a:xfrm rot="5400000">
            <a:off x="5554207" y="2346763"/>
            <a:ext cx="558396" cy="664276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5745786" y="250030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3" name="椭圆 112"/>
          <p:cNvSpPr/>
          <p:nvPr/>
        </p:nvSpPr>
        <p:spPr>
          <a:xfrm>
            <a:off x="7007834" y="288956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0,0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14" name="直接连接符 113"/>
          <p:cNvCxnSpPr>
            <a:stCxn id="122" idx="5"/>
            <a:endCxn id="113" idx="1"/>
          </p:cNvCxnSpPr>
          <p:nvPr/>
        </p:nvCxnSpPr>
        <p:spPr>
          <a:xfrm rot="16200000" flipH="1">
            <a:off x="6553314" y="2419226"/>
            <a:ext cx="558396" cy="51935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806859" y="254546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6" name="椭圆 115"/>
          <p:cNvSpPr/>
          <p:nvPr/>
        </p:nvSpPr>
        <p:spPr>
          <a:xfrm>
            <a:off x="3924562" y="500042"/>
            <a:ext cx="576000" cy="4680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0,0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8" name="椭圆 117"/>
          <p:cNvSpPr/>
          <p:nvPr/>
        </p:nvSpPr>
        <p:spPr>
          <a:xfrm>
            <a:off x="1928794" y="2000240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5,4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19" name="直接连接符 118"/>
          <p:cNvCxnSpPr>
            <a:stCxn id="116" idx="3"/>
            <a:endCxn id="118" idx="7"/>
          </p:cNvCxnSpPr>
          <p:nvPr/>
        </p:nvCxnSpPr>
        <p:spPr>
          <a:xfrm rot="5400000">
            <a:off x="2630042" y="689904"/>
            <a:ext cx="1169272" cy="1588474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2924430" y="142873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22" name="椭圆 121"/>
          <p:cNvSpPr/>
          <p:nvPr/>
        </p:nvSpPr>
        <p:spPr>
          <a:xfrm>
            <a:off x="6081190" y="2000240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0,0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23" name="直接连接符 122"/>
          <p:cNvCxnSpPr>
            <a:stCxn id="116" idx="5"/>
            <a:endCxn id="122" idx="1"/>
          </p:cNvCxnSpPr>
          <p:nvPr/>
        </p:nvCxnSpPr>
        <p:spPr>
          <a:xfrm rot="16200000" flipH="1">
            <a:off x="4706240" y="609474"/>
            <a:ext cx="1169272" cy="1749334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5402797" y="141744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40" name="组合 133"/>
          <p:cNvGrpSpPr/>
          <p:nvPr/>
        </p:nvGrpSpPr>
        <p:grpSpPr>
          <a:xfrm>
            <a:off x="5869173" y="1212163"/>
            <a:ext cx="3204175" cy="3751540"/>
            <a:chOff x="5869173" y="1212163"/>
            <a:chExt cx="3204175" cy="3751540"/>
          </a:xfrm>
        </p:grpSpPr>
        <p:sp>
          <p:nvSpPr>
            <p:cNvPr id="126" name="TextBox 125"/>
            <p:cNvSpPr txBox="1"/>
            <p:nvPr/>
          </p:nvSpPr>
          <p:spPr>
            <a:xfrm>
              <a:off x="8143900" y="1212163"/>
              <a:ext cx="929448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spc="-15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x0</a:t>
              </a:r>
              <a:r>
                <a:rPr lang="zh-CN" altLang="en-US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：选或不选物品</a:t>
              </a:r>
              <a:r>
                <a:rPr lang="en-US" altLang="zh-CN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600" spc="-15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8143900" y="2404053"/>
              <a:ext cx="929448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spc="-15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x1</a:t>
              </a:r>
              <a:r>
                <a:rPr lang="zh-CN" altLang="en-US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：选或不选物品</a:t>
              </a:r>
              <a:r>
                <a:rPr lang="en-US" altLang="zh-CN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600" spc="-15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8143900" y="3426741"/>
              <a:ext cx="929448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spc="-15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x2</a:t>
              </a:r>
              <a:r>
                <a:rPr lang="zh-CN" altLang="en-US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：选或不选物品</a:t>
              </a:r>
              <a:r>
                <a:rPr lang="en-US" altLang="zh-CN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1600" spc="-15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8228314" y="4569749"/>
              <a:ext cx="845034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spc="-15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x3</a:t>
              </a:r>
              <a:r>
                <a:rPr lang="zh-CN" altLang="en-US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：选或不选物品</a:t>
              </a:r>
              <a:r>
                <a:rPr lang="en-US" altLang="zh-CN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1600" spc="-15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130" name="直接连接符 129"/>
            <p:cNvCxnSpPr/>
            <p:nvPr/>
          </p:nvCxnSpPr>
          <p:spPr>
            <a:xfrm>
              <a:off x="5869173" y="1440025"/>
              <a:ext cx="2160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7124905" y="2620626"/>
              <a:ext cx="1080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7840028" y="3643314"/>
              <a:ext cx="500066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5" name="TextBox 134"/>
          <p:cNvSpPr txBox="1"/>
          <p:nvPr/>
        </p:nvSpPr>
        <p:spPr>
          <a:xfrm>
            <a:off x="4572000" y="642918"/>
            <a:ext cx="1214446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800" spc="-15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根结点：</a:t>
            </a:r>
            <a:r>
              <a:rPr lang="en-US" altLang="zh-CN" sz="1800" i="1" spc="-15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pc="-15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</a:t>
            </a:r>
            <a:endParaRPr lang="zh-CN" altLang="en-US" sz="1800" spc="-15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655998" y="2034452"/>
            <a:ext cx="357190" cy="1969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i="1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endParaRPr lang="zh-CN" altLang="en-US" sz="1600" spc="-150">
              <a:solidFill>
                <a:srgbClr val="C0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8655998" y="2987964"/>
            <a:ext cx="357190" cy="1969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i="1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=2</a:t>
            </a:r>
            <a:endParaRPr lang="zh-CN" altLang="en-US" sz="1600" spc="-150">
              <a:solidFill>
                <a:srgbClr val="C0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8655998" y="4166314"/>
            <a:ext cx="357190" cy="1969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i="1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=3</a:t>
            </a:r>
            <a:endParaRPr lang="zh-CN" altLang="en-US" sz="1600" spc="-150">
              <a:solidFill>
                <a:srgbClr val="C0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8678576" y="5116832"/>
            <a:ext cx="357190" cy="2005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i="1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=4</a:t>
            </a:r>
            <a:endParaRPr lang="zh-CN" altLang="en-US" sz="1600" spc="-150">
              <a:solidFill>
                <a:srgbClr val="C0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40" name="直接连接符 139"/>
          <p:cNvCxnSpPr/>
          <p:nvPr/>
        </p:nvCxnSpPr>
        <p:spPr>
          <a:xfrm>
            <a:off x="6715140" y="2178458"/>
            <a:ext cx="19080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>
            <a:off x="7563966" y="3095874"/>
            <a:ext cx="10800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/>
        </p:nvCxnSpPr>
        <p:spPr>
          <a:xfrm>
            <a:off x="8176062" y="4286256"/>
            <a:ext cx="5040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>
            <a:off x="8355404" y="5214950"/>
            <a:ext cx="3600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44" name="组合 132"/>
          <p:cNvGrpSpPr/>
          <p:nvPr/>
        </p:nvGrpSpPr>
        <p:grpSpPr>
          <a:xfrm>
            <a:off x="3988464" y="5396636"/>
            <a:ext cx="1071570" cy="675570"/>
            <a:chOff x="3988464" y="5396636"/>
            <a:chExt cx="1071570" cy="675570"/>
          </a:xfrm>
        </p:grpSpPr>
        <p:sp>
          <p:nvSpPr>
            <p:cNvPr id="145" name="TextBox 144"/>
            <p:cNvSpPr txBox="1"/>
            <p:nvPr/>
          </p:nvSpPr>
          <p:spPr>
            <a:xfrm>
              <a:off x="3988464" y="5702874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800">
                  <a:solidFill>
                    <a:srgbClr val="0000FF"/>
                  </a:solidFill>
                  <a:latin typeface="Consolas" pitchFamily="49" charset="0"/>
                  <a:ea typeface="微软雅黑" pitchFamily="34" charset="-122"/>
                  <a:cs typeface="Consolas" pitchFamily="49" charset="0"/>
                </a:rPr>
                <a:t>最优解</a:t>
              </a:r>
            </a:p>
          </p:txBody>
        </p:sp>
        <p:cxnSp>
          <p:nvCxnSpPr>
            <p:cNvPr id="146" name="直接箭头连接符 145"/>
            <p:cNvCxnSpPr>
              <a:stCxn id="145" idx="0"/>
              <a:endCxn id="61" idx="4"/>
            </p:cNvCxnSpPr>
            <p:nvPr/>
          </p:nvCxnSpPr>
          <p:spPr>
            <a:xfrm rot="16200000" flipV="1">
              <a:off x="4369130" y="5547754"/>
              <a:ext cx="306238" cy="400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47" name="TextBox 146"/>
          <p:cNvSpPr txBox="1"/>
          <p:nvPr/>
        </p:nvSpPr>
        <p:spPr>
          <a:xfrm>
            <a:off x="5000628" y="142852"/>
            <a:ext cx="2571768" cy="3139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zh-CN" altLang="en-US" sz="180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总重量</a:t>
            </a:r>
            <a:r>
              <a:rPr lang="en-US" altLang="zh-CN" sz="180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cw,</a:t>
            </a:r>
            <a:r>
              <a:rPr lang="zh-CN" altLang="en-US" sz="180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总价值</a:t>
            </a:r>
            <a:r>
              <a:rPr lang="en-US" altLang="zh-CN" sz="180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cv)</a:t>
            </a:r>
            <a:endParaRPr lang="zh-CN" altLang="en-US" sz="1800">
              <a:solidFill>
                <a:schemeClr val="bg1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aphicFrame>
        <p:nvGraphicFramePr>
          <p:cNvPr id="149" name="Group 104"/>
          <p:cNvGraphicFramePr>
            <a:graphicFrameLocks noGrp="1"/>
          </p:cNvGraphicFramePr>
          <p:nvPr/>
        </p:nvGraphicFramePr>
        <p:xfrm>
          <a:off x="71407" y="632835"/>
          <a:ext cx="1785948" cy="143884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95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i</a:t>
                      </a:r>
                      <a:endParaRPr kumimoji="0" lang="zh-CN" alt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pt-BR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重量</a:t>
                      </a:r>
                      <a:endParaRPr kumimoji="0" lang="zh-CN" alt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pt-BR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价值</a:t>
                      </a:r>
                      <a:endParaRPr kumimoji="0" lang="zh-CN" alt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4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0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5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4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4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4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0" name="TextBox 149"/>
          <p:cNvSpPr txBox="1"/>
          <p:nvPr/>
        </p:nvSpPr>
        <p:spPr>
          <a:xfrm>
            <a:off x="214282" y="6000768"/>
            <a:ext cx="36433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0/1</a:t>
            </a:r>
            <a:r>
              <a:rPr lang="zh-CN" altLang="zh-CN" sz="2200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背包问题的解空间树</a:t>
            </a:r>
            <a:endParaRPr lang="zh-CN" altLang="en-US" sz="2200">
              <a:solidFill>
                <a:srgbClr val="FF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grpSp>
        <p:nvGrpSpPr>
          <p:cNvPr id="48" name="组合 143"/>
          <p:cNvGrpSpPr/>
          <p:nvPr/>
        </p:nvGrpSpPr>
        <p:grpSpPr>
          <a:xfrm>
            <a:off x="2143108" y="142852"/>
            <a:ext cx="853211" cy="761171"/>
            <a:chOff x="6862060" y="4310903"/>
            <a:chExt cx="1128915" cy="1130667"/>
          </a:xfrm>
        </p:grpSpPr>
        <p:grpSp>
          <p:nvGrpSpPr>
            <p:cNvPr id="52" name="Group 103"/>
            <p:cNvGrpSpPr>
              <a:grpSpLocks/>
            </p:cNvGrpSpPr>
            <p:nvPr/>
          </p:nvGrpSpPr>
          <p:grpSpPr bwMode="auto">
            <a:xfrm>
              <a:off x="6862060" y="4310903"/>
              <a:ext cx="1128915" cy="1130667"/>
              <a:chOff x="2880" y="1515"/>
              <a:chExt cx="644" cy="645"/>
            </a:xfrm>
          </p:grpSpPr>
          <p:sp>
            <p:nvSpPr>
              <p:cNvPr id="154" name="Oval 104"/>
              <p:cNvSpPr>
                <a:spLocks noChangeArrowheads="1"/>
              </p:cNvSpPr>
              <p:nvPr/>
            </p:nvSpPr>
            <p:spPr bwMode="auto">
              <a:xfrm>
                <a:off x="2880" y="1516"/>
                <a:ext cx="644" cy="644"/>
              </a:xfrm>
              <a:prstGeom prst="ellipse">
                <a:avLst/>
              </a:prstGeom>
              <a:gradFill rotWithShape="1">
                <a:gsLst>
                  <a:gs pos="0">
                    <a:srgbClr val="10942F"/>
                  </a:gs>
                  <a:gs pos="100000">
                    <a:srgbClr val="16D83B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" name="Freeform 105"/>
              <p:cNvSpPr>
                <a:spLocks/>
              </p:cNvSpPr>
              <p:nvPr/>
            </p:nvSpPr>
            <p:spPr bwMode="auto">
              <a:xfrm>
                <a:off x="2887" y="1515"/>
                <a:ext cx="630" cy="441"/>
              </a:xfrm>
              <a:custGeom>
                <a:avLst/>
                <a:gdLst/>
                <a:ahLst/>
                <a:cxnLst>
                  <a:cxn ang="0">
                    <a:pos x="1400" y="275"/>
                  </a:cxn>
                  <a:cxn ang="0">
                    <a:pos x="1596" y="795"/>
                  </a:cxn>
                  <a:cxn ang="0">
                    <a:pos x="0" y="795"/>
                  </a:cxn>
                  <a:cxn ang="0">
                    <a:pos x="217" y="252"/>
                  </a:cxn>
                  <a:cxn ang="0">
                    <a:pos x="796" y="0"/>
                  </a:cxn>
                  <a:cxn ang="0">
                    <a:pos x="1400" y="275"/>
                  </a:cxn>
                </a:cxnLst>
                <a:rect l="0" t="0" r="r" b="b"/>
                <a:pathLst>
                  <a:path w="1596" h="1118">
                    <a:moveTo>
                      <a:pt x="1400" y="275"/>
                    </a:moveTo>
                    <a:cubicBezTo>
                      <a:pt x="1522" y="417"/>
                      <a:pt x="1596" y="597"/>
                      <a:pt x="1596" y="795"/>
                    </a:cubicBezTo>
                    <a:cubicBezTo>
                      <a:pt x="1037" y="1118"/>
                      <a:pt x="668" y="611"/>
                      <a:pt x="0" y="795"/>
                    </a:cubicBezTo>
                    <a:cubicBezTo>
                      <a:pt x="0" y="585"/>
                      <a:pt x="83" y="392"/>
                      <a:pt x="217" y="252"/>
                    </a:cubicBezTo>
                    <a:cubicBezTo>
                      <a:pt x="364" y="95"/>
                      <a:pt x="570" y="0"/>
                      <a:pt x="796" y="0"/>
                    </a:cubicBezTo>
                    <a:cubicBezTo>
                      <a:pt x="1039" y="0"/>
                      <a:pt x="1253" y="108"/>
                      <a:pt x="1400" y="27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53000"/>
                    </a:schemeClr>
                  </a:gs>
                  <a:gs pos="100000">
                    <a:schemeClr val="bg1">
                      <a:gamma/>
                      <a:shade val="46275"/>
                      <a:invGamma/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" name="Text Box 71"/>
            <p:cNvSpPr txBox="1">
              <a:spLocks noChangeArrowheads="1"/>
            </p:cNvSpPr>
            <p:nvPr/>
          </p:nvSpPr>
          <p:spPr bwMode="auto">
            <a:xfrm>
              <a:off x="6923115" y="4640482"/>
              <a:ext cx="1039812" cy="466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示例</a:t>
              </a:r>
              <a:endParaRPr lang="en-GB" altLang="zh-CN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56" name="任意多边形 155"/>
          <p:cNvSpPr/>
          <p:nvPr/>
        </p:nvSpPr>
        <p:spPr>
          <a:xfrm>
            <a:off x="4368800" y="304800"/>
            <a:ext cx="632178" cy="191911"/>
          </a:xfrm>
          <a:custGeom>
            <a:avLst/>
            <a:gdLst>
              <a:gd name="connsiteX0" fmla="*/ 632178 w 632178"/>
              <a:gd name="connsiteY0" fmla="*/ 0 h 191911"/>
              <a:gd name="connsiteX1" fmla="*/ 225778 w 632178"/>
              <a:gd name="connsiteY1" fmla="*/ 33867 h 191911"/>
              <a:gd name="connsiteX2" fmla="*/ 0 w 632178"/>
              <a:gd name="connsiteY2" fmla="*/ 191911 h 191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2178" h="191911">
                <a:moveTo>
                  <a:pt x="632178" y="0"/>
                </a:moveTo>
                <a:cubicBezTo>
                  <a:pt x="481659" y="941"/>
                  <a:pt x="331141" y="1882"/>
                  <a:pt x="225778" y="33867"/>
                </a:cubicBezTo>
                <a:cubicBezTo>
                  <a:pt x="120415" y="65852"/>
                  <a:pt x="60207" y="128881"/>
                  <a:pt x="0" y="191911"/>
                </a:cubicBezTo>
              </a:path>
            </a:pathLst>
          </a:cu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灯片编号占位符 1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3000396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解空间的一般结构</a:t>
            </a:r>
            <a:endParaRPr lang="zh-CN" altLang="zh-CN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63538" name="Rectangle 5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54"/>
          <p:cNvGrpSpPr/>
          <p:nvPr/>
        </p:nvGrpSpPr>
        <p:grpSpPr>
          <a:xfrm>
            <a:off x="428596" y="1285860"/>
            <a:ext cx="8286808" cy="3571900"/>
            <a:chOff x="428596" y="1714488"/>
            <a:chExt cx="8286808" cy="3571900"/>
          </a:xfrm>
        </p:grpSpPr>
        <p:sp>
          <p:nvSpPr>
            <p:cNvPr id="63536" name="Rectangle 48"/>
            <p:cNvSpPr>
              <a:spLocks noChangeArrowheads="1"/>
            </p:cNvSpPr>
            <p:nvPr/>
          </p:nvSpPr>
          <p:spPr bwMode="auto">
            <a:xfrm>
              <a:off x="3367935" y="2232153"/>
              <a:ext cx="734179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v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01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35" name="Rectangle 47"/>
            <p:cNvSpPr>
              <a:spLocks noChangeArrowheads="1"/>
            </p:cNvSpPr>
            <p:nvPr/>
          </p:nvSpPr>
          <p:spPr bwMode="auto">
            <a:xfrm>
              <a:off x="2764859" y="2770786"/>
              <a:ext cx="350046" cy="2974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b="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34" name="Rectangle 46"/>
            <p:cNvSpPr>
              <a:spLocks noChangeArrowheads="1"/>
            </p:cNvSpPr>
            <p:nvPr/>
          </p:nvSpPr>
          <p:spPr bwMode="auto">
            <a:xfrm>
              <a:off x="428596" y="3643608"/>
              <a:ext cx="814152" cy="2974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结点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</a:t>
              </a:r>
              <a:r>
                <a:rPr kumimoji="0" lang="en-US" altLang="zh-CN" sz="1800" b="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33" name="Rectangle 45"/>
            <p:cNvSpPr>
              <a:spLocks noChangeArrowheads="1"/>
            </p:cNvSpPr>
            <p:nvPr/>
          </p:nvSpPr>
          <p:spPr bwMode="auto">
            <a:xfrm>
              <a:off x="821906" y="2715743"/>
              <a:ext cx="814152" cy="2974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结点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b="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32" name="Rectangle 44"/>
            <p:cNvSpPr>
              <a:spLocks noChangeArrowheads="1"/>
            </p:cNvSpPr>
            <p:nvPr/>
          </p:nvSpPr>
          <p:spPr bwMode="auto">
            <a:xfrm>
              <a:off x="714348" y="3082696"/>
              <a:ext cx="811530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v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1,0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31" name="Rectangle 43"/>
            <p:cNvSpPr>
              <a:spLocks noChangeArrowheads="1"/>
            </p:cNvSpPr>
            <p:nvPr/>
          </p:nvSpPr>
          <p:spPr bwMode="auto">
            <a:xfrm>
              <a:off x="4217485" y="2055229"/>
              <a:ext cx="734179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v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0,</a:t>
              </a:r>
              <a:r>
                <a:rPr kumimoji="0" lang="en-US" altLang="zh-CN" sz="18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30" name="Rectangle 42"/>
            <p:cNvSpPr>
              <a:spLocks noChangeArrowheads="1"/>
            </p:cNvSpPr>
            <p:nvPr/>
          </p:nvSpPr>
          <p:spPr bwMode="auto">
            <a:xfrm>
              <a:off x="2071670" y="2086816"/>
              <a:ext cx="734179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v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0,0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9" name="Oval 41"/>
            <p:cNvSpPr>
              <a:spLocks noChangeArrowheads="1"/>
            </p:cNvSpPr>
            <p:nvPr/>
          </p:nvSpPr>
          <p:spPr bwMode="auto">
            <a:xfrm>
              <a:off x="3249942" y="1816710"/>
              <a:ext cx="297605" cy="297493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8" name="Rectangle 40"/>
            <p:cNvSpPr>
              <a:spLocks noChangeArrowheads="1"/>
            </p:cNvSpPr>
            <p:nvPr/>
          </p:nvSpPr>
          <p:spPr bwMode="auto">
            <a:xfrm>
              <a:off x="5934940" y="2424803"/>
              <a:ext cx="753845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∈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7" name="Oval 39"/>
            <p:cNvSpPr>
              <a:spLocks noChangeArrowheads="1"/>
            </p:cNvSpPr>
            <p:nvPr/>
          </p:nvSpPr>
          <p:spPr bwMode="auto">
            <a:xfrm>
              <a:off x="1609838" y="2812724"/>
              <a:ext cx="297605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6" name="Oval 38"/>
            <p:cNvSpPr>
              <a:spLocks noChangeArrowheads="1"/>
            </p:cNvSpPr>
            <p:nvPr/>
          </p:nvSpPr>
          <p:spPr bwMode="auto">
            <a:xfrm>
              <a:off x="3053287" y="2812724"/>
              <a:ext cx="298916" cy="29749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5" name="Oval 37"/>
            <p:cNvSpPr>
              <a:spLocks noChangeArrowheads="1"/>
            </p:cNvSpPr>
            <p:nvPr/>
          </p:nvSpPr>
          <p:spPr bwMode="auto">
            <a:xfrm>
              <a:off x="4804829" y="2812724"/>
              <a:ext cx="298916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4" name="Rectangle 36"/>
            <p:cNvSpPr>
              <a:spLocks noChangeArrowheads="1"/>
            </p:cNvSpPr>
            <p:nvPr/>
          </p:nvSpPr>
          <p:spPr bwMode="auto">
            <a:xfrm>
              <a:off x="3714744" y="2802507"/>
              <a:ext cx="294983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63523" name="AutoShape 35"/>
            <p:cNvSpPr>
              <a:spLocks noChangeShapeType="1"/>
            </p:cNvSpPr>
            <p:nvPr/>
          </p:nvSpPr>
          <p:spPr bwMode="auto">
            <a:xfrm flipH="1">
              <a:off x="1864179" y="2070956"/>
              <a:ext cx="1429027" cy="785016"/>
            </a:xfrm>
            <a:prstGeom prst="straightConnector1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2" name="AutoShape 34"/>
            <p:cNvSpPr>
              <a:spLocks noChangeShapeType="1"/>
            </p:cNvSpPr>
            <p:nvPr/>
          </p:nvSpPr>
          <p:spPr bwMode="auto">
            <a:xfrm flipH="1">
              <a:off x="3202745" y="2114204"/>
              <a:ext cx="196655" cy="69852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1" name="AutoShape 33"/>
            <p:cNvSpPr>
              <a:spLocks noChangeShapeType="1"/>
            </p:cNvSpPr>
            <p:nvPr/>
          </p:nvSpPr>
          <p:spPr bwMode="auto">
            <a:xfrm>
              <a:off x="3504283" y="2070956"/>
              <a:ext cx="1450004" cy="74176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0" name="AutoShape 32"/>
            <p:cNvSpPr>
              <a:spLocks noChangeShapeType="1"/>
            </p:cNvSpPr>
            <p:nvPr/>
          </p:nvSpPr>
          <p:spPr bwMode="auto">
            <a:xfrm>
              <a:off x="1893021" y="2603037"/>
              <a:ext cx="3864929" cy="1311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9" name="Oval 31"/>
            <p:cNvSpPr>
              <a:spLocks noChangeArrowheads="1"/>
            </p:cNvSpPr>
            <p:nvPr/>
          </p:nvSpPr>
          <p:spPr bwMode="auto">
            <a:xfrm>
              <a:off x="1228327" y="3669819"/>
              <a:ext cx="297605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8" name="Oval 30"/>
            <p:cNvSpPr>
              <a:spLocks noChangeArrowheads="1"/>
            </p:cNvSpPr>
            <p:nvPr/>
          </p:nvSpPr>
          <p:spPr bwMode="auto">
            <a:xfrm>
              <a:off x="1957262" y="3669819"/>
              <a:ext cx="298916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7" name="Rectangle 29"/>
            <p:cNvSpPr>
              <a:spLocks noChangeArrowheads="1"/>
            </p:cNvSpPr>
            <p:nvPr/>
          </p:nvSpPr>
          <p:spPr bwMode="auto">
            <a:xfrm>
              <a:off x="1630815" y="3696030"/>
              <a:ext cx="274006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63516" name="AutoShape 28"/>
            <p:cNvSpPr>
              <a:spLocks noChangeShapeType="1"/>
            </p:cNvSpPr>
            <p:nvPr/>
          </p:nvSpPr>
          <p:spPr bwMode="auto">
            <a:xfrm flipH="1">
              <a:off x="1377785" y="3065658"/>
              <a:ext cx="275317" cy="604161"/>
            </a:xfrm>
            <a:prstGeom prst="straightConnector1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5" name="AutoShape 27"/>
            <p:cNvSpPr>
              <a:spLocks noChangeShapeType="1"/>
            </p:cNvSpPr>
            <p:nvPr/>
          </p:nvSpPr>
          <p:spPr bwMode="auto">
            <a:xfrm>
              <a:off x="1864179" y="3065658"/>
              <a:ext cx="242541" cy="60416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4" name="Oval 26"/>
            <p:cNvSpPr>
              <a:spLocks noChangeArrowheads="1"/>
            </p:cNvSpPr>
            <p:nvPr/>
          </p:nvSpPr>
          <p:spPr bwMode="auto">
            <a:xfrm>
              <a:off x="980541" y="4908283"/>
              <a:ext cx="297605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3" name="Oval 25"/>
            <p:cNvSpPr>
              <a:spLocks noChangeArrowheads="1"/>
            </p:cNvSpPr>
            <p:nvPr/>
          </p:nvSpPr>
          <p:spPr bwMode="auto">
            <a:xfrm>
              <a:off x="2652110" y="3669819"/>
              <a:ext cx="297605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2" name="Oval 24"/>
            <p:cNvSpPr>
              <a:spLocks noChangeArrowheads="1"/>
            </p:cNvSpPr>
            <p:nvPr/>
          </p:nvSpPr>
          <p:spPr bwMode="auto">
            <a:xfrm>
              <a:off x="3487239" y="3669819"/>
              <a:ext cx="298916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1" name="Rectangle 23"/>
            <p:cNvSpPr>
              <a:spLocks noChangeArrowheads="1"/>
            </p:cNvSpPr>
            <p:nvPr/>
          </p:nvSpPr>
          <p:spPr bwMode="auto">
            <a:xfrm>
              <a:off x="3089996" y="3692098"/>
              <a:ext cx="274006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63510" name="AutoShape 22"/>
            <p:cNvSpPr>
              <a:spLocks noChangeShapeType="1"/>
            </p:cNvSpPr>
            <p:nvPr/>
          </p:nvSpPr>
          <p:spPr bwMode="auto">
            <a:xfrm flipH="1">
              <a:off x="2801568" y="3066969"/>
              <a:ext cx="294983" cy="60285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9" name="AutoShape 21"/>
            <p:cNvSpPr>
              <a:spLocks noChangeShapeType="1"/>
            </p:cNvSpPr>
            <p:nvPr/>
          </p:nvSpPr>
          <p:spPr bwMode="auto">
            <a:xfrm>
              <a:off x="3308939" y="3066969"/>
              <a:ext cx="327759" cy="60285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8" name="Oval 20"/>
            <p:cNvSpPr>
              <a:spLocks noChangeArrowheads="1"/>
            </p:cNvSpPr>
            <p:nvPr/>
          </p:nvSpPr>
          <p:spPr bwMode="auto">
            <a:xfrm>
              <a:off x="4453472" y="3669819"/>
              <a:ext cx="297605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7" name="Oval 19"/>
            <p:cNvSpPr>
              <a:spLocks noChangeArrowheads="1"/>
            </p:cNvSpPr>
            <p:nvPr/>
          </p:nvSpPr>
          <p:spPr bwMode="auto">
            <a:xfrm>
              <a:off x="5194206" y="3669819"/>
              <a:ext cx="298916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6" name="Rectangle 18"/>
            <p:cNvSpPr>
              <a:spLocks noChangeArrowheads="1"/>
            </p:cNvSpPr>
            <p:nvPr/>
          </p:nvSpPr>
          <p:spPr bwMode="auto">
            <a:xfrm>
              <a:off x="4820561" y="3688167"/>
              <a:ext cx="274006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63505" name="AutoShape 17"/>
            <p:cNvSpPr>
              <a:spLocks noChangeShapeType="1"/>
            </p:cNvSpPr>
            <p:nvPr/>
          </p:nvSpPr>
          <p:spPr bwMode="auto">
            <a:xfrm flipH="1">
              <a:off x="4602929" y="3065658"/>
              <a:ext cx="245163" cy="60416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4" name="AutoShape 16"/>
            <p:cNvSpPr>
              <a:spLocks noChangeShapeType="1"/>
            </p:cNvSpPr>
            <p:nvPr/>
          </p:nvSpPr>
          <p:spPr bwMode="auto">
            <a:xfrm>
              <a:off x="5060481" y="3065658"/>
              <a:ext cx="283183" cy="60416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3" name="AutoShape 15"/>
            <p:cNvSpPr>
              <a:spLocks noChangeShapeType="1"/>
            </p:cNvSpPr>
            <p:nvPr/>
          </p:nvSpPr>
          <p:spPr bwMode="auto">
            <a:xfrm>
              <a:off x="1128688" y="4477114"/>
              <a:ext cx="1311" cy="407579"/>
            </a:xfrm>
            <a:prstGeom prst="straightConnector1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2" name="Oval 14"/>
            <p:cNvSpPr>
              <a:spLocks noChangeArrowheads="1"/>
            </p:cNvSpPr>
            <p:nvPr/>
          </p:nvSpPr>
          <p:spPr bwMode="auto">
            <a:xfrm>
              <a:off x="1637370" y="4904351"/>
              <a:ext cx="297605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1" name="AutoShape 13"/>
            <p:cNvSpPr>
              <a:spLocks noChangeShapeType="1"/>
            </p:cNvSpPr>
            <p:nvPr/>
          </p:nvSpPr>
          <p:spPr bwMode="auto">
            <a:xfrm>
              <a:off x="1785517" y="4473182"/>
              <a:ext cx="1311" cy="40757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0" name="Rectangle 12"/>
            <p:cNvSpPr>
              <a:spLocks noChangeArrowheads="1"/>
            </p:cNvSpPr>
            <p:nvPr/>
          </p:nvSpPr>
          <p:spPr bwMode="auto">
            <a:xfrm>
              <a:off x="1265036" y="4100988"/>
              <a:ext cx="274006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63499" name="Rectangle 11"/>
            <p:cNvSpPr>
              <a:spLocks noChangeArrowheads="1"/>
            </p:cNvSpPr>
            <p:nvPr/>
          </p:nvSpPr>
          <p:spPr bwMode="auto">
            <a:xfrm>
              <a:off x="5942807" y="3329078"/>
              <a:ext cx="811530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∈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498" name="AutoShape 10"/>
            <p:cNvSpPr>
              <a:spLocks noChangeShapeType="1"/>
            </p:cNvSpPr>
            <p:nvPr/>
          </p:nvSpPr>
          <p:spPr bwMode="auto">
            <a:xfrm>
              <a:off x="1074936" y="3507312"/>
              <a:ext cx="4608286" cy="1311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497" name="Rectangle 9"/>
            <p:cNvSpPr>
              <a:spLocks noChangeArrowheads="1"/>
            </p:cNvSpPr>
            <p:nvPr/>
          </p:nvSpPr>
          <p:spPr bwMode="auto">
            <a:xfrm>
              <a:off x="2476432" y="4863724"/>
              <a:ext cx="289739" cy="23065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63496" name="Rectangle 8"/>
            <p:cNvSpPr>
              <a:spLocks noChangeArrowheads="1"/>
            </p:cNvSpPr>
            <p:nvPr/>
          </p:nvSpPr>
          <p:spPr bwMode="auto">
            <a:xfrm>
              <a:off x="3135882" y="4945647"/>
              <a:ext cx="1118312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叶子结点</a:t>
              </a:r>
            </a:p>
          </p:txBody>
        </p:sp>
        <p:sp>
          <p:nvSpPr>
            <p:cNvPr id="63495" name="Rectangle 7"/>
            <p:cNvSpPr>
              <a:spLocks noChangeArrowheads="1"/>
            </p:cNvSpPr>
            <p:nvPr/>
          </p:nvSpPr>
          <p:spPr bwMode="auto">
            <a:xfrm>
              <a:off x="3624898" y="1714488"/>
              <a:ext cx="881015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根结点</a:t>
              </a:r>
            </a:p>
          </p:txBody>
        </p:sp>
        <p:sp>
          <p:nvSpPr>
            <p:cNvPr id="63494" name="Rectangle 6"/>
            <p:cNvSpPr>
              <a:spLocks noChangeArrowheads="1"/>
            </p:cNvSpPr>
            <p:nvPr/>
          </p:nvSpPr>
          <p:spPr bwMode="auto">
            <a:xfrm>
              <a:off x="2005770" y="3055174"/>
              <a:ext cx="811530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v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1,b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493" name="Rectangle 5"/>
            <p:cNvSpPr>
              <a:spLocks noChangeArrowheads="1"/>
            </p:cNvSpPr>
            <p:nvPr/>
          </p:nvSpPr>
          <p:spPr bwMode="auto">
            <a:xfrm>
              <a:off x="5852344" y="4469251"/>
              <a:ext cx="1077109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∈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492" name="AutoShape 4"/>
            <p:cNvSpPr>
              <a:spLocks noChangeShapeType="1"/>
            </p:cNvSpPr>
            <p:nvPr/>
          </p:nvSpPr>
          <p:spPr bwMode="auto">
            <a:xfrm>
              <a:off x="693425" y="4647485"/>
              <a:ext cx="5054038" cy="1311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491" name="AutoShape 3"/>
            <p:cNvSpPr>
              <a:spLocks/>
            </p:cNvSpPr>
            <p:nvPr/>
          </p:nvSpPr>
          <p:spPr bwMode="auto">
            <a:xfrm>
              <a:off x="6897213" y="2039503"/>
              <a:ext cx="259585" cy="2972313"/>
            </a:xfrm>
            <a:prstGeom prst="rightBrace">
              <a:avLst>
                <a:gd name="adj1" fmla="val 95455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490" name="Rectangle 2"/>
            <p:cNvSpPr>
              <a:spLocks noChangeArrowheads="1"/>
            </p:cNvSpPr>
            <p:nvPr/>
          </p:nvSpPr>
          <p:spPr bwMode="auto">
            <a:xfrm>
              <a:off x="7268156" y="3357562"/>
              <a:ext cx="1447248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高度为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2928926" y="5429264"/>
            <a:ext cx="17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包含问题的解</a:t>
            </a:r>
          </a:p>
        </p:txBody>
      </p:sp>
      <p:sp>
        <p:nvSpPr>
          <p:cNvPr id="57" name="上箭头 56"/>
          <p:cNvSpPr/>
          <p:nvPr/>
        </p:nvSpPr>
        <p:spPr>
          <a:xfrm>
            <a:off x="3571868" y="5000636"/>
            <a:ext cx="285752" cy="357190"/>
          </a:xfrm>
          <a:prstGeom prst="up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灯片编号占位符 5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71472" y="1428736"/>
            <a:ext cx="785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用回溯法求解的问题通常分为两种类型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146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85720" y="395567"/>
            <a:ext cx="364333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5.1.2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什么是回溯法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2910" y="2143116"/>
            <a:ext cx="7072362" cy="286232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一种类型是给定一个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约束函数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，需要求所有满足约束条件的解，称为求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所有解类型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例如求幂集问题中每一个子集都是一个解。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另外一种类型是除了约束条件外还包含目标函数，最后是求使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目标函数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值最大或最小的最优解，称为求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最优解类型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（或优化问题）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0/1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背包问题属于求最优解类型。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72462" y="2714620"/>
            <a:ext cx="6429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本质相同</a:t>
            </a:r>
            <a:endParaRPr lang="zh-CN" altLang="en-US">
              <a:solidFill>
                <a:srgbClr val="0000FF"/>
              </a:solidFill>
              <a:latin typeface="楷体" pitchFamily="49" charset="-122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34" name="右大括号 33"/>
          <p:cNvSpPr/>
          <p:nvPr/>
        </p:nvSpPr>
        <p:spPr>
          <a:xfrm>
            <a:off x="7858148" y="2285992"/>
            <a:ext cx="285752" cy="2571768"/>
          </a:xfrm>
          <a:prstGeom prst="rightBrac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71472" y="571480"/>
            <a:ext cx="7858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回溯法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是在解空间树中按照深度优先搜索方法从根结点出发搜索解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146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1465" name="Rectangle 25"/>
          <p:cNvSpPr>
            <a:spLocks noChangeArrowheads="1"/>
          </p:cNvSpPr>
          <p:nvPr/>
        </p:nvSpPr>
        <p:spPr bwMode="auto">
          <a:xfrm>
            <a:off x="2092183" y="2522181"/>
            <a:ext cx="640468" cy="35409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800" i="0" u="none" strike="noStrike" cap="none" normalizeH="0" baseline="-3000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1800" baseline="-30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64" name="Rectangle 24"/>
          <p:cNvSpPr>
            <a:spLocks noChangeArrowheads="1"/>
          </p:cNvSpPr>
          <p:nvPr/>
        </p:nvSpPr>
        <p:spPr bwMode="auto">
          <a:xfrm>
            <a:off x="2104396" y="4961483"/>
            <a:ext cx="1110282" cy="35409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800" i="1" u="none" strike="noStrike" cap="none" normalizeH="0" baseline="-3000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sz="1800" i="0" u="none" strike="noStrike" cap="none" normalizeH="0" baseline="-3000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1800" i="1" u="none" strike="noStrike" cap="none" normalizeH="0" baseline="-3000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sz="1800" i="0" u="none" strike="noStrike" cap="none" normalizeH="0" baseline="-3000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63" name="Oval 23"/>
          <p:cNvSpPr>
            <a:spLocks noChangeArrowheads="1"/>
          </p:cNvSpPr>
          <p:nvPr/>
        </p:nvSpPr>
        <p:spPr bwMode="auto">
          <a:xfrm>
            <a:off x="1865577" y="2045988"/>
            <a:ext cx="308021" cy="30796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62" name="Oval 22"/>
          <p:cNvSpPr>
            <a:spLocks noChangeArrowheads="1"/>
          </p:cNvSpPr>
          <p:nvPr/>
        </p:nvSpPr>
        <p:spPr bwMode="auto">
          <a:xfrm>
            <a:off x="1865577" y="2881700"/>
            <a:ext cx="309378" cy="30796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61" name="AutoShape 21"/>
          <p:cNvSpPr>
            <a:spLocks noChangeShapeType="1"/>
          </p:cNvSpPr>
          <p:nvPr/>
        </p:nvSpPr>
        <p:spPr bwMode="auto">
          <a:xfrm>
            <a:off x="2020267" y="2353953"/>
            <a:ext cx="1357" cy="527747"/>
          </a:xfrm>
          <a:prstGeom prst="straightConnector1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60" name="Oval 20"/>
          <p:cNvSpPr>
            <a:spLocks noChangeArrowheads="1"/>
          </p:cNvSpPr>
          <p:nvPr/>
        </p:nvSpPr>
        <p:spPr bwMode="auto">
          <a:xfrm>
            <a:off x="1865577" y="3768966"/>
            <a:ext cx="309378" cy="30660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59" name="AutoShape 19"/>
          <p:cNvSpPr>
            <a:spLocks noChangeShapeType="1"/>
          </p:cNvSpPr>
          <p:nvPr/>
        </p:nvSpPr>
        <p:spPr bwMode="auto">
          <a:xfrm>
            <a:off x="2020267" y="3189665"/>
            <a:ext cx="1357" cy="579300"/>
          </a:xfrm>
          <a:prstGeom prst="straightConnector1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58" name="Oval 18"/>
          <p:cNvSpPr>
            <a:spLocks noChangeArrowheads="1"/>
          </p:cNvSpPr>
          <p:nvPr/>
        </p:nvSpPr>
        <p:spPr bwMode="auto">
          <a:xfrm>
            <a:off x="1865577" y="5376625"/>
            <a:ext cx="308021" cy="30660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57" name="AutoShape 17"/>
          <p:cNvSpPr>
            <a:spLocks noChangeShapeType="1"/>
          </p:cNvSpPr>
          <p:nvPr/>
        </p:nvSpPr>
        <p:spPr bwMode="auto">
          <a:xfrm>
            <a:off x="2020267" y="4888222"/>
            <a:ext cx="1357" cy="488403"/>
          </a:xfrm>
          <a:prstGeom prst="straightConnector1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2408347" y="5405200"/>
            <a:ext cx="1157455" cy="35273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叶子结点</a:t>
            </a:r>
          </a:p>
        </p:txBody>
      </p:sp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2371710" y="2021568"/>
            <a:ext cx="911852" cy="35273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根结点</a:t>
            </a:r>
          </a:p>
        </p:txBody>
      </p:sp>
      <p:sp>
        <p:nvSpPr>
          <p:cNvPr id="61454" name="AutoShape 14"/>
          <p:cNvSpPr>
            <a:spLocks/>
          </p:cNvSpPr>
          <p:nvPr/>
        </p:nvSpPr>
        <p:spPr bwMode="auto">
          <a:xfrm>
            <a:off x="3705565" y="2264413"/>
            <a:ext cx="308021" cy="3230243"/>
          </a:xfrm>
          <a:prstGeom prst="rightBrace">
            <a:avLst>
              <a:gd name="adj1" fmla="val 87408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4128925" y="3748615"/>
            <a:ext cx="1586083" cy="35273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高度为</a:t>
            </a:r>
            <a:r>
              <a:rPr kumimoji="0" lang="en-US" altLang="zh-CN" sz="20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+1</a:t>
            </a:r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2104396" y="3309053"/>
            <a:ext cx="640468" cy="35409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800" i="0" u="none" strike="noStrike" cap="none" normalizeH="0" baseline="-3000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1800" baseline="-30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51" name="Oval 11"/>
          <p:cNvSpPr>
            <a:spLocks noChangeArrowheads="1"/>
          </p:cNvSpPr>
          <p:nvPr/>
        </p:nvSpPr>
        <p:spPr bwMode="auto">
          <a:xfrm>
            <a:off x="1865577" y="4581614"/>
            <a:ext cx="309378" cy="30660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50" name="AutoShape 10"/>
          <p:cNvSpPr>
            <a:spLocks noChangeShapeType="1"/>
          </p:cNvSpPr>
          <p:nvPr/>
        </p:nvSpPr>
        <p:spPr bwMode="auto">
          <a:xfrm>
            <a:off x="2020267" y="4075574"/>
            <a:ext cx="1357" cy="506040"/>
          </a:xfrm>
          <a:prstGeom prst="straightConnector1">
            <a:avLst/>
          </a:prstGeom>
          <a:noFill/>
          <a:ln w="28575">
            <a:solidFill>
              <a:srgbClr val="006600"/>
            </a:solidFill>
            <a:prstDash val="dash"/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9" name="AutoShape 9"/>
          <p:cNvSpPr>
            <a:spLocks noChangeShapeType="1"/>
          </p:cNvSpPr>
          <p:nvPr/>
        </p:nvSpPr>
        <p:spPr bwMode="auto">
          <a:xfrm flipH="1">
            <a:off x="1657968" y="2309183"/>
            <a:ext cx="252388" cy="310679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8" name="AutoShape 8"/>
          <p:cNvSpPr>
            <a:spLocks noChangeShapeType="1"/>
          </p:cNvSpPr>
          <p:nvPr/>
        </p:nvSpPr>
        <p:spPr bwMode="auto">
          <a:xfrm>
            <a:off x="2128820" y="2309183"/>
            <a:ext cx="283597" cy="21299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7" name="AutoShape 7"/>
          <p:cNvSpPr>
            <a:spLocks noChangeShapeType="1"/>
          </p:cNvSpPr>
          <p:nvPr/>
        </p:nvSpPr>
        <p:spPr bwMode="auto">
          <a:xfrm flipH="1">
            <a:off x="1653897" y="3144895"/>
            <a:ext cx="256458" cy="27676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6" name="AutoShape 6"/>
          <p:cNvSpPr>
            <a:spLocks noChangeShapeType="1"/>
          </p:cNvSpPr>
          <p:nvPr/>
        </p:nvSpPr>
        <p:spPr bwMode="auto">
          <a:xfrm>
            <a:off x="2130177" y="3144895"/>
            <a:ext cx="278169" cy="179081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5" name="AutoShape 5"/>
          <p:cNvSpPr>
            <a:spLocks noChangeShapeType="1"/>
          </p:cNvSpPr>
          <p:nvPr/>
        </p:nvSpPr>
        <p:spPr bwMode="auto">
          <a:xfrm flipH="1">
            <a:off x="1662039" y="4030804"/>
            <a:ext cx="248317" cy="314749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4" name="AutoShape 4"/>
          <p:cNvSpPr>
            <a:spLocks noChangeShapeType="1"/>
          </p:cNvSpPr>
          <p:nvPr/>
        </p:nvSpPr>
        <p:spPr bwMode="auto">
          <a:xfrm>
            <a:off x="2130177" y="4030804"/>
            <a:ext cx="286311" cy="21706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3" name="AutoShape 3"/>
          <p:cNvSpPr>
            <a:spLocks noChangeShapeType="1"/>
          </p:cNvSpPr>
          <p:nvPr/>
        </p:nvSpPr>
        <p:spPr bwMode="auto">
          <a:xfrm flipH="1">
            <a:off x="1657968" y="4843452"/>
            <a:ext cx="252388" cy="27947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2" name="AutoShape 2"/>
          <p:cNvSpPr>
            <a:spLocks noChangeShapeType="1"/>
          </p:cNvSpPr>
          <p:nvPr/>
        </p:nvSpPr>
        <p:spPr bwMode="auto">
          <a:xfrm>
            <a:off x="2130177" y="4843452"/>
            <a:ext cx="282240" cy="181794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34" name="Rectangle 7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5791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42910" y="3286124"/>
            <a:ext cx="1857388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几个概念</a:t>
            </a:r>
            <a:endParaRPr lang="zh-CN" altLang="zh-CN" b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7158" y="4143380"/>
            <a:ext cx="8501122" cy="187743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活结点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指自身已生成但其孩子结点没有全部生成的结点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latin typeface="Times New Roman" pitchFamily="18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扩展结点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指正在产生孩子结点的结点。</a:t>
            </a:r>
            <a:endParaRPr lang="en-US" altLang="zh-CN">
              <a:solidFill>
                <a:srgbClr val="0000FF"/>
              </a:solidFill>
              <a:latin typeface="Times New Roman" pitchFamily="18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死结点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指其所有子结点均已产生的结点，此时应往回移动（回溯）至最近的一个活结点处。</a:t>
            </a:r>
            <a:endParaRPr lang="zh-CN" altLang="en-US">
              <a:solidFill>
                <a:srgbClr val="0000FF"/>
              </a:solidFill>
              <a:latin typeface="Times New Roman" pitchFamily="18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2910" y="500042"/>
            <a:ext cx="185738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回溯过程</a:t>
            </a:r>
            <a:endParaRPr lang="zh-CN" altLang="zh-CN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60432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40"/>
          <p:cNvGrpSpPr/>
          <p:nvPr/>
        </p:nvGrpSpPr>
        <p:grpSpPr>
          <a:xfrm>
            <a:off x="1152410" y="1366736"/>
            <a:ext cx="4348284" cy="1276446"/>
            <a:chOff x="1152410" y="1366736"/>
            <a:chExt cx="3706652" cy="1276446"/>
          </a:xfrm>
        </p:grpSpPr>
        <p:sp>
          <p:nvSpPr>
            <p:cNvPr id="60430" name="Text Box 14"/>
            <p:cNvSpPr txBox="1">
              <a:spLocks noChangeArrowheads="1"/>
            </p:cNvSpPr>
            <p:nvPr/>
          </p:nvSpPr>
          <p:spPr bwMode="auto">
            <a:xfrm>
              <a:off x="4467523" y="1462292"/>
              <a:ext cx="391539" cy="26189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×</a:t>
              </a:r>
            </a:p>
          </p:txBody>
        </p:sp>
        <p:sp>
          <p:nvSpPr>
            <p:cNvPr id="60429" name="Oval 13"/>
            <p:cNvSpPr>
              <a:spLocks noChangeArrowheads="1"/>
            </p:cNvSpPr>
            <p:nvPr/>
          </p:nvSpPr>
          <p:spPr bwMode="auto">
            <a:xfrm>
              <a:off x="1152410" y="1391510"/>
              <a:ext cx="400974" cy="43531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8" name="Oval 12"/>
            <p:cNvSpPr>
              <a:spLocks noChangeArrowheads="1"/>
            </p:cNvSpPr>
            <p:nvPr/>
          </p:nvSpPr>
          <p:spPr bwMode="auto">
            <a:xfrm>
              <a:off x="2546385" y="1366736"/>
              <a:ext cx="400974" cy="43531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7" name="Text Box 11"/>
            <p:cNvSpPr txBox="1">
              <a:spLocks noChangeArrowheads="1"/>
            </p:cNvSpPr>
            <p:nvPr/>
          </p:nvSpPr>
          <p:spPr bwMode="auto">
            <a:xfrm>
              <a:off x="1890674" y="1429260"/>
              <a:ext cx="333752" cy="2005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60426" name="Line 10"/>
            <p:cNvSpPr>
              <a:spLocks noChangeShapeType="1"/>
            </p:cNvSpPr>
            <p:nvPr/>
          </p:nvSpPr>
          <p:spPr bwMode="auto">
            <a:xfrm>
              <a:off x="1559281" y="1589701"/>
              <a:ext cx="267709" cy="1180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5" name="Line 9"/>
            <p:cNvSpPr>
              <a:spLocks noChangeShapeType="1"/>
            </p:cNvSpPr>
            <p:nvPr/>
          </p:nvSpPr>
          <p:spPr bwMode="auto">
            <a:xfrm>
              <a:off x="2271599" y="1589701"/>
              <a:ext cx="267709" cy="1180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4" name="Oval 8"/>
            <p:cNvSpPr>
              <a:spLocks noChangeArrowheads="1"/>
            </p:cNvSpPr>
            <p:nvPr/>
          </p:nvSpPr>
          <p:spPr bwMode="auto">
            <a:xfrm>
              <a:off x="3690340" y="1367915"/>
              <a:ext cx="535418" cy="43531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3" name="Freeform 7"/>
            <p:cNvSpPr>
              <a:spLocks/>
            </p:cNvSpPr>
            <p:nvPr/>
          </p:nvSpPr>
          <p:spPr bwMode="auto">
            <a:xfrm>
              <a:off x="2974483" y="1589701"/>
              <a:ext cx="735906" cy="235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535" y="0"/>
                </a:cxn>
              </a:cxnLst>
              <a:rect l="0" t="0" r="r" b="b"/>
              <a:pathLst>
                <a:path w="535" h="2">
                  <a:moveTo>
                    <a:pt x="0" y="2"/>
                  </a:moveTo>
                  <a:lnTo>
                    <a:pt x="53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2" name="Line 6"/>
            <p:cNvSpPr>
              <a:spLocks noChangeShapeType="1"/>
            </p:cNvSpPr>
            <p:nvPr/>
          </p:nvSpPr>
          <p:spPr bwMode="auto">
            <a:xfrm>
              <a:off x="4238731" y="1589701"/>
              <a:ext cx="267709" cy="11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1" name="Freeform 5"/>
            <p:cNvSpPr>
              <a:spLocks/>
            </p:cNvSpPr>
            <p:nvPr/>
          </p:nvSpPr>
          <p:spPr bwMode="auto">
            <a:xfrm>
              <a:off x="2926131" y="1656944"/>
              <a:ext cx="750058" cy="155722"/>
            </a:xfrm>
            <a:custGeom>
              <a:avLst/>
              <a:gdLst/>
              <a:ahLst/>
              <a:cxnLst>
                <a:cxn ang="0">
                  <a:pos x="636" y="0"/>
                </a:cxn>
                <a:cxn ang="0">
                  <a:pos x="552" y="66"/>
                </a:cxn>
                <a:cxn ang="0">
                  <a:pos x="456" y="114"/>
                </a:cxn>
                <a:cxn ang="0">
                  <a:pos x="339" y="132"/>
                </a:cxn>
                <a:cxn ang="0">
                  <a:pos x="216" y="129"/>
                </a:cxn>
                <a:cxn ang="0">
                  <a:pos x="102" y="99"/>
                </a:cxn>
                <a:cxn ang="0">
                  <a:pos x="0" y="39"/>
                </a:cxn>
              </a:cxnLst>
              <a:rect l="0" t="0" r="r" b="b"/>
              <a:pathLst>
                <a:path w="636" h="132">
                  <a:moveTo>
                    <a:pt x="636" y="0"/>
                  </a:moveTo>
                  <a:lnTo>
                    <a:pt x="552" y="66"/>
                  </a:lnTo>
                  <a:lnTo>
                    <a:pt x="456" y="114"/>
                  </a:lnTo>
                  <a:lnTo>
                    <a:pt x="339" y="132"/>
                  </a:lnTo>
                  <a:lnTo>
                    <a:pt x="216" y="129"/>
                  </a:lnTo>
                  <a:lnTo>
                    <a:pt x="102" y="99"/>
                  </a:lnTo>
                  <a:lnTo>
                    <a:pt x="0" y="39"/>
                  </a:lnTo>
                </a:path>
              </a:pathLst>
            </a:custGeom>
            <a:noFill/>
            <a:ln w="19050">
              <a:solidFill>
                <a:srgbClr val="FF00FF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0" name="Text Box 4"/>
            <p:cNvSpPr txBox="1">
              <a:spLocks noChangeArrowheads="1"/>
            </p:cNvSpPr>
            <p:nvPr/>
          </p:nvSpPr>
          <p:spPr bwMode="auto">
            <a:xfrm>
              <a:off x="3159639" y="1823283"/>
              <a:ext cx="477631" cy="30790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回溯</a:t>
              </a:r>
            </a:p>
          </p:txBody>
        </p:sp>
        <p:sp>
          <p:nvSpPr>
            <p:cNvPr id="60419" name="Line 3"/>
            <p:cNvSpPr>
              <a:spLocks noChangeShapeType="1"/>
            </p:cNvSpPr>
            <p:nvPr/>
          </p:nvSpPr>
          <p:spPr bwMode="auto">
            <a:xfrm>
              <a:off x="2752768" y="1798510"/>
              <a:ext cx="1179" cy="500197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18" name="Text Box 2"/>
            <p:cNvSpPr txBox="1">
              <a:spLocks noChangeArrowheads="1"/>
            </p:cNvSpPr>
            <p:nvPr/>
          </p:nvSpPr>
          <p:spPr bwMode="auto">
            <a:xfrm>
              <a:off x="2073471" y="2336457"/>
              <a:ext cx="1569835" cy="30672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再找其他路径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34" name="Rectangle 7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28596" y="395567"/>
            <a:ext cx="328614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回溯算法设计</a:t>
            </a:r>
            <a:r>
              <a:rPr lang="zh-CN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关键点</a:t>
            </a:r>
            <a:endParaRPr lang="zh-CN" altLang="zh-CN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5720" y="1142984"/>
            <a:ext cx="8358246" cy="307071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根据问题的特性确定结点是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如何扩展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的，不同的问题扩展方式是不同的。</a:t>
            </a: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在解空间中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按什么方式搜索解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，实际上树的遍历主要有先根遍历和层次遍历，前者就是深度优先搜索（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DFS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），后者就是广度优先搜索（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BFS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）。</a:t>
            </a: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解空间通常十分庞大，如何高效地找到问题的解，通常采用一些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剪支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的方法实现。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662" y="4643446"/>
            <a:ext cx="35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66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回溯法 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= DFS + 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剪支</a:t>
            </a:r>
            <a:endParaRPr lang="zh-CN" altLang="en-US">
              <a:solidFill>
                <a:srgbClr val="006600"/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9" name="上箭头 8"/>
          <p:cNvSpPr/>
          <p:nvPr/>
        </p:nvSpPr>
        <p:spPr>
          <a:xfrm>
            <a:off x="2357422" y="4286256"/>
            <a:ext cx="214314" cy="285752"/>
          </a:xfrm>
          <a:prstGeom prst="up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98" name="Rectangle 5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3749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642910" y="928670"/>
            <a:ext cx="7929618" cy="129458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剪支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在解空间中搜索时提早终止某些分支的无效搜索，减少搜索的结点个数但不影响最终结果，从而提高了算法的时间性能。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3857620" y="2643182"/>
            <a:ext cx="357190" cy="357190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312398" y="3286124"/>
            <a:ext cx="357190" cy="357190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4286248" y="3286124"/>
            <a:ext cx="357190" cy="357190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928926" y="4071942"/>
            <a:ext cx="357190" cy="357190"/>
          </a:xfrm>
          <a:prstGeom prst="ellipse">
            <a:avLst/>
          </a:prstGeom>
          <a:ln>
            <a:prstDash val="dash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643306" y="4071942"/>
            <a:ext cx="357190" cy="357190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>
            <a:stCxn id="10" idx="3"/>
            <a:endCxn id="12" idx="0"/>
          </p:cNvCxnSpPr>
          <p:nvPr/>
        </p:nvCxnSpPr>
        <p:spPr>
          <a:xfrm rot="5400000">
            <a:off x="2995646" y="3702880"/>
            <a:ext cx="480937" cy="257186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10" idx="5"/>
            <a:endCxn id="13" idx="0"/>
          </p:cNvCxnSpPr>
          <p:nvPr/>
        </p:nvCxnSpPr>
        <p:spPr>
          <a:xfrm rot="16200000" flipH="1">
            <a:off x="3479122" y="3729162"/>
            <a:ext cx="480937" cy="204622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8" idx="3"/>
            <a:endCxn id="10" idx="0"/>
          </p:cNvCxnSpPr>
          <p:nvPr/>
        </p:nvCxnSpPr>
        <p:spPr>
          <a:xfrm rot="5400000">
            <a:off x="3531431" y="2907625"/>
            <a:ext cx="338061" cy="418936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8" idx="5"/>
            <a:endCxn id="11" idx="0"/>
          </p:cNvCxnSpPr>
          <p:nvPr/>
        </p:nvCxnSpPr>
        <p:spPr>
          <a:xfrm rot="16200000" flipH="1">
            <a:off x="4144642" y="2965922"/>
            <a:ext cx="338061" cy="302342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86050" y="3500438"/>
            <a:ext cx="571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×</a:t>
            </a:r>
            <a:endParaRPr lang="zh-CN" altLang="en-US" sz="2800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rot="16200000" flipH="1">
            <a:off x="3571868" y="3714752"/>
            <a:ext cx="500066" cy="21431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98" name="Rectangle 5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3749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357158" y="642918"/>
            <a:ext cx="2000264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zh-CN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剪支策略</a:t>
            </a:r>
            <a:endParaRPr lang="zh-CN" altLang="zh-CN" spc="50">
              <a:ln w="11430"/>
              <a:solidFill>
                <a:srgbClr val="FF33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0034" y="1428736"/>
            <a:ext cx="7715304" cy="240065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可行性剪支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：在扩展结点处剪去不满足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约束条件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的分支。</a:t>
            </a:r>
          </a:p>
          <a:p>
            <a:pPr marL="457200" indent="-4572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最优性剪支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：用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限界函数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剪去得不到最优解的分支。</a:t>
            </a:r>
          </a:p>
          <a:p>
            <a:pPr marL="457200" indent="-4572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交换搜索顺序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：在搜索中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改变搜索的顺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序，比如原先是递减顺序，可以改为递增顺序，或者原先是无序，可以改为有序，这样可能减少搜索的总结点。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28596" y="1714488"/>
            <a:ext cx="8215370" cy="196217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457200" indent="-457200" algn="l">
              <a:lnSpc>
                <a:spcPts val="28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针对给定的问题确定其</a:t>
            </a:r>
            <a:r>
              <a:rPr lang="zh-CN" altLang="zh-CN">
                <a:solidFill>
                  <a:srgbClr val="FF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解空间</a:t>
            </a: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，其中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一定</a:t>
            </a: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包含问题的解。</a:t>
            </a: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确定结点的</a:t>
            </a:r>
            <a:r>
              <a:rPr lang="zh-CN" altLang="zh-CN">
                <a:solidFill>
                  <a:srgbClr val="FF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扩展规则</a:t>
            </a: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。</a:t>
            </a: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采用深度优先搜索方法搜索解空间，并在搜索过程中尽可能采用</a:t>
            </a:r>
            <a:r>
              <a:rPr lang="zh-CN" altLang="zh-CN">
                <a:solidFill>
                  <a:srgbClr val="FF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剪支</a:t>
            </a: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函数避免无效搜索。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596" y="642918"/>
            <a:ext cx="364333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回溯法求解的一般步骤</a:t>
            </a:r>
            <a:endParaRPr lang="zh-CN" altLang="zh-CN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357158" y="357166"/>
            <a:ext cx="378621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+mj-lt"/>
                <a:ea typeface="微软雅黑" pitchFamily="34" charset="-122"/>
              </a:rPr>
              <a:t>5.1.3   </a:t>
            </a:r>
            <a:r>
              <a:rPr lang="zh-CN" altLang="zh-CN" sz="2800">
                <a:latin typeface="+mj-lt"/>
                <a:ea typeface="微软雅黑" pitchFamily="34" charset="-122"/>
              </a:rPr>
              <a:t>回溯算法分析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j-lt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85720" y="1142984"/>
            <a:ext cx="8572560" cy="437309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rIns="180000" bIns="108000" rtlCol="0">
            <a:spAutoFit/>
          </a:bodyPr>
          <a:lstStyle/>
          <a:p>
            <a:pPr marL="457200" indent="-4572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解空间共有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层（根结点为第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层，叶子结点为第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个结点，每个结点有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个子结点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个结点，同理，第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个结点，依此类推，第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个结点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spcAft>
                <a:spcPts val="600"/>
              </a:spcAft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则采用回溯法求所有解的算法的执行时间为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	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zh-CN" altLang="zh-CN">
                <a:solidFill>
                  <a:srgbClr val="006600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>
                <a:solidFill>
                  <a:srgbClr val="006600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i="1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66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例如，在子集树中有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+mn-ea"/>
                <a:cs typeface="Consolas" pitchFamily="49" charset="0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，对应算法的时间复杂度为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O(c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，在排列树中有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，对应算法的时间复杂度为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!)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hlinkClick r:id="" action="ppaction://noaction"/>
          </p:cNvPr>
          <p:cNvSpPr txBox="1"/>
          <p:nvPr/>
        </p:nvSpPr>
        <p:spPr>
          <a:xfrm>
            <a:off x="1142976" y="357166"/>
            <a:ext cx="6572296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5.2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基于子集树的回溯算法框架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7158" y="1500174"/>
            <a:ext cx="364333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5.2.1  </a:t>
            </a:r>
            <a:r>
              <a:rPr lang="zh-CN" altLang="en-US" sz="2800">
                <a:latin typeface="Consolas" pitchFamily="49" charset="0"/>
                <a:ea typeface="微软雅黑" pitchFamily="34" charset="-122"/>
              </a:rPr>
              <a:t>解空间类型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5786" y="2643182"/>
            <a:ext cx="7715304" cy="188769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子集树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当所给的问题是从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个元素的集合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中找出满足某种条件的子集时，相应的解空间树称为子集树。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排列树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当所给的问题是确定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个元素满足某种性质的排列时，相应的解空间树称为排列树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500042"/>
            <a:ext cx="307183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5.2.2  </a:t>
            </a:r>
            <a:r>
              <a:rPr lang="zh-CN" altLang="en-US" sz="2800">
                <a:latin typeface="Consolas" pitchFamily="49" charset="0"/>
                <a:ea typeface="微软雅黑" pitchFamily="34" charset="-122"/>
              </a:rPr>
              <a:t>求幂集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1500174"/>
            <a:ext cx="8358246" cy="1887696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有一个含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个不同整数的数组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，设计一个算法求其所有子集（幂集）。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，所有子集是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{}}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（输出顺序无关）。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128588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1357298"/>
            <a:ext cx="8215370" cy="22980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，解向量为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，其中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表示不选择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表示选择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，这里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固定长度为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当已经生成解向量的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部分后，再由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产生解向量的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部分。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704331"/>
            <a:ext cx="8286808" cy="140038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）表示状态，解空间树的根结点对应状态（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的元素均为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），目标状态是（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为一个解）。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从状态（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）可以扩展出两个状态（即二选一）：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5786" y="2500306"/>
            <a:ext cx="7572428" cy="938719"/>
          </a:xfrm>
          <a:prstGeom prst="rect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buBlip>
                <a:blip r:embed="rId4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选择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元素 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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下一个状态为（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</a:p>
          <a:p>
            <a:pPr marL="457200" indent="-457200" algn="l">
              <a:lnSpc>
                <a:spcPct val="100000"/>
              </a:lnSpc>
              <a:buBlip>
                <a:blip r:embed="rId4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不选择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元素 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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下一个状态为（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]=0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357166"/>
            <a:ext cx="30718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a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={1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3}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31821" name="Rectangle 7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819" name="Rectangle 75"/>
          <p:cNvSpPr>
            <a:spLocks noChangeArrowheads="1"/>
          </p:cNvSpPr>
          <p:nvPr/>
        </p:nvSpPr>
        <p:spPr bwMode="auto">
          <a:xfrm>
            <a:off x="4016684" y="940569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(0,[0,0,0])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18" name="Rectangle 74"/>
          <p:cNvSpPr>
            <a:spLocks noChangeArrowheads="1"/>
          </p:cNvSpPr>
          <p:nvPr/>
        </p:nvSpPr>
        <p:spPr bwMode="auto">
          <a:xfrm>
            <a:off x="1846644" y="2276282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(1,[1,0,0])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17" name="Rectangle 73"/>
          <p:cNvSpPr>
            <a:spLocks noChangeArrowheads="1"/>
          </p:cNvSpPr>
          <p:nvPr/>
        </p:nvSpPr>
        <p:spPr bwMode="auto">
          <a:xfrm>
            <a:off x="809967" y="3628357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(2,[1,1,0])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16" name="Rectangle 72"/>
          <p:cNvSpPr>
            <a:spLocks noChangeArrowheads="1"/>
          </p:cNvSpPr>
          <p:nvPr/>
        </p:nvSpPr>
        <p:spPr bwMode="auto">
          <a:xfrm>
            <a:off x="294314" y="4818302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(3,[1,1,1])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15" name="Rectangle 71"/>
          <p:cNvSpPr>
            <a:spLocks noChangeArrowheads="1"/>
          </p:cNvSpPr>
          <p:nvPr/>
        </p:nvSpPr>
        <p:spPr bwMode="auto">
          <a:xfrm>
            <a:off x="339434" y="5651263"/>
            <a:ext cx="1031306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{1,2,3}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14" name="AutoShape 70"/>
          <p:cNvSpPr>
            <a:spLocks noChangeShapeType="1"/>
          </p:cNvSpPr>
          <p:nvPr/>
        </p:nvSpPr>
        <p:spPr bwMode="auto">
          <a:xfrm flipH="1">
            <a:off x="804596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813" name="Rectangle 69"/>
          <p:cNvSpPr>
            <a:spLocks noChangeArrowheads="1"/>
          </p:cNvSpPr>
          <p:nvPr/>
        </p:nvSpPr>
        <p:spPr bwMode="auto">
          <a:xfrm>
            <a:off x="1443791" y="4818302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(3,[1,1,0])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12" name="Rectangle 68"/>
          <p:cNvSpPr>
            <a:spLocks noChangeArrowheads="1"/>
          </p:cNvSpPr>
          <p:nvPr/>
        </p:nvSpPr>
        <p:spPr bwMode="auto">
          <a:xfrm>
            <a:off x="1506099" y="5651263"/>
            <a:ext cx="848679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{1,2}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11" name="AutoShape 67"/>
          <p:cNvSpPr>
            <a:spLocks noChangeShapeType="1"/>
          </p:cNvSpPr>
          <p:nvPr/>
        </p:nvSpPr>
        <p:spPr bwMode="auto">
          <a:xfrm flipH="1">
            <a:off x="1954072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810" name="AutoShape 66"/>
          <p:cNvSpPr>
            <a:spLocks noChangeShapeType="1"/>
          </p:cNvSpPr>
          <p:nvPr/>
        </p:nvSpPr>
        <p:spPr bwMode="auto">
          <a:xfrm flipH="1">
            <a:off x="750882" y="4116234"/>
            <a:ext cx="322283" cy="70206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809" name="AutoShape 65"/>
          <p:cNvSpPr>
            <a:spLocks noChangeShapeType="1"/>
          </p:cNvSpPr>
          <p:nvPr/>
        </p:nvSpPr>
        <p:spPr bwMode="auto">
          <a:xfrm>
            <a:off x="1525436" y="4129621"/>
            <a:ext cx="374923" cy="68868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808" name="Rectangle 64"/>
          <p:cNvSpPr>
            <a:spLocks noChangeArrowheads="1"/>
          </p:cNvSpPr>
          <p:nvPr/>
        </p:nvSpPr>
        <p:spPr bwMode="auto">
          <a:xfrm>
            <a:off x="1738143" y="4174244"/>
            <a:ext cx="498465" cy="406069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07" name="Rectangle 63"/>
          <p:cNvSpPr>
            <a:spLocks noChangeArrowheads="1"/>
          </p:cNvSpPr>
          <p:nvPr/>
        </p:nvSpPr>
        <p:spPr bwMode="auto">
          <a:xfrm>
            <a:off x="465124" y="4174244"/>
            <a:ext cx="551104" cy="31682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06" name="Rectangle 62"/>
          <p:cNvSpPr>
            <a:spLocks noChangeArrowheads="1"/>
          </p:cNvSpPr>
          <p:nvPr/>
        </p:nvSpPr>
        <p:spPr bwMode="auto">
          <a:xfrm>
            <a:off x="2962818" y="3613483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(2,[1,0,0])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05" name="Rectangle 61"/>
          <p:cNvSpPr>
            <a:spLocks noChangeArrowheads="1"/>
          </p:cNvSpPr>
          <p:nvPr/>
        </p:nvSpPr>
        <p:spPr bwMode="auto">
          <a:xfrm>
            <a:off x="2447165" y="4803427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(3,[1,0,1])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04" name="Rectangle 60"/>
          <p:cNvSpPr>
            <a:spLocks noChangeArrowheads="1"/>
          </p:cNvSpPr>
          <p:nvPr/>
        </p:nvSpPr>
        <p:spPr bwMode="auto">
          <a:xfrm>
            <a:off x="2511622" y="5651263"/>
            <a:ext cx="848679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{1,3}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03" name="AutoShape 59"/>
          <p:cNvSpPr>
            <a:spLocks noChangeShapeType="1"/>
          </p:cNvSpPr>
          <p:nvPr/>
        </p:nvSpPr>
        <p:spPr bwMode="auto">
          <a:xfrm flipH="1">
            <a:off x="2957447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802" name="Rectangle 58"/>
          <p:cNvSpPr>
            <a:spLocks noChangeArrowheads="1"/>
          </p:cNvSpPr>
          <p:nvPr/>
        </p:nvSpPr>
        <p:spPr bwMode="auto">
          <a:xfrm>
            <a:off x="3596642" y="4803427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(3,[1,0,0])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01" name="Rectangle 57"/>
          <p:cNvSpPr>
            <a:spLocks noChangeArrowheads="1"/>
          </p:cNvSpPr>
          <p:nvPr/>
        </p:nvSpPr>
        <p:spPr bwMode="auto">
          <a:xfrm>
            <a:off x="3639613" y="5651263"/>
            <a:ext cx="848679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{1}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00" name="AutoShape 56"/>
          <p:cNvSpPr>
            <a:spLocks noChangeShapeType="1"/>
          </p:cNvSpPr>
          <p:nvPr/>
        </p:nvSpPr>
        <p:spPr bwMode="auto">
          <a:xfrm flipH="1">
            <a:off x="4106923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99" name="AutoShape 55"/>
          <p:cNvSpPr>
            <a:spLocks noChangeShapeType="1"/>
          </p:cNvSpPr>
          <p:nvPr/>
        </p:nvSpPr>
        <p:spPr bwMode="auto">
          <a:xfrm flipH="1">
            <a:off x="2903733" y="4114747"/>
            <a:ext cx="329803" cy="68868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98" name="AutoShape 54"/>
          <p:cNvSpPr>
            <a:spLocks noChangeShapeType="1"/>
          </p:cNvSpPr>
          <p:nvPr/>
        </p:nvSpPr>
        <p:spPr bwMode="auto">
          <a:xfrm>
            <a:off x="3615979" y="4114747"/>
            <a:ext cx="437231" cy="68868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97" name="Rectangle 53"/>
          <p:cNvSpPr>
            <a:spLocks noChangeArrowheads="1"/>
          </p:cNvSpPr>
          <p:nvPr/>
        </p:nvSpPr>
        <p:spPr bwMode="auto">
          <a:xfrm>
            <a:off x="3929668" y="4159370"/>
            <a:ext cx="558624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96" name="Rectangle 52"/>
          <p:cNvSpPr>
            <a:spLocks noChangeArrowheads="1"/>
          </p:cNvSpPr>
          <p:nvPr/>
        </p:nvSpPr>
        <p:spPr bwMode="auto">
          <a:xfrm>
            <a:off x="2511622" y="4159370"/>
            <a:ext cx="628452" cy="31682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95" name="AutoShape 51"/>
          <p:cNvSpPr>
            <a:spLocks noChangeShapeType="1"/>
          </p:cNvSpPr>
          <p:nvPr/>
        </p:nvSpPr>
        <p:spPr bwMode="auto">
          <a:xfrm flipH="1">
            <a:off x="1266535" y="2776059"/>
            <a:ext cx="817525" cy="85229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94" name="AutoShape 50"/>
          <p:cNvSpPr>
            <a:spLocks noChangeShapeType="1"/>
          </p:cNvSpPr>
          <p:nvPr/>
        </p:nvSpPr>
        <p:spPr bwMode="auto">
          <a:xfrm>
            <a:off x="2515919" y="2776059"/>
            <a:ext cx="903467" cy="837424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93" name="Rectangle 49"/>
          <p:cNvSpPr>
            <a:spLocks noChangeArrowheads="1"/>
          </p:cNvSpPr>
          <p:nvPr/>
        </p:nvSpPr>
        <p:spPr bwMode="auto">
          <a:xfrm>
            <a:off x="3002567" y="2850431"/>
            <a:ext cx="526396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92" name="Rectangle 48"/>
          <p:cNvSpPr>
            <a:spLocks noChangeArrowheads="1"/>
          </p:cNvSpPr>
          <p:nvPr/>
        </p:nvSpPr>
        <p:spPr bwMode="auto">
          <a:xfrm>
            <a:off x="1241827" y="2903978"/>
            <a:ext cx="628452" cy="31682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91" name="Rectangle 47"/>
          <p:cNvSpPr>
            <a:spLocks noChangeArrowheads="1"/>
          </p:cNvSpPr>
          <p:nvPr/>
        </p:nvSpPr>
        <p:spPr bwMode="auto">
          <a:xfrm>
            <a:off x="6250106" y="2276282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(1,[0,0,0])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90" name="Rectangle 46"/>
          <p:cNvSpPr>
            <a:spLocks noChangeArrowheads="1"/>
          </p:cNvSpPr>
          <p:nvPr/>
        </p:nvSpPr>
        <p:spPr bwMode="auto">
          <a:xfrm>
            <a:off x="5284331" y="3628357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(2,[0,1,0])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89" name="Rectangle 45"/>
          <p:cNvSpPr>
            <a:spLocks noChangeArrowheads="1"/>
          </p:cNvSpPr>
          <p:nvPr/>
        </p:nvSpPr>
        <p:spPr bwMode="auto">
          <a:xfrm>
            <a:off x="4746118" y="5651263"/>
            <a:ext cx="848679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{2,3}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88" name="AutoShape 44"/>
          <p:cNvSpPr>
            <a:spLocks noChangeShapeType="1"/>
          </p:cNvSpPr>
          <p:nvPr/>
        </p:nvSpPr>
        <p:spPr bwMode="auto">
          <a:xfrm flipH="1">
            <a:off x="5159715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87" name="Rectangle 43"/>
          <p:cNvSpPr>
            <a:spLocks noChangeArrowheads="1"/>
          </p:cNvSpPr>
          <p:nvPr/>
        </p:nvSpPr>
        <p:spPr bwMode="auto">
          <a:xfrm>
            <a:off x="5852623" y="4818302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(3,[0,1,0])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86" name="Rectangle 42"/>
          <p:cNvSpPr>
            <a:spLocks noChangeArrowheads="1"/>
          </p:cNvSpPr>
          <p:nvPr/>
        </p:nvSpPr>
        <p:spPr bwMode="auto">
          <a:xfrm>
            <a:off x="5874109" y="5651263"/>
            <a:ext cx="848679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{2}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85" name="AutoShape 41"/>
          <p:cNvSpPr>
            <a:spLocks noChangeShapeType="1"/>
          </p:cNvSpPr>
          <p:nvPr/>
        </p:nvSpPr>
        <p:spPr bwMode="auto">
          <a:xfrm flipH="1">
            <a:off x="6362905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84" name="AutoShape 40"/>
          <p:cNvSpPr>
            <a:spLocks noChangeShapeType="1"/>
          </p:cNvSpPr>
          <p:nvPr/>
        </p:nvSpPr>
        <p:spPr bwMode="auto">
          <a:xfrm flipH="1">
            <a:off x="5181200" y="4129621"/>
            <a:ext cx="335174" cy="68868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83" name="AutoShape 39"/>
          <p:cNvSpPr>
            <a:spLocks noChangeShapeType="1"/>
          </p:cNvSpPr>
          <p:nvPr/>
        </p:nvSpPr>
        <p:spPr bwMode="auto">
          <a:xfrm>
            <a:off x="6005171" y="4129621"/>
            <a:ext cx="304020" cy="68868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82" name="Rectangle 38"/>
          <p:cNvSpPr>
            <a:spLocks noChangeArrowheads="1"/>
          </p:cNvSpPr>
          <p:nvPr/>
        </p:nvSpPr>
        <p:spPr bwMode="auto">
          <a:xfrm>
            <a:off x="6164164" y="4214405"/>
            <a:ext cx="479538" cy="301948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81" name="Rectangle 37"/>
          <p:cNvSpPr>
            <a:spLocks noChangeArrowheads="1"/>
          </p:cNvSpPr>
          <p:nvPr/>
        </p:nvSpPr>
        <p:spPr bwMode="auto">
          <a:xfrm>
            <a:off x="4833135" y="4227792"/>
            <a:ext cx="527470" cy="301948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80" name="Rectangle 36"/>
          <p:cNvSpPr>
            <a:spLocks noChangeArrowheads="1"/>
          </p:cNvSpPr>
          <p:nvPr/>
        </p:nvSpPr>
        <p:spPr bwMode="auto">
          <a:xfrm>
            <a:off x="7386691" y="3613483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(2,[0,0,0])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79" name="Rectangle 35"/>
          <p:cNvSpPr>
            <a:spLocks noChangeArrowheads="1"/>
          </p:cNvSpPr>
          <p:nvPr/>
        </p:nvSpPr>
        <p:spPr bwMode="auto">
          <a:xfrm>
            <a:off x="6858147" y="4803427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(3,[0,0,1])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78" name="Rectangle 34"/>
          <p:cNvSpPr>
            <a:spLocks noChangeArrowheads="1"/>
          </p:cNvSpPr>
          <p:nvPr/>
        </p:nvSpPr>
        <p:spPr bwMode="auto">
          <a:xfrm>
            <a:off x="6965574" y="5651263"/>
            <a:ext cx="848679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{3}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77" name="AutoShape 33"/>
          <p:cNvSpPr>
            <a:spLocks noChangeShapeType="1"/>
          </p:cNvSpPr>
          <p:nvPr/>
        </p:nvSpPr>
        <p:spPr bwMode="auto">
          <a:xfrm flipH="1">
            <a:off x="7368428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76" name="Rectangle 32"/>
          <p:cNvSpPr>
            <a:spLocks noChangeArrowheads="1"/>
          </p:cNvSpPr>
          <p:nvPr/>
        </p:nvSpPr>
        <p:spPr bwMode="auto">
          <a:xfrm>
            <a:off x="7996880" y="4803427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(3,[0,0,0])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75" name="Rectangle 31"/>
          <p:cNvSpPr>
            <a:spLocks noChangeArrowheads="1"/>
          </p:cNvSpPr>
          <p:nvPr/>
        </p:nvSpPr>
        <p:spPr bwMode="auto">
          <a:xfrm>
            <a:off x="8235370" y="5651263"/>
            <a:ext cx="629526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74" name="AutoShape 30"/>
          <p:cNvSpPr>
            <a:spLocks noChangeShapeType="1"/>
          </p:cNvSpPr>
          <p:nvPr/>
        </p:nvSpPr>
        <p:spPr bwMode="auto">
          <a:xfrm flipH="1">
            <a:off x="8507162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73" name="AutoShape 29"/>
          <p:cNvSpPr>
            <a:spLocks noChangeShapeType="1"/>
          </p:cNvSpPr>
          <p:nvPr/>
        </p:nvSpPr>
        <p:spPr bwMode="auto">
          <a:xfrm flipH="1">
            <a:off x="7314714" y="4114747"/>
            <a:ext cx="342694" cy="68868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72" name="AutoShape 28"/>
          <p:cNvSpPr>
            <a:spLocks noChangeShapeType="1"/>
          </p:cNvSpPr>
          <p:nvPr/>
        </p:nvSpPr>
        <p:spPr bwMode="auto">
          <a:xfrm>
            <a:off x="8097862" y="4114747"/>
            <a:ext cx="355586" cy="68868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71" name="Rectangle 27"/>
          <p:cNvSpPr>
            <a:spLocks noChangeArrowheads="1"/>
          </p:cNvSpPr>
          <p:nvPr/>
        </p:nvSpPr>
        <p:spPr bwMode="auto">
          <a:xfrm>
            <a:off x="8372876" y="4159370"/>
            <a:ext cx="556841" cy="31682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70" name="Rectangle 26"/>
          <p:cNvSpPr>
            <a:spLocks noChangeArrowheads="1"/>
          </p:cNvSpPr>
          <p:nvPr/>
        </p:nvSpPr>
        <p:spPr bwMode="auto">
          <a:xfrm>
            <a:off x="6906489" y="4159370"/>
            <a:ext cx="547881" cy="31682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69" name="AutoShape 25"/>
          <p:cNvSpPr>
            <a:spLocks noChangeShapeType="1"/>
          </p:cNvSpPr>
          <p:nvPr/>
        </p:nvSpPr>
        <p:spPr bwMode="auto">
          <a:xfrm flipH="1">
            <a:off x="5740899" y="2789446"/>
            <a:ext cx="826119" cy="838911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68" name="AutoShape 24"/>
          <p:cNvSpPr>
            <a:spLocks noChangeShapeType="1"/>
          </p:cNvSpPr>
          <p:nvPr/>
        </p:nvSpPr>
        <p:spPr bwMode="auto">
          <a:xfrm>
            <a:off x="6895746" y="2789446"/>
            <a:ext cx="947512" cy="82403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67" name="Rectangle 23"/>
          <p:cNvSpPr>
            <a:spLocks noChangeArrowheads="1"/>
          </p:cNvSpPr>
          <p:nvPr/>
        </p:nvSpPr>
        <p:spPr bwMode="auto">
          <a:xfrm>
            <a:off x="7406028" y="2850431"/>
            <a:ext cx="523558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66" name="Rectangle 22"/>
          <p:cNvSpPr>
            <a:spLocks noChangeArrowheads="1"/>
          </p:cNvSpPr>
          <p:nvPr/>
        </p:nvSpPr>
        <p:spPr bwMode="auto">
          <a:xfrm>
            <a:off x="5664625" y="2917365"/>
            <a:ext cx="482350" cy="31682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65" name="Rectangle 21"/>
          <p:cNvSpPr>
            <a:spLocks noChangeArrowheads="1"/>
          </p:cNvSpPr>
          <p:nvPr/>
        </p:nvSpPr>
        <p:spPr bwMode="auto">
          <a:xfrm>
            <a:off x="4724633" y="4818302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(3,[0,1,1])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64" name="AutoShape 20"/>
          <p:cNvSpPr>
            <a:spLocks noChangeShapeType="1"/>
          </p:cNvSpPr>
          <p:nvPr/>
        </p:nvSpPr>
        <p:spPr bwMode="auto">
          <a:xfrm flipH="1">
            <a:off x="2303212" y="1455221"/>
            <a:ext cx="1759666" cy="82106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63" name="AutoShape 19"/>
          <p:cNvSpPr>
            <a:spLocks noChangeShapeType="1"/>
          </p:cNvSpPr>
          <p:nvPr/>
        </p:nvSpPr>
        <p:spPr bwMode="auto">
          <a:xfrm>
            <a:off x="4827763" y="1441834"/>
            <a:ext cx="1878910" cy="834449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62" name="Rectangle 18"/>
          <p:cNvSpPr>
            <a:spLocks noChangeArrowheads="1"/>
          </p:cNvSpPr>
          <p:nvPr/>
        </p:nvSpPr>
        <p:spPr bwMode="auto">
          <a:xfrm>
            <a:off x="5572132" y="1437371"/>
            <a:ext cx="526396" cy="27711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61" name="Rectangle 17"/>
          <p:cNvSpPr>
            <a:spLocks noChangeArrowheads="1"/>
          </p:cNvSpPr>
          <p:nvPr/>
        </p:nvSpPr>
        <p:spPr bwMode="auto">
          <a:xfrm>
            <a:off x="2800540" y="1540541"/>
            <a:ext cx="628452" cy="31682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60" name="Rectangle 16"/>
          <p:cNvSpPr>
            <a:spLocks noChangeArrowheads="1"/>
          </p:cNvSpPr>
          <p:nvPr/>
        </p:nvSpPr>
        <p:spPr bwMode="auto">
          <a:xfrm>
            <a:off x="1536178" y="2313468"/>
            <a:ext cx="295426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(2)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9" name="Rectangle 15"/>
          <p:cNvSpPr>
            <a:spLocks noChangeArrowheads="1"/>
          </p:cNvSpPr>
          <p:nvPr/>
        </p:nvSpPr>
        <p:spPr bwMode="auto">
          <a:xfrm>
            <a:off x="396371" y="3568860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8" name="Rectangle 14"/>
          <p:cNvSpPr>
            <a:spLocks noChangeArrowheads="1"/>
          </p:cNvSpPr>
          <p:nvPr/>
        </p:nvSpPr>
        <p:spPr bwMode="auto">
          <a:xfrm>
            <a:off x="918469" y="4394384"/>
            <a:ext cx="292203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(4)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7" name="Rectangle 13"/>
          <p:cNvSpPr>
            <a:spLocks noChangeArrowheads="1"/>
          </p:cNvSpPr>
          <p:nvPr/>
        </p:nvSpPr>
        <p:spPr bwMode="auto">
          <a:xfrm>
            <a:off x="1384705" y="4394384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(5)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6" name="Rectangle 12"/>
          <p:cNvSpPr>
            <a:spLocks noChangeArrowheads="1"/>
          </p:cNvSpPr>
          <p:nvPr/>
        </p:nvSpPr>
        <p:spPr bwMode="auto">
          <a:xfrm>
            <a:off x="2570707" y="3568860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(6)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5" name="Rectangle 11"/>
          <p:cNvSpPr>
            <a:spLocks noChangeArrowheads="1"/>
          </p:cNvSpPr>
          <p:nvPr/>
        </p:nvSpPr>
        <p:spPr bwMode="auto">
          <a:xfrm>
            <a:off x="3156188" y="4394384"/>
            <a:ext cx="292203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(7)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3516071" y="4394384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(8)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5353085" y="4394384"/>
            <a:ext cx="386740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(11)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5761310" y="4394384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(12)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7504861" y="4409258"/>
            <a:ext cx="358809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(14)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7932424" y="4422645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(15)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4805203" y="3613483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(10)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6938717" y="3613483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(13)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5874109" y="2289669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(9)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3683658" y="994117"/>
            <a:ext cx="295426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0" name="灯片编号占位符 7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306690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x;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&amp;a)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输出一个解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  {");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i=0;i&lt;x.size();i++)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(x[i]==1) printf("%d ",a[i]);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printf("}");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309069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&amp;a,int i)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(i&gt;=a.size())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(a);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输出对应的解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x[i]=1;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(a,i+1);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选择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x[i]=0;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(a,i+1);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不选择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226995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pset1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&amp;a)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求幂集算法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x=vector&lt;int&gt;(n);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1285860"/>
            <a:ext cx="8143932" cy="263149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解空间树中，每个层次为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开始）的分支结点对应元素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的选择和不选择两种情况，所以解空间树是一棵高度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的满二叉树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叶子结点共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个，每个叶子结点对应一个解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输出一个解的时间为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所以算法的时间复杂度为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472" y="571480"/>
            <a:ext cx="3071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pset1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endParaRPr lang="zh-CN" altLang="en-US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80992"/>
            <a:ext cx="128588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2844" y="1720975"/>
            <a:ext cx="8786874" cy="264431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5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改为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直接存放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的一个子集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这里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的长度，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5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等都是该问题的解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5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从中看出不同解向量的长度可能不同。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64" y="1142984"/>
            <a:ext cx="8286840" cy="327269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求以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开头的子集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(0)={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合并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(1)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的每个元素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合并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(2)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的每个元素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=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{{1}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3}}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求以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开头的子集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(1)={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合并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(2)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的每个元素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=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{{2}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{2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3}}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求以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开头的子集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(2)={{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}}=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{{3}}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285728"/>
            <a:ext cx="8429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从递归角度出发，设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表示求以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开头的子集，首先空集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肯定是一个子集。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428596" y="4610409"/>
            <a:ext cx="7110268" cy="642942"/>
            <a:chOff x="428596" y="4610409"/>
            <a:chExt cx="7110268" cy="642942"/>
          </a:xfrm>
        </p:grpSpPr>
        <p:sp>
          <p:nvSpPr>
            <p:cNvPr id="7" name="TextBox 6"/>
            <p:cNvSpPr txBox="1"/>
            <p:nvPr/>
          </p:nvSpPr>
          <p:spPr>
            <a:xfrm>
              <a:off x="428596" y="4610409"/>
              <a:ext cx="15001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 sz="2000">
                  <a:solidFill>
                    <a:srgbClr val="0000FF"/>
                  </a:solidFill>
                  <a:latin typeface="黑体" pitchFamily="49" charset="-122"/>
                  <a:ea typeface="黑体" pitchFamily="49" charset="-122"/>
                </a:rPr>
                <a:t>递推公式</a:t>
              </a:r>
              <a:r>
                <a:rPr lang="zh-CN" altLang="en-US" sz="2000">
                  <a:solidFill>
                    <a:srgbClr val="0000FF"/>
                  </a:solidFill>
                  <a:latin typeface="黑体" pitchFamily="49" charset="-122"/>
                  <a:ea typeface="黑体" pitchFamily="49" charset="-122"/>
                </a:rPr>
                <a:t>：</a:t>
              </a:r>
              <a:endParaRPr lang="zh-CN" altLang="en-US" sz="200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Consolas" pitchFamily="49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57356" y="4610409"/>
              <a:ext cx="5681508" cy="642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TextBox 7"/>
          <p:cNvSpPr txBox="1"/>
          <p:nvPr/>
        </p:nvSpPr>
        <p:spPr>
          <a:xfrm>
            <a:off x="1357290" y="5467665"/>
            <a:ext cx="4857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则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的幂集为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全部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)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的集合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5994215" y="1804225"/>
            <a:ext cx="1423811" cy="1447074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00FF"/>
            </a:solidFill>
            <a:prstDash val="dash"/>
            <a:miter lim="800000"/>
            <a:headEnd/>
            <a:tailEnd type="none" w="sm" len="sm"/>
          </a:ln>
        </p:spPr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3890825" y="1795603"/>
            <a:ext cx="1423811" cy="2395504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00FF"/>
            </a:solidFill>
            <a:prstDash val="dash"/>
            <a:miter lim="800000"/>
            <a:headEnd/>
            <a:tailEnd type="none" w="sm" len="sm"/>
          </a:ln>
        </p:spPr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94" name="Rectangle 22"/>
          <p:cNvSpPr>
            <a:spLocks noChangeArrowheads="1"/>
          </p:cNvSpPr>
          <p:nvPr/>
        </p:nvSpPr>
        <p:spPr bwMode="auto">
          <a:xfrm>
            <a:off x="4044556" y="857232"/>
            <a:ext cx="976984" cy="48858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{}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1011594" y="1817158"/>
            <a:ext cx="2728373" cy="280649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00FF"/>
            </a:solidFill>
            <a:prstDash val="dash"/>
            <a:miter lim="800000"/>
            <a:headEnd/>
            <a:tailEnd type="none" w="sm" len="sm"/>
          </a:ln>
        </p:spPr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96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093" name="Rectangle 21"/>
          <p:cNvSpPr>
            <a:spLocks noChangeArrowheads="1"/>
          </p:cNvSpPr>
          <p:nvPr/>
        </p:nvSpPr>
        <p:spPr bwMode="auto">
          <a:xfrm>
            <a:off x="1971338" y="2080132"/>
            <a:ext cx="976984" cy="48858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{1}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92" name="Rectangle 20"/>
          <p:cNvSpPr>
            <a:spLocks noChangeArrowheads="1"/>
          </p:cNvSpPr>
          <p:nvPr/>
        </p:nvSpPr>
        <p:spPr bwMode="auto">
          <a:xfrm>
            <a:off x="1228542" y="3133464"/>
            <a:ext cx="976984" cy="48858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(1,2}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91" name="Rectangle 19"/>
          <p:cNvSpPr>
            <a:spLocks noChangeArrowheads="1"/>
          </p:cNvSpPr>
          <p:nvPr/>
        </p:nvSpPr>
        <p:spPr bwMode="auto">
          <a:xfrm>
            <a:off x="1228542" y="4017228"/>
            <a:ext cx="976984" cy="48858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{1,2,3}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2630802" y="3133464"/>
            <a:ext cx="976984" cy="48858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{1,3}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auto">
          <a:xfrm>
            <a:off x="4044556" y="2080132"/>
            <a:ext cx="976984" cy="48858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{2}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88" name="Rectangle 16"/>
          <p:cNvSpPr>
            <a:spLocks noChangeArrowheads="1"/>
          </p:cNvSpPr>
          <p:nvPr/>
        </p:nvSpPr>
        <p:spPr bwMode="auto">
          <a:xfrm>
            <a:off x="6254265" y="2080132"/>
            <a:ext cx="976984" cy="48858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{3}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87" name="Rectangle 15"/>
          <p:cNvSpPr>
            <a:spLocks noChangeArrowheads="1"/>
          </p:cNvSpPr>
          <p:nvPr/>
        </p:nvSpPr>
        <p:spPr bwMode="auto">
          <a:xfrm>
            <a:off x="4044556" y="3133464"/>
            <a:ext cx="976984" cy="48858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{2,3}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86" name="AutoShape 14"/>
          <p:cNvSpPr>
            <a:spLocks noChangeShapeType="1"/>
          </p:cNvSpPr>
          <p:nvPr/>
        </p:nvSpPr>
        <p:spPr bwMode="auto">
          <a:xfrm>
            <a:off x="1717034" y="3622049"/>
            <a:ext cx="1437" cy="395179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85" name="AutoShape 13"/>
          <p:cNvSpPr>
            <a:spLocks noChangeShapeType="1"/>
          </p:cNvSpPr>
          <p:nvPr/>
        </p:nvSpPr>
        <p:spPr bwMode="auto">
          <a:xfrm>
            <a:off x="2459830" y="2568717"/>
            <a:ext cx="659465" cy="56474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84" name="AutoShape 12"/>
          <p:cNvSpPr>
            <a:spLocks noChangeShapeType="1"/>
          </p:cNvSpPr>
          <p:nvPr/>
        </p:nvSpPr>
        <p:spPr bwMode="auto">
          <a:xfrm>
            <a:off x="4533048" y="2568717"/>
            <a:ext cx="1437" cy="56474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83" name="AutoShape 11"/>
          <p:cNvSpPr>
            <a:spLocks noChangeShapeType="1"/>
          </p:cNvSpPr>
          <p:nvPr/>
        </p:nvSpPr>
        <p:spPr bwMode="auto">
          <a:xfrm flipH="1">
            <a:off x="1717034" y="2568717"/>
            <a:ext cx="742796" cy="56474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82" name="AutoShape 10"/>
          <p:cNvSpPr>
            <a:spLocks noChangeShapeType="1"/>
          </p:cNvSpPr>
          <p:nvPr/>
        </p:nvSpPr>
        <p:spPr bwMode="auto">
          <a:xfrm>
            <a:off x="4533048" y="1345817"/>
            <a:ext cx="1437" cy="73431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81" name="AutoShape 9"/>
          <p:cNvSpPr>
            <a:spLocks noChangeShapeType="1"/>
          </p:cNvSpPr>
          <p:nvPr/>
        </p:nvSpPr>
        <p:spPr bwMode="auto">
          <a:xfrm flipH="1">
            <a:off x="2459830" y="1345817"/>
            <a:ext cx="2073219" cy="73431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80" name="AutoShape 8"/>
          <p:cNvSpPr>
            <a:spLocks noChangeShapeType="1"/>
          </p:cNvSpPr>
          <p:nvPr/>
        </p:nvSpPr>
        <p:spPr bwMode="auto">
          <a:xfrm>
            <a:off x="4533048" y="1345817"/>
            <a:ext cx="2209709" cy="73431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1228542" y="2080132"/>
            <a:ext cx="700252" cy="408678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f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(0)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4107773" y="3703256"/>
            <a:ext cx="678541" cy="357190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f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(1)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6254265" y="2752655"/>
            <a:ext cx="603751" cy="37909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f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(2)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8596" y="285728"/>
            <a:ext cx="2928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={1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3}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4282" y="5072074"/>
            <a:ext cx="8715436" cy="83933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上述递推公式直接采用递归算法实现时性能较低（其中存在重复子问题的计算）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214290"/>
            <a:ext cx="8715436" cy="124649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采用回溯算法，用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表示状态（其中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为解向量），解空间中根结点的状态为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{})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遍历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[j..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：置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[i]=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[j1]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，下一层的结点状态为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j1+1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63509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393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35"/>
          <p:cNvGrpSpPr/>
          <p:nvPr/>
        </p:nvGrpSpPr>
        <p:grpSpPr>
          <a:xfrm>
            <a:off x="428596" y="1928802"/>
            <a:ext cx="7929618" cy="3554255"/>
            <a:chOff x="428596" y="1928802"/>
            <a:chExt cx="7929618" cy="3554255"/>
          </a:xfrm>
        </p:grpSpPr>
        <p:sp>
          <p:nvSpPr>
            <p:cNvPr id="15391" name="Rectangle 31"/>
            <p:cNvSpPr>
              <a:spLocks noChangeArrowheads="1"/>
            </p:cNvSpPr>
            <p:nvPr/>
          </p:nvSpPr>
          <p:spPr bwMode="auto">
            <a:xfrm>
              <a:off x="1389367" y="4651373"/>
              <a:ext cx="1372322" cy="3529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[2]=3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90" name="Rectangle 30"/>
            <p:cNvSpPr>
              <a:spLocks noChangeArrowheads="1"/>
            </p:cNvSpPr>
            <p:nvPr/>
          </p:nvSpPr>
          <p:spPr bwMode="auto">
            <a:xfrm>
              <a:off x="4354279" y="3661816"/>
              <a:ext cx="566608" cy="3529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=3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89" name="Rectangle 29"/>
            <p:cNvSpPr>
              <a:spLocks noChangeArrowheads="1"/>
            </p:cNvSpPr>
            <p:nvPr/>
          </p:nvSpPr>
          <p:spPr bwMode="auto">
            <a:xfrm>
              <a:off x="428596" y="3670639"/>
              <a:ext cx="1224512" cy="3529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[1]=2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88" name="Rectangle 28"/>
            <p:cNvSpPr>
              <a:spLocks noChangeArrowheads="1"/>
            </p:cNvSpPr>
            <p:nvPr/>
          </p:nvSpPr>
          <p:spPr bwMode="auto">
            <a:xfrm>
              <a:off x="2486355" y="3647952"/>
              <a:ext cx="1375221" cy="3529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[2]=3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87" name="Rectangle 27"/>
            <p:cNvSpPr>
              <a:spLocks noChangeArrowheads="1"/>
            </p:cNvSpPr>
            <p:nvPr/>
          </p:nvSpPr>
          <p:spPr bwMode="auto">
            <a:xfrm>
              <a:off x="2143108" y="2418785"/>
              <a:ext cx="1221613" cy="3529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[0]=1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86" name="Rectangle 26"/>
            <p:cNvSpPr>
              <a:spLocks noChangeArrowheads="1"/>
            </p:cNvSpPr>
            <p:nvPr/>
          </p:nvSpPr>
          <p:spPr bwMode="auto">
            <a:xfrm>
              <a:off x="4251391" y="2681245"/>
              <a:ext cx="1324501" cy="2646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[1]=2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85" name="Rectangle 25"/>
            <p:cNvSpPr>
              <a:spLocks noChangeArrowheads="1"/>
            </p:cNvSpPr>
            <p:nvPr/>
          </p:nvSpPr>
          <p:spPr bwMode="auto">
            <a:xfrm>
              <a:off x="5561401" y="2495970"/>
              <a:ext cx="1457821" cy="3529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[2]=3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84" name="Rectangle 24"/>
            <p:cNvSpPr>
              <a:spLocks noChangeArrowheads="1"/>
            </p:cNvSpPr>
            <p:nvPr/>
          </p:nvSpPr>
          <p:spPr bwMode="auto">
            <a:xfrm>
              <a:off x="3702172" y="1928802"/>
              <a:ext cx="1231757" cy="4285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28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0,0,{}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83" name="Rectangle 23"/>
            <p:cNvSpPr>
              <a:spLocks noChangeArrowheads="1"/>
            </p:cNvSpPr>
            <p:nvPr/>
          </p:nvSpPr>
          <p:spPr bwMode="auto">
            <a:xfrm>
              <a:off x="1598041" y="3103471"/>
              <a:ext cx="1231757" cy="4285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28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1,1,{1}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82" name="Rectangle 22"/>
            <p:cNvSpPr>
              <a:spLocks noChangeArrowheads="1"/>
            </p:cNvSpPr>
            <p:nvPr/>
          </p:nvSpPr>
          <p:spPr bwMode="auto">
            <a:xfrm>
              <a:off x="848843" y="4129415"/>
              <a:ext cx="1231757" cy="4285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28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2,2,{1,2}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81" name="Rectangle 21"/>
            <p:cNvSpPr>
              <a:spLocks noChangeArrowheads="1"/>
            </p:cNvSpPr>
            <p:nvPr/>
          </p:nvSpPr>
          <p:spPr bwMode="auto">
            <a:xfrm>
              <a:off x="714349" y="5052009"/>
              <a:ext cx="1500198" cy="4285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28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3,3,{1,2,3}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80" name="Rectangle 20"/>
            <p:cNvSpPr>
              <a:spLocks noChangeArrowheads="1"/>
            </p:cNvSpPr>
            <p:nvPr/>
          </p:nvSpPr>
          <p:spPr bwMode="auto">
            <a:xfrm>
              <a:off x="2263190" y="4129415"/>
              <a:ext cx="1231757" cy="4285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28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2,3,{1,3}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79" name="Rectangle 19"/>
            <p:cNvSpPr>
              <a:spLocks noChangeArrowheads="1"/>
            </p:cNvSpPr>
            <p:nvPr/>
          </p:nvSpPr>
          <p:spPr bwMode="auto">
            <a:xfrm>
              <a:off x="3689130" y="3103471"/>
              <a:ext cx="1231757" cy="4285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28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1,2,{2}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78" name="Rectangle 18"/>
            <p:cNvSpPr>
              <a:spLocks noChangeArrowheads="1"/>
            </p:cNvSpPr>
            <p:nvPr/>
          </p:nvSpPr>
          <p:spPr bwMode="auto">
            <a:xfrm>
              <a:off x="5917886" y="3103471"/>
              <a:ext cx="1231757" cy="4285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28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1,3,{3}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77" name="Rectangle 17"/>
            <p:cNvSpPr>
              <a:spLocks noChangeArrowheads="1"/>
            </p:cNvSpPr>
            <p:nvPr/>
          </p:nvSpPr>
          <p:spPr bwMode="auto">
            <a:xfrm>
              <a:off x="3689130" y="4129415"/>
              <a:ext cx="1231757" cy="4285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28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2,3,{2,3}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76" name="AutoShape 16"/>
            <p:cNvSpPr>
              <a:spLocks noChangeShapeType="1"/>
            </p:cNvSpPr>
            <p:nvPr/>
          </p:nvSpPr>
          <p:spPr bwMode="auto">
            <a:xfrm>
              <a:off x="1464721" y="4557942"/>
              <a:ext cx="1449" cy="49406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600"/>
                </a:lnSpc>
              </a:pP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5375" name="AutoShape 15"/>
            <p:cNvSpPr>
              <a:spLocks noChangeShapeType="1"/>
            </p:cNvSpPr>
            <p:nvPr/>
          </p:nvSpPr>
          <p:spPr bwMode="auto">
            <a:xfrm>
              <a:off x="2213919" y="3531998"/>
              <a:ext cx="665149" cy="59741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600"/>
                </a:lnSpc>
              </a:pP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5374" name="AutoShape 14"/>
            <p:cNvSpPr>
              <a:spLocks noChangeShapeType="1"/>
            </p:cNvSpPr>
            <p:nvPr/>
          </p:nvSpPr>
          <p:spPr bwMode="auto">
            <a:xfrm>
              <a:off x="4305008" y="3531998"/>
              <a:ext cx="1449" cy="59741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600"/>
                </a:lnSpc>
              </a:pP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5373" name="Rectangle 13"/>
            <p:cNvSpPr>
              <a:spLocks noChangeArrowheads="1"/>
            </p:cNvSpPr>
            <p:nvPr/>
          </p:nvSpPr>
          <p:spPr bwMode="auto">
            <a:xfrm>
              <a:off x="7923476" y="1999383"/>
              <a:ext cx="434738" cy="3529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=0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72" name="Rectangle 12"/>
            <p:cNvSpPr>
              <a:spLocks noChangeArrowheads="1"/>
            </p:cNvSpPr>
            <p:nvPr/>
          </p:nvSpPr>
          <p:spPr bwMode="auto">
            <a:xfrm>
              <a:off x="7923476" y="3141282"/>
              <a:ext cx="434738" cy="3529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=1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71" name="Rectangle 11"/>
            <p:cNvSpPr>
              <a:spLocks noChangeArrowheads="1"/>
            </p:cNvSpPr>
            <p:nvPr/>
          </p:nvSpPr>
          <p:spPr bwMode="auto">
            <a:xfrm>
              <a:off x="7923476" y="4205037"/>
              <a:ext cx="434738" cy="3529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=2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70" name="Rectangle 10"/>
            <p:cNvSpPr>
              <a:spLocks noChangeArrowheads="1"/>
            </p:cNvSpPr>
            <p:nvPr/>
          </p:nvSpPr>
          <p:spPr bwMode="auto">
            <a:xfrm>
              <a:off x="7923476" y="5130152"/>
              <a:ext cx="434738" cy="3529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=3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369" name="AutoShape 9"/>
            <p:cNvSpPr>
              <a:spLocks noChangeShapeType="1"/>
            </p:cNvSpPr>
            <p:nvPr/>
          </p:nvSpPr>
          <p:spPr bwMode="auto">
            <a:xfrm flipV="1">
              <a:off x="5401997" y="2143066"/>
              <a:ext cx="2299763" cy="1260"/>
            </a:xfrm>
            <a:prstGeom prst="straightConnector1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600"/>
                </a:lnSpc>
              </a:pP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5368" name="AutoShape 8"/>
            <p:cNvSpPr>
              <a:spLocks noChangeShapeType="1"/>
            </p:cNvSpPr>
            <p:nvPr/>
          </p:nvSpPr>
          <p:spPr bwMode="auto">
            <a:xfrm flipV="1">
              <a:off x="2560260" y="5273835"/>
              <a:ext cx="5257429" cy="1260"/>
            </a:xfrm>
            <a:prstGeom prst="straightConnector1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600"/>
                </a:lnSpc>
              </a:pP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5367" name="AutoShape 7"/>
            <p:cNvSpPr>
              <a:spLocks noChangeShapeType="1"/>
            </p:cNvSpPr>
            <p:nvPr/>
          </p:nvSpPr>
          <p:spPr bwMode="auto">
            <a:xfrm>
              <a:off x="5352726" y="4365105"/>
              <a:ext cx="2464963" cy="1260"/>
            </a:xfrm>
            <a:prstGeom prst="straightConnector1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600"/>
                </a:lnSpc>
              </a:pP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5366" name="AutoShape 6"/>
            <p:cNvSpPr>
              <a:spLocks noChangeShapeType="1"/>
            </p:cNvSpPr>
            <p:nvPr/>
          </p:nvSpPr>
          <p:spPr bwMode="auto">
            <a:xfrm flipV="1">
              <a:off x="7400342" y="3288746"/>
              <a:ext cx="492703" cy="1260"/>
            </a:xfrm>
            <a:prstGeom prst="straightConnector1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600"/>
                </a:lnSpc>
              </a:pP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5365" name="AutoShape 5"/>
            <p:cNvSpPr>
              <a:spLocks noChangeShapeType="1"/>
            </p:cNvSpPr>
            <p:nvPr/>
          </p:nvSpPr>
          <p:spPr bwMode="auto">
            <a:xfrm flipH="1">
              <a:off x="1464721" y="3531998"/>
              <a:ext cx="749198" cy="59741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600"/>
                </a:lnSpc>
              </a:pP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5364" name="AutoShape 4"/>
            <p:cNvSpPr>
              <a:spLocks noChangeShapeType="1"/>
            </p:cNvSpPr>
            <p:nvPr/>
          </p:nvSpPr>
          <p:spPr bwMode="auto">
            <a:xfrm flipH="1">
              <a:off x="4305008" y="2357329"/>
              <a:ext cx="13042" cy="74614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600"/>
                </a:lnSpc>
              </a:pP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5363" name="AutoShape 3"/>
            <p:cNvSpPr>
              <a:spLocks noChangeShapeType="1"/>
            </p:cNvSpPr>
            <p:nvPr/>
          </p:nvSpPr>
          <p:spPr bwMode="auto">
            <a:xfrm flipH="1">
              <a:off x="2213919" y="2357329"/>
              <a:ext cx="2104131" cy="74614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600"/>
                </a:lnSpc>
              </a:pP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5362" name="AutoShape 2"/>
            <p:cNvSpPr>
              <a:spLocks noChangeShapeType="1"/>
            </p:cNvSpPr>
            <p:nvPr/>
          </p:nvSpPr>
          <p:spPr bwMode="auto">
            <a:xfrm>
              <a:off x="4318050" y="2357329"/>
              <a:ext cx="2215714" cy="74614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600"/>
                </a:lnSpc>
              </a:pP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grpSp>
        <p:nvGrpSpPr>
          <p:cNvPr id="4" name="组合 49"/>
          <p:cNvGrpSpPr/>
          <p:nvPr/>
        </p:nvGrpSpPr>
        <p:grpSpPr>
          <a:xfrm>
            <a:off x="327378" y="2269067"/>
            <a:ext cx="3448755" cy="4101033"/>
            <a:chOff x="327378" y="2269067"/>
            <a:chExt cx="3448755" cy="4101033"/>
          </a:xfrm>
        </p:grpSpPr>
        <p:sp>
          <p:nvSpPr>
            <p:cNvPr id="38" name="任意多边形 37"/>
            <p:cNvSpPr/>
            <p:nvPr/>
          </p:nvSpPr>
          <p:spPr>
            <a:xfrm>
              <a:off x="327378" y="2269067"/>
              <a:ext cx="3448755" cy="3444993"/>
            </a:xfrm>
            <a:custGeom>
              <a:avLst/>
              <a:gdLst>
                <a:gd name="connsiteX0" fmla="*/ 1919111 w 3448755"/>
                <a:gd name="connsiteY0" fmla="*/ 101600 h 3444993"/>
                <a:gd name="connsiteX1" fmla="*/ 632178 w 3448755"/>
                <a:gd name="connsiteY1" fmla="*/ 801511 h 3444993"/>
                <a:gd name="connsiteX2" fmla="*/ 90311 w 3448755"/>
                <a:gd name="connsiteY2" fmla="*/ 1354666 h 3444993"/>
                <a:gd name="connsiteX3" fmla="*/ 90311 w 3448755"/>
                <a:gd name="connsiteY3" fmla="*/ 2370666 h 3444993"/>
                <a:gd name="connsiteX4" fmla="*/ 270933 w 3448755"/>
                <a:gd name="connsiteY4" fmla="*/ 3251200 h 3444993"/>
                <a:gd name="connsiteX5" fmla="*/ 914400 w 3448755"/>
                <a:gd name="connsiteY5" fmla="*/ 3420533 h 3444993"/>
                <a:gd name="connsiteX6" fmla="*/ 1998133 w 3448755"/>
                <a:gd name="connsiteY6" fmla="*/ 3364089 h 3444993"/>
                <a:gd name="connsiteX7" fmla="*/ 2178755 w 3448755"/>
                <a:gd name="connsiteY7" fmla="*/ 2935111 h 3444993"/>
                <a:gd name="connsiteX8" fmla="*/ 3048000 w 3448755"/>
                <a:gd name="connsiteY8" fmla="*/ 2551289 h 3444993"/>
                <a:gd name="connsiteX9" fmla="*/ 3285066 w 3448755"/>
                <a:gd name="connsiteY9" fmla="*/ 2020711 h 3444993"/>
                <a:gd name="connsiteX10" fmla="*/ 3420533 w 3448755"/>
                <a:gd name="connsiteY10" fmla="*/ 1546577 h 3444993"/>
                <a:gd name="connsiteX11" fmla="*/ 3115733 w 3448755"/>
                <a:gd name="connsiteY11" fmla="*/ 1162755 h 3444993"/>
                <a:gd name="connsiteX12" fmla="*/ 3059289 w 3448755"/>
                <a:gd name="connsiteY12" fmla="*/ 191911 h 3444993"/>
                <a:gd name="connsiteX13" fmla="*/ 1919111 w 3448755"/>
                <a:gd name="connsiteY13" fmla="*/ 101600 h 3444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48755" h="3444993">
                  <a:moveTo>
                    <a:pt x="1919111" y="101600"/>
                  </a:moveTo>
                  <a:cubicBezTo>
                    <a:pt x="1514593" y="203200"/>
                    <a:pt x="936978" y="592667"/>
                    <a:pt x="632178" y="801511"/>
                  </a:cubicBezTo>
                  <a:cubicBezTo>
                    <a:pt x="327378" y="1010355"/>
                    <a:pt x="180622" y="1093140"/>
                    <a:pt x="90311" y="1354666"/>
                  </a:cubicBezTo>
                  <a:cubicBezTo>
                    <a:pt x="0" y="1616192"/>
                    <a:pt x="60207" y="2054577"/>
                    <a:pt x="90311" y="2370666"/>
                  </a:cubicBezTo>
                  <a:cubicBezTo>
                    <a:pt x="120415" y="2686755"/>
                    <a:pt x="133585" y="3076222"/>
                    <a:pt x="270933" y="3251200"/>
                  </a:cubicBezTo>
                  <a:cubicBezTo>
                    <a:pt x="408281" y="3426178"/>
                    <a:pt x="626533" y="3401718"/>
                    <a:pt x="914400" y="3420533"/>
                  </a:cubicBezTo>
                  <a:cubicBezTo>
                    <a:pt x="1202267" y="3439348"/>
                    <a:pt x="1787407" y="3444993"/>
                    <a:pt x="1998133" y="3364089"/>
                  </a:cubicBezTo>
                  <a:cubicBezTo>
                    <a:pt x="2208859" y="3283185"/>
                    <a:pt x="2003777" y="3070578"/>
                    <a:pt x="2178755" y="2935111"/>
                  </a:cubicBezTo>
                  <a:cubicBezTo>
                    <a:pt x="2353733" y="2799644"/>
                    <a:pt x="2863615" y="2703689"/>
                    <a:pt x="3048000" y="2551289"/>
                  </a:cubicBezTo>
                  <a:cubicBezTo>
                    <a:pt x="3232385" y="2398889"/>
                    <a:pt x="3222977" y="2188163"/>
                    <a:pt x="3285066" y="2020711"/>
                  </a:cubicBezTo>
                  <a:cubicBezTo>
                    <a:pt x="3347155" y="1853259"/>
                    <a:pt x="3448755" y="1689570"/>
                    <a:pt x="3420533" y="1546577"/>
                  </a:cubicBezTo>
                  <a:cubicBezTo>
                    <a:pt x="3392311" y="1403584"/>
                    <a:pt x="3175940" y="1388533"/>
                    <a:pt x="3115733" y="1162755"/>
                  </a:cubicBezTo>
                  <a:cubicBezTo>
                    <a:pt x="3055526" y="936977"/>
                    <a:pt x="3260608" y="372533"/>
                    <a:pt x="3059289" y="191911"/>
                  </a:cubicBezTo>
                  <a:cubicBezTo>
                    <a:pt x="2857971" y="11289"/>
                    <a:pt x="2323629" y="0"/>
                    <a:pt x="1919111" y="101600"/>
                  </a:cubicBezTo>
                  <a:close/>
                </a:path>
              </a:pathLst>
            </a:custGeom>
            <a:ln w="19050">
              <a:solidFill>
                <a:srgbClr val="FF00FF"/>
              </a:solidFill>
              <a:prstDash val="dash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14348" y="6000768"/>
              <a:ext cx="1714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以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[0]</a:t>
              </a:r>
              <a:r>
                <a:rPr lang="zh-CN" altLang="en-US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开头</a:t>
              </a:r>
            </a:p>
          </p:txBody>
        </p:sp>
        <p:cxnSp>
          <p:nvCxnSpPr>
            <p:cNvPr id="43" name="直接连接符 42"/>
            <p:cNvCxnSpPr>
              <a:endCxn id="41" idx="0"/>
            </p:cNvCxnSpPr>
            <p:nvPr/>
          </p:nvCxnSpPr>
          <p:spPr>
            <a:xfrm rot="5400000">
              <a:off x="1428728" y="5857892"/>
              <a:ext cx="285752" cy="0"/>
            </a:xfrm>
            <a:prstGeom prst="line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" name="组合 50"/>
          <p:cNvGrpSpPr/>
          <p:nvPr/>
        </p:nvGrpSpPr>
        <p:grpSpPr>
          <a:xfrm>
            <a:off x="3571868" y="2602970"/>
            <a:ext cx="1788472" cy="3254922"/>
            <a:chOff x="3571868" y="2602970"/>
            <a:chExt cx="1788472" cy="3254922"/>
          </a:xfrm>
        </p:grpSpPr>
        <p:sp>
          <p:nvSpPr>
            <p:cNvPr id="40" name="任意多边形 39"/>
            <p:cNvSpPr/>
            <p:nvPr/>
          </p:nvSpPr>
          <p:spPr>
            <a:xfrm>
              <a:off x="3575490" y="2602970"/>
              <a:ext cx="1784850" cy="2236201"/>
            </a:xfrm>
            <a:custGeom>
              <a:avLst/>
              <a:gdLst>
                <a:gd name="connsiteX0" fmla="*/ 581379 w 1843852"/>
                <a:gd name="connsiteY0" fmla="*/ 261526 h 2233319"/>
                <a:gd name="connsiteX1" fmla="*/ 118534 w 1843852"/>
                <a:gd name="connsiteY1" fmla="*/ 464726 h 2233319"/>
                <a:gd name="connsiteX2" fmla="*/ 84668 w 1843852"/>
                <a:gd name="connsiteY2" fmla="*/ 972726 h 2233319"/>
                <a:gd name="connsiteX3" fmla="*/ 321734 w 1843852"/>
                <a:gd name="connsiteY3" fmla="*/ 1153348 h 2233319"/>
                <a:gd name="connsiteX4" fmla="*/ 333023 w 1843852"/>
                <a:gd name="connsiteY4" fmla="*/ 1401704 h 2233319"/>
                <a:gd name="connsiteX5" fmla="*/ 174979 w 1843852"/>
                <a:gd name="connsiteY5" fmla="*/ 1604904 h 2233319"/>
                <a:gd name="connsiteX6" fmla="*/ 95956 w 1843852"/>
                <a:gd name="connsiteY6" fmla="*/ 2022592 h 2233319"/>
                <a:gd name="connsiteX7" fmla="*/ 750712 w 1843852"/>
                <a:gd name="connsiteY7" fmla="*/ 2169348 h 2233319"/>
                <a:gd name="connsiteX8" fmla="*/ 1552223 w 1843852"/>
                <a:gd name="connsiteY8" fmla="*/ 1988726 h 2233319"/>
                <a:gd name="connsiteX9" fmla="*/ 1653823 w 1843852"/>
                <a:gd name="connsiteY9" fmla="*/ 701792 h 2233319"/>
                <a:gd name="connsiteX10" fmla="*/ 1721556 w 1843852"/>
                <a:gd name="connsiteY10" fmla="*/ 205081 h 2233319"/>
                <a:gd name="connsiteX11" fmla="*/ 920045 w 1843852"/>
                <a:gd name="connsiteY11" fmla="*/ 13170 h 2233319"/>
                <a:gd name="connsiteX12" fmla="*/ 581379 w 1843852"/>
                <a:gd name="connsiteY12" fmla="*/ 261526 h 2233319"/>
                <a:gd name="connsiteX0" fmla="*/ 484008 w 1843852"/>
                <a:gd name="connsiteY0" fmla="*/ 111650 h 2236201"/>
                <a:gd name="connsiteX1" fmla="*/ 118534 w 1843852"/>
                <a:gd name="connsiteY1" fmla="*/ 467608 h 2236201"/>
                <a:gd name="connsiteX2" fmla="*/ 84668 w 1843852"/>
                <a:gd name="connsiteY2" fmla="*/ 975608 h 2236201"/>
                <a:gd name="connsiteX3" fmla="*/ 321734 w 1843852"/>
                <a:gd name="connsiteY3" fmla="*/ 1156230 h 2236201"/>
                <a:gd name="connsiteX4" fmla="*/ 333023 w 1843852"/>
                <a:gd name="connsiteY4" fmla="*/ 1404586 h 2236201"/>
                <a:gd name="connsiteX5" fmla="*/ 174979 w 1843852"/>
                <a:gd name="connsiteY5" fmla="*/ 1607786 h 2236201"/>
                <a:gd name="connsiteX6" fmla="*/ 95956 w 1843852"/>
                <a:gd name="connsiteY6" fmla="*/ 2025474 h 2236201"/>
                <a:gd name="connsiteX7" fmla="*/ 750712 w 1843852"/>
                <a:gd name="connsiteY7" fmla="*/ 2172230 h 2236201"/>
                <a:gd name="connsiteX8" fmla="*/ 1552223 w 1843852"/>
                <a:gd name="connsiteY8" fmla="*/ 1991608 h 2236201"/>
                <a:gd name="connsiteX9" fmla="*/ 1653823 w 1843852"/>
                <a:gd name="connsiteY9" fmla="*/ 704674 h 2236201"/>
                <a:gd name="connsiteX10" fmla="*/ 1721556 w 1843852"/>
                <a:gd name="connsiteY10" fmla="*/ 207963 h 2236201"/>
                <a:gd name="connsiteX11" fmla="*/ 920045 w 1843852"/>
                <a:gd name="connsiteY11" fmla="*/ 16052 h 2236201"/>
                <a:gd name="connsiteX12" fmla="*/ 484008 w 1843852"/>
                <a:gd name="connsiteY12" fmla="*/ 111650 h 2236201"/>
                <a:gd name="connsiteX0" fmla="*/ 484008 w 1843852"/>
                <a:gd name="connsiteY0" fmla="*/ 111650 h 2236201"/>
                <a:gd name="connsiteX1" fmla="*/ 118534 w 1843852"/>
                <a:gd name="connsiteY1" fmla="*/ 467608 h 2236201"/>
                <a:gd name="connsiteX2" fmla="*/ 126818 w 1843852"/>
                <a:gd name="connsiteY2" fmla="*/ 968906 h 2236201"/>
                <a:gd name="connsiteX3" fmla="*/ 321734 w 1843852"/>
                <a:gd name="connsiteY3" fmla="*/ 1156230 h 2236201"/>
                <a:gd name="connsiteX4" fmla="*/ 333023 w 1843852"/>
                <a:gd name="connsiteY4" fmla="*/ 1404586 h 2236201"/>
                <a:gd name="connsiteX5" fmla="*/ 174979 w 1843852"/>
                <a:gd name="connsiteY5" fmla="*/ 1607786 h 2236201"/>
                <a:gd name="connsiteX6" fmla="*/ 95956 w 1843852"/>
                <a:gd name="connsiteY6" fmla="*/ 2025474 h 2236201"/>
                <a:gd name="connsiteX7" fmla="*/ 750712 w 1843852"/>
                <a:gd name="connsiteY7" fmla="*/ 2172230 h 2236201"/>
                <a:gd name="connsiteX8" fmla="*/ 1552223 w 1843852"/>
                <a:gd name="connsiteY8" fmla="*/ 1991608 h 2236201"/>
                <a:gd name="connsiteX9" fmla="*/ 1653823 w 1843852"/>
                <a:gd name="connsiteY9" fmla="*/ 704674 h 2236201"/>
                <a:gd name="connsiteX10" fmla="*/ 1721556 w 1843852"/>
                <a:gd name="connsiteY10" fmla="*/ 207963 h 2236201"/>
                <a:gd name="connsiteX11" fmla="*/ 920045 w 1843852"/>
                <a:gd name="connsiteY11" fmla="*/ 16052 h 2236201"/>
                <a:gd name="connsiteX12" fmla="*/ 484008 w 1843852"/>
                <a:gd name="connsiteY12" fmla="*/ 111650 h 2236201"/>
                <a:gd name="connsiteX0" fmla="*/ 425006 w 1784850"/>
                <a:gd name="connsiteY0" fmla="*/ 111650 h 2236201"/>
                <a:gd name="connsiteX1" fmla="*/ 59532 w 1784850"/>
                <a:gd name="connsiteY1" fmla="*/ 467608 h 2236201"/>
                <a:gd name="connsiteX2" fmla="*/ 67816 w 1784850"/>
                <a:gd name="connsiteY2" fmla="*/ 968906 h 2236201"/>
                <a:gd name="connsiteX3" fmla="*/ 262732 w 1784850"/>
                <a:gd name="connsiteY3" fmla="*/ 1156230 h 2236201"/>
                <a:gd name="connsiteX4" fmla="*/ 274021 w 1784850"/>
                <a:gd name="connsiteY4" fmla="*/ 1404586 h 2236201"/>
                <a:gd name="connsiteX5" fmla="*/ 115977 w 1784850"/>
                <a:gd name="connsiteY5" fmla="*/ 1607786 h 2236201"/>
                <a:gd name="connsiteX6" fmla="*/ 139254 w 1784850"/>
                <a:gd name="connsiteY6" fmla="*/ 2040476 h 2236201"/>
                <a:gd name="connsiteX7" fmla="*/ 691710 w 1784850"/>
                <a:gd name="connsiteY7" fmla="*/ 2172230 h 2236201"/>
                <a:gd name="connsiteX8" fmla="*/ 1493221 w 1784850"/>
                <a:gd name="connsiteY8" fmla="*/ 1991608 h 2236201"/>
                <a:gd name="connsiteX9" fmla="*/ 1594821 w 1784850"/>
                <a:gd name="connsiteY9" fmla="*/ 704674 h 2236201"/>
                <a:gd name="connsiteX10" fmla="*/ 1662554 w 1784850"/>
                <a:gd name="connsiteY10" fmla="*/ 207963 h 2236201"/>
                <a:gd name="connsiteX11" fmla="*/ 861043 w 1784850"/>
                <a:gd name="connsiteY11" fmla="*/ 16052 h 2236201"/>
                <a:gd name="connsiteX12" fmla="*/ 425006 w 1784850"/>
                <a:gd name="connsiteY12" fmla="*/ 111650 h 2236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4850" h="2236201">
                  <a:moveTo>
                    <a:pt x="425006" y="111650"/>
                  </a:moveTo>
                  <a:cubicBezTo>
                    <a:pt x="291421" y="186909"/>
                    <a:pt x="119064" y="324732"/>
                    <a:pt x="59532" y="467608"/>
                  </a:cubicBezTo>
                  <a:cubicBezTo>
                    <a:pt x="0" y="610484"/>
                    <a:pt x="33949" y="854136"/>
                    <a:pt x="67816" y="968906"/>
                  </a:cubicBezTo>
                  <a:cubicBezTo>
                    <a:pt x="101683" y="1083676"/>
                    <a:pt x="228364" y="1083617"/>
                    <a:pt x="262732" y="1156230"/>
                  </a:cubicBezTo>
                  <a:cubicBezTo>
                    <a:pt x="297100" y="1228843"/>
                    <a:pt x="298480" y="1329327"/>
                    <a:pt x="274021" y="1404586"/>
                  </a:cubicBezTo>
                  <a:cubicBezTo>
                    <a:pt x="249562" y="1479845"/>
                    <a:pt x="138438" y="1501804"/>
                    <a:pt x="115977" y="1607786"/>
                  </a:cubicBezTo>
                  <a:cubicBezTo>
                    <a:pt x="93516" y="1713768"/>
                    <a:pt x="43298" y="1946402"/>
                    <a:pt x="139254" y="2040476"/>
                  </a:cubicBezTo>
                  <a:cubicBezTo>
                    <a:pt x="235210" y="2134550"/>
                    <a:pt x="466049" y="2180375"/>
                    <a:pt x="691710" y="2172230"/>
                  </a:cubicBezTo>
                  <a:cubicBezTo>
                    <a:pt x="917371" y="2164085"/>
                    <a:pt x="1342703" y="2236201"/>
                    <a:pt x="1493221" y="1991608"/>
                  </a:cubicBezTo>
                  <a:cubicBezTo>
                    <a:pt x="1643740" y="1747015"/>
                    <a:pt x="1566599" y="1001948"/>
                    <a:pt x="1594821" y="704674"/>
                  </a:cubicBezTo>
                  <a:cubicBezTo>
                    <a:pt x="1623043" y="407400"/>
                    <a:pt x="1784850" y="322733"/>
                    <a:pt x="1662554" y="207963"/>
                  </a:cubicBezTo>
                  <a:cubicBezTo>
                    <a:pt x="1540258" y="93193"/>
                    <a:pt x="1067301" y="32104"/>
                    <a:pt x="861043" y="16052"/>
                  </a:cubicBezTo>
                  <a:cubicBezTo>
                    <a:pt x="654785" y="0"/>
                    <a:pt x="558591" y="36391"/>
                    <a:pt x="425006" y="111650"/>
                  </a:cubicBezTo>
                  <a:close/>
                </a:path>
              </a:pathLst>
            </a:custGeom>
            <a:ln w="19050">
              <a:solidFill>
                <a:srgbClr val="FF00FF"/>
              </a:solidFill>
              <a:prstDash val="dash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571868" y="5488560"/>
              <a:ext cx="1714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以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[1]</a:t>
              </a:r>
              <a:r>
                <a:rPr lang="zh-CN" altLang="en-US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开头</a:t>
              </a:r>
            </a:p>
          </p:txBody>
        </p:sp>
        <p:cxnSp>
          <p:nvCxnSpPr>
            <p:cNvPr id="45" name="直接连接符 44"/>
            <p:cNvCxnSpPr>
              <a:endCxn id="44" idx="0"/>
            </p:cNvCxnSpPr>
            <p:nvPr/>
          </p:nvCxnSpPr>
          <p:spPr>
            <a:xfrm rot="5400000">
              <a:off x="4078005" y="5137441"/>
              <a:ext cx="702238" cy="0"/>
            </a:xfrm>
            <a:prstGeom prst="line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组合 51"/>
          <p:cNvGrpSpPr/>
          <p:nvPr/>
        </p:nvGrpSpPr>
        <p:grpSpPr>
          <a:xfrm>
            <a:off x="5535319" y="2304815"/>
            <a:ext cx="2179953" cy="2565087"/>
            <a:chOff x="5535319" y="2304815"/>
            <a:chExt cx="2179953" cy="2565087"/>
          </a:xfrm>
        </p:grpSpPr>
        <p:sp>
          <p:nvSpPr>
            <p:cNvPr id="39" name="任意多边形 38"/>
            <p:cNvSpPr/>
            <p:nvPr/>
          </p:nvSpPr>
          <p:spPr>
            <a:xfrm>
              <a:off x="5535319" y="2304815"/>
              <a:ext cx="1872895" cy="1627600"/>
            </a:xfrm>
            <a:custGeom>
              <a:avLst/>
              <a:gdLst>
                <a:gd name="connsiteX0" fmla="*/ 165570 w 1894651"/>
                <a:gd name="connsiteY0" fmla="*/ 156163 h 1627482"/>
                <a:gd name="connsiteX1" fmla="*/ 255881 w 1894651"/>
                <a:gd name="connsiteY1" fmla="*/ 799629 h 1627482"/>
                <a:gd name="connsiteX2" fmla="*/ 334903 w 1894651"/>
                <a:gd name="connsiteY2" fmla="*/ 1409229 h 1627482"/>
                <a:gd name="connsiteX3" fmla="*/ 1655703 w 1894651"/>
                <a:gd name="connsiteY3" fmla="*/ 1499541 h 1627482"/>
                <a:gd name="connsiteX4" fmla="*/ 1768592 w 1894651"/>
                <a:gd name="connsiteY4" fmla="*/ 641585 h 1627482"/>
                <a:gd name="connsiteX5" fmla="*/ 1249303 w 1894651"/>
                <a:gd name="connsiteY5" fmla="*/ 77141 h 1627482"/>
                <a:gd name="connsiteX6" fmla="*/ 165570 w 1894651"/>
                <a:gd name="connsiteY6" fmla="*/ 156163 h 1627482"/>
                <a:gd name="connsiteX0" fmla="*/ 165570 w 1872895"/>
                <a:gd name="connsiteY0" fmla="*/ 156163 h 1627600"/>
                <a:gd name="connsiteX1" fmla="*/ 255881 w 1872895"/>
                <a:gd name="connsiteY1" fmla="*/ 799629 h 1627600"/>
                <a:gd name="connsiteX2" fmla="*/ 465441 w 1872895"/>
                <a:gd name="connsiteY2" fmla="*/ 1409937 h 1627600"/>
                <a:gd name="connsiteX3" fmla="*/ 1655703 w 1872895"/>
                <a:gd name="connsiteY3" fmla="*/ 1499541 h 1627600"/>
                <a:gd name="connsiteX4" fmla="*/ 1768592 w 1872895"/>
                <a:gd name="connsiteY4" fmla="*/ 641585 h 1627600"/>
                <a:gd name="connsiteX5" fmla="*/ 1249303 w 1872895"/>
                <a:gd name="connsiteY5" fmla="*/ 77141 h 1627600"/>
                <a:gd name="connsiteX6" fmla="*/ 165570 w 1872895"/>
                <a:gd name="connsiteY6" fmla="*/ 156163 h 162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72895" h="1627600">
                  <a:moveTo>
                    <a:pt x="165570" y="156163"/>
                  </a:moveTo>
                  <a:cubicBezTo>
                    <a:pt x="0" y="276578"/>
                    <a:pt x="205903" y="590667"/>
                    <a:pt x="255881" y="799629"/>
                  </a:cubicBezTo>
                  <a:cubicBezTo>
                    <a:pt x="305859" y="1008591"/>
                    <a:pt x="232137" y="1293285"/>
                    <a:pt x="465441" y="1409937"/>
                  </a:cubicBezTo>
                  <a:cubicBezTo>
                    <a:pt x="698745" y="1526589"/>
                    <a:pt x="1438511" y="1627600"/>
                    <a:pt x="1655703" y="1499541"/>
                  </a:cubicBezTo>
                  <a:cubicBezTo>
                    <a:pt x="1872895" y="1371482"/>
                    <a:pt x="1836325" y="878652"/>
                    <a:pt x="1768592" y="641585"/>
                  </a:cubicBezTo>
                  <a:cubicBezTo>
                    <a:pt x="1700859" y="404518"/>
                    <a:pt x="1520236" y="154282"/>
                    <a:pt x="1249303" y="77141"/>
                  </a:cubicBezTo>
                  <a:cubicBezTo>
                    <a:pt x="978370" y="0"/>
                    <a:pt x="331140" y="35748"/>
                    <a:pt x="165570" y="156163"/>
                  </a:cubicBezTo>
                  <a:close/>
                </a:path>
              </a:pathLst>
            </a:custGeom>
            <a:ln w="19050">
              <a:solidFill>
                <a:srgbClr val="FF00FF"/>
              </a:solidFill>
              <a:prstDash val="dash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000760" y="4500570"/>
              <a:ext cx="1714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以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[2]</a:t>
              </a:r>
              <a:r>
                <a:rPr lang="zh-CN" altLang="en-US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开头</a:t>
              </a:r>
            </a:p>
          </p:txBody>
        </p:sp>
        <p:cxnSp>
          <p:nvCxnSpPr>
            <p:cNvPr id="48" name="直接连接符 47"/>
            <p:cNvCxnSpPr>
              <a:endCxn id="47" idx="0"/>
            </p:cNvCxnSpPr>
            <p:nvPr/>
          </p:nvCxnSpPr>
          <p:spPr>
            <a:xfrm rot="5400000">
              <a:off x="6572264" y="4214818"/>
              <a:ext cx="571504" cy="0"/>
            </a:xfrm>
            <a:prstGeom prst="line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29111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x[MAXN];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i) {						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输出一个解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  {");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k=0;k&lt;i;k++)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printf("%d ",x[k]);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printf("}");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498864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&amp;a,int i,int j) {		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(i);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输出一个解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x[0..i-1]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j1=j;j1&lt;a.size();j1++)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x[i]=a[j1];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(a,i+1,j1+1);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x[i]=-1;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pset2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&amp;a) {			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求幂集算法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2</a:t>
            </a:r>
            <a:endParaRPr lang="zh-CN" altLang="zh-CN" sz="2000">
              <a:solidFill>
                <a:srgbClr val="00B05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77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500034" y="857232"/>
            <a:ext cx="8072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解空间中第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层的结点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就是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为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x</a:t>
            </a:r>
            <a:r>
              <a:rPr lang="en-US" altLang="zh-CN" i="1" baseline="-25000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i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（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i</a:t>
            </a:r>
            <a:r>
              <a:rPr lang="zh-CN" altLang="zh-CN">
                <a:solidFill>
                  <a:srgbClr val="FF0000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j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）选择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{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j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，</a:t>
            </a:r>
            <a:r>
              <a:rPr lang="zh-CN" altLang="zh-CN">
                <a:solidFill>
                  <a:srgbClr val="FF0000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，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n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-1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}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中的一个元素即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n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-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j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选一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22"/>
          <p:cNvGrpSpPr/>
          <p:nvPr/>
        </p:nvGrpSpPr>
        <p:grpSpPr>
          <a:xfrm>
            <a:off x="512286" y="2226217"/>
            <a:ext cx="7488738" cy="2048376"/>
            <a:chOff x="512286" y="2226217"/>
            <a:chExt cx="7488738" cy="2048376"/>
          </a:xfrm>
        </p:grpSpPr>
        <p:sp>
          <p:nvSpPr>
            <p:cNvPr id="13328" name="Text Box 16"/>
            <p:cNvSpPr txBox="1">
              <a:spLocks noChangeArrowheads="1"/>
            </p:cNvSpPr>
            <p:nvPr/>
          </p:nvSpPr>
          <p:spPr bwMode="auto">
            <a:xfrm>
              <a:off x="2916645" y="2968298"/>
              <a:ext cx="802474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27" name="Text Box 15"/>
            <p:cNvSpPr txBox="1">
              <a:spLocks noChangeArrowheads="1"/>
            </p:cNvSpPr>
            <p:nvPr/>
          </p:nvSpPr>
          <p:spPr bwMode="auto">
            <a:xfrm>
              <a:off x="4086665" y="2797721"/>
              <a:ext cx="802474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26" name="Text Box 14"/>
            <p:cNvSpPr txBox="1">
              <a:spLocks noChangeArrowheads="1"/>
            </p:cNvSpPr>
            <p:nvPr/>
          </p:nvSpPr>
          <p:spPr bwMode="auto">
            <a:xfrm>
              <a:off x="1135624" y="2920186"/>
              <a:ext cx="802474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25" name="Text Box 13"/>
            <p:cNvSpPr txBox="1">
              <a:spLocks noChangeArrowheads="1"/>
            </p:cNvSpPr>
            <p:nvPr/>
          </p:nvSpPr>
          <p:spPr bwMode="auto">
            <a:xfrm>
              <a:off x="6550751" y="2294740"/>
              <a:ext cx="1159300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层次为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24" name="Text Box 12"/>
            <p:cNvSpPr txBox="1">
              <a:spLocks noChangeArrowheads="1"/>
            </p:cNvSpPr>
            <p:nvPr/>
          </p:nvSpPr>
          <p:spPr bwMode="auto">
            <a:xfrm>
              <a:off x="3622639" y="3872207"/>
              <a:ext cx="640142" cy="3134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13323" name="AutoShape 11"/>
            <p:cNvSpPr>
              <a:spLocks noChangeShapeType="1"/>
            </p:cNvSpPr>
            <p:nvPr/>
          </p:nvSpPr>
          <p:spPr bwMode="auto">
            <a:xfrm flipV="1">
              <a:off x="3486341" y="2484269"/>
              <a:ext cx="3038376" cy="1458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3322" name="Text Box 10"/>
            <p:cNvSpPr txBox="1">
              <a:spLocks noChangeArrowheads="1"/>
            </p:cNvSpPr>
            <p:nvPr/>
          </p:nvSpPr>
          <p:spPr bwMode="auto">
            <a:xfrm>
              <a:off x="6615071" y="3838675"/>
              <a:ext cx="1385953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层次为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21" name="AutoShape 9"/>
            <p:cNvSpPr>
              <a:spLocks noChangeShapeType="1"/>
            </p:cNvSpPr>
            <p:nvPr/>
          </p:nvSpPr>
          <p:spPr bwMode="auto">
            <a:xfrm flipV="1">
              <a:off x="6045376" y="4028204"/>
              <a:ext cx="607981" cy="1458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3320" name="Rectangle 8"/>
            <p:cNvSpPr>
              <a:spLocks noChangeArrowheads="1"/>
            </p:cNvSpPr>
            <p:nvPr/>
          </p:nvSpPr>
          <p:spPr bwMode="auto">
            <a:xfrm>
              <a:off x="512286" y="3819722"/>
              <a:ext cx="1416508" cy="45487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19" name="Rectangle 7"/>
            <p:cNvSpPr>
              <a:spLocks noChangeArrowheads="1"/>
            </p:cNvSpPr>
            <p:nvPr/>
          </p:nvSpPr>
          <p:spPr bwMode="auto">
            <a:xfrm>
              <a:off x="2195336" y="3819722"/>
              <a:ext cx="1376531" cy="45487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+2,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18" name="Rectangle 6"/>
            <p:cNvSpPr>
              <a:spLocks noChangeArrowheads="1"/>
            </p:cNvSpPr>
            <p:nvPr/>
          </p:nvSpPr>
          <p:spPr bwMode="auto">
            <a:xfrm>
              <a:off x="4544564" y="3819722"/>
              <a:ext cx="1384757" cy="45487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17" name="Rectangle 5"/>
            <p:cNvSpPr>
              <a:spLocks noChangeArrowheads="1"/>
            </p:cNvSpPr>
            <p:nvPr/>
          </p:nvSpPr>
          <p:spPr bwMode="auto">
            <a:xfrm>
              <a:off x="2653238" y="2226217"/>
              <a:ext cx="797880" cy="45487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16" name="AutoShape 4"/>
            <p:cNvSpPr>
              <a:spLocks noChangeShapeType="1"/>
            </p:cNvSpPr>
            <p:nvPr/>
          </p:nvSpPr>
          <p:spPr bwMode="auto">
            <a:xfrm flipH="1">
              <a:off x="1140176" y="2681088"/>
              <a:ext cx="1692240" cy="11386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3315" name="AutoShape 3"/>
            <p:cNvSpPr>
              <a:spLocks noChangeShapeType="1"/>
            </p:cNvSpPr>
            <p:nvPr/>
          </p:nvSpPr>
          <p:spPr bwMode="auto">
            <a:xfrm flipH="1">
              <a:off x="2823228" y="2681088"/>
              <a:ext cx="133235" cy="11386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3314" name="AutoShape 2"/>
            <p:cNvSpPr>
              <a:spLocks noChangeShapeType="1"/>
            </p:cNvSpPr>
            <p:nvPr/>
          </p:nvSpPr>
          <p:spPr bwMode="auto">
            <a:xfrm>
              <a:off x="3314820" y="2681088"/>
              <a:ext cx="1857636" cy="11386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428604"/>
            <a:ext cx="8572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向量表示，由于参数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与解空间对应结点的层次相同，可以省略参数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6"/>
          <p:cNvGrpSpPr/>
          <p:nvPr/>
        </p:nvGrpSpPr>
        <p:grpSpPr>
          <a:xfrm>
            <a:off x="500034" y="1785926"/>
            <a:ext cx="7488738" cy="2048376"/>
            <a:chOff x="512286" y="2226217"/>
            <a:chExt cx="7488738" cy="2048376"/>
          </a:xfrm>
        </p:grpSpPr>
        <p:sp>
          <p:nvSpPr>
            <p:cNvPr id="8" name="Text Box 16"/>
            <p:cNvSpPr txBox="1">
              <a:spLocks noChangeArrowheads="1"/>
            </p:cNvSpPr>
            <p:nvPr/>
          </p:nvSpPr>
          <p:spPr bwMode="auto">
            <a:xfrm>
              <a:off x="3055146" y="2968298"/>
              <a:ext cx="802474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" name="Text Box 15"/>
            <p:cNvSpPr txBox="1">
              <a:spLocks noChangeArrowheads="1"/>
            </p:cNvSpPr>
            <p:nvPr/>
          </p:nvSpPr>
          <p:spPr bwMode="auto">
            <a:xfrm>
              <a:off x="4086665" y="2797721"/>
              <a:ext cx="802474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1135624" y="2920186"/>
              <a:ext cx="802474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6550751" y="2294740"/>
              <a:ext cx="1159300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层次为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3622639" y="3872207"/>
              <a:ext cx="640142" cy="3134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13" name="AutoShape 11"/>
            <p:cNvSpPr>
              <a:spLocks noChangeShapeType="1"/>
            </p:cNvSpPr>
            <p:nvPr/>
          </p:nvSpPr>
          <p:spPr bwMode="auto">
            <a:xfrm flipV="1">
              <a:off x="3486341" y="2484269"/>
              <a:ext cx="3038376" cy="1458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6615071" y="3838675"/>
              <a:ext cx="1385953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层次为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" name="AutoShape 9"/>
            <p:cNvSpPr>
              <a:spLocks noChangeShapeType="1"/>
            </p:cNvSpPr>
            <p:nvPr/>
          </p:nvSpPr>
          <p:spPr bwMode="auto">
            <a:xfrm flipV="1">
              <a:off x="6045376" y="4028204"/>
              <a:ext cx="607981" cy="1458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512286" y="3819722"/>
              <a:ext cx="936000" cy="45487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2511866" y="3819722"/>
              <a:ext cx="936000" cy="45487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+2,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8" name="Rectangle 6"/>
            <p:cNvSpPr>
              <a:spLocks noChangeArrowheads="1"/>
            </p:cNvSpPr>
            <p:nvPr/>
          </p:nvSpPr>
          <p:spPr bwMode="auto">
            <a:xfrm>
              <a:off x="4544564" y="3819722"/>
              <a:ext cx="936000" cy="45487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2653238" y="2226217"/>
              <a:ext cx="797880" cy="45487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0" name="AutoShape 4"/>
            <p:cNvSpPr>
              <a:spLocks noChangeShapeType="1"/>
            </p:cNvSpPr>
            <p:nvPr/>
          </p:nvSpPr>
          <p:spPr bwMode="auto">
            <a:xfrm flipH="1">
              <a:off x="1140176" y="2681088"/>
              <a:ext cx="1692240" cy="11386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1" name="AutoShape 3"/>
            <p:cNvSpPr>
              <a:spLocks noChangeShapeType="1"/>
            </p:cNvSpPr>
            <p:nvPr/>
          </p:nvSpPr>
          <p:spPr bwMode="auto">
            <a:xfrm flipH="1">
              <a:off x="2992563" y="2703666"/>
              <a:ext cx="0" cy="11386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2" name="AutoShape 2"/>
            <p:cNvSpPr>
              <a:spLocks noChangeShapeType="1"/>
            </p:cNvSpPr>
            <p:nvPr/>
          </p:nvSpPr>
          <p:spPr bwMode="auto">
            <a:xfrm>
              <a:off x="3314820" y="2681088"/>
              <a:ext cx="1857636" cy="11386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714356"/>
            <a:ext cx="8286808" cy="29111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x;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&amp;x)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输出一个解（子集）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  {");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i=0;i&lt;x.size();i++)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printf("%d ",x[i]);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printf("}");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8" y="357166"/>
            <a:ext cx="8929718" cy="480455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&amp;a,int j)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(x);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输出对应的解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j1=j;j1&lt;a.size();j1++)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//j1</a:t>
            </a:r>
            <a:r>
              <a:rPr lang="zh-CN" altLang="zh-CN" sz="2000">
                <a:solidFill>
                  <a:srgbClr val="00B0F0"/>
                </a:solidFill>
                <a:latin typeface="+mj-ea"/>
                <a:ea typeface="+mj-ea"/>
              </a:rPr>
              <a:t>≥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x.push_back(a[j1]);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(a,j1+1);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x.pop_back();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pset2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&amp;a)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求幂集算法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1285860"/>
            <a:ext cx="8143932" cy="140038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解空间树中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恰好有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结点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每个结点都是解结点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输出一个解的时间为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所以算法的时间复杂度为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472" y="571480"/>
            <a:ext cx="3071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pset2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endParaRPr lang="zh-CN" altLang="en-US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1428736"/>
            <a:ext cx="8286808" cy="4016484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pt-BR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5.1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子集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LintCode18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★★）。给定一个可能具有重复数字的数组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，设计一个算法返回其所有可能的子集，子集中的每个元素都是非降序的，两个子集间的顺序是无关紧要的，解集中不能包含重复子集。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nums={1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{{2}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{}}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vector&lt;vector&lt;int&gt; &gt; subsetsWithDup(vector&lt;int&gt; &amp;nums) { 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85786" y="142852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128588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1357298"/>
            <a:ext cx="8215370" cy="242309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利用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5.2.2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pset1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算法的思路求解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先对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递增排序，由于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中存在重复元素，结果子集也一定重复，这里采用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容器实现去重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最后将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中的子集复制到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中，返回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即可。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572560" cy="468087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set&lt;vector&lt;int&gt;&gt; myset;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存放答案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vector&lt;int&gt; x;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subsetsWithDup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&amp;nums)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(nums.begin(),nums.end());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递增排序</a:t>
            </a:r>
          </a:p>
          <a:p>
            <a:pPr algn="l" defTabSz="3600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vector&lt;vector&lt;int&gt;&gt;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for(auto e:myset)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ans.push_back(e);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572560" cy="391142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&amp;nums,int i)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if(i&gt;=nums.size())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myset.insert(x);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x.push_back(nums[i]);   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选择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nums[i]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x.pop_back();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(nums,i+1);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不选择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nums[i]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428596" y="5143512"/>
            <a:ext cx="7000924" cy="461665"/>
            <a:chOff x="1071538" y="6286520"/>
            <a:chExt cx="700092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61ms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5.57MB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128588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282" y="1214422"/>
            <a:ext cx="8715436" cy="245195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利用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5.2.2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pset2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算法的思路求解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先对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递增排序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在考虑求以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开头的子集时，用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遍历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取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值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实现去重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跳过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572560" cy="365039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ans;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存放答案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vector&lt;int&gt; x; 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subsetsWithDup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&amp;nums)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(nums.begin(),nums.end());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572560" cy="414412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 nums,int i)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ans.push_back(x);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 (int j=i;j&lt;nums.size();j++)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if (j!=i &amp;&amp; nums[j]==nums[j-1])   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去重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	continue;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x.push_back(nums[j]);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(nums,j+1);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x.pop_back();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428596" y="5143512"/>
            <a:ext cx="7000924" cy="461665"/>
            <a:chOff x="1071538" y="6286520"/>
            <a:chExt cx="700092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61ms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5.46MB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500042"/>
            <a:ext cx="542928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5.2.3 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子集树回溯算法框架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357298"/>
            <a:ext cx="8572560" cy="46987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x[n];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解向量，全局变量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i)	{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子集树的递归框架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if(i&gt;=n)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搜索到叶子结点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产生一个可能解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(j=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下界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;j&lt;=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上界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;j++){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枚举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所有可能的选择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x[i]=j;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产生一个可能的解分量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zh-CN" altLang="zh-CN" sz="2000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其他操作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if (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constraint(i) &amp;&amp; bound(i)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(i+1);					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满足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提交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继续下一层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071670" y="415333"/>
            <a:ext cx="4500594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5.3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图的路径搜索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1428736"/>
            <a:ext cx="8286808" cy="99001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问题描述：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给定一个含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个顶点的带权无向图以及图中两个顶点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的所有路径及其路径长度。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962019" y="3000372"/>
            <a:ext cx="2000264" cy="2493409"/>
            <a:chOff x="285720" y="1205604"/>
            <a:chExt cx="2000264" cy="2493409"/>
          </a:xfrm>
        </p:grpSpPr>
        <p:sp>
          <p:nvSpPr>
            <p:cNvPr id="6" name="Rectangle 37"/>
            <p:cNvSpPr>
              <a:spLocks noChangeArrowheads="1"/>
            </p:cNvSpPr>
            <p:nvPr/>
          </p:nvSpPr>
          <p:spPr bwMode="auto">
            <a:xfrm>
              <a:off x="285720" y="2016872"/>
              <a:ext cx="312144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7" name="Rectangle 36"/>
            <p:cNvSpPr>
              <a:spLocks noChangeArrowheads="1"/>
            </p:cNvSpPr>
            <p:nvPr/>
          </p:nvSpPr>
          <p:spPr bwMode="auto">
            <a:xfrm>
              <a:off x="1208754" y="1205604"/>
              <a:ext cx="312144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8" name="Rectangle 35"/>
            <p:cNvSpPr>
              <a:spLocks noChangeArrowheads="1"/>
            </p:cNvSpPr>
            <p:nvPr/>
          </p:nvSpPr>
          <p:spPr bwMode="auto">
            <a:xfrm>
              <a:off x="1677639" y="2222256"/>
              <a:ext cx="312144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" name="Rectangle 34"/>
            <p:cNvSpPr>
              <a:spLocks noChangeArrowheads="1"/>
            </p:cNvSpPr>
            <p:nvPr/>
          </p:nvSpPr>
          <p:spPr bwMode="auto">
            <a:xfrm>
              <a:off x="714415" y="2187597"/>
              <a:ext cx="312144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0" name="Oval 29"/>
            <p:cNvSpPr>
              <a:spLocks noChangeArrowheads="1"/>
            </p:cNvSpPr>
            <p:nvPr/>
          </p:nvSpPr>
          <p:spPr bwMode="auto">
            <a:xfrm>
              <a:off x="323231" y="1290325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1" name="Oval 28"/>
            <p:cNvSpPr>
              <a:spLocks noChangeArrowheads="1"/>
            </p:cNvSpPr>
            <p:nvPr/>
          </p:nvSpPr>
          <p:spPr bwMode="auto">
            <a:xfrm>
              <a:off x="1850457" y="1290325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2" name="Oval 27"/>
            <p:cNvSpPr>
              <a:spLocks noChangeArrowheads="1"/>
            </p:cNvSpPr>
            <p:nvPr/>
          </p:nvSpPr>
          <p:spPr bwMode="auto">
            <a:xfrm>
              <a:off x="1092202" y="1880805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" name="Oval 26"/>
            <p:cNvSpPr>
              <a:spLocks noChangeArrowheads="1"/>
            </p:cNvSpPr>
            <p:nvPr/>
          </p:nvSpPr>
          <p:spPr bwMode="auto">
            <a:xfrm>
              <a:off x="323231" y="2620188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4" name="Oval 25"/>
            <p:cNvSpPr>
              <a:spLocks noChangeArrowheads="1"/>
            </p:cNvSpPr>
            <p:nvPr/>
          </p:nvSpPr>
          <p:spPr bwMode="auto">
            <a:xfrm>
              <a:off x="1850457" y="2620188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" name="AutoShape 24"/>
            <p:cNvSpPr>
              <a:spLocks noChangeShapeType="1"/>
            </p:cNvSpPr>
            <p:nvPr/>
          </p:nvSpPr>
          <p:spPr bwMode="auto">
            <a:xfrm>
              <a:off x="702358" y="1472603"/>
              <a:ext cx="1148099" cy="128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6" name="AutoShape 23"/>
            <p:cNvSpPr>
              <a:spLocks noChangeShapeType="1"/>
            </p:cNvSpPr>
            <p:nvPr/>
          </p:nvSpPr>
          <p:spPr bwMode="auto">
            <a:xfrm>
              <a:off x="513464" y="1653598"/>
              <a:ext cx="1340" cy="9665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8" name="AutoShape 22"/>
            <p:cNvSpPr>
              <a:spLocks noChangeShapeType="1"/>
            </p:cNvSpPr>
            <p:nvPr/>
          </p:nvSpPr>
          <p:spPr bwMode="auto">
            <a:xfrm>
              <a:off x="702358" y="2802466"/>
              <a:ext cx="1148099" cy="128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9" name="AutoShape 21"/>
            <p:cNvSpPr>
              <a:spLocks noChangeShapeType="1"/>
            </p:cNvSpPr>
            <p:nvPr/>
          </p:nvSpPr>
          <p:spPr bwMode="auto">
            <a:xfrm flipV="1">
              <a:off x="647431" y="2191448"/>
              <a:ext cx="499698" cy="4813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0" name="AutoShape 20"/>
            <p:cNvSpPr>
              <a:spLocks noChangeShapeType="1"/>
            </p:cNvSpPr>
            <p:nvPr/>
          </p:nvSpPr>
          <p:spPr bwMode="auto">
            <a:xfrm>
              <a:off x="1416403" y="2191448"/>
              <a:ext cx="488980" cy="4813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1" name="Rectangle 8"/>
            <p:cNvSpPr>
              <a:spLocks noChangeArrowheads="1"/>
            </p:cNvSpPr>
            <p:nvPr/>
          </p:nvSpPr>
          <p:spPr bwMode="auto">
            <a:xfrm>
              <a:off x="336761" y="3357562"/>
              <a:ext cx="1949223" cy="3414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(a) 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一个带权图</a:t>
              </a: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2" name="Rectangle 2"/>
            <p:cNvSpPr>
              <a:spLocks noChangeArrowheads="1"/>
            </p:cNvSpPr>
            <p:nvPr/>
          </p:nvSpPr>
          <p:spPr bwMode="auto">
            <a:xfrm>
              <a:off x="1195357" y="2862798"/>
              <a:ext cx="312144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8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</p:grpSp>
      <p:pic>
        <p:nvPicPr>
          <p:cNvPr id="13312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48233" y="3357562"/>
            <a:ext cx="275272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右箭头 22"/>
          <p:cNvSpPr/>
          <p:nvPr/>
        </p:nvSpPr>
        <p:spPr>
          <a:xfrm>
            <a:off x="3676663" y="3857628"/>
            <a:ext cx="642942" cy="357190"/>
          </a:xfrm>
          <a:prstGeom prst="right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285728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773745"/>
            <a:ext cx="8358246" cy="22980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现在要求从顶点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到顶点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的所有路径（默认为简单路径），这是一个求所有解问题，约束条件就是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→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的路径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由于路径是一个顶点序列，所以对应的解向量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表示一条路径。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s=0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t=4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为例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85720" y="3714752"/>
            <a:ext cx="2000264" cy="2493409"/>
            <a:chOff x="285720" y="1205604"/>
            <a:chExt cx="2000264" cy="2493409"/>
          </a:xfrm>
        </p:grpSpPr>
        <p:sp>
          <p:nvSpPr>
            <p:cNvPr id="6" name="Rectangle 37"/>
            <p:cNvSpPr>
              <a:spLocks noChangeArrowheads="1"/>
            </p:cNvSpPr>
            <p:nvPr/>
          </p:nvSpPr>
          <p:spPr bwMode="auto">
            <a:xfrm>
              <a:off x="285720" y="2016872"/>
              <a:ext cx="312144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7" name="Rectangle 36"/>
            <p:cNvSpPr>
              <a:spLocks noChangeArrowheads="1"/>
            </p:cNvSpPr>
            <p:nvPr/>
          </p:nvSpPr>
          <p:spPr bwMode="auto">
            <a:xfrm>
              <a:off x="1208754" y="1205604"/>
              <a:ext cx="312144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8" name="Rectangle 35"/>
            <p:cNvSpPr>
              <a:spLocks noChangeArrowheads="1"/>
            </p:cNvSpPr>
            <p:nvPr/>
          </p:nvSpPr>
          <p:spPr bwMode="auto">
            <a:xfrm>
              <a:off x="1677639" y="2222256"/>
              <a:ext cx="312144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" name="Rectangle 34"/>
            <p:cNvSpPr>
              <a:spLocks noChangeArrowheads="1"/>
            </p:cNvSpPr>
            <p:nvPr/>
          </p:nvSpPr>
          <p:spPr bwMode="auto">
            <a:xfrm>
              <a:off x="714415" y="2187597"/>
              <a:ext cx="312144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0" name="Oval 29"/>
            <p:cNvSpPr>
              <a:spLocks noChangeArrowheads="1"/>
            </p:cNvSpPr>
            <p:nvPr/>
          </p:nvSpPr>
          <p:spPr bwMode="auto">
            <a:xfrm>
              <a:off x="323231" y="1290325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1" name="Oval 28"/>
            <p:cNvSpPr>
              <a:spLocks noChangeArrowheads="1"/>
            </p:cNvSpPr>
            <p:nvPr/>
          </p:nvSpPr>
          <p:spPr bwMode="auto">
            <a:xfrm>
              <a:off x="1850457" y="1290325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2" name="Oval 27"/>
            <p:cNvSpPr>
              <a:spLocks noChangeArrowheads="1"/>
            </p:cNvSpPr>
            <p:nvPr/>
          </p:nvSpPr>
          <p:spPr bwMode="auto">
            <a:xfrm>
              <a:off x="1092202" y="1880805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" name="Oval 26"/>
            <p:cNvSpPr>
              <a:spLocks noChangeArrowheads="1"/>
            </p:cNvSpPr>
            <p:nvPr/>
          </p:nvSpPr>
          <p:spPr bwMode="auto">
            <a:xfrm>
              <a:off x="323231" y="2620188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4" name="Oval 25"/>
            <p:cNvSpPr>
              <a:spLocks noChangeArrowheads="1"/>
            </p:cNvSpPr>
            <p:nvPr/>
          </p:nvSpPr>
          <p:spPr bwMode="auto">
            <a:xfrm>
              <a:off x="1850457" y="2620188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" name="AutoShape 24"/>
            <p:cNvSpPr>
              <a:spLocks noChangeShapeType="1"/>
            </p:cNvSpPr>
            <p:nvPr/>
          </p:nvSpPr>
          <p:spPr bwMode="auto">
            <a:xfrm>
              <a:off x="702358" y="1472603"/>
              <a:ext cx="1148099" cy="128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6" name="AutoShape 23"/>
            <p:cNvSpPr>
              <a:spLocks noChangeShapeType="1"/>
            </p:cNvSpPr>
            <p:nvPr/>
          </p:nvSpPr>
          <p:spPr bwMode="auto">
            <a:xfrm>
              <a:off x="513464" y="1653598"/>
              <a:ext cx="1340" cy="9665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8" name="AutoShape 22"/>
            <p:cNvSpPr>
              <a:spLocks noChangeShapeType="1"/>
            </p:cNvSpPr>
            <p:nvPr/>
          </p:nvSpPr>
          <p:spPr bwMode="auto">
            <a:xfrm>
              <a:off x="702358" y="2802466"/>
              <a:ext cx="1148099" cy="128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9" name="AutoShape 21"/>
            <p:cNvSpPr>
              <a:spLocks noChangeShapeType="1"/>
            </p:cNvSpPr>
            <p:nvPr/>
          </p:nvSpPr>
          <p:spPr bwMode="auto">
            <a:xfrm flipV="1">
              <a:off x="647431" y="2191448"/>
              <a:ext cx="499698" cy="4813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0" name="AutoShape 20"/>
            <p:cNvSpPr>
              <a:spLocks noChangeShapeType="1"/>
            </p:cNvSpPr>
            <p:nvPr/>
          </p:nvSpPr>
          <p:spPr bwMode="auto">
            <a:xfrm>
              <a:off x="1416403" y="2191448"/>
              <a:ext cx="488980" cy="4813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1" name="Rectangle 8"/>
            <p:cNvSpPr>
              <a:spLocks noChangeArrowheads="1"/>
            </p:cNvSpPr>
            <p:nvPr/>
          </p:nvSpPr>
          <p:spPr bwMode="auto">
            <a:xfrm>
              <a:off x="336761" y="3357562"/>
              <a:ext cx="1949223" cy="3414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(a) 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一个带权图</a:t>
              </a: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2" name="Rectangle 2"/>
            <p:cNvSpPr>
              <a:spLocks noChangeArrowheads="1"/>
            </p:cNvSpPr>
            <p:nvPr/>
          </p:nvSpPr>
          <p:spPr bwMode="auto">
            <a:xfrm>
              <a:off x="1195357" y="2862798"/>
              <a:ext cx="312144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8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823055" y="3292542"/>
            <a:ext cx="4535159" cy="3279730"/>
            <a:chOff x="4608841" y="577898"/>
            <a:chExt cx="4535159" cy="3279730"/>
          </a:xfrm>
        </p:grpSpPr>
        <p:sp>
          <p:nvSpPr>
            <p:cNvPr id="24" name="Rectangle 38"/>
            <p:cNvSpPr>
              <a:spLocks noChangeArrowheads="1"/>
            </p:cNvSpPr>
            <p:nvPr/>
          </p:nvSpPr>
          <p:spPr bwMode="auto">
            <a:xfrm>
              <a:off x="5790432" y="874422"/>
              <a:ext cx="542567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5046914" y="2715178"/>
              <a:ext cx="542567" cy="26828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6" name="Rectangle 32"/>
            <p:cNvSpPr>
              <a:spLocks noChangeArrowheads="1"/>
            </p:cNvSpPr>
            <p:nvPr/>
          </p:nvSpPr>
          <p:spPr bwMode="auto">
            <a:xfrm>
              <a:off x="5243845" y="1748588"/>
              <a:ext cx="542567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7" name="Rectangle 31"/>
            <p:cNvSpPr>
              <a:spLocks noChangeArrowheads="1"/>
            </p:cNvSpPr>
            <p:nvPr/>
          </p:nvSpPr>
          <p:spPr bwMode="auto">
            <a:xfrm>
              <a:off x="6377208" y="1679271"/>
              <a:ext cx="542567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8" name="Rectangle 30"/>
            <p:cNvSpPr>
              <a:spLocks noChangeArrowheads="1"/>
            </p:cNvSpPr>
            <p:nvPr/>
          </p:nvSpPr>
          <p:spPr bwMode="auto">
            <a:xfrm>
              <a:off x="4608841" y="909080"/>
              <a:ext cx="542567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9" name="Oval 19"/>
            <p:cNvSpPr>
              <a:spLocks noChangeArrowheads="1"/>
            </p:cNvSpPr>
            <p:nvPr/>
          </p:nvSpPr>
          <p:spPr bwMode="auto">
            <a:xfrm>
              <a:off x="5223750" y="581749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0" name="Oval 18"/>
            <p:cNvSpPr>
              <a:spLocks noChangeArrowheads="1"/>
            </p:cNvSpPr>
            <p:nvPr/>
          </p:nvSpPr>
          <p:spPr bwMode="auto">
            <a:xfrm>
              <a:off x="4679844" y="1359642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1" name="Oval 17"/>
            <p:cNvSpPr>
              <a:spLocks noChangeArrowheads="1"/>
            </p:cNvSpPr>
            <p:nvPr/>
          </p:nvSpPr>
          <p:spPr bwMode="auto">
            <a:xfrm>
              <a:off x="5364416" y="2209419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" name="Oval 16"/>
            <p:cNvSpPr>
              <a:spLocks noChangeArrowheads="1"/>
            </p:cNvSpPr>
            <p:nvPr/>
          </p:nvSpPr>
          <p:spPr bwMode="auto">
            <a:xfrm>
              <a:off x="5826603" y="1359642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3" name="Oval 15"/>
            <p:cNvSpPr>
              <a:spLocks noChangeArrowheads="1"/>
            </p:cNvSpPr>
            <p:nvPr/>
          </p:nvSpPr>
          <p:spPr bwMode="auto">
            <a:xfrm>
              <a:off x="6362471" y="2209419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4" name="AutoShape 14"/>
            <p:cNvSpPr>
              <a:spLocks noChangeShapeType="1"/>
            </p:cNvSpPr>
            <p:nvPr/>
          </p:nvSpPr>
          <p:spPr bwMode="auto">
            <a:xfrm flipH="1">
              <a:off x="4870077" y="892393"/>
              <a:ext cx="408600" cy="4672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5" name="AutoShape 13"/>
            <p:cNvSpPr>
              <a:spLocks noChangeShapeType="1"/>
            </p:cNvSpPr>
            <p:nvPr/>
          </p:nvSpPr>
          <p:spPr bwMode="auto">
            <a:xfrm>
              <a:off x="5547951" y="892393"/>
              <a:ext cx="468885" cy="4672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6" name="AutoShape 12"/>
            <p:cNvSpPr>
              <a:spLocks noChangeShapeType="1"/>
            </p:cNvSpPr>
            <p:nvPr/>
          </p:nvSpPr>
          <p:spPr bwMode="auto">
            <a:xfrm>
              <a:off x="6150803" y="1670286"/>
              <a:ext cx="401902" cy="5391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7" name="Oval 11"/>
            <p:cNvSpPr>
              <a:spLocks noChangeArrowheads="1"/>
            </p:cNvSpPr>
            <p:nvPr/>
          </p:nvSpPr>
          <p:spPr bwMode="auto">
            <a:xfrm>
              <a:off x="5364416" y="3036091"/>
              <a:ext cx="379127" cy="36327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8" name="AutoShape 10"/>
            <p:cNvSpPr>
              <a:spLocks noChangeShapeType="1"/>
            </p:cNvSpPr>
            <p:nvPr/>
          </p:nvSpPr>
          <p:spPr bwMode="auto">
            <a:xfrm flipH="1">
              <a:off x="5554649" y="1670286"/>
              <a:ext cx="326880" cy="5391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9" name="AutoShape 9"/>
            <p:cNvSpPr>
              <a:spLocks noChangeShapeType="1"/>
            </p:cNvSpPr>
            <p:nvPr/>
          </p:nvSpPr>
          <p:spPr bwMode="auto">
            <a:xfrm>
              <a:off x="5554649" y="2572693"/>
              <a:ext cx="1340" cy="4633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40" name="Rectangle 7"/>
            <p:cNvSpPr>
              <a:spLocks noChangeArrowheads="1"/>
            </p:cNvSpPr>
            <p:nvPr/>
          </p:nvSpPr>
          <p:spPr bwMode="auto">
            <a:xfrm>
              <a:off x="4714876" y="3516177"/>
              <a:ext cx="1947682" cy="3414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(b) 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解空间树</a:t>
              </a: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41" name="Rectangle 6"/>
            <p:cNvSpPr>
              <a:spLocks noChangeArrowheads="1"/>
            </p:cNvSpPr>
            <p:nvPr/>
          </p:nvSpPr>
          <p:spPr bwMode="auto">
            <a:xfrm>
              <a:off x="7300242" y="577898"/>
              <a:ext cx="1351729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=1(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根结点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42" name="Rectangle 5"/>
            <p:cNvSpPr>
              <a:spLocks noChangeArrowheads="1"/>
            </p:cNvSpPr>
            <p:nvPr/>
          </p:nvSpPr>
          <p:spPr bwMode="auto">
            <a:xfrm>
              <a:off x="7300242" y="1313431"/>
              <a:ext cx="542567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43" name="Rectangle 4"/>
            <p:cNvSpPr>
              <a:spLocks noChangeArrowheads="1"/>
            </p:cNvSpPr>
            <p:nvPr/>
          </p:nvSpPr>
          <p:spPr bwMode="auto">
            <a:xfrm>
              <a:off x="7300242" y="2222256"/>
              <a:ext cx="542567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44" name="Rectangle 3"/>
            <p:cNvSpPr>
              <a:spLocks noChangeArrowheads="1"/>
            </p:cNvSpPr>
            <p:nvPr/>
          </p:nvSpPr>
          <p:spPr bwMode="auto">
            <a:xfrm>
              <a:off x="7300242" y="3186278"/>
              <a:ext cx="1843758" cy="3350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=4(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叶子结点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</p:grpSp>
      <p:sp>
        <p:nvSpPr>
          <p:cNvPr id="46" name="灯片编号占位符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642918"/>
            <a:ext cx="8143932" cy="199028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为了避免路径中出现重复的顶点，采用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visited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数组判重，在邻接搜索中跳过当前路径中已经出现的顶点。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这里还需要求路径长度，为了简单将路径长度存放在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的末尾。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29111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const int INF=0x3f3f3f3f;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n=5;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 A={{0,5,INF,1,INF},{5,0,INF,INF,INF},	{INF,INF,0,2,3},{1,INF,2,0,8},{INF,INF,3,8,0}};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 ans;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存放答案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x;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visited;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536318"/>
            <a:ext cx="8572560" cy="21417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i,int curlen,int t)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i==t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找到终点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ans.push_back(x);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ans.back().push_back(curlen);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路径末尾添加路径长度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537336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for (int j=0;j&lt;n;j++)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if(i==j || A[i][j]==INF) continue;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if (visited[j]) continue;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</a:t>
            </a:r>
          </a:p>
          <a:p>
            <a:pPr algn="l" defTabSz="360000">
              <a:lnSpc>
                <a:spcPts val="27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visited[j]=1;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//x[i]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选择顶点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x.push_back(j);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置访问标记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curlen+=A[i][j];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增加路径长度</a:t>
            </a:r>
          </a:p>
          <a:p>
            <a:pPr algn="l" defTabSz="360000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(j,curlen,t);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继续搜索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curlen-=A[i][j];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路径长度回溯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x.pop_back();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路径回溯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 visited[j]=0;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访问标记回溯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428604"/>
            <a:ext cx="8286808" cy="503994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allpath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s,int t)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x.push_back(s);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visited=vector&lt;int&gt;(n,0);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visited[s]=1;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(s,0,t);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开始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%d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%d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的所有路径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:\n"); 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输出结果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for(int i=0;i&lt;ans.size();i++)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printf("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%d: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长度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=%d,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:",i+1,ans[i].back());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for(int j=0;j&lt;ans[i].size()-1;j++)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printf(" %d",ans[i][j]);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printf("\n");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290" y="3929066"/>
            <a:ext cx="6567899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5"/>
          <p:cNvSpPr txBox="1"/>
          <p:nvPr/>
        </p:nvSpPr>
        <p:spPr>
          <a:xfrm>
            <a:off x="428596" y="285728"/>
            <a:ext cx="714380" cy="646331"/>
          </a:xfrm>
          <a:prstGeom prst="rect">
            <a:avLst/>
          </a:prstGeom>
          <a:blipFill>
            <a:blip r:embed="rId4" cstate="print"/>
            <a:tile tx="0" ty="0" sx="100000" sy="100000" flip="none" algn="tl"/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程序验证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00" y="928670"/>
            <a:ext cx="6929518" cy="21417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main() {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s=0,t=4;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allpath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(s,t);	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0;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</a:p>
        </p:txBody>
      </p:sp>
      <p:sp>
        <p:nvSpPr>
          <p:cNvPr id="6" name="下箭头 5"/>
          <p:cNvSpPr/>
          <p:nvPr/>
        </p:nvSpPr>
        <p:spPr>
          <a:xfrm>
            <a:off x="4000496" y="3286124"/>
            <a:ext cx="357190" cy="428628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571480"/>
            <a:ext cx="8358246" cy="143885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allpath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：算法中调用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dfs(s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，考虑最坏情况，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的路径为（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 sz="2200">
                <a:solidFill>
                  <a:srgbClr val="0000FF"/>
                </a:solidFill>
                <a:latin typeface="+mn-ea"/>
                <a:ea typeface="+mn-ea"/>
              </a:rPr>
              <a:t>…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可以是除了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外的任意不重复的顶点，所以最坏时间复杂度为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-2)!)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6611"/>
            <a:ext cx="8643998" cy="456977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      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5.2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路径搜索（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LintCode1647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★★）。给定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）个顶点、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）条边的无向图，顶点的编号是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，设计一个算法输出从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点出发到达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点的所有简单路径，输出的简单路径按字典序排序。当一条路径不会经过某个顶点超过一次时，称为简单路径。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g={{0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s=0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t=2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 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条路径，按字典序输出结果是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{{0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     vector&lt;vector&lt;int&gt;&gt; getPath(int n,vector&lt;vector&lt;int&gt;&gt; &amp;g,int s,int t) { 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4786314" y="5357826"/>
            <a:ext cx="1571636" cy="1214446"/>
            <a:chOff x="2510775" y="4296732"/>
            <a:chExt cx="1836434" cy="1557990"/>
          </a:xfrm>
        </p:grpSpPr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2510775" y="4296732"/>
              <a:ext cx="410092" cy="444499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2510775" y="5408727"/>
              <a:ext cx="408595" cy="445995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3938614" y="5408727"/>
              <a:ext cx="407099" cy="445995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3938614" y="4296732"/>
              <a:ext cx="408595" cy="445995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32" name="AutoShape 8"/>
            <p:cNvSpPr>
              <a:spLocks noChangeShapeType="1"/>
            </p:cNvSpPr>
            <p:nvPr/>
          </p:nvSpPr>
          <p:spPr bwMode="auto">
            <a:xfrm>
              <a:off x="2920867" y="4519730"/>
              <a:ext cx="1017747" cy="149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1031" name="AutoShape 7"/>
            <p:cNvSpPr>
              <a:spLocks noChangeShapeType="1"/>
            </p:cNvSpPr>
            <p:nvPr/>
          </p:nvSpPr>
          <p:spPr bwMode="auto">
            <a:xfrm>
              <a:off x="4142163" y="4742728"/>
              <a:ext cx="1497" cy="66600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1030" name="AutoShape 6"/>
            <p:cNvSpPr>
              <a:spLocks noChangeShapeType="1"/>
            </p:cNvSpPr>
            <p:nvPr/>
          </p:nvSpPr>
          <p:spPr bwMode="auto">
            <a:xfrm flipH="1">
              <a:off x="2715821" y="4741231"/>
              <a:ext cx="1497" cy="667496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1029" name="AutoShape 5"/>
            <p:cNvSpPr>
              <a:spLocks noChangeShapeType="1"/>
            </p:cNvSpPr>
            <p:nvPr/>
          </p:nvSpPr>
          <p:spPr bwMode="auto">
            <a:xfrm>
              <a:off x="2919370" y="5631725"/>
              <a:ext cx="1019244" cy="149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1028" name="AutoShape 4"/>
            <p:cNvSpPr>
              <a:spLocks noChangeShapeType="1"/>
            </p:cNvSpPr>
            <p:nvPr/>
          </p:nvSpPr>
          <p:spPr bwMode="auto">
            <a:xfrm flipH="1">
              <a:off x="2859503" y="4676876"/>
              <a:ext cx="1138978" cy="797703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15890" y="142852"/>
            <a:ext cx="1041400" cy="1044575"/>
            <a:chOff x="857224" y="1071546"/>
            <a:chExt cx="1041400" cy="1044575"/>
          </a:xfrm>
        </p:grpSpPr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622228"/>
            <a:ext cx="114300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472" y="1479484"/>
            <a:ext cx="8072494" cy="187807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4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给定的无向图采用邻接矩阵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存放，采用本节前面讨论的路径搜索方法求解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4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在搜索顶点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的相邻点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的顺序试探，所以当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有多条路径时会按照字典序找到这些路径。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252643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A;       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图的邻接矩阵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vector&lt;int&gt; visited;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vector&lt;vector&lt;int&gt;&gt;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int 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545031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getPath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n,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vector&lt;vector&lt;int&gt;&gt; &amp;g,int s,int t)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m=g.size();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A=vector&lt;vector&lt;int&gt;&gt;(n,vector&lt;int&gt;(n,0));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for (int i=0;i&lt;m;i++)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int a=g[i][0],b=g[i][1];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A[a][b]=A[b][a]=1;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this-&gt;t=t;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visited=vector&lt;int&gt;(n,0);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vector&lt;int&gt; 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x.push_back(s);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visited[s]=1;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(n,s,x);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285728"/>
            <a:ext cx="8286808" cy="545031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n,int i,vector&lt;int&gt;&amp;x)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if (i==t)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  		ans.push_back(x);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  		for (int j=0;j&lt;n;j++)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    		if(i==j || A[i][j]==0) continue;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if (visited[j]) continue;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       	visited[j]=1;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x.push_back(j);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(n,j,x);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x.pop_back();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visited[j]=0;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642910" y="6072206"/>
            <a:ext cx="7034791" cy="461665"/>
            <a:chOff x="1071538" y="6286520"/>
            <a:chExt cx="7034791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91223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40ms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5.39MB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622228"/>
            <a:ext cx="114300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282" y="1479484"/>
            <a:ext cx="8715436" cy="147732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4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给定的无向图采用邻接表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的类型为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的所有出边邻接点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4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其他同解法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8728" y="3500438"/>
            <a:ext cx="13573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代码略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428860" y="571480"/>
            <a:ext cx="4000528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5.4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构造表达式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1571612"/>
            <a:ext cx="8215370" cy="196464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5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问题描述：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设计一个算法在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9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（顺序不能变）数字之间插入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或什么都不插入，使得计算结果总是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，并求所有的可能性。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5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1+2+34–5+67–8+9=100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9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2928926" y="2714620"/>
            <a:ext cx="2500330" cy="2556675"/>
            <a:chOff x="2928926" y="2714620"/>
            <a:chExt cx="2500330" cy="2556675"/>
          </a:xfrm>
        </p:grpSpPr>
        <p:sp>
          <p:nvSpPr>
            <p:cNvPr id="54291" name="Rectangle 19"/>
            <p:cNvSpPr>
              <a:spLocks noChangeArrowheads="1"/>
            </p:cNvSpPr>
            <p:nvPr/>
          </p:nvSpPr>
          <p:spPr bwMode="auto">
            <a:xfrm>
              <a:off x="2933154" y="3213552"/>
              <a:ext cx="304437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: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90" name="Rectangle 18"/>
            <p:cNvSpPr>
              <a:spLocks noChangeArrowheads="1"/>
            </p:cNvSpPr>
            <p:nvPr/>
          </p:nvSpPr>
          <p:spPr bwMode="auto">
            <a:xfrm>
              <a:off x="3419408" y="3213552"/>
              <a:ext cx="305846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9" name="Rectangle 17"/>
            <p:cNvSpPr>
              <a:spLocks noChangeArrowheads="1"/>
            </p:cNvSpPr>
            <p:nvPr/>
          </p:nvSpPr>
          <p:spPr bwMode="auto">
            <a:xfrm>
              <a:off x="3985999" y="3213552"/>
              <a:ext cx="305846" cy="3368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8" name="Rectangle 16"/>
            <p:cNvSpPr>
              <a:spLocks noChangeArrowheads="1"/>
            </p:cNvSpPr>
            <p:nvPr/>
          </p:nvSpPr>
          <p:spPr bwMode="auto">
            <a:xfrm>
              <a:off x="4556818" y="3213552"/>
              <a:ext cx="305846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7" name="Rectangle 15"/>
            <p:cNvSpPr>
              <a:spLocks noChangeArrowheads="1"/>
            </p:cNvSpPr>
            <p:nvPr/>
          </p:nvSpPr>
          <p:spPr bwMode="auto">
            <a:xfrm>
              <a:off x="5123410" y="3213552"/>
              <a:ext cx="305846" cy="3368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54286" name="Rectangle 14"/>
            <p:cNvSpPr>
              <a:spLocks noChangeArrowheads="1"/>
            </p:cNvSpPr>
            <p:nvPr/>
          </p:nvSpPr>
          <p:spPr bwMode="auto">
            <a:xfrm>
              <a:off x="2928926" y="2714620"/>
              <a:ext cx="304437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: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5" name="Rectangle 13"/>
            <p:cNvSpPr>
              <a:spLocks noChangeArrowheads="1"/>
            </p:cNvSpPr>
            <p:nvPr/>
          </p:nvSpPr>
          <p:spPr bwMode="auto">
            <a:xfrm>
              <a:off x="3415180" y="2714620"/>
              <a:ext cx="305846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4" name="Rectangle 12"/>
            <p:cNvSpPr>
              <a:spLocks noChangeArrowheads="1"/>
            </p:cNvSpPr>
            <p:nvPr/>
          </p:nvSpPr>
          <p:spPr bwMode="auto">
            <a:xfrm>
              <a:off x="3981771" y="2714620"/>
              <a:ext cx="305846" cy="3368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3" name="Rectangle 11"/>
            <p:cNvSpPr>
              <a:spLocks noChangeArrowheads="1"/>
            </p:cNvSpPr>
            <p:nvPr/>
          </p:nvSpPr>
          <p:spPr bwMode="auto">
            <a:xfrm>
              <a:off x="4552590" y="2714620"/>
              <a:ext cx="305846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2" name="Rectangle 10"/>
            <p:cNvSpPr>
              <a:spLocks noChangeArrowheads="1"/>
            </p:cNvSpPr>
            <p:nvPr/>
          </p:nvSpPr>
          <p:spPr bwMode="auto">
            <a:xfrm>
              <a:off x="5119181" y="2714620"/>
              <a:ext cx="305846" cy="3368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54281" name="Rectangle 9"/>
            <p:cNvSpPr>
              <a:spLocks noChangeArrowheads="1"/>
            </p:cNvSpPr>
            <p:nvPr/>
          </p:nvSpPr>
          <p:spPr bwMode="auto">
            <a:xfrm>
              <a:off x="2928926" y="3780136"/>
              <a:ext cx="304437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: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0" name="Rectangle 8"/>
            <p:cNvSpPr>
              <a:spLocks noChangeArrowheads="1"/>
            </p:cNvSpPr>
            <p:nvPr/>
          </p:nvSpPr>
          <p:spPr bwMode="auto">
            <a:xfrm>
              <a:off x="3981771" y="3780136"/>
              <a:ext cx="305846" cy="3368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79" name="Rectangle 7"/>
            <p:cNvSpPr>
              <a:spLocks noChangeArrowheads="1"/>
            </p:cNvSpPr>
            <p:nvPr/>
          </p:nvSpPr>
          <p:spPr bwMode="auto">
            <a:xfrm>
              <a:off x="4552590" y="3780136"/>
              <a:ext cx="305846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78" name="Rectangle 6"/>
            <p:cNvSpPr>
              <a:spLocks noChangeArrowheads="1"/>
            </p:cNvSpPr>
            <p:nvPr/>
          </p:nvSpPr>
          <p:spPr bwMode="auto">
            <a:xfrm>
              <a:off x="5119181" y="3780136"/>
              <a:ext cx="305846" cy="3368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54277" name="AutoShape 5"/>
            <p:cNvSpPr>
              <a:spLocks noChangeArrowheads="1"/>
            </p:cNvSpPr>
            <p:nvPr/>
          </p:nvSpPr>
          <p:spPr bwMode="auto">
            <a:xfrm>
              <a:off x="3981771" y="4377727"/>
              <a:ext cx="217052" cy="411549"/>
            </a:xfrm>
            <a:prstGeom prst="downArrow">
              <a:avLst>
                <a:gd name="adj1" fmla="val 50000"/>
                <a:gd name="adj2" fmla="val 47403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0" tIns="2880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54276" name="Rectangle 4"/>
            <p:cNvSpPr>
              <a:spLocks noChangeArrowheads="1"/>
            </p:cNvSpPr>
            <p:nvPr/>
          </p:nvSpPr>
          <p:spPr bwMode="auto">
            <a:xfrm>
              <a:off x="3481423" y="4935855"/>
              <a:ext cx="1272716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1+2-3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Times New Roman" pitchFamily="18" charset="0"/>
                </a:rPr>
                <a:t>…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  <a:cs typeface="宋体" pitchFamily="2" charset="-122"/>
              </a:endParaRPr>
            </a:p>
          </p:txBody>
        </p:sp>
        <p:sp>
          <p:nvSpPr>
            <p:cNvPr id="54275" name="AutoShape 3"/>
            <p:cNvSpPr>
              <a:spLocks noChangeShapeType="1"/>
            </p:cNvSpPr>
            <p:nvPr/>
          </p:nvSpPr>
          <p:spPr bwMode="auto">
            <a:xfrm flipH="1" flipV="1">
              <a:off x="3716798" y="3432011"/>
              <a:ext cx="264973" cy="411549"/>
            </a:xfrm>
            <a:prstGeom prst="straightConnector1">
              <a:avLst/>
            </a:prstGeom>
            <a:noFill/>
            <a:ln w="28575">
              <a:solidFill>
                <a:srgbClr val="00B0F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54274" name="AutoShape 2"/>
            <p:cNvSpPr>
              <a:spLocks noChangeShapeType="1"/>
            </p:cNvSpPr>
            <p:nvPr/>
          </p:nvSpPr>
          <p:spPr bwMode="auto">
            <a:xfrm flipH="1" flipV="1">
              <a:off x="4321443" y="3478522"/>
              <a:ext cx="264973" cy="411549"/>
            </a:xfrm>
            <a:prstGeom prst="straightConnector1">
              <a:avLst/>
            </a:prstGeom>
            <a:noFill/>
            <a:ln w="28575">
              <a:solidFill>
                <a:srgbClr val="00B0F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571472" y="1285860"/>
            <a:ext cx="8143932" cy="83099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9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的整数，设计解向量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前面插入的运算符，其示意图如图所示。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8596" y="622228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500042"/>
            <a:ext cx="8643998" cy="181075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只能取值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'+'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'-'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或者空格（三选一）。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设计回溯算法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dfs(sum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prev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表示考虑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取值时前面表达式的计算结果，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prev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表示考虑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取值时前面的运算数，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开始（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[0]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前面没有运算符）：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348" y="2500306"/>
            <a:ext cx="8001056" cy="332398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取值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'+'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sum+=a[i]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prev=a[i]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，继续搜索下一层，返回时恢复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prev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取值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'-'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sum-=a[i]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prev=-a[i]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，继续搜索下一层，返回时恢复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prev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取值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' '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，则需要合并整数，所以需要先执行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sum-=prev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减去前面的元素值，再执行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tmp=prev*10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±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a[i]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（±为原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prev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的符号）得到合并整数，最后执行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sum+=tmp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得到合并结果（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tmp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为新的前面的运算数）。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285728"/>
            <a:ext cx="8286808" cy="593948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#define N 9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a[N];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vector&lt;string&gt; ans;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存放答案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char x[N];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sum,int prev,int i)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(i==N)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sum==100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找到一个解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string s=to_string(a[0]);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for (int j=1;j&lt;N;j++)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if (x[j]!=' ') s+=x[j];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s+=to_string(a[j]);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s+="=100";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ans.push_back(s);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71414"/>
            <a:ext cx="8786874" cy="670706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x[i]='+';								//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位置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插入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'+'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sum+=a[i];								//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计算当前表达式值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33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(sum,a[i],i+1);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sum-=a[i];								//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x[i]='-';								//</a:t>
            </a:r>
            <a:r>
              <a:rPr lang="zh-CN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位置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插入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'-'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	sum-=a[i];								//</a:t>
            </a:r>
            <a:r>
              <a:rPr lang="zh-CN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计算当前表达式值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33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(sum,-a[i],i+1);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	sum+=a[i];								//</a:t>
            </a:r>
            <a:r>
              <a:rPr lang="zh-CN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x[i]=' ';								//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位置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插入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' '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sum-=prev;								//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先减去前面的元素值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int tmp;								//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计算新合并值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if (prev&gt;0)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	tmp=prev*10+a[i];				//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如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prev=2,a[i]=3,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结果为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23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else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	tmp=prev*10-a[i];				//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如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prev=-2,a[i]=3,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结果为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-23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sum+=tmp;								//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计算合并结果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33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(sum,tmp,i+1);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sum-=tmp;								//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回溯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sum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sum+=prev;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285728"/>
            <a:ext cx="8286808" cy="32958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3300"/>
                </a:solidFill>
                <a:latin typeface="Consolas" pitchFamily="49" charset="0"/>
                <a:ea typeface="仿宋" pitchFamily="49" charset="-122"/>
              </a:rPr>
              <a:t>express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i=0;i&lt;N;i++)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赋值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1,2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 sz="2000">
                <a:solidFill>
                  <a:srgbClr val="00B0F0"/>
                </a:solidFill>
                <a:latin typeface="+mj-ea"/>
                <a:ea typeface="+mj-ea"/>
              </a:rPr>
              <a:t>…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,9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a[i]=i+1;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33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(a[0],a[0],1);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插入位置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开始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求解结果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i=0;i&lt;ans.size();i++)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cout &lt;&lt; "  (" &lt;&lt; i+1 &lt;&lt; ") " &lt;&lt; ans[i] &lt;&lt; endl;	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428604"/>
            <a:ext cx="7358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调用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express()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算法的输出结果如下：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472" y="1214422"/>
            <a:ext cx="5214974" cy="2383666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求解结果</a:t>
            </a:r>
          </a:p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(1) 1+2+3-4+5+6+78+9=100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(2) 1+2+34-5+67-8+9=100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(3) 1+23-4+5+6+78-9=100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zh-CN" altLang="zh-CN" sz="2200">
                <a:solidFill>
                  <a:srgbClr val="0000FF"/>
                </a:solidFill>
                <a:latin typeface="+mn-ea"/>
                <a:ea typeface="+mn-ea"/>
              </a:rPr>
              <a:t>…</a:t>
            </a:r>
          </a:p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(11) 123-45-67+89=100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714356"/>
            <a:ext cx="8072494" cy="128843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express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9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之间有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8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个位置，每个位置可以插入的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个运算符之一，所以执行时间为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8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，如果给定整数是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O(3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1159923"/>
            <a:ext cx="8286808" cy="455509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5.3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目标和（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LintCode1208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★★）。给定一个含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个整数的数组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）和一个整数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-1000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）。向数组中的每个整数前添加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'+'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'-'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，然后串联起所有整数，可以构造一个表达式，例如，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nums={2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，可以在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之前添加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'+'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之前添加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'-'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，然后串联起来得到表达式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"+2-1"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设计一个算法求可以通过上述方法构造的运算结果等于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的不同表达式的数目。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     int findTargetSumWays(vector&lt;int&gt;&amp; nums, int s) { 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85786" y="142852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357166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142984"/>
            <a:ext cx="8572560" cy="446276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表示满足要求的解个数（初始为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设置解向量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）前面添加的符号，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只能在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'+'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'-'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符号在二选一，所以该问题的解空间为子集树。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expv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表示当前运算结果（初始为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）。对于解空间中第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层的结点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选择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'+'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expv+=nums[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选择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'-'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expv-=nums[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，在回退到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时要恢复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expv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当到达一个叶子结点时，如果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expv=s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，说明找到一个解，置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ans++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由于该问题只需要求最后的解个数，所以不必真正设计解向量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，仅仅设计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expv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即可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306690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ans;               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存放解个数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findTargetSumWays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 nums,int s)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ans=0;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(nums,s,0,0);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380192"/>
            <a:ext cx="8643998" cy="483475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void 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 nums,int s,int i,int expv) {     	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(i==nums.size())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if(expv==s) ans++;      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找到一个解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expv+=nums[i];        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//nums[i]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前选择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'+'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(nums,s,i+1,expv);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expv-=nums[i];    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回溯：恢复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expv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expv-=nums[i];         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//nums[i]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前选择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'-'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(nums,s,i+1,expv);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expv+=nums[i];           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回溯：恢复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expv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4" name="组合 9"/>
          <p:cNvGrpSpPr/>
          <p:nvPr/>
        </p:nvGrpSpPr>
        <p:grpSpPr>
          <a:xfrm>
            <a:off x="1000100" y="5643578"/>
            <a:ext cx="6643734" cy="461665"/>
            <a:chOff x="1071538" y="6286520"/>
            <a:chExt cx="664373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57864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163ms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5.59MB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143108" y="285728"/>
            <a:ext cx="428628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5.5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图的</a:t>
            </a:r>
            <a:r>
              <a:rPr lang="pt-BR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m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着色问题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1214422"/>
            <a:ext cx="8215370" cy="313162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问题描述：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给定一个连通图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种不同的颜色。用这些颜色为图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的各顶点着色，每个顶点着一种颜色。如果有一种着色法使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中每条边的两个顶点着不同颜色，则称这个图是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可着色的。图的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着色问题是给定图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种颜色，找出所有不同的着色方案数。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例如，如图所示无向连通图，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时的不同的着色方案数为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7101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722996" y="4714884"/>
            <a:ext cx="1697744" cy="1550937"/>
            <a:chOff x="2722996" y="4866143"/>
            <a:chExt cx="1697744" cy="1550937"/>
          </a:xfrm>
        </p:grpSpPr>
        <p:sp>
          <p:nvSpPr>
            <p:cNvPr id="171017" name="Oval 9"/>
            <p:cNvSpPr>
              <a:spLocks noChangeArrowheads="1"/>
            </p:cNvSpPr>
            <p:nvPr/>
          </p:nvSpPr>
          <p:spPr bwMode="auto">
            <a:xfrm>
              <a:off x="2722996" y="5452985"/>
              <a:ext cx="356317" cy="3562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1016" name="Oval 8"/>
            <p:cNvSpPr>
              <a:spLocks noChangeArrowheads="1"/>
            </p:cNvSpPr>
            <p:nvPr/>
          </p:nvSpPr>
          <p:spPr bwMode="auto">
            <a:xfrm>
              <a:off x="3393710" y="6060784"/>
              <a:ext cx="355269" cy="3562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1015" name="Oval 7"/>
            <p:cNvSpPr>
              <a:spLocks noChangeArrowheads="1"/>
            </p:cNvSpPr>
            <p:nvPr/>
          </p:nvSpPr>
          <p:spPr bwMode="auto">
            <a:xfrm>
              <a:off x="3372750" y="4866143"/>
              <a:ext cx="354221" cy="3562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1014" name="Oval 6"/>
            <p:cNvSpPr>
              <a:spLocks noChangeArrowheads="1"/>
            </p:cNvSpPr>
            <p:nvPr/>
          </p:nvSpPr>
          <p:spPr bwMode="auto">
            <a:xfrm>
              <a:off x="4065471" y="5452985"/>
              <a:ext cx="355269" cy="3562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1013" name="AutoShape 5"/>
            <p:cNvSpPr>
              <a:spLocks noChangeShapeType="1"/>
            </p:cNvSpPr>
            <p:nvPr/>
          </p:nvSpPr>
          <p:spPr bwMode="auto">
            <a:xfrm>
              <a:off x="3079313" y="5631133"/>
              <a:ext cx="986159" cy="10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171012" name="AutoShape 4"/>
            <p:cNvSpPr>
              <a:spLocks noChangeShapeType="1"/>
            </p:cNvSpPr>
            <p:nvPr/>
          </p:nvSpPr>
          <p:spPr bwMode="auto">
            <a:xfrm flipV="1">
              <a:off x="3026913" y="5170043"/>
              <a:ext cx="397188" cy="3353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171011" name="AutoShape 3"/>
            <p:cNvSpPr>
              <a:spLocks noChangeShapeType="1"/>
            </p:cNvSpPr>
            <p:nvPr/>
          </p:nvSpPr>
          <p:spPr bwMode="auto">
            <a:xfrm>
              <a:off x="3026913" y="5756884"/>
              <a:ext cx="419196" cy="3562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171010" name="AutoShape 2"/>
            <p:cNvSpPr>
              <a:spLocks noChangeShapeType="1"/>
            </p:cNvSpPr>
            <p:nvPr/>
          </p:nvSpPr>
          <p:spPr bwMode="auto">
            <a:xfrm flipH="1">
              <a:off x="3696579" y="5756884"/>
              <a:ext cx="421292" cy="3562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357166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071546"/>
            <a:ext cx="8286808" cy="4397999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对于连通图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，采用邻接矩阵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存放，这里的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0/1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矩阵。图中的顶点编号为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种颜色，颜色编号为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设计解向量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，其中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的着色，图中每个顶点可能的着色为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（初始时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置为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表示未着色），所以有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，相当于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选一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对应的解空间是一棵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叉树，高度为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开始，当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时对应一个叶子结点，表示找到一种着色方案，将着色方案数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486226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n=4;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A[MAXN][MAXN]={{0,1,1,1},{1,0,0,0},{1,0,0,1},{1,0,1,0}};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ans=0;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全局变量，累计解个数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x[MAXN];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全局变量，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表示顶点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的着色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bool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judge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i,int j)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判断顶点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是否可以着色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k=0;k&lt;n;k++)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	if(A[i][k]==1 &amp;&amp; x[k]==j)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存在相同颜色的顶点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return false;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return true;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00166" y="5715016"/>
            <a:ext cx="3429024" cy="857256"/>
            <a:chOff x="857224" y="3929066"/>
            <a:chExt cx="3429024" cy="857256"/>
          </a:xfrm>
        </p:grpSpPr>
        <p:sp>
          <p:nvSpPr>
            <p:cNvPr id="5" name="椭圆 4"/>
            <p:cNvSpPr/>
            <p:nvPr/>
          </p:nvSpPr>
          <p:spPr>
            <a:xfrm>
              <a:off x="1357290" y="4357694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</a:rPr>
                <a:t>i</a:t>
              </a:r>
              <a:endParaRPr lang="zh-CN" altLang="en-US" sz="2000" i="1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3000364" y="4357694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</a:rPr>
                <a:t>k</a:t>
              </a:r>
              <a:endParaRPr lang="zh-CN" altLang="en-US" sz="2000" i="1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cxnSp>
          <p:nvCxnSpPr>
            <p:cNvPr id="7" name="直接连接符 6"/>
            <p:cNvCxnSpPr>
              <a:stCxn id="5" idx="6"/>
              <a:endCxn id="6" idx="2"/>
            </p:cNvCxnSpPr>
            <p:nvPr/>
          </p:nvCxnSpPr>
          <p:spPr>
            <a:xfrm>
              <a:off x="1785918" y="4572008"/>
              <a:ext cx="1214446" cy="0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857224" y="3929066"/>
              <a:ext cx="1000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颜色</a:t>
              </a:r>
              <a:r>
                <a:rPr lang="en-US" altLang="zh-CN" sz="20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endParaRPr lang="zh-CN" altLang="en-US" sz="20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928926" y="3929066"/>
              <a:ext cx="13573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颜色</a:t>
              </a:r>
              <a:r>
                <a:rPr lang="en-US" altLang="zh-CN" sz="20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[</a:t>
              </a:r>
              <a:r>
                <a:rPr lang="en-US" altLang="zh-CN" sz="20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k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]</a:t>
              </a:r>
              <a:endParaRPr lang="zh-CN" altLang="en-US" sz="20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643998" cy="450319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m,int i)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(i&gt;=n)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ans++;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着色方案数增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(int j=0;j&lt;m;j++)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试探每一种着色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x[i]=j;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if (judge(i,j))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可以着色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，进入下一个顶点着色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(m,i+1);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x[i]=-1;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21417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color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m)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求解算法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memset(x,0xff,sizeof(x));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初始化所有元素为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(m,0);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着色方案数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:%d\n",ans);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857232"/>
            <a:ext cx="8286808" cy="132343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color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算法分析：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算法中每个顶点试探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种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颜色，解空间树是一棵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叉树（子集树），每个结点判断当前着色是否合适的时间为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，所以算法的时间复杂度为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1652955"/>
            <a:ext cx="8286808" cy="249042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5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5.4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频道分配（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POJ1129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5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时间限制为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1000ms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，内存限制为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10000KB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algn="l" defTabSz="360000">
              <a:lnSpc>
                <a:spcPts val="35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：在非常大的区域广播时需要利用中继器加强信号，每个中继器使用不同的频道以便不会相互干扰，给定一个中继器网络的描述，求所需的最小频道数目。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14348" y="357166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500042"/>
            <a:ext cx="8643998" cy="563231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输入格式：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输入包含多个中继器网络描述，每个描述以包含中继器个数的行开头，个数介于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之间，中继器由以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开头的连续大写字母表示。例如，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个中继器的名称为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，输入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表示结束。在中继器个数之后是相邻关系列表，每行具有形如“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A:BCDH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”的格式，表示中继器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H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与中继器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相邻，第一行描述与中继器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相邻的那些中继器，第二行描述与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相邻的那些中继器，以此类推。如果一个中继器不与任何其他中继器相邻，则形如“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A: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”。中继器按字母顺序列出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注意相邻关系是对称的，如果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相邻，则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必然与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相邻。另外，由于中继器位于一个平面内，连接相邻中继器形成的图形没有任何相交的线段。</a:t>
            </a: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输出格式：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对于每个中继器网络描述，输出一行包含所需的最小频道数。样例输出显示了这一行的格式，当只需要一个通道时，请注意通道是单数形式。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358246" cy="6490289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输入样例：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A:BC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B:ACD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C:ABD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D:BC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A:BCD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B:ACD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C:ABD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D:ABC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输出样例：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 channel needed.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 channels needed.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 channels needed.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357166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071546"/>
            <a:ext cx="8286808" cy="308994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每个中继器网络描述可以建立这样的无向图，每个中继器看成一个顶点，相邻关系用一条无向边表示，如果将边看成着色关系，同一条边的两个顶点不能着相同的元素，这样就转换为图着色问题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表示当前颜色数目（颜色编号为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），实际上是求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可着色的最小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minm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表示（初始为∞，实际上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色问题说明最多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种颜色即可，所以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minm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可以初始为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571480"/>
            <a:ext cx="8143932" cy="398763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作为解向量（所有元素初始化为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开始试探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与前面讨论的图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着色问题求解过程相比，在为顶点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选择颜色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循环试探，试探成功就继续走下去，否则回溯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除此之外增加另外一种选择即增加一种颜色，置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，然后在颜色增加的情况下继续走下去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时说明找到了一种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着色方案，置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minm=min(minm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，最后输出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minm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即可。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429124" y="214290"/>
            <a:ext cx="1697744" cy="1550937"/>
            <a:chOff x="2722996" y="4866143"/>
            <a:chExt cx="1697744" cy="1550937"/>
          </a:xfrm>
        </p:grpSpPr>
        <p:sp>
          <p:nvSpPr>
            <p:cNvPr id="4" name="Oval 9"/>
            <p:cNvSpPr>
              <a:spLocks noChangeArrowheads="1"/>
            </p:cNvSpPr>
            <p:nvPr/>
          </p:nvSpPr>
          <p:spPr bwMode="auto">
            <a:xfrm>
              <a:off x="2722996" y="5452985"/>
              <a:ext cx="356317" cy="3562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" name="Oval 8"/>
            <p:cNvSpPr>
              <a:spLocks noChangeArrowheads="1"/>
            </p:cNvSpPr>
            <p:nvPr/>
          </p:nvSpPr>
          <p:spPr bwMode="auto">
            <a:xfrm>
              <a:off x="3393710" y="6060784"/>
              <a:ext cx="355269" cy="3562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" name="Oval 7"/>
            <p:cNvSpPr>
              <a:spLocks noChangeArrowheads="1"/>
            </p:cNvSpPr>
            <p:nvPr/>
          </p:nvSpPr>
          <p:spPr bwMode="auto">
            <a:xfrm>
              <a:off x="3372750" y="4866143"/>
              <a:ext cx="354221" cy="3562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4065471" y="5452985"/>
              <a:ext cx="355269" cy="3562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" name="AutoShape 5"/>
            <p:cNvSpPr>
              <a:spLocks noChangeShapeType="1"/>
            </p:cNvSpPr>
            <p:nvPr/>
          </p:nvSpPr>
          <p:spPr bwMode="auto">
            <a:xfrm>
              <a:off x="3079313" y="5631133"/>
              <a:ext cx="986159" cy="10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9" name="AutoShape 4"/>
            <p:cNvSpPr>
              <a:spLocks noChangeShapeType="1"/>
            </p:cNvSpPr>
            <p:nvPr/>
          </p:nvSpPr>
          <p:spPr bwMode="auto">
            <a:xfrm flipV="1">
              <a:off x="3026913" y="5170043"/>
              <a:ext cx="397188" cy="3353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10" name="AutoShape 3"/>
            <p:cNvSpPr>
              <a:spLocks noChangeShapeType="1"/>
            </p:cNvSpPr>
            <p:nvPr/>
          </p:nvSpPr>
          <p:spPr bwMode="auto">
            <a:xfrm>
              <a:off x="3026913" y="5756884"/>
              <a:ext cx="419196" cy="3562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11" name="AutoShape 2"/>
            <p:cNvSpPr>
              <a:spLocks noChangeShapeType="1"/>
            </p:cNvSpPr>
            <p:nvPr/>
          </p:nvSpPr>
          <p:spPr bwMode="auto">
            <a:xfrm flipH="1">
              <a:off x="3696579" y="5756884"/>
              <a:ext cx="421292" cy="3562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sp>
        <p:nvSpPr>
          <p:cNvPr id="13360" name="Rectangle 4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358" name="Rectangle 46"/>
          <p:cNvSpPr>
            <a:spLocks noChangeArrowheads="1"/>
          </p:cNvSpPr>
          <p:nvPr/>
        </p:nvSpPr>
        <p:spPr bwMode="auto">
          <a:xfrm>
            <a:off x="692349" y="2771990"/>
            <a:ext cx="862763" cy="3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9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57" name="Rectangle 45"/>
          <p:cNvSpPr>
            <a:spLocks noChangeArrowheads="1"/>
          </p:cNvSpPr>
          <p:nvPr/>
        </p:nvSpPr>
        <p:spPr bwMode="auto">
          <a:xfrm>
            <a:off x="2703447" y="2771990"/>
            <a:ext cx="862763" cy="3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9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56" name="Rectangle 44"/>
          <p:cNvSpPr>
            <a:spLocks noChangeArrowheads="1"/>
          </p:cNvSpPr>
          <p:nvPr/>
        </p:nvSpPr>
        <p:spPr bwMode="auto">
          <a:xfrm>
            <a:off x="1499206" y="3983162"/>
            <a:ext cx="562080" cy="3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9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55" name="Rectangle 43"/>
          <p:cNvSpPr>
            <a:spLocks noChangeArrowheads="1"/>
          </p:cNvSpPr>
          <p:nvPr/>
        </p:nvSpPr>
        <p:spPr bwMode="auto">
          <a:xfrm>
            <a:off x="2703447" y="4206377"/>
            <a:ext cx="716199" cy="3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9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54" name="Rectangle 42"/>
          <p:cNvSpPr>
            <a:spLocks noChangeArrowheads="1"/>
          </p:cNvSpPr>
          <p:nvPr/>
        </p:nvSpPr>
        <p:spPr bwMode="auto">
          <a:xfrm>
            <a:off x="4788583" y="3899952"/>
            <a:ext cx="571146" cy="3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9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=2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53" name="Rectangle 41"/>
          <p:cNvSpPr>
            <a:spLocks noChangeArrowheads="1"/>
          </p:cNvSpPr>
          <p:nvPr/>
        </p:nvSpPr>
        <p:spPr bwMode="auto">
          <a:xfrm>
            <a:off x="1005120" y="5286791"/>
            <a:ext cx="649716" cy="3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9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52" name="Rectangle 40"/>
          <p:cNvSpPr>
            <a:spLocks noChangeArrowheads="1"/>
          </p:cNvSpPr>
          <p:nvPr/>
        </p:nvSpPr>
        <p:spPr bwMode="auto">
          <a:xfrm>
            <a:off x="1721318" y="5401700"/>
            <a:ext cx="518262" cy="3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9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51" name="Rectangle 39"/>
          <p:cNvSpPr>
            <a:spLocks noChangeArrowheads="1"/>
          </p:cNvSpPr>
          <p:nvPr/>
        </p:nvSpPr>
        <p:spPr bwMode="auto">
          <a:xfrm>
            <a:off x="2794105" y="5191693"/>
            <a:ext cx="557547" cy="3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9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=2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50" name="Rectangle 38"/>
          <p:cNvSpPr>
            <a:spLocks noChangeArrowheads="1"/>
          </p:cNvSpPr>
          <p:nvPr/>
        </p:nvSpPr>
        <p:spPr bwMode="auto">
          <a:xfrm>
            <a:off x="4551361" y="5175844"/>
            <a:ext cx="577190" cy="3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9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49" name="Rectangle 37"/>
          <p:cNvSpPr>
            <a:spLocks noChangeArrowheads="1"/>
          </p:cNvSpPr>
          <p:nvPr/>
        </p:nvSpPr>
        <p:spPr bwMode="auto">
          <a:xfrm>
            <a:off x="5441321" y="5484911"/>
            <a:ext cx="559058" cy="3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9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6777016" y="5156032"/>
            <a:ext cx="557547" cy="3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9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=3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47" name="Rectangle 35"/>
          <p:cNvSpPr>
            <a:spLocks noChangeArrowheads="1"/>
          </p:cNvSpPr>
          <p:nvPr/>
        </p:nvSpPr>
        <p:spPr bwMode="auto">
          <a:xfrm>
            <a:off x="6177162" y="5397738"/>
            <a:ext cx="559058" cy="3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9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=2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46" name="Rectangle 34"/>
          <p:cNvSpPr>
            <a:spLocks noChangeArrowheads="1"/>
          </p:cNvSpPr>
          <p:nvPr/>
        </p:nvSpPr>
        <p:spPr bwMode="auto">
          <a:xfrm>
            <a:off x="2154966" y="1962340"/>
            <a:ext cx="714688" cy="3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9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45" name="Rectangle 33"/>
          <p:cNvSpPr>
            <a:spLocks noChangeArrowheads="1"/>
          </p:cNvSpPr>
          <p:nvPr/>
        </p:nvSpPr>
        <p:spPr bwMode="auto">
          <a:xfrm>
            <a:off x="1509783" y="1439303"/>
            <a:ext cx="1113583" cy="449072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dfs(0,0)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44" name="Rectangle 32"/>
          <p:cNvSpPr>
            <a:spLocks noChangeArrowheads="1"/>
          </p:cNvSpPr>
          <p:nvPr/>
        </p:nvSpPr>
        <p:spPr bwMode="auto">
          <a:xfrm>
            <a:off x="1496184" y="2386316"/>
            <a:ext cx="1113583" cy="449072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dfs(1,1)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43" name="AutoShape 31"/>
          <p:cNvSpPr>
            <a:spLocks noChangeShapeType="1"/>
          </p:cNvSpPr>
          <p:nvPr/>
        </p:nvSpPr>
        <p:spPr bwMode="auto">
          <a:xfrm flipH="1">
            <a:off x="2053731" y="1888375"/>
            <a:ext cx="13599" cy="4979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42" name="AutoShape 30"/>
          <p:cNvSpPr>
            <a:spLocks noChangeArrowheads="1"/>
          </p:cNvSpPr>
          <p:nvPr/>
        </p:nvSpPr>
        <p:spPr bwMode="auto">
          <a:xfrm>
            <a:off x="583560" y="3359745"/>
            <a:ext cx="299172" cy="261518"/>
          </a:xfrm>
          <a:prstGeom prst="flowChartSummingJunction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41" name="Rectangle 29"/>
          <p:cNvSpPr>
            <a:spLocks noChangeArrowheads="1"/>
          </p:cNvSpPr>
          <p:nvPr/>
        </p:nvSpPr>
        <p:spPr bwMode="auto">
          <a:xfrm>
            <a:off x="2643009" y="3359745"/>
            <a:ext cx="1113583" cy="449072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dfs(2,2)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40" name="AutoShape 28"/>
          <p:cNvSpPr>
            <a:spLocks noChangeShapeType="1"/>
          </p:cNvSpPr>
          <p:nvPr/>
        </p:nvSpPr>
        <p:spPr bwMode="auto">
          <a:xfrm flipH="1">
            <a:off x="838913" y="2835388"/>
            <a:ext cx="1214818" cy="56266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39" name="AutoShape 27"/>
          <p:cNvSpPr>
            <a:spLocks noChangeShapeType="1"/>
          </p:cNvSpPr>
          <p:nvPr/>
        </p:nvSpPr>
        <p:spPr bwMode="auto">
          <a:xfrm>
            <a:off x="2053731" y="2835388"/>
            <a:ext cx="1146824" cy="52435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38" name="AutoShape 26"/>
          <p:cNvSpPr>
            <a:spLocks noChangeArrowheads="1"/>
          </p:cNvSpPr>
          <p:nvPr/>
        </p:nvSpPr>
        <p:spPr bwMode="auto">
          <a:xfrm>
            <a:off x="946192" y="4615825"/>
            <a:ext cx="299172" cy="261518"/>
          </a:xfrm>
          <a:prstGeom prst="flowChartSummingJunction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37" name="AutoShape 25"/>
          <p:cNvSpPr>
            <a:spLocks noChangeShapeType="1"/>
          </p:cNvSpPr>
          <p:nvPr/>
        </p:nvSpPr>
        <p:spPr bwMode="auto">
          <a:xfrm flipH="1">
            <a:off x="1201546" y="3808817"/>
            <a:ext cx="1999010" cy="84531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1674478" y="4547144"/>
            <a:ext cx="1113583" cy="449072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dfs(3,2)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35" name="AutoShape 23"/>
          <p:cNvSpPr>
            <a:spLocks noChangeShapeType="1"/>
          </p:cNvSpPr>
          <p:nvPr/>
        </p:nvSpPr>
        <p:spPr bwMode="auto">
          <a:xfrm flipH="1">
            <a:off x="2232025" y="3808817"/>
            <a:ext cx="968530" cy="73832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34" name="AutoShape 22"/>
          <p:cNvSpPr>
            <a:spLocks noChangeArrowheads="1"/>
          </p:cNvSpPr>
          <p:nvPr/>
        </p:nvSpPr>
        <p:spPr bwMode="auto">
          <a:xfrm>
            <a:off x="832869" y="5927379"/>
            <a:ext cx="299172" cy="261518"/>
          </a:xfrm>
          <a:prstGeom prst="flowChartSummingJunction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33" name="AutoShape 21"/>
          <p:cNvSpPr>
            <a:spLocks noChangeShapeType="1"/>
          </p:cNvSpPr>
          <p:nvPr/>
        </p:nvSpPr>
        <p:spPr bwMode="auto">
          <a:xfrm flipH="1">
            <a:off x="1088223" y="4996215"/>
            <a:ext cx="1143803" cy="96946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32" name="AutoShape 20"/>
          <p:cNvSpPr>
            <a:spLocks noChangeArrowheads="1"/>
          </p:cNvSpPr>
          <p:nvPr/>
        </p:nvSpPr>
        <p:spPr bwMode="auto">
          <a:xfrm>
            <a:off x="2065819" y="5927379"/>
            <a:ext cx="299172" cy="261518"/>
          </a:xfrm>
          <a:prstGeom prst="flowChartSummingJunction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31" name="AutoShape 19"/>
          <p:cNvSpPr>
            <a:spLocks noChangeShapeType="1"/>
          </p:cNvSpPr>
          <p:nvPr/>
        </p:nvSpPr>
        <p:spPr bwMode="auto">
          <a:xfrm flipH="1">
            <a:off x="2215405" y="4996215"/>
            <a:ext cx="16621" cy="93116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2611278" y="5898321"/>
            <a:ext cx="1113583" cy="449072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dfs(4,3)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29" name="AutoShape 17"/>
          <p:cNvSpPr>
            <a:spLocks noChangeShapeType="1"/>
          </p:cNvSpPr>
          <p:nvPr/>
        </p:nvSpPr>
        <p:spPr bwMode="auto">
          <a:xfrm>
            <a:off x="2232025" y="4996215"/>
            <a:ext cx="936800" cy="90210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28" name="Rectangle 16"/>
          <p:cNvSpPr>
            <a:spLocks noChangeArrowheads="1"/>
          </p:cNvSpPr>
          <p:nvPr/>
        </p:nvSpPr>
        <p:spPr bwMode="auto">
          <a:xfrm>
            <a:off x="5441321" y="4547144"/>
            <a:ext cx="1113583" cy="449072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dfs(3,3)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27" name="AutoShape 15"/>
          <p:cNvSpPr>
            <a:spLocks noChangeArrowheads="1"/>
          </p:cNvSpPr>
          <p:nvPr/>
        </p:nvSpPr>
        <p:spPr bwMode="auto">
          <a:xfrm>
            <a:off x="3915243" y="5927379"/>
            <a:ext cx="299172" cy="261518"/>
          </a:xfrm>
          <a:prstGeom prst="flowChartSummingJunction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26" name="AutoShape 14"/>
          <p:cNvSpPr>
            <a:spLocks noChangeShapeType="1"/>
          </p:cNvSpPr>
          <p:nvPr/>
        </p:nvSpPr>
        <p:spPr bwMode="auto">
          <a:xfrm flipH="1">
            <a:off x="4170597" y="4996215"/>
            <a:ext cx="1828271" cy="96946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4537762" y="5898321"/>
            <a:ext cx="1113583" cy="449072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dfs(4,3)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24" name="Rectangle 12"/>
          <p:cNvSpPr>
            <a:spLocks noChangeArrowheads="1"/>
          </p:cNvSpPr>
          <p:nvPr/>
        </p:nvSpPr>
        <p:spPr bwMode="auto">
          <a:xfrm>
            <a:off x="6872207" y="5898321"/>
            <a:ext cx="1113583" cy="449072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dfs(4,4)</a:t>
            </a:r>
            <a:endParaRPr kumimoji="0" lang="en-US" altLang="zh-CN" sz="19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23" name="AutoShape 11"/>
          <p:cNvSpPr>
            <a:spLocks noChangeArrowheads="1"/>
          </p:cNvSpPr>
          <p:nvPr/>
        </p:nvSpPr>
        <p:spPr bwMode="auto">
          <a:xfrm>
            <a:off x="6045708" y="5927379"/>
            <a:ext cx="299172" cy="261518"/>
          </a:xfrm>
          <a:prstGeom prst="flowChartSummingJunction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22" name="AutoShape 10"/>
          <p:cNvSpPr>
            <a:spLocks noChangeShapeType="1"/>
          </p:cNvSpPr>
          <p:nvPr/>
        </p:nvSpPr>
        <p:spPr bwMode="auto">
          <a:xfrm>
            <a:off x="5998868" y="4996215"/>
            <a:ext cx="196426" cy="93116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21" name="AutoShape 9"/>
          <p:cNvSpPr>
            <a:spLocks noChangeShapeType="1"/>
          </p:cNvSpPr>
          <p:nvPr/>
        </p:nvSpPr>
        <p:spPr bwMode="auto">
          <a:xfrm flipH="1">
            <a:off x="5095309" y="4996215"/>
            <a:ext cx="903559" cy="90210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20" name="AutoShape 8"/>
          <p:cNvSpPr>
            <a:spLocks noChangeShapeType="1"/>
          </p:cNvSpPr>
          <p:nvPr/>
        </p:nvSpPr>
        <p:spPr bwMode="auto">
          <a:xfrm>
            <a:off x="5998868" y="4996215"/>
            <a:ext cx="1430886" cy="90210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19" name="AutoShape 7"/>
          <p:cNvSpPr>
            <a:spLocks noChangeShapeType="1"/>
          </p:cNvSpPr>
          <p:nvPr/>
        </p:nvSpPr>
        <p:spPr bwMode="auto">
          <a:xfrm>
            <a:off x="3200556" y="3808817"/>
            <a:ext cx="2798312" cy="73832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6772483" y="2665005"/>
            <a:ext cx="1782942" cy="3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增加一种颜色</a:t>
            </a:r>
            <a:endParaRPr kumimoji="0" lang="zh-CN" sz="20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317" name="AutoShape 5"/>
          <p:cNvSpPr>
            <a:spLocks noChangeShapeType="1"/>
          </p:cNvSpPr>
          <p:nvPr/>
        </p:nvSpPr>
        <p:spPr bwMode="auto">
          <a:xfrm flipH="1" flipV="1">
            <a:off x="2788062" y="2592361"/>
            <a:ext cx="3854478" cy="179629"/>
          </a:xfrm>
          <a:prstGeom prst="straightConnector1">
            <a:avLst/>
          </a:prstGeom>
          <a:noFill/>
          <a:ln w="28575">
            <a:solidFill>
              <a:srgbClr val="00B05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16" name="AutoShape 4"/>
          <p:cNvSpPr>
            <a:spLocks noChangeShapeType="1"/>
          </p:cNvSpPr>
          <p:nvPr/>
        </p:nvSpPr>
        <p:spPr bwMode="auto">
          <a:xfrm flipH="1">
            <a:off x="3915243" y="2979355"/>
            <a:ext cx="2727297" cy="567944"/>
          </a:xfrm>
          <a:prstGeom prst="straightConnector1">
            <a:avLst/>
          </a:prstGeom>
          <a:noFill/>
          <a:ln w="28575">
            <a:solidFill>
              <a:srgbClr val="00B05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15" name="AutoShape 3"/>
          <p:cNvSpPr>
            <a:spLocks noChangeShapeType="1"/>
          </p:cNvSpPr>
          <p:nvPr/>
        </p:nvSpPr>
        <p:spPr bwMode="auto">
          <a:xfrm flipH="1">
            <a:off x="6502020" y="2979355"/>
            <a:ext cx="1161934" cy="1591563"/>
          </a:xfrm>
          <a:prstGeom prst="straightConnector1">
            <a:avLst/>
          </a:prstGeom>
          <a:noFill/>
          <a:ln w="28575">
            <a:solidFill>
              <a:srgbClr val="00B05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3314" name="AutoShape 2"/>
          <p:cNvSpPr>
            <a:spLocks noChangeShapeType="1"/>
          </p:cNvSpPr>
          <p:nvPr/>
        </p:nvSpPr>
        <p:spPr bwMode="auto">
          <a:xfrm>
            <a:off x="7781810" y="3086340"/>
            <a:ext cx="1511" cy="2695751"/>
          </a:xfrm>
          <a:prstGeom prst="straightConnector1">
            <a:avLst/>
          </a:prstGeom>
          <a:noFill/>
          <a:ln w="28575">
            <a:solidFill>
              <a:srgbClr val="00B05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0" name="下箭头 59"/>
          <p:cNvSpPr/>
          <p:nvPr/>
        </p:nvSpPr>
        <p:spPr>
          <a:xfrm rot="2719648">
            <a:off x="4143372" y="1428736"/>
            <a:ext cx="285752" cy="642942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428596" y="285728"/>
            <a:ext cx="853211" cy="761171"/>
            <a:chOff x="6862060" y="4310903"/>
            <a:chExt cx="1128915" cy="1130667"/>
          </a:xfrm>
        </p:grpSpPr>
        <p:grpSp>
          <p:nvGrpSpPr>
            <p:cNvPr id="62" name="Group 103"/>
            <p:cNvGrpSpPr>
              <a:grpSpLocks/>
            </p:cNvGrpSpPr>
            <p:nvPr/>
          </p:nvGrpSpPr>
          <p:grpSpPr bwMode="auto">
            <a:xfrm>
              <a:off x="6862060" y="4310903"/>
              <a:ext cx="1128915" cy="1130667"/>
              <a:chOff x="2880" y="1515"/>
              <a:chExt cx="644" cy="645"/>
            </a:xfrm>
          </p:grpSpPr>
          <p:sp>
            <p:nvSpPr>
              <p:cNvPr id="64" name="Oval 104"/>
              <p:cNvSpPr>
                <a:spLocks noChangeArrowheads="1"/>
              </p:cNvSpPr>
              <p:nvPr/>
            </p:nvSpPr>
            <p:spPr bwMode="auto">
              <a:xfrm>
                <a:off x="2880" y="1516"/>
                <a:ext cx="644" cy="644"/>
              </a:xfrm>
              <a:prstGeom prst="ellipse">
                <a:avLst/>
              </a:prstGeom>
              <a:gradFill rotWithShape="1">
                <a:gsLst>
                  <a:gs pos="0">
                    <a:srgbClr val="10942F"/>
                  </a:gs>
                  <a:gs pos="100000">
                    <a:srgbClr val="16D83B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Freeform 105"/>
              <p:cNvSpPr>
                <a:spLocks/>
              </p:cNvSpPr>
              <p:nvPr/>
            </p:nvSpPr>
            <p:spPr bwMode="auto">
              <a:xfrm>
                <a:off x="2887" y="1515"/>
                <a:ext cx="630" cy="441"/>
              </a:xfrm>
              <a:custGeom>
                <a:avLst/>
                <a:gdLst/>
                <a:ahLst/>
                <a:cxnLst>
                  <a:cxn ang="0">
                    <a:pos x="1400" y="275"/>
                  </a:cxn>
                  <a:cxn ang="0">
                    <a:pos x="1596" y="795"/>
                  </a:cxn>
                  <a:cxn ang="0">
                    <a:pos x="0" y="795"/>
                  </a:cxn>
                  <a:cxn ang="0">
                    <a:pos x="217" y="252"/>
                  </a:cxn>
                  <a:cxn ang="0">
                    <a:pos x="796" y="0"/>
                  </a:cxn>
                  <a:cxn ang="0">
                    <a:pos x="1400" y="275"/>
                  </a:cxn>
                </a:cxnLst>
                <a:rect l="0" t="0" r="r" b="b"/>
                <a:pathLst>
                  <a:path w="1596" h="1118">
                    <a:moveTo>
                      <a:pt x="1400" y="275"/>
                    </a:moveTo>
                    <a:cubicBezTo>
                      <a:pt x="1522" y="417"/>
                      <a:pt x="1596" y="597"/>
                      <a:pt x="1596" y="795"/>
                    </a:cubicBezTo>
                    <a:cubicBezTo>
                      <a:pt x="1037" y="1118"/>
                      <a:pt x="668" y="611"/>
                      <a:pt x="0" y="795"/>
                    </a:cubicBezTo>
                    <a:cubicBezTo>
                      <a:pt x="0" y="585"/>
                      <a:pt x="83" y="392"/>
                      <a:pt x="217" y="252"/>
                    </a:cubicBezTo>
                    <a:cubicBezTo>
                      <a:pt x="364" y="95"/>
                      <a:pt x="570" y="0"/>
                      <a:pt x="796" y="0"/>
                    </a:cubicBezTo>
                    <a:cubicBezTo>
                      <a:pt x="1039" y="0"/>
                      <a:pt x="1253" y="108"/>
                      <a:pt x="1400" y="27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53000"/>
                    </a:schemeClr>
                  </a:gs>
                  <a:gs pos="100000">
                    <a:schemeClr val="bg1">
                      <a:gamma/>
                      <a:shade val="46275"/>
                      <a:invGamma/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3" name="Text Box 71"/>
            <p:cNvSpPr txBox="1">
              <a:spLocks noChangeArrowheads="1"/>
            </p:cNvSpPr>
            <p:nvPr/>
          </p:nvSpPr>
          <p:spPr bwMode="auto">
            <a:xfrm>
              <a:off x="6923115" y="4640482"/>
              <a:ext cx="1039812" cy="466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示例</a:t>
              </a:r>
              <a:endParaRPr lang="en-GB" altLang="zh-CN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7" name="AutoShape 3"/>
          <p:cNvSpPr>
            <a:spLocks noChangeShapeType="1"/>
          </p:cNvSpPr>
          <p:nvPr/>
        </p:nvSpPr>
        <p:spPr bwMode="auto">
          <a:xfrm flipH="1">
            <a:off x="3428992" y="3051883"/>
            <a:ext cx="3590826" cy="2806009"/>
          </a:xfrm>
          <a:prstGeom prst="straightConnector1">
            <a:avLst/>
          </a:prstGeom>
          <a:noFill/>
          <a:ln w="28575">
            <a:solidFill>
              <a:srgbClr val="00B05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9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6" name="灯片编号占位符 6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364584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#include&lt;iostream&gt;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#include&lt;cstring&gt;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using namespace std;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const int INF=0x3f3f3f3f;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const int MAXN=30;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最多顶点数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n;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顶点数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x[MAXN];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//x[k]=m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表示顶点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着色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A[MAXN][MAXN];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邻接矩阵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minm;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存放答案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643998" cy="273161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bool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judge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i,int j)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判断顶点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是否可以着色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k=0;k&lt;n;k++)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A[i][k]==1 &amp;&amp; x[k]==j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顶点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存在着色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的相邻顶点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return false;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return true;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57224" y="3929066"/>
            <a:ext cx="3429024" cy="857256"/>
            <a:chOff x="857224" y="3929066"/>
            <a:chExt cx="3429024" cy="857256"/>
          </a:xfrm>
        </p:grpSpPr>
        <p:sp>
          <p:nvSpPr>
            <p:cNvPr id="4" name="椭圆 3"/>
            <p:cNvSpPr/>
            <p:nvPr/>
          </p:nvSpPr>
          <p:spPr>
            <a:xfrm>
              <a:off x="1357290" y="4357694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</a:rPr>
                <a:t>i</a:t>
              </a:r>
              <a:endParaRPr lang="zh-CN" altLang="en-US" sz="2000" i="1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3000364" y="4357694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</a:rPr>
                <a:t>k</a:t>
              </a:r>
              <a:endParaRPr lang="zh-CN" altLang="en-US" sz="2000" i="1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cxnSp>
          <p:nvCxnSpPr>
            <p:cNvPr id="7" name="直接连接符 6"/>
            <p:cNvCxnSpPr>
              <a:stCxn id="4" idx="6"/>
              <a:endCxn id="5" idx="2"/>
            </p:cNvCxnSpPr>
            <p:nvPr/>
          </p:nvCxnSpPr>
          <p:spPr>
            <a:xfrm>
              <a:off x="1785918" y="4572008"/>
              <a:ext cx="1214446" cy="0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857224" y="3929066"/>
              <a:ext cx="1000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颜色</a:t>
              </a:r>
              <a:r>
                <a:rPr lang="en-US" altLang="zh-CN" sz="20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endParaRPr lang="zh-CN" altLang="en-US" sz="20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28926" y="3929066"/>
              <a:ext cx="13573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颜色</a:t>
              </a:r>
              <a:r>
                <a:rPr lang="en-US" altLang="zh-CN" sz="20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[</a:t>
              </a:r>
              <a:r>
                <a:rPr lang="en-US" altLang="zh-CN" sz="20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k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]</a:t>
              </a:r>
              <a:endParaRPr lang="zh-CN" altLang="en-US" sz="20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506559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i,int m)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if(i==n)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minm=min(minm,m);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for(int j=0;j&lt;m;j++)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x[i]=j;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if(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judge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(i,j))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 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(i+1,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x[i]=-1;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x[i]=m;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(i+1,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m+1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x[i]=-1;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14"/>
            <a:ext cx="8429684" cy="606586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main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char s[30];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存放输入的一行字符串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while(scanf("%d",&amp;n) &amp;&amp; n)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memset(A,0,sizeof(A));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for(int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scanf("%s",s);	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for(int j=2;s[j];j++)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创建邻接矩阵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 		A[i][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s[j]-'A'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memset(x,0xff,sizeof(x));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初始化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minm=INF;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(0,0);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//m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开始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if(minm==1)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输出结果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printf("%d channel needed.\n",minm);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else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printf("%d channels needed.\n",minm);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return 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4" name="组合 9"/>
          <p:cNvGrpSpPr/>
          <p:nvPr/>
        </p:nvGrpSpPr>
        <p:grpSpPr>
          <a:xfrm>
            <a:off x="1000100" y="6286520"/>
            <a:ext cx="7072362" cy="461665"/>
            <a:chOff x="1071538" y="6286520"/>
            <a:chExt cx="7072362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0ms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96KB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hlinkClick r:id="" action="ppaction://noaction"/>
          </p:cNvPr>
          <p:cNvSpPr txBox="1"/>
          <p:nvPr/>
        </p:nvSpPr>
        <p:spPr>
          <a:xfrm>
            <a:off x="2357422" y="428604"/>
            <a:ext cx="4000528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5.6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子集和问题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1571612"/>
            <a:ext cx="8215370" cy="249654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给定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个不同的正整数集合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，…，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）和一个正整数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，要求找出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的子集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，使该子集中所有元素的和为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例如，当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时，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t=8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，则满足要求的子集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为（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）和（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85786" y="1000108"/>
            <a:ext cx="71438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5786" y="1714488"/>
            <a:ext cx="7715304" cy="147999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457200" indent="-457200" algn="l">
              <a:lnSpc>
                <a:spcPts val="2800"/>
              </a:lnSpc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与求幂集问题一样，该问题的解空间是一棵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子集树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（因为每个整数要么选择要么不选择）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2800"/>
              </a:lnSpc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并且是求满足约束函数的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所有解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642910" y="428604"/>
            <a:ext cx="20002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1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）无剪支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34" y="1071546"/>
            <a:ext cx="37147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a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=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5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），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t=8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7203" name="Rectangle 9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03" name="组合 102"/>
          <p:cNvGrpSpPr/>
          <p:nvPr/>
        </p:nvGrpSpPr>
        <p:grpSpPr>
          <a:xfrm>
            <a:off x="214315" y="1794355"/>
            <a:ext cx="8715403" cy="2840662"/>
            <a:chOff x="507619" y="1794355"/>
            <a:chExt cx="7636281" cy="2840662"/>
          </a:xfrm>
        </p:grpSpPr>
        <p:sp>
          <p:nvSpPr>
            <p:cNvPr id="47201" name="Rectangle 97"/>
            <p:cNvSpPr>
              <a:spLocks noChangeArrowheads="1"/>
            </p:cNvSpPr>
            <p:nvPr/>
          </p:nvSpPr>
          <p:spPr bwMode="auto">
            <a:xfrm>
              <a:off x="6117041" y="2590921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200" name="Rectangle 96"/>
            <p:cNvSpPr>
              <a:spLocks noChangeArrowheads="1"/>
            </p:cNvSpPr>
            <p:nvPr/>
          </p:nvSpPr>
          <p:spPr bwMode="auto">
            <a:xfrm>
              <a:off x="5002932" y="2590921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99" name="Rectangle 95"/>
            <p:cNvSpPr>
              <a:spLocks noChangeArrowheads="1"/>
            </p:cNvSpPr>
            <p:nvPr/>
          </p:nvSpPr>
          <p:spPr bwMode="auto">
            <a:xfrm>
              <a:off x="2655243" y="2556150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98" name="Rectangle 94"/>
            <p:cNvSpPr>
              <a:spLocks noChangeArrowheads="1"/>
            </p:cNvSpPr>
            <p:nvPr/>
          </p:nvSpPr>
          <p:spPr bwMode="auto">
            <a:xfrm>
              <a:off x="1541134" y="2556150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97" name="Rectangle 93"/>
            <p:cNvSpPr>
              <a:spLocks noChangeArrowheads="1"/>
            </p:cNvSpPr>
            <p:nvPr/>
          </p:nvSpPr>
          <p:spPr bwMode="auto">
            <a:xfrm>
              <a:off x="4666328" y="1960833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96" name="Rectangle 92"/>
            <p:cNvSpPr>
              <a:spLocks noChangeArrowheads="1"/>
            </p:cNvSpPr>
            <p:nvPr/>
          </p:nvSpPr>
          <p:spPr bwMode="auto">
            <a:xfrm>
              <a:off x="6867998" y="3216793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95" name="Rectangle 91"/>
            <p:cNvSpPr>
              <a:spLocks noChangeArrowheads="1"/>
            </p:cNvSpPr>
            <p:nvPr/>
          </p:nvSpPr>
          <p:spPr bwMode="auto">
            <a:xfrm>
              <a:off x="6078166" y="3216793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94" name="Rectangle 90"/>
            <p:cNvSpPr>
              <a:spLocks noChangeArrowheads="1"/>
            </p:cNvSpPr>
            <p:nvPr/>
          </p:nvSpPr>
          <p:spPr bwMode="auto">
            <a:xfrm>
              <a:off x="5147055" y="3210471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93" name="Rectangle 89"/>
            <p:cNvSpPr>
              <a:spLocks noChangeArrowheads="1"/>
            </p:cNvSpPr>
            <p:nvPr/>
          </p:nvSpPr>
          <p:spPr bwMode="auto">
            <a:xfrm>
              <a:off x="4357222" y="3210471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92" name="Rectangle 88"/>
            <p:cNvSpPr>
              <a:spLocks noChangeArrowheads="1"/>
            </p:cNvSpPr>
            <p:nvPr/>
          </p:nvSpPr>
          <p:spPr bwMode="auto">
            <a:xfrm>
              <a:off x="3363532" y="3210471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91" name="Rectangle 87"/>
            <p:cNvSpPr>
              <a:spLocks noChangeArrowheads="1"/>
            </p:cNvSpPr>
            <p:nvPr/>
          </p:nvSpPr>
          <p:spPr bwMode="auto">
            <a:xfrm>
              <a:off x="2573699" y="3210471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90" name="Rectangle 86"/>
            <p:cNvSpPr>
              <a:spLocks noChangeArrowheads="1"/>
            </p:cNvSpPr>
            <p:nvPr/>
          </p:nvSpPr>
          <p:spPr bwMode="auto">
            <a:xfrm>
              <a:off x="1642589" y="3204149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89" name="Rectangle 85"/>
            <p:cNvSpPr>
              <a:spLocks noChangeArrowheads="1"/>
            </p:cNvSpPr>
            <p:nvPr/>
          </p:nvSpPr>
          <p:spPr bwMode="auto">
            <a:xfrm>
              <a:off x="852756" y="3204149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88" name="Rectangle 84"/>
            <p:cNvSpPr>
              <a:spLocks noChangeArrowheads="1"/>
            </p:cNvSpPr>
            <p:nvPr/>
          </p:nvSpPr>
          <p:spPr bwMode="auto">
            <a:xfrm>
              <a:off x="6347448" y="3928012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87" name="Rectangle 83"/>
            <p:cNvSpPr>
              <a:spLocks noChangeArrowheads="1"/>
            </p:cNvSpPr>
            <p:nvPr/>
          </p:nvSpPr>
          <p:spPr bwMode="auto">
            <a:xfrm>
              <a:off x="5813624" y="3928012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86" name="Rectangle 82"/>
            <p:cNvSpPr>
              <a:spLocks noChangeArrowheads="1"/>
            </p:cNvSpPr>
            <p:nvPr/>
          </p:nvSpPr>
          <p:spPr bwMode="auto">
            <a:xfrm>
              <a:off x="7206498" y="3928012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85" name="Rectangle 81"/>
            <p:cNvSpPr>
              <a:spLocks noChangeArrowheads="1"/>
            </p:cNvSpPr>
            <p:nvPr/>
          </p:nvSpPr>
          <p:spPr bwMode="auto">
            <a:xfrm>
              <a:off x="6672673" y="3928012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84" name="Rectangle 80"/>
            <p:cNvSpPr>
              <a:spLocks noChangeArrowheads="1"/>
            </p:cNvSpPr>
            <p:nvPr/>
          </p:nvSpPr>
          <p:spPr bwMode="auto">
            <a:xfrm>
              <a:off x="4617971" y="3940656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83" name="Rectangle 79"/>
            <p:cNvSpPr>
              <a:spLocks noChangeArrowheads="1"/>
            </p:cNvSpPr>
            <p:nvPr/>
          </p:nvSpPr>
          <p:spPr bwMode="auto">
            <a:xfrm>
              <a:off x="4084147" y="3940656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82" name="Rectangle 78"/>
            <p:cNvSpPr>
              <a:spLocks noChangeArrowheads="1"/>
            </p:cNvSpPr>
            <p:nvPr/>
          </p:nvSpPr>
          <p:spPr bwMode="auto">
            <a:xfrm>
              <a:off x="5477021" y="3940656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81" name="Rectangle 77"/>
            <p:cNvSpPr>
              <a:spLocks noChangeArrowheads="1"/>
            </p:cNvSpPr>
            <p:nvPr/>
          </p:nvSpPr>
          <p:spPr bwMode="auto">
            <a:xfrm>
              <a:off x="4943196" y="3940656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80" name="Rectangle 76"/>
            <p:cNvSpPr>
              <a:spLocks noChangeArrowheads="1"/>
            </p:cNvSpPr>
            <p:nvPr/>
          </p:nvSpPr>
          <p:spPr bwMode="auto">
            <a:xfrm>
              <a:off x="2820226" y="391536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79" name="Rectangle 75"/>
            <p:cNvSpPr>
              <a:spLocks noChangeArrowheads="1"/>
            </p:cNvSpPr>
            <p:nvPr/>
          </p:nvSpPr>
          <p:spPr bwMode="auto">
            <a:xfrm>
              <a:off x="2286401" y="391536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78" name="Rectangle 74"/>
            <p:cNvSpPr>
              <a:spLocks noChangeArrowheads="1"/>
            </p:cNvSpPr>
            <p:nvPr/>
          </p:nvSpPr>
          <p:spPr bwMode="auto">
            <a:xfrm>
              <a:off x="3679275" y="391536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77" name="Rectangle 73"/>
            <p:cNvSpPr>
              <a:spLocks noChangeArrowheads="1"/>
            </p:cNvSpPr>
            <p:nvPr/>
          </p:nvSpPr>
          <p:spPr bwMode="auto">
            <a:xfrm>
              <a:off x="3145451" y="391536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76" name="Rectangle 72"/>
            <p:cNvSpPr>
              <a:spLocks noChangeArrowheads="1"/>
            </p:cNvSpPr>
            <p:nvPr/>
          </p:nvSpPr>
          <p:spPr bwMode="auto">
            <a:xfrm>
              <a:off x="1099283" y="388059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75" name="Rectangle 71"/>
            <p:cNvSpPr>
              <a:spLocks noChangeArrowheads="1"/>
            </p:cNvSpPr>
            <p:nvPr/>
          </p:nvSpPr>
          <p:spPr bwMode="auto">
            <a:xfrm>
              <a:off x="565458" y="388059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74" name="Rectangle 70"/>
            <p:cNvSpPr>
              <a:spLocks noChangeArrowheads="1"/>
            </p:cNvSpPr>
            <p:nvPr/>
          </p:nvSpPr>
          <p:spPr bwMode="auto">
            <a:xfrm>
              <a:off x="1958332" y="388059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73" name="Rectangle 69"/>
            <p:cNvSpPr>
              <a:spLocks noChangeArrowheads="1"/>
            </p:cNvSpPr>
            <p:nvPr/>
          </p:nvSpPr>
          <p:spPr bwMode="auto">
            <a:xfrm>
              <a:off x="1424508" y="388059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72" name="Rectangle 68"/>
            <p:cNvSpPr>
              <a:spLocks noChangeArrowheads="1"/>
            </p:cNvSpPr>
            <p:nvPr/>
          </p:nvSpPr>
          <p:spPr bwMode="auto">
            <a:xfrm>
              <a:off x="2732993" y="1981906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71" name="Oval 67"/>
            <p:cNvSpPr>
              <a:spLocks noChangeArrowheads="1"/>
            </p:cNvSpPr>
            <p:nvPr/>
          </p:nvSpPr>
          <p:spPr bwMode="auto">
            <a:xfrm>
              <a:off x="3651778" y="1794355"/>
              <a:ext cx="349878" cy="3582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70" name="AutoShape 66"/>
            <p:cNvSpPr>
              <a:spLocks noChangeShapeType="1"/>
            </p:cNvSpPr>
            <p:nvPr/>
          </p:nvSpPr>
          <p:spPr bwMode="auto">
            <a:xfrm flipH="1">
              <a:off x="2247526" y="1973477"/>
              <a:ext cx="1404252" cy="525775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69" name="Oval 65"/>
            <p:cNvSpPr>
              <a:spLocks noChangeArrowheads="1"/>
            </p:cNvSpPr>
            <p:nvPr/>
          </p:nvSpPr>
          <p:spPr bwMode="auto">
            <a:xfrm>
              <a:off x="4041479" y="4267290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47168" name="Oval 64"/>
            <p:cNvSpPr>
              <a:spLocks noChangeArrowheads="1"/>
            </p:cNvSpPr>
            <p:nvPr/>
          </p:nvSpPr>
          <p:spPr bwMode="auto">
            <a:xfrm>
              <a:off x="4490916" y="4267290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47167" name="Oval 63"/>
            <p:cNvSpPr>
              <a:spLocks noChangeArrowheads="1"/>
            </p:cNvSpPr>
            <p:nvPr/>
          </p:nvSpPr>
          <p:spPr bwMode="auto">
            <a:xfrm>
              <a:off x="4255767" y="362245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47166" name="AutoShape 62"/>
            <p:cNvSpPr>
              <a:spLocks noChangeShapeType="1"/>
            </p:cNvSpPr>
            <p:nvPr/>
          </p:nvSpPr>
          <p:spPr bwMode="auto">
            <a:xfrm flipH="1">
              <a:off x="4216892" y="3928012"/>
              <a:ext cx="90077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65" name="AutoShape 61"/>
            <p:cNvSpPr>
              <a:spLocks noChangeShapeType="1"/>
            </p:cNvSpPr>
            <p:nvPr/>
          </p:nvSpPr>
          <p:spPr bwMode="auto">
            <a:xfrm>
              <a:off x="4554443" y="3928012"/>
              <a:ext cx="111885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64" name="Oval 60"/>
            <p:cNvSpPr>
              <a:spLocks noChangeArrowheads="1"/>
            </p:cNvSpPr>
            <p:nvPr/>
          </p:nvSpPr>
          <p:spPr bwMode="auto">
            <a:xfrm>
              <a:off x="4928974" y="4267290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47163" name="Oval 59"/>
            <p:cNvSpPr>
              <a:spLocks noChangeArrowheads="1"/>
            </p:cNvSpPr>
            <p:nvPr/>
          </p:nvSpPr>
          <p:spPr bwMode="auto">
            <a:xfrm>
              <a:off x="5352809" y="4267290"/>
              <a:ext cx="348930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62" name="Oval 58"/>
            <p:cNvSpPr>
              <a:spLocks noChangeArrowheads="1"/>
            </p:cNvSpPr>
            <p:nvPr/>
          </p:nvSpPr>
          <p:spPr bwMode="auto">
            <a:xfrm>
              <a:off x="5125247" y="362245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61" name="AutoShape 57"/>
            <p:cNvSpPr>
              <a:spLocks noChangeShapeType="1"/>
            </p:cNvSpPr>
            <p:nvPr/>
          </p:nvSpPr>
          <p:spPr bwMode="auto">
            <a:xfrm flipH="1">
              <a:off x="5104387" y="3928012"/>
              <a:ext cx="72062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60" name="AutoShape 56"/>
            <p:cNvSpPr>
              <a:spLocks noChangeShapeType="1"/>
            </p:cNvSpPr>
            <p:nvPr/>
          </p:nvSpPr>
          <p:spPr bwMode="auto">
            <a:xfrm>
              <a:off x="5423923" y="3928012"/>
              <a:ext cx="103351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59" name="Oval 55"/>
            <p:cNvSpPr>
              <a:spLocks noChangeArrowheads="1"/>
            </p:cNvSpPr>
            <p:nvPr/>
          </p:nvSpPr>
          <p:spPr bwMode="auto">
            <a:xfrm>
              <a:off x="4659691" y="2962862"/>
              <a:ext cx="348930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58" name="AutoShape 54"/>
            <p:cNvSpPr>
              <a:spLocks noChangeShapeType="1"/>
            </p:cNvSpPr>
            <p:nvPr/>
          </p:nvSpPr>
          <p:spPr bwMode="auto">
            <a:xfrm flipH="1">
              <a:off x="4431180" y="3268423"/>
              <a:ext cx="279713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57" name="AutoShape 53"/>
            <p:cNvSpPr>
              <a:spLocks noChangeShapeType="1"/>
            </p:cNvSpPr>
            <p:nvPr/>
          </p:nvSpPr>
          <p:spPr bwMode="auto">
            <a:xfrm>
              <a:off x="4957419" y="3268423"/>
              <a:ext cx="343240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56" name="Oval 52"/>
            <p:cNvSpPr>
              <a:spLocks noChangeArrowheads="1"/>
            </p:cNvSpPr>
            <p:nvPr/>
          </p:nvSpPr>
          <p:spPr bwMode="auto">
            <a:xfrm>
              <a:off x="5766215" y="4267290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47155" name="Oval 51"/>
            <p:cNvSpPr>
              <a:spLocks noChangeArrowheads="1"/>
            </p:cNvSpPr>
            <p:nvPr/>
          </p:nvSpPr>
          <p:spPr bwMode="auto">
            <a:xfrm>
              <a:off x="6205221" y="4267290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47154" name="Oval 50"/>
            <p:cNvSpPr>
              <a:spLocks noChangeArrowheads="1"/>
            </p:cNvSpPr>
            <p:nvPr/>
          </p:nvSpPr>
          <p:spPr bwMode="auto">
            <a:xfrm>
              <a:off x="5978607" y="362245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47153" name="AutoShape 49"/>
            <p:cNvSpPr>
              <a:spLocks noChangeShapeType="1"/>
            </p:cNvSpPr>
            <p:nvPr/>
          </p:nvSpPr>
          <p:spPr bwMode="auto">
            <a:xfrm flipH="1">
              <a:off x="5941628" y="3928012"/>
              <a:ext cx="88181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52" name="AutoShape 48"/>
            <p:cNvSpPr>
              <a:spLocks noChangeShapeType="1"/>
            </p:cNvSpPr>
            <p:nvPr/>
          </p:nvSpPr>
          <p:spPr bwMode="auto">
            <a:xfrm>
              <a:off x="6277283" y="3928012"/>
              <a:ext cx="103351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51" name="Oval 47"/>
            <p:cNvSpPr>
              <a:spLocks noChangeArrowheads="1"/>
            </p:cNvSpPr>
            <p:nvPr/>
          </p:nvSpPr>
          <p:spPr bwMode="auto">
            <a:xfrm>
              <a:off x="6643280" y="4267290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47150" name="Oval 46"/>
            <p:cNvSpPr>
              <a:spLocks noChangeArrowheads="1"/>
            </p:cNvSpPr>
            <p:nvPr/>
          </p:nvSpPr>
          <p:spPr bwMode="auto">
            <a:xfrm>
              <a:off x="7092716" y="4276773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49" name="Oval 45"/>
            <p:cNvSpPr>
              <a:spLocks noChangeArrowheads="1"/>
            </p:cNvSpPr>
            <p:nvPr/>
          </p:nvSpPr>
          <p:spPr bwMode="auto">
            <a:xfrm>
              <a:off x="6848086" y="362245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48" name="AutoShape 44"/>
            <p:cNvSpPr>
              <a:spLocks noChangeShapeType="1"/>
            </p:cNvSpPr>
            <p:nvPr/>
          </p:nvSpPr>
          <p:spPr bwMode="auto">
            <a:xfrm flipH="1">
              <a:off x="6818693" y="3928012"/>
              <a:ext cx="80595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47" name="AutoShape 43"/>
            <p:cNvSpPr>
              <a:spLocks noChangeShapeType="1"/>
            </p:cNvSpPr>
            <p:nvPr/>
          </p:nvSpPr>
          <p:spPr bwMode="auto">
            <a:xfrm>
              <a:off x="7146762" y="3928012"/>
              <a:ext cx="121367" cy="34876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46" name="Oval 42"/>
            <p:cNvSpPr>
              <a:spLocks noChangeArrowheads="1"/>
            </p:cNvSpPr>
            <p:nvPr/>
          </p:nvSpPr>
          <p:spPr bwMode="auto">
            <a:xfrm>
              <a:off x="6391064" y="296286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45" name="AutoShape 41"/>
            <p:cNvSpPr>
              <a:spLocks noChangeShapeType="1"/>
            </p:cNvSpPr>
            <p:nvPr/>
          </p:nvSpPr>
          <p:spPr bwMode="auto">
            <a:xfrm flipH="1">
              <a:off x="6154020" y="3268423"/>
              <a:ext cx="288246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44" name="AutoShape 40"/>
            <p:cNvSpPr>
              <a:spLocks noChangeShapeType="1"/>
            </p:cNvSpPr>
            <p:nvPr/>
          </p:nvSpPr>
          <p:spPr bwMode="auto">
            <a:xfrm>
              <a:off x="6689740" y="3268423"/>
              <a:ext cx="333759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43" name="Oval 39"/>
            <p:cNvSpPr>
              <a:spLocks noChangeArrowheads="1"/>
            </p:cNvSpPr>
            <p:nvPr/>
          </p:nvSpPr>
          <p:spPr bwMode="auto">
            <a:xfrm>
              <a:off x="5420130" y="2466589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42" name="AutoShape 38"/>
            <p:cNvSpPr>
              <a:spLocks noChangeShapeType="1"/>
            </p:cNvSpPr>
            <p:nvPr/>
          </p:nvSpPr>
          <p:spPr bwMode="auto">
            <a:xfrm flipH="1">
              <a:off x="4957419" y="2645711"/>
              <a:ext cx="462711" cy="3698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41" name="AutoShape 37"/>
            <p:cNvSpPr>
              <a:spLocks noChangeShapeType="1"/>
            </p:cNvSpPr>
            <p:nvPr/>
          </p:nvSpPr>
          <p:spPr bwMode="auto">
            <a:xfrm>
              <a:off x="5770008" y="2645711"/>
              <a:ext cx="672258" cy="3698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40" name="AutoShape 36"/>
            <p:cNvSpPr>
              <a:spLocks noChangeShapeType="1"/>
            </p:cNvSpPr>
            <p:nvPr/>
          </p:nvSpPr>
          <p:spPr bwMode="auto">
            <a:xfrm>
              <a:off x="4001656" y="1973477"/>
              <a:ext cx="1469676" cy="545795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39" name="Oval 35"/>
            <p:cNvSpPr>
              <a:spLocks noChangeArrowheads="1"/>
            </p:cNvSpPr>
            <p:nvPr/>
          </p:nvSpPr>
          <p:spPr bwMode="auto">
            <a:xfrm>
              <a:off x="507619" y="4247271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11</a:t>
              </a:r>
            </a:p>
          </p:txBody>
        </p:sp>
        <p:sp>
          <p:nvSpPr>
            <p:cNvPr id="47138" name="Oval 34"/>
            <p:cNvSpPr>
              <a:spLocks noChangeArrowheads="1"/>
            </p:cNvSpPr>
            <p:nvPr/>
          </p:nvSpPr>
          <p:spPr bwMode="auto">
            <a:xfrm>
              <a:off x="958952" y="4247271"/>
              <a:ext cx="348930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47137" name="Oval 33"/>
            <p:cNvSpPr>
              <a:spLocks noChangeArrowheads="1"/>
            </p:cNvSpPr>
            <p:nvPr/>
          </p:nvSpPr>
          <p:spPr bwMode="auto">
            <a:xfrm>
              <a:off x="740871" y="3602432"/>
              <a:ext cx="348930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47136" name="AutoShape 32"/>
            <p:cNvSpPr>
              <a:spLocks noChangeShapeType="1"/>
            </p:cNvSpPr>
            <p:nvPr/>
          </p:nvSpPr>
          <p:spPr bwMode="auto">
            <a:xfrm flipH="1">
              <a:off x="683032" y="3907993"/>
              <a:ext cx="109040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35" name="AutoShape 31"/>
            <p:cNvSpPr>
              <a:spLocks noChangeShapeType="1"/>
            </p:cNvSpPr>
            <p:nvPr/>
          </p:nvSpPr>
          <p:spPr bwMode="auto">
            <a:xfrm>
              <a:off x="1038599" y="3907993"/>
              <a:ext cx="94818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34" name="Oval 30"/>
            <p:cNvSpPr>
              <a:spLocks noChangeArrowheads="1"/>
            </p:cNvSpPr>
            <p:nvPr/>
          </p:nvSpPr>
          <p:spPr bwMode="auto">
            <a:xfrm>
              <a:off x="1397959" y="4247271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47133" name="Oval 29"/>
            <p:cNvSpPr>
              <a:spLocks noChangeArrowheads="1"/>
            </p:cNvSpPr>
            <p:nvPr/>
          </p:nvSpPr>
          <p:spPr bwMode="auto">
            <a:xfrm>
              <a:off x="1838861" y="4247271"/>
              <a:ext cx="350826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47132" name="Oval 28"/>
            <p:cNvSpPr>
              <a:spLocks noChangeArrowheads="1"/>
            </p:cNvSpPr>
            <p:nvPr/>
          </p:nvSpPr>
          <p:spPr bwMode="auto">
            <a:xfrm>
              <a:off x="1603713" y="3602432"/>
              <a:ext cx="348930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47131" name="AutoShape 27"/>
            <p:cNvSpPr>
              <a:spLocks noChangeShapeType="1"/>
            </p:cNvSpPr>
            <p:nvPr/>
          </p:nvSpPr>
          <p:spPr bwMode="auto">
            <a:xfrm flipH="1">
              <a:off x="1573372" y="3907993"/>
              <a:ext cx="81543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30" name="AutoShape 26"/>
            <p:cNvSpPr>
              <a:spLocks noChangeShapeType="1"/>
            </p:cNvSpPr>
            <p:nvPr/>
          </p:nvSpPr>
          <p:spPr bwMode="auto">
            <a:xfrm>
              <a:off x="1901441" y="3907993"/>
              <a:ext cx="112833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29" name="Oval 25"/>
            <p:cNvSpPr>
              <a:spLocks noChangeArrowheads="1"/>
            </p:cNvSpPr>
            <p:nvPr/>
          </p:nvSpPr>
          <p:spPr bwMode="auto">
            <a:xfrm>
              <a:off x="1137210" y="2942842"/>
              <a:ext cx="350826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47128" name="AutoShape 24"/>
            <p:cNvSpPr>
              <a:spLocks noChangeShapeType="1"/>
            </p:cNvSpPr>
            <p:nvPr/>
          </p:nvSpPr>
          <p:spPr bwMode="auto">
            <a:xfrm flipH="1">
              <a:off x="915336" y="3248403"/>
              <a:ext cx="273075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27" name="AutoShape 23"/>
            <p:cNvSpPr>
              <a:spLocks noChangeShapeType="1"/>
            </p:cNvSpPr>
            <p:nvPr/>
          </p:nvSpPr>
          <p:spPr bwMode="auto">
            <a:xfrm>
              <a:off x="1436834" y="3248403"/>
              <a:ext cx="341344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26" name="Oval 22"/>
            <p:cNvSpPr>
              <a:spLocks noChangeArrowheads="1"/>
            </p:cNvSpPr>
            <p:nvPr/>
          </p:nvSpPr>
          <p:spPr bwMode="auto">
            <a:xfrm>
              <a:off x="2260801" y="4247271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10</a:t>
              </a:r>
            </a:p>
          </p:txBody>
        </p:sp>
        <p:sp>
          <p:nvSpPr>
            <p:cNvPr id="47125" name="Oval 21"/>
            <p:cNvSpPr>
              <a:spLocks noChangeArrowheads="1"/>
            </p:cNvSpPr>
            <p:nvPr/>
          </p:nvSpPr>
          <p:spPr bwMode="auto">
            <a:xfrm>
              <a:off x="2700755" y="4247271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47124" name="Oval 20"/>
            <p:cNvSpPr>
              <a:spLocks noChangeArrowheads="1"/>
            </p:cNvSpPr>
            <p:nvPr/>
          </p:nvSpPr>
          <p:spPr bwMode="auto">
            <a:xfrm>
              <a:off x="2474141" y="360243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47123" name="AutoShape 19"/>
            <p:cNvSpPr>
              <a:spLocks noChangeShapeType="1"/>
            </p:cNvSpPr>
            <p:nvPr/>
          </p:nvSpPr>
          <p:spPr bwMode="auto">
            <a:xfrm flipH="1">
              <a:off x="2436214" y="3907993"/>
              <a:ext cx="89129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22" name="AutoShape 18"/>
            <p:cNvSpPr>
              <a:spLocks noChangeShapeType="1"/>
            </p:cNvSpPr>
            <p:nvPr/>
          </p:nvSpPr>
          <p:spPr bwMode="auto">
            <a:xfrm>
              <a:off x="2772817" y="3907993"/>
              <a:ext cx="103351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21" name="Oval 17"/>
            <p:cNvSpPr>
              <a:spLocks noChangeArrowheads="1"/>
            </p:cNvSpPr>
            <p:nvPr/>
          </p:nvSpPr>
          <p:spPr bwMode="auto">
            <a:xfrm>
              <a:off x="3113213" y="4247271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47120" name="Oval 16"/>
            <p:cNvSpPr>
              <a:spLocks noChangeArrowheads="1"/>
            </p:cNvSpPr>
            <p:nvPr/>
          </p:nvSpPr>
          <p:spPr bwMode="auto">
            <a:xfrm>
              <a:off x="3553167" y="4256754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47119" name="Oval 15"/>
            <p:cNvSpPr>
              <a:spLocks noChangeArrowheads="1"/>
            </p:cNvSpPr>
            <p:nvPr/>
          </p:nvSpPr>
          <p:spPr bwMode="auto">
            <a:xfrm>
              <a:off x="3318019" y="360243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47118" name="AutoShape 14"/>
            <p:cNvSpPr>
              <a:spLocks noChangeShapeType="1"/>
            </p:cNvSpPr>
            <p:nvPr/>
          </p:nvSpPr>
          <p:spPr bwMode="auto">
            <a:xfrm flipH="1">
              <a:off x="3288626" y="3907993"/>
              <a:ext cx="80595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17" name="AutoShape 13"/>
            <p:cNvSpPr>
              <a:spLocks noChangeShapeType="1"/>
            </p:cNvSpPr>
            <p:nvPr/>
          </p:nvSpPr>
          <p:spPr bwMode="auto">
            <a:xfrm>
              <a:off x="3616695" y="3907993"/>
              <a:ext cx="111885" cy="34876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16" name="Oval 12"/>
            <p:cNvSpPr>
              <a:spLocks noChangeArrowheads="1"/>
            </p:cNvSpPr>
            <p:nvPr/>
          </p:nvSpPr>
          <p:spPr bwMode="auto">
            <a:xfrm>
              <a:off x="2886598" y="294284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47115" name="AutoShape 11"/>
            <p:cNvSpPr>
              <a:spLocks noChangeShapeType="1"/>
            </p:cNvSpPr>
            <p:nvPr/>
          </p:nvSpPr>
          <p:spPr bwMode="auto">
            <a:xfrm flipH="1">
              <a:off x="2649554" y="3248403"/>
              <a:ext cx="288246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14" name="AutoShape 10"/>
            <p:cNvSpPr>
              <a:spLocks noChangeShapeType="1"/>
            </p:cNvSpPr>
            <p:nvPr/>
          </p:nvSpPr>
          <p:spPr bwMode="auto">
            <a:xfrm>
              <a:off x="3185274" y="3248403"/>
              <a:ext cx="308158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13" name="Oval 9"/>
            <p:cNvSpPr>
              <a:spLocks noChangeArrowheads="1"/>
            </p:cNvSpPr>
            <p:nvPr/>
          </p:nvSpPr>
          <p:spPr bwMode="auto">
            <a:xfrm>
              <a:off x="1948850" y="2446569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47112" name="AutoShape 8"/>
            <p:cNvSpPr>
              <a:spLocks noChangeShapeType="1"/>
            </p:cNvSpPr>
            <p:nvPr/>
          </p:nvSpPr>
          <p:spPr bwMode="auto">
            <a:xfrm flipH="1">
              <a:off x="1436834" y="2625691"/>
              <a:ext cx="512016" cy="3698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11" name="AutoShape 7"/>
            <p:cNvSpPr>
              <a:spLocks noChangeShapeType="1"/>
            </p:cNvSpPr>
            <p:nvPr/>
          </p:nvSpPr>
          <p:spPr bwMode="auto">
            <a:xfrm>
              <a:off x="2298728" y="2625691"/>
              <a:ext cx="639072" cy="3698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10" name="Rectangle 6"/>
            <p:cNvSpPr>
              <a:spLocks noChangeArrowheads="1"/>
            </p:cNvSpPr>
            <p:nvPr/>
          </p:nvSpPr>
          <p:spPr bwMode="auto">
            <a:xfrm>
              <a:off x="6681802" y="1820697"/>
              <a:ext cx="1396645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结点层次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=0</a:t>
              </a:r>
            </a:p>
          </p:txBody>
        </p:sp>
        <p:sp>
          <p:nvSpPr>
            <p:cNvPr id="47109" name="Rectangle 5"/>
            <p:cNvSpPr>
              <a:spLocks noChangeArrowheads="1"/>
            </p:cNvSpPr>
            <p:nvPr/>
          </p:nvSpPr>
          <p:spPr bwMode="auto">
            <a:xfrm>
              <a:off x="7567753" y="2430765"/>
              <a:ext cx="5761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=1</a:t>
              </a:r>
            </a:p>
          </p:txBody>
        </p:sp>
        <p:sp>
          <p:nvSpPr>
            <p:cNvPr id="47108" name="Rectangle 4"/>
            <p:cNvSpPr>
              <a:spLocks noChangeArrowheads="1"/>
            </p:cNvSpPr>
            <p:nvPr/>
          </p:nvSpPr>
          <p:spPr bwMode="auto">
            <a:xfrm>
              <a:off x="7567753" y="2975506"/>
              <a:ext cx="5761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=2</a:t>
              </a:r>
            </a:p>
          </p:txBody>
        </p:sp>
        <p:sp>
          <p:nvSpPr>
            <p:cNvPr id="47107" name="Rectangle 3"/>
            <p:cNvSpPr>
              <a:spLocks noChangeArrowheads="1"/>
            </p:cNvSpPr>
            <p:nvPr/>
          </p:nvSpPr>
          <p:spPr bwMode="auto">
            <a:xfrm>
              <a:off x="7567753" y="3649847"/>
              <a:ext cx="5761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=3</a:t>
              </a:r>
            </a:p>
          </p:txBody>
        </p:sp>
        <p:sp>
          <p:nvSpPr>
            <p:cNvPr id="47106" name="Rectangle 2"/>
            <p:cNvSpPr>
              <a:spLocks noChangeArrowheads="1"/>
            </p:cNvSpPr>
            <p:nvPr/>
          </p:nvSpPr>
          <p:spPr bwMode="auto">
            <a:xfrm>
              <a:off x="7567753" y="4325241"/>
              <a:ext cx="5761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=4</a:t>
              </a:r>
            </a:p>
          </p:txBody>
        </p:sp>
      </p:grpSp>
      <p:sp>
        <p:nvSpPr>
          <p:cNvPr id="105" name="灯片编号占位符 10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14282" y="571480"/>
            <a:ext cx="8643998" cy="533913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n,t;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a;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存放所有整数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cnt=0;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累计解个数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tot=0;                       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累计搜索的结点个数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x;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 {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输出一个解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第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%d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个解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,",++cnt);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选取的数为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for (int i=0;i&lt;x.size();i++)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x[i]==1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printf("%d ",a[i]);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printf("\n");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14282" y="500042"/>
            <a:ext cx="8643998" cy="481335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cs,int i) { 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tot++;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累计调用次数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if (i&gt;=n)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(cs==t) disp();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找到一个满足条件的解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else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没有到达叶子结点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x[i]=1;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选取整数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(cs+a[i],i+1);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x[i]=0;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不选取整数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(cs,i+1);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28662" y="2714620"/>
            <a:ext cx="2714644" cy="785818"/>
          </a:xfrm>
          <a:prstGeom prst="rect">
            <a:avLst/>
          </a:prstGeom>
          <a:ln w="19050">
            <a:solidFill>
              <a:srgbClr val="00B0F0"/>
            </a:solidFill>
            <a:prstDash val="sysDash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28662" y="3714752"/>
            <a:ext cx="2714644" cy="785818"/>
          </a:xfrm>
          <a:prstGeom prst="rect">
            <a:avLst/>
          </a:prstGeom>
          <a:ln w="19050">
            <a:solidFill>
              <a:srgbClr val="00B0F0"/>
            </a:solidFill>
            <a:prstDash val="sysDash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85720" y="718670"/>
            <a:ext cx="8643998" cy="335327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subs1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T)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求解子集和问题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a=A;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t=T;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x=vector&lt;int&gt;(n);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求解结果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(0,0);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开始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printf("tot=%d\n",tot);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42910" y="1142984"/>
            <a:ext cx="5357850" cy="1664659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52000" tIns="108000" bIns="108000" rtlCol="0">
            <a:spAutoFit/>
          </a:bodyPr>
          <a:lstStyle/>
          <a:p>
            <a:pPr algn="l"/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求解结果</a:t>
            </a:r>
          </a:p>
          <a:p>
            <a:pPr algn="l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第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个解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选取的数为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3 5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第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个解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选取的数为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1 5 2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tot=31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4282" y="357166"/>
            <a:ext cx="8358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A={3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T=8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，调用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subs1(A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时的输出：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596" y="3500438"/>
            <a:ext cx="8215370" cy="173380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subs1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：对于含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个元素的数组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，解空间是一棵高度为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的满二叉树，共有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个结点，递归调用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次，每找到一个满足条件的解就调用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disp()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输出，所以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subs()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算法的最坏时间复杂度为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42844" y="171370"/>
            <a:ext cx="1928826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2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）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左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剪支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76" y="3059668"/>
            <a:ext cx="2857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i="1">
                <a:solidFill>
                  <a:srgbClr val="0000FF"/>
                </a:solidFill>
              </a:rPr>
              <a:t>a</a:t>
            </a:r>
            <a:r>
              <a:rPr lang="en-US" altLang="zh-CN" sz="1800">
                <a:solidFill>
                  <a:srgbClr val="0000FF"/>
                </a:solidFill>
              </a:rPr>
              <a:t>=</a:t>
            </a:r>
            <a:r>
              <a:rPr lang="zh-CN" altLang="zh-CN" sz="1800">
                <a:solidFill>
                  <a:srgbClr val="0000FF"/>
                </a:solidFill>
              </a:rPr>
              <a:t>（</a:t>
            </a:r>
            <a:r>
              <a:rPr lang="en-US" altLang="zh-CN" sz="1800">
                <a:solidFill>
                  <a:srgbClr val="0000FF"/>
                </a:solidFill>
              </a:rPr>
              <a:t>3</a:t>
            </a:r>
            <a:r>
              <a:rPr lang="zh-CN" altLang="zh-CN" sz="1800">
                <a:solidFill>
                  <a:srgbClr val="0000FF"/>
                </a:solidFill>
              </a:rPr>
              <a:t>，</a:t>
            </a:r>
            <a:r>
              <a:rPr lang="en-US" altLang="zh-CN" sz="1800">
                <a:solidFill>
                  <a:srgbClr val="0000FF"/>
                </a:solidFill>
              </a:rPr>
              <a:t>1</a:t>
            </a:r>
            <a:r>
              <a:rPr lang="zh-CN" altLang="zh-CN" sz="1800">
                <a:solidFill>
                  <a:srgbClr val="0000FF"/>
                </a:solidFill>
              </a:rPr>
              <a:t>，</a:t>
            </a:r>
            <a:r>
              <a:rPr lang="en-US" altLang="zh-CN" sz="1800">
                <a:solidFill>
                  <a:srgbClr val="0000FF"/>
                </a:solidFill>
              </a:rPr>
              <a:t>5</a:t>
            </a:r>
            <a:r>
              <a:rPr lang="zh-CN" altLang="zh-CN" sz="1800">
                <a:solidFill>
                  <a:srgbClr val="0000FF"/>
                </a:solidFill>
              </a:rPr>
              <a:t>，</a:t>
            </a:r>
            <a:r>
              <a:rPr lang="en-US" altLang="zh-CN" sz="1800">
                <a:solidFill>
                  <a:srgbClr val="0000FF"/>
                </a:solidFill>
              </a:rPr>
              <a:t>2</a:t>
            </a:r>
            <a:r>
              <a:rPr lang="zh-CN" altLang="zh-CN" sz="1800">
                <a:solidFill>
                  <a:srgbClr val="0000FF"/>
                </a:solidFill>
              </a:rPr>
              <a:t>），</a:t>
            </a:r>
            <a:r>
              <a:rPr lang="en-US" altLang="zh-CN" sz="1800">
                <a:solidFill>
                  <a:srgbClr val="0000FF"/>
                </a:solidFill>
              </a:rPr>
              <a:t>t=8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6173" name="Rectangle 9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7" name="TextBox 106"/>
          <p:cNvSpPr txBox="1"/>
          <p:nvPr/>
        </p:nvSpPr>
        <p:spPr>
          <a:xfrm>
            <a:off x="285720" y="966034"/>
            <a:ext cx="8501122" cy="323421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当搜索到第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&lt;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）层结点时，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表示当前已经选取的整数和（其中不包含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），判断选择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是否合适：</a:t>
            </a:r>
          </a:p>
          <a:p>
            <a:pPr marL="914400" lvl="1" indent="-457200" algn="l">
              <a:lnSpc>
                <a:spcPts val="35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若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cs+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]&gt;t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，不必继续该路径，终止搜索，也就是左剪支。</a:t>
            </a:r>
          </a:p>
          <a:p>
            <a:pPr marL="914400" lvl="1" indent="-457200" algn="l">
              <a:lnSpc>
                <a:spcPts val="35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若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cs+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FF00FF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，沿着该路径继续下去可能会找到解，不能终止。</a:t>
            </a:r>
          </a:p>
          <a:p>
            <a:pPr marL="457200" indent="-457200" algn="l">
              <a:lnSpc>
                <a:spcPts val="35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简单地说，仅仅扩展满足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cs+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FF0000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的左孩子结点。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85720" y="500042"/>
            <a:ext cx="35004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a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=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5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），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t=8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6173" name="Rectangle 9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108"/>
          <p:cNvGrpSpPr/>
          <p:nvPr/>
        </p:nvGrpSpPr>
        <p:grpSpPr>
          <a:xfrm>
            <a:off x="82727" y="1571612"/>
            <a:ext cx="8929718" cy="3571900"/>
            <a:chOff x="794732" y="3304246"/>
            <a:chExt cx="7849234" cy="3053712"/>
          </a:xfrm>
        </p:grpSpPr>
        <p:grpSp>
          <p:nvGrpSpPr>
            <p:cNvPr id="3" name="组合 105"/>
            <p:cNvGrpSpPr/>
            <p:nvPr/>
          </p:nvGrpSpPr>
          <p:grpSpPr>
            <a:xfrm>
              <a:off x="961874" y="3304246"/>
              <a:ext cx="7682092" cy="3053712"/>
              <a:chOff x="676122" y="2437929"/>
              <a:chExt cx="7682092" cy="3053712"/>
            </a:xfrm>
          </p:grpSpPr>
          <p:sp>
            <p:nvSpPr>
              <p:cNvPr id="46171" name="Rectangle 91"/>
              <p:cNvSpPr>
                <a:spLocks noChangeArrowheads="1"/>
              </p:cNvSpPr>
              <p:nvPr/>
            </p:nvSpPr>
            <p:spPr bwMode="auto">
              <a:xfrm>
                <a:off x="6201630" y="3294237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70" name="Rectangle 90"/>
              <p:cNvSpPr>
                <a:spLocks noChangeArrowheads="1"/>
              </p:cNvSpPr>
              <p:nvPr/>
            </p:nvSpPr>
            <p:spPr bwMode="auto">
              <a:xfrm>
                <a:off x="5056573" y="3294237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69" name="Rectangle 89"/>
              <p:cNvSpPr>
                <a:spLocks noChangeArrowheads="1"/>
              </p:cNvSpPr>
              <p:nvPr/>
            </p:nvSpPr>
            <p:spPr bwMode="auto">
              <a:xfrm>
                <a:off x="2643671" y="3256859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68" name="Rectangle 88"/>
              <p:cNvSpPr>
                <a:spLocks noChangeArrowheads="1"/>
              </p:cNvSpPr>
              <p:nvPr/>
            </p:nvSpPr>
            <p:spPr bwMode="auto">
              <a:xfrm>
                <a:off x="1498614" y="3256859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67" name="Rectangle 87"/>
              <p:cNvSpPr>
                <a:spLocks noChangeArrowheads="1"/>
              </p:cNvSpPr>
              <p:nvPr/>
            </p:nvSpPr>
            <p:spPr bwMode="auto">
              <a:xfrm>
                <a:off x="4710620" y="2616893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66" name="Rectangle 86"/>
              <p:cNvSpPr>
                <a:spLocks noChangeArrowheads="1"/>
              </p:cNvSpPr>
              <p:nvPr/>
            </p:nvSpPr>
            <p:spPr bwMode="auto">
              <a:xfrm>
                <a:off x="6973447" y="3967050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65" name="Rectangle 85"/>
              <p:cNvSpPr>
                <a:spLocks noChangeArrowheads="1"/>
              </p:cNvSpPr>
              <p:nvPr/>
            </p:nvSpPr>
            <p:spPr bwMode="auto">
              <a:xfrm>
                <a:off x="6161675" y="3967050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64" name="Rectangle 84"/>
              <p:cNvSpPr>
                <a:spLocks noChangeArrowheads="1"/>
              </p:cNvSpPr>
              <p:nvPr/>
            </p:nvSpPr>
            <p:spPr bwMode="auto">
              <a:xfrm>
                <a:off x="5204700" y="3960254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63" name="Rectangle 83"/>
              <p:cNvSpPr>
                <a:spLocks noChangeArrowheads="1"/>
              </p:cNvSpPr>
              <p:nvPr/>
            </p:nvSpPr>
            <p:spPr bwMode="auto">
              <a:xfrm>
                <a:off x="4392927" y="3960254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62" name="Rectangle 82"/>
              <p:cNvSpPr>
                <a:spLocks noChangeArrowheads="1"/>
              </p:cNvSpPr>
              <p:nvPr/>
            </p:nvSpPr>
            <p:spPr bwMode="auto">
              <a:xfrm>
                <a:off x="3371634" y="3960254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61" name="Rectangle 81"/>
              <p:cNvSpPr>
                <a:spLocks noChangeArrowheads="1"/>
              </p:cNvSpPr>
              <p:nvPr/>
            </p:nvSpPr>
            <p:spPr bwMode="auto">
              <a:xfrm>
                <a:off x="2559862" y="3960254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60" name="Rectangle 80"/>
              <p:cNvSpPr>
                <a:spLocks noChangeArrowheads="1"/>
              </p:cNvSpPr>
              <p:nvPr/>
            </p:nvSpPr>
            <p:spPr bwMode="auto">
              <a:xfrm>
                <a:off x="1602887" y="3953458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59" name="Rectangle 79"/>
              <p:cNvSpPr>
                <a:spLocks noChangeArrowheads="1"/>
              </p:cNvSpPr>
              <p:nvPr/>
            </p:nvSpPr>
            <p:spPr bwMode="auto">
              <a:xfrm>
                <a:off x="1033438" y="4125574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58" name="Rectangle 78"/>
              <p:cNvSpPr>
                <a:spLocks noChangeArrowheads="1"/>
              </p:cNvSpPr>
              <p:nvPr/>
            </p:nvSpPr>
            <p:spPr bwMode="auto">
              <a:xfrm>
                <a:off x="6438437" y="4731611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57" name="Rectangle 77"/>
              <p:cNvSpPr>
                <a:spLocks noChangeArrowheads="1"/>
              </p:cNvSpPr>
              <p:nvPr/>
            </p:nvSpPr>
            <p:spPr bwMode="auto">
              <a:xfrm>
                <a:off x="5889785" y="4731611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56" name="Rectangle 76"/>
              <p:cNvSpPr>
                <a:spLocks noChangeArrowheads="1"/>
              </p:cNvSpPr>
              <p:nvPr/>
            </p:nvSpPr>
            <p:spPr bwMode="auto">
              <a:xfrm>
                <a:off x="7321349" y="4731611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55" name="Rectangle 75"/>
              <p:cNvSpPr>
                <a:spLocks noChangeArrowheads="1"/>
              </p:cNvSpPr>
              <p:nvPr/>
            </p:nvSpPr>
            <p:spPr bwMode="auto">
              <a:xfrm>
                <a:off x="6772696" y="4731611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54" name="Rectangle 74"/>
              <p:cNvSpPr>
                <a:spLocks noChangeArrowheads="1"/>
              </p:cNvSpPr>
              <p:nvPr/>
            </p:nvSpPr>
            <p:spPr bwMode="auto">
              <a:xfrm>
                <a:off x="4660919" y="4745203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53" name="Rectangle 73"/>
              <p:cNvSpPr>
                <a:spLocks noChangeArrowheads="1"/>
              </p:cNvSpPr>
              <p:nvPr/>
            </p:nvSpPr>
            <p:spPr bwMode="auto">
              <a:xfrm>
                <a:off x="4112267" y="4745203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52" name="Rectangle 72"/>
              <p:cNvSpPr>
                <a:spLocks noChangeArrowheads="1"/>
              </p:cNvSpPr>
              <p:nvPr/>
            </p:nvSpPr>
            <p:spPr bwMode="auto">
              <a:xfrm>
                <a:off x="5543831" y="4745203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51" name="Rectangle 71"/>
              <p:cNvSpPr>
                <a:spLocks noChangeArrowheads="1"/>
              </p:cNvSpPr>
              <p:nvPr/>
            </p:nvSpPr>
            <p:spPr bwMode="auto">
              <a:xfrm>
                <a:off x="4995179" y="4745203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50" name="Rectangle 70"/>
              <p:cNvSpPr>
                <a:spLocks noChangeArrowheads="1"/>
              </p:cNvSpPr>
              <p:nvPr/>
            </p:nvSpPr>
            <p:spPr bwMode="auto">
              <a:xfrm>
                <a:off x="2813236" y="4718019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49" name="Rectangle 69"/>
              <p:cNvSpPr>
                <a:spLocks noChangeArrowheads="1"/>
              </p:cNvSpPr>
              <p:nvPr/>
            </p:nvSpPr>
            <p:spPr bwMode="auto">
              <a:xfrm>
                <a:off x="2264584" y="4718019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48" name="Rectangle 68"/>
              <p:cNvSpPr>
                <a:spLocks noChangeArrowheads="1"/>
              </p:cNvSpPr>
              <p:nvPr/>
            </p:nvSpPr>
            <p:spPr bwMode="auto">
              <a:xfrm>
                <a:off x="3696148" y="4718019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47" name="Rectangle 67"/>
              <p:cNvSpPr>
                <a:spLocks noChangeArrowheads="1"/>
              </p:cNvSpPr>
              <p:nvPr/>
            </p:nvSpPr>
            <p:spPr bwMode="auto">
              <a:xfrm>
                <a:off x="3147496" y="4718019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46" name="Rectangle 66"/>
              <p:cNvSpPr>
                <a:spLocks noChangeArrowheads="1"/>
              </p:cNvSpPr>
              <p:nvPr/>
            </p:nvSpPr>
            <p:spPr bwMode="auto">
              <a:xfrm>
                <a:off x="1927401" y="4680640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45" name="Rectangle 65"/>
              <p:cNvSpPr>
                <a:spLocks noChangeArrowheads="1"/>
              </p:cNvSpPr>
              <p:nvPr/>
            </p:nvSpPr>
            <p:spPr bwMode="auto">
              <a:xfrm>
                <a:off x="1378748" y="4680640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44" name="Rectangle 64"/>
              <p:cNvSpPr>
                <a:spLocks noChangeArrowheads="1"/>
              </p:cNvSpPr>
              <p:nvPr/>
            </p:nvSpPr>
            <p:spPr bwMode="auto">
              <a:xfrm>
                <a:off x="2723581" y="2639547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43" name="Oval 63"/>
              <p:cNvSpPr>
                <a:spLocks noChangeArrowheads="1"/>
              </p:cNvSpPr>
              <p:nvPr/>
            </p:nvSpPr>
            <p:spPr bwMode="auto">
              <a:xfrm>
                <a:off x="3667887" y="2437929"/>
                <a:ext cx="359597" cy="385112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42" name="AutoShape 62"/>
              <p:cNvSpPr>
                <a:spLocks noChangeShapeType="1"/>
              </p:cNvSpPr>
              <p:nvPr/>
            </p:nvSpPr>
            <p:spPr bwMode="auto">
              <a:xfrm flipH="1">
                <a:off x="2224629" y="2630485"/>
                <a:ext cx="1443259" cy="565208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41" name="Oval 61"/>
              <p:cNvSpPr>
                <a:spLocks noChangeArrowheads="1"/>
              </p:cNvSpPr>
              <p:nvPr/>
            </p:nvSpPr>
            <p:spPr bwMode="auto">
              <a:xfrm>
                <a:off x="4068414" y="509633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46140" name="Oval 60"/>
              <p:cNvSpPr>
                <a:spLocks noChangeArrowheads="1"/>
              </p:cNvSpPr>
              <p:nvPr/>
            </p:nvSpPr>
            <p:spPr bwMode="auto">
              <a:xfrm>
                <a:off x="4530334" y="509633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46139" name="Oval 59"/>
              <p:cNvSpPr>
                <a:spLocks noChangeArrowheads="1"/>
              </p:cNvSpPr>
              <p:nvPr/>
            </p:nvSpPr>
            <p:spPr bwMode="auto">
              <a:xfrm>
                <a:off x="4288654" y="4403133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46138" name="AutoShape 58"/>
              <p:cNvSpPr>
                <a:spLocks noChangeShapeType="1"/>
              </p:cNvSpPr>
              <p:nvPr/>
            </p:nvSpPr>
            <p:spPr bwMode="auto">
              <a:xfrm flipH="1">
                <a:off x="4248699" y="4731611"/>
                <a:ext cx="92579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37" name="AutoShape 57"/>
              <p:cNvSpPr>
                <a:spLocks noChangeShapeType="1"/>
              </p:cNvSpPr>
              <p:nvPr/>
            </p:nvSpPr>
            <p:spPr bwMode="auto">
              <a:xfrm>
                <a:off x="4595627" y="4731611"/>
                <a:ext cx="114993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36" name="Oval 56"/>
              <p:cNvSpPr>
                <a:spLocks noChangeArrowheads="1"/>
              </p:cNvSpPr>
              <p:nvPr/>
            </p:nvSpPr>
            <p:spPr bwMode="auto">
              <a:xfrm>
                <a:off x="4980561" y="509633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46135" name="Oval 55"/>
              <p:cNvSpPr>
                <a:spLocks noChangeArrowheads="1"/>
              </p:cNvSpPr>
              <p:nvPr/>
            </p:nvSpPr>
            <p:spPr bwMode="auto">
              <a:xfrm>
                <a:off x="5416170" y="5096334"/>
                <a:ext cx="358622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34" name="Oval 54"/>
              <p:cNvSpPr>
                <a:spLocks noChangeArrowheads="1"/>
              </p:cNvSpPr>
              <p:nvPr/>
            </p:nvSpPr>
            <p:spPr bwMode="auto">
              <a:xfrm>
                <a:off x="5182286" y="4403133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33" name="AutoShape 53"/>
              <p:cNvSpPr>
                <a:spLocks noChangeShapeType="1"/>
              </p:cNvSpPr>
              <p:nvPr/>
            </p:nvSpPr>
            <p:spPr bwMode="auto">
              <a:xfrm flipH="1">
                <a:off x="5160846" y="4731611"/>
                <a:ext cx="74063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32" name="AutoShape 52"/>
              <p:cNvSpPr>
                <a:spLocks noChangeShapeType="1"/>
              </p:cNvSpPr>
              <p:nvPr/>
            </p:nvSpPr>
            <p:spPr bwMode="auto">
              <a:xfrm>
                <a:off x="5489258" y="4731611"/>
                <a:ext cx="106222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31" name="Oval 51"/>
              <p:cNvSpPr>
                <a:spLocks noChangeArrowheads="1"/>
              </p:cNvSpPr>
              <p:nvPr/>
            </p:nvSpPr>
            <p:spPr bwMode="auto">
              <a:xfrm>
                <a:off x="4703798" y="3694074"/>
                <a:ext cx="358622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30" name="AutoShape 50"/>
              <p:cNvSpPr>
                <a:spLocks noChangeShapeType="1"/>
              </p:cNvSpPr>
              <p:nvPr/>
            </p:nvSpPr>
            <p:spPr bwMode="auto">
              <a:xfrm flipH="1">
                <a:off x="4468940" y="4022552"/>
                <a:ext cx="287482" cy="38058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29" name="AutoShape 49"/>
              <p:cNvSpPr>
                <a:spLocks noChangeShapeType="1"/>
              </p:cNvSpPr>
              <p:nvPr/>
            </p:nvSpPr>
            <p:spPr bwMode="auto">
              <a:xfrm>
                <a:off x="5009796" y="4022552"/>
                <a:ext cx="352775" cy="38058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28" name="Oval 48"/>
              <p:cNvSpPr>
                <a:spLocks noChangeArrowheads="1"/>
              </p:cNvSpPr>
              <p:nvPr/>
            </p:nvSpPr>
            <p:spPr bwMode="auto">
              <a:xfrm>
                <a:off x="5841059" y="509633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7</a:t>
                </a:r>
              </a:p>
            </p:txBody>
          </p:sp>
          <p:sp>
            <p:nvSpPr>
              <p:cNvPr id="46127" name="Oval 47"/>
              <p:cNvSpPr>
                <a:spLocks noChangeArrowheads="1"/>
              </p:cNvSpPr>
              <p:nvPr/>
            </p:nvSpPr>
            <p:spPr bwMode="auto">
              <a:xfrm>
                <a:off x="6292260" y="509633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46126" name="Oval 46"/>
              <p:cNvSpPr>
                <a:spLocks noChangeArrowheads="1"/>
              </p:cNvSpPr>
              <p:nvPr/>
            </p:nvSpPr>
            <p:spPr bwMode="auto">
              <a:xfrm>
                <a:off x="6059350" y="4403133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46125" name="AutoShape 45"/>
              <p:cNvSpPr>
                <a:spLocks noChangeShapeType="1"/>
              </p:cNvSpPr>
              <p:nvPr/>
            </p:nvSpPr>
            <p:spPr bwMode="auto">
              <a:xfrm flipH="1">
                <a:off x="6021344" y="4731611"/>
                <a:ext cx="90630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24" name="AutoShape 44"/>
              <p:cNvSpPr>
                <a:spLocks noChangeShapeType="1"/>
              </p:cNvSpPr>
              <p:nvPr/>
            </p:nvSpPr>
            <p:spPr bwMode="auto">
              <a:xfrm>
                <a:off x="6366323" y="4731611"/>
                <a:ext cx="106222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23" name="Oval 43"/>
              <p:cNvSpPr>
                <a:spLocks noChangeArrowheads="1"/>
              </p:cNvSpPr>
              <p:nvPr/>
            </p:nvSpPr>
            <p:spPr bwMode="auto">
              <a:xfrm>
                <a:off x="6742486" y="509633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46122" name="Oval 42"/>
              <p:cNvSpPr>
                <a:spLocks noChangeArrowheads="1"/>
              </p:cNvSpPr>
              <p:nvPr/>
            </p:nvSpPr>
            <p:spPr bwMode="auto">
              <a:xfrm>
                <a:off x="7204407" y="5106529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21" name="Oval 41"/>
              <p:cNvSpPr>
                <a:spLocks noChangeArrowheads="1"/>
              </p:cNvSpPr>
              <p:nvPr/>
            </p:nvSpPr>
            <p:spPr bwMode="auto">
              <a:xfrm>
                <a:off x="6952982" y="4403133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20" name="AutoShape 40"/>
              <p:cNvSpPr>
                <a:spLocks noChangeShapeType="1"/>
              </p:cNvSpPr>
              <p:nvPr/>
            </p:nvSpPr>
            <p:spPr bwMode="auto">
              <a:xfrm flipH="1">
                <a:off x="6922772" y="4731611"/>
                <a:ext cx="82834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19" name="AutoShape 39"/>
              <p:cNvSpPr>
                <a:spLocks noChangeShapeType="1"/>
              </p:cNvSpPr>
              <p:nvPr/>
            </p:nvSpPr>
            <p:spPr bwMode="auto">
              <a:xfrm>
                <a:off x="7259955" y="4731611"/>
                <a:ext cx="124738" cy="374918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18" name="Oval 38"/>
              <p:cNvSpPr>
                <a:spLocks noChangeArrowheads="1"/>
              </p:cNvSpPr>
              <p:nvPr/>
            </p:nvSpPr>
            <p:spPr bwMode="auto">
              <a:xfrm>
                <a:off x="6483265" y="369407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17" name="AutoShape 37"/>
              <p:cNvSpPr>
                <a:spLocks noChangeShapeType="1"/>
              </p:cNvSpPr>
              <p:nvPr/>
            </p:nvSpPr>
            <p:spPr bwMode="auto">
              <a:xfrm flipH="1">
                <a:off x="6239636" y="4022552"/>
                <a:ext cx="296253" cy="38058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16" name="AutoShape 36"/>
              <p:cNvSpPr>
                <a:spLocks noChangeShapeType="1"/>
              </p:cNvSpPr>
              <p:nvPr/>
            </p:nvSpPr>
            <p:spPr bwMode="auto">
              <a:xfrm>
                <a:off x="6790238" y="4022552"/>
                <a:ext cx="343030" cy="38058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15" name="Oval 35"/>
              <p:cNvSpPr>
                <a:spLocks noChangeArrowheads="1"/>
              </p:cNvSpPr>
              <p:nvPr/>
            </p:nvSpPr>
            <p:spPr bwMode="auto">
              <a:xfrm>
                <a:off x="5485360" y="3160581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14" name="AutoShape 34"/>
              <p:cNvSpPr>
                <a:spLocks noChangeShapeType="1"/>
              </p:cNvSpPr>
              <p:nvPr/>
            </p:nvSpPr>
            <p:spPr bwMode="auto">
              <a:xfrm flipH="1">
                <a:off x="5009796" y="3353137"/>
                <a:ext cx="475564" cy="39757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13" name="AutoShape 33"/>
              <p:cNvSpPr>
                <a:spLocks noChangeShapeType="1"/>
              </p:cNvSpPr>
              <p:nvPr/>
            </p:nvSpPr>
            <p:spPr bwMode="auto">
              <a:xfrm>
                <a:off x="5844957" y="3353137"/>
                <a:ext cx="690932" cy="39757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12" name="AutoShape 32"/>
              <p:cNvSpPr>
                <a:spLocks noChangeShapeType="1"/>
              </p:cNvSpPr>
              <p:nvPr/>
            </p:nvSpPr>
            <p:spPr bwMode="auto">
              <a:xfrm>
                <a:off x="4027484" y="2630485"/>
                <a:ext cx="1510500" cy="586729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11" name="Oval 31"/>
              <p:cNvSpPr>
                <a:spLocks noChangeArrowheads="1"/>
              </p:cNvSpPr>
              <p:nvPr/>
            </p:nvSpPr>
            <p:spPr bwMode="auto">
              <a:xfrm>
                <a:off x="676122" y="4381612"/>
                <a:ext cx="358622" cy="385112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9</a:t>
                </a:r>
              </a:p>
            </p:txBody>
          </p:sp>
          <p:sp>
            <p:nvSpPr>
              <p:cNvPr id="46110" name="Oval 30"/>
              <p:cNvSpPr>
                <a:spLocks noChangeArrowheads="1"/>
              </p:cNvSpPr>
              <p:nvPr/>
            </p:nvSpPr>
            <p:spPr bwMode="auto">
              <a:xfrm>
                <a:off x="1351462" y="507481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46109" name="Oval 29"/>
              <p:cNvSpPr>
                <a:spLocks noChangeArrowheads="1"/>
              </p:cNvSpPr>
              <p:nvPr/>
            </p:nvSpPr>
            <p:spPr bwMode="auto">
              <a:xfrm>
                <a:off x="1804612" y="5074814"/>
                <a:ext cx="360571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46108" name="Oval 28"/>
              <p:cNvSpPr>
                <a:spLocks noChangeArrowheads="1"/>
              </p:cNvSpPr>
              <p:nvPr/>
            </p:nvSpPr>
            <p:spPr bwMode="auto">
              <a:xfrm>
                <a:off x="1562932" y="4381612"/>
                <a:ext cx="358622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46107" name="AutoShape 27"/>
              <p:cNvSpPr>
                <a:spLocks noChangeShapeType="1"/>
              </p:cNvSpPr>
              <p:nvPr/>
            </p:nvSpPr>
            <p:spPr bwMode="auto">
              <a:xfrm flipH="1">
                <a:off x="1531747" y="4710090"/>
                <a:ext cx="83808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06" name="AutoShape 26"/>
              <p:cNvSpPr>
                <a:spLocks noChangeShapeType="1"/>
              </p:cNvSpPr>
              <p:nvPr/>
            </p:nvSpPr>
            <p:spPr bwMode="auto">
              <a:xfrm>
                <a:off x="1868930" y="4710090"/>
                <a:ext cx="115967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05" name="Oval 25"/>
              <p:cNvSpPr>
                <a:spLocks noChangeArrowheads="1"/>
              </p:cNvSpPr>
              <p:nvPr/>
            </p:nvSpPr>
            <p:spPr bwMode="auto">
              <a:xfrm>
                <a:off x="1083470" y="3672553"/>
                <a:ext cx="360571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46104" name="AutoShape 24"/>
              <p:cNvSpPr>
                <a:spLocks noChangeShapeType="1"/>
              </p:cNvSpPr>
              <p:nvPr/>
            </p:nvSpPr>
            <p:spPr bwMode="auto">
              <a:xfrm flipH="1">
                <a:off x="855433" y="4001031"/>
                <a:ext cx="280661" cy="380581"/>
              </a:xfrm>
              <a:prstGeom prst="straightConnector1">
                <a:avLst/>
              </a:prstGeom>
              <a:noFill/>
              <a:ln w="38100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03" name="AutoShape 23"/>
              <p:cNvSpPr>
                <a:spLocks noChangeShapeType="1"/>
              </p:cNvSpPr>
              <p:nvPr/>
            </p:nvSpPr>
            <p:spPr bwMode="auto">
              <a:xfrm>
                <a:off x="1391417" y="4001031"/>
                <a:ext cx="350826" cy="38058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02" name="Oval 22"/>
              <p:cNvSpPr>
                <a:spLocks noChangeArrowheads="1"/>
              </p:cNvSpPr>
              <p:nvPr/>
            </p:nvSpPr>
            <p:spPr bwMode="auto">
              <a:xfrm>
                <a:off x="2238272" y="5074814"/>
                <a:ext cx="359597" cy="385112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10</a:t>
                </a:r>
              </a:p>
            </p:txBody>
          </p:sp>
          <p:sp>
            <p:nvSpPr>
              <p:cNvPr id="46101" name="Oval 21"/>
              <p:cNvSpPr>
                <a:spLocks noChangeArrowheads="1"/>
              </p:cNvSpPr>
              <p:nvPr/>
            </p:nvSpPr>
            <p:spPr bwMode="auto">
              <a:xfrm>
                <a:off x="2690447" y="507481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46100" name="Oval 20"/>
              <p:cNvSpPr>
                <a:spLocks noChangeArrowheads="1"/>
              </p:cNvSpPr>
              <p:nvPr/>
            </p:nvSpPr>
            <p:spPr bwMode="auto">
              <a:xfrm>
                <a:off x="2457538" y="4381612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46099" name="AutoShape 19"/>
              <p:cNvSpPr>
                <a:spLocks noChangeShapeType="1"/>
              </p:cNvSpPr>
              <p:nvPr/>
            </p:nvSpPr>
            <p:spPr bwMode="auto">
              <a:xfrm flipH="1">
                <a:off x="2418557" y="4710090"/>
                <a:ext cx="91605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98" name="AutoShape 18"/>
              <p:cNvSpPr>
                <a:spLocks noChangeShapeType="1"/>
              </p:cNvSpPr>
              <p:nvPr/>
            </p:nvSpPr>
            <p:spPr bwMode="auto">
              <a:xfrm>
                <a:off x="2764511" y="4710090"/>
                <a:ext cx="106222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97" name="Oval 17"/>
              <p:cNvSpPr>
                <a:spLocks noChangeArrowheads="1"/>
              </p:cNvSpPr>
              <p:nvPr/>
            </p:nvSpPr>
            <p:spPr bwMode="auto">
              <a:xfrm>
                <a:off x="3114362" y="507481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46096" name="Oval 16"/>
              <p:cNvSpPr>
                <a:spLocks noChangeArrowheads="1"/>
              </p:cNvSpPr>
              <p:nvPr/>
            </p:nvSpPr>
            <p:spPr bwMode="auto">
              <a:xfrm>
                <a:off x="3566538" y="5085008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46095" name="Oval 15"/>
              <p:cNvSpPr>
                <a:spLocks noChangeArrowheads="1"/>
              </p:cNvSpPr>
              <p:nvPr/>
            </p:nvSpPr>
            <p:spPr bwMode="auto">
              <a:xfrm>
                <a:off x="3324858" y="4381612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46094" name="AutoShape 14"/>
              <p:cNvSpPr>
                <a:spLocks noChangeShapeType="1"/>
              </p:cNvSpPr>
              <p:nvPr/>
            </p:nvSpPr>
            <p:spPr bwMode="auto">
              <a:xfrm flipH="1">
                <a:off x="3294648" y="4710090"/>
                <a:ext cx="82834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93" name="AutoShape 13"/>
              <p:cNvSpPr>
                <a:spLocks noChangeShapeType="1"/>
              </p:cNvSpPr>
              <p:nvPr/>
            </p:nvSpPr>
            <p:spPr bwMode="auto">
              <a:xfrm>
                <a:off x="3631830" y="4710090"/>
                <a:ext cx="114993" cy="374918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92" name="Oval 12"/>
              <p:cNvSpPr>
                <a:spLocks noChangeArrowheads="1"/>
              </p:cNvSpPr>
              <p:nvPr/>
            </p:nvSpPr>
            <p:spPr bwMode="auto">
              <a:xfrm>
                <a:off x="2881453" y="3672553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46091" name="AutoShape 11"/>
              <p:cNvSpPr>
                <a:spLocks noChangeShapeType="1"/>
              </p:cNvSpPr>
              <p:nvPr/>
            </p:nvSpPr>
            <p:spPr bwMode="auto">
              <a:xfrm flipH="1">
                <a:off x="2637824" y="4001031"/>
                <a:ext cx="296253" cy="38058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90" name="AutoShape 10"/>
              <p:cNvSpPr>
                <a:spLocks noChangeShapeType="1"/>
              </p:cNvSpPr>
              <p:nvPr/>
            </p:nvSpPr>
            <p:spPr bwMode="auto">
              <a:xfrm>
                <a:off x="3188425" y="4001031"/>
                <a:ext cx="316718" cy="38058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89" name="Oval 9"/>
              <p:cNvSpPr>
                <a:spLocks noChangeArrowheads="1"/>
              </p:cNvSpPr>
              <p:nvPr/>
            </p:nvSpPr>
            <p:spPr bwMode="auto">
              <a:xfrm>
                <a:off x="1917656" y="3139060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46088" name="AutoShape 8"/>
              <p:cNvSpPr>
                <a:spLocks noChangeShapeType="1"/>
              </p:cNvSpPr>
              <p:nvPr/>
            </p:nvSpPr>
            <p:spPr bwMode="auto">
              <a:xfrm flipH="1">
                <a:off x="1391417" y="3331616"/>
                <a:ext cx="526239" cy="39757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87" name="AutoShape 7"/>
              <p:cNvSpPr>
                <a:spLocks noChangeShapeType="1"/>
              </p:cNvSpPr>
              <p:nvPr/>
            </p:nvSpPr>
            <p:spPr bwMode="auto">
              <a:xfrm>
                <a:off x="2277252" y="3331616"/>
                <a:ext cx="656824" cy="39757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86" name="Rectangle 6"/>
              <p:cNvSpPr>
                <a:spLocks noChangeArrowheads="1"/>
              </p:cNvSpPr>
              <p:nvPr/>
            </p:nvSpPr>
            <p:spPr bwMode="auto">
              <a:xfrm>
                <a:off x="6753241" y="2466247"/>
                <a:ext cx="1578318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结点层次</a:t>
                </a:r>
                <a:r>
                  <a:rPr kumimoji="0" lang="en-US" altLang="zh-CN" sz="2000" b="0" i="1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i</a:t>
                </a: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=0</a:t>
                </a:r>
              </a:p>
            </p:txBody>
          </p:sp>
          <p:sp>
            <p:nvSpPr>
              <p:cNvPr id="46085" name="Rectangle 5"/>
              <p:cNvSpPr>
                <a:spLocks noChangeArrowheads="1"/>
              </p:cNvSpPr>
              <p:nvPr/>
            </p:nvSpPr>
            <p:spPr bwMode="auto">
              <a:xfrm>
                <a:off x="7692640" y="3122069"/>
                <a:ext cx="665574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1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i</a:t>
                </a: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=1</a:t>
                </a:r>
              </a:p>
            </p:txBody>
          </p:sp>
          <p:sp>
            <p:nvSpPr>
              <p:cNvPr id="46084" name="Rectangle 4"/>
              <p:cNvSpPr>
                <a:spLocks noChangeArrowheads="1"/>
              </p:cNvSpPr>
              <p:nvPr/>
            </p:nvSpPr>
            <p:spPr bwMode="auto">
              <a:xfrm>
                <a:off x="7692640" y="3707666"/>
                <a:ext cx="665574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1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i</a:t>
                </a: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=2</a:t>
                </a:r>
              </a:p>
            </p:txBody>
          </p:sp>
          <p:sp>
            <p:nvSpPr>
              <p:cNvPr id="46083" name="Rectangle 3"/>
              <p:cNvSpPr>
                <a:spLocks noChangeArrowheads="1"/>
              </p:cNvSpPr>
              <p:nvPr/>
            </p:nvSpPr>
            <p:spPr bwMode="auto">
              <a:xfrm>
                <a:off x="7692640" y="4432583"/>
                <a:ext cx="665574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1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i</a:t>
                </a: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=3</a:t>
                </a:r>
              </a:p>
            </p:txBody>
          </p:sp>
          <p:sp>
            <p:nvSpPr>
              <p:cNvPr id="46082" name="Rectangle 2"/>
              <p:cNvSpPr>
                <a:spLocks noChangeArrowheads="1"/>
              </p:cNvSpPr>
              <p:nvPr/>
            </p:nvSpPr>
            <p:spPr bwMode="auto">
              <a:xfrm>
                <a:off x="7692640" y="5158632"/>
                <a:ext cx="665574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1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i</a:t>
                </a: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=4</a:t>
                </a:r>
              </a:p>
            </p:txBody>
          </p:sp>
        </p:grpSp>
        <p:sp>
          <p:nvSpPr>
            <p:cNvPr id="108" name="TextBox 107"/>
            <p:cNvSpPr txBox="1"/>
            <p:nvPr/>
          </p:nvSpPr>
          <p:spPr>
            <a:xfrm>
              <a:off x="794732" y="4530714"/>
              <a:ext cx="785818" cy="342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cs=4</a:t>
              </a:r>
              <a:endParaRPr lang="zh-CN" altLang="en-US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99" name="灯片编号占位符 9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500042"/>
            <a:ext cx="8643998" cy="476205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cs,int i) { 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tot++;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累计调用次数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if (i&gt;=n)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(cs==t)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找到一个满足条件的解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else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没有到达叶子结点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cs+a[i]&lt;=t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左孩子结点剪支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x[i]=1;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选取整数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(cs+a[i],i+1);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x[i]=0;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不选取整数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(cs,i+1);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00100" y="2391296"/>
            <a:ext cx="3214710" cy="1323455"/>
          </a:xfrm>
          <a:prstGeom prst="rect">
            <a:avLst/>
          </a:prstGeom>
          <a:ln w="19050">
            <a:solidFill>
              <a:srgbClr val="00B0F0"/>
            </a:solidFill>
            <a:prstDash val="sysDash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5720" y="357166"/>
            <a:ext cx="207170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3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）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右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剪支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20" y="1214422"/>
            <a:ext cx="8501122" cy="324383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进一步考虑是否扩展右孩子结点。当搜索到第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&lt;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）层的某个结点时，用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rs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表示余下的整数和，即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rs=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]+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（其中包含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如果不选择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，此时剩余的所有整数和为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rs=rs-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+1]+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Times New Roman" pitchFamily="18" charset="0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），若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cs+rs&lt;t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成立，说明即便选择所有剩余整数其和都不可能达到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右剪支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就是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仅仅扩展满足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cs+rs</a:t>
            </a:r>
            <a:r>
              <a:rPr lang="zh-CN" altLang="zh-CN">
                <a:solidFill>
                  <a:srgbClr val="FF00FF"/>
                </a:solidFill>
                <a:latin typeface="+mj-ea"/>
                <a:ea typeface="+mj-ea"/>
                <a:cs typeface="Times New Roman" pitchFamily="18" charset="0"/>
              </a:rPr>
              <a:t>≥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的右孩子结点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66"/>
          <p:cNvGrpSpPr/>
          <p:nvPr/>
        </p:nvGrpSpPr>
        <p:grpSpPr>
          <a:xfrm>
            <a:off x="182041" y="571480"/>
            <a:ext cx="8961959" cy="4000528"/>
            <a:chOff x="508811" y="3286124"/>
            <a:chExt cx="7465936" cy="3033473"/>
          </a:xfrm>
        </p:grpSpPr>
        <p:sp>
          <p:nvSpPr>
            <p:cNvPr id="7" name="TextBox 6"/>
            <p:cNvSpPr txBox="1"/>
            <p:nvPr/>
          </p:nvSpPr>
          <p:spPr>
            <a:xfrm>
              <a:off x="534798" y="3286124"/>
              <a:ext cx="2857488" cy="3267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2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a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=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（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3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2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），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t=8</a:t>
              </a:r>
              <a:endPara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grpSp>
          <p:nvGrpSpPr>
            <p:cNvPr id="3" name="组合 65"/>
            <p:cNvGrpSpPr/>
            <p:nvPr/>
          </p:nvGrpSpPr>
          <p:grpSpPr>
            <a:xfrm>
              <a:off x="508811" y="3580033"/>
              <a:ext cx="7465936" cy="2739564"/>
              <a:chOff x="508811" y="3580033"/>
              <a:chExt cx="7465936" cy="2739564"/>
            </a:xfrm>
          </p:grpSpPr>
          <p:sp>
            <p:nvSpPr>
              <p:cNvPr id="44087" name="Rectangle 55"/>
              <p:cNvSpPr>
                <a:spLocks noChangeArrowheads="1"/>
              </p:cNvSpPr>
              <p:nvPr/>
            </p:nvSpPr>
            <p:spPr bwMode="auto">
              <a:xfrm>
                <a:off x="5929322" y="4581533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86" name="Rectangle 54"/>
              <p:cNvSpPr>
                <a:spLocks noChangeArrowheads="1"/>
              </p:cNvSpPr>
              <p:nvPr/>
            </p:nvSpPr>
            <p:spPr bwMode="auto">
              <a:xfrm>
                <a:off x="5055487" y="4350822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85" name="Rectangle 53"/>
              <p:cNvSpPr>
                <a:spLocks noChangeArrowheads="1"/>
              </p:cNvSpPr>
              <p:nvPr/>
            </p:nvSpPr>
            <p:spPr bwMode="auto">
              <a:xfrm>
                <a:off x="2506759" y="4317176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84" name="Rectangle 52"/>
              <p:cNvSpPr>
                <a:spLocks noChangeArrowheads="1"/>
              </p:cNvSpPr>
              <p:nvPr/>
            </p:nvSpPr>
            <p:spPr bwMode="auto">
              <a:xfrm>
                <a:off x="1306454" y="4317176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83" name="Rectangle 51"/>
              <p:cNvSpPr>
                <a:spLocks noChangeArrowheads="1"/>
              </p:cNvSpPr>
              <p:nvPr/>
            </p:nvSpPr>
            <p:spPr bwMode="auto">
              <a:xfrm>
                <a:off x="4833858" y="3741123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82" name="Rectangle 50"/>
              <p:cNvSpPr>
                <a:spLocks noChangeArrowheads="1"/>
              </p:cNvSpPr>
              <p:nvPr/>
            </p:nvSpPr>
            <p:spPr bwMode="auto">
              <a:xfrm>
                <a:off x="5222256" y="4950325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81" name="Rectangle 49"/>
              <p:cNvSpPr>
                <a:spLocks noChangeArrowheads="1"/>
              </p:cNvSpPr>
              <p:nvPr/>
            </p:nvSpPr>
            <p:spPr bwMode="auto">
              <a:xfrm>
                <a:off x="4308313" y="4950325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80" name="Rectangle 48"/>
              <p:cNvSpPr>
                <a:spLocks noChangeArrowheads="1"/>
              </p:cNvSpPr>
              <p:nvPr/>
            </p:nvSpPr>
            <p:spPr bwMode="auto">
              <a:xfrm>
                <a:off x="3326346" y="4950325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79" name="Rectangle 47"/>
              <p:cNvSpPr>
                <a:spLocks noChangeArrowheads="1"/>
              </p:cNvSpPr>
              <p:nvPr/>
            </p:nvSpPr>
            <p:spPr bwMode="auto">
              <a:xfrm>
                <a:off x="2412402" y="4950325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78" name="Rectangle 46"/>
              <p:cNvSpPr>
                <a:spLocks noChangeArrowheads="1"/>
              </p:cNvSpPr>
              <p:nvPr/>
            </p:nvSpPr>
            <p:spPr bwMode="auto">
              <a:xfrm>
                <a:off x="1463350" y="4944207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77" name="Rectangle 45"/>
              <p:cNvSpPr>
                <a:spLocks noChangeArrowheads="1"/>
              </p:cNvSpPr>
              <p:nvPr/>
            </p:nvSpPr>
            <p:spPr bwMode="auto">
              <a:xfrm>
                <a:off x="608654" y="4944207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76" name="Rectangle 44"/>
              <p:cNvSpPr>
                <a:spLocks noChangeArrowheads="1"/>
              </p:cNvSpPr>
              <p:nvPr/>
            </p:nvSpPr>
            <p:spPr bwMode="auto">
              <a:xfrm>
                <a:off x="4659408" y="5656882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75" name="Rectangle 43"/>
              <p:cNvSpPr>
                <a:spLocks noChangeArrowheads="1"/>
              </p:cNvSpPr>
              <p:nvPr/>
            </p:nvSpPr>
            <p:spPr bwMode="auto">
              <a:xfrm>
                <a:off x="3992328" y="5656882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74" name="Rectangle 42"/>
              <p:cNvSpPr>
                <a:spLocks noChangeArrowheads="1"/>
              </p:cNvSpPr>
              <p:nvPr/>
            </p:nvSpPr>
            <p:spPr bwMode="auto">
              <a:xfrm>
                <a:off x="2776663" y="5632412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73" name="Rectangle 41"/>
              <p:cNvSpPr>
                <a:spLocks noChangeArrowheads="1"/>
              </p:cNvSpPr>
              <p:nvPr/>
            </p:nvSpPr>
            <p:spPr bwMode="auto">
              <a:xfrm>
                <a:off x="2079960" y="5632412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72" name="Rectangle 40"/>
              <p:cNvSpPr>
                <a:spLocks noChangeArrowheads="1"/>
              </p:cNvSpPr>
              <p:nvPr/>
            </p:nvSpPr>
            <p:spPr bwMode="auto">
              <a:xfrm>
                <a:off x="2596727" y="3761515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71" name="Oval 39"/>
              <p:cNvSpPr>
                <a:spLocks noChangeArrowheads="1"/>
              </p:cNvSpPr>
              <p:nvPr/>
            </p:nvSpPr>
            <p:spPr bwMode="auto">
              <a:xfrm>
                <a:off x="3719133" y="3580033"/>
                <a:ext cx="498115" cy="34665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0,11</a:t>
                </a:r>
              </a:p>
            </p:txBody>
          </p:sp>
          <p:sp>
            <p:nvSpPr>
              <p:cNvPr id="44070" name="AutoShape 38"/>
              <p:cNvSpPr>
                <a:spLocks noChangeShapeType="1"/>
              </p:cNvSpPr>
              <p:nvPr/>
            </p:nvSpPr>
            <p:spPr bwMode="auto">
              <a:xfrm flipH="1">
                <a:off x="2203940" y="3753358"/>
                <a:ext cx="1515193" cy="508762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69" name="Oval 37"/>
              <p:cNvSpPr>
                <a:spLocks noChangeArrowheads="1"/>
              </p:cNvSpPr>
              <p:nvPr/>
            </p:nvSpPr>
            <p:spPr bwMode="auto">
              <a:xfrm>
                <a:off x="3873834" y="5972946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8,0</a:t>
                </a:r>
              </a:p>
            </p:txBody>
          </p:sp>
          <p:sp>
            <p:nvSpPr>
              <p:cNvPr id="44068" name="Oval 36"/>
              <p:cNvSpPr>
                <a:spLocks noChangeArrowheads="1"/>
              </p:cNvSpPr>
              <p:nvPr/>
            </p:nvSpPr>
            <p:spPr bwMode="auto">
              <a:xfrm>
                <a:off x="4492638" y="5972946"/>
                <a:ext cx="498115" cy="34665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6,0</a:t>
                </a:r>
              </a:p>
            </p:txBody>
          </p:sp>
          <p:sp>
            <p:nvSpPr>
              <p:cNvPr id="44067" name="Oval 35"/>
              <p:cNvSpPr>
                <a:spLocks noChangeArrowheads="1"/>
              </p:cNvSpPr>
              <p:nvPr/>
            </p:nvSpPr>
            <p:spPr bwMode="auto">
              <a:xfrm>
                <a:off x="4190916" y="5348974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6,2</a:t>
                </a:r>
              </a:p>
            </p:txBody>
          </p:sp>
          <p:sp>
            <p:nvSpPr>
              <p:cNvPr id="44066" name="AutoShape 34"/>
              <p:cNvSpPr>
                <a:spLocks noChangeShapeType="1"/>
              </p:cNvSpPr>
              <p:nvPr/>
            </p:nvSpPr>
            <p:spPr bwMode="auto">
              <a:xfrm flipH="1">
                <a:off x="4122891" y="5644647"/>
                <a:ext cx="140438" cy="328299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65" name="AutoShape 33"/>
              <p:cNvSpPr>
                <a:spLocks noChangeShapeType="1"/>
              </p:cNvSpPr>
              <p:nvPr/>
            </p:nvSpPr>
            <p:spPr bwMode="auto">
              <a:xfrm>
                <a:off x="4616618" y="5644647"/>
                <a:ext cx="125077" cy="328299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64" name="Oval 32"/>
              <p:cNvSpPr>
                <a:spLocks noChangeArrowheads="1"/>
              </p:cNvSpPr>
              <p:nvPr/>
            </p:nvSpPr>
            <p:spPr bwMode="auto">
              <a:xfrm>
                <a:off x="5147649" y="5348974"/>
                <a:ext cx="498115" cy="34665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1,2</a:t>
                </a:r>
              </a:p>
            </p:txBody>
          </p:sp>
          <p:sp>
            <p:nvSpPr>
              <p:cNvPr id="44063" name="Oval 31"/>
              <p:cNvSpPr>
                <a:spLocks noChangeArrowheads="1"/>
              </p:cNvSpPr>
              <p:nvPr/>
            </p:nvSpPr>
            <p:spPr bwMode="auto">
              <a:xfrm>
                <a:off x="4658311" y="4710728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1,7</a:t>
                </a:r>
              </a:p>
            </p:txBody>
          </p:sp>
          <p:sp>
            <p:nvSpPr>
              <p:cNvPr id="44062" name="AutoShape 30"/>
              <p:cNvSpPr>
                <a:spLocks noChangeShapeType="1"/>
              </p:cNvSpPr>
              <p:nvPr/>
            </p:nvSpPr>
            <p:spPr bwMode="auto">
              <a:xfrm flipH="1">
                <a:off x="4439974" y="5006401"/>
                <a:ext cx="290750" cy="34257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61" name="AutoShape 29"/>
              <p:cNvSpPr>
                <a:spLocks noChangeShapeType="1"/>
              </p:cNvSpPr>
              <p:nvPr/>
            </p:nvSpPr>
            <p:spPr bwMode="auto">
              <a:xfrm>
                <a:off x="5084013" y="5006401"/>
                <a:ext cx="312694" cy="34257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60" name="Oval 28"/>
              <p:cNvSpPr>
                <a:spLocks noChangeArrowheads="1"/>
              </p:cNvSpPr>
              <p:nvPr/>
            </p:nvSpPr>
            <p:spPr bwMode="auto">
              <a:xfrm>
                <a:off x="6256888" y="4710728"/>
                <a:ext cx="498115" cy="34665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0,7</a:t>
                </a:r>
              </a:p>
            </p:txBody>
          </p:sp>
          <p:sp>
            <p:nvSpPr>
              <p:cNvPr id="44059" name="Oval 27"/>
              <p:cNvSpPr>
                <a:spLocks noChangeArrowheads="1"/>
              </p:cNvSpPr>
              <p:nvPr/>
            </p:nvSpPr>
            <p:spPr bwMode="auto">
              <a:xfrm>
                <a:off x="5439496" y="4230514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0,8</a:t>
                </a:r>
              </a:p>
            </p:txBody>
          </p:sp>
          <p:sp>
            <p:nvSpPr>
              <p:cNvPr id="44058" name="AutoShape 26"/>
              <p:cNvSpPr>
                <a:spLocks noChangeShapeType="1"/>
              </p:cNvSpPr>
              <p:nvPr/>
            </p:nvSpPr>
            <p:spPr bwMode="auto">
              <a:xfrm flipH="1">
                <a:off x="5084013" y="4403839"/>
                <a:ext cx="355483" cy="357867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57" name="AutoShape 25"/>
              <p:cNvSpPr>
                <a:spLocks noChangeShapeType="1"/>
              </p:cNvSpPr>
              <p:nvPr/>
            </p:nvSpPr>
            <p:spPr bwMode="auto">
              <a:xfrm>
                <a:off x="5937612" y="4403839"/>
                <a:ext cx="391690" cy="357867"/>
              </a:xfrm>
              <a:prstGeom prst="straightConnector1">
                <a:avLst/>
              </a:prstGeom>
              <a:noFill/>
              <a:ln w="38100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56" name="AutoShape 24"/>
              <p:cNvSpPr>
                <a:spLocks noChangeShapeType="1"/>
              </p:cNvSpPr>
              <p:nvPr/>
            </p:nvSpPr>
            <p:spPr bwMode="auto">
              <a:xfrm>
                <a:off x="4217248" y="3753358"/>
                <a:ext cx="1294661" cy="52813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55" name="Oval 23"/>
              <p:cNvSpPr>
                <a:spLocks noChangeArrowheads="1"/>
              </p:cNvSpPr>
              <p:nvPr/>
            </p:nvSpPr>
            <p:spPr bwMode="auto">
              <a:xfrm>
                <a:off x="508811" y="5329602"/>
                <a:ext cx="498115" cy="34665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9,2</a:t>
                </a:r>
              </a:p>
            </p:txBody>
          </p:sp>
          <p:sp>
            <p:nvSpPr>
              <p:cNvPr id="44054" name="Oval 22"/>
              <p:cNvSpPr>
                <a:spLocks noChangeArrowheads="1"/>
              </p:cNvSpPr>
              <p:nvPr/>
            </p:nvSpPr>
            <p:spPr bwMode="auto">
              <a:xfrm>
                <a:off x="1280122" y="5329602"/>
                <a:ext cx="498115" cy="34665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4,2</a:t>
                </a:r>
              </a:p>
            </p:txBody>
          </p:sp>
          <p:sp>
            <p:nvSpPr>
              <p:cNvPr id="44053" name="Oval 21"/>
              <p:cNvSpPr>
                <a:spLocks noChangeArrowheads="1"/>
              </p:cNvSpPr>
              <p:nvPr/>
            </p:nvSpPr>
            <p:spPr bwMode="auto">
              <a:xfrm>
                <a:off x="898307" y="4691356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4,7</a:t>
                </a:r>
              </a:p>
            </p:txBody>
          </p:sp>
          <p:sp>
            <p:nvSpPr>
              <p:cNvPr id="44052" name="AutoShape 20"/>
              <p:cNvSpPr>
                <a:spLocks noChangeShapeType="1"/>
              </p:cNvSpPr>
              <p:nvPr/>
            </p:nvSpPr>
            <p:spPr bwMode="auto">
              <a:xfrm flipH="1">
                <a:off x="757869" y="4987029"/>
                <a:ext cx="212851" cy="34257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51" name="AutoShape 19"/>
              <p:cNvSpPr>
                <a:spLocks noChangeShapeType="1"/>
              </p:cNvSpPr>
              <p:nvPr/>
            </p:nvSpPr>
            <p:spPr bwMode="auto">
              <a:xfrm>
                <a:off x="1324009" y="4987029"/>
                <a:ext cx="205171" cy="34257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50" name="Oval 18"/>
              <p:cNvSpPr>
                <a:spLocks noChangeArrowheads="1"/>
              </p:cNvSpPr>
              <p:nvPr/>
            </p:nvSpPr>
            <p:spPr bwMode="auto">
              <a:xfrm>
                <a:off x="1904465" y="5953574"/>
                <a:ext cx="595711" cy="34665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10,0</a:t>
                </a:r>
              </a:p>
            </p:txBody>
          </p:sp>
          <p:sp>
            <p:nvSpPr>
              <p:cNvPr id="44049" name="Oval 17"/>
              <p:cNvSpPr>
                <a:spLocks noChangeArrowheads="1"/>
              </p:cNvSpPr>
              <p:nvPr/>
            </p:nvSpPr>
            <p:spPr bwMode="auto">
              <a:xfrm>
                <a:off x="2618671" y="5953574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8,0</a:t>
                </a:r>
              </a:p>
            </p:txBody>
          </p:sp>
          <p:sp>
            <p:nvSpPr>
              <p:cNvPr id="44048" name="Oval 16"/>
              <p:cNvSpPr>
                <a:spLocks noChangeArrowheads="1"/>
              </p:cNvSpPr>
              <p:nvPr/>
            </p:nvSpPr>
            <p:spPr bwMode="auto">
              <a:xfrm>
                <a:off x="2297200" y="5329602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8,2</a:t>
                </a:r>
              </a:p>
            </p:txBody>
          </p:sp>
          <p:sp>
            <p:nvSpPr>
              <p:cNvPr id="44047" name="AutoShape 15"/>
              <p:cNvSpPr>
                <a:spLocks noChangeShapeType="1"/>
              </p:cNvSpPr>
              <p:nvPr/>
            </p:nvSpPr>
            <p:spPr bwMode="auto">
              <a:xfrm flipH="1">
                <a:off x="2235758" y="5625275"/>
                <a:ext cx="133855" cy="328299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46" name="AutoShape 14"/>
              <p:cNvSpPr>
                <a:spLocks noChangeShapeType="1"/>
              </p:cNvSpPr>
              <p:nvPr/>
            </p:nvSpPr>
            <p:spPr bwMode="auto">
              <a:xfrm>
                <a:off x="2722902" y="5625275"/>
                <a:ext cx="144827" cy="328299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45" name="Oval 13"/>
              <p:cNvSpPr>
                <a:spLocks noChangeArrowheads="1"/>
              </p:cNvSpPr>
              <p:nvPr/>
            </p:nvSpPr>
            <p:spPr bwMode="auto">
              <a:xfrm>
                <a:off x="3273681" y="5329602"/>
                <a:ext cx="498115" cy="34665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3,2</a:t>
                </a:r>
              </a:p>
            </p:txBody>
          </p:sp>
          <p:sp>
            <p:nvSpPr>
              <p:cNvPr id="44044" name="Oval 12"/>
              <p:cNvSpPr>
                <a:spLocks noChangeArrowheads="1"/>
              </p:cNvSpPr>
              <p:nvPr/>
            </p:nvSpPr>
            <p:spPr bwMode="auto">
              <a:xfrm>
                <a:off x="2774469" y="4691356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3,7</a:t>
                </a:r>
              </a:p>
            </p:txBody>
          </p:sp>
          <p:sp>
            <p:nvSpPr>
              <p:cNvPr id="44043" name="AutoShape 11"/>
              <p:cNvSpPr>
                <a:spLocks noChangeShapeType="1"/>
              </p:cNvSpPr>
              <p:nvPr/>
            </p:nvSpPr>
            <p:spPr bwMode="auto">
              <a:xfrm flipH="1">
                <a:off x="2546257" y="4987029"/>
                <a:ext cx="300625" cy="34257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42" name="AutoShape 10"/>
              <p:cNvSpPr>
                <a:spLocks noChangeShapeType="1"/>
              </p:cNvSpPr>
              <p:nvPr/>
            </p:nvSpPr>
            <p:spPr bwMode="auto">
              <a:xfrm>
                <a:off x="3200171" y="4987029"/>
                <a:ext cx="322568" cy="34257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41" name="Oval 9"/>
              <p:cNvSpPr>
                <a:spLocks noChangeArrowheads="1"/>
              </p:cNvSpPr>
              <p:nvPr/>
            </p:nvSpPr>
            <p:spPr bwMode="auto">
              <a:xfrm>
                <a:off x="1778238" y="4211142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3,8</a:t>
                </a:r>
              </a:p>
            </p:txBody>
          </p:sp>
          <p:sp>
            <p:nvSpPr>
              <p:cNvPr id="44040" name="AutoShape 8"/>
              <p:cNvSpPr>
                <a:spLocks noChangeShapeType="1"/>
              </p:cNvSpPr>
              <p:nvPr/>
            </p:nvSpPr>
            <p:spPr bwMode="auto">
              <a:xfrm flipH="1">
                <a:off x="1324009" y="4384467"/>
                <a:ext cx="454229" cy="357867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39" name="AutoShape 7"/>
              <p:cNvSpPr>
                <a:spLocks noChangeShapeType="1"/>
              </p:cNvSpPr>
              <p:nvPr/>
            </p:nvSpPr>
            <p:spPr bwMode="auto">
              <a:xfrm>
                <a:off x="2276353" y="4384467"/>
                <a:ext cx="570529" cy="357867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6081723" y="3997115"/>
                <a:ext cx="1893024" cy="536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2000">
                    <a:solidFill>
                      <a:srgbClr val="FF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rs=8,rs=rs-1=7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2000">
                    <a:solidFill>
                      <a:srgbClr val="FF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0+rs=7&lt;t</a:t>
                </a:r>
                <a:endParaRPr lang="zh-CN" altLang="en-US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58" name="灯片编号占位符 5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214290"/>
            <a:ext cx="8643998" cy="633941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cs,int rs,int i) {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tot++;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累计调用次数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if (i&gt;=n)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(cs==t) disp();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找到一个满足条件的解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else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没有到达叶子结点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 	rs-=a[i];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求剩余的整数和</a:t>
            </a:r>
            <a:endParaRPr lang="en-US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cs+a[i]&lt;=t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左孩子结点剪支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x[i]=1;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选取整数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(cs+a[i],rs,i+1);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cs+rs&gt;=t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右孩子结点剪支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x[i]=0;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不选取整数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(cs,rs,i+1);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}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 	rs+=a[i];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恢复剩余整数和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00100" y="2522884"/>
            <a:ext cx="3429024" cy="1285884"/>
          </a:xfrm>
          <a:prstGeom prst="rect">
            <a:avLst/>
          </a:prstGeom>
          <a:ln w="19050">
            <a:solidFill>
              <a:srgbClr val="00B0F0"/>
            </a:solidFill>
            <a:prstDash val="sysDash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00100" y="4038075"/>
            <a:ext cx="3429024" cy="1285884"/>
          </a:xfrm>
          <a:prstGeom prst="rect">
            <a:avLst/>
          </a:prstGeom>
          <a:ln w="19050">
            <a:solidFill>
              <a:srgbClr val="00B0F0"/>
            </a:solidFill>
            <a:prstDash val="sysDash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0034" y="857232"/>
            <a:ext cx="7929618" cy="148768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subs2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和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subs3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：尽管通过剪支提高了算法的性能，但究竟剪去多少结点与具体的实例数据相关，所以说这样的两个算法最坏情况下时间复杂度仍然为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57158" y="1231361"/>
            <a:ext cx="8501122" cy="455509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5.5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=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5.3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目标和（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LintCode1208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★★）。给定一个含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个整数的数组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）和一个整数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-1000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）。向数组中的每个整数前添加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'+'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'-'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，然后串联起所有整数，可以构造一个表达式，例如，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nums={2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，可以在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之前添加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'+'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之前添加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'-'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，然后串联起来得到表达式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"+2-1"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设计一个算法求可以通过上述方法构造的运算结果等于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的不同表达式的数目。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     int findTargetSumWays(vector&lt;int&gt;&amp; nums, int s) { 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4"/>
          <p:cNvGrpSpPr/>
          <p:nvPr/>
        </p:nvGrpSpPr>
        <p:grpSpPr>
          <a:xfrm>
            <a:off x="785786" y="142852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56545" y="357166"/>
            <a:ext cx="7587421" cy="224676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24000" indent="-324000" algn="l">
              <a:lnSpc>
                <a:spcPct val="10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数组，先求出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中所有整数和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sum&lt;s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即使全部加上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'+'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也不可能成立，此时返回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324000" indent="-324000" algn="l">
              <a:lnSpc>
                <a:spcPct val="10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否则本问题就是求以下等式成立的不同表达式的数目（±表示取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'+'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'-'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之一）：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324000" indent="-324000" algn="l">
              <a:lnSpc>
                <a:spcPct val="100000"/>
              </a:lnSpc>
              <a:spcBef>
                <a:spcPts val="1200"/>
              </a:spcBef>
            </a:pP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0298" y="2091943"/>
            <a:ext cx="4071966" cy="40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13"/>
          <p:cNvGrpSpPr/>
          <p:nvPr/>
        </p:nvGrpSpPr>
        <p:grpSpPr>
          <a:xfrm>
            <a:off x="500034" y="3071810"/>
            <a:ext cx="7858180" cy="1000132"/>
            <a:chOff x="500034" y="3071810"/>
            <a:chExt cx="7858180" cy="1000132"/>
          </a:xfrm>
        </p:grpSpPr>
        <p:sp>
          <p:nvSpPr>
            <p:cNvPr id="7" name="TextBox 6"/>
            <p:cNvSpPr txBox="1"/>
            <p:nvPr/>
          </p:nvSpPr>
          <p:spPr>
            <a:xfrm>
              <a:off x="500034" y="3071810"/>
              <a:ext cx="45005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用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sum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减去两边后转换为：</a:t>
              </a:r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71472" y="3714752"/>
              <a:ext cx="7786742" cy="357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组合 14"/>
          <p:cNvGrpSpPr/>
          <p:nvPr/>
        </p:nvGrpSpPr>
        <p:grpSpPr>
          <a:xfrm>
            <a:off x="500034" y="4500570"/>
            <a:ext cx="7786742" cy="957791"/>
            <a:chOff x="500034" y="4500570"/>
            <a:chExt cx="7786742" cy="957791"/>
          </a:xfrm>
        </p:grpSpPr>
        <p:sp>
          <p:nvSpPr>
            <p:cNvPr id="9" name="TextBox 8"/>
            <p:cNvSpPr txBox="1"/>
            <p:nvPr/>
          </p:nvSpPr>
          <p:spPr>
            <a:xfrm>
              <a:off x="500034" y="4500570"/>
              <a:ext cx="16430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等同于：</a:t>
              </a:r>
            </a:p>
          </p:txBody>
        </p:sp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71472" y="5072074"/>
              <a:ext cx="7715304" cy="386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42165" y="714356"/>
            <a:ext cx="571504" cy="69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6"/>
          <p:cNvGrpSpPr/>
          <p:nvPr/>
        </p:nvGrpSpPr>
        <p:grpSpPr>
          <a:xfrm>
            <a:off x="428596" y="2786058"/>
            <a:ext cx="8358246" cy="1857388"/>
            <a:chOff x="428596" y="2786058"/>
            <a:chExt cx="8358246" cy="1857388"/>
          </a:xfrm>
        </p:grpSpPr>
        <p:sp>
          <p:nvSpPr>
            <p:cNvPr id="8" name="TextBox 7"/>
            <p:cNvSpPr txBox="1"/>
            <p:nvPr/>
          </p:nvSpPr>
          <p:spPr>
            <a:xfrm>
              <a:off x="428596" y="3320007"/>
              <a:ext cx="8358246" cy="1323439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ts val="0"/>
                </a:spcBef>
              </a:pP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其中</a:t>
              </a:r>
              <a:r>
                <a:rPr lang="en-US" altLang="zh-CN" sz="22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i</a:t>
              </a:r>
              <a:r>
                <a:rPr lang="en-US" altLang="zh-CN" sz="2200" baseline="-25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sz="22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i</a:t>
              </a:r>
              <a:r>
                <a:rPr lang="en-US" altLang="zh-CN" sz="2200" baseline="-25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2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zh-CN" altLang="zh-CN" sz="2200">
                  <a:solidFill>
                    <a:srgbClr val="0000FF"/>
                  </a:solidFill>
                  <a:latin typeface="+mn-ea"/>
                </a:rPr>
                <a:t>…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sz="22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i</a:t>
              </a:r>
              <a:r>
                <a:rPr lang="en-US" altLang="zh-CN" sz="2200" i="1" baseline="-25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k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，是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0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zh-CN" altLang="zh-CN" sz="2200">
                  <a:solidFill>
                    <a:srgbClr val="0000FF"/>
                  </a:solidFill>
                  <a:latin typeface="+mj-ea"/>
                  <a:ea typeface="+mj-ea"/>
                </a:rPr>
                <a:t>…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sz="22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n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-1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的一个子序列，该问题等价于在</a:t>
              </a:r>
              <a:r>
                <a:rPr lang="zh-CN" altLang="en-US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原</a:t>
              </a:r>
              <a:r>
                <a:rPr lang="en-US" altLang="zh-CN" sz="22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a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数组中选择添加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'-'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的元素和等于</a:t>
              </a:r>
              <a:r>
                <a:rPr lang="en-US" altLang="zh-CN" sz="220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(sum-s)/2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的组合总数，属于典型的子集和问题</a:t>
              </a:r>
              <a:r>
                <a:rPr lang="zh-CN" altLang="en-US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下箭头 8"/>
            <p:cNvSpPr/>
            <p:nvPr/>
          </p:nvSpPr>
          <p:spPr>
            <a:xfrm>
              <a:off x="3643306" y="2786058"/>
              <a:ext cx="285752" cy="428628"/>
            </a:xfrm>
            <a:prstGeom prst="down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15"/>
          <p:cNvGrpSpPr/>
          <p:nvPr/>
        </p:nvGrpSpPr>
        <p:grpSpPr>
          <a:xfrm>
            <a:off x="4714876" y="4144174"/>
            <a:ext cx="3786214" cy="1144473"/>
            <a:chOff x="4714876" y="4144174"/>
            <a:chExt cx="3786214" cy="1144473"/>
          </a:xfrm>
        </p:grpSpPr>
        <p:sp>
          <p:nvSpPr>
            <p:cNvPr id="10" name="TextBox 9"/>
            <p:cNvSpPr txBox="1"/>
            <p:nvPr/>
          </p:nvSpPr>
          <p:spPr>
            <a:xfrm>
              <a:off x="4714876" y="4857760"/>
              <a:ext cx="37862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2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</a:rPr>
                <a:t>(sum-s)</a:t>
              </a:r>
              <a:r>
                <a:rPr lang="zh-CN" altLang="zh-CN" sz="22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</a:rPr>
                <a:t>为奇数时无解返回</a:t>
              </a:r>
              <a:r>
                <a:rPr lang="en-US" altLang="zh-CN" sz="22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</a:rPr>
                <a:t>0</a:t>
              </a:r>
              <a:endParaRPr lang="zh-CN" altLang="en-US" sz="22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12" name="直接箭头连接符 11"/>
            <p:cNvCxnSpPr/>
            <p:nvPr/>
          </p:nvCxnSpPr>
          <p:spPr>
            <a:xfrm rot="5400000" flipH="1" flipV="1">
              <a:off x="6215074" y="4500570"/>
              <a:ext cx="714380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428604"/>
            <a:ext cx="7715304" cy="38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14"/>
          <p:cNvGrpSpPr/>
          <p:nvPr/>
        </p:nvGrpSpPr>
        <p:grpSpPr>
          <a:xfrm>
            <a:off x="357158" y="1071546"/>
            <a:ext cx="8429684" cy="1556389"/>
            <a:chOff x="357158" y="1071546"/>
            <a:chExt cx="8429684" cy="1556389"/>
          </a:xfrm>
        </p:grpSpPr>
        <p:sp>
          <p:nvSpPr>
            <p:cNvPr id="7" name="TextBox 6"/>
            <p:cNvSpPr txBox="1"/>
            <p:nvPr/>
          </p:nvSpPr>
          <p:spPr>
            <a:xfrm>
              <a:off x="357158" y="1071546"/>
              <a:ext cx="8429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考虑只取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'+'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的部分，对应的下标为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i</a:t>
              </a:r>
              <a:r>
                <a:rPr lang="en-US" altLang="zh-CN" baseline="-25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i</a:t>
              </a:r>
              <a:r>
                <a:rPr lang="en-US" altLang="zh-CN" baseline="-25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2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zh-CN" altLang="zh-CN">
                  <a:solidFill>
                    <a:srgbClr val="0000FF"/>
                  </a:solidFill>
                  <a:latin typeface="+mj-ea"/>
                  <a:ea typeface="+mj-ea"/>
                </a:rPr>
                <a:t>…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i</a:t>
              </a:r>
              <a:r>
                <a:rPr lang="en-US" altLang="zh-CN" i="1" baseline="-25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k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，则为：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28728" y="1643050"/>
              <a:ext cx="6286544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ts val="60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2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a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[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i</a:t>
              </a:r>
              <a:r>
                <a:rPr lang="en-US" altLang="zh-CN" baseline="-25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]+2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a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[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i</a:t>
              </a:r>
              <a:r>
                <a:rPr lang="en-US" altLang="zh-CN" baseline="-25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2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]+</a:t>
              </a:r>
              <a:r>
                <a:rPr lang="zh-CN" altLang="zh-CN">
                  <a:solidFill>
                    <a:srgbClr val="0000FF"/>
                  </a:solidFill>
                  <a:latin typeface="+mj-ea"/>
                  <a:ea typeface="+mj-ea"/>
                </a:rPr>
                <a:t>…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+2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a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[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i</a:t>
              </a:r>
              <a:r>
                <a:rPr lang="en-US" altLang="zh-CN" i="1" baseline="-25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k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]=sum-s</a:t>
              </a:r>
            </a:p>
            <a:p>
              <a:pPr algn="l">
                <a:lnSpc>
                  <a:spcPts val="3200"/>
                </a:lnSpc>
                <a:spcBef>
                  <a:spcPts val="600"/>
                </a:spcBef>
              </a:pPr>
              <a:r>
                <a:rPr lang="zh-CN" altLang="en-US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sym typeface="Wingdings"/>
                </a:rPr>
                <a:t></a:t>
              </a:r>
              <a:r>
                <a:rPr lang="zh-CN" altLang="en-US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sym typeface="Wingdings"/>
                </a:rPr>
                <a:t> </a:t>
              </a:r>
              <a:r>
                <a:rPr lang="en-US" altLang="zh-CN" i="1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a</a:t>
              </a:r>
              <a:r>
                <a:rPr lang="en-US" altLang="zh-CN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[</a:t>
              </a:r>
              <a:r>
                <a:rPr lang="en-US" altLang="zh-CN" i="1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i</a:t>
              </a:r>
              <a:r>
                <a:rPr lang="en-US" altLang="zh-CN" baseline="-2500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1</a:t>
              </a:r>
              <a:r>
                <a:rPr lang="en-US" altLang="zh-CN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]+</a:t>
              </a:r>
              <a:r>
                <a:rPr lang="en-US" altLang="zh-CN" i="1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a</a:t>
              </a:r>
              <a:r>
                <a:rPr lang="en-US" altLang="zh-CN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[</a:t>
              </a:r>
              <a:r>
                <a:rPr lang="en-US" altLang="zh-CN" i="1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i</a:t>
              </a:r>
              <a:r>
                <a:rPr lang="en-US" altLang="zh-CN" baseline="-2500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2</a:t>
              </a:r>
              <a:r>
                <a:rPr lang="en-US" altLang="zh-CN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]+</a:t>
              </a:r>
              <a:r>
                <a:rPr lang="zh-CN" altLang="zh-CN">
                  <a:solidFill>
                    <a:srgbClr val="FF0000"/>
                  </a:solidFill>
                  <a:latin typeface="+mj-ea"/>
                  <a:ea typeface="+mj-ea"/>
                </a:rPr>
                <a:t>…</a:t>
              </a:r>
              <a:r>
                <a:rPr lang="en-US" altLang="zh-CN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+</a:t>
              </a:r>
              <a:r>
                <a:rPr lang="en-US" altLang="zh-CN" i="1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a</a:t>
              </a:r>
              <a:r>
                <a:rPr lang="en-US" altLang="zh-CN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[</a:t>
              </a:r>
              <a:r>
                <a:rPr lang="en-US" altLang="zh-CN" i="1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i</a:t>
              </a:r>
              <a:r>
                <a:rPr lang="en-US" altLang="zh-CN" i="1" baseline="-2500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k</a:t>
              </a:r>
              <a:r>
                <a:rPr lang="en-US" altLang="zh-CN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]=(sum-s)/2</a:t>
              </a:r>
              <a:endPara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234875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 a;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int 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int n;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int ans;               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 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存放解个数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500042"/>
            <a:ext cx="8286808" cy="558041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findTargetSumWays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 nums,int s)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n=nums.size();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a=nums;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int sum=0;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for(int e:nums) sum+=e;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int rs=sum;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s&gt;sum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return 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(sum-s)%2==1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return 0;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t=(sum-s)/2;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ans=0;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(0,rs,0);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8643998" cy="514253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cs,int rs,int i) {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if (i&gt;=n) {            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	if (cs==t) ans++;    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找到一个满足条件的解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else {                     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没有到达叶子结点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	rs-=a[i];                 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 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求剩余的整数和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cs+a[i]&lt;=t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         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左孩子结点剪支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(cs+a[i],rs,i+1);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cs+rs&gt;=t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         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右孩子结点剪支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(cs,rs,i+1);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rs+=a[i];               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恢复剩余整数和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500034" y="5929330"/>
            <a:ext cx="7072362" cy="461665"/>
            <a:chOff x="1071538" y="6286520"/>
            <a:chExt cx="7072362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81ms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5.46MB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6597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Eras Light ITC" pitchFamily="34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500298" y="402322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5.7 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简单装载问题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1643050"/>
            <a:ext cx="8215370" cy="308994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个集装箱要装上一艘载重量为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的轮船，其中集装箱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）的重量为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。不考虑集装箱的体积限制，现要选出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重量和小于等于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并且尽可能重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的若干集装箱装上轮船。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t=10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={5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时，其最佳装载方案有两种即（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）和（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），对应集装箱重量和达到最大值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967071"/>
            <a:ext cx="57150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8662" y="1571612"/>
            <a:ext cx="8001056" cy="304185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左剪支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：判断选择集装箱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是否合适。检查当前集装箱被选中后总重量是否超过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，若是则剪支，即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仅仅扩展满足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FF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的左孩子结点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右剪支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：判断不选择集装箱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是否合适。如果不选择集装箱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，此时剩余的所有整数和为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cw+rw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bestw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成立，所有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仅仅扩展满足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cw+rw&gt;bestw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的右孩子结点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538" y="714356"/>
            <a:ext cx="7072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同样与求幂集问题一样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90725"/>
            <a:ext cx="8643998" cy="306690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cw,int rw,int i) {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tot++;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if (i&gt;=n)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达到一个叶子结点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(cw&gt;bestw)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     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找到一个满足条件的更优解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bestw=cw;					 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保存更优解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bestx=x;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323759"/>
            <a:ext cx="8643998" cy="575808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尚未找完所有集装箱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rw-=w[i];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求剩余集装箱的重量和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cw+w[i]&lt;=t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左孩子结点剪支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x[i]=1;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选取集装箱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cw+=w[i];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累计当前所选集装箱的重量和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(cw,rw,i+1);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cw-=w[i];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恢复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}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cw+rw&gt;bestw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右孩子结点剪支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x[i]=0;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不选择集装箱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(cw,rw,i+1);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rw+=w[i];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恢复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8" name="AutoShape 28"/>
          <p:cNvSpPr>
            <a:spLocks noChangeShapeType="1"/>
          </p:cNvSpPr>
          <p:nvPr/>
        </p:nvSpPr>
        <p:spPr bwMode="auto">
          <a:xfrm flipH="1">
            <a:off x="6055901" y="4312438"/>
            <a:ext cx="100263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87" name="AutoShape 27"/>
          <p:cNvSpPr>
            <a:spLocks noChangeShapeType="1"/>
          </p:cNvSpPr>
          <p:nvPr/>
        </p:nvSpPr>
        <p:spPr bwMode="auto">
          <a:xfrm>
            <a:off x="6577036" y="4312438"/>
            <a:ext cx="156224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30" name="Rectangle 7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5828" name="Rectangle 68"/>
          <p:cNvSpPr>
            <a:spLocks noChangeArrowheads="1"/>
          </p:cNvSpPr>
          <p:nvPr/>
        </p:nvSpPr>
        <p:spPr bwMode="auto">
          <a:xfrm>
            <a:off x="500034" y="5143512"/>
            <a:ext cx="1143008" cy="30305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bestw=10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27" name="Oval 67"/>
          <p:cNvSpPr>
            <a:spLocks noChangeArrowheads="1"/>
          </p:cNvSpPr>
          <p:nvPr/>
        </p:nvSpPr>
        <p:spPr bwMode="auto">
          <a:xfrm>
            <a:off x="3357555" y="938019"/>
            <a:ext cx="785818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0,20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26" name="Oval 66"/>
          <p:cNvSpPr>
            <a:spLocks noChangeArrowheads="1"/>
          </p:cNvSpPr>
          <p:nvPr/>
        </p:nvSpPr>
        <p:spPr bwMode="auto">
          <a:xfrm>
            <a:off x="1406498" y="1630387"/>
            <a:ext cx="736610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5,15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25" name="Oval 65"/>
          <p:cNvSpPr>
            <a:spLocks noChangeArrowheads="1"/>
          </p:cNvSpPr>
          <p:nvPr/>
        </p:nvSpPr>
        <p:spPr bwMode="auto">
          <a:xfrm>
            <a:off x="454254" y="2403181"/>
            <a:ext cx="752575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7,13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24" name="Rectangle 64"/>
          <p:cNvSpPr>
            <a:spLocks noChangeArrowheads="1"/>
          </p:cNvSpPr>
          <p:nvPr/>
        </p:nvSpPr>
        <p:spPr bwMode="auto">
          <a:xfrm>
            <a:off x="7715272" y="972987"/>
            <a:ext cx="1285884" cy="30305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=0,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[0]=5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23" name="Oval 63"/>
          <p:cNvSpPr>
            <a:spLocks noChangeArrowheads="1"/>
          </p:cNvSpPr>
          <p:nvPr/>
        </p:nvSpPr>
        <p:spPr bwMode="auto">
          <a:xfrm>
            <a:off x="869042" y="3182969"/>
            <a:ext cx="594583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7,7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22" name="AutoShape 62"/>
          <p:cNvSpPr>
            <a:spLocks noChangeShapeType="1"/>
          </p:cNvSpPr>
          <p:nvPr/>
        </p:nvSpPr>
        <p:spPr bwMode="auto">
          <a:xfrm flipH="1">
            <a:off x="470321" y="2797155"/>
            <a:ext cx="150394" cy="38581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21" name="AutoShape 61"/>
          <p:cNvSpPr>
            <a:spLocks noChangeShapeType="1"/>
          </p:cNvSpPr>
          <p:nvPr/>
        </p:nvSpPr>
        <p:spPr bwMode="auto">
          <a:xfrm>
            <a:off x="1040421" y="2797155"/>
            <a:ext cx="125912" cy="38581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20" name="AutoShape 60"/>
          <p:cNvSpPr>
            <a:spLocks noChangeShapeType="1"/>
          </p:cNvSpPr>
          <p:nvPr/>
        </p:nvSpPr>
        <p:spPr bwMode="auto">
          <a:xfrm flipH="1">
            <a:off x="830569" y="2025526"/>
            <a:ext cx="663368" cy="37765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19" name="Oval 59"/>
          <p:cNvSpPr>
            <a:spLocks noChangeArrowheads="1"/>
          </p:cNvSpPr>
          <p:nvPr/>
        </p:nvSpPr>
        <p:spPr bwMode="auto">
          <a:xfrm>
            <a:off x="1196645" y="3918464"/>
            <a:ext cx="594583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7,3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18" name="AutoShape 58"/>
          <p:cNvSpPr>
            <a:spLocks noChangeShapeType="1"/>
          </p:cNvSpPr>
          <p:nvPr/>
        </p:nvSpPr>
        <p:spPr bwMode="auto">
          <a:xfrm flipH="1">
            <a:off x="809583" y="3576942"/>
            <a:ext cx="146897" cy="34152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17" name="AutoShape 57"/>
          <p:cNvSpPr>
            <a:spLocks noChangeShapeType="1"/>
          </p:cNvSpPr>
          <p:nvPr/>
        </p:nvSpPr>
        <p:spPr bwMode="auto">
          <a:xfrm>
            <a:off x="1376186" y="3576942"/>
            <a:ext cx="117751" cy="34152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16" name="Oval 56"/>
          <p:cNvSpPr>
            <a:spLocks noChangeArrowheads="1"/>
          </p:cNvSpPr>
          <p:nvPr/>
        </p:nvSpPr>
        <p:spPr bwMode="auto">
          <a:xfrm>
            <a:off x="714349" y="4672609"/>
            <a:ext cx="724794" cy="461579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10,0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15" name="AutoShape 55"/>
          <p:cNvSpPr>
            <a:spLocks noChangeShapeType="1"/>
          </p:cNvSpPr>
          <p:nvPr/>
        </p:nvSpPr>
        <p:spPr bwMode="auto">
          <a:xfrm flipH="1">
            <a:off x="1141850" y="4312438"/>
            <a:ext cx="142234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14" name="AutoShape 54"/>
          <p:cNvSpPr>
            <a:spLocks noChangeShapeType="1"/>
          </p:cNvSpPr>
          <p:nvPr/>
        </p:nvSpPr>
        <p:spPr bwMode="auto">
          <a:xfrm>
            <a:off x="1703789" y="4312438"/>
            <a:ext cx="130575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13" name="Oval 53"/>
          <p:cNvSpPr>
            <a:spLocks noChangeArrowheads="1"/>
          </p:cNvSpPr>
          <p:nvPr/>
        </p:nvSpPr>
        <p:spPr bwMode="auto">
          <a:xfrm>
            <a:off x="2289045" y="2403181"/>
            <a:ext cx="711319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5,13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12" name="Oval 52"/>
          <p:cNvSpPr>
            <a:spLocks noChangeArrowheads="1"/>
          </p:cNvSpPr>
          <p:nvPr/>
        </p:nvSpPr>
        <p:spPr bwMode="auto">
          <a:xfrm>
            <a:off x="2912774" y="3182969"/>
            <a:ext cx="594583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5,7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11" name="AutoShape 51"/>
          <p:cNvSpPr>
            <a:spLocks noChangeShapeType="1"/>
          </p:cNvSpPr>
          <p:nvPr/>
        </p:nvSpPr>
        <p:spPr bwMode="auto">
          <a:xfrm>
            <a:off x="2000232" y="2071678"/>
            <a:ext cx="586105" cy="33150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10" name="AutoShape 50"/>
          <p:cNvSpPr>
            <a:spLocks noChangeShapeType="1"/>
          </p:cNvSpPr>
          <p:nvPr/>
        </p:nvSpPr>
        <p:spPr bwMode="auto">
          <a:xfrm flipH="1">
            <a:off x="2019734" y="2797155"/>
            <a:ext cx="356750" cy="35084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09" name="AutoShape 49"/>
          <p:cNvSpPr>
            <a:spLocks noChangeShapeType="1"/>
          </p:cNvSpPr>
          <p:nvPr/>
        </p:nvSpPr>
        <p:spPr bwMode="auto">
          <a:xfrm>
            <a:off x="2796189" y="2797155"/>
            <a:ext cx="413876" cy="38581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08" name="Oval 48"/>
          <p:cNvSpPr>
            <a:spLocks noChangeArrowheads="1"/>
          </p:cNvSpPr>
          <p:nvPr/>
        </p:nvSpPr>
        <p:spPr bwMode="auto">
          <a:xfrm>
            <a:off x="2566517" y="3918464"/>
            <a:ext cx="594583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9,3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07" name="AutoShape 47"/>
          <p:cNvSpPr>
            <a:spLocks noChangeShapeType="1"/>
          </p:cNvSpPr>
          <p:nvPr/>
        </p:nvSpPr>
        <p:spPr bwMode="auto">
          <a:xfrm flipH="1">
            <a:off x="2863808" y="3576942"/>
            <a:ext cx="136404" cy="34152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06" name="AutoShape 46"/>
          <p:cNvSpPr>
            <a:spLocks noChangeShapeType="1"/>
          </p:cNvSpPr>
          <p:nvPr/>
        </p:nvSpPr>
        <p:spPr bwMode="auto">
          <a:xfrm flipH="1">
            <a:off x="2530376" y="4312438"/>
            <a:ext cx="123580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05" name="AutoShape 45"/>
          <p:cNvSpPr>
            <a:spLocks noChangeShapeType="1"/>
          </p:cNvSpPr>
          <p:nvPr/>
        </p:nvSpPr>
        <p:spPr bwMode="auto">
          <a:xfrm>
            <a:off x="3073661" y="4312438"/>
            <a:ext cx="160887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04" name="AutoShape 44"/>
          <p:cNvSpPr>
            <a:spLocks noChangeShapeType="1"/>
          </p:cNvSpPr>
          <p:nvPr/>
        </p:nvSpPr>
        <p:spPr bwMode="auto">
          <a:xfrm>
            <a:off x="3419918" y="3576942"/>
            <a:ext cx="187702" cy="34152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03" name="AutoShape 43"/>
          <p:cNvSpPr>
            <a:spLocks noChangeShapeType="1"/>
          </p:cNvSpPr>
          <p:nvPr/>
        </p:nvSpPr>
        <p:spPr bwMode="auto">
          <a:xfrm flipH="1">
            <a:off x="2000232" y="1214422"/>
            <a:ext cx="1357322" cy="50006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02" name="Oval 42"/>
          <p:cNvSpPr>
            <a:spLocks noChangeArrowheads="1"/>
          </p:cNvSpPr>
          <p:nvPr/>
        </p:nvSpPr>
        <p:spPr bwMode="auto">
          <a:xfrm>
            <a:off x="5572133" y="1630387"/>
            <a:ext cx="785818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0,15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01" name="Oval 41"/>
          <p:cNvSpPr>
            <a:spLocks noChangeArrowheads="1"/>
          </p:cNvSpPr>
          <p:nvPr/>
        </p:nvSpPr>
        <p:spPr bwMode="auto">
          <a:xfrm>
            <a:off x="4624565" y="2403181"/>
            <a:ext cx="714380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2,13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00" name="Oval 40"/>
          <p:cNvSpPr>
            <a:spLocks noChangeArrowheads="1"/>
          </p:cNvSpPr>
          <p:nvPr/>
        </p:nvSpPr>
        <p:spPr bwMode="auto">
          <a:xfrm>
            <a:off x="4344436" y="3182969"/>
            <a:ext cx="595749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8,7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99" name="AutoShape 39"/>
          <p:cNvSpPr>
            <a:spLocks noChangeShapeType="1"/>
          </p:cNvSpPr>
          <p:nvPr/>
        </p:nvSpPr>
        <p:spPr bwMode="auto">
          <a:xfrm flipH="1">
            <a:off x="4335109" y="3578108"/>
            <a:ext cx="96765" cy="34035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98" name="Oval 38"/>
          <p:cNvSpPr>
            <a:spLocks noChangeArrowheads="1"/>
          </p:cNvSpPr>
          <p:nvPr/>
        </p:nvSpPr>
        <p:spPr bwMode="auto">
          <a:xfrm>
            <a:off x="4694190" y="3917298"/>
            <a:ext cx="595749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8,3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97" name="AutoShape 37"/>
          <p:cNvSpPr>
            <a:spLocks noChangeShapeType="1"/>
          </p:cNvSpPr>
          <p:nvPr/>
        </p:nvSpPr>
        <p:spPr bwMode="auto">
          <a:xfrm>
            <a:off x="4852746" y="3578108"/>
            <a:ext cx="139902" cy="33919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96" name="AutoShape 36"/>
          <p:cNvSpPr>
            <a:spLocks noChangeShapeType="1"/>
          </p:cNvSpPr>
          <p:nvPr/>
        </p:nvSpPr>
        <p:spPr bwMode="auto">
          <a:xfrm flipH="1">
            <a:off x="4653386" y="4312438"/>
            <a:ext cx="128243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95" name="AutoShape 35"/>
          <p:cNvSpPr>
            <a:spLocks noChangeShapeType="1"/>
          </p:cNvSpPr>
          <p:nvPr/>
        </p:nvSpPr>
        <p:spPr bwMode="auto">
          <a:xfrm>
            <a:off x="5202500" y="4312438"/>
            <a:ext cx="128243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94" name="AutoShape 34"/>
          <p:cNvSpPr>
            <a:spLocks noChangeShapeType="1"/>
          </p:cNvSpPr>
          <p:nvPr/>
        </p:nvSpPr>
        <p:spPr bwMode="auto">
          <a:xfrm flipH="1">
            <a:off x="5019462" y="2000240"/>
            <a:ext cx="695546" cy="4029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93" name="AutoShape 33"/>
          <p:cNvSpPr>
            <a:spLocks noChangeShapeType="1"/>
          </p:cNvSpPr>
          <p:nvPr/>
        </p:nvSpPr>
        <p:spPr bwMode="auto">
          <a:xfrm flipH="1">
            <a:off x="4642893" y="2798320"/>
            <a:ext cx="165550" cy="38464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92" name="AutoShape 32"/>
          <p:cNvSpPr>
            <a:spLocks noChangeShapeType="1"/>
          </p:cNvSpPr>
          <p:nvPr/>
        </p:nvSpPr>
        <p:spPr bwMode="auto">
          <a:xfrm>
            <a:off x="4143372" y="1214422"/>
            <a:ext cx="1619902" cy="48357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91" name="Oval 31"/>
          <p:cNvSpPr>
            <a:spLocks noChangeArrowheads="1"/>
          </p:cNvSpPr>
          <p:nvPr/>
        </p:nvSpPr>
        <p:spPr bwMode="auto">
          <a:xfrm>
            <a:off x="6621905" y="2403181"/>
            <a:ext cx="754874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0,13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90" name="Oval 30"/>
          <p:cNvSpPr>
            <a:spLocks noChangeArrowheads="1"/>
          </p:cNvSpPr>
          <p:nvPr/>
        </p:nvSpPr>
        <p:spPr bwMode="auto">
          <a:xfrm>
            <a:off x="6390500" y="3182969"/>
            <a:ext cx="595749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6,7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89" name="Oval 29"/>
          <p:cNvSpPr>
            <a:spLocks noChangeArrowheads="1"/>
          </p:cNvSpPr>
          <p:nvPr/>
        </p:nvSpPr>
        <p:spPr bwMode="auto">
          <a:xfrm>
            <a:off x="6000760" y="3917298"/>
            <a:ext cx="714380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10,3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86" name="AutoShape 26"/>
          <p:cNvSpPr>
            <a:spLocks noChangeShapeType="1"/>
          </p:cNvSpPr>
          <p:nvPr/>
        </p:nvSpPr>
        <p:spPr bwMode="auto">
          <a:xfrm flipH="1">
            <a:off x="6367183" y="3578108"/>
            <a:ext cx="110756" cy="33919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85" name="AutoShape 25"/>
          <p:cNvSpPr>
            <a:spLocks noChangeShapeType="1"/>
          </p:cNvSpPr>
          <p:nvPr/>
        </p:nvSpPr>
        <p:spPr bwMode="auto">
          <a:xfrm>
            <a:off x="6898810" y="3578108"/>
            <a:ext cx="235501" cy="34035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84" name="AutoShape 24"/>
          <p:cNvSpPr>
            <a:spLocks noChangeShapeType="1"/>
          </p:cNvSpPr>
          <p:nvPr/>
        </p:nvSpPr>
        <p:spPr bwMode="auto">
          <a:xfrm flipH="1">
            <a:off x="6688956" y="2857496"/>
            <a:ext cx="169059" cy="32547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83" name="AutoShape 23"/>
          <p:cNvSpPr>
            <a:spLocks noChangeShapeType="1"/>
          </p:cNvSpPr>
          <p:nvPr/>
        </p:nvSpPr>
        <p:spPr bwMode="auto">
          <a:xfrm>
            <a:off x="7254394" y="2798320"/>
            <a:ext cx="184204" cy="38464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82" name="AutoShape 22"/>
          <p:cNvSpPr>
            <a:spLocks noChangeShapeType="1"/>
          </p:cNvSpPr>
          <p:nvPr/>
        </p:nvSpPr>
        <p:spPr bwMode="auto">
          <a:xfrm>
            <a:off x="6252645" y="2037811"/>
            <a:ext cx="758028" cy="33150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81" name="Rectangle 21"/>
          <p:cNvSpPr>
            <a:spLocks noChangeArrowheads="1"/>
          </p:cNvSpPr>
          <p:nvPr/>
        </p:nvSpPr>
        <p:spPr bwMode="auto">
          <a:xfrm>
            <a:off x="7715272" y="1688667"/>
            <a:ext cx="1285884" cy="30305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=1,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[1]=2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80" name="Rectangle 20"/>
          <p:cNvSpPr>
            <a:spLocks noChangeArrowheads="1"/>
          </p:cNvSpPr>
          <p:nvPr/>
        </p:nvSpPr>
        <p:spPr bwMode="auto">
          <a:xfrm>
            <a:off x="7715272" y="2403181"/>
            <a:ext cx="1357322" cy="30305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=2,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[2]=6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9" name="Rectangle 19"/>
          <p:cNvSpPr>
            <a:spLocks noChangeArrowheads="1"/>
          </p:cNvSpPr>
          <p:nvPr/>
        </p:nvSpPr>
        <p:spPr bwMode="auto">
          <a:xfrm>
            <a:off x="7715272" y="3214686"/>
            <a:ext cx="1357322" cy="30305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=3,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[3]=4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8" name="Rectangle 18"/>
          <p:cNvSpPr>
            <a:spLocks noChangeArrowheads="1"/>
          </p:cNvSpPr>
          <p:nvPr/>
        </p:nvSpPr>
        <p:spPr bwMode="auto">
          <a:xfrm>
            <a:off x="7715272" y="3983738"/>
            <a:ext cx="1295532" cy="30305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=4,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[4]=3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7" name="AutoShape 17"/>
          <p:cNvSpPr>
            <a:spLocks noChangeShapeType="1"/>
          </p:cNvSpPr>
          <p:nvPr/>
        </p:nvSpPr>
        <p:spPr bwMode="auto">
          <a:xfrm>
            <a:off x="5229315" y="2798320"/>
            <a:ext cx="144565" cy="39164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76" name="Oval 16"/>
          <p:cNvSpPr>
            <a:spLocks noChangeArrowheads="1"/>
          </p:cNvSpPr>
          <p:nvPr/>
        </p:nvSpPr>
        <p:spPr bwMode="auto">
          <a:xfrm>
            <a:off x="5075423" y="3189963"/>
            <a:ext cx="595749" cy="462744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5" name="Oval 15"/>
          <p:cNvSpPr>
            <a:spLocks noChangeArrowheads="1"/>
          </p:cNvSpPr>
          <p:nvPr/>
        </p:nvSpPr>
        <p:spPr bwMode="auto">
          <a:xfrm>
            <a:off x="71406" y="3182969"/>
            <a:ext cx="785818" cy="4615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prstDash val="dash"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13,7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4" name="Oval 14"/>
          <p:cNvSpPr>
            <a:spLocks noChangeArrowheads="1"/>
          </p:cNvSpPr>
          <p:nvPr/>
        </p:nvSpPr>
        <p:spPr bwMode="auto">
          <a:xfrm>
            <a:off x="428596" y="3918464"/>
            <a:ext cx="714380" cy="4615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prstDash val="dash"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11,3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3" name="Oval 13"/>
          <p:cNvSpPr>
            <a:spLocks noChangeArrowheads="1"/>
          </p:cNvSpPr>
          <p:nvPr/>
        </p:nvSpPr>
        <p:spPr bwMode="auto">
          <a:xfrm>
            <a:off x="1643043" y="3148001"/>
            <a:ext cx="785818" cy="4615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prstDash val="dash"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11,7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2" name="Oval 12"/>
          <p:cNvSpPr>
            <a:spLocks noChangeArrowheads="1"/>
          </p:cNvSpPr>
          <p:nvPr/>
        </p:nvSpPr>
        <p:spPr bwMode="auto">
          <a:xfrm>
            <a:off x="1537073" y="4672609"/>
            <a:ext cx="594583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7,0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1" name="Oval 11"/>
          <p:cNvSpPr>
            <a:spLocks noChangeArrowheads="1"/>
          </p:cNvSpPr>
          <p:nvPr/>
        </p:nvSpPr>
        <p:spPr bwMode="auto">
          <a:xfrm>
            <a:off x="2214546" y="4672609"/>
            <a:ext cx="714380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12,0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0" name="Oval 10"/>
          <p:cNvSpPr>
            <a:spLocks noChangeArrowheads="1"/>
          </p:cNvSpPr>
          <p:nvPr/>
        </p:nvSpPr>
        <p:spPr bwMode="auto">
          <a:xfrm>
            <a:off x="2937257" y="4672609"/>
            <a:ext cx="594583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9,0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9" name="Oval 9"/>
          <p:cNvSpPr>
            <a:spLocks noChangeArrowheads="1"/>
          </p:cNvSpPr>
          <p:nvPr/>
        </p:nvSpPr>
        <p:spPr bwMode="auto">
          <a:xfrm>
            <a:off x="3310328" y="3918464"/>
            <a:ext cx="594583" cy="4615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prstDash val="dash"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5,3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8" name="Oval 8"/>
          <p:cNvSpPr>
            <a:spLocks noChangeArrowheads="1"/>
          </p:cNvSpPr>
          <p:nvPr/>
        </p:nvSpPr>
        <p:spPr bwMode="auto">
          <a:xfrm>
            <a:off x="4000496" y="3918464"/>
            <a:ext cx="714380" cy="461579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12,3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7" name="Oval 7"/>
          <p:cNvSpPr>
            <a:spLocks noChangeArrowheads="1"/>
          </p:cNvSpPr>
          <p:nvPr/>
        </p:nvSpPr>
        <p:spPr bwMode="auto">
          <a:xfrm>
            <a:off x="4214810" y="4672609"/>
            <a:ext cx="735867" cy="461579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11,0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6" name="Oval 6"/>
          <p:cNvSpPr>
            <a:spLocks noChangeArrowheads="1"/>
          </p:cNvSpPr>
          <p:nvPr/>
        </p:nvSpPr>
        <p:spPr bwMode="auto">
          <a:xfrm>
            <a:off x="5033452" y="4672609"/>
            <a:ext cx="594583" cy="461579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8,0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5" name="Oval 5"/>
          <p:cNvSpPr>
            <a:spLocks noChangeArrowheads="1"/>
          </p:cNvSpPr>
          <p:nvPr/>
        </p:nvSpPr>
        <p:spPr bwMode="auto">
          <a:xfrm>
            <a:off x="5643570" y="4672609"/>
            <a:ext cx="709623" cy="461579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13,0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4" name="Oval 4"/>
          <p:cNvSpPr>
            <a:spLocks noChangeArrowheads="1"/>
          </p:cNvSpPr>
          <p:nvPr/>
        </p:nvSpPr>
        <p:spPr bwMode="auto">
          <a:xfrm>
            <a:off x="6435968" y="4672609"/>
            <a:ext cx="779238" cy="461579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10,0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3" name="Oval 3"/>
          <p:cNvSpPr>
            <a:spLocks noChangeArrowheads="1"/>
          </p:cNvSpPr>
          <p:nvPr/>
        </p:nvSpPr>
        <p:spPr bwMode="auto">
          <a:xfrm>
            <a:off x="7141306" y="3182969"/>
            <a:ext cx="594583" cy="461579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2" name="Oval 2"/>
          <p:cNvSpPr>
            <a:spLocks noChangeArrowheads="1"/>
          </p:cNvSpPr>
          <p:nvPr/>
        </p:nvSpPr>
        <p:spPr bwMode="auto">
          <a:xfrm>
            <a:off x="6837020" y="3918464"/>
            <a:ext cx="594583" cy="461579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6,3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71472" y="214290"/>
            <a:ext cx="42148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w={5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6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4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3}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t=10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74" name="灯片编号占位符 7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857232"/>
            <a:ext cx="8215370" cy="132343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loading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：该算法的解空间树中有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个结点，每找到一个更优解时需要将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复制到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bestx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（执行时间为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），所以最坏情况下算法的时间复杂度为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" action="ppaction://noaction"/>
          </p:cNvPr>
          <p:cNvSpPr txBox="1"/>
          <p:nvPr/>
        </p:nvSpPr>
        <p:spPr>
          <a:xfrm>
            <a:off x="2428860" y="428604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5.8</a:t>
            </a:r>
            <a:r>
              <a:rPr lang="pt-BR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 0/1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背包问题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4282" y="1357298"/>
            <a:ext cx="8572560" cy="259913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marL="457200" indent="-457200" algn="l">
              <a:lnSpc>
                <a:spcPts val="28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有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个编号为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～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的物品，重量为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={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，…，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pt-BR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，价值为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v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={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v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v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v</a:t>
            </a:r>
            <a:r>
              <a:rPr lang="pt-BR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，给定一个容量为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的背包。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从这些物品中选取全部或者部分物品装入该背包中，每个物品要么选中要么不选中，即物品不能被分割，找到选中物品不仅能够放到背包中而且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价值最大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的方案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最大价值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12" y="4714884"/>
            <a:ext cx="12144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W=6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结果为</a:t>
            </a: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8</a:t>
            </a:r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285984" y="4143380"/>
          <a:ext cx="3786214" cy="1969063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215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6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063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物品编号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重量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w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价值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v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643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5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643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4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643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643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42844" y="285728"/>
            <a:ext cx="642942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0100" y="357166"/>
            <a:ext cx="307183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）存储结构设计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34" y="1000108"/>
            <a:ext cx="8429684" cy="414650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struct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Goods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{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物品类型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no;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物品的编号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w;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物品的重量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v;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物品的价值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Goods(int no,int w,int v)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构造函数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this-&gt;no=no;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this-&gt;w=w;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this-&gt;v=v;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bool operator&lt;(const Goods&amp;s) const	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按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v/w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递减排序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return (double)v/w&gt;(double)s.v/s.w;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158" y="5259845"/>
            <a:ext cx="81439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表示选择物品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表示不选择物品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，最优解向量用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bestx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表示，最大价值用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bestv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表示（初始为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720" y="428604"/>
            <a:ext cx="2286016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左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剪支</a:t>
            </a:r>
          </a:p>
        </p:txBody>
      </p:sp>
      <p:sp>
        <p:nvSpPr>
          <p:cNvPr id="46173" name="Rectangle 9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7" name="TextBox 106"/>
          <p:cNvSpPr txBox="1"/>
          <p:nvPr/>
        </p:nvSpPr>
        <p:spPr>
          <a:xfrm>
            <a:off x="285720" y="1142984"/>
            <a:ext cx="8501122" cy="273161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左剪支与子集和问题的类似。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2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当搜索到第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&lt;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）层的某个结点时，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表示当前选择的物品重量和（其中不包含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2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检查当前物品被选中后总重量是否超过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，若超过则剪支，即仅仅扩展满足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cw+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FF00FF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的左孩子结点。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4282" y="500042"/>
            <a:ext cx="20002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3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）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右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剪支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20" y="1142984"/>
            <a:ext cx="8501122" cy="188843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采用限界函数（上界函数）。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将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所有物品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按单位重量价值递减排序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例如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前面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表排序后的结果如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下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，序号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发生了改变，后面改为按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而不是物品编号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的顺序搜索。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928662" y="3651264"/>
          <a:ext cx="6000793" cy="17780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071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序号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i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物品编号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no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重量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w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价值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v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v/w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1.5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1.3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5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0.8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113</a:t>
            </a:fld>
            <a:r>
              <a:rPr lang="en-US" altLang="zh-CN"/>
              <a:t>/173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68" y="4286256"/>
            <a:ext cx="642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W=6</a:t>
            </a:r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5720" y="458721"/>
            <a:ext cx="8501122" cy="207236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2800"/>
              </a:lnSpc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第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层结点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：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表示当前选择的物品重量和（不含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表示当前选择的物品价值和（不含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v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2800"/>
              </a:lnSpc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此时背包剩余容量为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rw=W-cw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，如果按背包容量连续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选择物品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及其后面的物品，直到装满，其价值一定是最大的（因为物品按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v/w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递减排序），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最大价值</a:t>
            </a:r>
            <a:r>
              <a:rPr lang="zh-CN" altLang="en-US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为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r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：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42"/>
          <p:cNvGrpSpPr/>
          <p:nvPr/>
        </p:nvGrpSpPr>
        <p:grpSpPr>
          <a:xfrm>
            <a:off x="1214442" y="2786058"/>
            <a:ext cx="7143772" cy="2971814"/>
            <a:chOff x="357158" y="2928934"/>
            <a:chExt cx="6643706" cy="2971814"/>
          </a:xfrm>
        </p:grpSpPr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1393390" y="3333837"/>
              <a:ext cx="381055" cy="38091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1822018" y="3357562"/>
              <a:ext cx="674278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1019314" y="4033610"/>
              <a:ext cx="379934" cy="38315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1495404" y="4137844"/>
              <a:ext cx="1054159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cxnSp>
          <p:nvCxnSpPr>
            <p:cNvPr id="22" name="直接连接符 21"/>
            <p:cNvCxnSpPr>
              <a:stCxn id="10" idx="3"/>
              <a:endCxn id="12" idx="0"/>
            </p:cNvCxnSpPr>
            <p:nvPr/>
          </p:nvCxnSpPr>
          <p:spPr>
            <a:xfrm rot="5400000">
              <a:off x="1141917" y="3726333"/>
              <a:ext cx="374642" cy="239913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Oval 11"/>
            <p:cNvSpPr>
              <a:spLocks noChangeArrowheads="1"/>
            </p:cNvSpPr>
            <p:nvPr/>
          </p:nvSpPr>
          <p:spPr bwMode="auto">
            <a:xfrm>
              <a:off x="686842" y="4712732"/>
              <a:ext cx="379934" cy="38315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cxnSp>
          <p:nvCxnSpPr>
            <p:cNvPr id="27" name="直接连接符 26"/>
            <p:cNvCxnSpPr>
              <a:stCxn id="12" idx="3"/>
              <a:endCxn id="25" idx="0"/>
            </p:cNvCxnSpPr>
            <p:nvPr/>
          </p:nvCxnSpPr>
          <p:spPr>
            <a:xfrm rot="5400000">
              <a:off x="799843" y="4437620"/>
              <a:ext cx="352079" cy="198145"/>
            </a:xfrm>
            <a:prstGeom prst="line">
              <a:avLst/>
            </a:prstGeom>
            <a:ln w="19050">
              <a:prstDash val="dash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8"/>
            <p:cNvSpPr>
              <a:spLocks noChangeArrowheads="1"/>
            </p:cNvSpPr>
            <p:nvPr/>
          </p:nvSpPr>
          <p:spPr bwMode="auto">
            <a:xfrm>
              <a:off x="1142948" y="4786322"/>
              <a:ext cx="1007991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2000" b="0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sp>
          <p:nvSpPr>
            <p:cNvPr id="29" name="Oval 11"/>
            <p:cNvSpPr>
              <a:spLocks noChangeArrowheads="1"/>
            </p:cNvSpPr>
            <p:nvPr/>
          </p:nvSpPr>
          <p:spPr bwMode="auto">
            <a:xfrm>
              <a:off x="357158" y="5403299"/>
              <a:ext cx="379934" cy="38315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cxnSp>
          <p:nvCxnSpPr>
            <p:cNvPr id="31" name="直接连接符 30"/>
            <p:cNvCxnSpPr>
              <a:stCxn id="25" idx="3"/>
              <a:endCxn id="29" idx="0"/>
            </p:cNvCxnSpPr>
            <p:nvPr/>
          </p:nvCxnSpPr>
          <p:spPr>
            <a:xfrm rot="5400000">
              <a:off x="463042" y="5123859"/>
              <a:ext cx="363524" cy="195357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781025" y="5476116"/>
              <a:ext cx="714380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sp>
          <p:nvSpPr>
            <p:cNvPr id="36" name="Rectangle 8"/>
            <p:cNvSpPr>
              <a:spLocks noChangeArrowheads="1"/>
            </p:cNvSpPr>
            <p:nvPr/>
          </p:nvSpPr>
          <p:spPr bwMode="auto">
            <a:xfrm>
              <a:off x="1250514" y="2928934"/>
              <a:ext cx="857256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cv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cw</a:t>
              </a:r>
              <a:endPara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000364" y="4929198"/>
              <a:ext cx="4000500" cy="97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" name="TextBox 40"/>
            <p:cNvSpPr txBox="1"/>
            <p:nvPr/>
          </p:nvSpPr>
          <p:spPr>
            <a:xfrm>
              <a:off x="2928925" y="4214818"/>
              <a:ext cx="367331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试探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：物品</a:t>
              </a: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～</a:t>
              </a: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可以整个装入，物品</a:t>
              </a: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只能部分装入</a:t>
              </a:r>
            </a:p>
          </p:txBody>
        </p:sp>
        <p:sp>
          <p:nvSpPr>
            <p:cNvPr id="42" name="右大括号 41"/>
            <p:cNvSpPr/>
            <p:nvPr/>
          </p:nvSpPr>
          <p:spPr>
            <a:xfrm>
              <a:off x="2571736" y="3429000"/>
              <a:ext cx="214314" cy="2286016"/>
            </a:xfrm>
            <a:prstGeom prst="rightBrac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5720" y="285728"/>
            <a:ext cx="8501122" cy="81047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2800"/>
              </a:lnSpc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第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层结点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：如果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不选择物品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时，此时背包剩余容量为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rw=W-cw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余下重量的物品的最大价值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r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+1)</a:t>
            </a:r>
            <a:r>
              <a:rPr lang="zh-CN" altLang="en-US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：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2143108" y="1500174"/>
            <a:ext cx="3929090" cy="2905144"/>
            <a:chOff x="2143108" y="1500174"/>
            <a:chExt cx="3929090" cy="2905144"/>
          </a:xfrm>
        </p:grpSpPr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3397656" y="2071678"/>
              <a:ext cx="1031468" cy="35719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]=0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2768177" y="1780127"/>
              <a:ext cx="381055" cy="38091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3254780" y="1780390"/>
              <a:ext cx="808061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3340668" y="2652474"/>
              <a:ext cx="379934" cy="38315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3816758" y="2647170"/>
              <a:ext cx="969556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sp>
          <p:nvSpPr>
            <p:cNvPr id="20" name="Rectangle 2"/>
            <p:cNvSpPr>
              <a:spLocks noChangeArrowheads="1"/>
            </p:cNvSpPr>
            <p:nvPr/>
          </p:nvSpPr>
          <p:spPr bwMode="auto">
            <a:xfrm>
              <a:off x="2143108" y="2742070"/>
              <a:ext cx="401229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Times New Roman" pitchFamily="18" charset="0"/>
                </a:rPr>
                <a:t>…</a:t>
              </a:r>
            </a:p>
          </p:txBody>
        </p:sp>
        <p:cxnSp>
          <p:nvCxnSpPr>
            <p:cNvPr id="22" name="直接连接符 21"/>
            <p:cNvCxnSpPr>
              <a:stCxn id="10" idx="5"/>
              <a:endCxn id="12" idx="0"/>
            </p:cNvCxnSpPr>
            <p:nvPr/>
          </p:nvCxnSpPr>
          <p:spPr>
            <a:xfrm rot="16200000" flipH="1">
              <a:off x="3038423" y="2160262"/>
              <a:ext cx="547216" cy="437207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10" idx="3"/>
            </p:cNvCxnSpPr>
            <p:nvPr/>
          </p:nvCxnSpPr>
          <p:spPr>
            <a:xfrm rot="5400000">
              <a:off x="2303840" y="2069529"/>
              <a:ext cx="484412" cy="555870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Oval 11"/>
            <p:cNvSpPr>
              <a:spLocks noChangeArrowheads="1"/>
            </p:cNvSpPr>
            <p:nvPr/>
          </p:nvSpPr>
          <p:spPr bwMode="auto">
            <a:xfrm>
              <a:off x="3008196" y="3331596"/>
              <a:ext cx="379934" cy="38315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cxnSp>
          <p:nvCxnSpPr>
            <p:cNvPr id="27" name="直接连接符 26"/>
            <p:cNvCxnSpPr>
              <a:stCxn id="12" idx="3"/>
              <a:endCxn id="25" idx="0"/>
            </p:cNvCxnSpPr>
            <p:nvPr/>
          </p:nvCxnSpPr>
          <p:spPr>
            <a:xfrm rot="5400000">
              <a:off x="3121197" y="3056484"/>
              <a:ext cx="352079" cy="198145"/>
            </a:xfrm>
            <a:prstGeom prst="line">
              <a:avLst/>
            </a:prstGeom>
            <a:ln w="19050">
              <a:prstDash val="dash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8"/>
            <p:cNvSpPr>
              <a:spLocks noChangeArrowheads="1"/>
            </p:cNvSpPr>
            <p:nvPr/>
          </p:nvSpPr>
          <p:spPr bwMode="auto">
            <a:xfrm>
              <a:off x="3531006" y="3367086"/>
              <a:ext cx="1040994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2000" b="0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sp>
          <p:nvSpPr>
            <p:cNvPr id="29" name="Oval 11"/>
            <p:cNvSpPr>
              <a:spLocks noChangeArrowheads="1"/>
            </p:cNvSpPr>
            <p:nvPr/>
          </p:nvSpPr>
          <p:spPr bwMode="auto">
            <a:xfrm>
              <a:off x="2678512" y="4022163"/>
              <a:ext cx="379934" cy="38315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cxnSp>
          <p:nvCxnSpPr>
            <p:cNvPr id="31" name="直接连接符 30"/>
            <p:cNvCxnSpPr>
              <a:stCxn id="25" idx="3"/>
              <a:endCxn id="29" idx="0"/>
            </p:cNvCxnSpPr>
            <p:nvPr/>
          </p:nvCxnSpPr>
          <p:spPr>
            <a:xfrm rot="5400000">
              <a:off x="2784396" y="3742723"/>
              <a:ext cx="363524" cy="195357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3102379" y="4094980"/>
              <a:ext cx="714380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sp>
          <p:nvSpPr>
            <p:cNvPr id="36" name="Rectangle 8"/>
            <p:cNvSpPr>
              <a:spLocks noChangeArrowheads="1"/>
            </p:cNvSpPr>
            <p:nvPr/>
          </p:nvSpPr>
          <p:spPr bwMode="auto">
            <a:xfrm>
              <a:off x="2683276" y="1500174"/>
              <a:ext cx="285752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cv</a:t>
              </a:r>
              <a:endPara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38" name="右大括号 37"/>
            <p:cNvSpPr/>
            <p:nvPr/>
          </p:nvSpPr>
          <p:spPr>
            <a:xfrm>
              <a:off x="4714876" y="2762244"/>
              <a:ext cx="285752" cy="1571636"/>
            </a:xfrm>
            <a:prstGeom prst="rightBrac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72066" y="3333748"/>
              <a:ext cx="1000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r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</a:t>
              </a:r>
              <a:r>
                <a:rPr lang="en-US" altLang="zh-CN" sz="20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+1)</a:t>
              </a:r>
              <a:endParaRPr lang="zh-CN" altLang="en-US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14744" y="4500570"/>
            <a:ext cx="40005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71472" y="1714488"/>
            <a:ext cx="8215370" cy="409520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double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bound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(int cw,int cv,int i) {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计算第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层结点的上界函数值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int rw=W-cw; 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背包的剩余容量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double b=cv; 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表示物品价值的上界值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int j=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while (j&lt;n &amp;&amp; g[j].w&lt;=rw)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	rw-=g[j].w; 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选择物品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	b+=g[j].v; 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累计价值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	j++;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if (j&lt;n) 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最后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一个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物品只能部分装入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	b+=(double)g[j].v/g[j].w*rw;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return b;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720" y="142852"/>
            <a:ext cx="2000264" cy="51473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tIns="72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限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界函数</a:t>
            </a:r>
            <a:endParaRPr lang="zh-CN" altLang="en-US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华文中宋" pitchFamily="2" charset="-122"/>
              <a:ea typeface="华文中宋" pitchFamily="2" charset="-122"/>
              <a:cs typeface="Consolas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4282" y="857232"/>
            <a:ext cx="8572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不选择物品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时这条路径走下去能够选择物品的最大价值为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bound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(cw,cv,i+1)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29058" y="1285860"/>
            <a:ext cx="3643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对于第</a:t>
            </a:r>
            <a:r>
              <a:rPr lang="en-US" altLang="zh-CN" sz="20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en-US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层结点实参为</a:t>
            </a:r>
            <a:r>
              <a:rPr lang="en-US" altLang="zh-CN" sz="20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+1</a:t>
            </a:r>
            <a:endParaRPr lang="zh-CN" altLang="en-US" sz="2000">
              <a:solidFill>
                <a:srgbClr val="FF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4282" y="5955589"/>
            <a:ext cx="8429684" cy="4616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剪支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仅仅扩展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bound(cw,cv,i+1)&gt;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bestv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右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结点。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rot="10800000">
            <a:off x="3357554" y="1500174"/>
            <a:ext cx="500066" cy="1588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344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1214414" y="793744"/>
          <a:ext cx="6215106" cy="17780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270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77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序号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i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物品编号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no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重量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w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价值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v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v/w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1.5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1.3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5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0.8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57158" y="142852"/>
            <a:ext cx="17145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200">
                <a:solidFill>
                  <a:srgbClr val="FF0000"/>
                </a:solidFill>
                <a:ea typeface="楷体" pitchFamily="49" charset="-122"/>
                <a:cs typeface="Times New Roman" pitchFamily="18" charset="0"/>
              </a:rPr>
              <a:t>右</a:t>
            </a:r>
            <a:r>
              <a:rPr lang="zh-CN" altLang="zh-CN" sz="2200">
                <a:solidFill>
                  <a:srgbClr val="FF0000"/>
                </a:solidFill>
                <a:ea typeface="楷体" pitchFamily="49" charset="-122"/>
                <a:cs typeface="Times New Roman" pitchFamily="18" charset="0"/>
              </a:rPr>
              <a:t>剪支</a:t>
            </a:r>
            <a:r>
              <a:rPr lang="zh-CN" altLang="en-US" sz="2200">
                <a:solidFill>
                  <a:srgbClr val="FF0000"/>
                </a:solidFill>
                <a:ea typeface="楷体" pitchFamily="49" charset="-122"/>
                <a:cs typeface="Times New Roman" pitchFamily="18" charset="0"/>
              </a:rPr>
              <a:t>实例</a:t>
            </a:r>
            <a:endParaRPr lang="zh-CN" altLang="en-US" sz="2200">
              <a:solidFill>
                <a:srgbClr val="0000FF"/>
              </a:solidFill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03447" name="Oval 23"/>
          <p:cNvSpPr>
            <a:spLocks noChangeArrowheads="1"/>
          </p:cNvSpPr>
          <p:nvPr/>
        </p:nvSpPr>
        <p:spPr bwMode="auto">
          <a:xfrm>
            <a:off x="4193346" y="2928934"/>
            <a:ext cx="957084" cy="454065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0,0</a:t>
            </a:r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117</a:t>
            </a:fld>
            <a:r>
              <a:rPr lang="en-US" altLang="zh-CN"/>
              <a:t>/173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43834" y="1285860"/>
            <a:ext cx="642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W=6</a:t>
            </a:r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2372115" y="3316502"/>
            <a:ext cx="1961394" cy="834367"/>
            <a:chOff x="2372115" y="3316502"/>
            <a:chExt cx="1961394" cy="834367"/>
          </a:xfrm>
        </p:grpSpPr>
        <p:sp>
          <p:nvSpPr>
            <p:cNvPr id="103443" name="Oval 19"/>
            <p:cNvSpPr>
              <a:spLocks noChangeArrowheads="1"/>
            </p:cNvSpPr>
            <p:nvPr/>
          </p:nvSpPr>
          <p:spPr bwMode="auto">
            <a:xfrm>
              <a:off x="3102753" y="3712256"/>
              <a:ext cx="912045" cy="43861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2,3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72115" y="3443320"/>
              <a:ext cx="1128315" cy="414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cs typeface="Times New Roman" pitchFamily="18" charset="0"/>
                </a:rPr>
                <a:t>(cw,cv)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39" name="直接连接符 38"/>
            <p:cNvCxnSpPr>
              <a:stCxn id="103447" idx="3"/>
            </p:cNvCxnSpPr>
            <p:nvPr/>
          </p:nvCxnSpPr>
          <p:spPr>
            <a:xfrm rot="5400000">
              <a:off x="3860721" y="3241964"/>
              <a:ext cx="398249" cy="547326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5" name="组合 64"/>
          <p:cNvGrpSpPr/>
          <p:nvPr/>
        </p:nvGrpSpPr>
        <p:grpSpPr>
          <a:xfrm>
            <a:off x="5000627" y="3316502"/>
            <a:ext cx="3429025" cy="1155550"/>
            <a:chOff x="5000627" y="3316502"/>
            <a:chExt cx="3429025" cy="1155550"/>
          </a:xfrm>
        </p:grpSpPr>
        <p:sp>
          <p:nvSpPr>
            <p:cNvPr id="103437" name="Oval 13"/>
            <p:cNvSpPr>
              <a:spLocks noChangeArrowheads="1"/>
            </p:cNvSpPr>
            <p:nvPr/>
          </p:nvSpPr>
          <p:spPr bwMode="auto">
            <a:xfrm>
              <a:off x="5000627" y="3642126"/>
              <a:ext cx="1481677" cy="43861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0,0,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6.6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57950" y="3386080"/>
              <a:ext cx="14784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cs typeface="Times New Roman" pitchFamily="18" charset="0"/>
                </a:rPr>
                <a:t>(cw,cv,ub)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00760" y="4071942"/>
              <a:ext cx="24288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Times New Roman" pitchFamily="18" charset="0"/>
                </a:rPr>
                <a:t>ub=4+1+2*0.8=6.6</a:t>
              </a:r>
              <a:endParaRPr lang="zh-CN" altLang="en-US" sz="2000">
                <a:solidFill>
                  <a:srgbClr val="006600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41" name="直接连接符 40"/>
            <p:cNvCxnSpPr>
              <a:stCxn id="103447" idx="5"/>
              <a:endCxn id="103437" idx="0"/>
            </p:cNvCxnSpPr>
            <p:nvPr/>
          </p:nvCxnSpPr>
          <p:spPr>
            <a:xfrm rot="16200000" flipH="1">
              <a:off x="5213056" y="3113715"/>
              <a:ext cx="325623" cy="731198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4" name="组合 63"/>
          <p:cNvGrpSpPr/>
          <p:nvPr/>
        </p:nvGrpSpPr>
        <p:grpSpPr>
          <a:xfrm>
            <a:off x="3752913" y="4086635"/>
            <a:ext cx="3819483" cy="1028359"/>
            <a:chOff x="3752913" y="4086635"/>
            <a:chExt cx="3819483" cy="1028359"/>
          </a:xfrm>
        </p:grpSpPr>
        <p:sp>
          <p:nvSpPr>
            <p:cNvPr id="103438" name="Oval 14"/>
            <p:cNvSpPr>
              <a:spLocks noChangeArrowheads="1"/>
            </p:cNvSpPr>
            <p:nvPr/>
          </p:nvSpPr>
          <p:spPr bwMode="auto">
            <a:xfrm>
              <a:off x="3752913" y="4453975"/>
              <a:ext cx="1510309" cy="43861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2,3,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6.4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143504" y="4714884"/>
              <a:ext cx="24288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Times New Roman" pitchFamily="18" charset="0"/>
                </a:rPr>
                <a:t>ub=3+1+3*0.8=6.4</a:t>
              </a:r>
              <a:endParaRPr lang="zh-CN" altLang="en-US" sz="2000">
                <a:solidFill>
                  <a:srgbClr val="006600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43" name="直接连接符 42"/>
            <p:cNvCxnSpPr>
              <a:stCxn id="103443" idx="5"/>
              <a:endCxn id="103438" idx="0"/>
            </p:cNvCxnSpPr>
            <p:nvPr/>
          </p:nvCxnSpPr>
          <p:spPr>
            <a:xfrm rot="16200000" flipH="1">
              <a:off x="4010981" y="3956887"/>
              <a:ext cx="367339" cy="626836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1" name="组合 60"/>
          <p:cNvGrpSpPr/>
          <p:nvPr/>
        </p:nvGrpSpPr>
        <p:grpSpPr>
          <a:xfrm>
            <a:off x="857224" y="5678241"/>
            <a:ext cx="1092202" cy="803575"/>
            <a:chOff x="857224" y="5678241"/>
            <a:chExt cx="1092202" cy="803575"/>
          </a:xfrm>
        </p:grpSpPr>
        <p:sp>
          <p:nvSpPr>
            <p:cNvPr id="103440" name="Oval 16"/>
            <p:cNvSpPr>
              <a:spLocks noChangeArrowheads="1"/>
            </p:cNvSpPr>
            <p:nvPr/>
          </p:nvSpPr>
          <p:spPr bwMode="auto">
            <a:xfrm>
              <a:off x="857224" y="6043203"/>
              <a:ext cx="1092202" cy="43861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11,12</a:t>
              </a:r>
            </a:p>
          </p:txBody>
        </p:sp>
        <p:cxnSp>
          <p:nvCxnSpPr>
            <p:cNvPr id="45" name="直接连接符 44"/>
            <p:cNvCxnSpPr>
              <a:stCxn id="103446" idx="3"/>
              <a:endCxn id="103440" idx="0"/>
            </p:cNvCxnSpPr>
            <p:nvPr/>
          </p:nvCxnSpPr>
          <p:spPr>
            <a:xfrm rot="5400000">
              <a:off x="1400627" y="5680939"/>
              <a:ext cx="364962" cy="359566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2" name="组合 61"/>
          <p:cNvGrpSpPr/>
          <p:nvPr/>
        </p:nvGrpSpPr>
        <p:grpSpPr>
          <a:xfrm>
            <a:off x="2238964" y="5678240"/>
            <a:ext cx="2547350" cy="790501"/>
            <a:chOff x="2238964" y="5678240"/>
            <a:chExt cx="2547350" cy="790501"/>
          </a:xfrm>
        </p:grpSpPr>
        <p:sp>
          <p:nvSpPr>
            <p:cNvPr id="103442" name="Oval 18"/>
            <p:cNvSpPr>
              <a:spLocks noChangeArrowheads="1"/>
            </p:cNvSpPr>
            <p:nvPr/>
          </p:nvSpPr>
          <p:spPr bwMode="auto">
            <a:xfrm>
              <a:off x="2238964" y="6030128"/>
              <a:ext cx="1185498" cy="43861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6,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8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,6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72758" y="6041046"/>
              <a:ext cx="13135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楷体" pitchFamily="49" charset="-122"/>
                  <a:cs typeface="Times New Roman" pitchFamily="18" charset="0"/>
                </a:rPr>
                <a:t>bestv=8</a:t>
              </a:r>
              <a:endParaRPr lang="zh-CN" altLang="en-US" sz="20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47" name="直接连接符 46"/>
            <p:cNvCxnSpPr>
              <a:stCxn id="103446" idx="5"/>
              <a:endCxn id="103442" idx="0"/>
            </p:cNvCxnSpPr>
            <p:nvPr/>
          </p:nvCxnSpPr>
          <p:spPr>
            <a:xfrm rot="16200000" flipH="1">
              <a:off x="2443815" y="5642229"/>
              <a:ext cx="351887" cy="423909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0" name="组合 59"/>
          <p:cNvGrpSpPr/>
          <p:nvPr/>
        </p:nvGrpSpPr>
        <p:grpSpPr>
          <a:xfrm>
            <a:off x="1629325" y="4839054"/>
            <a:ext cx="912045" cy="903420"/>
            <a:chOff x="1629325" y="4839054"/>
            <a:chExt cx="912045" cy="903420"/>
          </a:xfrm>
        </p:grpSpPr>
        <p:sp>
          <p:nvSpPr>
            <p:cNvPr id="103446" name="Oval 22"/>
            <p:cNvSpPr>
              <a:spLocks noChangeArrowheads="1"/>
            </p:cNvSpPr>
            <p:nvPr/>
          </p:nvSpPr>
          <p:spPr bwMode="auto">
            <a:xfrm>
              <a:off x="1629325" y="5303861"/>
              <a:ext cx="912045" cy="43861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6,8</a:t>
              </a:r>
            </a:p>
          </p:txBody>
        </p:sp>
        <p:cxnSp>
          <p:nvCxnSpPr>
            <p:cNvPr id="49" name="直接连接符 48"/>
            <p:cNvCxnSpPr>
              <a:stCxn id="103445" idx="3"/>
              <a:endCxn id="103446" idx="0"/>
            </p:cNvCxnSpPr>
            <p:nvPr/>
          </p:nvCxnSpPr>
          <p:spPr>
            <a:xfrm rot="5400000">
              <a:off x="2074550" y="4849852"/>
              <a:ext cx="464808" cy="443211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3" name="组合 62"/>
          <p:cNvGrpSpPr/>
          <p:nvPr/>
        </p:nvGrpSpPr>
        <p:grpSpPr>
          <a:xfrm>
            <a:off x="3121302" y="4839053"/>
            <a:ext cx="3855450" cy="990321"/>
            <a:chOff x="3121302" y="4839053"/>
            <a:chExt cx="3855450" cy="990321"/>
          </a:xfrm>
        </p:grpSpPr>
        <p:sp>
          <p:nvSpPr>
            <p:cNvPr id="103441" name="Oval 17"/>
            <p:cNvSpPr>
              <a:spLocks noChangeArrowheads="1"/>
            </p:cNvSpPr>
            <p:nvPr/>
          </p:nvSpPr>
          <p:spPr bwMode="auto">
            <a:xfrm>
              <a:off x="3121302" y="5288409"/>
              <a:ext cx="1450698" cy="43861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5,7,7.8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547860" y="5429264"/>
              <a:ext cx="24288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Times New Roman" pitchFamily="18" charset="0"/>
                </a:rPr>
                <a:t>ub=3+4+1*0.8=7.8</a:t>
              </a:r>
              <a:endParaRPr lang="zh-CN" altLang="en-US" sz="2000">
                <a:solidFill>
                  <a:srgbClr val="006600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51" name="直接连接符 50"/>
            <p:cNvCxnSpPr>
              <a:stCxn id="103445" idx="5"/>
              <a:endCxn id="103441" idx="0"/>
            </p:cNvCxnSpPr>
            <p:nvPr/>
          </p:nvCxnSpPr>
          <p:spPr>
            <a:xfrm rot="16200000" flipH="1">
              <a:off x="3285383" y="4727141"/>
              <a:ext cx="449356" cy="673179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/>
        </p:nvGrpSpPr>
        <p:grpSpPr>
          <a:xfrm>
            <a:off x="2394993" y="4086636"/>
            <a:ext cx="912045" cy="816650"/>
            <a:chOff x="2394993" y="4086636"/>
            <a:chExt cx="912045" cy="816650"/>
          </a:xfrm>
        </p:grpSpPr>
        <p:sp>
          <p:nvSpPr>
            <p:cNvPr id="103445" name="Oval 21"/>
            <p:cNvSpPr>
              <a:spLocks noChangeArrowheads="1"/>
            </p:cNvSpPr>
            <p:nvPr/>
          </p:nvSpPr>
          <p:spPr bwMode="auto">
            <a:xfrm>
              <a:off x="2394993" y="4464673"/>
              <a:ext cx="912045" cy="43861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5,7</a:t>
              </a:r>
            </a:p>
          </p:txBody>
        </p:sp>
        <p:cxnSp>
          <p:nvCxnSpPr>
            <p:cNvPr id="53" name="直接连接符 52"/>
            <p:cNvCxnSpPr>
              <a:stCxn id="103443" idx="3"/>
              <a:endCxn id="103445" idx="0"/>
            </p:cNvCxnSpPr>
            <p:nvPr/>
          </p:nvCxnSpPr>
          <p:spPr>
            <a:xfrm rot="5400000">
              <a:off x="2854650" y="4083003"/>
              <a:ext cx="378037" cy="385303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285728"/>
            <a:ext cx="8643998" cy="630093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cw,int cv,int i) {  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tot++;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累计调用次数 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i&gt;=n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(cw&lt;=W &amp;&amp; cv&gt;bestv)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找到一个更优解</a:t>
            </a:r>
            <a:endParaRPr lang="en-US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bestv=cv;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bestx=x;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else {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没有到达叶子结点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cw+g[i].w&lt;=W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  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左剪支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x[i]=1;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选取物品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(cw+g[i].w,cv+g[i].v,i+1);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double b=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bound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(cw,cv,i+1);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计算限界函数值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b&gt;bestv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{			          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右剪支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x[i]=0;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不选取物品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(cw,cv,i+1);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785794"/>
            <a:ext cx="8286808" cy="132343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knap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算法分析：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该算法在不考虑剪支时解空间树中有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个结点，求上界函数值和保存最优解的时间为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，所以最坏情况下算法的时间复杂度为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hlinkClick r:id="" action="ppaction://noaction"/>
          </p:cNvPr>
          <p:cNvSpPr txBox="1"/>
          <p:nvPr/>
        </p:nvSpPr>
        <p:spPr>
          <a:xfrm>
            <a:off x="2143108" y="714356"/>
            <a:ext cx="4500594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完全背包问题</a:t>
            </a:r>
            <a:r>
              <a:rPr lang="zh-CN" altLang="en-US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：</a:t>
            </a:r>
            <a:r>
              <a:rPr lang="zh-CN" altLang="en-US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回溯法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1785926"/>
            <a:ext cx="8215370" cy="1887696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种重量和价值分别为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）的物品，从这些物品中挑选总重量不超过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的物品，每种物品可以挑选任意多件，求挑选物品的最大价值。该问题称为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完全背包问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题。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428604"/>
            <a:ext cx="114300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1285860"/>
            <a:ext cx="8429684" cy="417037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0/1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背包问题不同，完全背包问题中物品</a:t>
            </a:r>
            <a:r>
              <a:rPr lang="nb-NO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指的是第</a:t>
            </a:r>
            <a:r>
              <a:rPr lang="nb-NO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种物品，每种物品可以取任意多件。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对于解空间中第</a:t>
            </a:r>
            <a:r>
              <a:rPr lang="nb-NO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层的结点，用</a:t>
            </a:r>
            <a:r>
              <a:rPr lang="nb-NO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nb-NO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表示选择物品的总重量和总价值，这样处理物品</a:t>
            </a:r>
            <a:r>
              <a:rPr lang="nb-NO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的几种操作方式如下：</a:t>
            </a:r>
          </a:p>
          <a:p>
            <a:pPr marL="914400" lvl="1" indent="-457200" algn="l">
              <a:lnSpc>
                <a:spcPts val="32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不选择物品</a:t>
            </a:r>
            <a:r>
              <a:rPr lang="nb-NO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914400" lvl="1" indent="-457200" algn="l">
              <a:lnSpc>
                <a:spcPts val="32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nb-NO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cw+w[</a:t>
            </a:r>
            <a:r>
              <a:rPr lang="nb-NO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nb-NO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FF00FF"/>
                </a:solidFill>
                <a:latin typeface="+mn-ea"/>
                <a:ea typeface="+mn-ea"/>
              </a:rPr>
              <a:t>≤</a:t>
            </a:r>
            <a:r>
              <a:rPr lang="nb-NO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时，选择物品</a:t>
            </a:r>
            <a:r>
              <a:rPr lang="nb-NO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一件，下一步继续选择物品</a:t>
            </a:r>
            <a:r>
              <a:rPr lang="nb-NO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914400" lvl="1" indent="-457200" algn="l">
              <a:lnSpc>
                <a:spcPts val="32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nb-NO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cw+w[</a:t>
            </a:r>
            <a:r>
              <a:rPr lang="nb-NO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nb-NO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FF00FF"/>
                </a:solidFill>
                <a:latin typeface="+mn-ea"/>
                <a:ea typeface="+mn-ea"/>
              </a:rPr>
              <a:t>≤</a:t>
            </a:r>
            <a:r>
              <a:rPr lang="nb-NO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时，选择物品</a:t>
            </a:r>
            <a:r>
              <a:rPr lang="nb-NO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一件，下一步开始选择物品</a:t>
            </a:r>
            <a:r>
              <a:rPr lang="nb-NO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nb-NO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26" name="Rectangle 5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4024" name="Oval 56"/>
          <p:cNvSpPr>
            <a:spLocks noChangeArrowheads="1"/>
          </p:cNvSpPr>
          <p:nvPr/>
        </p:nvSpPr>
        <p:spPr bwMode="auto">
          <a:xfrm>
            <a:off x="4643438" y="655747"/>
            <a:ext cx="700146" cy="570878"/>
          </a:xfrm>
          <a:prstGeom prst="ellipse">
            <a:avLst/>
          </a:prstGeom>
          <a:solidFill>
            <a:srgbClr val="FF00FF"/>
          </a:solidFill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0,0,0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23" name="Oval 55"/>
          <p:cNvSpPr>
            <a:spLocks noChangeArrowheads="1"/>
          </p:cNvSpPr>
          <p:nvPr/>
        </p:nvSpPr>
        <p:spPr bwMode="auto">
          <a:xfrm>
            <a:off x="957382" y="2161518"/>
            <a:ext cx="553466" cy="56927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0,0,1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22" name="Oval 54"/>
          <p:cNvSpPr>
            <a:spLocks noChangeArrowheads="1"/>
          </p:cNvSpPr>
          <p:nvPr/>
        </p:nvSpPr>
        <p:spPr bwMode="auto">
          <a:xfrm>
            <a:off x="214282" y="3447598"/>
            <a:ext cx="553466" cy="57087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0,0,2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21" name="Oval 53"/>
          <p:cNvSpPr>
            <a:spLocks noChangeArrowheads="1"/>
          </p:cNvSpPr>
          <p:nvPr/>
        </p:nvSpPr>
        <p:spPr bwMode="auto">
          <a:xfrm>
            <a:off x="969509" y="3447598"/>
            <a:ext cx="553466" cy="570878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2,5,1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20" name="Oval 52"/>
          <p:cNvSpPr>
            <a:spLocks noChangeArrowheads="1"/>
          </p:cNvSpPr>
          <p:nvPr/>
        </p:nvSpPr>
        <p:spPr bwMode="auto">
          <a:xfrm>
            <a:off x="334457" y="4751317"/>
            <a:ext cx="553466" cy="570878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2,5,2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19" name="Oval 51"/>
          <p:cNvSpPr>
            <a:spLocks noChangeArrowheads="1"/>
          </p:cNvSpPr>
          <p:nvPr/>
        </p:nvSpPr>
        <p:spPr bwMode="auto">
          <a:xfrm>
            <a:off x="926512" y="4751317"/>
            <a:ext cx="669231" cy="57087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4,10,1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18" name="Oval 50"/>
          <p:cNvSpPr>
            <a:spLocks noChangeArrowheads="1"/>
          </p:cNvSpPr>
          <p:nvPr/>
        </p:nvSpPr>
        <p:spPr bwMode="auto">
          <a:xfrm>
            <a:off x="1643150" y="4749713"/>
            <a:ext cx="669231" cy="57248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4,10,2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17" name="Oval 49"/>
          <p:cNvSpPr>
            <a:spLocks noChangeArrowheads="1"/>
          </p:cNvSpPr>
          <p:nvPr/>
        </p:nvSpPr>
        <p:spPr bwMode="auto">
          <a:xfrm>
            <a:off x="1722532" y="3447598"/>
            <a:ext cx="553466" cy="570878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2,5,2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16" name="Oval 48"/>
          <p:cNvSpPr>
            <a:spLocks noChangeArrowheads="1"/>
          </p:cNvSpPr>
          <p:nvPr/>
        </p:nvSpPr>
        <p:spPr bwMode="auto">
          <a:xfrm>
            <a:off x="4745647" y="2161518"/>
            <a:ext cx="553466" cy="56927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1,2,0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15" name="Oval 47"/>
          <p:cNvSpPr>
            <a:spLocks noChangeArrowheads="1"/>
          </p:cNvSpPr>
          <p:nvPr/>
        </p:nvSpPr>
        <p:spPr bwMode="auto">
          <a:xfrm>
            <a:off x="3023507" y="3447598"/>
            <a:ext cx="552363" cy="570878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1,2,1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14" name="Oval 46"/>
          <p:cNvSpPr>
            <a:spLocks noChangeArrowheads="1"/>
          </p:cNvSpPr>
          <p:nvPr/>
        </p:nvSpPr>
        <p:spPr bwMode="auto">
          <a:xfrm>
            <a:off x="2377430" y="4751317"/>
            <a:ext cx="610797" cy="57087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1,2,2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13" name="Oval 45"/>
          <p:cNvSpPr>
            <a:spLocks noChangeArrowheads="1"/>
          </p:cNvSpPr>
          <p:nvPr/>
        </p:nvSpPr>
        <p:spPr bwMode="auto">
          <a:xfrm>
            <a:off x="3031226" y="4751317"/>
            <a:ext cx="553466" cy="57087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3,7,1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12" name="Oval 44"/>
          <p:cNvSpPr>
            <a:spLocks noChangeArrowheads="1"/>
          </p:cNvSpPr>
          <p:nvPr/>
        </p:nvSpPr>
        <p:spPr bwMode="auto">
          <a:xfrm>
            <a:off x="3644227" y="4751317"/>
            <a:ext cx="553466" cy="57087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3,7,2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11" name="Oval 43"/>
          <p:cNvSpPr>
            <a:spLocks noChangeArrowheads="1"/>
          </p:cNvSpPr>
          <p:nvPr/>
        </p:nvSpPr>
        <p:spPr bwMode="auto">
          <a:xfrm>
            <a:off x="4766595" y="3447598"/>
            <a:ext cx="553466" cy="570878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2,4,0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10" name="Oval 42"/>
          <p:cNvSpPr>
            <a:spLocks noChangeArrowheads="1"/>
          </p:cNvSpPr>
          <p:nvPr/>
        </p:nvSpPr>
        <p:spPr bwMode="auto">
          <a:xfrm>
            <a:off x="4243999" y="4751317"/>
            <a:ext cx="552363" cy="570878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2,4,1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09" name="Oval 41"/>
          <p:cNvSpPr>
            <a:spLocks noChangeArrowheads="1"/>
          </p:cNvSpPr>
          <p:nvPr/>
        </p:nvSpPr>
        <p:spPr bwMode="auto">
          <a:xfrm>
            <a:off x="4840464" y="4751317"/>
            <a:ext cx="552363" cy="57087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3,6,0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08" name="Oval 40"/>
          <p:cNvSpPr>
            <a:spLocks noChangeArrowheads="1"/>
          </p:cNvSpPr>
          <p:nvPr/>
        </p:nvSpPr>
        <p:spPr bwMode="auto">
          <a:xfrm>
            <a:off x="5438031" y="4751317"/>
            <a:ext cx="553466" cy="57087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3,6,1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07" name="Oval 39"/>
          <p:cNvSpPr>
            <a:spLocks noChangeArrowheads="1"/>
          </p:cNvSpPr>
          <p:nvPr/>
        </p:nvSpPr>
        <p:spPr bwMode="auto">
          <a:xfrm>
            <a:off x="3638715" y="5917127"/>
            <a:ext cx="553466" cy="57087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2,4,2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06" name="Oval 38"/>
          <p:cNvSpPr>
            <a:spLocks noChangeArrowheads="1"/>
          </p:cNvSpPr>
          <p:nvPr/>
        </p:nvSpPr>
        <p:spPr bwMode="auto">
          <a:xfrm>
            <a:off x="4243999" y="5917127"/>
            <a:ext cx="553466" cy="57087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4,9,1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05" name="Oval 37"/>
          <p:cNvSpPr>
            <a:spLocks noChangeArrowheads="1"/>
          </p:cNvSpPr>
          <p:nvPr/>
        </p:nvSpPr>
        <p:spPr bwMode="auto">
          <a:xfrm>
            <a:off x="4833849" y="5917127"/>
            <a:ext cx="552363" cy="57087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4,9,2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4004" name="AutoShape 36"/>
          <p:cNvSpPr>
            <a:spLocks noChangeShapeType="1"/>
          </p:cNvSpPr>
          <p:nvPr/>
        </p:nvSpPr>
        <p:spPr bwMode="auto">
          <a:xfrm>
            <a:off x="4520732" y="5322195"/>
            <a:ext cx="1102" cy="59493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4003" name="AutoShape 35"/>
          <p:cNvSpPr>
            <a:spLocks noChangeShapeType="1"/>
          </p:cNvSpPr>
          <p:nvPr/>
        </p:nvSpPr>
        <p:spPr bwMode="auto">
          <a:xfrm flipH="1">
            <a:off x="3915448" y="5238808"/>
            <a:ext cx="409035" cy="678319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4002" name="AutoShape 34"/>
          <p:cNvSpPr>
            <a:spLocks noChangeShapeType="1"/>
          </p:cNvSpPr>
          <p:nvPr/>
        </p:nvSpPr>
        <p:spPr bwMode="auto">
          <a:xfrm>
            <a:off x="4715879" y="5238808"/>
            <a:ext cx="394703" cy="678319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4001" name="AutoShape 33"/>
          <p:cNvSpPr>
            <a:spLocks noChangeShapeType="1"/>
          </p:cNvSpPr>
          <p:nvPr/>
        </p:nvSpPr>
        <p:spPr bwMode="auto">
          <a:xfrm flipH="1">
            <a:off x="2682829" y="3935089"/>
            <a:ext cx="421164" cy="81622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4000" name="AutoShape 32"/>
          <p:cNvSpPr>
            <a:spLocks noChangeShapeType="1"/>
          </p:cNvSpPr>
          <p:nvPr/>
        </p:nvSpPr>
        <p:spPr bwMode="auto">
          <a:xfrm>
            <a:off x="3300241" y="4018476"/>
            <a:ext cx="7717" cy="732841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99" name="AutoShape 31"/>
          <p:cNvSpPr>
            <a:spLocks noChangeShapeType="1"/>
          </p:cNvSpPr>
          <p:nvPr/>
        </p:nvSpPr>
        <p:spPr bwMode="auto">
          <a:xfrm>
            <a:off x="3495387" y="3935089"/>
            <a:ext cx="425573" cy="81622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98" name="Oval 30"/>
          <p:cNvSpPr>
            <a:spLocks noChangeArrowheads="1"/>
          </p:cNvSpPr>
          <p:nvPr/>
        </p:nvSpPr>
        <p:spPr bwMode="auto">
          <a:xfrm>
            <a:off x="6590166" y="3447598"/>
            <a:ext cx="553466" cy="570878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2,4,1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3997" name="AutoShape 29"/>
          <p:cNvSpPr>
            <a:spLocks noChangeShapeType="1"/>
          </p:cNvSpPr>
          <p:nvPr/>
        </p:nvSpPr>
        <p:spPr bwMode="auto">
          <a:xfrm>
            <a:off x="5043328" y="4018476"/>
            <a:ext cx="73869" cy="732841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96" name="AutoShape 28"/>
          <p:cNvSpPr>
            <a:spLocks noChangeShapeType="1"/>
          </p:cNvSpPr>
          <p:nvPr/>
        </p:nvSpPr>
        <p:spPr bwMode="auto">
          <a:xfrm flipH="1">
            <a:off x="4520732" y="3935089"/>
            <a:ext cx="327449" cy="81622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95" name="AutoShape 27"/>
          <p:cNvSpPr>
            <a:spLocks noChangeShapeType="1"/>
          </p:cNvSpPr>
          <p:nvPr/>
        </p:nvSpPr>
        <p:spPr bwMode="auto">
          <a:xfrm>
            <a:off x="5238474" y="3935089"/>
            <a:ext cx="476289" cy="81622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94" name="AutoShape 26"/>
          <p:cNvSpPr>
            <a:spLocks noChangeShapeType="1"/>
          </p:cNvSpPr>
          <p:nvPr/>
        </p:nvSpPr>
        <p:spPr bwMode="auto">
          <a:xfrm>
            <a:off x="1246242" y="4018476"/>
            <a:ext cx="15436" cy="732841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93" name="AutoShape 25"/>
          <p:cNvSpPr>
            <a:spLocks noChangeShapeType="1"/>
          </p:cNvSpPr>
          <p:nvPr/>
        </p:nvSpPr>
        <p:spPr bwMode="auto">
          <a:xfrm flipH="1">
            <a:off x="611190" y="3935089"/>
            <a:ext cx="439907" cy="81622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92" name="AutoShape 24"/>
          <p:cNvSpPr>
            <a:spLocks noChangeShapeType="1"/>
          </p:cNvSpPr>
          <p:nvPr/>
        </p:nvSpPr>
        <p:spPr bwMode="auto">
          <a:xfrm>
            <a:off x="1441389" y="3935089"/>
            <a:ext cx="536929" cy="814624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91" name="AutoShape 23"/>
          <p:cNvSpPr>
            <a:spLocks noChangeShapeType="1"/>
          </p:cNvSpPr>
          <p:nvPr/>
        </p:nvSpPr>
        <p:spPr bwMode="auto">
          <a:xfrm>
            <a:off x="1234115" y="2730793"/>
            <a:ext cx="12127" cy="71680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90" name="AutoShape 22"/>
          <p:cNvSpPr>
            <a:spLocks noChangeShapeType="1"/>
          </p:cNvSpPr>
          <p:nvPr/>
        </p:nvSpPr>
        <p:spPr bwMode="auto">
          <a:xfrm flipH="1">
            <a:off x="491015" y="2647406"/>
            <a:ext cx="547953" cy="80019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89" name="AutoShape 21"/>
          <p:cNvSpPr>
            <a:spLocks noChangeShapeType="1"/>
          </p:cNvSpPr>
          <p:nvPr/>
        </p:nvSpPr>
        <p:spPr bwMode="auto">
          <a:xfrm>
            <a:off x="1429261" y="2647406"/>
            <a:ext cx="570004" cy="80019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88" name="Oval 20"/>
          <p:cNvSpPr>
            <a:spLocks noChangeArrowheads="1"/>
          </p:cNvSpPr>
          <p:nvPr/>
        </p:nvSpPr>
        <p:spPr bwMode="auto">
          <a:xfrm>
            <a:off x="6023471" y="4751317"/>
            <a:ext cx="553466" cy="57087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2,4,2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3987" name="Oval 19"/>
          <p:cNvSpPr>
            <a:spLocks noChangeArrowheads="1"/>
          </p:cNvSpPr>
          <p:nvPr/>
        </p:nvSpPr>
        <p:spPr bwMode="auto">
          <a:xfrm>
            <a:off x="6619935" y="4751317"/>
            <a:ext cx="553466" cy="57087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4,9,1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3986" name="Oval 18"/>
          <p:cNvSpPr>
            <a:spLocks noChangeArrowheads="1"/>
          </p:cNvSpPr>
          <p:nvPr/>
        </p:nvSpPr>
        <p:spPr bwMode="auto">
          <a:xfrm>
            <a:off x="7218605" y="4751317"/>
            <a:ext cx="552363" cy="57087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4,9,2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3985" name="AutoShape 17"/>
          <p:cNvSpPr>
            <a:spLocks noChangeShapeType="1"/>
          </p:cNvSpPr>
          <p:nvPr/>
        </p:nvSpPr>
        <p:spPr bwMode="auto">
          <a:xfrm>
            <a:off x="6866899" y="4018476"/>
            <a:ext cx="29768" cy="732841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84" name="AutoShape 16"/>
          <p:cNvSpPr>
            <a:spLocks noChangeShapeType="1"/>
          </p:cNvSpPr>
          <p:nvPr/>
        </p:nvSpPr>
        <p:spPr bwMode="auto">
          <a:xfrm flipH="1">
            <a:off x="6300204" y="3935089"/>
            <a:ext cx="371550" cy="81622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83" name="AutoShape 15"/>
          <p:cNvSpPr>
            <a:spLocks noChangeShapeType="1"/>
          </p:cNvSpPr>
          <p:nvPr/>
        </p:nvSpPr>
        <p:spPr bwMode="auto">
          <a:xfrm>
            <a:off x="7062046" y="3935089"/>
            <a:ext cx="433291" cy="81622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82" name="AutoShape 14"/>
          <p:cNvSpPr>
            <a:spLocks noChangeShapeType="1"/>
          </p:cNvSpPr>
          <p:nvPr/>
        </p:nvSpPr>
        <p:spPr bwMode="auto">
          <a:xfrm>
            <a:off x="5022381" y="2730793"/>
            <a:ext cx="20948" cy="71680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81" name="AutoShape 13"/>
          <p:cNvSpPr>
            <a:spLocks noChangeShapeType="1"/>
          </p:cNvSpPr>
          <p:nvPr/>
        </p:nvSpPr>
        <p:spPr bwMode="auto">
          <a:xfrm flipH="1">
            <a:off x="3300241" y="2647406"/>
            <a:ext cx="1526993" cy="80019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80" name="AutoShape 12"/>
          <p:cNvSpPr>
            <a:spLocks noChangeShapeType="1"/>
          </p:cNvSpPr>
          <p:nvPr/>
        </p:nvSpPr>
        <p:spPr bwMode="auto">
          <a:xfrm>
            <a:off x="5217526" y="2647406"/>
            <a:ext cx="1649373" cy="80019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79" name="Oval 11"/>
          <p:cNvSpPr>
            <a:spLocks noChangeArrowheads="1"/>
          </p:cNvSpPr>
          <p:nvPr/>
        </p:nvSpPr>
        <p:spPr bwMode="auto">
          <a:xfrm>
            <a:off x="7747815" y="2078131"/>
            <a:ext cx="553466" cy="56927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1,2,1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3978" name="Oval 10"/>
          <p:cNvSpPr>
            <a:spLocks noChangeArrowheads="1"/>
          </p:cNvSpPr>
          <p:nvPr/>
        </p:nvSpPr>
        <p:spPr bwMode="auto">
          <a:xfrm>
            <a:off x="7181118" y="3447598"/>
            <a:ext cx="553466" cy="57087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1,2,2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3977" name="Oval 9"/>
          <p:cNvSpPr>
            <a:spLocks noChangeArrowheads="1"/>
          </p:cNvSpPr>
          <p:nvPr/>
        </p:nvSpPr>
        <p:spPr bwMode="auto">
          <a:xfrm>
            <a:off x="7777583" y="3447598"/>
            <a:ext cx="553466" cy="57087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3,7,1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3976" name="Oval 8"/>
          <p:cNvSpPr>
            <a:spLocks noChangeArrowheads="1"/>
          </p:cNvSpPr>
          <p:nvPr/>
        </p:nvSpPr>
        <p:spPr bwMode="auto">
          <a:xfrm>
            <a:off x="8376252" y="3447598"/>
            <a:ext cx="553466" cy="57087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3,7,2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3975" name="AutoShape 7"/>
          <p:cNvSpPr>
            <a:spLocks noChangeShapeType="1"/>
          </p:cNvSpPr>
          <p:nvPr/>
        </p:nvSpPr>
        <p:spPr bwMode="auto">
          <a:xfrm>
            <a:off x="8024548" y="2647406"/>
            <a:ext cx="29768" cy="80019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74" name="AutoShape 6"/>
          <p:cNvSpPr>
            <a:spLocks noChangeShapeType="1"/>
          </p:cNvSpPr>
          <p:nvPr/>
        </p:nvSpPr>
        <p:spPr bwMode="auto">
          <a:xfrm flipH="1">
            <a:off x="7457851" y="2564019"/>
            <a:ext cx="371550" cy="88357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73" name="AutoShape 5"/>
          <p:cNvSpPr>
            <a:spLocks noChangeShapeType="1"/>
          </p:cNvSpPr>
          <p:nvPr/>
        </p:nvSpPr>
        <p:spPr bwMode="auto">
          <a:xfrm>
            <a:off x="8219694" y="2564019"/>
            <a:ext cx="433291" cy="88357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72" name="AutoShape 4"/>
          <p:cNvSpPr>
            <a:spLocks noChangeShapeType="1"/>
          </p:cNvSpPr>
          <p:nvPr/>
        </p:nvSpPr>
        <p:spPr bwMode="auto">
          <a:xfrm>
            <a:off x="5005843" y="1226625"/>
            <a:ext cx="16538" cy="93489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71" name="AutoShape 3"/>
          <p:cNvSpPr>
            <a:spLocks noChangeShapeType="1"/>
          </p:cNvSpPr>
          <p:nvPr/>
        </p:nvSpPr>
        <p:spPr bwMode="auto">
          <a:xfrm flipH="1">
            <a:off x="1429260" y="1142984"/>
            <a:ext cx="3285615" cy="1101921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83970" name="AutoShape 2"/>
          <p:cNvSpPr>
            <a:spLocks noChangeShapeType="1"/>
          </p:cNvSpPr>
          <p:nvPr/>
        </p:nvSpPr>
        <p:spPr bwMode="auto">
          <a:xfrm>
            <a:off x="5286379" y="1142984"/>
            <a:ext cx="2543021" cy="1018534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214810" y="142852"/>
            <a:ext cx="45720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=2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W=2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w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={1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2}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v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={2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5}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357818" y="671436"/>
            <a:ext cx="2143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(cw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cv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)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42844" y="142852"/>
            <a:ext cx="3929090" cy="109260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52000" lvl="1" indent="-252000" algn="l">
              <a:lnSpc>
                <a:spcPts val="26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不选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物品</a:t>
            </a:r>
            <a:r>
              <a:rPr lang="nb-NO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252000" lvl="1" indent="-252000" algn="l">
              <a:lnSpc>
                <a:spcPts val="26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选物品</a:t>
            </a:r>
            <a:r>
              <a:rPr lang="nb-NO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一件，继续选物品</a:t>
            </a:r>
            <a:r>
              <a:rPr lang="nb-NO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252000" lvl="1" indent="-252000" algn="l">
              <a:lnSpc>
                <a:spcPts val="26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选物品</a:t>
            </a:r>
            <a:r>
              <a:rPr lang="nb-NO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一件，开始选物品</a:t>
            </a:r>
            <a:r>
              <a:rPr lang="nb-NO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endParaRPr lang="zh-CN" altLang="en-US" sz="2000"/>
          </a:p>
        </p:txBody>
      </p:sp>
      <p:sp>
        <p:nvSpPr>
          <p:cNvPr id="66" name="TextBox 65"/>
          <p:cNvSpPr txBox="1"/>
          <p:nvPr/>
        </p:nvSpPr>
        <p:spPr>
          <a:xfrm>
            <a:off x="500034" y="5857892"/>
            <a:ext cx="2071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=2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为叶子结点</a:t>
            </a:r>
          </a:p>
        </p:txBody>
      </p:sp>
      <p:sp>
        <p:nvSpPr>
          <p:cNvPr id="64" name="灯片编号占位符 6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445" y="285728"/>
            <a:ext cx="9001156" cy="52213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bestv=0;      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存放最大价值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初始为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cw,int cv,int i) {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if(i&gt;=n)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if(cw&lt;=W &amp;&amp; cv&gt;bestv)      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找到一个更优解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bestv=cv;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(cw,cv,i+1);            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不选择物品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cw+w[i]&lt;=W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(cw+w[i],cv+v[i],i); 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选择物品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，然后继续选择物品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  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cw+w[i]&lt;=W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(cw+w[i],cv+v[i],i+1);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选择物品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然后选下一件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609881"/>
            <a:ext cx="114300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634349"/>
            <a:ext cx="8501122" cy="140038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利用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5.2.2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节求幂集的标准子集树算法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的思路，设解向量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，解空间树中第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层结点是为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选择适合的物品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77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500034" y="500042"/>
            <a:ext cx="8072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解空间中第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层的结点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为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x</a:t>
            </a:r>
            <a:r>
              <a:rPr lang="en-US" altLang="zh-CN" i="1" baseline="-25000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i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（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i</a:t>
            </a:r>
            <a:r>
              <a:rPr lang="zh-CN" altLang="zh-CN">
                <a:solidFill>
                  <a:srgbClr val="FF0000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j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）选择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{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j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，</a:t>
            </a:r>
            <a:r>
              <a:rPr lang="zh-CN" altLang="zh-CN">
                <a:solidFill>
                  <a:srgbClr val="FF0000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，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n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-1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}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中的一个元素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j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即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n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-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j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选一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下一步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的范围仍然是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{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j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，</a:t>
            </a:r>
            <a:r>
              <a:rPr lang="zh-CN" altLang="zh-CN">
                <a:solidFill>
                  <a:srgbClr val="FF0000"/>
                </a:solidFill>
                <a:latin typeface="+mj-ea"/>
              </a:rPr>
              <a:t>…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，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n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-1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}</a:t>
            </a: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华文中宋" pitchFamily="2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21"/>
          <p:cNvGrpSpPr/>
          <p:nvPr/>
        </p:nvGrpSpPr>
        <p:grpSpPr>
          <a:xfrm>
            <a:off x="512286" y="2226217"/>
            <a:ext cx="7488738" cy="2048376"/>
            <a:chOff x="512286" y="2226217"/>
            <a:chExt cx="7488738" cy="2048376"/>
          </a:xfrm>
        </p:grpSpPr>
        <p:sp>
          <p:nvSpPr>
            <p:cNvPr id="13328" name="Text Box 16"/>
            <p:cNvSpPr txBox="1">
              <a:spLocks noChangeArrowheads="1"/>
            </p:cNvSpPr>
            <p:nvPr/>
          </p:nvSpPr>
          <p:spPr bwMode="auto">
            <a:xfrm>
              <a:off x="3055146" y="2968298"/>
              <a:ext cx="802474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27" name="Text Box 15"/>
            <p:cNvSpPr txBox="1">
              <a:spLocks noChangeArrowheads="1"/>
            </p:cNvSpPr>
            <p:nvPr/>
          </p:nvSpPr>
          <p:spPr bwMode="auto">
            <a:xfrm>
              <a:off x="4086665" y="2797721"/>
              <a:ext cx="802474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26" name="Text Box 14"/>
            <p:cNvSpPr txBox="1">
              <a:spLocks noChangeArrowheads="1"/>
            </p:cNvSpPr>
            <p:nvPr/>
          </p:nvSpPr>
          <p:spPr bwMode="auto">
            <a:xfrm>
              <a:off x="1135624" y="2920186"/>
              <a:ext cx="802474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25" name="Text Box 13"/>
            <p:cNvSpPr txBox="1">
              <a:spLocks noChangeArrowheads="1"/>
            </p:cNvSpPr>
            <p:nvPr/>
          </p:nvSpPr>
          <p:spPr bwMode="auto">
            <a:xfrm>
              <a:off x="6550751" y="2294740"/>
              <a:ext cx="1159300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层次为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24" name="Text Box 12"/>
            <p:cNvSpPr txBox="1">
              <a:spLocks noChangeArrowheads="1"/>
            </p:cNvSpPr>
            <p:nvPr/>
          </p:nvSpPr>
          <p:spPr bwMode="auto">
            <a:xfrm>
              <a:off x="3622639" y="3872207"/>
              <a:ext cx="640142" cy="3134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13323" name="AutoShape 11"/>
            <p:cNvSpPr>
              <a:spLocks noChangeShapeType="1"/>
            </p:cNvSpPr>
            <p:nvPr/>
          </p:nvSpPr>
          <p:spPr bwMode="auto">
            <a:xfrm flipV="1">
              <a:off x="3486341" y="2484269"/>
              <a:ext cx="3038376" cy="1458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3322" name="Text Box 10"/>
            <p:cNvSpPr txBox="1">
              <a:spLocks noChangeArrowheads="1"/>
            </p:cNvSpPr>
            <p:nvPr/>
          </p:nvSpPr>
          <p:spPr bwMode="auto">
            <a:xfrm>
              <a:off x="6615071" y="3838675"/>
              <a:ext cx="1385953" cy="3790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层次为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21" name="AutoShape 9"/>
            <p:cNvSpPr>
              <a:spLocks noChangeShapeType="1"/>
            </p:cNvSpPr>
            <p:nvPr/>
          </p:nvSpPr>
          <p:spPr bwMode="auto">
            <a:xfrm flipV="1">
              <a:off x="6045376" y="4028204"/>
              <a:ext cx="607981" cy="1458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3320" name="Rectangle 8"/>
            <p:cNvSpPr>
              <a:spLocks noChangeArrowheads="1"/>
            </p:cNvSpPr>
            <p:nvPr/>
          </p:nvSpPr>
          <p:spPr bwMode="auto">
            <a:xfrm>
              <a:off x="512286" y="3819722"/>
              <a:ext cx="936000" cy="45487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19" name="Rectangle 7"/>
            <p:cNvSpPr>
              <a:spLocks noChangeArrowheads="1"/>
            </p:cNvSpPr>
            <p:nvPr/>
          </p:nvSpPr>
          <p:spPr bwMode="auto">
            <a:xfrm>
              <a:off x="2511866" y="3819722"/>
              <a:ext cx="936000" cy="45487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18" name="Rectangle 6"/>
            <p:cNvSpPr>
              <a:spLocks noChangeArrowheads="1"/>
            </p:cNvSpPr>
            <p:nvPr/>
          </p:nvSpPr>
          <p:spPr bwMode="auto">
            <a:xfrm>
              <a:off x="4544564" y="3819722"/>
              <a:ext cx="936000" cy="45487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17" name="Rectangle 5"/>
            <p:cNvSpPr>
              <a:spLocks noChangeArrowheads="1"/>
            </p:cNvSpPr>
            <p:nvPr/>
          </p:nvSpPr>
          <p:spPr bwMode="auto">
            <a:xfrm>
              <a:off x="2653238" y="2226217"/>
              <a:ext cx="797880" cy="45487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3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316" name="AutoShape 4"/>
            <p:cNvSpPr>
              <a:spLocks noChangeShapeType="1"/>
            </p:cNvSpPr>
            <p:nvPr/>
          </p:nvSpPr>
          <p:spPr bwMode="auto">
            <a:xfrm flipH="1">
              <a:off x="1140176" y="2681088"/>
              <a:ext cx="1692240" cy="11386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3315" name="AutoShape 3"/>
            <p:cNvSpPr>
              <a:spLocks noChangeShapeType="1"/>
            </p:cNvSpPr>
            <p:nvPr/>
          </p:nvSpPr>
          <p:spPr bwMode="auto">
            <a:xfrm flipH="1">
              <a:off x="2992563" y="2703666"/>
              <a:ext cx="0" cy="11386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3314" name="AutoShape 2"/>
            <p:cNvSpPr>
              <a:spLocks noChangeShapeType="1"/>
            </p:cNvSpPr>
            <p:nvPr/>
          </p:nvSpPr>
          <p:spPr bwMode="auto">
            <a:xfrm>
              <a:off x="3314820" y="2681088"/>
              <a:ext cx="1857636" cy="11386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3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26" name="Rectangle 5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1643042" y="428604"/>
            <a:ext cx="45720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=2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W=2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w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={1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2}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v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={2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5}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714612" y="1142984"/>
            <a:ext cx="1714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(cw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cv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j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)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301079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4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47" name="Rectangle 27"/>
          <p:cNvSpPr>
            <a:spLocks noChangeArrowheads="1"/>
          </p:cNvSpPr>
          <p:nvPr/>
        </p:nvSpPr>
        <p:spPr bwMode="auto">
          <a:xfrm>
            <a:off x="2000232" y="4000504"/>
            <a:ext cx="788716" cy="3620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8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46" name="Rectangle 26"/>
          <p:cNvSpPr>
            <a:spLocks noChangeArrowheads="1"/>
          </p:cNvSpPr>
          <p:nvPr/>
        </p:nvSpPr>
        <p:spPr bwMode="auto">
          <a:xfrm>
            <a:off x="571472" y="4014087"/>
            <a:ext cx="788716" cy="3620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8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45" name="Rectangle 25"/>
          <p:cNvSpPr>
            <a:spLocks noChangeArrowheads="1"/>
          </p:cNvSpPr>
          <p:nvPr/>
        </p:nvSpPr>
        <p:spPr bwMode="auto">
          <a:xfrm>
            <a:off x="2714612" y="3008690"/>
            <a:ext cx="788716" cy="3620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8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44" name="Rectangle 24"/>
          <p:cNvSpPr>
            <a:spLocks noChangeArrowheads="1"/>
          </p:cNvSpPr>
          <p:nvPr/>
        </p:nvSpPr>
        <p:spPr bwMode="auto">
          <a:xfrm>
            <a:off x="3991106" y="3104773"/>
            <a:ext cx="788716" cy="3620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8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43" name="Rectangle 23"/>
          <p:cNvSpPr>
            <a:spLocks noChangeArrowheads="1"/>
          </p:cNvSpPr>
          <p:nvPr/>
        </p:nvSpPr>
        <p:spPr bwMode="auto">
          <a:xfrm>
            <a:off x="2211648" y="1923938"/>
            <a:ext cx="788716" cy="3620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8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42" name="Rectangle 22"/>
          <p:cNvSpPr>
            <a:spLocks noChangeArrowheads="1"/>
          </p:cNvSpPr>
          <p:nvPr/>
        </p:nvSpPr>
        <p:spPr bwMode="auto">
          <a:xfrm>
            <a:off x="4214810" y="1933667"/>
            <a:ext cx="788716" cy="3620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8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41" name="Rectangle 21"/>
          <p:cNvSpPr>
            <a:spLocks noChangeArrowheads="1"/>
          </p:cNvSpPr>
          <p:nvPr/>
        </p:nvSpPr>
        <p:spPr bwMode="auto">
          <a:xfrm>
            <a:off x="1140078" y="3008690"/>
            <a:ext cx="788716" cy="3620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8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40" name="Oval 20"/>
          <p:cNvSpPr>
            <a:spLocks noChangeArrowheads="1"/>
          </p:cNvSpPr>
          <p:nvPr/>
        </p:nvSpPr>
        <p:spPr bwMode="auto">
          <a:xfrm>
            <a:off x="3120348" y="1571612"/>
            <a:ext cx="936018" cy="495736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0,0,0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39" name="Oval 19"/>
          <p:cNvSpPr>
            <a:spLocks noChangeArrowheads="1"/>
          </p:cNvSpPr>
          <p:nvPr/>
        </p:nvSpPr>
        <p:spPr bwMode="auto">
          <a:xfrm>
            <a:off x="1852436" y="2487888"/>
            <a:ext cx="936018" cy="495736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1,2,0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38" name="Oval 18"/>
          <p:cNvSpPr>
            <a:spLocks noChangeArrowheads="1"/>
          </p:cNvSpPr>
          <p:nvPr/>
        </p:nvSpPr>
        <p:spPr bwMode="auto">
          <a:xfrm>
            <a:off x="1222209" y="3482145"/>
            <a:ext cx="936018" cy="495736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2,4,0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37" name="Oval 17"/>
          <p:cNvSpPr>
            <a:spLocks noChangeArrowheads="1"/>
          </p:cNvSpPr>
          <p:nvPr/>
        </p:nvSpPr>
        <p:spPr bwMode="auto">
          <a:xfrm>
            <a:off x="4239094" y="2489281"/>
            <a:ext cx="936018" cy="494344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2,5,1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36" name="AutoShape 16"/>
          <p:cNvSpPr>
            <a:spLocks noChangeShapeType="1"/>
          </p:cNvSpPr>
          <p:nvPr/>
        </p:nvSpPr>
        <p:spPr bwMode="auto">
          <a:xfrm flipH="1">
            <a:off x="1690218" y="2911213"/>
            <a:ext cx="300197" cy="57093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81935" name="AutoShape 15"/>
          <p:cNvSpPr>
            <a:spLocks noChangeShapeType="1"/>
          </p:cNvSpPr>
          <p:nvPr/>
        </p:nvSpPr>
        <p:spPr bwMode="auto">
          <a:xfrm>
            <a:off x="2650475" y="2911213"/>
            <a:ext cx="328166" cy="61827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81934" name="AutoShape 14"/>
          <p:cNvSpPr>
            <a:spLocks noChangeShapeType="1"/>
          </p:cNvSpPr>
          <p:nvPr/>
        </p:nvSpPr>
        <p:spPr bwMode="auto">
          <a:xfrm>
            <a:off x="3918387" y="1994937"/>
            <a:ext cx="788716" cy="494344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81933" name="AutoShape 13"/>
          <p:cNvSpPr>
            <a:spLocks noChangeShapeType="1"/>
          </p:cNvSpPr>
          <p:nvPr/>
        </p:nvSpPr>
        <p:spPr bwMode="auto">
          <a:xfrm flipH="1">
            <a:off x="2320445" y="1994937"/>
            <a:ext cx="937882" cy="492951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81932" name="AutoShape 12"/>
          <p:cNvSpPr>
            <a:spLocks noChangeArrowheads="1"/>
          </p:cNvSpPr>
          <p:nvPr/>
        </p:nvSpPr>
        <p:spPr bwMode="auto">
          <a:xfrm>
            <a:off x="2788758" y="3529490"/>
            <a:ext cx="396000" cy="360000"/>
          </a:xfrm>
          <a:prstGeom prst="flowChartSummingJunction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81931" name="AutoShape 11"/>
          <p:cNvSpPr>
            <a:spLocks noChangeArrowheads="1"/>
          </p:cNvSpPr>
          <p:nvPr/>
        </p:nvSpPr>
        <p:spPr bwMode="auto">
          <a:xfrm>
            <a:off x="1009648" y="4448551"/>
            <a:ext cx="396000" cy="360000"/>
          </a:xfrm>
          <a:prstGeom prst="flowChartSummingJunction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81930" name="AutoShape 10"/>
          <p:cNvSpPr>
            <a:spLocks noChangeArrowheads="1"/>
          </p:cNvSpPr>
          <p:nvPr/>
        </p:nvSpPr>
        <p:spPr bwMode="auto">
          <a:xfrm>
            <a:off x="1970209" y="4448551"/>
            <a:ext cx="396000" cy="360000"/>
          </a:xfrm>
          <a:prstGeom prst="flowChartSummingJunction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81929" name="AutoShape 9"/>
          <p:cNvSpPr>
            <a:spLocks noChangeShapeType="1"/>
          </p:cNvSpPr>
          <p:nvPr/>
        </p:nvSpPr>
        <p:spPr bwMode="auto">
          <a:xfrm flipH="1">
            <a:off x="1233397" y="3905471"/>
            <a:ext cx="126791" cy="54308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81928" name="AutoShape 8"/>
          <p:cNvSpPr>
            <a:spLocks noChangeShapeType="1"/>
          </p:cNvSpPr>
          <p:nvPr/>
        </p:nvSpPr>
        <p:spPr bwMode="auto">
          <a:xfrm>
            <a:off x="2020248" y="3905471"/>
            <a:ext cx="139843" cy="54308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81927" name="Rectangle 7"/>
          <p:cNvSpPr>
            <a:spLocks noChangeArrowheads="1"/>
          </p:cNvSpPr>
          <p:nvPr/>
        </p:nvSpPr>
        <p:spPr bwMode="auto">
          <a:xfrm>
            <a:off x="5909755" y="1571612"/>
            <a:ext cx="591071" cy="3620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5909755" y="2560605"/>
            <a:ext cx="591071" cy="3620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5909755" y="3484435"/>
            <a:ext cx="591071" cy="3620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5909755" y="4334366"/>
            <a:ext cx="591071" cy="3620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81923" name="AutoShape 3"/>
          <p:cNvSpPr>
            <a:spLocks noChangeArrowheads="1"/>
          </p:cNvSpPr>
          <p:nvPr/>
        </p:nvSpPr>
        <p:spPr bwMode="auto">
          <a:xfrm>
            <a:off x="4526645" y="3529490"/>
            <a:ext cx="396000" cy="360000"/>
          </a:xfrm>
          <a:prstGeom prst="flowChartSummingJunction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81922" name="AutoShape 2"/>
          <p:cNvSpPr>
            <a:spLocks noChangeShapeType="1"/>
          </p:cNvSpPr>
          <p:nvPr/>
        </p:nvSpPr>
        <p:spPr bwMode="auto">
          <a:xfrm flipH="1">
            <a:off x="4705239" y="2983624"/>
            <a:ext cx="1865" cy="54586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285728"/>
            <a:ext cx="8730397" cy="452698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bestv=0;      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存放最大价值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初始为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cw,int cv,int j) {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cw&lt;=W &amp;&amp; cv&gt;bestv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      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找到一个更优解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bestv=cv;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j1=j;j1&lt;n;j1++)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cw+w[j1]&lt;=W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(cw+w[j1],cv+v[j1],j1);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选物品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后面</a:t>
            </a:r>
            <a:endParaRPr lang="en-US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												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可以继续选物品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74" name="Rectangle 5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3" name="TextBox 62">
            <a:hlinkClick r:id="" action="ppaction://noaction"/>
          </p:cNvPr>
          <p:cNvSpPr txBox="1"/>
          <p:nvPr/>
        </p:nvSpPr>
        <p:spPr>
          <a:xfrm>
            <a:off x="857224" y="500042"/>
            <a:ext cx="6929486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5.10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基于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排列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树的回溯算法框架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14282" y="1571612"/>
            <a:ext cx="342902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5.10.1 </a:t>
            </a:r>
            <a:r>
              <a:rPr lang="zh-CN" altLang="en-US" sz="2800">
                <a:latin typeface="Consolas" pitchFamily="49" charset="0"/>
                <a:ea typeface="微软雅黑" pitchFamily="34" charset="-122"/>
              </a:rPr>
              <a:t>求全排列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71472" y="2714620"/>
            <a:ext cx="8072494" cy="222112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问题描述：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有一个含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个不同整数的数组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，设计一个算法求其所有元素的全排列。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，其全排列是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）、（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）、（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）、（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）、（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）（输出顺序无关）。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428604"/>
            <a:ext cx="114300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1285860"/>
            <a:ext cx="7929618" cy="278537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4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，解向量为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，每个解向量对应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的一个排列，显然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[0..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中任意元素即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选一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4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但所有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不能重复，为此设置一个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used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设置，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used[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是否使用过。解向量树的第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层结点用于确定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的值。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445" y="285728"/>
            <a:ext cx="9001156" cy="529642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&amp;a,int i)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(i&gt;=n)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for(int j=0;j&lt;n;j++)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if(used[j]) continue;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剪支：跳过已经使用过的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x[i]=a[j];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used[j]=1;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选择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(a,i+1);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转向解空间树的下一层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used[j]=0;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x[i]=0;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428604"/>
            <a:ext cx="114300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1285860"/>
            <a:ext cx="8215370" cy="270843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改进解法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，首先将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中，通过交换方式避免使用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used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数组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与其中的每一个元素交换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，目的是让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取所有可能的元素值（由于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元素已经使用过，所以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不能取这些元素值）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采用交换的方式也保证了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的所有元素不重复。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9" name="Rectangle 11"/>
          <p:cNvSpPr>
            <a:spLocks noChangeArrowheads="1"/>
          </p:cNvSpPr>
          <p:nvPr/>
        </p:nvSpPr>
        <p:spPr bwMode="auto">
          <a:xfrm>
            <a:off x="6268410" y="3395148"/>
            <a:ext cx="1161110" cy="31960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36" name="Rectangle 8"/>
          <p:cNvSpPr>
            <a:spLocks noChangeArrowheads="1"/>
          </p:cNvSpPr>
          <p:nvPr/>
        </p:nvSpPr>
        <p:spPr bwMode="auto">
          <a:xfrm>
            <a:off x="7786711" y="3420038"/>
            <a:ext cx="1143008" cy="36615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x[2]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62" name="Rectangle 34"/>
          <p:cNvSpPr>
            <a:spLocks noChangeArrowheads="1"/>
          </p:cNvSpPr>
          <p:nvPr/>
        </p:nvSpPr>
        <p:spPr bwMode="auto">
          <a:xfrm>
            <a:off x="1714480" y="3407592"/>
            <a:ext cx="1178089" cy="30715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x[2]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51" name="Rectangle 23"/>
          <p:cNvSpPr>
            <a:spLocks noChangeArrowheads="1"/>
          </p:cNvSpPr>
          <p:nvPr/>
        </p:nvSpPr>
        <p:spPr bwMode="auto">
          <a:xfrm>
            <a:off x="4857753" y="3420038"/>
            <a:ext cx="1180754" cy="36615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x[2]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45" name="Rectangle 17"/>
          <p:cNvSpPr>
            <a:spLocks noChangeArrowheads="1"/>
          </p:cNvSpPr>
          <p:nvPr/>
        </p:nvSpPr>
        <p:spPr bwMode="auto">
          <a:xfrm>
            <a:off x="1928795" y="1976344"/>
            <a:ext cx="1323002" cy="30964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x[0]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x[0]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43" name="Rectangle 15"/>
          <p:cNvSpPr>
            <a:spLocks noChangeArrowheads="1"/>
          </p:cNvSpPr>
          <p:nvPr/>
        </p:nvSpPr>
        <p:spPr bwMode="auto">
          <a:xfrm>
            <a:off x="4806676" y="2200366"/>
            <a:ext cx="1148928" cy="29994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x[0]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6163908" y="1951452"/>
            <a:ext cx="1265612" cy="40597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x[0]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x[2]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71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3769" name="Rectangle 41"/>
          <p:cNvSpPr>
            <a:spLocks noChangeArrowheads="1"/>
          </p:cNvSpPr>
          <p:nvPr/>
        </p:nvSpPr>
        <p:spPr bwMode="auto">
          <a:xfrm>
            <a:off x="4228306" y="1428736"/>
            <a:ext cx="1129512" cy="435598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x={1,2,3}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68" name="Rectangle 40"/>
          <p:cNvSpPr>
            <a:spLocks noChangeArrowheads="1"/>
          </p:cNvSpPr>
          <p:nvPr/>
        </p:nvSpPr>
        <p:spPr bwMode="auto">
          <a:xfrm>
            <a:off x="1324322" y="2822648"/>
            <a:ext cx="1104538" cy="435598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x={1,2,3}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67" name="Rectangle 39"/>
          <p:cNvSpPr>
            <a:spLocks noChangeArrowheads="1"/>
          </p:cNvSpPr>
          <p:nvPr/>
        </p:nvSpPr>
        <p:spPr bwMode="auto">
          <a:xfrm>
            <a:off x="523142" y="3902930"/>
            <a:ext cx="1119900" cy="43808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x={1,2,3}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66" name="Rectangle 38"/>
          <p:cNvSpPr>
            <a:spLocks noChangeArrowheads="1"/>
          </p:cNvSpPr>
          <p:nvPr/>
        </p:nvSpPr>
        <p:spPr bwMode="auto">
          <a:xfrm>
            <a:off x="1880502" y="3902930"/>
            <a:ext cx="1191300" cy="43808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x={1,3,2}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65" name="Rectangle 37"/>
          <p:cNvSpPr>
            <a:spLocks noChangeArrowheads="1"/>
          </p:cNvSpPr>
          <p:nvPr/>
        </p:nvSpPr>
        <p:spPr bwMode="auto">
          <a:xfrm>
            <a:off x="0" y="3382702"/>
            <a:ext cx="1285851" cy="3320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64" name="AutoShape 36"/>
          <p:cNvSpPr>
            <a:spLocks noChangeShapeType="1"/>
          </p:cNvSpPr>
          <p:nvPr/>
        </p:nvSpPr>
        <p:spPr bwMode="auto">
          <a:xfrm flipH="1">
            <a:off x="1016622" y="3258246"/>
            <a:ext cx="532958" cy="64468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63" name="AutoShape 35"/>
          <p:cNvSpPr>
            <a:spLocks noChangeShapeType="1"/>
          </p:cNvSpPr>
          <p:nvPr/>
        </p:nvSpPr>
        <p:spPr bwMode="auto">
          <a:xfrm>
            <a:off x="1955976" y="3258246"/>
            <a:ext cx="418007" cy="64468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61" name="AutoShape 33"/>
          <p:cNvSpPr>
            <a:spLocks noChangeShapeType="1"/>
          </p:cNvSpPr>
          <p:nvPr/>
        </p:nvSpPr>
        <p:spPr bwMode="auto">
          <a:xfrm>
            <a:off x="913282" y="4341017"/>
            <a:ext cx="1161" cy="3111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60" name="Rectangle 32"/>
          <p:cNvSpPr>
            <a:spLocks noChangeArrowheads="1"/>
          </p:cNvSpPr>
          <p:nvPr/>
        </p:nvSpPr>
        <p:spPr bwMode="auto">
          <a:xfrm>
            <a:off x="541720" y="4714386"/>
            <a:ext cx="958446" cy="35768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123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59" name="AutoShape 31"/>
          <p:cNvSpPr>
            <a:spLocks noChangeShapeType="1"/>
          </p:cNvSpPr>
          <p:nvPr/>
        </p:nvSpPr>
        <p:spPr bwMode="auto">
          <a:xfrm>
            <a:off x="2283414" y="4341017"/>
            <a:ext cx="1161" cy="3111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58" name="Rectangle 30"/>
          <p:cNvSpPr>
            <a:spLocks noChangeArrowheads="1"/>
          </p:cNvSpPr>
          <p:nvPr/>
        </p:nvSpPr>
        <p:spPr bwMode="auto">
          <a:xfrm>
            <a:off x="1880502" y="4714386"/>
            <a:ext cx="905548" cy="2862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132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57" name="Rectangle 29"/>
          <p:cNvSpPr>
            <a:spLocks noChangeArrowheads="1"/>
          </p:cNvSpPr>
          <p:nvPr/>
        </p:nvSpPr>
        <p:spPr bwMode="auto">
          <a:xfrm>
            <a:off x="4227144" y="2835094"/>
            <a:ext cx="1202111" cy="435598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x={2,1,3}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56" name="Rectangle 28"/>
          <p:cNvSpPr>
            <a:spLocks noChangeArrowheads="1"/>
          </p:cNvSpPr>
          <p:nvPr/>
        </p:nvSpPr>
        <p:spPr bwMode="auto">
          <a:xfrm>
            <a:off x="3553690" y="3915376"/>
            <a:ext cx="1161186" cy="43808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x={2,1,3}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55" name="Rectangle 27"/>
          <p:cNvSpPr>
            <a:spLocks noChangeArrowheads="1"/>
          </p:cNvSpPr>
          <p:nvPr/>
        </p:nvSpPr>
        <p:spPr bwMode="auto">
          <a:xfrm>
            <a:off x="4911050" y="3915376"/>
            <a:ext cx="1161148" cy="43808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x={2,3,1}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54" name="Rectangle 26"/>
          <p:cNvSpPr>
            <a:spLocks noChangeArrowheads="1"/>
          </p:cNvSpPr>
          <p:nvPr/>
        </p:nvSpPr>
        <p:spPr bwMode="auto">
          <a:xfrm>
            <a:off x="3377198" y="3395148"/>
            <a:ext cx="1123364" cy="31960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53" name="AutoShape 25"/>
          <p:cNvSpPr>
            <a:spLocks noChangeShapeType="1"/>
          </p:cNvSpPr>
          <p:nvPr/>
        </p:nvSpPr>
        <p:spPr bwMode="auto">
          <a:xfrm flipH="1">
            <a:off x="3955440" y="3270691"/>
            <a:ext cx="532958" cy="64468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52" name="AutoShape 24"/>
          <p:cNvSpPr>
            <a:spLocks noChangeShapeType="1"/>
          </p:cNvSpPr>
          <p:nvPr/>
        </p:nvSpPr>
        <p:spPr bwMode="auto">
          <a:xfrm>
            <a:off x="4894794" y="3270691"/>
            <a:ext cx="418007" cy="64468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50" name="AutoShape 22"/>
          <p:cNvSpPr>
            <a:spLocks noChangeShapeType="1"/>
          </p:cNvSpPr>
          <p:nvPr/>
        </p:nvSpPr>
        <p:spPr bwMode="auto">
          <a:xfrm>
            <a:off x="3943829" y="4353462"/>
            <a:ext cx="1161" cy="3111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49" name="Rectangle 21"/>
          <p:cNvSpPr>
            <a:spLocks noChangeArrowheads="1"/>
          </p:cNvSpPr>
          <p:nvPr/>
        </p:nvSpPr>
        <p:spPr bwMode="auto">
          <a:xfrm>
            <a:off x="3540917" y="4726832"/>
            <a:ext cx="959645" cy="27380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213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48" name="AutoShape 20"/>
          <p:cNvSpPr>
            <a:spLocks noChangeShapeType="1"/>
          </p:cNvSpPr>
          <p:nvPr/>
        </p:nvSpPr>
        <p:spPr bwMode="auto">
          <a:xfrm>
            <a:off x="5313962" y="4353462"/>
            <a:ext cx="1161" cy="3111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47" name="Rectangle 19"/>
          <p:cNvSpPr>
            <a:spLocks noChangeArrowheads="1"/>
          </p:cNvSpPr>
          <p:nvPr/>
        </p:nvSpPr>
        <p:spPr bwMode="auto">
          <a:xfrm>
            <a:off x="4911050" y="4726832"/>
            <a:ext cx="1018272" cy="27380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231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46" name="AutoShape 18"/>
          <p:cNvSpPr>
            <a:spLocks noChangeShapeType="1"/>
          </p:cNvSpPr>
          <p:nvPr/>
        </p:nvSpPr>
        <p:spPr bwMode="auto">
          <a:xfrm flipH="1">
            <a:off x="1817801" y="1864334"/>
            <a:ext cx="2729815" cy="95831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44" name="AutoShape 16"/>
          <p:cNvSpPr>
            <a:spLocks noChangeShapeType="1"/>
          </p:cNvSpPr>
          <p:nvPr/>
        </p:nvSpPr>
        <p:spPr bwMode="auto">
          <a:xfrm flipH="1">
            <a:off x="4720625" y="1864334"/>
            <a:ext cx="1161" cy="97076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42" name="Rectangle 14"/>
          <p:cNvSpPr>
            <a:spLocks noChangeArrowheads="1"/>
          </p:cNvSpPr>
          <p:nvPr/>
        </p:nvSpPr>
        <p:spPr bwMode="auto">
          <a:xfrm>
            <a:off x="7048688" y="2835094"/>
            <a:ext cx="1166649" cy="435598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x={3,2,1}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41" name="Rectangle 13"/>
          <p:cNvSpPr>
            <a:spLocks noChangeArrowheads="1"/>
          </p:cNvSpPr>
          <p:nvPr/>
        </p:nvSpPr>
        <p:spPr bwMode="auto">
          <a:xfrm>
            <a:off x="6444900" y="3915376"/>
            <a:ext cx="1127495" cy="43808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x={3,2,1}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40" name="Rectangle 12"/>
          <p:cNvSpPr>
            <a:spLocks noChangeArrowheads="1"/>
          </p:cNvSpPr>
          <p:nvPr/>
        </p:nvSpPr>
        <p:spPr bwMode="auto">
          <a:xfrm>
            <a:off x="7802262" y="3915376"/>
            <a:ext cx="1127456" cy="43808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x={3,1,2}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38" name="AutoShape 10"/>
          <p:cNvSpPr>
            <a:spLocks noChangeShapeType="1"/>
          </p:cNvSpPr>
          <p:nvPr/>
        </p:nvSpPr>
        <p:spPr bwMode="auto">
          <a:xfrm flipH="1">
            <a:off x="6846652" y="3270691"/>
            <a:ext cx="532958" cy="64468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37" name="AutoShape 9"/>
          <p:cNvSpPr>
            <a:spLocks noChangeShapeType="1"/>
          </p:cNvSpPr>
          <p:nvPr/>
        </p:nvSpPr>
        <p:spPr bwMode="auto">
          <a:xfrm>
            <a:off x="7786006" y="3270691"/>
            <a:ext cx="418007" cy="64468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35" name="AutoShape 7"/>
          <p:cNvSpPr>
            <a:spLocks noChangeShapeType="1"/>
          </p:cNvSpPr>
          <p:nvPr/>
        </p:nvSpPr>
        <p:spPr bwMode="auto">
          <a:xfrm>
            <a:off x="6835041" y="4353462"/>
            <a:ext cx="1161" cy="3111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6432129" y="4726832"/>
            <a:ext cx="925953" cy="27380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321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33" name="AutoShape 5"/>
          <p:cNvSpPr>
            <a:spLocks noChangeShapeType="1"/>
          </p:cNvSpPr>
          <p:nvPr/>
        </p:nvSpPr>
        <p:spPr bwMode="auto">
          <a:xfrm>
            <a:off x="8205173" y="4353462"/>
            <a:ext cx="1161" cy="3111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7802262" y="4726832"/>
            <a:ext cx="984580" cy="34524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312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31" name="AutoShape 3"/>
          <p:cNvSpPr>
            <a:spLocks noChangeShapeType="1"/>
          </p:cNvSpPr>
          <p:nvPr/>
        </p:nvSpPr>
        <p:spPr bwMode="auto">
          <a:xfrm>
            <a:off x="4942400" y="1864334"/>
            <a:ext cx="2599768" cy="97076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0034" y="357166"/>
            <a:ext cx="25003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a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={1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3}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7" name="灯片编号占位符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9321" y="500042"/>
            <a:ext cx="8658959" cy="421920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i)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n=x.size();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(i&gt;=n)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for(int j=i;j&lt;n;j++)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swap(x[i],x[j]);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交换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swap(x[i],x[j]);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回溯：交换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472" y="5143512"/>
            <a:ext cx="32147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初始时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x=a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1000108"/>
            <a:ext cx="8358246" cy="43088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</a:t>
            </a:r>
            <a:r>
              <a:rPr lang="zh-CN" altLang="zh-CN" sz="220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算法分析：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两个算法的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时间复杂度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均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142852"/>
            <a:ext cx="521497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5.10.2 </a:t>
            </a:r>
            <a:r>
              <a:rPr lang="zh-CN" altLang="en-US" sz="2800">
                <a:latin typeface="Consolas" pitchFamily="49" charset="0"/>
                <a:ea typeface="微软雅黑" pitchFamily="34" charset="-122"/>
              </a:rPr>
              <a:t>排列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树回溯算法框架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7883" y="991861"/>
            <a:ext cx="8801835" cy="558041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x[n];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为解向量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i)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求解排列树的递归框架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i&gt;=n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搜索到叶子结点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产生一个可能解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(j=i;j&lt;=n;j++)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枚举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所有可能的路径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zh-CN" altLang="zh-CN" sz="2000">
                <a:solidFill>
                  <a:srgbClr val="0000FF"/>
                </a:solidFill>
                <a:latin typeface="+mn-ea"/>
              </a:rPr>
              <a:t>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//x[i]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选择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的操作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swap(x[i],x[j]);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constraint(i) &amp;&amp; bound(i)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(i+1);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满足约束条件和限界函数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swap(x[i],x[j]);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: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恢复状态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zh-CN" altLang="zh-CN" sz="2000">
                <a:solidFill>
                  <a:srgbClr val="0000FF"/>
                </a:solidFill>
                <a:latin typeface="+mn-ea"/>
              </a:rPr>
              <a:t>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回退到第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层结点的操作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57158" y="1428736"/>
            <a:ext cx="8429684" cy="144497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在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×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≥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）的方格棋盘上放置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个皇后，并且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所有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皇后不同行、不同列、不同左右对角线（否则称为有冲突）。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要求给出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个皇后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全部解。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7" name="TextBox 6">
            <a:hlinkClick r:id="" action="ppaction://noaction"/>
          </p:cNvPr>
          <p:cNvSpPr txBox="1"/>
          <p:nvPr/>
        </p:nvSpPr>
        <p:spPr>
          <a:xfrm>
            <a:off x="2643174" y="500042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5.11</a:t>
            </a:r>
            <a:r>
              <a:rPr lang="en-US" altLang="zh-CN" sz="2800" i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 n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皇后问题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grpSp>
        <p:nvGrpSpPr>
          <p:cNvPr id="10" name="组合 58"/>
          <p:cNvGrpSpPr/>
          <p:nvPr/>
        </p:nvGrpSpPr>
        <p:grpSpPr>
          <a:xfrm>
            <a:off x="2857488" y="3143248"/>
            <a:ext cx="2571768" cy="2632923"/>
            <a:chOff x="2643174" y="2500306"/>
            <a:chExt cx="2571768" cy="2632923"/>
          </a:xfrm>
        </p:grpSpPr>
        <p:sp>
          <p:nvSpPr>
            <p:cNvPr id="11" name="Rectangle 49"/>
            <p:cNvSpPr>
              <a:spLocks noChangeArrowheads="1"/>
            </p:cNvSpPr>
            <p:nvPr/>
          </p:nvSpPr>
          <p:spPr bwMode="auto">
            <a:xfrm>
              <a:off x="3392964" y="4778797"/>
              <a:ext cx="348337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2" name="Rectangle 48"/>
            <p:cNvSpPr>
              <a:spLocks noChangeArrowheads="1"/>
            </p:cNvSpPr>
            <p:nvPr/>
          </p:nvSpPr>
          <p:spPr bwMode="auto">
            <a:xfrm>
              <a:off x="3037215" y="4778797"/>
              <a:ext cx="350808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" name="Rectangle 47"/>
            <p:cNvSpPr>
              <a:spLocks noChangeArrowheads="1"/>
            </p:cNvSpPr>
            <p:nvPr/>
          </p:nvSpPr>
          <p:spPr bwMode="auto">
            <a:xfrm>
              <a:off x="4098286" y="4778797"/>
              <a:ext cx="349573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" name="Rectangle 46"/>
            <p:cNvSpPr>
              <a:spLocks noChangeArrowheads="1"/>
            </p:cNvSpPr>
            <p:nvPr/>
          </p:nvSpPr>
          <p:spPr bwMode="auto">
            <a:xfrm>
              <a:off x="3738831" y="4778797"/>
              <a:ext cx="350808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" name="Rectangle 45"/>
            <p:cNvSpPr>
              <a:spLocks noChangeArrowheads="1"/>
            </p:cNvSpPr>
            <p:nvPr/>
          </p:nvSpPr>
          <p:spPr bwMode="auto">
            <a:xfrm>
              <a:off x="4803607" y="4778797"/>
              <a:ext cx="349573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" name="Rectangle 44"/>
            <p:cNvSpPr>
              <a:spLocks noChangeArrowheads="1"/>
            </p:cNvSpPr>
            <p:nvPr/>
          </p:nvSpPr>
          <p:spPr bwMode="auto">
            <a:xfrm>
              <a:off x="4449094" y="4778797"/>
              <a:ext cx="350808" cy="350727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>
              <a:off x="3392964" y="4416955"/>
              <a:ext cx="348337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" name="Rectangle 42"/>
            <p:cNvSpPr>
              <a:spLocks noChangeArrowheads="1"/>
            </p:cNvSpPr>
            <p:nvPr/>
          </p:nvSpPr>
          <p:spPr bwMode="auto">
            <a:xfrm>
              <a:off x="3037215" y="4416955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" name="Rectangle 41"/>
            <p:cNvSpPr>
              <a:spLocks noChangeArrowheads="1"/>
            </p:cNvSpPr>
            <p:nvPr/>
          </p:nvSpPr>
          <p:spPr bwMode="auto">
            <a:xfrm>
              <a:off x="4098286" y="4416955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" name="Rectangle 40"/>
            <p:cNvSpPr>
              <a:spLocks noChangeArrowheads="1"/>
            </p:cNvSpPr>
            <p:nvPr/>
          </p:nvSpPr>
          <p:spPr bwMode="auto">
            <a:xfrm>
              <a:off x="3738831" y="4416955"/>
              <a:ext cx="350808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1" name="Rectangle 39"/>
            <p:cNvSpPr>
              <a:spLocks noChangeArrowheads="1"/>
            </p:cNvSpPr>
            <p:nvPr/>
          </p:nvSpPr>
          <p:spPr bwMode="auto">
            <a:xfrm>
              <a:off x="4803607" y="4416955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2" name="Rectangle 38"/>
            <p:cNvSpPr>
              <a:spLocks noChangeArrowheads="1"/>
            </p:cNvSpPr>
            <p:nvPr/>
          </p:nvSpPr>
          <p:spPr bwMode="auto">
            <a:xfrm>
              <a:off x="4449094" y="4416955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3" name="Rectangle 37"/>
            <p:cNvSpPr>
              <a:spLocks noChangeArrowheads="1"/>
            </p:cNvSpPr>
            <p:nvPr/>
          </p:nvSpPr>
          <p:spPr bwMode="auto">
            <a:xfrm>
              <a:off x="3392964" y="4057584"/>
              <a:ext cx="348337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4" name="Rectangle 36"/>
            <p:cNvSpPr>
              <a:spLocks noChangeArrowheads="1"/>
            </p:cNvSpPr>
            <p:nvPr/>
          </p:nvSpPr>
          <p:spPr bwMode="auto">
            <a:xfrm>
              <a:off x="3037215" y="4057584"/>
              <a:ext cx="350808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5" name="Rectangle 35"/>
            <p:cNvSpPr>
              <a:spLocks noChangeArrowheads="1"/>
            </p:cNvSpPr>
            <p:nvPr/>
          </p:nvSpPr>
          <p:spPr bwMode="auto">
            <a:xfrm>
              <a:off x="4098286" y="4057584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6" name="Rectangle 34"/>
            <p:cNvSpPr>
              <a:spLocks noChangeArrowheads="1"/>
            </p:cNvSpPr>
            <p:nvPr/>
          </p:nvSpPr>
          <p:spPr bwMode="auto">
            <a:xfrm>
              <a:off x="3738831" y="405758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7" name="Rectangle 33"/>
            <p:cNvSpPr>
              <a:spLocks noChangeArrowheads="1"/>
            </p:cNvSpPr>
            <p:nvPr/>
          </p:nvSpPr>
          <p:spPr bwMode="auto">
            <a:xfrm>
              <a:off x="4803607" y="4057584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8" name="Rectangle 32"/>
            <p:cNvSpPr>
              <a:spLocks noChangeArrowheads="1"/>
            </p:cNvSpPr>
            <p:nvPr/>
          </p:nvSpPr>
          <p:spPr bwMode="auto">
            <a:xfrm>
              <a:off x="4449094" y="405758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9" name="Rectangle 31"/>
            <p:cNvSpPr>
              <a:spLocks noChangeArrowheads="1"/>
            </p:cNvSpPr>
            <p:nvPr/>
          </p:nvSpPr>
          <p:spPr bwMode="auto">
            <a:xfrm>
              <a:off x="3392964" y="3690802"/>
              <a:ext cx="348337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0" name="Rectangle 30"/>
            <p:cNvSpPr>
              <a:spLocks noChangeArrowheads="1"/>
            </p:cNvSpPr>
            <p:nvPr/>
          </p:nvSpPr>
          <p:spPr bwMode="auto">
            <a:xfrm>
              <a:off x="3037215" y="3690802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4098286" y="3690802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2" name="Rectangle 28"/>
            <p:cNvSpPr>
              <a:spLocks noChangeArrowheads="1"/>
            </p:cNvSpPr>
            <p:nvPr/>
          </p:nvSpPr>
          <p:spPr bwMode="auto">
            <a:xfrm>
              <a:off x="3738831" y="3690802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3" name="Rectangle 27"/>
            <p:cNvSpPr>
              <a:spLocks noChangeArrowheads="1"/>
            </p:cNvSpPr>
            <p:nvPr/>
          </p:nvSpPr>
          <p:spPr bwMode="auto">
            <a:xfrm>
              <a:off x="4803607" y="3690802"/>
              <a:ext cx="349573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4" name="Rectangle 26"/>
            <p:cNvSpPr>
              <a:spLocks noChangeArrowheads="1"/>
            </p:cNvSpPr>
            <p:nvPr/>
          </p:nvSpPr>
          <p:spPr bwMode="auto">
            <a:xfrm>
              <a:off x="4449094" y="3690802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5" name="Rectangle 25"/>
            <p:cNvSpPr>
              <a:spLocks noChangeArrowheads="1"/>
            </p:cNvSpPr>
            <p:nvPr/>
          </p:nvSpPr>
          <p:spPr bwMode="auto">
            <a:xfrm>
              <a:off x="3392964" y="3331430"/>
              <a:ext cx="348337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6" name="Rectangle 24"/>
            <p:cNvSpPr>
              <a:spLocks noChangeArrowheads="1"/>
            </p:cNvSpPr>
            <p:nvPr/>
          </p:nvSpPr>
          <p:spPr bwMode="auto">
            <a:xfrm>
              <a:off x="3037215" y="3331430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7" name="Rectangle 23"/>
            <p:cNvSpPr>
              <a:spLocks noChangeArrowheads="1"/>
            </p:cNvSpPr>
            <p:nvPr/>
          </p:nvSpPr>
          <p:spPr bwMode="auto">
            <a:xfrm>
              <a:off x="4098286" y="3331430"/>
              <a:ext cx="349573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8" name="Rectangle 22"/>
            <p:cNvSpPr>
              <a:spLocks noChangeArrowheads="1"/>
            </p:cNvSpPr>
            <p:nvPr/>
          </p:nvSpPr>
          <p:spPr bwMode="auto">
            <a:xfrm>
              <a:off x="3738831" y="3331430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9" name="Rectangle 21"/>
            <p:cNvSpPr>
              <a:spLocks noChangeArrowheads="1"/>
            </p:cNvSpPr>
            <p:nvPr/>
          </p:nvSpPr>
          <p:spPr bwMode="auto">
            <a:xfrm>
              <a:off x="4803607" y="3331430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0" name="Rectangle 20"/>
            <p:cNvSpPr>
              <a:spLocks noChangeArrowheads="1"/>
            </p:cNvSpPr>
            <p:nvPr/>
          </p:nvSpPr>
          <p:spPr bwMode="auto">
            <a:xfrm>
              <a:off x="4449094" y="3331430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1" name="Rectangle 19"/>
            <p:cNvSpPr>
              <a:spLocks noChangeArrowheads="1"/>
            </p:cNvSpPr>
            <p:nvPr/>
          </p:nvSpPr>
          <p:spPr bwMode="auto">
            <a:xfrm>
              <a:off x="3392964" y="2968354"/>
              <a:ext cx="348337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2" name="Rectangle 18"/>
            <p:cNvSpPr>
              <a:spLocks noChangeArrowheads="1"/>
            </p:cNvSpPr>
            <p:nvPr/>
          </p:nvSpPr>
          <p:spPr bwMode="auto">
            <a:xfrm>
              <a:off x="3037215" y="296835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3" name="Rectangle 17"/>
            <p:cNvSpPr>
              <a:spLocks noChangeArrowheads="1"/>
            </p:cNvSpPr>
            <p:nvPr/>
          </p:nvSpPr>
          <p:spPr bwMode="auto">
            <a:xfrm>
              <a:off x="4098286" y="2968354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4" name="Rectangle 16"/>
            <p:cNvSpPr>
              <a:spLocks noChangeArrowheads="1"/>
            </p:cNvSpPr>
            <p:nvPr/>
          </p:nvSpPr>
          <p:spPr bwMode="auto">
            <a:xfrm>
              <a:off x="3738831" y="296835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5" name="Rectangle 15"/>
            <p:cNvSpPr>
              <a:spLocks noChangeArrowheads="1"/>
            </p:cNvSpPr>
            <p:nvPr/>
          </p:nvSpPr>
          <p:spPr bwMode="auto">
            <a:xfrm>
              <a:off x="4803607" y="2968354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6" name="Rectangle 14"/>
            <p:cNvSpPr>
              <a:spLocks noChangeArrowheads="1"/>
            </p:cNvSpPr>
            <p:nvPr/>
          </p:nvSpPr>
          <p:spPr bwMode="auto">
            <a:xfrm>
              <a:off x="4449094" y="296835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3405317" y="2500306"/>
              <a:ext cx="348337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8" name="Rectangle 12"/>
            <p:cNvSpPr>
              <a:spLocks noChangeArrowheads="1"/>
            </p:cNvSpPr>
            <p:nvPr/>
          </p:nvSpPr>
          <p:spPr bwMode="auto">
            <a:xfrm>
              <a:off x="3037215" y="2500306"/>
              <a:ext cx="350808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9" name="Rectangle 11"/>
            <p:cNvSpPr>
              <a:spLocks noChangeArrowheads="1"/>
            </p:cNvSpPr>
            <p:nvPr/>
          </p:nvSpPr>
          <p:spPr bwMode="auto">
            <a:xfrm>
              <a:off x="4135343" y="2500306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auto">
            <a:xfrm>
              <a:off x="3763536" y="2500306"/>
              <a:ext cx="350808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1" name="Rectangle 9"/>
            <p:cNvSpPr>
              <a:spLocks noChangeArrowheads="1"/>
            </p:cNvSpPr>
            <p:nvPr/>
          </p:nvSpPr>
          <p:spPr bwMode="auto">
            <a:xfrm>
              <a:off x="4865369" y="2500306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2" name="Rectangle 8"/>
            <p:cNvSpPr>
              <a:spLocks noChangeArrowheads="1"/>
            </p:cNvSpPr>
            <p:nvPr/>
          </p:nvSpPr>
          <p:spPr bwMode="auto">
            <a:xfrm>
              <a:off x="4498503" y="2500306"/>
              <a:ext cx="350808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4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2643174" y="4783737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4" name="Rectangle 6"/>
            <p:cNvSpPr>
              <a:spLocks noChangeArrowheads="1"/>
            </p:cNvSpPr>
            <p:nvPr/>
          </p:nvSpPr>
          <p:spPr bwMode="auto">
            <a:xfrm>
              <a:off x="2643174" y="4420660"/>
              <a:ext cx="349573" cy="34825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4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5" name="Rectangle 5"/>
            <p:cNvSpPr>
              <a:spLocks noChangeArrowheads="1"/>
            </p:cNvSpPr>
            <p:nvPr/>
          </p:nvSpPr>
          <p:spPr bwMode="auto">
            <a:xfrm>
              <a:off x="2643174" y="4061288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6" name="Rectangle 4"/>
            <p:cNvSpPr>
              <a:spLocks noChangeArrowheads="1"/>
            </p:cNvSpPr>
            <p:nvPr/>
          </p:nvSpPr>
          <p:spPr bwMode="auto">
            <a:xfrm>
              <a:off x="2643174" y="3694507"/>
              <a:ext cx="349573" cy="35072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7" name="Rectangle 3"/>
            <p:cNvSpPr>
              <a:spLocks noChangeArrowheads="1"/>
            </p:cNvSpPr>
            <p:nvPr/>
          </p:nvSpPr>
          <p:spPr bwMode="auto">
            <a:xfrm>
              <a:off x="2643174" y="3335135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8" name="Rectangle 2"/>
            <p:cNvSpPr>
              <a:spLocks noChangeArrowheads="1"/>
            </p:cNvSpPr>
            <p:nvPr/>
          </p:nvSpPr>
          <p:spPr bwMode="auto">
            <a:xfrm>
              <a:off x="2643174" y="2972059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2500298" y="6000768"/>
            <a:ext cx="350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[0..5]={1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5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1" name="灯片编号占位符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1279317"/>
            <a:ext cx="50006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0100" y="922127"/>
            <a:ext cx="7643866" cy="226921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同样用整数数组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皇后问题的求解结果，即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）的值表示第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个皇后所在的列号，即该皇后放在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的位置上。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相当于解向量，显然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[0..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的取值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恰好是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的某个排列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97331" name="Rectangle 5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57224" y="412932"/>
            <a:ext cx="8143932" cy="201593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位置上放第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个的皇后，是否与已放好的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个皇后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有冲突呢？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位置与前面某个皇后同列，则有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]=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如果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位置与前面某个皇后同对角线，则恰好构成一个等腰直角三角形，即有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|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]-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]|==|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|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成立。</a:t>
            </a:r>
          </a:p>
        </p:txBody>
      </p:sp>
      <p:sp>
        <p:nvSpPr>
          <p:cNvPr id="91159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214282" y="5214950"/>
            <a:ext cx="8715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归纳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只要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满足以下条件，则存在冲突，否则不冲突：</a:t>
            </a:r>
          </a:p>
          <a:p>
            <a:pPr algn="l">
              <a:lnSpc>
                <a:spcPct val="100000"/>
              </a:lnSpc>
            </a:pP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(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]==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|| (abs(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]-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)==abs(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+mn-ea"/>
                <a:ea typeface="+mn-ea"/>
                <a:cs typeface="Consolas" pitchFamily="49" charset="0"/>
              </a:rPr>
              <a:t>≤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-32" y="857232"/>
            <a:ext cx="642910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冲突判断</a:t>
            </a:r>
            <a:endParaRPr lang="zh-CN" altLang="zh-CN" sz="20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" name="组合 31"/>
          <p:cNvGrpSpPr/>
          <p:nvPr/>
        </p:nvGrpSpPr>
        <p:grpSpPr>
          <a:xfrm>
            <a:off x="285720" y="2571744"/>
            <a:ext cx="8429684" cy="2428892"/>
            <a:chOff x="285720" y="2571744"/>
            <a:chExt cx="8429684" cy="2428892"/>
          </a:xfrm>
        </p:grpSpPr>
        <p:sp>
          <p:nvSpPr>
            <p:cNvPr id="91157" name="Text Box 21"/>
            <p:cNvSpPr txBox="1">
              <a:spLocks noChangeArrowheads="1"/>
            </p:cNvSpPr>
            <p:nvPr/>
          </p:nvSpPr>
          <p:spPr bwMode="auto">
            <a:xfrm>
              <a:off x="4929190" y="3546268"/>
              <a:ext cx="1093836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]-</a:t>
              </a:r>
              <a:r>
                <a:rPr kumimoji="0"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endParaRPr kumimoji="0" lang="en-US" altLang="zh-CN" sz="180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56" name="Text Box 20"/>
            <p:cNvSpPr txBox="1">
              <a:spLocks noChangeArrowheads="1"/>
            </p:cNvSpPr>
            <p:nvPr/>
          </p:nvSpPr>
          <p:spPr bwMode="auto">
            <a:xfrm>
              <a:off x="285720" y="4121750"/>
              <a:ext cx="1106425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q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[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]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</a:p>
          </p:txBody>
        </p:sp>
        <p:sp>
          <p:nvSpPr>
            <p:cNvPr id="91154" name="Text Box 18"/>
            <p:cNvSpPr txBox="1">
              <a:spLocks noChangeArrowheads="1"/>
            </p:cNvSpPr>
            <p:nvPr/>
          </p:nvSpPr>
          <p:spPr bwMode="auto">
            <a:xfrm>
              <a:off x="2013225" y="4067767"/>
              <a:ext cx="456455" cy="24477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53" name="Line 17"/>
            <p:cNvSpPr>
              <a:spLocks noChangeShapeType="1"/>
            </p:cNvSpPr>
            <p:nvPr/>
          </p:nvSpPr>
          <p:spPr bwMode="auto">
            <a:xfrm flipH="1">
              <a:off x="1455001" y="2913075"/>
              <a:ext cx="1336443" cy="1474154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52" name="AutoShape 16"/>
            <p:cNvSpPr>
              <a:spLocks noChangeArrowheads="1"/>
            </p:cNvSpPr>
            <p:nvPr/>
          </p:nvSpPr>
          <p:spPr bwMode="auto">
            <a:xfrm>
              <a:off x="2680698" y="2871851"/>
              <a:ext cx="148161" cy="163245"/>
            </a:xfrm>
            <a:prstGeom prst="flowChartConnector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51" name="Text Box 15"/>
            <p:cNvSpPr txBox="1">
              <a:spLocks noChangeArrowheads="1"/>
            </p:cNvSpPr>
            <p:nvPr/>
          </p:nvSpPr>
          <p:spPr bwMode="auto">
            <a:xfrm>
              <a:off x="2786050" y="2672863"/>
              <a:ext cx="1066877" cy="32750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])</a:t>
              </a:r>
            </a:p>
          </p:txBody>
        </p:sp>
        <p:sp>
          <p:nvSpPr>
            <p:cNvPr id="91150" name="Line 14"/>
            <p:cNvSpPr>
              <a:spLocks noChangeShapeType="1"/>
            </p:cNvSpPr>
            <p:nvPr/>
          </p:nvSpPr>
          <p:spPr bwMode="auto">
            <a:xfrm>
              <a:off x="1576225" y="4403719"/>
              <a:ext cx="1179302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9" name="Line 13"/>
            <p:cNvSpPr>
              <a:spLocks noChangeShapeType="1"/>
            </p:cNvSpPr>
            <p:nvPr/>
          </p:nvSpPr>
          <p:spPr bwMode="auto">
            <a:xfrm>
              <a:off x="2755526" y="3053236"/>
              <a:ext cx="0" cy="1350483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8" name="Text Box 12"/>
            <p:cNvSpPr txBox="1">
              <a:spLocks noChangeArrowheads="1"/>
            </p:cNvSpPr>
            <p:nvPr/>
          </p:nvSpPr>
          <p:spPr bwMode="auto">
            <a:xfrm>
              <a:off x="2786050" y="3524833"/>
              <a:ext cx="1285883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3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</a:p>
          </p:txBody>
        </p:sp>
        <p:sp>
          <p:nvSpPr>
            <p:cNvPr id="91147" name="Text Box 11"/>
            <p:cNvSpPr txBox="1">
              <a:spLocks noChangeArrowheads="1"/>
            </p:cNvSpPr>
            <p:nvPr/>
          </p:nvSpPr>
          <p:spPr bwMode="auto">
            <a:xfrm>
              <a:off x="6570531" y="4000504"/>
              <a:ext cx="417545" cy="2761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6" name="Text Box 10"/>
            <p:cNvSpPr txBox="1">
              <a:spLocks noChangeArrowheads="1"/>
            </p:cNvSpPr>
            <p:nvPr/>
          </p:nvSpPr>
          <p:spPr bwMode="auto">
            <a:xfrm>
              <a:off x="7568746" y="4049196"/>
              <a:ext cx="1146658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q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[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]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</a:p>
          </p:txBody>
        </p:sp>
        <p:sp>
          <p:nvSpPr>
            <p:cNvPr id="91144" name="AutoShape 8"/>
            <p:cNvSpPr>
              <a:spLocks noChangeArrowheads="1"/>
            </p:cNvSpPr>
            <p:nvPr/>
          </p:nvSpPr>
          <p:spPr bwMode="auto">
            <a:xfrm>
              <a:off x="6081150" y="2819085"/>
              <a:ext cx="148161" cy="163245"/>
            </a:xfrm>
            <a:prstGeom prst="flowChartConnector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3" name="Text Box 7"/>
            <p:cNvSpPr txBox="1">
              <a:spLocks noChangeArrowheads="1"/>
            </p:cNvSpPr>
            <p:nvPr/>
          </p:nvSpPr>
          <p:spPr bwMode="auto">
            <a:xfrm>
              <a:off x="6286512" y="2571744"/>
              <a:ext cx="1214446" cy="2857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])</a:t>
              </a:r>
            </a:p>
          </p:txBody>
        </p:sp>
        <p:sp>
          <p:nvSpPr>
            <p:cNvPr id="91142" name="Line 6"/>
            <p:cNvSpPr>
              <a:spLocks noChangeShapeType="1"/>
            </p:cNvSpPr>
            <p:nvPr/>
          </p:nvSpPr>
          <p:spPr bwMode="auto">
            <a:xfrm>
              <a:off x="6173938" y="4374038"/>
              <a:ext cx="1210730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1" name="Line 5"/>
            <p:cNvSpPr>
              <a:spLocks noChangeShapeType="1"/>
            </p:cNvSpPr>
            <p:nvPr/>
          </p:nvSpPr>
          <p:spPr bwMode="auto">
            <a:xfrm>
              <a:off x="6157475" y="3030150"/>
              <a:ext cx="0" cy="1352133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0" name="Freeform 4"/>
            <p:cNvSpPr>
              <a:spLocks/>
            </p:cNvSpPr>
            <p:nvPr/>
          </p:nvSpPr>
          <p:spPr bwMode="auto">
            <a:xfrm>
              <a:off x="6212849" y="2954299"/>
              <a:ext cx="1248144" cy="13537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2" y="938"/>
                </a:cxn>
              </a:cxnLst>
              <a:rect l="0" t="0" r="r" b="b"/>
              <a:pathLst>
                <a:path w="952" h="938">
                  <a:moveTo>
                    <a:pt x="0" y="0"/>
                  </a:moveTo>
                  <a:lnTo>
                    <a:pt x="952" y="938"/>
                  </a:lnTo>
                </a:path>
              </a:pathLst>
            </a:custGeom>
            <a:noFill/>
            <a:ln w="28575">
              <a:solidFill>
                <a:srgbClr val="FF00FF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39" name="Text Box 3"/>
            <p:cNvSpPr txBox="1">
              <a:spLocks noChangeArrowheads="1"/>
            </p:cNvSpPr>
            <p:nvPr/>
          </p:nvSpPr>
          <p:spPr bwMode="auto">
            <a:xfrm>
              <a:off x="1306841" y="4591698"/>
              <a:ext cx="1513039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）对角线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91138" name="Text Box 2"/>
            <p:cNvSpPr txBox="1">
              <a:spLocks noChangeArrowheads="1"/>
            </p:cNvSpPr>
            <p:nvPr/>
          </p:nvSpPr>
          <p:spPr bwMode="auto">
            <a:xfrm>
              <a:off x="6025776" y="4591698"/>
              <a:ext cx="1513039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）对角线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91155" name="AutoShape 19"/>
            <p:cNvSpPr>
              <a:spLocks noChangeArrowheads="1"/>
            </p:cNvSpPr>
            <p:nvPr/>
          </p:nvSpPr>
          <p:spPr bwMode="auto">
            <a:xfrm>
              <a:off x="1393642" y="4311378"/>
              <a:ext cx="148161" cy="163245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5" name="AutoShape 9"/>
            <p:cNvSpPr>
              <a:spLocks noChangeArrowheads="1"/>
            </p:cNvSpPr>
            <p:nvPr/>
          </p:nvSpPr>
          <p:spPr bwMode="auto">
            <a:xfrm>
              <a:off x="7381675" y="4258612"/>
              <a:ext cx="148161" cy="163245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428604"/>
            <a:ext cx="8858312" cy="39926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bool </a:t>
            </a:r>
            <a:r>
              <a:rPr lang="nb-NO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valid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i,int j) {       	</a:t>
            </a:r>
            <a:r>
              <a:rPr lang="nb-NO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测试</a:t>
            </a:r>
            <a:r>
              <a:rPr lang="nb-NO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(i,j)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位置能否放置皇后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(i==0) return true;         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皇后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总是可以放置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int k=0;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while (k&lt;i) {                  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//k=1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i-1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是已放置了皇后的行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</a:t>
            </a:r>
            <a:r>
              <a:rPr lang="nb-NO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(q[k]==j) || (abs(q[k]-j)==abs(i-k))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return false;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k++;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return true;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428604"/>
            <a:ext cx="8858312" cy="443049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nb-NO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n,int i) {						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(i&gt;=n)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</a:t>
            </a:r>
            <a:r>
              <a:rPr lang="nb-NO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(n);									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所有皇后放置结束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for (int j=i;j&lt;n;j++) {				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在第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行上试探每一个列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swap(q[i],q[j]);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皇后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放置在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q[j]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列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if(</a:t>
            </a:r>
            <a:r>
              <a:rPr lang="nb-NO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valid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(i,q[i]))					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 		</a:t>
            </a:r>
            <a:r>
              <a:rPr lang="nb-NO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swap(q[i],q[j]);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785794"/>
            <a:ext cx="8643998" cy="168428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nb-NO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queen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n) {							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皇后问题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for(int i=0;i&lt;n;i++) q[i]=i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      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初始化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0-n-1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nb-NO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857232"/>
            <a:ext cx="8215370" cy="132343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queen(n)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：该算法对应的解空间树是一棵排列树，结点个数为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，每个分支调用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valid()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算法的时间最多为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，所以算法时间复杂度为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1159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428596" y="1832562"/>
            <a:ext cx="8286808" cy="181075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5.6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皇后问题Ⅱ（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LintCode34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★★）。给定一个整数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），设计一个算法求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皇后问题的解的数量。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	int totalNQueens(int n) { 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85786" y="500042"/>
            <a:ext cx="1041400" cy="1044575"/>
            <a:chOff x="857224" y="1071546"/>
            <a:chExt cx="1041400" cy="1044575"/>
          </a:xfrm>
        </p:grpSpPr>
        <p:sp>
          <p:nvSpPr>
            <p:cNvPr id="8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57158" y="1405887"/>
            <a:ext cx="50006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14414" y="1263011"/>
            <a:ext cx="7215238" cy="95154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与前面的求解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皇后问题的思路完全相同，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采用基于排列树框架的回溯算法。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285728"/>
            <a:ext cx="8643998" cy="445427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cnt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                      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 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累计解个数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int q[10];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totalNQueens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n) {  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for(int i=0;i&lt;n;i++) q[i]=i;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初始化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0-n-1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cnt=0;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return cnt;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bool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valid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i,int j) { </a:t>
            </a:r>
            <a:r>
              <a:rPr lang="zh-CN" altLang="zh-CN" sz="2000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}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同本节前面的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valid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285728"/>
            <a:ext cx="8643998" cy="478956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n,int i) {      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if (i&gt;=n)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cnt++;                   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皇后放置结束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解个数增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for (int j=i;j&lt;n;j++) {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在第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行上试探每一个列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swap(q[i],q[j]); 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皇后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放置在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q[j]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列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if(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valid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(i,q[i]))    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swap(q[i],q[j]); 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5" name="组合 9"/>
          <p:cNvGrpSpPr/>
          <p:nvPr/>
        </p:nvGrpSpPr>
        <p:grpSpPr>
          <a:xfrm>
            <a:off x="500034" y="5267514"/>
            <a:ext cx="6929486" cy="480539"/>
            <a:chOff x="1071538" y="5624704"/>
            <a:chExt cx="6929486" cy="480539"/>
          </a:xfrm>
        </p:grpSpPr>
        <p:sp>
          <p:nvSpPr>
            <p:cNvPr id="7" name="TextBox 6"/>
            <p:cNvSpPr txBox="1"/>
            <p:nvPr/>
          </p:nvSpPr>
          <p:spPr>
            <a:xfrm>
              <a:off x="1785918" y="5643578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41ms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5.36MB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71538" y="5624704"/>
              <a:ext cx="785818" cy="4578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Eras Bold ITC" pitchFamily="34" charset="0"/>
                <a:ea typeface="仿宋" pitchFamily="49" charset="-122"/>
                <a:cs typeface="Courier New" pitchFamily="49" charset="0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357422" y="428604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5.12 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任务分配问题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357298"/>
            <a:ext cx="8501122" cy="216736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8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</a:t>
            </a: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问题描述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n-ea"/>
                <a:cs typeface="Consolas" pitchFamily="49" charset="0"/>
              </a:rPr>
              <a:t>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）个任务需要分配给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个人执行，每个任务只能分配给一个人，每个人只能执行一个任务。第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个人执行第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个任务的成本是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cs typeface="Consolas" pitchFamily="49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）。求出总成本最小的一种分配方案。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28794" y="4071942"/>
          <a:ext cx="5072099" cy="1928827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899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3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3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56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人员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0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0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9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7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8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6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7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5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8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8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7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6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9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1142984"/>
            <a:ext cx="642942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0100" y="1078595"/>
            <a:ext cx="7858180" cy="171329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2800"/>
              </a:lnSpc>
              <a:buBlip>
                <a:blip r:embed="rId2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个人和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个任务编号均用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表示。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每个合适的分配方案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一定是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的一个排列，可以求出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的全排列，每个排列作为一个分配方案，求出其成本，比较找到一个最小成本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bestc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即可。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5"/>
          <p:cNvGrpSpPr/>
          <p:nvPr/>
        </p:nvGrpSpPr>
        <p:grpSpPr>
          <a:xfrm>
            <a:off x="1500166" y="714356"/>
            <a:ext cx="4714910" cy="2419546"/>
            <a:chOff x="1214413" y="2571744"/>
            <a:chExt cx="4714910" cy="2419546"/>
          </a:xfrm>
        </p:grpSpPr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1918699" y="3542600"/>
              <a:ext cx="482545" cy="303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cost</a:t>
              </a:r>
            </a:p>
          </p:txBody>
        </p:sp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2658601" y="2978312"/>
              <a:ext cx="3199281" cy="60868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这里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swap(x[i],x[j])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即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en-US" altLang="zh-CN" sz="180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=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en-US" altLang="zh-CN" sz="180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表示人员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安排任务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en-US" altLang="zh-CN" sz="180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2371372" y="2582259"/>
              <a:ext cx="390632" cy="397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4189862" y="2571744"/>
              <a:ext cx="828369" cy="303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第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zh-CN" altLang="en-US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层</a:t>
              </a: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2371372" y="3763408"/>
              <a:ext cx="389483" cy="399558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AutoShape 10"/>
            <p:cNvSpPr>
              <a:spLocks noChangeShapeType="1"/>
            </p:cNvSpPr>
            <p:nvPr/>
          </p:nvSpPr>
          <p:spPr bwMode="auto">
            <a:xfrm>
              <a:off x="2566688" y="2979480"/>
              <a:ext cx="1149" cy="78392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Oval 9"/>
            <p:cNvSpPr>
              <a:spLocks noChangeArrowheads="1"/>
            </p:cNvSpPr>
            <p:nvPr/>
          </p:nvSpPr>
          <p:spPr bwMode="auto">
            <a:xfrm>
              <a:off x="2371372" y="4591732"/>
              <a:ext cx="389483" cy="399558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3857620" y="3857628"/>
              <a:ext cx="1160612" cy="303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第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+1</a:t>
              </a:r>
              <a:r>
                <a:rPr kumimoji="0" lang="zh-CN" altLang="en-US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层</a:t>
              </a: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3463223" y="4617434"/>
              <a:ext cx="2466100" cy="303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第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zh-CN" altLang="en-US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层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zh-CN" altLang="en-US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叶子结点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</a:p>
          </p:txBody>
        </p:sp>
        <p:sp>
          <p:nvSpPr>
            <p:cNvPr id="17" name="AutoShape 6"/>
            <p:cNvSpPr>
              <a:spLocks noChangeShapeType="1"/>
            </p:cNvSpPr>
            <p:nvPr/>
          </p:nvSpPr>
          <p:spPr bwMode="auto">
            <a:xfrm>
              <a:off x="2566688" y="4162966"/>
              <a:ext cx="1149" cy="428765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8" name="AutoShape 5"/>
            <p:cNvSpPr>
              <a:spLocks/>
            </p:cNvSpPr>
            <p:nvPr/>
          </p:nvSpPr>
          <p:spPr bwMode="auto">
            <a:xfrm>
              <a:off x="2138142" y="4077680"/>
              <a:ext cx="164295" cy="675276"/>
            </a:xfrm>
            <a:prstGeom prst="leftBrace">
              <a:avLst>
                <a:gd name="adj1" fmla="val 33683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1330454" y="4244747"/>
              <a:ext cx="828369" cy="303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minsum</a:t>
              </a:r>
            </a:p>
          </p:txBody>
        </p:sp>
        <p:sp>
          <p:nvSpPr>
            <p:cNvPr id="20" name="AutoShape 3"/>
            <p:cNvSpPr>
              <a:spLocks noChangeShapeType="1"/>
            </p:cNvSpPr>
            <p:nvPr/>
          </p:nvSpPr>
          <p:spPr bwMode="auto">
            <a:xfrm flipH="1">
              <a:off x="1549897" y="2921065"/>
              <a:ext cx="878922" cy="86337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1" name="Rectangle 2"/>
            <p:cNvSpPr>
              <a:spLocks noChangeArrowheads="1"/>
            </p:cNvSpPr>
            <p:nvPr/>
          </p:nvSpPr>
          <p:spPr bwMode="auto">
            <a:xfrm>
              <a:off x="1214413" y="3574144"/>
              <a:ext cx="411312" cy="303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500034" y="214290"/>
            <a:ext cx="8286808" cy="46166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剪支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仅仅扩展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bound(x,cost,i+1)&lt;bestc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的孩子结点。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2844" y="3357562"/>
            <a:ext cx="8786874" cy="33770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bound</a:t>
            </a: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cost,int i)	{			</a:t>
            </a:r>
            <a:r>
              <a:rPr lang="en-US" altLang="zh-CN" sz="2000" b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2000" b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求下界算法</a:t>
            </a: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int minsum=0;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	for (int i1=i;i1&lt;n;i1++) {		</a:t>
            </a:r>
            <a:r>
              <a:rPr lang="en-US" altLang="zh-CN" sz="2000" b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2000" b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</a:t>
            </a:r>
            <a:r>
              <a:rPr lang="en-US" altLang="zh-CN" sz="2000" b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c[i..n-1]</a:t>
            </a:r>
            <a:r>
              <a:rPr lang="zh-CN" altLang="zh-CN" sz="2000" b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行中最小元素和</a:t>
            </a: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		int minc=INF;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	for (int j1=0;j1&lt;n;j1++) {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		if (used[x[j1]]==false &amp;&amp; c[i1][x[j1]]&lt;minc)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		minc=c[i1][x[j1]];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}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	minsum+=minc;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	}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	return cost+minsum;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763625"/>
            <a:ext cx="8786874" cy="283845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cost,int i)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if (i&gt;=n) {				         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cost&lt;bestc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       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比较求最优解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bestc=cost;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bestx=x;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285728"/>
            <a:ext cx="8786874" cy="553149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for (int j=i;j&lt;n;j++)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为人员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试探任务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swap(x[i],x[j]);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为人员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分配任务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used[x[i]]=true;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cost+=c[i][x[i]];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bound(cost,i+1)&lt;bestc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(cost,i+1);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继续为人员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i+1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分配任务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cost-=c[i][x[i]];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//cost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used[x[i]]=false;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//used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swap(x[i],x[j]);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57158" y="1285860"/>
            <a:ext cx="8429684" cy="128496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allocate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：该算法的解空间树是一棵排列树，结点个数为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，剪支操作的时间为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，所以算法的时间复杂度为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42844" y="1271574"/>
            <a:ext cx="8786842" cy="515782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288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5.7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=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3.8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订单分配（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LintCode1909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★★）。有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8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）个订单，待分配给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个司机，每个订单在匹配司机前会对候选司机进行打分，打分的结果保存在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的矩阵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score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中，其中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score[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score[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）代表订单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派给司机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分值。假定每个订单只能派给一位司机，司机只能分配到一个订单。设计一个算法求最终的派单结果，使得匹配的订单和司机的分值累加起来最大，并且所有订单得到分配。题目保证每组数据的最大分数都是唯一的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8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score={{1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{7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16}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{37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29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22}}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个订单分别分派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司机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，对应的最大分值是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8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288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   vector&lt;int&gt; orderAllocation(vector&lt;vector&lt;int&gt;&gt; &amp;score) {}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85786" y="71414"/>
            <a:ext cx="1041400" cy="1044575"/>
            <a:chOff x="857224" y="1071546"/>
            <a:chExt cx="1041400" cy="1044575"/>
          </a:xfrm>
        </p:grpSpPr>
        <p:sp>
          <p:nvSpPr>
            <p:cNvPr id="8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142984"/>
            <a:ext cx="642942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14414" y="928670"/>
            <a:ext cx="6286544" cy="99514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2800"/>
              </a:lnSpc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与前面讨论的求解任务分配问题类似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2800"/>
              </a:lnSpc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仅仅将求最小成本改为求最大得分。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285728"/>
            <a:ext cx="8643998" cy="319297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vector&lt;vector&lt;int&gt;&gt; c;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vector&lt;int&gt; x;                   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vector&lt;int&gt; bestx;          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最优解向量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int bestc;                       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最大得分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vector&lt;bool&gt; used;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39188"/>
            <a:ext cx="8643998" cy="434713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orderAllocation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 &amp;score)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c=score;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n=c.size();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x=vector&lt;int&gt;(n);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for(int i=0;i&lt;n;i++)   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x[0..n-1]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分别设置为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n-1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值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x[i]=i;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used=vector&lt;bool&gt;(n,false);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bestc=0;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(0,0);               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从订单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开始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return bestx;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285728"/>
            <a:ext cx="8643998" cy="383872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bound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cost,int i) {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求上界算法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maxsum=0;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for (int i1=i;i1&lt;n;i1++) {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c[i..n-1]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行中最大元素和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int maxc=0;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 (int j1=0;j1&lt;n;j1++)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if (used[x[j1]]==false &amp;&amp; c[i1][x[j1]]&gt;maxc)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	maxc=c[i1][x[j1]];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maxsum+=maxc;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return cost+maxsum;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106434"/>
            <a:ext cx="8715436" cy="660871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cost,int i) {    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	if (i&gt;=n) {                 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	if (cost&gt;bestc) {        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比较求最优解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	bestc=cost;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bestx=x;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	for (int j=i;j&lt;n;j++) {  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为订单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试探司机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swap(x[i],x[j]);         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为订单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分配司机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used[x[i]]=true;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cost+=c[i][x[i]];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累计得分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bound(cost,i+1)&gt;=bestc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 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(cost,i+1);  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继续为订单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i+1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分配司机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cost-=c[i][x[i]];  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//cost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used[x[i]]=false;      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//used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swap(x[i],x[j]);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9"/>
          <p:cNvGrpSpPr/>
          <p:nvPr/>
        </p:nvGrpSpPr>
        <p:grpSpPr>
          <a:xfrm>
            <a:off x="714348" y="519569"/>
            <a:ext cx="7000924" cy="480539"/>
            <a:chOff x="1071538" y="5624704"/>
            <a:chExt cx="7000924" cy="480539"/>
          </a:xfrm>
        </p:grpSpPr>
        <p:sp>
          <p:nvSpPr>
            <p:cNvPr id="5" name="TextBox 4"/>
            <p:cNvSpPr txBox="1"/>
            <p:nvPr/>
          </p:nvSpPr>
          <p:spPr>
            <a:xfrm>
              <a:off x="1857356" y="5643578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41ms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5.45MB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5624704"/>
              <a:ext cx="785818" cy="4578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Eras Bold ITC" pitchFamily="34" charset="0"/>
                <a:ea typeface="仿宋" pitchFamily="49" charset="-122"/>
                <a:cs typeface="Courier New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571736" y="357166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5.13 </a:t>
            </a:r>
            <a:r>
              <a:rPr lang="zh-CN" altLang="en-US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旅行商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问题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285860"/>
            <a:ext cx="8429684" cy="1603104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 defTabSz="360000">
              <a:lnSpc>
                <a:spcPts val="36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假设有一个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旅行商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要拜访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个城市，他必须选择所要走的路径，路径的限制是每个城市只能拜访一次，而且最后要回到原来出发的城市，要求路径长度最短的路径。</a:t>
            </a:r>
          </a:p>
        </p:txBody>
      </p:sp>
      <p:grpSp>
        <p:nvGrpSpPr>
          <p:cNvPr id="2" name="组合 98"/>
          <p:cNvGrpSpPr/>
          <p:nvPr/>
        </p:nvGrpSpPr>
        <p:grpSpPr>
          <a:xfrm>
            <a:off x="785786" y="3286123"/>
            <a:ext cx="7286676" cy="2432914"/>
            <a:chOff x="1214414" y="3429000"/>
            <a:chExt cx="6286544" cy="2000264"/>
          </a:xfrm>
        </p:grpSpPr>
        <p:sp>
          <p:nvSpPr>
            <p:cNvPr id="6" name="Text Box 29"/>
            <p:cNvSpPr txBox="1">
              <a:spLocks noChangeArrowheads="1"/>
            </p:cNvSpPr>
            <p:nvPr/>
          </p:nvSpPr>
          <p:spPr bwMode="auto">
            <a:xfrm>
              <a:off x="1940597" y="4749139"/>
              <a:ext cx="244951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7" name="Text Box 28"/>
            <p:cNvSpPr txBox="1">
              <a:spLocks noChangeArrowheads="1"/>
            </p:cNvSpPr>
            <p:nvPr/>
          </p:nvSpPr>
          <p:spPr bwMode="auto">
            <a:xfrm>
              <a:off x="1745503" y="4536871"/>
              <a:ext cx="246035" cy="2469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8" name="Text Box 27"/>
            <p:cNvSpPr txBox="1">
              <a:spLocks noChangeArrowheads="1"/>
            </p:cNvSpPr>
            <p:nvPr/>
          </p:nvSpPr>
          <p:spPr bwMode="auto">
            <a:xfrm>
              <a:off x="1774767" y="4223883"/>
              <a:ext cx="247119" cy="244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9" name="Text Box 26"/>
            <p:cNvSpPr txBox="1">
              <a:spLocks noChangeArrowheads="1"/>
            </p:cNvSpPr>
            <p:nvPr/>
          </p:nvSpPr>
          <p:spPr bwMode="auto">
            <a:xfrm>
              <a:off x="2056569" y="3941220"/>
              <a:ext cx="246035" cy="2469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36</a:t>
              </a:r>
            </a:p>
          </p:txBody>
        </p:sp>
        <p:sp>
          <p:nvSpPr>
            <p:cNvPr id="10" name="Text Box 25"/>
            <p:cNvSpPr txBox="1">
              <a:spLocks noChangeArrowheads="1"/>
            </p:cNvSpPr>
            <p:nvPr/>
          </p:nvSpPr>
          <p:spPr bwMode="auto">
            <a:xfrm>
              <a:off x="1498384" y="4328934"/>
              <a:ext cx="244951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11" name="Text Box 24"/>
            <p:cNvSpPr txBox="1">
              <a:spLocks noChangeArrowheads="1"/>
            </p:cNvSpPr>
            <p:nvPr/>
          </p:nvSpPr>
          <p:spPr bwMode="auto">
            <a:xfrm>
              <a:off x="1214414" y="4332183"/>
              <a:ext cx="247119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2485776" y="3789599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13" name="Text Box 22"/>
            <p:cNvSpPr txBox="1">
              <a:spLocks noChangeArrowheads="1"/>
            </p:cNvSpPr>
            <p:nvPr/>
          </p:nvSpPr>
          <p:spPr bwMode="auto">
            <a:xfrm>
              <a:off x="2485776" y="3500438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1318464" y="3652058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5" name="Oval 20"/>
            <p:cNvSpPr>
              <a:spLocks noChangeArrowheads="1"/>
            </p:cNvSpPr>
            <p:nvPr/>
          </p:nvSpPr>
          <p:spPr bwMode="auto">
            <a:xfrm>
              <a:off x="1318464" y="4978735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3165353" y="3620651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3165353" y="4947328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1704316" y="3836169"/>
              <a:ext cx="1475126" cy="10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70" y="6"/>
                </a:cxn>
              </a:cxnLst>
              <a:rect l="0" t="0" r="r" b="b"/>
              <a:pathLst>
                <a:path w="1270" h="6">
                  <a:moveTo>
                    <a:pt x="0" y="0"/>
                  </a:moveTo>
                  <a:lnTo>
                    <a:pt x="1270" y="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0" name="Freeform 16"/>
            <p:cNvSpPr>
              <a:spLocks/>
            </p:cNvSpPr>
            <p:nvPr/>
          </p:nvSpPr>
          <p:spPr bwMode="auto">
            <a:xfrm>
              <a:off x="1684807" y="3758192"/>
              <a:ext cx="1475126" cy="1083"/>
            </a:xfrm>
            <a:custGeom>
              <a:avLst/>
              <a:gdLst/>
              <a:ahLst/>
              <a:cxnLst>
                <a:cxn ang="0">
                  <a:pos x="1267" y="14"/>
                </a:cxn>
                <a:cxn ang="0">
                  <a:pos x="0" y="0"/>
                </a:cxn>
              </a:cxnLst>
              <a:rect l="0" t="0" r="r" b="b"/>
              <a:pathLst>
                <a:path w="1267" h="14">
                  <a:moveTo>
                    <a:pt x="1267" y="14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1" name="Text Box 15"/>
            <p:cNvSpPr txBox="1">
              <a:spLocks noChangeArrowheads="1"/>
            </p:cNvSpPr>
            <p:nvPr/>
          </p:nvSpPr>
          <p:spPr bwMode="auto">
            <a:xfrm>
              <a:off x="2274424" y="5183423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>
              <a:off x="2274424" y="4855273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23" name="Freeform 13"/>
            <p:cNvSpPr>
              <a:spLocks/>
            </p:cNvSpPr>
            <p:nvPr/>
          </p:nvSpPr>
          <p:spPr bwMode="auto">
            <a:xfrm>
              <a:off x="1689142" y="5204000"/>
              <a:ext cx="1475126" cy="216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341" y="0"/>
                </a:cxn>
              </a:cxnLst>
              <a:rect l="0" t="0" r="r" b="b"/>
              <a:pathLst>
                <a:path w="1341" h="2">
                  <a:moveTo>
                    <a:pt x="0" y="2"/>
                  </a:moveTo>
                  <a:lnTo>
                    <a:pt x="1341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4" name="Freeform 12"/>
            <p:cNvSpPr>
              <a:spLocks/>
            </p:cNvSpPr>
            <p:nvPr/>
          </p:nvSpPr>
          <p:spPr bwMode="auto">
            <a:xfrm>
              <a:off x="1679388" y="5118443"/>
              <a:ext cx="1475126" cy="1083"/>
            </a:xfrm>
            <a:custGeom>
              <a:avLst/>
              <a:gdLst/>
              <a:ahLst/>
              <a:cxnLst>
                <a:cxn ang="0">
                  <a:pos x="1344" y="3"/>
                </a:cxn>
                <a:cxn ang="0">
                  <a:pos x="0" y="0"/>
                </a:cxn>
              </a:cxnLst>
              <a:rect l="0" t="0" r="r" b="b"/>
              <a:pathLst>
                <a:path w="1344" h="3">
                  <a:moveTo>
                    <a:pt x="1344" y="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>
              <a:off x="1442023" y="4023528"/>
              <a:ext cx="1084" cy="982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 flipV="1">
              <a:off x="1531983" y="3995370"/>
              <a:ext cx="1084" cy="982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7" name="Text Box 9"/>
            <p:cNvSpPr txBox="1">
              <a:spLocks noChangeArrowheads="1"/>
            </p:cNvSpPr>
            <p:nvPr/>
          </p:nvSpPr>
          <p:spPr bwMode="auto">
            <a:xfrm>
              <a:off x="3370201" y="4299693"/>
              <a:ext cx="247119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28" name="Text Box 8"/>
            <p:cNvSpPr txBox="1">
              <a:spLocks noChangeArrowheads="1"/>
            </p:cNvSpPr>
            <p:nvPr/>
          </p:nvSpPr>
          <p:spPr bwMode="auto">
            <a:xfrm>
              <a:off x="3068889" y="4304025"/>
              <a:ext cx="244951" cy="244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29" name="Line 7"/>
            <p:cNvSpPr>
              <a:spLocks noChangeShapeType="1"/>
            </p:cNvSpPr>
            <p:nvPr/>
          </p:nvSpPr>
          <p:spPr bwMode="auto">
            <a:xfrm>
              <a:off x="3316008" y="3974793"/>
              <a:ext cx="1084" cy="982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0" name="Line 6"/>
            <p:cNvSpPr>
              <a:spLocks noChangeShapeType="1"/>
            </p:cNvSpPr>
            <p:nvPr/>
          </p:nvSpPr>
          <p:spPr bwMode="auto">
            <a:xfrm flipV="1">
              <a:off x="3394046" y="3971544"/>
              <a:ext cx="1084" cy="982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1" name="Freeform 5"/>
            <p:cNvSpPr>
              <a:spLocks/>
            </p:cNvSpPr>
            <p:nvPr/>
          </p:nvSpPr>
          <p:spPr bwMode="auto">
            <a:xfrm>
              <a:off x="1669633" y="3919560"/>
              <a:ext cx="1549912" cy="10667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30" y="985"/>
                </a:cxn>
              </a:cxnLst>
              <a:rect l="0" t="0" r="r" b="b"/>
              <a:pathLst>
                <a:path w="1430" h="985">
                  <a:moveTo>
                    <a:pt x="0" y="0"/>
                  </a:moveTo>
                  <a:lnTo>
                    <a:pt x="1430" y="98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2" name="Freeform 4"/>
            <p:cNvSpPr>
              <a:spLocks/>
            </p:cNvSpPr>
            <p:nvPr/>
          </p:nvSpPr>
          <p:spPr bwMode="auto">
            <a:xfrm>
              <a:off x="1581841" y="3997536"/>
              <a:ext cx="1585680" cy="1060259"/>
            </a:xfrm>
            <a:custGeom>
              <a:avLst/>
              <a:gdLst/>
              <a:ahLst/>
              <a:cxnLst>
                <a:cxn ang="0">
                  <a:pos x="1463" y="979"/>
                </a:cxn>
                <a:cxn ang="0">
                  <a:pos x="0" y="0"/>
                </a:cxn>
              </a:cxnLst>
              <a:rect l="0" t="0" r="r" b="b"/>
              <a:pathLst>
                <a:path w="1463" h="979">
                  <a:moveTo>
                    <a:pt x="1463" y="979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3" name="Freeform 3"/>
            <p:cNvSpPr>
              <a:spLocks/>
            </p:cNvSpPr>
            <p:nvPr/>
          </p:nvSpPr>
          <p:spPr bwMode="auto">
            <a:xfrm>
              <a:off x="1564499" y="3907647"/>
              <a:ext cx="1629034" cy="1080836"/>
            </a:xfrm>
            <a:custGeom>
              <a:avLst/>
              <a:gdLst/>
              <a:ahLst/>
              <a:cxnLst>
                <a:cxn ang="0">
                  <a:pos x="0" y="998"/>
                </a:cxn>
                <a:cxn ang="0">
                  <a:pos x="1503" y="0"/>
                </a:cxn>
              </a:cxnLst>
              <a:rect l="0" t="0" r="r" b="b"/>
              <a:pathLst>
                <a:path w="1503" h="998">
                  <a:moveTo>
                    <a:pt x="0" y="998"/>
                  </a:moveTo>
                  <a:lnTo>
                    <a:pt x="150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4" name="Freeform 2"/>
            <p:cNvSpPr>
              <a:spLocks/>
            </p:cNvSpPr>
            <p:nvPr/>
          </p:nvSpPr>
          <p:spPr bwMode="auto">
            <a:xfrm>
              <a:off x="1633866" y="3959631"/>
              <a:ext cx="1611692" cy="1067840"/>
            </a:xfrm>
            <a:custGeom>
              <a:avLst/>
              <a:gdLst/>
              <a:ahLst/>
              <a:cxnLst>
                <a:cxn ang="0">
                  <a:pos x="1487" y="0"/>
                </a:cxn>
                <a:cxn ang="0">
                  <a:pos x="0" y="986"/>
                </a:cxn>
              </a:cxnLst>
              <a:rect l="0" t="0" r="r" b="b"/>
              <a:pathLst>
                <a:path w="1487" h="986">
                  <a:moveTo>
                    <a:pt x="1487" y="0"/>
                  </a:moveTo>
                  <a:lnTo>
                    <a:pt x="0" y="98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14810" y="3429000"/>
              <a:ext cx="3286148" cy="1923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28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29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26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23</a:t>
              </a:r>
              <a:endParaRPr lang="zh-CN" altLang="zh-CN" sz="200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59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59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37" name="灯片编号占位符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088769"/>
            <a:ext cx="57150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0100" y="714356"/>
            <a:ext cx="7786742" cy="225702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2800"/>
              </a:lnSpc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用邻接矩阵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存储带权图。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起点为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设计解向量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），每个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表示一个图中顶点，实际上每个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表示一条路径，初始时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置为起点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为其他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个顶点编号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8" name="Oval 12"/>
          <p:cNvSpPr>
            <a:spLocks noChangeArrowheads="1"/>
          </p:cNvSpPr>
          <p:nvPr/>
        </p:nvSpPr>
        <p:spPr bwMode="auto">
          <a:xfrm>
            <a:off x="1500166" y="3429000"/>
            <a:ext cx="535193" cy="537582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s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733162" y="4429132"/>
            <a:ext cx="3638996" cy="36049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共经过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个顶点，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i="1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不重复</a:t>
            </a:r>
            <a:endParaRPr kumimoji="0" lang="zh-CN" altLang="en-US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2515296" y="3429000"/>
            <a:ext cx="535193" cy="537582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baseline="-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577788" y="3429000"/>
            <a:ext cx="536772" cy="537582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baseline="-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2" name="Oval 8"/>
          <p:cNvSpPr>
            <a:spLocks noChangeArrowheads="1"/>
          </p:cNvSpPr>
          <p:nvPr/>
        </p:nvSpPr>
        <p:spPr bwMode="auto">
          <a:xfrm>
            <a:off x="5813285" y="3429000"/>
            <a:ext cx="626760" cy="53441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i="1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" name="Oval 7"/>
          <p:cNvSpPr>
            <a:spLocks noChangeArrowheads="1"/>
          </p:cNvSpPr>
          <p:nvPr/>
        </p:nvSpPr>
        <p:spPr bwMode="auto">
          <a:xfrm>
            <a:off x="6940505" y="3429000"/>
            <a:ext cx="535193" cy="536001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s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4" name="AutoShape 6"/>
          <p:cNvSpPr>
            <a:spLocks noChangeShapeType="1"/>
          </p:cNvSpPr>
          <p:nvPr/>
        </p:nvSpPr>
        <p:spPr bwMode="auto">
          <a:xfrm>
            <a:off x="2035359" y="3697791"/>
            <a:ext cx="479937" cy="1581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5" name="AutoShape 5"/>
          <p:cNvSpPr>
            <a:spLocks noChangeShapeType="1"/>
          </p:cNvSpPr>
          <p:nvPr/>
        </p:nvSpPr>
        <p:spPr bwMode="auto">
          <a:xfrm>
            <a:off x="3050489" y="3697791"/>
            <a:ext cx="527299" cy="1581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6" name="AutoShape 4"/>
          <p:cNvSpPr>
            <a:spLocks noChangeShapeType="1"/>
          </p:cNvSpPr>
          <p:nvPr/>
        </p:nvSpPr>
        <p:spPr bwMode="auto">
          <a:xfrm flipV="1">
            <a:off x="4114560" y="3696210"/>
            <a:ext cx="1698725" cy="1581"/>
          </a:xfrm>
          <a:prstGeom prst="straightConnector1">
            <a:avLst/>
          </a:prstGeom>
          <a:noFill/>
          <a:ln w="28575">
            <a:solidFill>
              <a:srgbClr val="FF00FF"/>
            </a:solidFill>
            <a:prstDash val="dash"/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7" name="AutoShape 3"/>
          <p:cNvSpPr>
            <a:spLocks noChangeShapeType="1"/>
          </p:cNvSpPr>
          <p:nvPr/>
        </p:nvSpPr>
        <p:spPr bwMode="auto">
          <a:xfrm>
            <a:off x="6440044" y="3696210"/>
            <a:ext cx="500461" cy="1581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8" name="AutoShape 2"/>
          <p:cNvSpPr>
            <a:spLocks/>
          </p:cNvSpPr>
          <p:nvPr/>
        </p:nvSpPr>
        <p:spPr bwMode="auto">
          <a:xfrm rot="16200000">
            <a:off x="4333773" y="2526569"/>
            <a:ext cx="308319" cy="3373768"/>
          </a:xfrm>
          <a:prstGeom prst="leftBrace">
            <a:avLst>
              <a:gd name="adj1" fmla="val 91325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57356" y="4929198"/>
            <a:ext cx="58579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TSP</a:t>
            </a:r>
            <a:r>
              <a:rPr lang="zh-CN" altLang="en-US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路径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：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～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en-US" altLang="zh-CN" sz="2200" i="1" baseline="-25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-1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为非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n-1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个顶点的排列</a:t>
            </a:r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7"/>
          <p:cNvSpPr>
            <a:spLocks noChangeArrowheads="1"/>
          </p:cNvSpPr>
          <p:nvPr/>
        </p:nvSpPr>
        <p:spPr bwMode="auto">
          <a:xfrm>
            <a:off x="2060381" y="1382133"/>
            <a:ext cx="1857388" cy="28575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baseline="-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=s=0,d=0</a:t>
            </a:r>
          </a:p>
        </p:txBody>
      </p:sp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427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425" name="Rectangle 17"/>
          <p:cNvSpPr>
            <a:spLocks noChangeArrowheads="1"/>
          </p:cNvSpPr>
          <p:nvPr/>
        </p:nvSpPr>
        <p:spPr bwMode="auto">
          <a:xfrm>
            <a:off x="1285852" y="1948308"/>
            <a:ext cx="1836351" cy="63698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0→1</a:t>
            </a:r>
            <a:r>
              <a:rPr kumimoji="0"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d+=A[0][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</a:p>
        </p:txBody>
      </p:sp>
      <p:sp>
        <p:nvSpPr>
          <p:cNvPr id="17424" name="Rectangle 16"/>
          <p:cNvSpPr>
            <a:spLocks noChangeArrowheads="1"/>
          </p:cNvSpPr>
          <p:nvPr/>
        </p:nvSpPr>
        <p:spPr bwMode="auto">
          <a:xfrm>
            <a:off x="4304346" y="2019746"/>
            <a:ext cx="2125041" cy="56554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0→</a:t>
            </a:r>
            <a:r>
              <a:rPr kumimoji="0" lang="en-US" altLang="zh-CN" sz="20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kumimoji="0"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 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d+=A[0][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</a:p>
        </p:txBody>
      </p:sp>
      <p:sp>
        <p:nvSpPr>
          <p:cNvPr id="17423" name="Oval 15"/>
          <p:cNvSpPr>
            <a:spLocks noChangeArrowheads="1"/>
          </p:cNvSpPr>
          <p:nvPr/>
        </p:nvSpPr>
        <p:spPr bwMode="auto">
          <a:xfrm>
            <a:off x="3615351" y="1815899"/>
            <a:ext cx="402212" cy="349076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422" name="Rectangle 14"/>
          <p:cNvSpPr>
            <a:spLocks noChangeArrowheads="1"/>
          </p:cNvSpPr>
          <p:nvPr/>
        </p:nvSpPr>
        <p:spPr bwMode="auto">
          <a:xfrm>
            <a:off x="6402321" y="1799472"/>
            <a:ext cx="1527265" cy="35719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第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层</a:t>
            </a:r>
            <a:r>
              <a:rPr kumimoji="0" lang="zh-CN" altLang="en-US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kumimoji="0"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zh-CN" altLang="en-US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</a:t>
            </a:r>
            <a:endParaRPr kumimoji="0" lang="zh-CN" altLang="en-US" sz="2000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421" name="AutoShape 13"/>
          <p:cNvSpPr>
            <a:spLocks noChangeShapeType="1"/>
          </p:cNvSpPr>
          <p:nvPr/>
        </p:nvSpPr>
        <p:spPr bwMode="auto">
          <a:xfrm flipH="1">
            <a:off x="2592616" y="2113640"/>
            <a:ext cx="1082058" cy="87474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420" name="Oval 12"/>
          <p:cNvSpPr>
            <a:spLocks noChangeArrowheads="1"/>
          </p:cNvSpPr>
          <p:nvPr/>
        </p:nvSpPr>
        <p:spPr bwMode="auto">
          <a:xfrm>
            <a:off x="2249727" y="2937048"/>
            <a:ext cx="402212" cy="349076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419" name="Oval 11"/>
          <p:cNvSpPr>
            <a:spLocks noChangeArrowheads="1"/>
          </p:cNvSpPr>
          <p:nvPr/>
        </p:nvSpPr>
        <p:spPr bwMode="auto">
          <a:xfrm>
            <a:off x="3604673" y="2937048"/>
            <a:ext cx="404585" cy="349076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418" name="Rectangle 10"/>
          <p:cNvSpPr>
            <a:spLocks noChangeArrowheads="1"/>
          </p:cNvSpPr>
          <p:nvPr/>
        </p:nvSpPr>
        <p:spPr bwMode="auto">
          <a:xfrm>
            <a:off x="6402321" y="2967491"/>
            <a:ext cx="739169" cy="26694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第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层</a:t>
            </a:r>
          </a:p>
        </p:txBody>
      </p:sp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2842614" y="2982223"/>
            <a:ext cx="493571" cy="26694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  <a:cs typeface="Times New Roman" pitchFamily="18" charset="0"/>
              </a:rPr>
              <a:t>…</a:t>
            </a:r>
          </a:p>
        </p:txBody>
      </p:sp>
      <p:sp>
        <p:nvSpPr>
          <p:cNvPr id="17416" name="AutoShape 8"/>
          <p:cNvSpPr>
            <a:spLocks noChangeShapeType="1"/>
          </p:cNvSpPr>
          <p:nvPr/>
        </p:nvSpPr>
        <p:spPr bwMode="auto">
          <a:xfrm flipH="1">
            <a:off x="3807558" y="2164974"/>
            <a:ext cx="9492" cy="772074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415" name="Oval 7"/>
          <p:cNvSpPr>
            <a:spLocks noChangeArrowheads="1"/>
          </p:cNvSpPr>
          <p:nvPr/>
        </p:nvSpPr>
        <p:spPr bwMode="auto">
          <a:xfrm>
            <a:off x="4954872" y="2937048"/>
            <a:ext cx="404585" cy="349076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4244178" y="2982223"/>
            <a:ext cx="493571" cy="26694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  <a:cs typeface="Times New Roman" pitchFamily="18" charset="0"/>
              </a:rPr>
              <a:t>…</a:t>
            </a:r>
          </a:p>
        </p:txBody>
      </p:sp>
      <p:sp>
        <p:nvSpPr>
          <p:cNvPr id="17413" name="AutoShape 5"/>
          <p:cNvSpPr>
            <a:spLocks noChangeShapeType="1"/>
          </p:cNvSpPr>
          <p:nvPr/>
        </p:nvSpPr>
        <p:spPr bwMode="auto">
          <a:xfrm>
            <a:off x="3958239" y="2113640"/>
            <a:ext cx="1055956" cy="87474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0034" y="4071942"/>
            <a:ext cx="8001024" cy="93625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288000" indent="-288000" algn="l">
              <a:lnSpc>
                <a:spcPts val="28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第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中的某个值后当前路径长度为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d+A[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-1]][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22" name="Oval 15"/>
          <p:cNvSpPr>
            <a:spLocks noChangeArrowheads="1"/>
          </p:cNvSpPr>
          <p:nvPr/>
        </p:nvSpPr>
        <p:spPr bwMode="auto">
          <a:xfrm>
            <a:off x="3620728" y="942216"/>
            <a:ext cx="402212" cy="349076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7158" y="357166"/>
            <a:ext cx="1285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假设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s=0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cxnSp>
        <p:nvCxnSpPr>
          <p:cNvPr id="26" name="直接连接符 25"/>
          <p:cNvCxnSpPr>
            <a:stCxn id="22" idx="4"/>
            <a:endCxn id="17423" idx="0"/>
          </p:cNvCxnSpPr>
          <p:nvPr/>
        </p:nvCxnSpPr>
        <p:spPr>
          <a:xfrm rot="5400000">
            <a:off x="3556843" y="1550907"/>
            <a:ext cx="524607" cy="5377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6357951" y="889590"/>
            <a:ext cx="1500198" cy="33837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第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层</a:t>
            </a:r>
            <a:r>
              <a:rPr kumimoji="0" lang="zh-CN" altLang="en-US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kumimoji="0"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zh-CN" altLang="en-US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</a:t>
            </a:r>
            <a:endParaRPr kumimoji="0" lang="zh-CN" altLang="en-US" sz="2000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1000108"/>
            <a:ext cx="8643998" cy="273482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108000" bIns="108000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当搜索到达某个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叶子结点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），对应的路径长度是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d+A[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-1]][s]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（因为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路径是闭合的回路），对应的路径是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{s}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。通过长度的比较求最优解。</a:t>
            </a:r>
          </a:p>
          <a:p>
            <a:pPr marL="457200" indent="-457200" algn="l">
              <a:lnSpc>
                <a:spcPts val="30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剪支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若当前已经求出最短路径长度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bestd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，如果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值，对应的路径长度为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d+A[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-1]][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，仅仅扩展满足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d+A[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-1]][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]]&lt;bestd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的路径。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428604"/>
            <a:ext cx="8643998" cy="47959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x;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) 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bestx;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保存最短路径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d;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路径的长度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bestd=INF;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保存最短路径长度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 &amp;A,int s,int i)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if(i&gt;=n)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达到一个叶子结点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d+A[x[n-1]][s]&lt;bestd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比较求最优解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bestd=d+A[x[n-1]][s];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长度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bestx=x;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更新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bestx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bestx.push_back(s);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末尾添加起始点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164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428604"/>
            <a:ext cx="8643998" cy="550770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for(int j=i;j&lt;n;j++)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试探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走到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的分支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A[x[i-1]][x[j]]!=0 &amp;&amp; A[x[i-1]][x[j]]!=INF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//x[i-1]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有边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d+A[x[i-1]][x[j]]&lt;bestd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swap(x[i],x[j]);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d+=A[x[i-1]][x[i]];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d-=A[x[i-1]][x[i]];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swap(x[i],x[j]);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165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428604"/>
            <a:ext cx="8643998" cy="553149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 &amp;A,int s)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TSP(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起始点为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s)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x.push_back(s);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添加起始顶点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i=0;i&lt;n;i++)	{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的顶点添加到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if(i!=s) x.push_back(i);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d=0;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(A,s,1);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x[1]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开始求解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最短路径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 ");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输出最短路径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j=0;j&lt;bestx.size();j++)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if(j==0)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printf("%d",bestx[j]);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else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printf("-&gt;%d",bestx[j]);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printf("\n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路径长度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 %d\n",bestd);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166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TextBox 5"/>
          <p:cNvSpPr txBox="1"/>
          <p:nvPr/>
        </p:nvSpPr>
        <p:spPr>
          <a:xfrm>
            <a:off x="500034" y="428604"/>
            <a:ext cx="714380" cy="646331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程序验证</a:t>
            </a:r>
          </a:p>
        </p:txBody>
      </p:sp>
      <p:grpSp>
        <p:nvGrpSpPr>
          <p:cNvPr id="2" name="组合 38"/>
          <p:cNvGrpSpPr/>
          <p:nvPr/>
        </p:nvGrpSpPr>
        <p:grpSpPr>
          <a:xfrm>
            <a:off x="2214546" y="357166"/>
            <a:ext cx="2714644" cy="2143140"/>
            <a:chOff x="1214414" y="3500438"/>
            <a:chExt cx="2402906" cy="1928826"/>
          </a:xfrm>
        </p:grpSpPr>
        <p:sp>
          <p:nvSpPr>
            <p:cNvPr id="40" name="Text Box 29"/>
            <p:cNvSpPr txBox="1">
              <a:spLocks noChangeArrowheads="1"/>
            </p:cNvSpPr>
            <p:nvPr/>
          </p:nvSpPr>
          <p:spPr bwMode="auto">
            <a:xfrm>
              <a:off x="1940597" y="4749139"/>
              <a:ext cx="244951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41" name="Text Box 28"/>
            <p:cNvSpPr txBox="1">
              <a:spLocks noChangeArrowheads="1"/>
            </p:cNvSpPr>
            <p:nvPr/>
          </p:nvSpPr>
          <p:spPr bwMode="auto">
            <a:xfrm>
              <a:off x="1745503" y="4536871"/>
              <a:ext cx="246035" cy="2469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42" name="Text Box 27"/>
            <p:cNvSpPr txBox="1">
              <a:spLocks noChangeArrowheads="1"/>
            </p:cNvSpPr>
            <p:nvPr/>
          </p:nvSpPr>
          <p:spPr bwMode="auto">
            <a:xfrm>
              <a:off x="1774767" y="4223883"/>
              <a:ext cx="247119" cy="244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43" name="Text Box 26"/>
            <p:cNvSpPr txBox="1">
              <a:spLocks noChangeArrowheads="1"/>
            </p:cNvSpPr>
            <p:nvPr/>
          </p:nvSpPr>
          <p:spPr bwMode="auto">
            <a:xfrm>
              <a:off x="2056569" y="3941220"/>
              <a:ext cx="246035" cy="2469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36</a:t>
              </a:r>
            </a:p>
          </p:txBody>
        </p:sp>
        <p:sp>
          <p:nvSpPr>
            <p:cNvPr id="44" name="Text Box 25"/>
            <p:cNvSpPr txBox="1">
              <a:spLocks noChangeArrowheads="1"/>
            </p:cNvSpPr>
            <p:nvPr/>
          </p:nvSpPr>
          <p:spPr bwMode="auto">
            <a:xfrm>
              <a:off x="1498384" y="4328934"/>
              <a:ext cx="244951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45" name="Text Box 24"/>
            <p:cNvSpPr txBox="1">
              <a:spLocks noChangeArrowheads="1"/>
            </p:cNvSpPr>
            <p:nvPr/>
          </p:nvSpPr>
          <p:spPr bwMode="auto">
            <a:xfrm>
              <a:off x="1214414" y="4332183"/>
              <a:ext cx="247119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46" name="Text Box 23"/>
            <p:cNvSpPr txBox="1">
              <a:spLocks noChangeArrowheads="1"/>
            </p:cNvSpPr>
            <p:nvPr/>
          </p:nvSpPr>
          <p:spPr bwMode="auto">
            <a:xfrm>
              <a:off x="2485776" y="3789599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47" name="Text Box 22"/>
            <p:cNvSpPr txBox="1">
              <a:spLocks noChangeArrowheads="1"/>
            </p:cNvSpPr>
            <p:nvPr/>
          </p:nvSpPr>
          <p:spPr bwMode="auto">
            <a:xfrm>
              <a:off x="2485776" y="3500438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48" name="Oval 21"/>
            <p:cNvSpPr>
              <a:spLocks noChangeArrowheads="1"/>
            </p:cNvSpPr>
            <p:nvPr/>
          </p:nvSpPr>
          <p:spPr bwMode="auto">
            <a:xfrm>
              <a:off x="1318464" y="3652058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318464" y="4978735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50" name="Oval 19"/>
            <p:cNvSpPr>
              <a:spLocks noChangeArrowheads="1"/>
            </p:cNvSpPr>
            <p:nvPr/>
          </p:nvSpPr>
          <p:spPr bwMode="auto">
            <a:xfrm>
              <a:off x="3165353" y="3620651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1" name="Oval 18"/>
            <p:cNvSpPr>
              <a:spLocks noChangeArrowheads="1"/>
            </p:cNvSpPr>
            <p:nvPr/>
          </p:nvSpPr>
          <p:spPr bwMode="auto">
            <a:xfrm>
              <a:off x="3165353" y="4947328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52" name="Freeform 17"/>
            <p:cNvSpPr>
              <a:spLocks/>
            </p:cNvSpPr>
            <p:nvPr/>
          </p:nvSpPr>
          <p:spPr bwMode="auto">
            <a:xfrm>
              <a:off x="1704316" y="3836169"/>
              <a:ext cx="1475126" cy="10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70" y="6"/>
                </a:cxn>
              </a:cxnLst>
              <a:rect l="0" t="0" r="r" b="b"/>
              <a:pathLst>
                <a:path w="1270" h="6">
                  <a:moveTo>
                    <a:pt x="0" y="0"/>
                  </a:moveTo>
                  <a:lnTo>
                    <a:pt x="1270" y="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53" name="Freeform 16"/>
            <p:cNvSpPr>
              <a:spLocks/>
            </p:cNvSpPr>
            <p:nvPr/>
          </p:nvSpPr>
          <p:spPr bwMode="auto">
            <a:xfrm>
              <a:off x="1684807" y="3758192"/>
              <a:ext cx="1475126" cy="1083"/>
            </a:xfrm>
            <a:custGeom>
              <a:avLst/>
              <a:gdLst/>
              <a:ahLst/>
              <a:cxnLst>
                <a:cxn ang="0">
                  <a:pos x="1267" y="14"/>
                </a:cxn>
                <a:cxn ang="0">
                  <a:pos x="0" y="0"/>
                </a:cxn>
              </a:cxnLst>
              <a:rect l="0" t="0" r="r" b="b"/>
              <a:pathLst>
                <a:path w="1267" h="14">
                  <a:moveTo>
                    <a:pt x="1267" y="14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54" name="Text Box 15"/>
            <p:cNvSpPr txBox="1">
              <a:spLocks noChangeArrowheads="1"/>
            </p:cNvSpPr>
            <p:nvPr/>
          </p:nvSpPr>
          <p:spPr bwMode="auto">
            <a:xfrm>
              <a:off x="2274424" y="5183423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55" name="Text Box 14"/>
            <p:cNvSpPr txBox="1">
              <a:spLocks noChangeArrowheads="1"/>
            </p:cNvSpPr>
            <p:nvPr/>
          </p:nvSpPr>
          <p:spPr bwMode="auto">
            <a:xfrm>
              <a:off x="2274424" y="4855273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56" name="Freeform 13"/>
            <p:cNvSpPr>
              <a:spLocks/>
            </p:cNvSpPr>
            <p:nvPr/>
          </p:nvSpPr>
          <p:spPr bwMode="auto">
            <a:xfrm>
              <a:off x="1689142" y="5204000"/>
              <a:ext cx="1475126" cy="216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341" y="0"/>
                </a:cxn>
              </a:cxnLst>
              <a:rect l="0" t="0" r="r" b="b"/>
              <a:pathLst>
                <a:path w="1341" h="2">
                  <a:moveTo>
                    <a:pt x="0" y="2"/>
                  </a:moveTo>
                  <a:lnTo>
                    <a:pt x="1341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57" name="Freeform 12"/>
            <p:cNvSpPr>
              <a:spLocks/>
            </p:cNvSpPr>
            <p:nvPr/>
          </p:nvSpPr>
          <p:spPr bwMode="auto">
            <a:xfrm>
              <a:off x="1679388" y="5118443"/>
              <a:ext cx="1475126" cy="1083"/>
            </a:xfrm>
            <a:custGeom>
              <a:avLst/>
              <a:gdLst/>
              <a:ahLst/>
              <a:cxnLst>
                <a:cxn ang="0">
                  <a:pos x="1344" y="3"/>
                </a:cxn>
                <a:cxn ang="0">
                  <a:pos x="0" y="0"/>
                </a:cxn>
              </a:cxnLst>
              <a:rect l="0" t="0" r="r" b="b"/>
              <a:pathLst>
                <a:path w="1344" h="3">
                  <a:moveTo>
                    <a:pt x="1344" y="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58" name="Line 11"/>
            <p:cNvSpPr>
              <a:spLocks noChangeShapeType="1"/>
            </p:cNvSpPr>
            <p:nvPr/>
          </p:nvSpPr>
          <p:spPr bwMode="auto">
            <a:xfrm>
              <a:off x="1442023" y="4023528"/>
              <a:ext cx="1084" cy="982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59" name="Line 10"/>
            <p:cNvSpPr>
              <a:spLocks noChangeShapeType="1"/>
            </p:cNvSpPr>
            <p:nvPr/>
          </p:nvSpPr>
          <p:spPr bwMode="auto">
            <a:xfrm flipV="1">
              <a:off x="1531983" y="3995370"/>
              <a:ext cx="1084" cy="982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60" name="Text Box 9"/>
            <p:cNvSpPr txBox="1">
              <a:spLocks noChangeArrowheads="1"/>
            </p:cNvSpPr>
            <p:nvPr/>
          </p:nvSpPr>
          <p:spPr bwMode="auto">
            <a:xfrm>
              <a:off x="3370201" y="4299693"/>
              <a:ext cx="247119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61" name="Text Box 8"/>
            <p:cNvSpPr txBox="1">
              <a:spLocks noChangeArrowheads="1"/>
            </p:cNvSpPr>
            <p:nvPr/>
          </p:nvSpPr>
          <p:spPr bwMode="auto">
            <a:xfrm>
              <a:off x="3068889" y="4304025"/>
              <a:ext cx="244951" cy="244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62" name="Line 7"/>
            <p:cNvSpPr>
              <a:spLocks noChangeShapeType="1"/>
            </p:cNvSpPr>
            <p:nvPr/>
          </p:nvSpPr>
          <p:spPr bwMode="auto">
            <a:xfrm>
              <a:off x="3316008" y="3974793"/>
              <a:ext cx="1084" cy="982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63" name="Line 6"/>
            <p:cNvSpPr>
              <a:spLocks noChangeShapeType="1"/>
            </p:cNvSpPr>
            <p:nvPr/>
          </p:nvSpPr>
          <p:spPr bwMode="auto">
            <a:xfrm flipV="1">
              <a:off x="3394046" y="3971544"/>
              <a:ext cx="1084" cy="982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64" name="Freeform 5"/>
            <p:cNvSpPr>
              <a:spLocks/>
            </p:cNvSpPr>
            <p:nvPr/>
          </p:nvSpPr>
          <p:spPr bwMode="auto">
            <a:xfrm>
              <a:off x="1669633" y="3919560"/>
              <a:ext cx="1549912" cy="10667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30" y="985"/>
                </a:cxn>
              </a:cxnLst>
              <a:rect l="0" t="0" r="r" b="b"/>
              <a:pathLst>
                <a:path w="1430" h="985">
                  <a:moveTo>
                    <a:pt x="0" y="0"/>
                  </a:moveTo>
                  <a:lnTo>
                    <a:pt x="1430" y="98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65" name="Freeform 4"/>
            <p:cNvSpPr>
              <a:spLocks/>
            </p:cNvSpPr>
            <p:nvPr/>
          </p:nvSpPr>
          <p:spPr bwMode="auto">
            <a:xfrm>
              <a:off x="1581841" y="3997536"/>
              <a:ext cx="1585680" cy="1060259"/>
            </a:xfrm>
            <a:custGeom>
              <a:avLst/>
              <a:gdLst/>
              <a:ahLst/>
              <a:cxnLst>
                <a:cxn ang="0">
                  <a:pos x="1463" y="979"/>
                </a:cxn>
                <a:cxn ang="0">
                  <a:pos x="0" y="0"/>
                </a:cxn>
              </a:cxnLst>
              <a:rect l="0" t="0" r="r" b="b"/>
              <a:pathLst>
                <a:path w="1463" h="979">
                  <a:moveTo>
                    <a:pt x="1463" y="979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66" name="Freeform 3"/>
            <p:cNvSpPr>
              <a:spLocks/>
            </p:cNvSpPr>
            <p:nvPr/>
          </p:nvSpPr>
          <p:spPr bwMode="auto">
            <a:xfrm>
              <a:off x="1564499" y="3907647"/>
              <a:ext cx="1629034" cy="1080836"/>
            </a:xfrm>
            <a:custGeom>
              <a:avLst/>
              <a:gdLst/>
              <a:ahLst/>
              <a:cxnLst>
                <a:cxn ang="0">
                  <a:pos x="0" y="998"/>
                </a:cxn>
                <a:cxn ang="0">
                  <a:pos x="1503" y="0"/>
                </a:cxn>
              </a:cxnLst>
              <a:rect l="0" t="0" r="r" b="b"/>
              <a:pathLst>
                <a:path w="1503" h="998">
                  <a:moveTo>
                    <a:pt x="0" y="998"/>
                  </a:moveTo>
                  <a:lnTo>
                    <a:pt x="150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67" name="Freeform 2"/>
            <p:cNvSpPr>
              <a:spLocks/>
            </p:cNvSpPr>
            <p:nvPr/>
          </p:nvSpPr>
          <p:spPr bwMode="auto">
            <a:xfrm>
              <a:off x="1633866" y="3959631"/>
              <a:ext cx="1611692" cy="1067840"/>
            </a:xfrm>
            <a:custGeom>
              <a:avLst/>
              <a:gdLst/>
              <a:ahLst/>
              <a:cxnLst>
                <a:cxn ang="0">
                  <a:pos x="1487" y="0"/>
                </a:cxn>
                <a:cxn ang="0">
                  <a:pos x="0" y="986"/>
                </a:cxn>
              </a:cxnLst>
              <a:rect l="0" t="0" r="r" b="b"/>
              <a:pathLst>
                <a:path w="1487" h="986">
                  <a:moveTo>
                    <a:pt x="1487" y="0"/>
                  </a:moveTo>
                  <a:lnTo>
                    <a:pt x="0" y="98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14480" y="3214686"/>
            <a:ext cx="4086468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下箭头 36"/>
          <p:cNvSpPr/>
          <p:nvPr/>
        </p:nvSpPr>
        <p:spPr>
          <a:xfrm>
            <a:off x="3428992" y="2643182"/>
            <a:ext cx="285752" cy="357190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灯片编号占位符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167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71472" y="1142984"/>
            <a:ext cx="8143932" cy="278537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算法中求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共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个元素的全排列，解空间中结点个数为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-1)!)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叶子结点的个数同级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到达叶子结点时进行路径长度比较并执行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bestx=x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实现路径复制的时间为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所以算法的时间复杂度为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-1)!)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grpSp>
        <p:nvGrpSpPr>
          <p:cNvPr id="2" name="组合 7"/>
          <p:cNvGrpSpPr/>
          <p:nvPr/>
        </p:nvGrpSpPr>
        <p:grpSpPr>
          <a:xfrm>
            <a:off x="2571736" y="4357694"/>
            <a:ext cx="4357718" cy="1762125"/>
            <a:chOff x="714348" y="3357562"/>
            <a:chExt cx="4357718" cy="1762125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14348" y="3357562"/>
              <a:ext cx="1019175" cy="1762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1857356" y="3929066"/>
              <a:ext cx="3214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  <a:cs typeface="Consolas" pitchFamily="49" charset="0"/>
                </a:rPr>
                <a:t>如何提高剪支效率！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928926" y="428604"/>
            <a:ext cx="3143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TSP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168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357166"/>
            <a:ext cx="8501122" cy="476027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          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5.8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=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3.9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旅行计划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LintCode1891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）个城市，城市编号为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。给出邻接矩阵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arr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代表任意两个城市的距离，其中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arr[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arr[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）表示从城市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到城市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的距离。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在周末制定了一个游玩计划，她从所在的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城市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开始，游玩其他的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1~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的全部城市，最后回到城市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想知道她能完成游玩计划需要行走的最小距离，返回这个最小距离。除了城市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之外每个城市都只能经过一次，且城市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只能是起点和终点，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中途不可经过城市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arr={{0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0}}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，对应的路径是城市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0-&gt;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2-&gt;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1-&gt;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643306" y="5214950"/>
            <a:ext cx="2071702" cy="1443753"/>
            <a:chOff x="1928794" y="4914205"/>
            <a:chExt cx="2071702" cy="1443753"/>
          </a:xfrm>
        </p:grpSpPr>
        <p:sp>
          <p:nvSpPr>
            <p:cNvPr id="5" name="椭圆 4"/>
            <p:cNvSpPr/>
            <p:nvPr/>
          </p:nvSpPr>
          <p:spPr>
            <a:xfrm>
              <a:off x="1928794" y="5072074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latin typeface="Consolas" pitchFamily="49" charset="0"/>
                </a:rPr>
                <a:t>0</a:t>
              </a:r>
              <a:endParaRPr lang="zh-CN" altLang="en-US" sz="2000">
                <a:latin typeface="Consolas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3571868" y="5072074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latin typeface="Consolas" pitchFamily="49" charset="0"/>
                </a:rPr>
                <a:t>1</a:t>
              </a:r>
              <a:endParaRPr lang="zh-CN" altLang="en-US" sz="2000">
                <a:latin typeface="Consolas" pitchFamily="49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786050" y="5929330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latin typeface="Consolas" pitchFamily="49" charset="0"/>
                </a:rPr>
                <a:t>2</a:t>
              </a:r>
              <a:endParaRPr lang="zh-CN" altLang="en-US" sz="2000">
                <a:latin typeface="Consolas" pitchFamily="49" charset="0"/>
              </a:endParaRPr>
            </a:p>
          </p:txBody>
        </p:sp>
        <p:cxnSp>
          <p:nvCxnSpPr>
            <p:cNvPr id="8" name="直接箭头连接符 7"/>
            <p:cNvCxnSpPr/>
            <p:nvPr/>
          </p:nvCxnSpPr>
          <p:spPr>
            <a:xfrm>
              <a:off x="2357422" y="5218654"/>
              <a:ext cx="1214446" cy="1588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rot="16200000" flipH="1">
              <a:off x="2226917" y="5505665"/>
              <a:ext cx="554170" cy="554170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786050" y="5286388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43108" y="5715016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08628" y="4914205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 rot="10800000">
              <a:off x="2357422" y="5308966"/>
              <a:ext cx="1214446" cy="1588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rot="5400000">
              <a:off x="3082321" y="5451072"/>
              <a:ext cx="554170" cy="482732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109373" y="5444257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45454" y="5500702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357554" y="5643578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19" name="直接箭头连接符 18"/>
            <p:cNvCxnSpPr>
              <a:stCxn id="7" idx="1"/>
              <a:endCxn id="5" idx="5"/>
            </p:cNvCxnSpPr>
            <p:nvPr/>
          </p:nvCxnSpPr>
          <p:spPr>
            <a:xfrm rot="16200000" flipV="1">
              <a:off x="2294651" y="5437931"/>
              <a:ext cx="554170" cy="554170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 rot="5400000" flipH="1" flipV="1">
              <a:off x="3138766" y="5518806"/>
              <a:ext cx="554170" cy="482732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785786" y="142852"/>
            <a:ext cx="1041400" cy="1044575"/>
            <a:chOff x="857224" y="1071546"/>
            <a:chExt cx="1041400" cy="1044575"/>
          </a:xfrm>
        </p:grpSpPr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169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72" y="1660273"/>
            <a:ext cx="57150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57290" y="1433724"/>
            <a:ext cx="7072362" cy="99514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28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采用与前面求解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旅行商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问题完全相同的思路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设置起始顶点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=0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170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571480"/>
            <a:ext cx="8715436" cy="229984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const int INF=0x3f3f3f3f;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vector&lt;int&gt; x;            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int d;                        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记录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路径的长度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int bestd=INF;               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保存最短路径长度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171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106434"/>
            <a:ext cx="8715436" cy="447992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travelPlan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 &amp;arr)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 	int n=arr.size();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 	if(n==1) return 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 	int s=0;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 	x.push_back(s);         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添加起始顶点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 	for(int i=0;i&lt;n;i++){     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的顶点添加到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 		if(i!=s) x.push_back(i);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 	d=0;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 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(arr,s,1);            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x[1]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开始求解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return bestd;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172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106434"/>
            <a:ext cx="8715436" cy="568538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 &amp;A,int s,int i) {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if(i&gt;=n) {                        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达到一个叶子结点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bestd=min(bestd,d+A[x[n-1]][s]);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for(int j=i;j&lt;n;j++) {     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试探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走到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的分支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d+A[x[i-1]][x[j]]&lt;bestd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	swap(x[i],x[j]);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d+=A[x[i-1]][x[i]];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d-=A[x[i-1]][x[i]];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swap(x[i],x[j]);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4" name="组合 9"/>
          <p:cNvGrpSpPr/>
          <p:nvPr/>
        </p:nvGrpSpPr>
        <p:grpSpPr>
          <a:xfrm>
            <a:off x="642910" y="6000768"/>
            <a:ext cx="7000924" cy="480539"/>
            <a:chOff x="1071538" y="5624704"/>
            <a:chExt cx="7000924" cy="480539"/>
          </a:xfrm>
        </p:grpSpPr>
        <p:sp>
          <p:nvSpPr>
            <p:cNvPr id="5" name="TextBox 4"/>
            <p:cNvSpPr txBox="1"/>
            <p:nvPr/>
          </p:nvSpPr>
          <p:spPr>
            <a:xfrm>
              <a:off x="1857356" y="5643578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284ms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5.59MB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5624704"/>
              <a:ext cx="785818" cy="4578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Eras Bold ITC" pitchFamily="34" charset="0"/>
                <a:ea typeface="仿宋" pitchFamily="49" charset="-122"/>
                <a:cs typeface="Courier New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173</a:t>
            </a:fld>
            <a:r>
              <a:rPr lang="en-US" altLang="zh-CN"/>
              <a:t>/173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2F7430A-BC62-57BE-B41E-1FF6030C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174</a:t>
            </a:fld>
            <a:r>
              <a:rPr lang="en-US" altLang="zh-CN"/>
              <a:t>/173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3926D8-6DBF-4373-9440-6A43FFCE9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2860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9428347-2B05-55A0-F1CE-879A1300569F}"/>
              </a:ext>
            </a:extLst>
          </p:cNvPr>
          <p:cNvSpPr txBox="1"/>
          <p:nvPr/>
        </p:nvSpPr>
        <p:spPr>
          <a:xfrm>
            <a:off x="4211960" y="4797152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思政</a:t>
            </a:r>
          </a:p>
        </p:txBody>
      </p:sp>
    </p:spTree>
    <p:extLst>
      <p:ext uri="{BB962C8B-B14F-4D97-AF65-F5344CB8AC3E}">
        <p14:creationId xmlns:p14="http://schemas.microsoft.com/office/powerpoint/2010/main" val="987954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>
          <a:tailEnd type="none"/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spDef>
    <a:lnDef>
      <a:spPr>
        <a:ln w="19050">
          <a:tailEnd type="none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00000"/>
          </a:lnSpc>
          <a:spcBef>
            <a:spcPts val="0"/>
          </a:spcBef>
          <a:defRPr sz="1800" smtClean="0">
            <a:solidFill>
              <a:srgbClr val="0000FF"/>
            </a:solidFill>
            <a:latin typeface="Consolas" pitchFamily="49" charset="0"/>
            <a:ea typeface="楷体" pitchFamily="49" charset="-122"/>
            <a:cs typeface="Consolas" pitchFamily="49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5119</TotalTime>
  <Words>19975</Words>
  <Application>Microsoft Office PowerPoint</Application>
  <PresentationFormat>全屏显示(4:3)</PresentationFormat>
  <Paragraphs>2330</Paragraphs>
  <Slides>174</Slides>
  <Notes>134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174</vt:i4>
      </vt:variant>
    </vt:vector>
  </HeadingPairs>
  <TitlesOfParts>
    <vt:vector size="187" baseType="lpstr">
      <vt:lpstr>仿宋</vt:lpstr>
      <vt:lpstr>黑体</vt:lpstr>
      <vt:lpstr>华文中宋</vt:lpstr>
      <vt:lpstr>楷体</vt:lpstr>
      <vt:lpstr>微软雅黑</vt:lpstr>
      <vt:lpstr>Arial</vt:lpstr>
      <vt:lpstr>Calibri</vt:lpstr>
      <vt:lpstr>Consolas</vt:lpstr>
      <vt:lpstr>Eras Bold ITC</vt:lpstr>
      <vt:lpstr>Eras Light ITC</vt:lpstr>
      <vt:lpstr>Forte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lcb; wbh</dc:creator>
  <cp:lastModifiedBy>jj wei</cp:lastModifiedBy>
  <cp:revision>1936</cp:revision>
  <dcterms:created xsi:type="dcterms:W3CDTF">2004-03-31T23:50:14Z</dcterms:created>
  <dcterms:modified xsi:type="dcterms:W3CDTF">2024-01-28T08:40:25Z</dcterms:modified>
</cp:coreProperties>
</file>