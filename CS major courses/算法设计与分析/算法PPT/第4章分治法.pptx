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3" r:id="rId1"/>
  </p:sldMasterIdLst>
  <p:notesMasterIdLst>
    <p:notesMasterId r:id="rId130"/>
  </p:notesMasterIdLst>
  <p:handoutMasterIdLst>
    <p:handoutMasterId r:id="rId131"/>
  </p:handoutMasterIdLst>
  <p:sldIdLst>
    <p:sldId id="522" r:id="rId2"/>
    <p:sldId id="365" r:id="rId3"/>
    <p:sldId id="525" r:id="rId4"/>
    <p:sldId id="531" r:id="rId5"/>
    <p:sldId id="523" r:id="rId6"/>
    <p:sldId id="524" r:id="rId7"/>
    <p:sldId id="526" r:id="rId8"/>
    <p:sldId id="527" r:id="rId9"/>
    <p:sldId id="533" r:id="rId10"/>
    <p:sldId id="534" r:id="rId11"/>
    <p:sldId id="537" r:id="rId12"/>
    <p:sldId id="538" r:id="rId13"/>
    <p:sldId id="535" r:id="rId14"/>
    <p:sldId id="536" r:id="rId15"/>
    <p:sldId id="546" r:id="rId16"/>
    <p:sldId id="547" r:id="rId17"/>
    <p:sldId id="549" r:id="rId18"/>
    <p:sldId id="550" r:id="rId19"/>
    <p:sldId id="551" r:id="rId20"/>
    <p:sldId id="548" r:id="rId21"/>
    <p:sldId id="661" r:id="rId22"/>
    <p:sldId id="662" r:id="rId23"/>
    <p:sldId id="663" r:id="rId24"/>
    <p:sldId id="664" r:id="rId25"/>
    <p:sldId id="665" r:id="rId26"/>
    <p:sldId id="666" r:id="rId27"/>
    <p:sldId id="667" r:id="rId28"/>
    <p:sldId id="668" r:id="rId29"/>
    <p:sldId id="541" r:id="rId30"/>
    <p:sldId id="528" r:id="rId31"/>
    <p:sldId id="560" r:id="rId32"/>
    <p:sldId id="556" r:id="rId33"/>
    <p:sldId id="561" r:id="rId34"/>
    <p:sldId id="563" r:id="rId35"/>
    <p:sldId id="564" r:id="rId36"/>
    <p:sldId id="565" r:id="rId37"/>
    <p:sldId id="566" r:id="rId38"/>
    <p:sldId id="568" r:id="rId39"/>
    <p:sldId id="567" r:id="rId40"/>
    <p:sldId id="557" r:id="rId41"/>
    <p:sldId id="570" r:id="rId42"/>
    <p:sldId id="569" r:id="rId43"/>
    <p:sldId id="571" r:id="rId44"/>
    <p:sldId id="572" r:id="rId45"/>
    <p:sldId id="558" r:id="rId46"/>
    <p:sldId id="559" r:id="rId47"/>
    <p:sldId id="529" r:id="rId48"/>
    <p:sldId id="573" r:id="rId49"/>
    <p:sldId id="530" r:id="rId50"/>
    <p:sldId id="532" r:id="rId51"/>
    <p:sldId id="584" r:id="rId52"/>
    <p:sldId id="586" r:id="rId53"/>
    <p:sldId id="585" r:id="rId54"/>
    <p:sldId id="587" r:id="rId55"/>
    <p:sldId id="574" r:id="rId56"/>
    <p:sldId id="607" r:id="rId57"/>
    <p:sldId id="608" r:id="rId58"/>
    <p:sldId id="609" r:id="rId59"/>
    <p:sldId id="605" r:id="rId60"/>
    <p:sldId id="606" r:id="rId61"/>
    <p:sldId id="618" r:id="rId62"/>
    <p:sldId id="619" r:id="rId63"/>
    <p:sldId id="610" r:id="rId64"/>
    <p:sldId id="611" r:id="rId65"/>
    <p:sldId id="612" r:id="rId66"/>
    <p:sldId id="613" r:id="rId67"/>
    <p:sldId id="614" r:id="rId68"/>
    <p:sldId id="615" r:id="rId69"/>
    <p:sldId id="617" r:id="rId70"/>
    <p:sldId id="616" r:id="rId71"/>
    <p:sldId id="620" r:id="rId72"/>
    <p:sldId id="576" r:id="rId73"/>
    <p:sldId id="621" r:id="rId74"/>
    <p:sldId id="622" r:id="rId75"/>
    <p:sldId id="625" r:id="rId76"/>
    <p:sldId id="628" r:id="rId77"/>
    <p:sldId id="627" r:id="rId78"/>
    <p:sldId id="623" r:id="rId79"/>
    <p:sldId id="624" r:id="rId80"/>
    <p:sldId id="629" r:id="rId81"/>
    <p:sldId id="630" r:id="rId82"/>
    <p:sldId id="631" r:id="rId83"/>
    <p:sldId id="632" r:id="rId84"/>
    <p:sldId id="633" r:id="rId85"/>
    <p:sldId id="575" r:id="rId86"/>
    <p:sldId id="634" r:id="rId87"/>
    <p:sldId id="635" r:id="rId88"/>
    <p:sldId id="636" r:id="rId89"/>
    <p:sldId id="637" r:id="rId90"/>
    <p:sldId id="638" r:id="rId91"/>
    <p:sldId id="579" r:id="rId92"/>
    <p:sldId id="580" r:id="rId93"/>
    <p:sldId id="654" r:id="rId94"/>
    <p:sldId id="581" r:id="rId95"/>
    <p:sldId id="639" r:id="rId96"/>
    <p:sldId id="640" r:id="rId97"/>
    <p:sldId id="588" r:id="rId98"/>
    <p:sldId id="589" r:id="rId99"/>
    <p:sldId id="590" r:id="rId100"/>
    <p:sldId id="591" r:id="rId101"/>
    <p:sldId id="592" r:id="rId102"/>
    <p:sldId id="659" r:id="rId103"/>
    <p:sldId id="660" r:id="rId104"/>
    <p:sldId id="595" r:id="rId105"/>
    <p:sldId id="596" r:id="rId106"/>
    <p:sldId id="597" r:id="rId107"/>
    <p:sldId id="598" r:id="rId108"/>
    <p:sldId id="599" r:id="rId109"/>
    <p:sldId id="600" r:id="rId110"/>
    <p:sldId id="601" r:id="rId111"/>
    <p:sldId id="602" r:id="rId112"/>
    <p:sldId id="603" r:id="rId113"/>
    <p:sldId id="604" r:id="rId114"/>
    <p:sldId id="641" r:id="rId115"/>
    <p:sldId id="642" r:id="rId116"/>
    <p:sldId id="583" r:id="rId117"/>
    <p:sldId id="643" r:id="rId118"/>
    <p:sldId id="645" r:id="rId119"/>
    <p:sldId id="647" r:id="rId120"/>
    <p:sldId id="646" r:id="rId121"/>
    <p:sldId id="655" r:id="rId122"/>
    <p:sldId id="669" r:id="rId123"/>
    <p:sldId id="648" r:id="rId124"/>
    <p:sldId id="649" r:id="rId125"/>
    <p:sldId id="650" r:id="rId126"/>
    <p:sldId id="657" r:id="rId127"/>
    <p:sldId id="651" r:id="rId128"/>
    <p:sldId id="670" r:id="rId129"/>
  </p:sldIdLst>
  <p:sldSz cx="9144000" cy="6858000" type="screen4x3"/>
  <p:notesSz cx="6858000" cy="9144000"/>
  <p:defaultTextStyle>
    <a:defPPr>
      <a:defRPr lang="zh-CN"/>
    </a:defPPr>
    <a:lvl1pPr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1pPr>
    <a:lvl2pPr marL="457200"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2pPr>
    <a:lvl3pPr marL="914400"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3pPr>
    <a:lvl4pPr marL="1371600"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4pPr>
    <a:lvl5pPr marL="1828800"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339933"/>
    <a:srgbClr val="0000FF"/>
    <a:srgbClr val="006600"/>
    <a:srgbClr val="FF3300"/>
    <a:srgbClr val="FF3399"/>
    <a:srgbClr val="000000"/>
    <a:srgbClr val="3333FF"/>
    <a:srgbClr val="6600CC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35" autoAdjust="0"/>
  </p:normalViewPr>
  <p:slideViewPr>
    <p:cSldViewPr>
      <p:cViewPr varScale="1">
        <p:scale>
          <a:sx n="99" d="100"/>
          <a:sy n="99" d="100"/>
        </p:scale>
        <p:origin x="129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60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3360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notesMaster" Target="notesMasters/notesMaster1.xml"/><Relationship Id="rId135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handoutMaster" Target="handoutMasters/handout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presProps" Target="pres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348C81-2EE0-4ADC-AD51-9DC87E0EF387}" type="datetimeFigureOut">
              <a:rPr lang="zh-CN" altLang="en-US" smtClean="0"/>
              <a:pPr/>
              <a:t>2024-01-28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F0761C-5A44-4BA0-B4C5-00F13EA65E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150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15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150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150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150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fld id="{0D1E2EF4-146E-47B5-A412-FFD548A1AB6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20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21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27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30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31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32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33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34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35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36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37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38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39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40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41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42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43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44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45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46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47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48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49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50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51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52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53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54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55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56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57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58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59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60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61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62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71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72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73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74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75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76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77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78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79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80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81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82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83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84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85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91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92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93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94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95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96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116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119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122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FF0000"/>
                </a:solidFill>
                <a:latin typeface="Consolas" pitchFamily="49" charset="0"/>
                <a:cs typeface="Consolas" pitchFamily="49" charset="0"/>
              </a:defRPr>
            </a:lvl1pPr>
          </a:lstStyle>
          <a:p>
            <a:fld id="{7AF016A1-9F15-429F-9EFD-84004B73C732}" type="slidenum">
              <a:rPr lang="en-US" altLang="zh-CN" smtClean="0"/>
              <a:pPr/>
              <a:t>‹#›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D3DD41-1E0E-46B0-ABE7-D5048A3DF73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357422" y="500042"/>
            <a:ext cx="4714908" cy="879829"/>
          </a:xfrm>
          <a:prstGeom prst="rect">
            <a:avLst/>
          </a:prstGeom>
          <a:ln>
            <a:noFill/>
          </a:ln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tIns="216000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zh-CN" altLang="en-US" sz="400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400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400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章</a:t>
            </a:r>
            <a:r>
              <a:rPr lang="en-US" altLang="zh-CN" sz="400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—</a:t>
            </a:r>
            <a:r>
              <a:rPr lang="zh-CN" altLang="en-US" sz="400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分治法</a:t>
            </a:r>
          </a:p>
        </p:txBody>
      </p:sp>
      <p:sp>
        <p:nvSpPr>
          <p:cNvPr id="5" name="TextBox 4">
            <a:hlinkClick r:id="rId3" action="ppaction://hlinksldjump"/>
          </p:cNvPr>
          <p:cNvSpPr txBox="1"/>
          <p:nvPr/>
        </p:nvSpPr>
        <p:spPr>
          <a:xfrm>
            <a:off x="285720" y="2714620"/>
            <a:ext cx="3780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4.1 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分治法概述</a:t>
            </a:r>
          </a:p>
        </p:txBody>
      </p:sp>
      <p:sp>
        <p:nvSpPr>
          <p:cNvPr id="9" name="TextBox 8">
            <a:hlinkClick r:id="" action="ppaction://noaction"/>
          </p:cNvPr>
          <p:cNvSpPr txBox="1"/>
          <p:nvPr/>
        </p:nvSpPr>
        <p:spPr>
          <a:xfrm>
            <a:off x="285720" y="3543612"/>
            <a:ext cx="3780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4.2 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快速排序</a:t>
            </a:r>
          </a:p>
        </p:txBody>
      </p:sp>
      <p:grpSp>
        <p:nvGrpSpPr>
          <p:cNvPr id="24" name="组合 23"/>
          <p:cNvGrpSpPr/>
          <p:nvPr/>
        </p:nvGrpSpPr>
        <p:grpSpPr>
          <a:xfrm>
            <a:off x="428596" y="1071546"/>
            <a:ext cx="1678717" cy="1463618"/>
            <a:chOff x="464391" y="2679762"/>
            <a:chExt cx="1678717" cy="1463618"/>
          </a:xfrm>
        </p:grpSpPr>
        <p:grpSp>
          <p:nvGrpSpPr>
            <p:cNvPr id="16" name="组合 79"/>
            <p:cNvGrpSpPr>
              <a:grpSpLocks/>
            </p:cNvGrpSpPr>
            <p:nvPr/>
          </p:nvGrpSpPr>
          <p:grpSpPr bwMode="auto">
            <a:xfrm>
              <a:off x="571472" y="2679762"/>
              <a:ext cx="1500198" cy="1463618"/>
              <a:chOff x="6379728" y="2488774"/>
              <a:chExt cx="2513016" cy="2533955"/>
            </a:xfrm>
          </p:grpSpPr>
          <p:sp>
            <p:nvSpPr>
              <p:cNvPr id="17" name="任意多边形 82"/>
              <p:cNvSpPr/>
              <p:nvPr/>
            </p:nvSpPr>
            <p:spPr>
              <a:xfrm rot="3738964">
                <a:off x="6379728" y="2488774"/>
                <a:ext cx="2513016" cy="2513016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rgbClr val="FFFFFF"/>
                  </a:gs>
                  <a:gs pos="88000">
                    <a:srgbClr val="FFFFFF">
                      <a:lumMod val="72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127000" dist="63500" dir="7380000" sx="102000" sy="102000" algn="tr" rotWithShape="0">
                  <a:prstClr val="black">
                    <a:alpha val="39000"/>
                  </a:prstClr>
                </a:outerShdw>
              </a:effectLst>
            </p:spPr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 kern="0">
                  <a:solidFill>
                    <a:srgbClr val="FFFFFF"/>
                  </a:solidFill>
                  <a:latin typeface="Arial"/>
                  <a:ea typeface="宋体"/>
                </a:endParaRPr>
              </a:p>
            </p:txBody>
          </p:sp>
          <p:sp>
            <p:nvSpPr>
              <p:cNvPr id="18" name="任意多边形 83"/>
              <p:cNvSpPr/>
              <p:nvPr/>
            </p:nvSpPr>
            <p:spPr>
              <a:xfrm rot="16377237">
                <a:off x="6409519" y="2545928"/>
                <a:ext cx="2476803" cy="2476799"/>
              </a:xfrm>
              <a:custGeom>
                <a:avLst/>
                <a:gdLst>
                  <a:gd name="connsiteX0" fmla="*/ 0 w 1800200"/>
                  <a:gd name="connsiteY0" fmla="*/ 900100 h 1800200"/>
                  <a:gd name="connsiteX1" fmla="*/ 263634 w 1800200"/>
                  <a:gd name="connsiteY1" fmla="*/ 263633 h 1800200"/>
                  <a:gd name="connsiteX2" fmla="*/ 900101 w 1800200"/>
                  <a:gd name="connsiteY2" fmla="*/ 1 h 1800200"/>
                  <a:gd name="connsiteX3" fmla="*/ 1536568 w 1800200"/>
                  <a:gd name="connsiteY3" fmla="*/ 263635 h 1800200"/>
                  <a:gd name="connsiteX4" fmla="*/ 1800200 w 1800200"/>
                  <a:gd name="connsiteY4" fmla="*/ 900102 h 1800200"/>
                  <a:gd name="connsiteX5" fmla="*/ 1536567 w 1800200"/>
                  <a:gd name="connsiteY5" fmla="*/ 1536569 h 1800200"/>
                  <a:gd name="connsiteX6" fmla="*/ 900100 w 1800200"/>
                  <a:gd name="connsiteY6" fmla="*/ 1800202 h 1800200"/>
                  <a:gd name="connsiteX7" fmla="*/ 263633 w 1800200"/>
                  <a:gd name="connsiteY7" fmla="*/ 1536568 h 1800200"/>
                  <a:gd name="connsiteX8" fmla="*/ 0 w 1800200"/>
                  <a:gd name="connsiteY8" fmla="*/ 900101 h 1800200"/>
                  <a:gd name="connsiteX9" fmla="*/ 0 w 1800200"/>
                  <a:gd name="connsiteY9" fmla="*/ 900100 h 1800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200" h="1800200">
                    <a:moveTo>
                      <a:pt x="0" y="900100"/>
                    </a:moveTo>
                    <a:cubicBezTo>
                      <a:pt x="0" y="661379"/>
                      <a:pt x="94832" y="432435"/>
                      <a:pt x="263634" y="263633"/>
                    </a:cubicBezTo>
                    <a:cubicBezTo>
                      <a:pt x="432436" y="94832"/>
                      <a:pt x="661380" y="0"/>
                      <a:pt x="900101" y="1"/>
                    </a:cubicBezTo>
                    <a:cubicBezTo>
                      <a:pt x="1138822" y="1"/>
                      <a:pt x="1367766" y="94833"/>
                      <a:pt x="1536568" y="263635"/>
                    </a:cubicBezTo>
                    <a:cubicBezTo>
                      <a:pt x="1705369" y="432437"/>
                      <a:pt x="1800201" y="661381"/>
                      <a:pt x="1800200" y="900102"/>
                    </a:cubicBezTo>
                    <a:cubicBezTo>
                      <a:pt x="1800200" y="1138823"/>
                      <a:pt x="1705368" y="1367767"/>
                      <a:pt x="1536567" y="1536569"/>
                    </a:cubicBezTo>
                    <a:cubicBezTo>
                      <a:pt x="1367765" y="1705371"/>
                      <a:pt x="1138821" y="1800202"/>
                      <a:pt x="900100" y="1800202"/>
                    </a:cubicBezTo>
                    <a:cubicBezTo>
                      <a:pt x="661379" y="1800202"/>
                      <a:pt x="432435" y="1705370"/>
                      <a:pt x="263633" y="1536568"/>
                    </a:cubicBezTo>
                    <a:cubicBezTo>
                      <a:pt x="94832" y="1367766"/>
                      <a:pt x="0" y="1138822"/>
                      <a:pt x="0" y="900101"/>
                    </a:cubicBezTo>
                    <a:lnTo>
                      <a:pt x="0" y="900100"/>
                    </a:lnTo>
                    <a:close/>
                  </a:path>
                </a:pathLst>
              </a:custGeom>
              <a:gradFill flip="none" rotWithShape="1">
                <a:gsLst>
                  <a:gs pos="29000">
                    <a:srgbClr val="FFFFFF"/>
                  </a:gs>
                  <a:gs pos="98000">
                    <a:srgbClr val="FFFFFF">
                      <a:lumMod val="75000"/>
                    </a:srgbClr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softEdge rad="0"/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endParaRPr lang="zh-CN" altLang="en-US" kern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9" name="文本框 20"/>
            <p:cNvSpPr txBox="1">
              <a:spLocks noChangeArrowheads="1"/>
            </p:cNvSpPr>
            <p:nvPr/>
          </p:nvSpPr>
          <p:spPr bwMode="auto">
            <a:xfrm>
              <a:off x="464391" y="3416858"/>
              <a:ext cx="167871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</a:pPr>
              <a:r>
                <a:rPr lang="en-US" altLang="zh-CN" sz="1800" b="1" dirty="0">
                  <a:solidFill>
                    <a:srgbClr val="9900FF"/>
                  </a:solidFill>
                </a:rPr>
                <a:t>CONTENTS</a:t>
              </a:r>
              <a:endParaRPr lang="zh-CN" altLang="en-US" sz="1800" b="1" dirty="0">
                <a:solidFill>
                  <a:srgbClr val="9900FF"/>
                </a:solidFill>
              </a:endParaRPr>
            </a:p>
          </p:txBody>
        </p:sp>
        <p:sp>
          <p:nvSpPr>
            <p:cNvPr id="20" name="文本框 20"/>
            <p:cNvSpPr txBox="1">
              <a:spLocks noChangeArrowheads="1"/>
            </p:cNvSpPr>
            <p:nvPr/>
          </p:nvSpPr>
          <p:spPr bwMode="auto">
            <a:xfrm>
              <a:off x="834010" y="2974920"/>
              <a:ext cx="96319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</a:pPr>
              <a:r>
                <a:rPr lang="zh-CN" altLang="en-US" b="1" dirty="0">
                  <a:solidFill>
                    <a:srgbClr val="008000"/>
                  </a:solidFill>
                </a:rPr>
                <a:t>提纲</a:t>
              </a:r>
            </a:p>
          </p:txBody>
        </p:sp>
      </p:grpSp>
      <p:sp>
        <p:nvSpPr>
          <p:cNvPr id="12" name="TextBox 11">
            <a:hlinkClick r:id="" action="ppaction://noaction"/>
          </p:cNvPr>
          <p:cNvSpPr txBox="1"/>
          <p:nvPr/>
        </p:nvSpPr>
        <p:spPr>
          <a:xfrm>
            <a:off x="285720" y="4402850"/>
            <a:ext cx="3780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4.3 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二路归并排序</a:t>
            </a:r>
          </a:p>
        </p:txBody>
      </p:sp>
      <p:sp>
        <p:nvSpPr>
          <p:cNvPr id="14" name="TextBox 13">
            <a:hlinkClick r:id="" action="ppaction://noaction"/>
          </p:cNvPr>
          <p:cNvSpPr txBox="1"/>
          <p:nvPr/>
        </p:nvSpPr>
        <p:spPr>
          <a:xfrm>
            <a:off x="285720" y="5273117"/>
            <a:ext cx="3780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4.4 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二分查找</a:t>
            </a:r>
          </a:p>
        </p:txBody>
      </p:sp>
      <p:sp>
        <p:nvSpPr>
          <p:cNvPr id="15" name="TextBox 14">
            <a:hlinkClick r:id="" action="ppaction://noaction"/>
          </p:cNvPr>
          <p:cNvSpPr txBox="1"/>
          <p:nvPr/>
        </p:nvSpPr>
        <p:spPr>
          <a:xfrm>
            <a:off x="4286248" y="2714620"/>
            <a:ext cx="4680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4.5 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最大连续子序列和</a:t>
            </a:r>
          </a:p>
        </p:txBody>
      </p:sp>
      <p:sp>
        <p:nvSpPr>
          <p:cNvPr id="21" name="TextBox 20">
            <a:hlinkClick r:id="" action="ppaction://noaction"/>
          </p:cNvPr>
          <p:cNvSpPr txBox="1"/>
          <p:nvPr/>
        </p:nvSpPr>
        <p:spPr>
          <a:xfrm>
            <a:off x="4286248" y="3543612"/>
            <a:ext cx="4680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4.6 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棋盘覆盖问题</a:t>
            </a:r>
          </a:p>
        </p:txBody>
      </p:sp>
      <p:sp>
        <p:nvSpPr>
          <p:cNvPr id="22" name="TextBox 21">
            <a:hlinkClick r:id="" action="ppaction://noaction"/>
          </p:cNvPr>
          <p:cNvSpPr txBox="1"/>
          <p:nvPr/>
        </p:nvSpPr>
        <p:spPr>
          <a:xfrm>
            <a:off x="4286248" y="4402850"/>
            <a:ext cx="4680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4.7 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循环日程安排问题</a:t>
            </a:r>
          </a:p>
        </p:txBody>
      </p:sp>
      <p:sp>
        <p:nvSpPr>
          <p:cNvPr id="23" name="TextBox 22">
            <a:hlinkClick r:id="" action="ppaction://noaction"/>
          </p:cNvPr>
          <p:cNvSpPr txBox="1"/>
          <p:nvPr/>
        </p:nvSpPr>
        <p:spPr>
          <a:xfrm>
            <a:off x="4286248" y="5273117"/>
            <a:ext cx="4680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4.8 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旅行商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问题</a:t>
            </a:r>
          </a:p>
        </p:txBody>
      </p:sp>
      <p:sp>
        <p:nvSpPr>
          <p:cNvPr id="25" name="灯片编号占位符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428596" y="1500174"/>
            <a:ext cx="3786214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4.1.1 </a:t>
            </a:r>
            <a:r>
              <a:rPr lang="zh-CN" altLang="en-US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什么是分治法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>
            <a:hlinkClick r:id="rId3" action="ppaction://hlinksldjump"/>
          </p:cNvPr>
          <p:cNvSpPr txBox="1"/>
          <p:nvPr/>
        </p:nvSpPr>
        <p:spPr>
          <a:xfrm>
            <a:off x="2857488" y="357166"/>
            <a:ext cx="3780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4.1 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分治法概述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472" y="2357430"/>
            <a:ext cx="8215370" cy="3016210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400"/>
              </a:lnSpc>
              <a:spcBef>
                <a:spcPts val="1200"/>
              </a:spcBef>
              <a:buBlip>
                <a:blip r:embed="rId4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对于一个规模为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的问题，若容易解决则直接解决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400"/>
              </a:lnSpc>
              <a:spcBef>
                <a:spcPts val="1200"/>
              </a:spcBef>
              <a:buBlip>
                <a:blip r:embed="rId4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否则就需要分析问题本身的特性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将其分解为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≥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）个规模较小的子问题，并且这些子问题互相独立且与原问题类型相同，然后一一求解子问题，最后将各子问题的解合并得到原问题的解。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400"/>
              </a:lnSpc>
              <a:spcBef>
                <a:spcPts val="1200"/>
              </a:spcBef>
              <a:buBlip>
                <a:blip r:embed="rId4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这种分而分治之策略叫做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分治法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0034" y="571480"/>
            <a:ext cx="6786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分治法所能解决的问题一般具有以下几个</a:t>
            </a:r>
            <a:r>
              <a:rPr lang="zh-CN" altLang="zh-CN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特性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34" y="1428736"/>
            <a:ext cx="8286808" cy="3016210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 defTabSz="360000">
              <a:lnSpc>
                <a:spcPts val="32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可缩性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：问题的规模缩小到一定的程度就可以直接解决。</a:t>
            </a:r>
          </a:p>
          <a:p>
            <a:pPr marL="457200" indent="-457200" algn="l" defTabSz="360000">
              <a:lnSpc>
                <a:spcPts val="32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可分解性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：问题可以分解为若干个规模较小的类型相同的子问题。</a:t>
            </a:r>
          </a:p>
          <a:p>
            <a:pPr marL="457200" indent="-457200" algn="l" defTabSz="360000">
              <a:lnSpc>
                <a:spcPts val="32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可合并性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：问题的解可以由子问题的解合并得到。</a:t>
            </a:r>
          </a:p>
          <a:p>
            <a:pPr marL="457200" indent="-457200" algn="l" defTabSz="360000">
              <a:lnSpc>
                <a:spcPts val="32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独立性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：问题分解出的若干个子问题是相互独立的，即子问题之间不包含公共的子子问题。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285720" y="428604"/>
            <a:ext cx="4643470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4.1.2 </a:t>
            </a:r>
            <a:r>
              <a:rPr lang="zh-CN" altLang="en-US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分治法的求解过程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472" y="1428736"/>
            <a:ext cx="8215370" cy="2144177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4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分解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：将问题分解为若干个规模较小，相互独立，与原问题类型相同的子问题。</a:t>
            </a:r>
          </a:p>
          <a:p>
            <a:pPr marL="457200" indent="-457200" algn="l">
              <a:lnSpc>
                <a:spcPts val="34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求解子问题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：求出各个子问题的解。</a:t>
            </a:r>
          </a:p>
          <a:p>
            <a:pPr marL="457200" indent="-457200" algn="l">
              <a:lnSpc>
                <a:spcPts val="34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合并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：将各个子问题的解合并为原问题的解。 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0034" y="500042"/>
            <a:ext cx="357190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zh-CN" altLang="zh-CN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分治算法的求解过程</a:t>
            </a:r>
            <a:endParaRPr lang="zh-CN" altLang="zh-CN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152188" y="1508194"/>
            <a:ext cx="6420208" cy="3063813"/>
            <a:chOff x="1223626" y="1936823"/>
            <a:chExt cx="6420208" cy="2841478"/>
          </a:xfrm>
        </p:grpSpPr>
        <p:sp>
          <p:nvSpPr>
            <p:cNvPr id="5" name="Rectangle 22"/>
            <p:cNvSpPr>
              <a:spLocks noChangeArrowheads="1"/>
            </p:cNvSpPr>
            <p:nvPr/>
          </p:nvSpPr>
          <p:spPr bwMode="auto">
            <a:xfrm>
              <a:off x="1223626" y="3540042"/>
              <a:ext cx="1497083" cy="39804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46800" rIns="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ea typeface="仿宋" pitchFamily="49" charset="-122"/>
                  <a:cs typeface="Times New Roman" pitchFamily="18" charset="0"/>
                </a:rPr>
                <a:t>子问题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ea typeface="仿宋" pitchFamily="49" charset="-122"/>
                  <a:cs typeface="Times New Roman" pitchFamily="18" charset="0"/>
                </a:rPr>
                <a:t>1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ea typeface="仿宋" pitchFamily="49" charset="-122"/>
                  <a:cs typeface="Times New Roman" pitchFamily="18" charset="0"/>
                </a:rPr>
                <a:t>的解</a:t>
              </a:r>
            </a:p>
          </p:txBody>
        </p:sp>
        <p:sp>
          <p:nvSpPr>
            <p:cNvPr id="6" name="AutoShape 21"/>
            <p:cNvSpPr>
              <a:spLocks noChangeArrowheads="1"/>
            </p:cNvSpPr>
            <p:nvPr/>
          </p:nvSpPr>
          <p:spPr bwMode="auto">
            <a:xfrm>
              <a:off x="3446219" y="1936823"/>
              <a:ext cx="1301311" cy="398048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46800" rIns="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ea typeface="仿宋" pitchFamily="49" charset="-122"/>
                  <a:cs typeface="Times New Roman" pitchFamily="18" charset="0"/>
                </a:rPr>
                <a:t>原问题</a:t>
              </a:r>
            </a:p>
          </p:txBody>
        </p:sp>
        <p:sp>
          <p:nvSpPr>
            <p:cNvPr id="7" name="AutoShape 20"/>
            <p:cNvSpPr>
              <a:spLocks noChangeArrowheads="1"/>
            </p:cNvSpPr>
            <p:nvPr/>
          </p:nvSpPr>
          <p:spPr bwMode="auto">
            <a:xfrm>
              <a:off x="1419398" y="2767008"/>
              <a:ext cx="1094023" cy="398048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46800" rIns="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ea typeface="仿宋" pitchFamily="49" charset="-122"/>
                  <a:cs typeface="Times New Roman" pitchFamily="18" charset="0"/>
                </a:rPr>
                <a:t>子问题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ea typeface="仿宋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8" name="AutoShape 19"/>
            <p:cNvSpPr>
              <a:spLocks noChangeArrowheads="1"/>
            </p:cNvSpPr>
            <p:nvPr/>
          </p:nvSpPr>
          <p:spPr bwMode="auto">
            <a:xfrm>
              <a:off x="3215898" y="2768011"/>
              <a:ext cx="1094023" cy="398048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46800" rIns="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ea typeface="仿宋" pitchFamily="49" charset="-122"/>
                  <a:cs typeface="Times New Roman" pitchFamily="18" charset="0"/>
                </a:rPr>
                <a:t>子问题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ea typeface="仿宋" pitchFamily="49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9" name="AutoShape 18"/>
            <p:cNvSpPr>
              <a:spLocks noChangeArrowheads="1"/>
            </p:cNvSpPr>
            <p:nvPr/>
          </p:nvSpPr>
          <p:spPr bwMode="auto">
            <a:xfrm>
              <a:off x="5323331" y="2768011"/>
              <a:ext cx="1094023" cy="398048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46800" rIns="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ea typeface="仿宋" pitchFamily="49" charset="-122"/>
                  <a:cs typeface="Times New Roman" pitchFamily="18" charset="0"/>
                </a:rPr>
                <a:t>子问题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ea typeface="仿宋" pitchFamily="49" charset="-122"/>
                  <a:cs typeface="Times New Roman" pitchFamily="18" charset="0"/>
                </a:rPr>
                <a:t>k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10" name="AutoShape 17"/>
            <p:cNvSpPr>
              <a:spLocks noChangeArrowheads="1"/>
            </p:cNvSpPr>
            <p:nvPr/>
          </p:nvSpPr>
          <p:spPr bwMode="auto">
            <a:xfrm>
              <a:off x="4448113" y="2909383"/>
              <a:ext cx="506705" cy="267705"/>
            </a:xfrm>
            <a:prstGeom prst="roundRect">
              <a:avLst>
                <a:gd name="adj" fmla="val 16667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</a:p>
          </p:txBody>
        </p:sp>
        <p:sp>
          <p:nvSpPr>
            <p:cNvPr id="11" name="AutoShape 16"/>
            <p:cNvSpPr>
              <a:spLocks noChangeShapeType="1"/>
            </p:cNvSpPr>
            <p:nvPr/>
          </p:nvSpPr>
          <p:spPr bwMode="auto">
            <a:xfrm flipH="1">
              <a:off x="3762910" y="2334871"/>
              <a:ext cx="333965" cy="43314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b="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12" name="AutoShape 15"/>
            <p:cNvSpPr>
              <a:spLocks noChangeShapeType="1"/>
            </p:cNvSpPr>
            <p:nvPr/>
          </p:nvSpPr>
          <p:spPr bwMode="auto">
            <a:xfrm flipH="1">
              <a:off x="1966410" y="2322839"/>
              <a:ext cx="1596121" cy="444169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b="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13" name="AutoShape 14"/>
            <p:cNvSpPr>
              <a:spLocks noChangeShapeType="1"/>
            </p:cNvSpPr>
            <p:nvPr/>
          </p:nvSpPr>
          <p:spPr bwMode="auto">
            <a:xfrm>
              <a:off x="4640431" y="2340886"/>
              <a:ext cx="1229912" cy="427124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b="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14" name="AutoShape 13"/>
            <p:cNvSpPr>
              <a:spLocks noChangeArrowheads="1"/>
            </p:cNvSpPr>
            <p:nvPr/>
          </p:nvSpPr>
          <p:spPr bwMode="auto">
            <a:xfrm>
              <a:off x="6922815" y="2277720"/>
              <a:ext cx="506705" cy="267705"/>
            </a:xfrm>
            <a:prstGeom prst="roundRect">
              <a:avLst>
                <a:gd name="adj" fmla="val 16667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i="0" u="none" strike="noStrike" cap="none" normalizeH="0" baseline="0">
                  <a:ln>
                    <a:noFill/>
                  </a:ln>
                  <a:solidFill>
                    <a:srgbClr val="C00000"/>
                  </a:solidFill>
                  <a:effectLst/>
                  <a:ea typeface="仿宋" pitchFamily="49" charset="-122"/>
                  <a:cs typeface="Times New Roman" pitchFamily="18" charset="0"/>
                </a:rPr>
                <a:t>分</a:t>
              </a:r>
            </a:p>
          </p:txBody>
        </p:sp>
        <p:sp>
          <p:nvSpPr>
            <p:cNvPr id="15" name="Rectangle 12"/>
            <p:cNvSpPr>
              <a:spLocks noChangeArrowheads="1"/>
            </p:cNvSpPr>
            <p:nvPr/>
          </p:nvSpPr>
          <p:spPr bwMode="auto">
            <a:xfrm>
              <a:off x="3014368" y="3540042"/>
              <a:ext cx="1497083" cy="39804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46800" rIns="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ea typeface="仿宋" pitchFamily="49" charset="-122"/>
                  <a:cs typeface="Times New Roman" pitchFamily="18" charset="0"/>
                </a:rPr>
                <a:t>子问题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ea typeface="仿宋" pitchFamily="49" charset="-122"/>
                  <a:cs typeface="Times New Roman" pitchFamily="18" charset="0"/>
                </a:rPr>
                <a:t>2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ea typeface="仿宋" pitchFamily="49" charset="-122"/>
                  <a:cs typeface="Times New Roman" pitchFamily="18" charset="0"/>
                </a:rPr>
                <a:t>的解</a:t>
              </a:r>
            </a:p>
          </p:txBody>
        </p:sp>
        <p:sp>
          <p:nvSpPr>
            <p:cNvPr id="16" name="Rectangle 11"/>
            <p:cNvSpPr>
              <a:spLocks noChangeArrowheads="1"/>
            </p:cNvSpPr>
            <p:nvPr/>
          </p:nvSpPr>
          <p:spPr bwMode="auto">
            <a:xfrm>
              <a:off x="5127559" y="3540042"/>
              <a:ext cx="1497083" cy="39804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46800" rIns="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ea typeface="仿宋" pitchFamily="49" charset="-122"/>
                  <a:cs typeface="Times New Roman" pitchFamily="18" charset="0"/>
                </a:rPr>
                <a:t>子问题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ea typeface="仿宋" pitchFamily="49" charset="-122"/>
                  <a:cs typeface="Times New Roman" pitchFamily="18" charset="0"/>
                </a:rPr>
                <a:t>k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ea typeface="仿宋" pitchFamily="49" charset="-122"/>
                  <a:cs typeface="Times New Roman" pitchFamily="18" charset="0"/>
                </a:rPr>
                <a:t>的解</a:t>
              </a:r>
            </a:p>
          </p:txBody>
        </p:sp>
        <p:sp>
          <p:nvSpPr>
            <p:cNvPr id="18" name="AutoShape 10"/>
            <p:cNvSpPr>
              <a:spLocks noChangeShapeType="1"/>
            </p:cNvSpPr>
            <p:nvPr/>
          </p:nvSpPr>
          <p:spPr bwMode="auto">
            <a:xfrm>
              <a:off x="1966410" y="3165055"/>
              <a:ext cx="5758" cy="374987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b="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19" name="AutoShape 9"/>
            <p:cNvSpPr>
              <a:spLocks noChangeShapeType="1"/>
            </p:cNvSpPr>
            <p:nvPr/>
          </p:nvSpPr>
          <p:spPr bwMode="auto">
            <a:xfrm>
              <a:off x="3762910" y="3166058"/>
              <a:ext cx="1152" cy="373984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b="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20" name="AutoShape 8"/>
            <p:cNvSpPr>
              <a:spLocks noChangeShapeType="1"/>
            </p:cNvSpPr>
            <p:nvPr/>
          </p:nvSpPr>
          <p:spPr bwMode="auto">
            <a:xfrm>
              <a:off x="5870343" y="3166058"/>
              <a:ext cx="5758" cy="373984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b="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21" name="AutoShape 7"/>
            <p:cNvSpPr>
              <a:spLocks noChangeArrowheads="1"/>
            </p:cNvSpPr>
            <p:nvPr/>
          </p:nvSpPr>
          <p:spPr bwMode="auto">
            <a:xfrm>
              <a:off x="6922815" y="3150016"/>
              <a:ext cx="506705" cy="267705"/>
            </a:xfrm>
            <a:prstGeom prst="roundRect">
              <a:avLst>
                <a:gd name="adj" fmla="val 16667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i="0" u="none" strike="noStrike" cap="none" normalizeH="0" baseline="0">
                  <a:ln>
                    <a:noFill/>
                  </a:ln>
                  <a:solidFill>
                    <a:srgbClr val="C00000"/>
                  </a:solidFill>
                  <a:effectLst/>
                  <a:ea typeface="仿宋" pitchFamily="49" charset="-122"/>
                  <a:cs typeface="Times New Roman" pitchFamily="18" charset="0"/>
                </a:rPr>
                <a:t>治</a:t>
              </a:r>
            </a:p>
          </p:txBody>
        </p:sp>
        <p:sp>
          <p:nvSpPr>
            <p:cNvPr id="22" name="Rectangle 6"/>
            <p:cNvSpPr>
              <a:spLocks noChangeArrowheads="1"/>
            </p:cNvSpPr>
            <p:nvPr/>
          </p:nvSpPr>
          <p:spPr bwMode="auto">
            <a:xfrm>
              <a:off x="3327604" y="4380253"/>
              <a:ext cx="1497083" cy="39804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46800" rIns="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ea typeface="仿宋" pitchFamily="49" charset="-122"/>
                  <a:cs typeface="Times New Roman" pitchFamily="18" charset="0"/>
                </a:rPr>
                <a:t>原问题的解</a:t>
              </a:r>
            </a:p>
          </p:txBody>
        </p:sp>
        <p:sp>
          <p:nvSpPr>
            <p:cNvPr id="23" name="AutoShape 5"/>
            <p:cNvSpPr>
              <a:spLocks noChangeArrowheads="1"/>
            </p:cNvSpPr>
            <p:nvPr/>
          </p:nvSpPr>
          <p:spPr bwMode="auto">
            <a:xfrm>
              <a:off x="6808899" y="4294026"/>
              <a:ext cx="834935" cy="267705"/>
            </a:xfrm>
            <a:prstGeom prst="roundRect">
              <a:avLst>
                <a:gd name="adj" fmla="val 16667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i="0" u="none" strike="noStrike" cap="none" normalizeH="0" baseline="0">
                  <a:ln>
                    <a:noFill/>
                  </a:ln>
                  <a:solidFill>
                    <a:srgbClr val="C00000"/>
                  </a:solidFill>
                  <a:effectLst/>
                  <a:ea typeface="仿宋" pitchFamily="49" charset="-122"/>
                  <a:cs typeface="Times New Roman" pitchFamily="18" charset="0"/>
                </a:rPr>
                <a:t>合并</a:t>
              </a:r>
            </a:p>
          </p:txBody>
        </p:sp>
        <p:sp>
          <p:nvSpPr>
            <p:cNvPr id="24" name="AutoShape 4"/>
            <p:cNvSpPr>
              <a:spLocks noChangeShapeType="1"/>
            </p:cNvSpPr>
            <p:nvPr/>
          </p:nvSpPr>
          <p:spPr bwMode="auto">
            <a:xfrm>
              <a:off x="3762910" y="3938090"/>
              <a:ext cx="313236" cy="442164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b="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25" name="AutoShape 3"/>
            <p:cNvSpPr>
              <a:spLocks noChangeShapeType="1"/>
            </p:cNvSpPr>
            <p:nvPr/>
          </p:nvSpPr>
          <p:spPr bwMode="auto">
            <a:xfrm>
              <a:off x="1972168" y="3938090"/>
              <a:ext cx="1373862" cy="451187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b="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26" name="AutoShape 2"/>
            <p:cNvSpPr>
              <a:spLocks noChangeShapeType="1"/>
            </p:cNvSpPr>
            <p:nvPr/>
          </p:nvSpPr>
          <p:spPr bwMode="auto">
            <a:xfrm flipH="1">
              <a:off x="4814323" y="3938090"/>
              <a:ext cx="1061778" cy="43314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b="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1000100" y="5000636"/>
            <a:ext cx="3643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当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时称为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减治法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158" y="1214422"/>
            <a:ext cx="8286808" cy="322720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divide-and-conquer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(P) {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分治算法框架</a:t>
            </a:r>
          </a:p>
          <a:p>
            <a:pPr algn="l" defTabSz="360000">
              <a:lnSpc>
                <a:spcPts val="3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 |P|</a:t>
            </a:r>
            <a:r>
              <a:rPr lang="en-US" altLang="zh-CN" sz="2000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000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return adhoc(P);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将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分解为较小的子问题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P</a:t>
            </a:r>
            <a:r>
              <a:rPr lang="en-US" altLang="zh-CN" sz="2000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</a:t>
            </a:r>
            <a:r>
              <a:rPr lang="en-US" altLang="zh-CN" sz="2000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 sz="2000">
                <a:solidFill>
                  <a:srgbClr val="0000FF"/>
                </a:solidFill>
                <a:latin typeface="+mn-ea"/>
              </a:rPr>
              <a:t>…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</a:t>
            </a:r>
            <a:r>
              <a:rPr lang="en-US" altLang="zh-CN" sz="2000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for(i=1;i&lt;=k;i++)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循环处理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次</a:t>
            </a:r>
          </a:p>
          <a:p>
            <a:pPr algn="l" defTabSz="360000">
              <a:lnSpc>
                <a:spcPts val="3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y</a:t>
            </a:r>
            <a:r>
              <a:rPr lang="en-US" altLang="zh-CN" sz="2000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divide-and-conquer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(P</a:t>
            </a:r>
            <a:r>
              <a:rPr lang="en-US" altLang="zh-CN" sz="2000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);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求出子问题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P</a:t>
            </a:r>
            <a:r>
              <a:rPr lang="en-US" altLang="zh-CN" sz="2000" baseline="-25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的解</a:t>
            </a:r>
          </a:p>
          <a:p>
            <a:pPr algn="l" defTabSz="360000">
              <a:lnSpc>
                <a:spcPts val="3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return merge(y</a:t>
            </a:r>
            <a:r>
              <a:rPr lang="en-US" altLang="zh-CN" sz="2000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,y</a:t>
            </a:r>
            <a:r>
              <a:rPr lang="en-US" altLang="zh-CN" sz="2000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,</a:t>
            </a:r>
            <a:r>
              <a:rPr lang="zh-CN" altLang="zh-CN" sz="2000">
                <a:solidFill>
                  <a:srgbClr val="0000FF"/>
                </a:solidFill>
                <a:latin typeface="+mj-ea"/>
                <a:ea typeface="+mj-ea"/>
              </a:rPr>
              <a:t>…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,y</a:t>
            </a:r>
            <a:r>
              <a:rPr lang="en-US" altLang="zh-CN" sz="2000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);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合并子问题的解</a:t>
            </a:r>
          </a:p>
          <a:p>
            <a:pPr algn="l" defTabSz="360000">
              <a:lnSpc>
                <a:spcPts val="3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7158" y="357166"/>
            <a:ext cx="5857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分治算法的一般框架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596" y="500042"/>
            <a:ext cx="8429684" cy="830997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4.1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对于给定的含有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&gt;2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）个整数的无序数组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，求这个序列中最大和次大的两个不同的元素。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7158" y="1571612"/>
            <a:ext cx="857256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5720" y="2214554"/>
            <a:ext cx="8643998" cy="4016484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 defTabSz="360000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max(a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low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high)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用于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求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[low..high]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中最大元素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first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和次大元素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second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，返回结果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ans={first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second}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求解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过程如下：</a:t>
            </a:r>
          </a:p>
          <a:p>
            <a:pPr marL="914400" lvl="1" indent="-457200" algn="l" defTabSz="360000">
              <a:lnSpc>
                <a:spcPts val="3200"/>
              </a:lnSpc>
              <a:spcBef>
                <a:spcPts val="600"/>
              </a:spcBef>
              <a:buBlip>
                <a:blip r:embed="rId4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若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[low.high]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只有一个元素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即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[low]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，则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first=a[low]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second=-INF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∞）。</a:t>
            </a:r>
          </a:p>
          <a:p>
            <a:pPr marL="914400" lvl="1" indent="-457200" algn="l" defTabSz="360000">
              <a:lnSpc>
                <a:spcPts val="3200"/>
              </a:lnSpc>
              <a:spcBef>
                <a:spcPts val="600"/>
              </a:spcBef>
              <a:buBlip>
                <a:blip r:embed="rId4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若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[low.high]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只有两个元素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即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[low]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[high]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，则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first=max{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[low]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[high]}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second=min{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[low]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[high]}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158" y="561243"/>
            <a:ext cx="8501122" cy="2439129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 defTabSz="360000">
              <a:lnSpc>
                <a:spcPts val="33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若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[low.high]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有两个以上元素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33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zh-CN" altLang="en-US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分解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mid=(low+high)/2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划分为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[low..mid]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[mid+1..high]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左右两个区间，对应两个子问题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33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zh-CN" altLang="en-US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求解子问题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求出左区间结果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lans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，求出右区间结果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rans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33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zh-CN" altLang="en-US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合并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：由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lans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rans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求出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{first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second}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sp>
        <p:nvSpPr>
          <p:cNvPr id="22551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7"/>
          <p:cNvSpPr>
            <a:spLocks noChangeArrowheads="1"/>
          </p:cNvSpPr>
          <p:nvPr/>
        </p:nvSpPr>
        <p:spPr bwMode="auto">
          <a:xfrm>
            <a:off x="3378170" y="1202920"/>
            <a:ext cx="2808101" cy="454461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5  2  1  4  3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1888236" y="2867561"/>
            <a:ext cx="1565202" cy="1105898"/>
            <a:chOff x="1888236" y="2867561"/>
            <a:chExt cx="1565202" cy="1105898"/>
          </a:xfrm>
        </p:grpSpPr>
        <p:sp>
          <p:nvSpPr>
            <p:cNvPr id="10" name="Rectangle 14"/>
            <p:cNvSpPr>
              <a:spLocks noChangeArrowheads="1"/>
            </p:cNvSpPr>
            <p:nvPr/>
          </p:nvSpPr>
          <p:spPr bwMode="auto">
            <a:xfrm>
              <a:off x="1888236" y="3518998"/>
              <a:ext cx="1073061" cy="45446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45720" rIns="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5  2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2" name="AutoShape 12"/>
            <p:cNvSpPr>
              <a:spLocks noChangeShapeType="1"/>
            </p:cNvSpPr>
            <p:nvPr/>
          </p:nvSpPr>
          <p:spPr bwMode="auto">
            <a:xfrm flipH="1">
              <a:off x="2424766" y="2867561"/>
              <a:ext cx="1028672" cy="651437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b="0">
                <a:solidFill>
                  <a:srgbClr val="0000FF"/>
                </a:solidFill>
                <a:latin typeface="Consolas" pitchFamily="49" charset="0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3453439" y="2867561"/>
            <a:ext cx="1443615" cy="1105898"/>
            <a:chOff x="3453439" y="2867561"/>
            <a:chExt cx="1443615" cy="1105898"/>
          </a:xfrm>
        </p:grpSpPr>
        <p:sp>
          <p:nvSpPr>
            <p:cNvPr id="11" name="Rectangle 13"/>
            <p:cNvSpPr>
              <a:spLocks noChangeArrowheads="1"/>
            </p:cNvSpPr>
            <p:nvPr/>
          </p:nvSpPr>
          <p:spPr bwMode="auto">
            <a:xfrm>
              <a:off x="4182966" y="3518998"/>
              <a:ext cx="714088" cy="45446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45720" rIns="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3" name="AutoShape 11"/>
            <p:cNvSpPr>
              <a:spLocks noChangeShapeType="1"/>
            </p:cNvSpPr>
            <p:nvPr/>
          </p:nvSpPr>
          <p:spPr bwMode="auto">
            <a:xfrm>
              <a:off x="3453439" y="2867561"/>
              <a:ext cx="1086571" cy="651437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b="0">
                <a:solidFill>
                  <a:srgbClr val="0000FF"/>
                </a:solidFill>
                <a:latin typeface="Consolas" pitchFamily="49" charset="0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2650572" y="1657381"/>
            <a:ext cx="2132614" cy="1210180"/>
            <a:chOff x="2650572" y="1657381"/>
            <a:chExt cx="2132614" cy="1210180"/>
          </a:xfrm>
        </p:grpSpPr>
        <p:sp>
          <p:nvSpPr>
            <p:cNvPr id="8" name="Rectangle 16"/>
            <p:cNvSpPr>
              <a:spLocks noChangeArrowheads="1"/>
            </p:cNvSpPr>
            <p:nvPr/>
          </p:nvSpPr>
          <p:spPr bwMode="auto">
            <a:xfrm>
              <a:off x="2650572" y="2413100"/>
              <a:ext cx="1605732" cy="45446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45720" rIns="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5  2  1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4" name="AutoShape 10"/>
            <p:cNvSpPr>
              <a:spLocks noChangeShapeType="1"/>
            </p:cNvSpPr>
            <p:nvPr/>
          </p:nvSpPr>
          <p:spPr bwMode="auto">
            <a:xfrm flipH="1">
              <a:off x="3453439" y="1657381"/>
              <a:ext cx="1329747" cy="755719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b="0">
                <a:solidFill>
                  <a:srgbClr val="0000FF"/>
                </a:solidFill>
                <a:latin typeface="Consolas" pitchFamily="49" charset="0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4783185" y="1657381"/>
            <a:ext cx="1789079" cy="1210180"/>
            <a:chOff x="4783185" y="1657381"/>
            <a:chExt cx="1789079" cy="1210180"/>
          </a:xfrm>
        </p:grpSpPr>
        <p:sp>
          <p:nvSpPr>
            <p:cNvPr id="9" name="Rectangle 15"/>
            <p:cNvSpPr>
              <a:spLocks noChangeArrowheads="1"/>
            </p:cNvSpPr>
            <p:nvPr/>
          </p:nvSpPr>
          <p:spPr bwMode="auto">
            <a:xfrm>
              <a:off x="5499203" y="2413100"/>
              <a:ext cx="1073061" cy="454461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45720" rIns="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4  3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5" name="AutoShape 9"/>
            <p:cNvSpPr>
              <a:spLocks noChangeShapeType="1"/>
            </p:cNvSpPr>
            <p:nvPr/>
          </p:nvSpPr>
          <p:spPr bwMode="auto">
            <a:xfrm>
              <a:off x="4783185" y="1657381"/>
              <a:ext cx="1252548" cy="755719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b="0">
                <a:solidFill>
                  <a:srgbClr val="0000FF"/>
                </a:solidFill>
                <a:latin typeface="Consolas" pitchFamily="49" charset="0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4922143" y="785794"/>
            <a:ext cx="1032532" cy="410688"/>
            <a:chOff x="4922143" y="785794"/>
            <a:chExt cx="1032532" cy="410688"/>
          </a:xfrm>
        </p:grpSpPr>
        <p:sp>
          <p:nvSpPr>
            <p:cNvPr id="16" name="AutoShape 8"/>
            <p:cNvSpPr>
              <a:spLocks noChangeShapeType="1"/>
            </p:cNvSpPr>
            <p:nvPr/>
          </p:nvSpPr>
          <p:spPr bwMode="auto">
            <a:xfrm flipV="1">
              <a:off x="4922143" y="832141"/>
              <a:ext cx="1930" cy="364341"/>
            </a:xfrm>
            <a:prstGeom prst="straightConnector1">
              <a:avLst/>
            </a:prstGeom>
            <a:noFill/>
            <a:ln w="19050">
              <a:solidFill>
                <a:srgbClr val="FF00FF"/>
              </a:solidFill>
              <a:prstDash val="dash"/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b="0">
                <a:solidFill>
                  <a:srgbClr val="0000FF"/>
                </a:solidFill>
                <a:latin typeface="Consolas" pitchFamily="49" charset="0"/>
              </a:endParaRPr>
            </a:p>
          </p:txBody>
        </p:sp>
        <p:sp>
          <p:nvSpPr>
            <p:cNvPr id="18" name="Rectangle 7"/>
            <p:cNvSpPr>
              <a:spLocks noChangeArrowheads="1"/>
            </p:cNvSpPr>
            <p:nvPr/>
          </p:nvSpPr>
          <p:spPr bwMode="auto">
            <a:xfrm>
              <a:off x="5122859" y="785794"/>
              <a:ext cx="831816" cy="31799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{5,4}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</p:grpSp>
      <p:sp>
        <p:nvSpPr>
          <p:cNvPr id="19" name="AutoShape 6"/>
          <p:cNvSpPr>
            <a:spLocks noChangeShapeType="1"/>
          </p:cNvSpPr>
          <p:nvPr/>
        </p:nvSpPr>
        <p:spPr bwMode="auto">
          <a:xfrm>
            <a:off x="4540010" y="832141"/>
            <a:ext cx="1930" cy="364341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 b="0">
              <a:solidFill>
                <a:srgbClr val="0000FF"/>
              </a:solidFill>
              <a:latin typeface="Consolas" pitchFamily="49" charset="0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1938415" y="2911824"/>
            <a:ext cx="1211939" cy="588614"/>
            <a:chOff x="1938415" y="2911824"/>
            <a:chExt cx="1211939" cy="588614"/>
          </a:xfrm>
        </p:grpSpPr>
        <p:sp>
          <p:nvSpPr>
            <p:cNvPr id="3" name="Rectangle 21"/>
            <p:cNvSpPr>
              <a:spLocks noChangeArrowheads="1"/>
            </p:cNvSpPr>
            <p:nvPr/>
          </p:nvSpPr>
          <p:spPr bwMode="auto">
            <a:xfrm>
              <a:off x="1938415" y="3000166"/>
              <a:ext cx="831816" cy="31799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{5,2}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" name="AutoShape 5"/>
            <p:cNvSpPr>
              <a:spLocks noChangeShapeType="1"/>
            </p:cNvSpPr>
            <p:nvPr/>
          </p:nvSpPr>
          <p:spPr bwMode="auto">
            <a:xfrm flipV="1">
              <a:off x="2214546" y="2911824"/>
              <a:ext cx="935808" cy="588614"/>
            </a:xfrm>
            <a:prstGeom prst="straightConnector1">
              <a:avLst/>
            </a:prstGeom>
            <a:noFill/>
            <a:ln w="19050">
              <a:solidFill>
                <a:srgbClr val="FF00FF"/>
              </a:solidFill>
              <a:prstDash val="dash"/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b="0">
                <a:solidFill>
                  <a:srgbClr val="0000FF"/>
                </a:solidFill>
                <a:latin typeface="Consolas" pitchFamily="49" charset="0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3637552" y="2878552"/>
            <a:ext cx="1730413" cy="651437"/>
            <a:chOff x="3637552" y="2878552"/>
            <a:chExt cx="1730413" cy="651437"/>
          </a:xfrm>
        </p:grpSpPr>
        <p:sp>
          <p:nvSpPr>
            <p:cNvPr id="4" name="Rectangle 20"/>
            <p:cNvSpPr>
              <a:spLocks noChangeArrowheads="1"/>
            </p:cNvSpPr>
            <p:nvPr/>
          </p:nvSpPr>
          <p:spPr bwMode="auto">
            <a:xfrm>
              <a:off x="4289114" y="3000166"/>
              <a:ext cx="1078851" cy="31799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{1,-∞}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1" name="AutoShape 4"/>
            <p:cNvSpPr>
              <a:spLocks noChangeShapeType="1"/>
            </p:cNvSpPr>
            <p:nvPr/>
          </p:nvSpPr>
          <p:spPr bwMode="auto">
            <a:xfrm flipH="1" flipV="1">
              <a:off x="3637552" y="2878552"/>
              <a:ext cx="1086571" cy="651437"/>
            </a:xfrm>
            <a:prstGeom prst="straightConnector1">
              <a:avLst/>
            </a:prstGeom>
            <a:noFill/>
            <a:ln w="19050">
              <a:solidFill>
                <a:srgbClr val="FF00FF"/>
              </a:solidFill>
              <a:prstDash val="dash"/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b="0">
                <a:solidFill>
                  <a:srgbClr val="0000FF"/>
                </a:solidFill>
                <a:latin typeface="Consolas" pitchFamily="49" charset="0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082885" y="1656488"/>
            <a:ext cx="1511851" cy="755719"/>
            <a:chOff x="3082885" y="1656488"/>
            <a:chExt cx="1511851" cy="755719"/>
          </a:xfrm>
        </p:grpSpPr>
        <p:sp>
          <p:nvSpPr>
            <p:cNvPr id="5" name="Rectangle 19"/>
            <p:cNvSpPr>
              <a:spLocks noChangeArrowheads="1"/>
            </p:cNvSpPr>
            <p:nvPr/>
          </p:nvSpPr>
          <p:spPr bwMode="auto">
            <a:xfrm>
              <a:off x="3082885" y="1800285"/>
              <a:ext cx="831816" cy="31799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{5,2}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2" name="AutoShape 3"/>
            <p:cNvSpPr>
              <a:spLocks noChangeShapeType="1"/>
            </p:cNvSpPr>
            <p:nvPr/>
          </p:nvSpPr>
          <p:spPr bwMode="auto">
            <a:xfrm flipV="1">
              <a:off x="3264989" y="1656488"/>
              <a:ext cx="1329747" cy="755719"/>
            </a:xfrm>
            <a:prstGeom prst="straightConnector1">
              <a:avLst/>
            </a:prstGeom>
            <a:noFill/>
            <a:ln w="19050">
              <a:solidFill>
                <a:srgbClr val="FF00FF"/>
              </a:solidFill>
              <a:prstDash val="dash"/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b="0">
                <a:solidFill>
                  <a:srgbClr val="0000FF"/>
                </a:solidFill>
                <a:latin typeface="Consolas" pitchFamily="49" charset="0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4982924" y="1667777"/>
            <a:ext cx="1425294" cy="755719"/>
            <a:chOff x="4982924" y="1667777"/>
            <a:chExt cx="1425294" cy="755719"/>
          </a:xfrm>
        </p:grpSpPr>
        <p:sp>
          <p:nvSpPr>
            <p:cNvPr id="6" name="Rectangle 18"/>
            <p:cNvSpPr>
              <a:spLocks noChangeArrowheads="1"/>
            </p:cNvSpPr>
            <p:nvPr/>
          </p:nvSpPr>
          <p:spPr bwMode="auto">
            <a:xfrm>
              <a:off x="5576402" y="1800285"/>
              <a:ext cx="831816" cy="31799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{4,3}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3" name="AutoShape 2"/>
            <p:cNvSpPr>
              <a:spLocks noChangeShapeType="1"/>
            </p:cNvSpPr>
            <p:nvPr/>
          </p:nvSpPr>
          <p:spPr bwMode="auto">
            <a:xfrm flipH="1" flipV="1">
              <a:off x="4982924" y="1667777"/>
              <a:ext cx="1252548" cy="755719"/>
            </a:xfrm>
            <a:prstGeom prst="straightConnector1">
              <a:avLst/>
            </a:prstGeom>
            <a:noFill/>
            <a:ln w="19050">
              <a:solidFill>
                <a:srgbClr val="FF00FF"/>
              </a:solidFill>
              <a:prstDash val="dash"/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b="0">
                <a:solidFill>
                  <a:srgbClr val="0000FF"/>
                </a:solidFill>
                <a:latin typeface="Consolas" pitchFamily="49" charset="0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571472" y="500043"/>
            <a:ext cx="1071570" cy="928693"/>
            <a:chOff x="6862060" y="4310903"/>
            <a:chExt cx="1128915" cy="1130667"/>
          </a:xfrm>
        </p:grpSpPr>
        <p:grpSp>
          <p:nvGrpSpPr>
            <p:cNvPr id="25" name="Group 103"/>
            <p:cNvGrpSpPr>
              <a:grpSpLocks/>
            </p:cNvGrpSpPr>
            <p:nvPr/>
          </p:nvGrpSpPr>
          <p:grpSpPr bwMode="auto">
            <a:xfrm>
              <a:off x="6862060" y="4310903"/>
              <a:ext cx="1128915" cy="1130667"/>
              <a:chOff x="2880" y="1515"/>
              <a:chExt cx="644" cy="645"/>
            </a:xfrm>
          </p:grpSpPr>
          <p:sp>
            <p:nvSpPr>
              <p:cNvPr id="27" name="Oval 104"/>
              <p:cNvSpPr>
                <a:spLocks noChangeArrowheads="1"/>
              </p:cNvSpPr>
              <p:nvPr/>
            </p:nvSpPr>
            <p:spPr bwMode="auto">
              <a:xfrm>
                <a:off x="2880" y="1516"/>
                <a:ext cx="644" cy="644"/>
              </a:xfrm>
              <a:prstGeom prst="ellipse">
                <a:avLst/>
              </a:prstGeom>
              <a:gradFill rotWithShape="1">
                <a:gsLst>
                  <a:gs pos="0">
                    <a:srgbClr val="10942F"/>
                  </a:gs>
                  <a:gs pos="100000">
                    <a:srgbClr val="16D83B"/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" name="Freeform 105"/>
              <p:cNvSpPr>
                <a:spLocks/>
              </p:cNvSpPr>
              <p:nvPr/>
            </p:nvSpPr>
            <p:spPr bwMode="auto">
              <a:xfrm>
                <a:off x="2887" y="1515"/>
                <a:ext cx="630" cy="441"/>
              </a:xfrm>
              <a:custGeom>
                <a:avLst/>
                <a:gdLst/>
                <a:ahLst/>
                <a:cxnLst>
                  <a:cxn ang="0">
                    <a:pos x="1400" y="275"/>
                  </a:cxn>
                  <a:cxn ang="0">
                    <a:pos x="1596" y="795"/>
                  </a:cxn>
                  <a:cxn ang="0">
                    <a:pos x="0" y="795"/>
                  </a:cxn>
                  <a:cxn ang="0">
                    <a:pos x="217" y="252"/>
                  </a:cxn>
                  <a:cxn ang="0">
                    <a:pos x="796" y="0"/>
                  </a:cxn>
                  <a:cxn ang="0">
                    <a:pos x="1400" y="275"/>
                  </a:cxn>
                </a:cxnLst>
                <a:rect l="0" t="0" r="r" b="b"/>
                <a:pathLst>
                  <a:path w="1596" h="1118">
                    <a:moveTo>
                      <a:pt x="1400" y="275"/>
                    </a:moveTo>
                    <a:cubicBezTo>
                      <a:pt x="1522" y="417"/>
                      <a:pt x="1596" y="597"/>
                      <a:pt x="1596" y="795"/>
                    </a:cubicBezTo>
                    <a:cubicBezTo>
                      <a:pt x="1037" y="1118"/>
                      <a:pt x="668" y="611"/>
                      <a:pt x="0" y="795"/>
                    </a:cubicBezTo>
                    <a:cubicBezTo>
                      <a:pt x="0" y="585"/>
                      <a:pt x="83" y="392"/>
                      <a:pt x="217" y="252"/>
                    </a:cubicBezTo>
                    <a:cubicBezTo>
                      <a:pt x="364" y="95"/>
                      <a:pt x="570" y="0"/>
                      <a:pt x="796" y="0"/>
                    </a:cubicBezTo>
                    <a:cubicBezTo>
                      <a:pt x="1039" y="0"/>
                      <a:pt x="1253" y="108"/>
                      <a:pt x="1400" y="275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chemeClr val="bg1">
                      <a:alpha val="53000"/>
                    </a:schemeClr>
                  </a:gs>
                  <a:gs pos="100000">
                    <a:schemeClr val="bg1">
                      <a:gamma/>
                      <a:shade val="46275"/>
                      <a:invGamma/>
                      <a:alpha val="0"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6" name="Text Box 71"/>
            <p:cNvSpPr txBox="1">
              <a:spLocks noChangeArrowheads="1"/>
            </p:cNvSpPr>
            <p:nvPr/>
          </p:nvSpPr>
          <p:spPr bwMode="auto">
            <a:xfrm>
              <a:off x="7012582" y="4667550"/>
              <a:ext cx="842077" cy="4121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示例</a:t>
              </a:r>
              <a:endParaRPr lang="en-GB" altLang="zh-CN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39" name="灯片编号占位符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158" y="500042"/>
            <a:ext cx="8286808" cy="3785048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vector&lt;int&gt;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max2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(vector&lt;int&gt;&amp;a,int low,int high) {	//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递归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first,second;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 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low==high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{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区间只有一个元素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first=a[low];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second=-INF;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else if 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low==high-1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{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区间只有两个元素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first=max(a[low],a[high]);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second=min(a[low],a[high]);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10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158" y="500042"/>
            <a:ext cx="8572560" cy="4988646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else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int mid=(low+high)/2;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vector&lt;int&gt; lans=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max2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(a,low,mid);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左区间求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lans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vector&lt;int&gt; rans=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max2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(a,mid+1,high);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右区间求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rans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if 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lans[0]&gt;rans[0]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{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en-US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合并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first=lans[0];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second=max(lans[1],rans[0]);	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else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first=rans[0];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second=max(lans[0],rans[1]);						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return {first,second};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11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158" y="500042"/>
            <a:ext cx="8286808" cy="233407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solve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(vector&lt;int&gt;&amp; a) {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求解算法</a:t>
            </a:r>
          </a:p>
          <a:p>
            <a:pPr algn="l" defTabSz="360000">
              <a:lnSpc>
                <a:spcPts val="3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n=a.size(); 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vector&lt;int&gt; ans=</a:t>
            </a:r>
            <a:r>
              <a:rPr lang="en-US" altLang="zh-CN" sz="2000">
                <a:solidFill>
                  <a:srgbClr val="C00000"/>
                </a:solidFill>
                <a:latin typeface="Consolas" pitchFamily="49" charset="0"/>
                <a:ea typeface="仿宋" pitchFamily="49" charset="-122"/>
              </a:rPr>
              <a:t>max2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(a,0,n-1);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printf("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最大整数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=%d,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次大整数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=%d\n",ans[0],ans[1]);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3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12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428604"/>
            <a:ext cx="4143404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4.1.3 </a:t>
            </a:r>
            <a:r>
              <a:rPr lang="zh-CN" altLang="en-US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分治算法分析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8596" y="1428736"/>
            <a:ext cx="8143932" cy="3484287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3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假设分治算法将问题分解为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个子问题，每个子问题的规模为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/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，合并子问题的执行时间为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300"/>
              </a:lnSpc>
              <a:spcBef>
                <a:spcPts val="1200"/>
              </a:spcBef>
              <a:buBlip>
                <a:blip r:embed="rId3"/>
              </a:buBlip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应该等于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个子问题各自执行的时间和即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/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，再加上合并子问题解的时间即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。这样有：</a:t>
            </a:r>
          </a:p>
          <a:p>
            <a:pPr marL="457200" indent="-457200" algn="l">
              <a:lnSpc>
                <a:spcPts val="3300"/>
              </a:lnSpc>
              <a:spcBef>
                <a:spcPts val="12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T(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)=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T(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/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b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)+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f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)</a:t>
            </a:r>
            <a:endParaRPr lang="zh-CN" altLang="zh-CN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3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可以采用第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章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2.6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节计算递推式的方法求解。从中看出，减少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增加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和降低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均可以提高分治算法的时间性能。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13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hlinkClick r:id="" action="ppaction://noaction"/>
          </p:cNvPr>
          <p:cNvSpPr txBox="1"/>
          <p:nvPr/>
        </p:nvSpPr>
        <p:spPr>
          <a:xfrm>
            <a:off x="2714612" y="500042"/>
            <a:ext cx="3357586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4.2 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快速排序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8596" y="1643050"/>
            <a:ext cx="3357586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4.2.1 </a:t>
            </a:r>
            <a:r>
              <a:rPr lang="zh-CN" altLang="en-US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快速排序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14348" y="2643182"/>
            <a:ext cx="8072494" cy="990015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</a:pPr>
            <a:r>
              <a:rPr lang="en-US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sym typeface="Wingdings"/>
              </a:rPr>
              <a:t></a:t>
            </a: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问题描述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：给定一个含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个整数的数组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，采用快速排序方法实现该数组中所有元素的递增排序。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14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"/>
          <p:cNvGrpSpPr/>
          <p:nvPr/>
        </p:nvGrpSpPr>
        <p:grpSpPr>
          <a:xfrm>
            <a:off x="2000232" y="214290"/>
            <a:ext cx="5572164" cy="2857520"/>
            <a:chOff x="2143108" y="2643182"/>
            <a:chExt cx="3929090" cy="2857520"/>
          </a:xfrm>
        </p:grpSpPr>
        <p:sp>
          <p:nvSpPr>
            <p:cNvPr id="6" name="Text Box 19"/>
            <p:cNvSpPr txBox="1">
              <a:spLocks noChangeArrowheads="1"/>
            </p:cNvSpPr>
            <p:nvPr/>
          </p:nvSpPr>
          <p:spPr bwMode="auto">
            <a:xfrm>
              <a:off x="2214546" y="2969532"/>
              <a:ext cx="3802345" cy="34459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3600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lvl="0">
                <a:lnSpc>
                  <a:spcPct val="100000"/>
                </a:lnSpc>
                <a:spcBef>
                  <a:spcPct val="0"/>
                </a:spcBef>
              </a:pPr>
              <a:r>
                <a:rPr kumimoji="0" lang="en-US" altLang="zh-CN" sz="2000" b="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pt-BR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[</a:t>
              </a:r>
              <a:r>
                <a:rPr kumimoji="0" lang="pt-BR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s</a:t>
              </a:r>
              <a:r>
                <a:rPr kumimoji="0" lang="pt-BR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]  </a:t>
              </a:r>
              <a:r>
                <a:rPr kumimoji="0" lang="pt-BR" altLang="zh-CN" sz="2000" b="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pt-BR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[</a:t>
              </a:r>
              <a:r>
                <a:rPr kumimoji="0" lang="pt-BR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s</a:t>
              </a:r>
              <a:r>
                <a:rPr kumimoji="0" lang="pt-BR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+1]           </a:t>
              </a:r>
              <a:r>
                <a:rPr kumimoji="0" lang="en-US" altLang="zh-CN" sz="2000" b="0">
                  <a:solidFill>
                    <a:srgbClr val="0000FF"/>
                  </a:solidFill>
                  <a:latin typeface="+mj-ea"/>
                  <a:ea typeface="+mj-ea"/>
                  <a:cs typeface="Consolas" pitchFamily="49" charset="0"/>
                  <a:sym typeface="Symbol" pitchFamily="18" charset="2"/>
                </a:rPr>
                <a:t>…</a:t>
              </a:r>
              <a:r>
                <a:rPr kumimoji="0" lang="pt-BR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  <a:sym typeface="Symbol" pitchFamily="18" charset="2"/>
                </a:rPr>
                <a:t>    </a:t>
              </a:r>
              <a:r>
                <a:rPr kumimoji="0" lang="pt-BR" altLang="zh-CN" sz="2000" b="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  <a:sym typeface="Symbol" pitchFamily="18" charset="2"/>
                </a:rPr>
                <a:t>a</a:t>
              </a:r>
              <a:r>
                <a:rPr kumimoji="0" lang="pt-BR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  <a:sym typeface="Symbol" pitchFamily="18" charset="2"/>
                </a:rPr>
                <a:t>[</a:t>
              </a:r>
              <a:r>
                <a:rPr kumimoji="0" lang="pt-BR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  <a:sym typeface="Symbol" pitchFamily="18" charset="2"/>
                </a:rPr>
                <a:t>t</a:t>
              </a:r>
              <a:r>
                <a:rPr kumimoji="0" lang="pt-BR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  <a:sym typeface="Symbol" pitchFamily="18" charset="2"/>
                </a:rPr>
                <a:t>]</a:t>
              </a:r>
            </a:p>
          </p:txBody>
        </p:sp>
        <p:sp>
          <p:nvSpPr>
            <p:cNvPr id="7" name="Text Box 18"/>
            <p:cNvSpPr txBox="1">
              <a:spLocks noChangeArrowheads="1"/>
            </p:cNvSpPr>
            <p:nvPr/>
          </p:nvSpPr>
          <p:spPr bwMode="auto">
            <a:xfrm>
              <a:off x="3860834" y="2643182"/>
              <a:ext cx="762693" cy="25844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无序区</a:t>
              </a:r>
            </a:p>
          </p:txBody>
        </p:sp>
        <p:sp>
          <p:nvSpPr>
            <p:cNvPr id="8" name="AutoShape 17"/>
            <p:cNvSpPr>
              <a:spLocks noChangeArrowheads="1"/>
            </p:cNvSpPr>
            <p:nvPr/>
          </p:nvSpPr>
          <p:spPr bwMode="auto">
            <a:xfrm>
              <a:off x="4077634" y="3430679"/>
              <a:ext cx="201235" cy="540000"/>
            </a:xfrm>
            <a:prstGeom prst="downArrow">
              <a:avLst>
                <a:gd name="adj1" fmla="val 50000"/>
                <a:gd name="adj2" fmla="val 43094"/>
              </a:avLst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eaVert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9" name="Text Box 16"/>
            <p:cNvSpPr txBox="1">
              <a:spLocks noChangeArrowheads="1"/>
            </p:cNvSpPr>
            <p:nvPr/>
          </p:nvSpPr>
          <p:spPr bwMode="auto">
            <a:xfrm>
              <a:off x="4315559" y="3571876"/>
              <a:ext cx="962816" cy="25844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i="0" u="none" strike="noStrike" cap="none" normalizeH="0" baseline="0">
                  <a:ln>
                    <a:noFill/>
                  </a:ln>
                  <a:solidFill>
                    <a:srgbClr val="FF330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一</a:t>
              </a:r>
              <a:r>
                <a:rPr kumimoji="0" lang="zh-CN" altLang="en-US" sz="2000" i="0" u="none" strike="noStrike" cap="none" normalizeH="0" baseline="0">
                  <a:ln>
                    <a:noFill/>
                  </a:ln>
                  <a:solidFill>
                    <a:srgbClr val="FF330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次</a:t>
              </a:r>
              <a:r>
                <a:rPr kumimoji="0" lang="zh-CN" sz="2000" i="0" u="none" strike="noStrike" cap="none" normalizeH="0" baseline="0">
                  <a:ln>
                    <a:noFill/>
                  </a:ln>
                  <a:solidFill>
                    <a:srgbClr val="FF330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划分</a:t>
              </a:r>
            </a:p>
          </p:txBody>
        </p:sp>
        <p:sp>
          <p:nvSpPr>
            <p:cNvPr id="10" name="Text Box 15"/>
            <p:cNvSpPr txBox="1">
              <a:spLocks noChangeArrowheads="1"/>
            </p:cNvSpPr>
            <p:nvPr/>
          </p:nvSpPr>
          <p:spPr bwMode="auto">
            <a:xfrm>
              <a:off x="2214546" y="4564218"/>
              <a:ext cx="1678813" cy="34459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3600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lvl="0">
                <a:lnSpc>
                  <a:spcPct val="100000"/>
                </a:lnSpc>
                <a:spcBef>
                  <a:spcPct val="0"/>
                </a:spcBef>
              </a:pPr>
              <a:r>
                <a:rPr kumimoji="0" lang="en-US" altLang="zh-CN" sz="2000" b="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[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s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] </a:t>
              </a:r>
              <a:r>
                <a:rPr kumimoji="0" lang="en-US" altLang="zh-CN" sz="2000" b="0">
                  <a:solidFill>
                    <a:srgbClr val="0000FF"/>
                  </a:solidFill>
                  <a:latin typeface="Consolas" pitchFamily="49" charset="0"/>
                  <a:ea typeface="+mj-ea"/>
                  <a:cs typeface="Consolas" pitchFamily="49" charset="0"/>
                  <a:sym typeface="Symbol" pitchFamily="18" charset="2"/>
                </a:rPr>
                <a:t> </a:t>
              </a:r>
              <a:r>
                <a:rPr kumimoji="0" lang="en-US" altLang="zh-CN" sz="2000" b="0">
                  <a:solidFill>
                    <a:srgbClr val="0000FF"/>
                  </a:solidFill>
                  <a:latin typeface="+mn-ea"/>
                  <a:cs typeface="Consolas" pitchFamily="49" charset="0"/>
                  <a:sym typeface="Symbol" pitchFamily="18" charset="2"/>
                </a:rPr>
                <a:t>…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 </a:t>
              </a:r>
              <a:r>
                <a:rPr kumimoji="0" lang="en-US" altLang="zh-CN" sz="2000" b="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  <a:sym typeface="Symbol" pitchFamily="18" charset="2"/>
                </a:rPr>
                <a:t>a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  <a:sym typeface="Symbol" pitchFamily="18" charset="2"/>
                </a:rPr>
                <a:t>[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  <a:sym typeface="Symbol" pitchFamily="18" charset="2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  <a:sym typeface="Symbol" pitchFamily="18" charset="2"/>
                </a:rPr>
                <a:t>-1] </a:t>
              </a:r>
            </a:p>
          </p:txBody>
        </p:sp>
        <p:sp>
          <p:nvSpPr>
            <p:cNvPr id="11" name="Text Box 14"/>
            <p:cNvSpPr txBox="1">
              <a:spLocks noChangeArrowheads="1"/>
            </p:cNvSpPr>
            <p:nvPr/>
          </p:nvSpPr>
          <p:spPr bwMode="auto">
            <a:xfrm>
              <a:off x="4415621" y="4573340"/>
              <a:ext cx="1646571" cy="34459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3600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lvl="0">
                <a:lnSpc>
                  <a:spcPct val="100000"/>
                </a:lnSpc>
                <a:spcBef>
                  <a:spcPct val="0"/>
                </a:spcBef>
              </a:pPr>
              <a:r>
                <a:rPr kumimoji="0" lang="en-US" altLang="zh-CN" sz="2000" b="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[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+1] </a:t>
              </a:r>
              <a:r>
                <a:rPr kumimoji="0" lang="en-US" altLang="zh-CN" sz="2000" b="0">
                  <a:solidFill>
                    <a:srgbClr val="0000FF"/>
                  </a:solidFill>
                  <a:latin typeface="+mj-ea"/>
                  <a:ea typeface="+mj-ea"/>
                  <a:cs typeface="Consolas" pitchFamily="49" charset="0"/>
                  <a:sym typeface="Symbol" pitchFamily="18" charset="2"/>
                </a:rPr>
                <a:t>…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 </a:t>
              </a:r>
              <a:r>
                <a:rPr kumimoji="0" lang="en-US" altLang="zh-CN" sz="2000" b="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  <a:sym typeface="Symbol" pitchFamily="18" charset="2"/>
                </a:rPr>
                <a:t>a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  <a:sym typeface="Symbol" pitchFamily="18" charset="2"/>
                </a:rPr>
                <a:t>[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  <a:sym typeface="Symbol" pitchFamily="18" charset="2"/>
                </a:rPr>
                <a:t>t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  <a:sym typeface="Symbol" pitchFamily="18" charset="2"/>
                </a:rPr>
                <a:t>]</a:t>
              </a:r>
            </a:p>
          </p:txBody>
        </p:sp>
        <p:sp>
          <p:nvSpPr>
            <p:cNvPr id="12" name="Text Box 13"/>
            <p:cNvSpPr txBox="1">
              <a:spLocks noChangeArrowheads="1"/>
            </p:cNvSpPr>
            <p:nvPr/>
          </p:nvSpPr>
          <p:spPr bwMode="auto">
            <a:xfrm>
              <a:off x="2681218" y="4251044"/>
              <a:ext cx="962088" cy="25844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无序区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</a:p>
          </p:txBody>
        </p:sp>
        <p:sp>
          <p:nvSpPr>
            <p:cNvPr id="13" name="Text Box 12"/>
            <p:cNvSpPr txBox="1">
              <a:spLocks noChangeArrowheads="1"/>
            </p:cNvSpPr>
            <p:nvPr/>
          </p:nvSpPr>
          <p:spPr bwMode="auto">
            <a:xfrm>
              <a:off x="4882575" y="4260165"/>
              <a:ext cx="975309" cy="25844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无序区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</a:p>
          </p:txBody>
        </p:sp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3994250" y="4567259"/>
              <a:ext cx="378011" cy="25844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1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a</a:t>
              </a:r>
              <a:r>
                <a:rPr kumimoji="0" lang="en-US" altLang="zh-CN" sz="2000" b="1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[</a:t>
              </a:r>
              <a:r>
                <a:rPr kumimoji="0" lang="en-US" altLang="zh-CN" sz="2000" b="1" i="1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i</a:t>
              </a:r>
              <a:r>
                <a:rPr kumimoji="0" lang="en-US" altLang="zh-CN" sz="2000" b="1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]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5" name="Text Box 10"/>
            <p:cNvSpPr txBox="1">
              <a:spLocks noChangeArrowheads="1"/>
            </p:cNvSpPr>
            <p:nvPr/>
          </p:nvSpPr>
          <p:spPr bwMode="auto">
            <a:xfrm>
              <a:off x="3916424" y="4248003"/>
              <a:ext cx="573687" cy="25844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归位</a:t>
              </a:r>
            </a:p>
          </p:txBody>
        </p:sp>
        <p:sp>
          <p:nvSpPr>
            <p:cNvPr id="16" name="Text Box 9"/>
            <p:cNvSpPr txBox="1">
              <a:spLocks noChangeArrowheads="1"/>
            </p:cNvSpPr>
            <p:nvPr/>
          </p:nvSpPr>
          <p:spPr bwMode="auto">
            <a:xfrm>
              <a:off x="4454534" y="5248338"/>
              <a:ext cx="1617664" cy="25236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不小于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base</a:t>
              </a:r>
            </a:p>
          </p:txBody>
        </p:sp>
        <p:sp>
          <p:nvSpPr>
            <p:cNvPr id="18" name="Text Box 8"/>
            <p:cNvSpPr txBox="1">
              <a:spLocks noChangeArrowheads="1"/>
            </p:cNvSpPr>
            <p:nvPr/>
          </p:nvSpPr>
          <p:spPr bwMode="auto">
            <a:xfrm>
              <a:off x="3957560" y="5242257"/>
              <a:ext cx="448054" cy="25844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base</a:t>
              </a:r>
            </a:p>
          </p:txBody>
        </p:sp>
        <p:sp>
          <p:nvSpPr>
            <p:cNvPr id="19" name="Line 7"/>
            <p:cNvSpPr>
              <a:spLocks noChangeShapeType="1"/>
            </p:cNvSpPr>
            <p:nvPr/>
          </p:nvSpPr>
          <p:spPr bwMode="auto">
            <a:xfrm>
              <a:off x="4167690" y="4859150"/>
              <a:ext cx="1112" cy="40236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arrow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0" name="AutoShape 6"/>
            <p:cNvSpPr>
              <a:spLocks/>
            </p:cNvSpPr>
            <p:nvPr/>
          </p:nvSpPr>
          <p:spPr bwMode="auto">
            <a:xfrm rot="5400000">
              <a:off x="5146428" y="4311137"/>
              <a:ext cx="144932" cy="1575416"/>
            </a:xfrm>
            <a:prstGeom prst="rightBrace">
              <a:avLst>
                <a:gd name="adj1" fmla="val 82576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1" name="Text Box 5"/>
            <p:cNvSpPr txBox="1">
              <a:spLocks noChangeArrowheads="1"/>
            </p:cNvSpPr>
            <p:nvPr/>
          </p:nvSpPr>
          <p:spPr bwMode="auto">
            <a:xfrm>
              <a:off x="2143108" y="5248338"/>
              <a:ext cx="1643236" cy="25236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不大于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base</a:t>
              </a:r>
            </a:p>
          </p:txBody>
        </p:sp>
        <p:sp>
          <p:nvSpPr>
            <p:cNvPr id="22" name="AutoShape 4"/>
            <p:cNvSpPr>
              <a:spLocks/>
            </p:cNvSpPr>
            <p:nvPr/>
          </p:nvSpPr>
          <p:spPr bwMode="auto">
            <a:xfrm rot="5400000">
              <a:off x="2985095" y="4311137"/>
              <a:ext cx="144932" cy="1575416"/>
            </a:xfrm>
            <a:prstGeom prst="rightBrace">
              <a:avLst>
                <a:gd name="adj1" fmla="val 82576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3" name="Text Box 3"/>
            <p:cNvSpPr txBox="1">
              <a:spLocks noChangeArrowheads="1"/>
            </p:cNvSpPr>
            <p:nvPr/>
          </p:nvSpPr>
          <p:spPr bwMode="auto">
            <a:xfrm>
              <a:off x="2447534" y="3527563"/>
              <a:ext cx="448054" cy="25844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Consolas" pitchFamily="49" charset="0"/>
                </a:rPr>
                <a:t>base</a:t>
              </a:r>
            </a:p>
          </p:txBody>
        </p:sp>
        <p:sp>
          <p:nvSpPr>
            <p:cNvPr id="24" name="Line 2"/>
            <p:cNvSpPr>
              <a:spLocks noChangeShapeType="1"/>
            </p:cNvSpPr>
            <p:nvPr/>
          </p:nvSpPr>
          <p:spPr bwMode="auto">
            <a:xfrm>
              <a:off x="2585397" y="3295469"/>
              <a:ext cx="1112" cy="28682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arrow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357158" y="285728"/>
            <a:ext cx="1285884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1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57158" y="3500438"/>
            <a:ext cx="8501122" cy="2831544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 defTabSz="360000">
              <a:lnSpc>
                <a:spcPct val="1000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分解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：将原序列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..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分解成两个子序列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..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+1..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，其中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为划分的基准位置，即将整个问题分解为两个子问题。</a:t>
            </a:r>
          </a:p>
          <a:p>
            <a:pPr marL="457200" indent="-457200" algn="l" defTabSz="360000">
              <a:lnSpc>
                <a:spcPct val="1000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求解子问题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：若子序列的长度为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或为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，则它是有序的，直接返回；否则递归地求解各个子问题。</a:t>
            </a:r>
          </a:p>
          <a:p>
            <a:pPr marL="457200" indent="-457200" algn="l" defTabSz="360000">
              <a:lnSpc>
                <a:spcPct val="1000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合并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：由于整个序列存放在数组中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中，排序过程是就地进行的，合并步骤不需要执行任何操作。 </a:t>
            </a:r>
          </a:p>
        </p:txBody>
      </p:sp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15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214282" y="500042"/>
            <a:ext cx="8643998" cy="366343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36000" bIns="36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disp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(vector&lt;int&gt;&amp;a,int s,int t) {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输出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a[s..t]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元素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for(int i=0;i&lt;s;i++)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输出空格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printf("   "); 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printf("[");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 (int i=s;i&lt;=t;i++)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输出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a[s..t]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printf("%3d",a[i]);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printf("]");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for(int i=t+1;i&lt;a.size();i++)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输出空格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printf("   ");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16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214282" y="142852"/>
            <a:ext cx="8643998" cy="674119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36000" bIns="36000" rtlCol="0">
            <a:spAutoFit/>
          </a:bodyPr>
          <a:lstStyle/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partition1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(vector&lt;int&gt;&amp;a,int s,int t) {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划分算法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1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i=s,j=t;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base=a[s];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序列中首元素作为基准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printf("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第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%d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次划分 基准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=%d,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划分结果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:",++cnt,a[i]);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while (i&lt;j)	{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从两端交替向中间遍历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,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直至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i=j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while (i&lt;j &amp;&amp; a[j]&gt;=base) 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j--;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从右向左找小于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base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a[j]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if(i&lt;j)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a[i]=a[j]; i++;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将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a[j]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前移到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a[i]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的位置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while (i&lt;j &amp;&amp; a[i]&lt;=base) 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i++;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从左向右找大于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base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a[i]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if(i&lt;j)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a[j]=a[i];j--;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将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a[i]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后移到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a[j]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的位置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a[i]=base;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en-US" altLang="zh-CN" sz="2000">
                <a:solidFill>
                  <a:srgbClr val="C00000"/>
                </a:solidFill>
                <a:latin typeface="Consolas" pitchFamily="49" charset="0"/>
                <a:ea typeface="仿宋" pitchFamily="49" charset="-122"/>
              </a:rPr>
              <a:t>disp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(a,s,t); printf(" i=%d\n",i);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用于输出调试结果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return i;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17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214282" y="500042"/>
            <a:ext cx="8643998" cy="3120269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36000" bIns="36000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quicksort11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(vector&lt;int&gt;&amp;a,int s,int t) {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en-US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对</a:t>
            </a:r>
            <a:r>
              <a:rPr lang="en-US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a[s..t]</a:t>
            </a:r>
            <a:r>
              <a:rPr lang="zh-CN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快速排序（递增排序）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 (s&lt;t) {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//a[s..t]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中至少存在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个元素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int i=</a:t>
            </a:r>
            <a:r>
              <a:rPr lang="en-US" altLang="zh-CN" sz="2000">
                <a:solidFill>
                  <a:srgbClr val="C00000"/>
                </a:solidFill>
                <a:latin typeface="Consolas" pitchFamily="49" charset="0"/>
                <a:ea typeface="仿宋" pitchFamily="49" charset="-122"/>
              </a:rPr>
              <a:t>partition1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(a,s,t);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划分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quicksort11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(a,s,i-1);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对子序列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递归排序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quicksort11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(a,i+1,t);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对子序列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递归排序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18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214282" y="500042"/>
            <a:ext cx="8643998" cy="3817318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36000" bIns="36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quicksort1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(vector&lt;int&gt;&amp;a) {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对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快速排序（递增排序）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n=a.size();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printf("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序号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            ");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for(int i=0;i&lt;n;i++)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printf("%3d",i);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printf("\n");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printf("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排序前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:            "); </a:t>
            </a:r>
            <a:r>
              <a:rPr lang="en-US" altLang="zh-CN" sz="2000">
                <a:solidFill>
                  <a:srgbClr val="C00000"/>
                </a:solidFill>
                <a:latin typeface="Consolas" pitchFamily="49" charset="0"/>
                <a:ea typeface="仿宋" pitchFamily="49" charset="-122"/>
              </a:rPr>
              <a:t>disp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(a,0,n-1);printf("\n");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en-US" altLang="zh-CN" sz="2000">
                <a:solidFill>
                  <a:srgbClr val="C00000"/>
                </a:solidFill>
                <a:latin typeface="Consolas" pitchFamily="49" charset="0"/>
                <a:ea typeface="仿宋" pitchFamily="49" charset="-122"/>
              </a:rPr>
              <a:t>quicksort11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(a,0,n-1);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printf("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排序后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:            "); </a:t>
            </a:r>
            <a:r>
              <a:rPr lang="en-US" altLang="zh-CN" sz="2000">
                <a:solidFill>
                  <a:srgbClr val="C00000"/>
                </a:solidFill>
                <a:latin typeface="Consolas" pitchFamily="49" charset="0"/>
                <a:ea typeface="仿宋" pitchFamily="49" charset="-122"/>
              </a:rPr>
              <a:t>disp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(a,0,n-1);printf("\n"); 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19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5"/>
          <p:cNvSpPr txBox="1"/>
          <p:nvPr/>
        </p:nvSpPr>
        <p:spPr>
          <a:xfrm>
            <a:off x="428596" y="285728"/>
            <a:ext cx="714380" cy="646331"/>
          </a:xfrm>
          <a:prstGeom prst="rect">
            <a:avLst/>
          </a:prstGeom>
          <a:blipFill>
            <a:blip r:embed="rId3" cstate="print"/>
            <a:tile tx="0" ty="0" sx="100000" sy="100000" flip="none" algn="tl"/>
          </a:blip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800" b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程序验证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5918" y="285728"/>
            <a:ext cx="6215138" cy="1611586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36000" bIns="36000" rtlCol="0">
            <a:spAutoFit/>
          </a:bodyPr>
          <a:lstStyle/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main() {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vector&lt;int&gt; a={2,5,1,7,10,6,9,4,3,8};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quicksort1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(a);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return 0;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pic>
        <p:nvPicPr>
          <p:cNvPr id="3891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00100" y="2428868"/>
            <a:ext cx="7072362" cy="3647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20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357158" y="681188"/>
            <a:ext cx="1285884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2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00034" y="1538444"/>
            <a:ext cx="8143932" cy="3516347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 defTabSz="360000">
              <a:lnSpc>
                <a:spcPts val="3300"/>
              </a:lnSpc>
              <a:spcBef>
                <a:spcPts val="18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上述快速排序的划分算法中选择的基准是排序区间的首元素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3300"/>
              </a:lnSpc>
              <a:spcBef>
                <a:spcPts val="18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当排序区间元素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正序或者反序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时，划分的两个子区间的长度分别是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，对应递归树的高度为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，此时快速排序退化为冒泡排序，呈现最差性能。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3300"/>
              </a:lnSpc>
              <a:spcBef>
                <a:spcPts val="1800"/>
              </a:spcBef>
              <a:buBlip>
                <a:blip r:embed="rId3"/>
              </a:buBlip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改进的方法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之一是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每次划分选择排序区间的中间位置元素为基准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21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42876" y="285728"/>
            <a:ext cx="8858280" cy="5938348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36000" bIns="36000" rtlCol="0">
            <a:spAutoFit/>
          </a:bodyPr>
          <a:lstStyle/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vector&lt;int&gt;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partition2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(vector&lt;int&gt;&amp;a,int s,int t) {	</a:t>
            </a:r>
            <a:r>
              <a:rPr lang="en-US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划分</a:t>
            </a:r>
            <a:r>
              <a:rPr lang="en-US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2</a:t>
            </a:r>
            <a:endParaRPr lang="zh-CN" altLang="zh-CN" sz="2000">
              <a:solidFill>
                <a:srgbClr val="00B05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i=s, j=t;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int base=a[(i+j)/2];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选择中间位置元素为基准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printf("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第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%d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次划分 基准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=%2d,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划分结果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:",++cnt,base);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while (i&lt;=j)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while (i&lt;=j &amp;&amp; 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a[i]&lt;base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从左向右跳过小于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base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的元素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	i++;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//i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指向大于等于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base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的元素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while (i&lt;=j &amp;&amp; 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a[j]&gt;base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从右向左跳过大于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base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的元素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j--;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//j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指向小于等于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base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的元素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	if 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i&lt;=j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swap(a[i],a[j]);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//a[i]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a[j]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交换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	i++; j--;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en-US" altLang="zh-CN" sz="2000">
                <a:solidFill>
                  <a:srgbClr val="C00000"/>
                </a:solidFill>
                <a:latin typeface="Consolas" pitchFamily="49" charset="0"/>
                <a:ea typeface="仿宋" pitchFamily="49" charset="-122"/>
              </a:rPr>
              <a:t>disp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(a,s,t);	printf("  j=%d,i=%d\n",j,i);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用于调试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return {j,i};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22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214414" y="714356"/>
            <a:ext cx="7143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</a:rPr>
              <a:t>2		5		1		7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</a:rPr>
              <a:t>10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</a:rPr>
              <a:t>		6		9		4		3		8</a:t>
            </a:r>
            <a:endParaRPr lang="zh-CN" altLang="en-US" sz="20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grpSp>
        <p:nvGrpSpPr>
          <p:cNvPr id="2" name="组合 14"/>
          <p:cNvGrpSpPr/>
          <p:nvPr/>
        </p:nvGrpSpPr>
        <p:grpSpPr>
          <a:xfrm>
            <a:off x="1225703" y="1124904"/>
            <a:ext cx="428628" cy="970820"/>
            <a:chOff x="1225703" y="1124904"/>
            <a:chExt cx="428628" cy="970820"/>
          </a:xfrm>
        </p:grpSpPr>
        <p:cxnSp>
          <p:nvCxnSpPr>
            <p:cNvPr id="10" name="直接箭头连接符 9"/>
            <p:cNvCxnSpPr/>
            <p:nvPr/>
          </p:nvCxnSpPr>
          <p:spPr>
            <a:xfrm rot="5400000" flipH="1" flipV="1">
              <a:off x="1141124" y="1374143"/>
              <a:ext cx="500066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1225703" y="1695614"/>
              <a:ext cx="4286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 i="1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i</a:t>
              </a:r>
              <a:endParaRPr lang="zh-CN" altLang="en-US" sz="20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</p:grpSp>
      <p:grpSp>
        <p:nvGrpSpPr>
          <p:cNvPr id="3" name="组合 15"/>
          <p:cNvGrpSpPr/>
          <p:nvPr/>
        </p:nvGrpSpPr>
        <p:grpSpPr>
          <a:xfrm>
            <a:off x="7688990" y="1142984"/>
            <a:ext cx="428628" cy="970820"/>
            <a:chOff x="6989603" y="1142984"/>
            <a:chExt cx="428628" cy="970820"/>
          </a:xfrm>
        </p:grpSpPr>
        <p:cxnSp>
          <p:nvCxnSpPr>
            <p:cNvPr id="12" name="直接箭头连接符 11"/>
            <p:cNvCxnSpPr/>
            <p:nvPr/>
          </p:nvCxnSpPr>
          <p:spPr>
            <a:xfrm rot="5400000" flipH="1" flipV="1">
              <a:off x="6905024" y="1392223"/>
              <a:ext cx="500066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6989603" y="1713694"/>
              <a:ext cx="4286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 i="1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j</a:t>
              </a:r>
              <a:endParaRPr lang="zh-CN" altLang="en-US" sz="20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786182" y="242808"/>
            <a:ext cx="45005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base=10</a:t>
            </a:r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（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n=10,mid=(0+9)/2=4</a:t>
            </a:r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）</a:t>
            </a:r>
          </a:p>
        </p:txBody>
      </p:sp>
      <p:sp>
        <p:nvSpPr>
          <p:cNvPr id="17" name="下箭头 16"/>
          <p:cNvSpPr/>
          <p:nvPr/>
        </p:nvSpPr>
        <p:spPr>
          <a:xfrm>
            <a:off x="4357686" y="1928802"/>
            <a:ext cx="285752" cy="571504"/>
          </a:xfrm>
          <a:prstGeom prst="downArrow">
            <a:avLst/>
          </a:prstGeom>
          <a:ln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4643438" y="1940091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交换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4414" y="2600262"/>
            <a:ext cx="7143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</a:rPr>
              <a:t>2		5		1		7		8		6		9		4		3		10</a:t>
            </a:r>
            <a:endParaRPr lang="zh-CN" altLang="en-US" sz="20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grpSp>
        <p:nvGrpSpPr>
          <p:cNvPr id="4" name="组合 20"/>
          <p:cNvGrpSpPr/>
          <p:nvPr/>
        </p:nvGrpSpPr>
        <p:grpSpPr>
          <a:xfrm>
            <a:off x="4823885" y="3026654"/>
            <a:ext cx="428628" cy="970820"/>
            <a:chOff x="1225703" y="1124904"/>
            <a:chExt cx="428628" cy="970820"/>
          </a:xfrm>
        </p:grpSpPr>
        <p:cxnSp>
          <p:nvCxnSpPr>
            <p:cNvPr id="22" name="直接箭头连接符 21"/>
            <p:cNvCxnSpPr/>
            <p:nvPr/>
          </p:nvCxnSpPr>
          <p:spPr>
            <a:xfrm rot="5400000" flipH="1" flipV="1">
              <a:off x="1141124" y="1374143"/>
              <a:ext cx="500066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1225703" y="1695614"/>
              <a:ext cx="4286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 i="1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i</a:t>
              </a:r>
              <a:endParaRPr lang="zh-CN" altLang="en-US" sz="20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</p:grpSp>
      <p:grpSp>
        <p:nvGrpSpPr>
          <p:cNvPr id="5" name="组合 23"/>
          <p:cNvGrpSpPr/>
          <p:nvPr/>
        </p:nvGrpSpPr>
        <p:grpSpPr>
          <a:xfrm>
            <a:off x="7000892" y="3029684"/>
            <a:ext cx="428628" cy="970820"/>
            <a:chOff x="1225703" y="1124904"/>
            <a:chExt cx="428628" cy="970820"/>
          </a:xfrm>
        </p:grpSpPr>
        <p:cxnSp>
          <p:nvCxnSpPr>
            <p:cNvPr id="25" name="直接箭头连接符 24"/>
            <p:cNvCxnSpPr/>
            <p:nvPr/>
          </p:nvCxnSpPr>
          <p:spPr>
            <a:xfrm rot="5400000" flipH="1" flipV="1">
              <a:off x="1141124" y="1374143"/>
              <a:ext cx="500066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1225703" y="1695614"/>
              <a:ext cx="4286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 i="1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j</a:t>
              </a:r>
              <a:endParaRPr lang="zh-CN" altLang="en-US" sz="20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</p:grpSp>
      <p:grpSp>
        <p:nvGrpSpPr>
          <p:cNvPr id="6" name="组合 30"/>
          <p:cNvGrpSpPr/>
          <p:nvPr/>
        </p:nvGrpSpPr>
        <p:grpSpPr>
          <a:xfrm>
            <a:off x="3929058" y="3929066"/>
            <a:ext cx="1285884" cy="971614"/>
            <a:chOff x="3929058" y="4071942"/>
            <a:chExt cx="1285884" cy="971614"/>
          </a:xfrm>
        </p:grpSpPr>
        <p:sp>
          <p:nvSpPr>
            <p:cNvPr id="27" name="下箭头 26"/>
            <p:cNvSpPr/>
            <p:nvPr/>
          </p:nvSpPr>
          <p:spPr>
            <a:xfrm>
              <a:off x="4357686" y="4071942"/>
              <a:ext cx="285752" cy="571504"/>
            </a:xfrm>
            <a:prstGeom prst="downArrow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929058" y="4643446"/>
              <a:ext cx="12858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 i="1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i</a:t>
              </a: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=9,</a:t>
              </a:r>
              <a:r>
                <a:rPr lang="en-US" altLang="zh-CN" sz="2000" i="1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j</a:t>
              </a: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=8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</p:grp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23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701 4.91212E-6 L 0.31631 4.91212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795 0.00648 C 0.0342 0.00648 0.01649 0.00625 0.06632 0.00486 C 0.11615 0.00347 0.21979 0.00093 0.32691 -0.00185 " pathEditMode="relative" rAng="0" ptsTypes="aaa">
                                      <p:cBhvr>
                                        <p:cTn id="2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" y="-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  <p:bldP spid="2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1"/>
          <p:cNvGrpSpPr/>
          <p:nvPr/>
        </p:nvGrpSpPr>
        <p:grpSpPr>
          <a:xfrm>
            <a:off x="1357290" y="2571744"/>
            <a:ext cx="6000792" cy="1868677"/>
            <a:chOff x="1000100" y="4203529"/>
            <a:chExt cx="6000792" cy="1868677"/>
          </a:xfrm>
        </p:grpSpPr>
        <p:sp>
          <p:nvSpPr>
            <p:cNvPr id="4" name="TextBox 3"/>
            <p:cNvSpPr txBox="1"/>
            <p:nvPr/>
          </p:nvSpPr>
          <p:spPr>
            <a:xfrm>
              <a:off x="1357290" y="4714884"/>
              <a:ext cx="56436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defTabSz="360000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i="1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a</a:t>
              </a:r>
              <a:r>
                <a:rPr lang="en-US" altLang="zh-CN" i="1" baseline="-25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s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  </a:t>
              </a:r>
              <a:r>
                <a:rPr lang="en-US" altLang="zh-CN">
                  <a:solidFill>
                    <a:srgbClr val="0000FF"/>
                  </a:solidFill>
                  <a:latin typeface="+mn-ea"/>
                  <a:ea typeface="+mn-ea"/>
                  <a:cs typeface="Consolas" pitchFamily="49" charset="0"/>
                </a:rPr>
                <a:t>…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  </a:t>
              </a:r>
              <a:r>
                <a:rPr lang="en-US" altLang="zh-CN" i="1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a</a:t>
              </a:r>
              <a:r>
                <a:rPr lang="en-US" altLang="zh-CN" i="1" baseline="-25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j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	</a:t>
              </a:r>
              <a:r>
                <a:rPr lang="en-US" altLang="zh-CN" i="1">
                  <a:solidFill>
                    <a:srgbClr val="FF00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a</a:t>
              </a:r>
              <a:r>
                <a:rPr lang="en-US" altLang="zh-CN" i="1" baseline="-25000">
                  <a:solidFill>
                    <a:srgbClr val="FF00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j</a:t>
              </a:r>
              <a:r>
                <a:rPr lang="en-US" altLang="zh-CN" baseline="-25000">
                  <a:solidFill>
                    <a:srgbClr val="FF00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+1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	 </a:t>
              </a:r>
              <a:r>
                <a:rPr lang="en-US" altLang="zh-CN">
                  <a:solidFill>
                    <a:srgbClr val="0000FF"/>
                  </a:solidFill>
                  <a:latin typeface="+mn-ea"/>
                  <a:ea typeface="+mn-ea"/>
                  <a:cs typeface="Consolas" pitchFamily="49" charset="0"/>
                </a:rPr>
                <a:t>…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		</a:t>
              </a:r>
              <a:r>
                <a:rPr lang="en-US" altLang="zh-CN" i="1">
                  <a:solidFill>
                    <a:srgbClr val="0066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a</a:t>
              </a:r>
              <a:r>
                <a:rPr lang="en-US" altLang="zh-CN" i="1" baseline="-25000">
                  <a:solidFill>
                    <a:srgbClr val="0066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i</a:t>
              </a:r>
              <a:r>
                <a:rPr lang="en-US" altLang="zh-CN">
                  <a:solidFill>
                    <a:srgbClr val="0066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	 </a:t>
              </a:r>
              <a:r>
                <a:rPr lang="en-US" altLang="zh-CN">
                  <a:solidFill>
                    <a:srgbClr val="006600"/>
                  </a:solidFill>
                  <a:latin typeface="+mn-ea"/>
                  <a:ea typeface="+mn-ea"/>
                  <a:cs typeface="Consolas" pitchFamily="49" charset="0"/>
                </a:rPr>
                <a:t>…</a:t>
              </a:r>
              <a:r>
                <a:rPr lang="en-US" altLang="zh-CN">
                  <a:solidFill>
                    <a:srgbClr val="0066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		</a:t>
              </a:r>
              <a:r>
                <a:rPr lang="en-US" altLang="zh-CN" i="1">
                  <a:solidFill>
                    <a:srgbClr val="0066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a</a:t>
              </a:r>
              <a:r>
                <a:rPr lang="en-US" altLang="zh-CN" i="1" baseline="-25000">
                  <a:solidFill>
                    <a:srgbClr val="0066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t</a:t>
              </a:r>
              <a:endParaRPr lang="zh-CN" altLang="en-US" i="1" baseline="-25000">
                <a:solidFill>
                  <a:srgbClr val="006600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  <p:sp>
          <p:nvSpPr>
            <p:cNvPr id="5" name="Text Box 4"/>
            <p:cNvSpPr txBox="1">
              <a:spLocks noChangeArrowheads="1"/>
            </p:cNvSpPr>
            <p:nvPr/>
          </p:nvSpPr>
          <p:spPr bwMode="auto">
            <a:xfrm>
              <a:off x="1519244" y="5521057"/>
              <a:ext cx="1552558" cy="55114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ts val="21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不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大</a:t>
              </a: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于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base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（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s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个）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6" name="AutoShape 3"/>
            <p:cNvSpPr>
              <a:spLocks/>
            </p:cNvSpPr>
            <p:nvPr/>
          </p:nvSpPr>
          <p:spPr bwMode="auto">
            <a:xfrm rot="5400000">
              <a:off x="2109770" y="4696539"/>
              <a:ext cx="252000" cy="1296000"/>
            </a:xfrm>
            <a:prstGeom prst="rightBrace">
              <a:avLst>
                <a:gd name="adj1" fmla="val 64072"/>
                <a:gd name="adj2" fmla="val 50000"/>
              </a:avLst>
            </a:prstGeom>
            <a:noFill/>
            <a:ln w="19050">
              <a:solidFill>
                <a:srgbClr val="00B0F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7" name="Text Box 4"/>
            <p:cNvSpPr txBox="1">
              <a:spLocks noChangeArrowheads="1"/>
            </p:cNvSpPr>
            <p:nvPr/>
          </p:nvSpPr>
          <p:spPr bwMode="auto">
            <a:xfrm>
              <a:off x="5158878" y="5446031"/>
              <a:ext cx="1552558" cy="4833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ts val="21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不</a:t>
              </a:r>
              <a:r>
                <a:rPr kumimoji="0" lang="zh-CN" altLang="en-US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小</a:t>
              </a: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于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base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（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t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个）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8" name="AutoShape 3"/>
            <p:cNvSpPr>
              <a:spLocks/>
            </p:cNvSpPr>
            <p:nvPr/>
          </p:nvSpPr>
          <p:spPr bwMode="auto">
            <a:xfrm rot="5400000">
              <a:off x="5747258" y="4555132"/>
              <a:ext cx="252000" cy="1428760"/>
            </a:xfrm>
            <a:prstGeom prst="rightBrace">
              <a:avLst>
                <a:gd name="adj1" fmla="val 64072"/>
                <a:gd name="adj2" fmla="val 50000"/>
              </a:avLst>
            </a:prstGeom>
            <a:noFill/>
            <a:ln w="19050">
              <a:solidFill>
                <a:srgbClr val="00B0F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cxnSp>
          <p:nvCxnSpPr>
            <p:cNvPr id="9" name="直接箭头连接符 8"/>
            <p:cNvCxnSpPr/>
            <p:nvPr/>
          </p:nvCxnSpPr>
          <p:spPr>
            <a:xfrm rot="5400000">
              <a:off x="2690976" y="4693541"/>
              <a:ext cx="214314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2428860" y="4234307"/>
              <a:ext cx="8572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kumimoji="0" lang="en-US" altLang="zh-CN" sz="1800" i="1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r>
                <a:rPr kumimoji="0" lang="en-US" altLang="zh-CN" sz="180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</a:t>
              </a:r>
              <a:r>
                <a:rPr kumimoji="0" lang="en-US" altLang="zh-CN" sz="1800" i="1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s</a:t>
              </a:r>
              <a:r>
                <a:rPr kumimoji="0" lang="en-US" altLang="zh-CN" sz="180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</a:t>
              </a:r>
              <a:endParaRPr lang="zh-CN" altLang="en-US" sz="1800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  <p:cxnSp>
          <p:nvCxnSpPr>
            <p:cNvPr id="11" name="直接箭头连接符 10"/>
            <p:cNvCxnSpPr/>
            <p:nvPr/>
          </p:nvCxnSpPr>
          <p:spPr>
            <a:xfrm rot="5400000">
              <a:off x="5048430" y="4678371"/>
              <a:ext cx="214314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4786314" y="4234307"/>
              <a:ext cx="8572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kumimoji="0" lang="en-US" altLang="zh-CN" sz="1800" i="1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180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</a:t>
              </a:r>
              <a:r>
                <a:rPr kumimoji="0" lang="en-US" altLang="zh-CN" sz="1800" i="1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s</a:t>
              </a:r>
              <a:r>
                <a:rPr kumimoji="0" lang="en-US" altLang="zh-CN" sz="180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</a:t>
              </a:r>
              <a:endParaRPr lang="zh-CN" altLang="en-US" sz="1800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000100" y="4203529"/>
              <a:ext cx="135732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相对序号：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285720" y="428604"/>
            <a:ext cx="22145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partition2</a:t>
            </a:r>
            <a:r>
              <a:rPr lang="zh-CN" altLang="en-US" sz="22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：</a:t>
            </a:r>
            <a:endParaRPr lang="zh-CN" altLang="en-US" sz="22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1472" y="4714884"/>
            <a:ext cx="8143932" cy="1200329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ct val="100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..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（共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个元素）中全部元素不大于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base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..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（共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个元素）中全部元素不小于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base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+1]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是划分点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14414" y="1028626"/>
            <a:ext cx="7143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</a:rPr>
              <a:t>2		5		1		7		8		6		9		4		3		10</a:t>
            </a:r>
            <a:endParaRPr lang="zh-CN" altLang="en-US" sz="20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grpSp>
        <p:nvGrpSpPr>
          <p:cNvPr id="3" name="组合 20"/>
          <p:cNvGrpSpPr/>
          <p:nvPr/>
        </p:nvGrpSpPr>
        <p:grpSpPr>
          <a:xfrm>
            <a:off x="7786710" y="1455018"/>
            <a:ext cx="428628" cy="970820"/>
            <a:chOff x="1225703" y="1124904"/>
            <a:chExt cx="428628" cy="970820"/>
          </a:xfrm>
        </p:grpSpPr>
        <p:cxnSp>
          <p:nvCxnSpPr>
            <p:cNvPr id="19" name="直接箭头连接符 18"/>
            <p:cNvCxnSpPr/>
            <p:nvPr/>
          </p:nvCxnSpPr>
          <p:spPr>
            <a:xfrm rot="5400000" flipH="1" flipV="1">
              <a:off x="1141124" y="1374143"/>
              <a:ext cx="500066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1225703" y="1695614"/>
              <a:ext cx="4286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 i="1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i</a:t>
              </a:r>
              <a:endParaRPr lang="zh-CN" altLang="en-US" sz="20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</p:grpSp>
      <p:grpSp>
        <p:nvGrpSpPr>
          <p:cNvPr id="18" name="组合 23"/>
          <p:cNvGrpSpPr/>
          <p:nvPr/>
        </p:nvGrpSpPr>
        <p:grpSpPr>
          <a:xfrm>
            <a:off x="7000892" y="1458048"/>
            <a:ext cx="428628" cy="970820"/>
            <a:chOff x="1225703" y="1124904"/>
            <a:chExt cx="428628" cy="970820"/>
          </a:xfrm>
        </p:grpSpPr>
        <p:cxnSp>
          <p:nvCxnSpPr>
            <p:cNvPr id="22" name="直接箭头连接符 21"/>
            <p:cNvCxnSpPr/>
            <p:nvPr/>
          </p:nvCxnSpPr>
          <p:spPr>
            <a:xfrm rot="5400000" flipH="1" flipV="1">
              <a:off x="1141124" y="1374143"/>
              <a:ext cx="500066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1225703" y="1695614"/>
              <a:ext cx="4286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 i="1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j</a:t>
              </a:r>
              <a:endParaRPr lang="zh-CN" altLang="en-US" sz="20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</p:grpSp>
      <p:sp>
        <p:nvSpPr>
          <p:cNvPr id="24" name="下箭头 23"/>
          <p:cNvSpPr/>
          <p:nvPr/>
        </p:nvSpPr>
        <p:spPr>
          <a:xfrm>
            <a:off x="4143372" y="2000240"/>
            <a:ext cx="285752" cy="357190"/>
          </a:xfrm>
          <a:prstGeom prst="downArrow">
            <a:avLst/>
          </a:prstGeom>
          <a:ln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灯片编号占位符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24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14282" y="500042"/>
            <a:ext cx="8643998" cy="3535189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36000" bIns="36000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quicksort21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(vector&lt;int&gt;&amp;a,int s,int t) {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en-US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对</a:t>
            </a:r>
            <a:r>
              <a:rPr lang="en-US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a[s..t]</a:t>
            </a:r>
            <a:r>
              <a:rPr lang="zh-CN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快速排序（递增排序）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 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s&lt;t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{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//a[s..t]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中至少存在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个元素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vector&lt;int&gt; ps=</a:t>
            </a:r>
            <a:r>
              <a:rPr lang="en-US" altLang="zh-CN" sz="2000">
                <a:solidFill>
                  <a:srgbClr val="C00000"/>
                </a:solidFill>
                <a:latin typeface="Consolas" pitchFamily="49" charset="0"/>
                <a:ea typeface="仿宋" pitchFamily="49" charset="-122"/>
              </a:rPr>
              <a:t>partition2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(a,s,t);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int j=ps[0],i=ps[1];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quicksort21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(a,s,j);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quicksort21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(a,i,t);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2" name="组合 11"/>
          <p:cNvGrpSpPr/>
          <p:nvPr/>
        </p:nvGrpSpPr>
        <p:grpSpPr>
          <a:xfrm>
            <a:off x="1071538" y="4286256"/>
            <a:ext cx="6000792" cy="1868677"/>
            <a:chOff x="1000100" y="4203529"/>
            <a:chExt cx="6000792" cy="1868677"/>
          </a:xfrm>
        </p:grpSpPr>
        <p:sp>
          <p:nvSpPr>
            <p:cNvPr id="8" name="TextBox 7"/>
            <p:cNvSpPr txBox="1"/>
            <p:nvPr/>
          </p:nvSpPr>
          <p:spPr>
            <a:xfrm>
              <a:off x="1357290" y="4714884"/>
              <a:ext cx="56436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defTabSz="360000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i="1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a</a:t>
              </a:r>
              <a:r>
                <a:rPr lang="en-US" altLang="zh-CN" i="1" baseline="-25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s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  </a:t>
              </a:r>
              <a:r>
                <a:rPr lang="en-US" altLang="zh-CN">
                  <a:solidFill>
                    <a:srgbClr val="0000FF"/>
                  </a:solidFill>
                  <a:latin typeface="+mn-ea"/>
                  <a:ea typeface="+mn-ea"/>
                  <a:cs typeface="Consolas" pitchFamily="49" charset="0"/>
                </a:rPr>
                <a:t>…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  </a:t>
              </a:r>
              <a:r>
                <a:rPr lang="en-US" altLang="zh-CN" i="1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a</a:t>
              </a:r>
              <a:r>
                <a:rPr lang="en-US" altLang="zh-CN" i="1" baseline="-25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j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	</a:t>
              </a:r>
              <a:r>
                <a:rPr lang="en-US" altLang="zh-CN" i="1">
                  <a:solidFill>
                    <a:srgbClr val="FF00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a</a:t>
              </a:r>
              <a:r>
                <a:rPr lang="en-US" altLang="zh-CN" i="1" baseline="-25000">
                  <a:solidFill>
                    <a:srgbClr val="FF00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j</a:t>
              </a:r>
              <a:r>
                <a:rPr lang="en-US" altLang="zh-CN" baseline="-25000">
                  <a:solidFill>
                    <a:srgbClr val="FF00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+1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	 </a:t>
              </a:r>
              <a:r>
                <a:rPr lang="en-US" altLang="zh-CN">
                  <a:solidFill>
                    <a:srgbClr val="0000FF"/>
                  </a:solidFill>
                  <a:latin typeface="+mn-ea"/>
                  <a:ea typeface="+mn-ea"/>
                  <a:cs typeface="Consolas" pitchFamily="49" charset="0"/>
                </a:rPr>
                <a:t>…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		</a:t>
              </a:r>
              <a:r>
                <a:rPr lang="en-US" altLang="zh-CN" i="1">
                  <a:solidFill>
                    <a:srgbClr val="0066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a</a:t>
              </a:r>
              <a:r>
                <a:rPr lang="en-US" altLang="zh-CN" i="1" baseline="-25000">
                  <a:solidFill>
                    <a:srgbClr val="0066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i</a:t>
              </a:r>
              <a:r>
                <a:rPr lang="en-US" altLang="zh-CN">
                  <a:solidFill>
                    <a:srgbClr val="0066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	 </a:t>
              </a:r>
              <a:r>
                <a:rPr lang="en-US" altLang="zh-CN">
                  <a:solidFill>
                    <a:srgbClr val="006600"/>
                  </a:solidFill>
                  <a:latin typeface="+mn-ea"/>
                  <a:ea typeface="+mn-ea"/>
                  <a:cs typeface="Consolas" pitchFamily="49" charset="0"/>
                </a:rPr>
                <a:t>…</a:t>
              </a:r>
              <a:r>
                <a:rPr lang="en-US" altLang="zh-CN">
                  <a:solidFill>
                    <a:srgbClr val="0066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		</a:t>
              </a:r>
              <a:r>
                <a:rPr lang="en-US" altLang="zh-CN" i="1">
                  <a:solidFill>
                    <a:srgbClr val="0066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a</a:t>
              </a:r>
              <a:r>
                <a:rPr lang="en-US" altLang="zh-CN" i="1" baseline="-25000">
                  <a:solidFill>
                    <a:srgbClr val="0066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t</a:t>
              </a:r>
              <a:endParaRPr lang="zh-CN" altLang="en-US" i="1" baseline="-25000">
                <a:solidFill>
                  <a:srgbClr val="006600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  <p:sp>
          <p:nvSpPr>
            <p:cNvPr id="9" name="Text Box 4"/>
            <p:cNvSpPr txBox="1">
              <a:spLocks noChangeArrowheads="1"/>
            </p:cNvSpPr>
            <p:nvPr/>
          </p:nvSpPr>
          <p:spPr bwMode="auto">
            <a:xfrm>
              <a:off x="1519244" y="5521057"/>
              <a:ext cx="1552558" cy="55114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ts val="21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不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大</a:t>
              </a: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于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base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（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s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个）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0" name="AutoShape 3"/>
            <p:cNvSpPr>
              <a:spLocks/>
            </p:cNvSpPr>
            <p:nvPr/>
          </p:nvSpPr>
          <p:spPr bwMode="auto">
            <a:xfrm rot="5400000">
              <a:off x="2109770" y="4696539"/>
              <a:ext cx="252000" cy="1296000"/>
            </a:xfrm>
            <a:prstGeom prst="rightBrace">
              <a:avLst>
                <a:gd name="adj1" fmla="val 64072"/>
                <a:gd name="adj2" fmla="val 50000"/>
              </a:avLst>
            </a:prstGeom>
            <a:noFill/>
            <a:ln w="19050">
              <a:solidFill>
                <a:srgbClr val="00B0F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1" name="Text Box 4"/>
            <p:cNvSpPr txBox="1">
              <a:spLocks noChangeArrowheads="1"/>
            </p:cNvSpPr>
            <p:nvPr/>
          </p:nvSpPr>
          <p:spPr bwMode="auto">
            <a:xfrm>
              <a:off x="5158878" y="5446031"/>
              <a:ext cx="1552558" cy="4833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ts val="21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不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小于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base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（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t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个）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2" name="AutoShape 3"/>
            <p:cNvSpPr>
              <a:spLocks/>
            </p:cNvSpPr>
            <p:nvPr/>
          </p:nvSpPr>
          <p:spPr bwMode="auto">
            <a:xfrm rot="5400000">
              <a:off x="5747258" y="4555132"/>
              <a:ext cx="252000" cy="1428760"/>
            </a:xfrm>
            <a:prstGeom prst="rightBrace">
              <a:avLst>
                <a:gd name="adj1" fmla="val 64072"/>
                <a:gd name="adj2" fmla="val 50000"/>
              </a:avLst>
            </a:prstGeom>
            <a:noFill/>
            <a:ln w="19050">
              <a:solidFill>
                <a:srgbClr val="00B0F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cxnSp>
          <p:nvCxnSpPr>
            <p:cNvPr id="13" name="直接箭头连接符 12"/>
            <p:cNvCxnSpPr/>
            <p:nvPr/>
          </p:nvCxnSpPr>
          <p:spPr>
            <a:xfrm rot="5400000">
              <a:off x="2690976" y="4693541"/>
              <a:ext cx="214314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2428860" y="4234307"/>
              <a:ext cx="8572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kumimoji="0" lang="en-US" altLang="zh-CN" sz="1800" i="1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r>
                <a:rPr kumimoji="0" lang="en-US" altLang="zh-CN" sz="180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</a:t>
              </a:r>
              <a:r>
                <a:rPr kumimoji="0" lang="en-US" altLang="zh-CN" sz="1800" i="1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s</a:t>
              </a:r>
              <a:r>
                <a:rPr kumimoji="0" lang="en-US" altLang="zh-CN" sz="180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</a:t>
              </a:r>
              <a:endParaRPr lang="zh-CN" altLang="en-US" sz="1800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  <p:cxnSp>
          <p:nvCxnSpPr>
            <p:cNvPr id="15" name="直接箭头连接符 14"/>
            <p:cNvCxnSpPr/>
            <p:nvPr/>
          </p:nvCxnSpPr>
          <p:spPr>
            <a:xfrm rot="5400000">
              <a:off x="5048430" y="4678371"/>
              <a:ext cx="214314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4786314" y="4234307"/>
              <a:ext cx="8572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kumimoji="0" lang="en-US" altLang="zh-CN" sz="1800" i="1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180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</a:t>
              </a:r>
              <a:r>
                <a:rPr kumimoji="0" lang="en-US" altLang="zh-CN" sz="1800" i="1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s</a:t>
              </a:r>
              <a:r>
                <a:rPr kumimoji="0" lang="en-US" altLang="zh-CN" sz="180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</a:t>
              </a:r>
              <a:endParaRPr lang="zh-CN" altLang="en-US" sz="1800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00100" y="4203529"/>
              <a:ext cx="135732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相对序号：</a:t>
              </a:r>
            </a:p>
          </p:txBody>
        </p:sp>
      </p:grpSp>
      <p:sp>
        <p:nvSpPr>
          <p:cNvPr id="19" name="灯片编号占位符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25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14282" y="500042"/>
            <a:ext cx="8643998" cy="388971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36000" bIns="36000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quicksort2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(vector&lt;int&gt;&amp;a) {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对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快速排序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n=a.size();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printf("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序号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           ");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for(int i=0;i&lt;n;i++)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printf("%3d",i);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printf("\n");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printf("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排序前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:           "); </a:t>
            </a:r>
            <a:r>
              <a:rPr lang="en-US" altLang="zh-CN" sz="2000">
                <a:solidFill>
                  <a:srgbClr val="C00000"/>
                </a:solidFill>
                <a:latin typeface="Consolas" pitchFamily="49" charset="0"/>
                <a:ea typeface="仿宋" pitchFamily="49" charset="-122"/>
              </a:rPr>
              <a:t>disp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(a,0,n-1);printf("\n");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quicksort21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(a,0,n-1);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printf("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排序后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:           "); </a:t>
            </a:r>
            <a:r>
              <a:rPr lang="en-US" altLang="zh-CN" sz="2000">
                <a:solidFill>
                  <a:srgbClr val="C00000"/>
                </a:solidFill>
                <a:latin typeface="Consolas" pitchFamily="49" charset="0"/>
                <a:ea typeface="仿宋" pitchFamily="49" charset="-122"/>
              </a:rPr>
              <a:t>disp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(a,0,n-1);printf("\n"); 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26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5"/>
          <p:cNvSpPr txBox="1"/>
          <p:nvPr/>
        </p:nvSpPr>
        <p:spPr>
          <a:xfrm>
            <a:off x="428596" y="285728"/>
            <a:ext cx="714380" cy="646331"/>
          </a:xfrm>
          <a:prstGeom prst="rect">
            <a:avLst/>
          </a:prstGeom>
          <a:blipFill>
            <a:blip r:embed="rId3" cstate="print"/>
            <a:tile tx="0" ty="0" sx="100000" sy="100000" flip="none" algn="tl"/>
          </a:blip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800" b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itchFamily="49" charset="0"/>
                <a:ea typeface="仿宋" pitchFamily="49" charset="-122"/>
                <a:cs typeface="Consolas" pitchFamily="49" charset="0"/>
              </a:rPr>
              <a:t>程序验证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5918" y="285728"/>
            <a:ext cx="6215138" cy="1611586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36000" bIns="36000" rtlCol="0">
            <a:spAutoFit/>
          </a:bodyPr>
          <a:lstStyle/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main() {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vector&lt;int&gt; a={2,5,1,7,10,6,9,4,3,8};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quicksort2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(a);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return 0;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57224" y="2500306"/>
            <a:ext cx="7429552" cy="4032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下箭头 6"/>
          <p:cNvSpPr/>
          <p:nvPr/>
        </p:nvSpPr>
        <p:spPr>
          <a:xfrm>
            <a:off x="4286248" y="2000240"/>
            <a:ext cx="285752" cy="357190"/>
          </a:xfrm>
          <a:prstGeom prst="downArrow">
            <a:avLst/>
          </a:prstGeom>
          <a:ln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27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98" name="Rectangle 5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2756" name="Rectangle 5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5" name="TextBox 54"/>
          <p:cNvSpPr txBox="1"/>
          <p:nvPr/>
        </p:nvSpPr>
        <p:spPr>
          <a:xfrm>
            <a:off x="500034" y="1357298"/>
            <a:ext cx="7715304" cy="430887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FF0000"/>
                </a:solidFill>
                <a:latin typeface="楷体" pitchFamily="49" charset="-122"/>
                <a:ea typeface="楷体" pitchFamily="49" charset="-122"/>
                <a:sym typeface="Wingdings"/>
              </a:rPr>
              <a:t></a:t>
            </a:r>
            <a:r>
              <a:rPr lang="zh-CN" altLang="zh-CN" sz="220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算法分析</a:t>
            </a:r>
            <a:r>
              <a:rPr lang="zh-CN" altLang="zh-CN" sz="2200">
                <a:solidFill>
                  <a:srgbClr val="FF0000"/>
                </a:solidFill>
                <a:latin typeface="Consolas" pitchFamily="49" charset="0"/>
                <a:ea typeface="微软雅黑" pitchFamily="34" charset="-122"/>
              </a:rPr>
              <a:t>：</a:t>
            </a: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两个算法的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平均时间复杂度</a:t>
            </a: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均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log</a:t>
            </a:r>
            <a:r>
              <a:rPr lang="en-US" altLang="zh-CN" sz="2200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en-US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 sz="22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28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5823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857356" y="678683"/>
            <a:ext cx="6786610" cy="964367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4.2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数组中的第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个最大元素。问题描述见第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章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1.3.2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节例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1.6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158" y="2285992"/>
            <a:ext cx="8643998" cy="3836948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12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1.6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数组中的第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个最大元素（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LeetCode215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★★）。设计一个算法求无序数组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nums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中第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1</a:t>
            </a:r>
            <a:r>
              <a:rPr lang="en-US" altLang="zh-CN">
                <a:solidFill>
                  <a:srgbClr val="0000FF"/>
                </a:solidFill>
                <a:latin typeface="+mj-ea"/>
                <a:ea typeface="+mj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k</a:t>
            </a:r>
            <a:r>
              <a:rPr lang="en-US" altLang="zh-CN">
                <a:solidFill>
                  <a:srgbClr val="0000FF"/>
                </a:solidFill>
                <a:latin typeface="+mj-ea"/>
                <a:ea typeface="+mj-ea"/>
              </a:rPr>
              <a:t>≤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数组的长度）大的整数，注意不是第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个不同的元素，而是数组排序后的第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个最大的元素。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楷体" pitchFamily="49" charset="-122"/>
            </a:endParaRPr>
          </a:p>
          <a:p>
            <a:pPr algn="l">
              <a:lnSpc>
                <a:spcPts val="3200"/>
              </a:lnSpc>
              <a:spcBef>
                <a:spcPts val="12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例如，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nums={3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6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4}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楷体" pitchFamily="49" charset="-122"/>
              </a:rPr>
              <a:t>k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楷体" pitchFamily="49" charset="-122"/>
              </a:rPr>
              <a:t>=2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nums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递减排序后是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{6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4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1}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楷体" pitchFamily="49" charset="-122"/>
              </a:rPr>
              <a:t>答案为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楷体" pitchFamily="49" charset="-122"/>
              </a:rPr>
              <a:t>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，若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楷体" pitchFamily="49" charset="-122"/>
              </a:rPr>
              <a:t>k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楷体" pitchFamily="49" charset="-122"/>
              </a:rPr>
              <a:t>=5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楷体" pitchFamily="49" charset="-122"/>
              </a:rPr>
              <a:t>，答案为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楷体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楷体" pitchFamily="49" charset="-122"/>
            </a:endParaRPr>
          </a:p>
          <a:p>
            <a:pPr algn="l">
              <a:lnSpc>
                <a:spcPts val="3200"/>
              </a:lnSpc>
              <a:spcBef>
                <a:spcPts val="12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要求设计如下成员函数：</a:t>
            </a:r>
          </a:p>
          <a:p>
            <a:pPr algn="l">
              <a:lnSpc>
                <a:spcPts val="3200"/>
              </a:lnSpc>
              <a:spcBef>
                <a:spcPts val="12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    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楷体" pitchFamily="49" charset="-122"/>
              </a:rPr>
              <a:t>int findKthLargest(vector&lt;int&gt;&amp; nums, int k) {  }</a:t>
            </a:r>
            <a:endParaRPr lang="zh-CN" altLang="zh-CN" sz="2000">
              <a:solidFill>
                <a:srgbClr val="006600"/>
              </a:solidFill>
              <a:latin typeface="Consolas" pitchFamily="49" charset="0"/>
              <a:ea typeface="楷体" pitchFamily="49" charset="-122"/>
            </a:endParaRPr>
          </a:p>
        </p:txBody>
      </p:sp>
      <p:sp>
        <p:nvSpPr>
          <p:cNvPr id="11" name="上箭头 10"/>
          <p:cNvSpPr/>
          <p:nvPr/>
        </p:nvSpPr>
        <p:spPr>
          <a:xfrm>
            <a:off x="3929058" y="1785926"/>
            <a:ext cx="214314" cy="357190"/>
          </a:xfrm>
          <a:prstGeom prst="upArrow">
            <a:avLst/>
          </a:prstGeom>
          <a:ln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642910" y="571480"/>
            <a:ext cx="1041400" cy="1044575"/>
            <a:chOff x="857224" y="1071546"/>
            <a:chExt cx="1041400" cy="1044575"/>
          </a:xfrm>
        </p:grpSpPr>
        <p:sp>
          <p:nvSpPr>
            <p:cNvPr id="13" name="Freeform 8"/>
            <p:cNvSpPr>
              <a:spLocks noEditPoints="1"/>
            </p:cNvSpPr>
            <p:nvPr/>
          </p:nvSpPr>
          <p:spPr bwMode="auto">
            <a:xfrm>
              <a:off x="857224" y="1071546"/>
              <a:ext cx="1041400" cy="1044575"/>
            </a:xfrm>
            <a:custGeom>
              <a:avLst/>
              <a:gdLst>
                <a:gd name="T0" fmla="*/ 964145 w 337"/>
                <a:gd name="T1" fmla="*/ 540830 h 338"/>
                <a:gd name="T2" fmla="*/ 964145 w 337"/>
                <a:gd name="T3" fmla="*/ 494473 h 338"/>
                <a:gd name="T4" fmla="*/ 1041400 w 337"/>
                <a:gd name="T5" fmla="*/ 441936 h 338"/>
                <a:gd name="T6" fmla="*/ 1007408 w 337"/>
                <a:gd name="T7" fmla="*/ 321408 h 338"/>
                <a:gd name="T8" fmla="*/ 914701 w 337"/>
                <a:gd name="T9" fmla="*/ 318317 h 338"/>
                <a:gd name="T10" fmla="*/ 889980 w 337"/>
                <a:gd name="T11" fmla="*/ 275051 h 338"/>
                <a:gd name="T12" fmla="*/ 930153 w 337"/>
                <a:gd name="T13" fmla="*/ 191608 h 338"/>
                <a:gd name="T14" fmla="*/ 843627 w 337"/>
                <a:gd name="T15" fmla="*/ 105076 h 338"/>
                <a:gd name="T16" fmla="*/ 760191 w 337"/>
                <a:gd name="T17" fmla="*/ 148342 h 338"/>
                <a:gd name="T18" fmla="*/ 716928 w 337"/>
                <a:gd name="T19" fmla="*/ 123618 h 338"/>
                <a:gd name="T20" fmla="*/ 710748 w 337"/>
                <a:gd name="T21" fmla="*/ 30905 h 338"/>
                <a:gd name="T22" fmla="*/ 652034 w 337"/>
                <a:gd name="T23" fmla="*/ 15452 h 338"/>
                <a:gd name="T24" fmla="*/ 590230 w 337"/>
                <a:gd name="T25" fmla="*/ 0 h 338"/>
                <a:gd name="T26" fmla="*/ 540786 w 337"/>
                <a:gd name="T27" fmla="*/ 77261 h 338"/>
                <a:gd name="T28" fmla="*/ 494433 w 337"/>
                <a:gd name="T29" fmla="*/ 77261 h 338"/>
                <a:gd name="T30" fmla="*/ 441900 w 337"/>
                <a:gd name="T31" fmla="*/ 3090 h 338"/>
                <a:gd name="T32" fmla="*/ 321382 w 337"/>
                <a:gd name="T33" fmla="*/ 33995 h 338"/>
                <a:gd name="T34" fmla="*/ 318291 w 337"/>
                <a:gd name="T35" fmla="*/ 126709 h 338"/>
                <a:gd name="T36" fmla="*/ 275028 w 337"/>
                <a:gd name="T37" fmla="*/ 151432 h 338"/>
                <a:gd name="T38" fmla="*/ 191593 w 337"/>
                <a:gd name="T39" fmla="*/ 111257 h 338"/>
                <a:gd name="T40" fmla="*/ 105067 w 337"/>
                <a:gd name="T41" fmla="*/ 200880 h 338"/>
                <a:gd name="T42" fmla="*/ 148330 w 337"/>
                <a:gd name="T43" fmla="*/ 281232 h 338"/>
                <a:gd name="T44" fmla="*/ 123608 w 337"/>
                <a:gd name="T45" fmla="*/ 324498 h 338"/>
                <a:gd name="T46" fmla="*/ 30902 w 337"/>
                <a:gd name="T47" fmla="*/ 330679 h 338"/>
                <a:gd name="T48" fmla="*/ 15451 w 337"/>
                <a:gd name="T49" fmla="*/ 392488 h 338"/>
                <a:gd name="T50" fmla="*/ 0 w 337"/>
                <a:gd name="T51" fmla="*/ 451207 h 338"/>
                <a:gd name="T52" fmla="*/ 77255 w 337"/>
                <a:gd name="T53" fmla="*/ 500654 h 338"/>
                <a:gd name="T54" fmla="*/ 77255 w 337"/>
                <a:gd name="T55" fmla="*/ 550102 h 338"/>
                <a:gd name="T56" fmla="*/ 0 w 337"/>
                <a:gd name="T57" fmla="*/ 602639 h 338"/>
                <a:gd name="T58" fmla="*/ 33992 w 337"/>
                <a:gd name="T59" fmla="*/ 723167 h 338"/>
                <a:gd name="T60" fmla="*/ 126699 w 337"/>
                <a:gd name="T61" fmla="*/ 726258 h 338"/>
                <a:gd name="T62" fmla="*/ 151420 w 337"/>
                <a:gd name="T63" fmla="*/ 766434 h 338"/>
                <a:gd name="T64" fmla="*/ 111247 w 337"/>
                <a:gd name="T65" fmla="*/ 849876 h 338"/>
                <a:gd name="T66" fmla="*/ 200864 w 337"/>
                <a:gd name="T67" fmla="*/ 939499 h 338"/>
                <a:gd name="T68" fmla="*/ 281209 w 337"/>
                <a:gd name="T69" fmla="*/ 896233 h 338"/>
                <a:gd name="T70" fmla="*/ 324472 w 337"/>
                <a:gd name="T71" fmla="*/ 920957 h 338"/>
                <a:gd name="T72" fmla="*/ 330652 w 337"/>
                <a:gd name="T73" fmla="*/ 1013670 h 338"/>
                <a:gd name="T74" fmla="*/ 389366 w 337"/>
                <a:gd name="T75" fmla="*/ 1029123 h 338"/>
                <a:gd name="T76" fmla="*/ 451170 w 337"/>
                <a:gd name="T77" fmla="*/ 1044575 h 338"/>
                <a:gd name="T78" fmla="*/ 500614 w 337"/>
                <a:gd name="T79" fmla="*/ 964223 h 338"/>
                <a:gd name="T80" fmla="*/ 550057 w 337"/>
                <a:gd name="T81" fmla="*/ 964223 h 338"/>
                <a:gd name="T82" fmla="*/ 602591 w 337"/>
                <a:gd name="T83" fmla="*/ 1041485 h 338"/>
                <a:gd name="T84" fmla="*/ 720018 w 337"/>
                <a:gd name="T85" fmla="*/ 1007489 h 338"/>
                <a:gd name="T86" fmla="*/ 726199 w 337"/>
                <a:gd name="T87" fmla="*/ 914776 h 338"/>
                <a:gd name="T88" fmla="*/ 766372 w 337"/>
                <a:gd name="T89" fmla="*/ 890052 h 338"/>
                <a:gd name="T90" fmla="*/ 849807 w 337"/>
                <a:gd name="T91" fmla="*/ 933318 h 338"/>
                <a:gd name="T92" fmla="*/ 936333 w 337"/>
                <a:gd name="T93" fmla="*/ 843695 h 338"/>
                <a:gd name="T94" fmla="*/ 896160 w 337"/>
                <a:gd name="T95" fmla="*/ 760253 h 338"/>
                <a:gd name="T96" fmla="*/ 917792 w 337"/>
                <a:gd name="T97" fmla="*/ 720077 h 338"/>
                <a:gd name="T98" fmla="*/ 1010498 w 337"/>
                <a:gd name="T99" fmla="*/ 713896 h 338"/>
                <a:gd name="T100" fmla="*/ 1025949 w 337"/>
                <a:gd name="T101" fmla="*/ 652087 h 338"/>
                <a:gd name="T102" fmla="*/ 1041400 w 337"/>
                <a:gd name="T103" fmla="*/ 593368 h 338"/>
                <a:gd name="T104" fmla="*/ 964145 w 337"/>
                <a:gd name="T105" fmla="*/ 540830 h 338"/>
                <a:gd name="T106" fmla="*/ 432629 w 337"/>
                <a:gd name="T107" fmla="*/ 868419 h 338"/>
                <a:gd name="T108" fmla="*/ 176142 w 337"/>
                <a:gd name="T109" fmla="*/ 432664 h 338"/>
                <a:gd name="T110" fmla="*/ 611861 w 337"/>
                <a:gd name="T111" fmla="*/ 176156 h 338"/>
                <a:gd name="T112" fmla="*/ 868348 w 337"/>
                <a:gd name="T113" fmla="*/ 611911 h 338"/>
                <a:gd name="T114" fmla="*/ 432629 w 337"/>
                <a:gd name="T115" fmla="*/ 868419 h 33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37" h="338">
                  <a:moveTo>
                    <a:pt x="312" y="175"/>
                  </a:moveTo>
                  <a:cubicBezTo>
                    <a:pt x="312" y="170"/>
                    <a:pt x="312" y="165"/>
                    <a:pt x="312" y="160"/>
                  </a:cubicBezTo>
                  <a:cubicBezTo>
                    <a:pt x="337" y="143"/>
                    <a:pt x="337" y="143"/>
                    <a:pt x="337" y="143"/>
                  </a:cubicBezTo>
                  <a:cubicBezTo>
                    <a:pt x="326" y="104"/>
                    <a:pt x="326" y="104"/>
                    <a:pt x="326" y="104"/>
                  </a:cubicBezTo>
                  <a:cubicBezTo>
                    <a:pt x="296" y="103"/>
                    <a:pt x="296" y="103"/>
                    <a:pt x="296" y="103"/>
                  </a:cubicBezTo>
                  <a:cubicBezTo>
                    <a:pt x="294" y="98"/>
                    <a:pt x="291" y="94"/>
                    <a:pt x="288" y="89"/>
                  </a:cubicBezTo>
                  <a:cubicBezTo>
                    <a:pt x="301" y="62"/>
                    <a:pt x="301" y="62"/>
                    <a:pt x="301" y="62"/>
                  </a:cubicBezTo>
                  <a:cubicBezTo>
                    <a:pt x="273" y="34"/>
                    <a:pt x="273" y="34"/>
                    <a:pt x="273" y="34"/>
                  </a:cubicBezTo>
                  <a:cubicBezTo>
                    <a:pt x="246" y="48"/>
                    <a:pt x="246" y="48"/>
                    <a:pt x="246" y="48"/>
                  </a:cubicBezTo>
                  <a:cubicBezTo>
                    <a:pt x="242" y="45"/>
                    <a:pt x="237" y="42"/>
                    <a:pt x="232" y="40"/>
                  </a:cubicBezTo>
                  <a:cubicBezTo>
                    <a:pt x="230" y="10"/>
                    <a:pt x="230" y="10"/>
                    <a:pt x="230" y="10"/>
                  </a:cubicBezTo>
                  <a:cubicBezTo>
                    <a:pt x="211" y="5"/>
                    <a:pt x="211" y="5"/>
                    <a:pt x="211" y="5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75" y="25"/>
                    <a:pt x="175" y="25"/>
                    <a:pt x="175" y="25"/>
                  </a:cubicBezTo>
                  <a:cubicBezTo>
                    <a:pt x="170" y="25"/>
                    <a:pt x="165" y="25"/>
                    <a:pt x="160" y="25"/>
                  </a:cubicBezTo>
                  <a:cubicBezTo>
                    <a:pt x="143" y="1"/>
                    <a:pt x="143" y="1"/>
                    <a:pt x="143" y="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4"/>
                    <a:pt x="93" y="46"/>
                    <a:pt x="89" y="49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48" y="91"/>
                    <a:pt x="48" y="91"/>
                    <a:pt x="48" y="91"/>
                  </a:cubicBezTo>
                  <a:cubicBezTo>
                    <a:pt x="45" y="96"/>
                    <a:pt x="42" y="100"/>
                    <a:pt x="40" y="105"/>
                  </a:cubicBezTo>
                  <a:cubicBezTo>
                    <a:pt x="10" y="107"/>
                    <a:pt x="10" y="107"/>
                    <a:pt x="10" y="107"/>
                  </a:cubicBezTo>
                  <a:cubicBezTo>
                    <a:pt x="5" y="127"/>
                    <a:pt x="5" y="127"/>
                    <a:pt x="5" y="127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25" y="162"/>
                    <a:pt x="25" y="162"/>
                    <a:pt x="25" y="162"/>
                  </a:cubicBezTo>
                  <a:cubicBezTo>
                    <a:pt x="25" y="168"/>
                    <a:pt x="25" y="173"/>
                    <a:pt x="25" y="178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11" y="234"/>
                    <a:pt x="11" y="234"/>
                    <a:pt x="11" y="234"/>
                  </a:cubicBezTo>
                  <a:cubicBezTo>
                    <a:pt x="41" y="235"/>
                    <a:pt x="41" y="235"/>
                    <a:pt x="41" y="235"/>
                  </a:cubicBezTo>
                  <a:cubicBezTo>
                    <a:pt x="44" y="240"/>
                    <a:pt x="46" y="244"/>
                    <a:pt x="49" y="248"/>
                  </a:cubicBezTo>
                  <a:cubicBezTo>
                    <a:pt x="36" y="275"/>
                    <a:pt x="36" y="275"/>
                    <a:pt x="36" y="275"/>
                  </a:cubicBezTo>
                  <a:cubicBezTo>
                    <a:pt x="65" y="304"/>
                    <a:pt x="65" y="304"/>
                    <a:pt x="65" y="304"/>
                  </a:cubicBezTo>
                  <a:cubicBezTo>
                    <a:pt x="91" y="290"/>
                    <a:pt x="91" y="290"/>
                    <a:pt x="91" y="290"/>
                  </a:cubicBezTo>
                  <a:cubicBezTo>
                    <a:pt x="96" y="293"/>
                    <a:pt x="100" y="295"/>
                    <a:pt x="105" y="298"/>
                  </a:cubicBezTo>
                  <a:cubicBezTo>
                    <a:pt x="107" y="328"/>
                    <a:pt x="107" y="328"/>
                    <a:pt x="107" y="328"/>
                  </a:cubicBezTo>
                  <a:cubicBezTo>
                    <a:pt x="126" y="333"/>
                    <a:pt x="126" y="333"/>
                    <a:pt x="126" y="333"/>
                  </a:cubicBezTo>
                  <a:cubicBezTo>
                    <a:pt x="146" y="338"/>
                    <a:pt x="146" y="338"/>
                    <a:pt x="146" y="338"/>
                  </a:cubicBezTo>
                  <a:cubicBezTo>
                    <a:pt x="162" y="312"/>
                    <a:pt x="162" y="312"/>
                    <a:pt x="162" y="312"/>
                  </a:cubicBezTo>
                  <a:cubicBezTo>
                    <a:pt x="167" y="313"/>
                    <a:pt x="173" y="313"/>
                    <a:pt x="178" y="312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233" y="326"/>
                    <a:pt x="233" y="326"/>
                    <a:pt x="233" y="326"/>
                  </a:cubicBezTo>
                  <a:cubicBezTo>
                    <a:pt x="235" y="296"/>
                    <a:pt x="235" y="296"/>
                    <a:pt x="235" y="296"/>
                  </a:cubicBezTo>
                  <a:cubicBezTo>
                    <a:pt x="239" y="294"/>
                    <a:pt x="244" y="291"/>
                    <a:pt x="248" y="288"/>
                  </a:cubicBezTo>
                  <a:cubicBezTo>
                    <a:pt x="275" y="302"/>
                    <a:pt x="275" y="302"/>
                    <a:pt x="275" y="302"/>
                  </a:cubicBezTo>
                  <a:cubicBezTo>
                    <a:pt x="303" y="273"/>
                    <a:pt x="303" y="273"/>
                    <a:pt x="303" y="273"/>
                  </a:cubicBezTo>
                  <a:cubicBezTo>
                    <a:pt x="290" y="246"/>
                    <a:pt x="290" y="246"/>
                    <a:pt x="290" y="246"/>
                  </a:cubicBezTo>
                  <a:cubicBezTo>
                    <a:pt x="293" y="242"/>
                    <a:pt x="295" y="237"/>
                    <a:pt x="297" y="233"/>
                  </a:cubicBezTo>
                  <a:cubicBezTo>
                    <a:pt x="327" y="231"/>
                    <a:pt x="327" y="231"/>
                    <a:pt x="327" y="231"/>
                  </a:cubicBezTo>
                  <a:cubicBezTo>
                    <a:pt x="332" y="211"/>
                    <a:pt x="332" y="211"/>
                    <a:pt x="332" y="211"/>
                  </a:cubicBezTo>
                  <a:cubicBezTo>
                    <a:pt x="337" y="192"/>
                    <a:pt x="337" y="192"/>
                    <a:pt x="337" y="192"/>
                  </a:cubicBezTo>
                  <a:lnTo>
                    <a:pt x="312" y="175"/>
                  </a:lnTo>
                  <a:close/>
                  <a:moveTo>
                    <a:pt x="140" y="281"/>
                  </a:moveTo>
                  <a:cubicBezTo>
                    <a:pt x="78" y="265"/>
                    <a:pt x="41" y="202"/>
                    <a:pt x="57" y="140"/>
                  </a:cubicBezTo>
                  <a:cubicBezTo>
                    <a:pt x="73" y="78"/>
                    <a:pt x="136" y="41"/>
                    <a:pt x="198" y="57"/>
                  </a:cubicBezTo>
                  <a:cubicBezTo>
                    <a:pt x="259" y="73"/>
                    <a:pt x="297" y="136"/>
                    <a:pt x="281" y="198"/>
                  </a:cubicBezTo>
                  <a:cubicBezTo>
                    <a:pt x="265" y="260"/>
                    <a:pt x="202" y="297"/>
                    <a:pt x="140" y="281"/>
                  </a:cubicBezTo>
                  <a:close/>
                </a:path>
              </a:pathLst>
            </a:custGeom>
            <a:solidFill>
              <a:srgbClr val="1848C0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" name="Rectangle 16"/>
            <p:cNvSpPr>
              <a:spLocks noChangeArrowheads="1"/>
            </p:cNvSpPr>
            <p:nvPr/>
          </p:nvSpPr>
          <p:spPr bwMode="auto">
            <a:xfrm>
              <a:off x="1066774" y="1399481"/>
              <a:ext cx="663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2000" spc="5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华文中宋" pitchFamily="2" charset="-122"/>
                  <a:ea typeface="华文中宋" pitchFamily="2" charset="-122"/>
                </a:rPr>
                <a:t>实例</a:t>
              </a:r>
              <a:endParaRPr lang="zh-CN" altLang="zh-CN" sz="2000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endParaRPr>
            </a:p>
          </p:txBody>
        </p:sp>
      </p:grp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29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500042"/>
            <a:ext cx="1285884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1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20492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1500166" y="1977662"/>
            <a:ext cx="6119451" cy="1788173"/>
            <a:chOff x="857224" y="1977662"/>
            <a:chExt cx="6119451" cy="1788173"/>
          </a:xfrm>
        </p:grpSpPr>
        <p:sp>
          <p:nvSpPr>
            <p:cNvPr id="20490" name="Rectangle 10"/>
            <p:cNvSpPr>
              <a:spLocks noChangeArrowheads="1"/>
            </p:cNvSpPr>
            <p:nvPr/>
          </p:nvSpPr>
          <p:spPr bwMode="auto">
            <a:xfrm>
              <a:off x="857224" y="2696397"/>
              <a:ext cx="2682085" cy="461924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[s]  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   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-1]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20489" name="Text Box 9"/>
            <p:cNvSpPr txBox="1">
              <a:spLocks noChangeArrowheads="1"/>
            </p:cNvSpPr>
            <p:nvPr/>
          </p:nvSpPr>
          <p:spPr bwMode="auto">
            <a:xfrm>
              <a:off x="3035282" y="1977662"/>
              <a:ext cx="3608420" cy="33368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第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大的元素（绝对序号</a:t>
              </a:r>
              <a:r>
                <a:rPr kumimoji="0" lang="zh-CN" altLang="en-US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为</a:t>
              </a:r>
              <a:r>
                <a:rPr kumimoji="0" lang="en-US" altLang="zh-CN" sz="2000" b="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）</a:t>
              </a:r>
              <a:endParaRPr kumimoji="0" lang="zh-CN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20488" name="Oval 8"/>
            <p:cNvSpPr>
              <a:spLocks noChangeArrowheads="1"/>
            </p:cNvSpPr>
            <p:nvPr/>
          </p:nvSpPr>
          <p:spPr bwMode="auto">
            <a:xfrm>
              <a:off x="3664936" y="2649289"/>
              <a:ext cx="643277" cy="557449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20487" name="Rectangle 7"/>
            <p:cNvSpPr>
              <a:spLocks noChangeArrowheads="1"/>
            </p:cNvSpPr>
            <p:nvPr/>
          </p:nvSpPr>
          <p:spPr bwMode="auto">
            <a:xfrm>
              <a:off x="4438382" y="2696397"/>
              <a:ext cx="2538293" cy="461924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+1]  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 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[t]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20486" name="Text Box 6"/>
            <p:cNvSpPr txBox="1">
              <a:spLocks noChangeArrowheads="1"/>
            </p:cNvSpPr>
            <p:nvPr/>
          </p:nvSpPr>
          <p:spPr bwMode="auto">
            <a:xfrm>
              <a:off x="4411137" y="3429000"/>
              <a:ext cx="2452019" cy="33683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所有元素不大于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20485" name="AutoShape 5"/>
            <p:cNvSpPr>
              <a:spLocks/>
            </p:cNvSpPr>
            <p:nvPr/>
          </p:nvSpPr>
          <p:spPr bwMode="auto">
            <a:xfrm rot="5400000">
              <a:off x="5559477" y="2084232"/>
              <a:ext cx="187125" cy="2430828"/>
            </a:xfrm>
            <a:prstGeom prst="rightBrace">
              <a:avLst>
                <a:gd name="adj1" fmla="val 93590"/>
                <a:gd name="adj2" fmla="val 50000"/>
              </a:avLst>
            </a:prstGeom>
            <a:noFill/>
            <a:ln w="19050">
              <a:solidFill>
                <a:srgbClr val="339933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20484" name="Text Box 4"/>
            <p:cNvSpPr txBox="1">
              <a:spLocks noChangeArrowheads="1"/>
            </p:cNvSpPr>
            <p:nvPr/>
          </p:nvSpPr>
          <p:spPr bwMode="auto">
            <a:xfrm>
              <a:off x="1019178" y="3429000"/>
              <a:ext cx="2508022" cy="33683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所有元素不小于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20483" name="AutoShape 3"/>
            <p:cNvSpPr>
              <a:spLocks/>
            </p:cNvSpPr>
            <p:nvPr/>
          </p:nvSpPr>
          <p:spPr bwMode="auto">
            <a:xfrm rot="5400000">
              <a:off x="2119801" y="1973021"/>
              <a:ext cx="187200" cy="2653326"/>
            </a:xfrm>
            <a:prstGeom prst="rightBrace">
              <a:avLst>
                <a:gd name="adj1" fmla="val 64072"/>
                <a:gd name="adj2" fmla="val 50000"/>
              </a:avLst>
            </a:prstGeom>
            <a:noFill/>
            <a:ln w="19050">
              <a:solidFill>
                <a:srgbClr val="339933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20482" name="AutoShape 2"/>
            <p:cNvSpPr>
              <a:spLocks noChangeShapeType="1"/>
            </p:cNvSpPr>
            <p:nvPr/>
          </p:nvSpPr>
          <p:spPr bwMode="auto">
            <a:xfrm>
              <a:off x="3985818" y="2278965"/>
              <a:ext cx="1514" cy="370324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571472" y="1142984"/>
            <a:ext cx="7858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快速排序中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一次划分归位的元素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大的元素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30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2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285720" y="2500306"/>
            <a:ext cx="5572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此时查找第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大元素分为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种情况：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7158" y="3214686"/>
            <a:ext cx="8358246" cy="242630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4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若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-1=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，则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即为所求，返回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  <a:p>
            <a:pPr marL="457200" indent="-457200" algn="l">
              <a:lnSpc>
                <a:spcPts val="34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若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-1&lt;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，说明第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大元素小于等于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，则第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大元素应在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..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中，递归在左子序列中求解并返回其结果。</a:t>
            </a:r>
          </a:p>
          <a:p>
            <a:pPr marL="457200" indent="-457200" algn="l">
              <a:lnSpc>
                <a:spcPts val="34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若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-1&gt;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，说明第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大元素大于等于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，则第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大元素应在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+1..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中，递归在右子序列中求解并返回其结果。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1524383" y="428604"/>
            <a:ext cx="6119451" cy="1788173"/>
            <a:chOff x="857224" y="1977662"/>
            <a:chExt cx="6119451" cy="1788173"/>
          </a:xfrm>
        </p:grpSpPr>
        <p:sp>
          <p:nvSpPr>
            <p:cNvPr id="29" name="Rectangle 10"/>
            <p:cNvSpPr>
              <a:spLocks noChangeArrowheads="1"/>
            </p:cNvSpPr>
            <p:nvPr/>
          </p:nvSpPr>
          <p:spPr bwMode="auto">
            <a:xfrm>
              <a:off x="857224" y="2696397"/>
              <a:ext cx="2682085" cy="461924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[s]  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   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-1]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30" name="Text Box 9"/>
            <p:cNvSpPr txBox="1">
              <a:spLocks noChangeArrowheads="1"/>
            </p:cNvSpPr>
            <p:nvPr/>
          </p:nvSpPr>
          <p:spPr bwMode="auto">
            <a:xfrm>
              <a:off x="3035282" y="1977662"/>
              <a:ext cx="3608420" cy="33368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第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大的元素（绝对序号</a:t>
              </a:r>
              <a:r>
                <a:rPr kumimoji="0" lang="zh-CN" altLang="en-US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为</a:t>
              </a:r>
              <a:r>
                <a:rPr kumimoji="0" lang="en-US" altLang="zh-CN" sz="2000" b="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）</a:t>
              </a:r>
              <a:endParaRPr kumimoji="0" lang="zh-CN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31" name="Oval 8"/>
            <p:cNvSpPr>
              <a:spLocks noChangeArrowheads="1"/>
            </p:cNvSpPr>
            <p:nvPr/>
          </p:nvSpPr>
          <p:spPr bwMode="auto">
            <a:xfrm>
              <a:off x="3664936" y="2649289"/>
              <a:ext cx="643277" cy="557449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32" name="Rectangle 7"/>
            <p:cNvSpPr>
              <a:spLocks noChangeArrowheads="1"/>
            </p:cNvSpPr>
            <p:nvPr/>
          </p:nvSpPr>
          <p:spPr bwMode="auto">
            <a:xfrm>
              <a:off x="4438382" y="2696397"/>
              <a:ext cx="2538293" cy="461924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+1]  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 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[t]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33" name="Text Box 6"/>
            <p:cNvSpPr txBox="1">
              <a:spLocks noChangeArrowheads="1"/>
            </p:cNvSpPr>
            <p:nvPr/>
          </p:nvSpPr>
          <p:spPr bwMode="auto">
            <a:xfrm>
              <a:off x="4411137" y="3429000"/>
              <a:ext cx="2452019" cy="33683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所有元素不大于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34" name="AutoShape 5"/>
            <p:cNvSpPr>
              <a:spLocks/>
            </p:cNvSpPr>
            <p:nvPr/>
          </p:nvSpPr>
          <p:spPr bwMode="auto">
            <a:xfrm rot="5400000">
              <a:off x="5559477" y="2084232"/>
              <a:ext cx="187125" cy="2430828"/>
            </a:xfrm>
            <a:prstGeom prst="rightBrace">
              <a:avLst>
                <a:gd name="adj1" fmla="val 93590"/>
                <a:gd name="adj2" fmla="val 50000"/>
              </a:avLst>
            </a:prstGeom>
            <a:noFill/>
            <a:ln w="19050">
              <a:solidFill>
                <a:srgbClr val="339933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35" name="Text Box 4"/>
            <p:cNvSpPr txBox="1">
              <a:spLocks noChangeArrowheads="1"/>
            </p:cNvSpPr>
            <p:nvPr/>
          </p:nvSpPr>
          <p:spPr bwMode="auto">
            <a:xfrm>
              <a:off x="1019178" y="3429000"/>
              <a:ext cx="2508022" cy="33683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所有元素不小于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36" name="AutoShape 3"/>
            <p:cNvSpPr>
              <a:spLocks/>
            </p:cNvSpPr>
            <p:nvPr/>
          </p:nvSpPr>
          <p:spPr bwMode="auto">
            <a:xfrm rot="5400000">
              <a:off x="2119801" y="1973021"/>
              <a:ext cx="187200" cy="2653326"/>
            </a:xfrm>
            <a:prstGeom prst="rightBrace">
              <a:avLst>
                <a:gd name="adj1" fmla="val 64072"/>
                <a:gd name="adj2" fmla="val 50000"/>
              </a:avLst>
            </a:prstGeom>
            <a:noFill/>
            <a:ln w="19050">
              <a:solidFill>
                <a:srgbClr val="339933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37" name="AutoShape 2"/>
            <p:cNvSpPr>
              <a:spLocks noChangeShapeType="1"/>
            </p:cNvSpPr>
            <p:nvPr/>
          </p:nvSpPr>
          <p:spPr bwMode="auto">
            <a:xfrm>
              <a:off x="3985818" y="2278965"/>
              <a:ext cx="1514" cy="370324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</p:grp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31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571480"/>
            <a:ext cx="8215370" cy="2988098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class Solution 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public: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 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findKthLargest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(vector&lt;int&gt;&amp; nums,int k) 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int n=nums.size();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return 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quickselect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(nums,0,n-1,k);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	}</a:t>
            </a: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 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partition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(vector&lt;int&gt;&amp;a,int s,int t) { }  </a:t>
            </a: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划分算法</a:t>
            </a:r>
            <a:r>
              <a:rPr lang="zh-CN" altLang="en-US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：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用于递减排序</a:t>
            </a:r>
            <a:endParaRPr lang="en-US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32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438" y="571480"/>
            <a:ext cx="9001156" cy="421920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	int 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quickselect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(vector&lt;int&gt;&amp;a,int s,int t,int k) {  	</a:t>
            </a: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if (s&lt;t) {   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区间至少</a:t>
            </a:r>
            <a:r>
              <a:rPr lang="zh-CN" altLang="en-US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有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个元素</a:t>
            </a: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 	int i=</a:t>
            </a:r>
            <a:r>
              <a:rPr lang="en-US" altLang="zh-CN" sz="2000">
                <a:solidFill>
                  <a:srgbClr val="C00000"/>
                </a:solidFill>
                <a:latin typeface="Consolas" pitchFamily="49" charset="0"/>
                <a:ea typeface="仿宋" pitchFamily="49" charset="-122"/>
              </a:rPr>
              <a:t>partition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(a,s,t);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 	if (k-1==i)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  	return a[i];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 	else if (k-1&lt;i)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  	return 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quickselect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(a,s,i-1,k); 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左区间递归查找</a:t>
            </a: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 	else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  	return 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quickselect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(a,i+1,t,k); 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右区间递归查找</a:t>
            </a: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else return a[k-1];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	}</a:t>
            </a: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；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4" name="组合 9"/>
          <p:cNvGrpSpPr/>
          <p:nvPr/>
        </p:nvGrpSpPr>
        <p:grpSpPr>
          <a:xfrm>
            <a:off x="642910" y="5072074"/>
            <a:ext cx="7000924" cy="461665"/>
            <a:chOff x="1071538" y="6286520"/>
            <a:chExt cx="7000924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1857356" y="6286520"/>
              <a:ext cx="62151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执行用时为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120ms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，内存消耗为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44.3MB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。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71538" y="6286520"/>
              <a:ext cx="785818" cy="443968"/>
            </a:xfrm>
            <a:prstGeom prst="rect">
              <a:avLst/>
            </a:prstGeom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Eras Bold ITC" pitchFamily="34" charset="0"/>
                  <a:ea typeface="仿宋" pitchFamily="49" charset="-122"/>
                  <a:cs typeface="Courier New" pitchFamily="49" charset="0"/>
                </a:rPr>
                <a:t>EXE </a:t>
              </a:r>
              <a:endParaRPr lang="zh-CN" altLang="en-US" sz="2000">
                <a:solidFill>
                  <a:srgbClr val="FF3300"/>
                </a:solidFill>
                <a:latin typeface="Forte" pitchFamily="66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33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538443"/>
            <a:ext cx="1285884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2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20492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500034" y="1324261"/>
            <a:ext cx="8286808" cy="1354217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ct val="10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采用简单的取排序区间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..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中间位置元素为基准的方法，即求先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mid=(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)/2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，再将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[mid]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交换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ct val="10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其他同解法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18" name="组合 9"/>
          <p:cNvGrpSpPr/>
          <p:nvPr/>
        </p:nvGrpSpPr>
        <p:grpSpPr>
          <a:xfrm>
            <a:off x="714348" y="4110343"/>
            <a:ext cx="7000924" cy="461665"/>
            <a:chOff x="1071538" y="6286520"/>
            <a:chExt cx="7000924" cy="461665"/>
          </a:xfrm>
        </p:grpSpPr>
        <p:sp>
          <p:nvSpPr>
            <p:cNvPr id="19" name="TextBox 18"/>
            <p:cNvSpPr txBox="1"/>
            <p:nvPr/>
          </p:nvSpPr>
          <p:spPr>
            <a:xfrm>
              <a:off x="1857356" y="6286520"/>
              <a:ext cx="62151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执行用时为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64ms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，内存消耗为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44.5MB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。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71538" y="6286520"/>
              <a:ext cx="785818" cy="443968"/>
            </a:xfrm>
            <a:prstGeom prst="rect">
              <a:avLst/>
            </a:prstGeom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Eras Bold ITC" pitchFamily="34" charset="0"/>
                  <a:ea typeface="仿宋" pitchFamily="49" charset="-122"/>
                  <a:cs typeface="Courier New" pitchFamily="49" charset="0"/>
                </a:rPr>
                <a:t>EXE </a:t>
              </a:r>
              <a:endParaRPr lang="zh-CN" altLang="en-US" sz="2000">
                <a:solidFill>
                  <a:srgbClr val="FF3300"/>
                </a:solidFill>
                <a:latin typeface="Forte" pitchFamily="66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2357422" y="3181649"/>
            <a:ext cx="10715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代码略</a:t>
            </a: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34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442721"/>
            <a:ext cx="1285884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3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20492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285720" y="1085663"/>
            <a:ext cx="8501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采用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前后查找交换的划分方式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基准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base=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[(s+t)/2]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71472" y="2585861"/>
            <a:ext cx="8143932" cy="132610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marL="457200" indent="-457200" algn="l">
              <a:lnSpc>
                <a:spcPct val="100000"/>
              </a:lnSpc>
              <a:spcBef>
                <a:spcPts val="0"/>
              </a:spcBef>
              <a:buBlip>
                <a:blip r:embed="rId3"/>
              </a:buBlip>
            </a:pP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..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（共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个元素）中全部元素不小于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base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Blip>
                <a:blip r:embed="rId3"/>
              </a:buBlip>
            </a:pP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..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（共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个元素）中全部元素不大于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base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Blip>
                <a:blip r:embed="rId3"/>
              </a:buBlip>
            </a:pP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+1]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是划分点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9" name="下箭头 18"/>
          <p:cNvSpPr/>
          <p:nvPr/>
        </p:nvSpPr>
        <p:spPr>
          <a:xfrm>
            <a:off x="3643306" y="1728605"/>
            <a:ext cx="285752" cy="571504"/>
          </a:xfrm>
          <a:prstGeom prst="downArrow">
            <a:avLst/>
          </a:prstGeom>
          <a:ln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4071934" y="1800043"/>
            <a:ext cx="9286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特点</a:t>
            </a:r>
          </a:p>
        </p:txBody>
      </p:sp>
      <p:grpSp>
        <p:nvGrpSpPr>
          <p:cNvPr id="38" name="组合 37"/>
          <p:cNvGrpSpPr/>
          <p:nvPr/>
        </p:nvGrpSpPr>
        <p:grpSpPr>
          <a:xfrm>
            <a:off x="1000100" y="4203529"/>
            <a:ext cx="6000792" cy="1868677"/>
            <a:chOff x="1000100" y="4203529"/>
            <a:chExt cx="6000792" cy="1868677"/>
          </a:xfrm>
        </p:grpSpPr>
        <p:sp>
          <p:nvSpPr>
            <p:cNvPr id="21" name="TextBox 20"/>
            <p:cNvSpPr txBox="1"/>
            <p:nvPr/>
          </p:nvSpPr>
          <p:spPr>
            <a:xfrm>
              <a:off x="1357290" y="4714884"/>
              <a:ext cx="56436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defTabSz="360000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i="1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a</a:t>
              </a:r>
              <a:r>
                <a:rPr lang="en-US" altLang="zh-CN" i="1" baseline="-25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s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  </a:t>
              </a:r>
              <a:r>
                <a:rPr lang="en-US" altLang="zh-CN">
                  <a:solidFill>
                    <a:srgbClr val="0000FF"/>
                  </a:solidFill>
                  <a:latin typeface="+mn-ea"/>
                  <a:ea typeface="+mn-ea"/>
                  <a:cs typeface="Consolas" pitchFamily="49" charset="0"/>
                </a:rPr>
                <a:t>…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  </a:t>
              </a:r>
              <a:r>
                <a:rPr lang="en-US" altLang="zh-CN" i="1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a</a:t>
              </a:r>
              <a:r>
                <a:rPr lang="en-US" altLang="zh-CN" i="1" baseline="-25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j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	</a:t>
              </a:r>
              <a:r>
                <a:rPr lang="en-US" altLang="zh-CN" i="1">
                  <a:solidFill>
                    <a:srgbClr val="FF00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a</a:t>
              </a:r>
              <a:r>
                <a:rPr lang="en-US" altLang="zh-CN" i="1" baseline="-25000">
                  <a:solidFill>
                    <a:srgbClr val="FF00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j</a:t>
              </a:r>
              <a:r>
                <a:rPr lang="en-US" altLang="zh-CN" baseline="-25000">
                  <a:solidFill>
                    <a:srgbClr val="FF00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+1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	 </a:t>
              </a:r>
              <a:r>
                <a:rPr lang="en-US" altLang="zh-CN">
                  <a:solidFill>
                    <a:srgbClr val="0000FF"/>
                  </a:solidFill>
                  <a:latin typeface="+mn-ea"/>
                  <a:ea typeface="+mn-ea"/>
                  <a:cs typeface="Consolas" pitchFamily="49" charset="0"/>
                </a:rPr>
                <a:t>…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		</a:t>
              </a:r>
              <a:r>
                <a:rPr lang="en-US" altLang="zh-CN" i="1">
                  <a:solidFill>
                    <a:srgbClr val="0066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a</a:t>
              </a:r>
              <a:r>
                <a:rPr lang="en-US" altLang="zh-CN" i="1" baseline="-25000">
                  <a:solidFill>
                    <a:srgbClr val="0066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i</a:t>
              </a:r>
              <a:r>
                <a:rPr lang="en-US" altLang="zh-CN">
                  <a:solidFill>
                    <a:srgbClr val="0066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	 </a:t>
              </a:r>
              <a:r>
                <a:rPr lang="en-US" altLang="zh-CN">
                  <a:solidFill>
                    <a:srgbClr val="006600"/>
                  </a:solidFill>
                  <a:latin typeface="+mn-ea"/>
                  <a:ea typeface="+mn-ea"/>
                  <a:cs typeface="Consolas" pitchFamily="49" charset="0"/>
                </a:rPr>
                <a:t>…</a:t>
              </a:r>
              <a:r>
                <a:rPr lang="en-US" altLang="zh-CN">
                  <a:solidFill>
                    <a:srgbClr val="0066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		</a:t>
              </a:r>
              <a:r>
                <a:rPr lang="en-US" altLang="zh-CN" i="1">
                  <a:solidFill>
                    <a:srgbClr val="0066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a</a:t>
              </a:r>
              <a:r>
                <a:rPr lang="en-US" altLang="zh-CN" i="1" baseline="-25000">
                  <a:solidFill>
                    <a:srgbClr val="0066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t</a:t>
              </a:r>
              <a:endParaRPr lang="zh-CN" altLang="en-US" i="1" baseline="-25000">
                <a:solidFill>
                  <a:srgbClr val="006600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  <p:sp>
          <p:nvSpPr>
            <p:cNvPr id="22" name="Text Box 4"/>
            <p:cNvSpPr txBox="1">
              <a:spLocks noChangeArrowheads="1"/>
            </p:cNvSpPr>
            <p:nvPr/>
          </p:nvSpPr>
          <p:spPr bwMode="auto">
            <a:xfrm>
              <a:off x="1519244" y="5521057"/>
              <a:ext cx="1552558" cy="55114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ts val="21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不小于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base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（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s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个）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23" name="AutoShape 3"/>
            <p:cNvSpPr>
              <a:spLocks/>
            </p:cNvSpPr>
            <p:nvPr/>
          </p:nvSpPr>
          <p:spPr bwMode="auto">
            <a:xfrm rot="5400000">
              <a:off x="2109770" y="4696539"/>
              <a:ext cx="252000" cy="1296000"/>
            </a:xfrm>
            <a:prstGeom prst="rightBrace">
              <a:avLst>
                <a:gd name="adj1" fmla="val 64072"/>
                <a:gd name="adj2" fmla="val 50000"/>
              </a:avLst>
            </a:prstGeom>
            <a:noFill/>
            <a:ln w="19050">
              <a:solidFill>
                <a:srgbClr val="00B0F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24" name="Text Box 4"/>
            <p:cNvSpPr txBox="1">
              <a:spLocks noChangeArrowheads="1"/>
            </p:cNvSpPr>
            <p:nvPr/>
          </p:nvSpPr>
          <p:spPr bwMode="auto">
            <a:xfrm>
              <a:off x="5158878" y="5446031"/>
              <a:ext cx="1552558" cy="4833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ts val="21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不</a:t>
              </a:r>
              <a:r>
                <a:rPr kumimoji="0" lang="zh-CN" altLang="en-US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大</a:t>
              </a: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于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base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（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t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个）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25" name="AutoShape 3"/>
            <p:cNvSpPr>
              <a:spLocks/>
            </p:cNvSpPr>
            <p:nvPr/>
          </p:nvSpPr>
          <p:spPr bwMode="auto">
            <a:xfrm rot="5400000">
              <a:off x="5747258" y="4555132"/>
              <a:ext cx="252000" cy="1428760"/>
            </a:xfrm>
            <a:prstGeom prst="rightBrace">
              <a:avLst>
                <a:gd name="adj1" fmla="val 64072"/>
                <a:gd name="adj2" fmla="val 50000"/>
              </a:avLst>
            </a:prstGeom>
            <a:noFill/>
            <a:ln w="19050">
              <a:solidFill>
                <a:srgbClr val="00B0F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cxnSp>
          <p:nvCxnSpPr>
            <p:cNvPr id="33" name="直接箭头连接符 32"/>
            <p:cNvCxnSpPr/>
            <p:nvPr/>
          </p:nvCxnSpPr>
          <p:spPr>
            <a:xfrm rot="5400000">
              <a:off x="2690976" y="4693541"/>
              <a:ext cx="214314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2428860" y="4234307"/>
              <a:ext cx="8572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kumimoji="0" lang="en-US" altLang="zh-CN" sz="1800" b="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r>
                <a:rPr kumimoji="0" lang="en-US" altLang="zh-CN" sz="18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</a:t>
              </a:r>
              <a:r>
                <a:rPr kumimoji="0" lang="en-US" altLang="zh-CN" sz="1800" b="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s</a:t>
              </a:r>
              <a:r>
                <a:rPr kumimoji="0" lang="en-US" altLang="zh-CN" sz="18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</a:t>
              </a:r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  <p:cxnSp>
          <p:nvCxnSpPr>
            <p:cNvPr id="35" name="直接箭头连接符 34"/>
            <p:cNvCxnSpPr/>
            <p:nvPr/>
          </p:nvCxnSpPr>
          <p:spPr>
            <a:xfrm rot="5400000">
              <a:off x="5048430" y="4678371"/>
              <a:ext cx="214314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>
              <a:off x="4786314" y="4234307"/>
              <a:ext cx="8572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kumimoji="0" lang="en-US" altLang="zh-CN" sz="1800" b="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18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</a:t>
              </a:r>
              <a:r>
                <a:rPr kumimoji="0" lang="en-US" altLang="zh-CN" sz="1800" b="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s</a:t>
              </a:r>
              <a:r>
                <a:rPr kumimoji="0" lang="en-US" altLang="zh-CN" sz="18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</a:t>
              </a:r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000100" y="4203529"/>
              <a:ext cx="135732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相对序号：</a:t>
              </a:r>
            </a:p>
          </p:txBody>
        </p:sp>
      </p:grpSp>
      <p:sp>
        <p:nvSpPr>
          <p:cNvPr id="26" name="灯片编号占位符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35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2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500034" y="2857496"/>
            <a:ext cx="8143932" cy="2451953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120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）若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+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FF00FF"/>
                </a:solidFill>
                <a:latin typeface="+mj-ea"/>
                <a:ea typeface="+mj-ea"/>
              </a:rPr>
              <a:t>≤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en-US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+1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，说明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大元素在左区间中，递归在左区间中查找第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大元素。</a:t>
            </a:r>
          </a:p>
          <a:p>
            <a:pPr algn="l">
              <a:lnSpc>
                <a:spcPts val="3200"/>
              </a:lnSpc>
              <a:spcBef>
                <a:spcPts val="120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）若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+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FF00FF"/>
                </a:solidFill>
                <a:latin typeface="+mj-ea"/>
                <a:ea typeface="+mj-ea"/>
              </a:rPr>
              <a:t>≥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en-US" altLang="zh-CN">
                <a:solidFill>
                  <a:srgbClr val="0000FF"/>
                </a:solidFill>
                <a:latin typeface="+mn-ea"/>
              </a:rPr>
              <a:t>≥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+1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，说明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大元素在右区间中，递归在右区间中查找第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大元素。</a:t>
            </a:r>
          </a:p>
          <a:p>
            <a:pPr algn="l">
              <a:lnSpc>
                <a:spcPts val="3200"/>
              </a:lnSpc>
              <a:spcBef>
                <a:spcPts val="120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否则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+1]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就是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大元素，返回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+1]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即可。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857224" y="500042"/>
            <a:ext cx="6000792" cy="1868677"/>
            <a:chOff x="1000100" y="4203529"/>
            <a:chExt cx="6000792" cy="1868677"/>
          </a:xfrm>
        </p:grpSpPr>
        <p:sp>
          <p:nvSpPr>
            <p:cNvPr id="13" name="TextBox 12"/>
            <p:cNvSpPr txBox="1"/>
            <p:nvPr/>
          </p:nvSpPr>
          <p:spPr>
            <a:xfrm>
              <a:off x="1357290" y="4714884"/>
              <a:ext cx="56436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defTabSz="360000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i="1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a</a:t>
              </a:r>
              <a:r>
                <a:rPr lang="en-US" altLang="zh-CN" i="1" baseline="-25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s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  </a:t>
              </a:r>
              <a:r>
                <a:rPr lang="en-US" altLang="zh-CN">
                  <a:solidFill>
                    <a:srgbClr val="0000FF"/>
                  </a:solidFill>
                  <a:latin typeface="+mn-ea"/>
                  <a:ea typeface="+mn-ea"/>
                  <a:cs typeface="Consolas" pitchFamily="49" charset="0"/>
                </a:rPr>
                <a:t>…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  </a:t>
              </a:r>
              <a:r>
                <a:rPr lang="en-US" altLang="zh-CN" i="1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a</a:t>
              </a:r>
              <a:r>
                <a:rPr lang="en-US" altLang="zh-CN" i="1" baseline="-25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j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	</a:t>
              </a:r>
              <a:r>
                <a:rPr lang="en-US" altLang="zh-CN" i="1">
                  <a:solidFill>
                    <a:srgbClr val="FF00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a</a:t>
              </a:r>
              <a:r>
                <a:rPr lang="en-US" altLang="zh-CN" i="1" baseline="-25000">
                  <a:solidFill>
                    <a:srgbClr val="FF00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j</a:t>
              </a:r>
              <a:r>
                <a:rPr lang="en-US" altLang="zh-CN" baseline="-25000">
                  <a:solidFill>
                    <a:srgbClr val="FF00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+1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	 </a:t>
              </a:r>
              <a:r>
                <a:rPr lang="en-US" altLang="zh-CN">
                  <a:solidFill>
                    <a:srgbClr val="0000FF"/>
                  </a:solidFill>
                  <a:latin typeface="+mn-ea"/>
                  <a:ea typeface="+mn-ea"/>
                  <a:cs typeface="Consolas" pitchFamily="49" charset="0"/>
                </a:rPr>
                <a:t>…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		</a:t>
              </a:r>
              <a:r>
                <a:rPr lang="en-US" altLang="zh-CN" i="1">
                  <a:solidFill>
                    <a:srgbClr val="0066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a</a:t>
              </a:r>
              <a:r>
                <a:rPr lang="en-US" altLang="zh-CN" i="1" baseline="-25000">
                  <a:solidFill>
                    <a:srgbClr val="0066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i</a:t>
              </a:r>
              <a:r>
                <a:rPr lang="en-US" altLang="zh-CN">
                  <a:solidFill>
                    <a:srgbClr val="0066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	 </a:t>
              </a:r>
              <a:r>
                <a:rPr lang="en-US" altLang="zh-CN">
                  <a:solidFill>
                    <a:srgbClr val="006600"/>
                  </a:solidFill>
                  <a:latin typeface="+mn-ea"/>
                  <a:ea typeface="+mn-ea"/>
                  <a:cs typeface="Consolas" pitchFamily="49" charset="0"/>
                </a:rPr>
                <a:t>…</a:t>
              </a:r>
              <a:r>
                <a:rPr lang="en-US" altLang="zh-CN">
                  <a:solidFill>
                    <a:srgbClr val="0066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		</a:t>
              </a:r>
              <a:r>
                <a:rPr lang="en-US" altLang="zh-CN" i="1">
                  <a:solidFill>
                    <a:srgbClr val="0066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a</a:t>
              </a:r>
              <a:r>
                <a:rPr lang="en-US" altLang="zh-CN" i="1" baseline="-25000">
                  <a:solidFill>
                    <a:srgbClr val="0066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t</a:t>
              </a:r>
              <a:endParaRPr lang="zh-CN" altLang="en-US" i="1" baseline="-25000">
                <a:solidFill>
                  <a:srgbClr val="006600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  <p:sp>
          <p:nvSpPr>
            <p:cNvPr id="14" name="Text Box 4"/>
            <p:cNvSpPr txBox="1">
              <a:spLocks noChangeArrowheads="1"/>
            </p:cNvSpPr>
            <p:nvPr/>
          </p:nvSpPr>
          <p:spPr bwMode="auto">
            <a:xfrm>
              <a:off x="1519244" y="5521057"/>
              <a:ext cx="1552558" cy="55114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ts val="21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不小于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base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（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s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个）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5" name="AutoShape 3"/>
            <p:cNvSpPr>
              <a:spLocks/>
            </p:cNvSpPr>
            <p:nvPr/>
          </p:nvSpPr>
          <p:spPr bwMode="auto">
            <a:xfrm rot="5400000">
              <a:off x="2109770" y="4696539"/>
              <a:ext cx="252000" cy="1296000"/>
            </a:xfrm>
            <a:prstGeom prst="rightBrace">
              <a:avLst>
                <a:gd name="adj1" fmla="val 64072"/>
                <a:gd name="adj2" fmla="val 50000"/>
              </a:avLst>
            </a:prstGeom>
            <a:noFill/>
            <a:ln w="19050">
              <a:solidFill>
                <a:srgbClr val="00B0F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6" name="Text Box 4"/>
            <p:cNvSpPr txBox="1">
              <a:spLocks noChangeArrowheads="1"/>
            </p:cNvSpPr>
            <p:nvPr/>
          </p:nvSpPr>
          <p:spPr bwMode="auto">
            <a:xfrm>
              <a:off x="5158878" y="5446031"/>
              <a:ext cx="1552558" cy="4833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ts val="21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不</a:t>
              </a:r>
              <a:r>
                <a:rPr kumimoji="0" lang="zh-CN" altLang="en-US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大</a:t>
              </a: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于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base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（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t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个）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7" name="AutoShape 3"/>
            <p:cNvSpPr>
              <a:spLocks/>
            </p:cNvSpPr>
            <p:nvPr/>
          </p:nvSpPr>
          <p:spPr bwMode="auto">
            <a:xfrm rot="5400000">
              <a:off x="5747258" y="4555132"/>
              <a:ext cx="252000" cy="1428760"/>
            </a:xfrm>
            <a:prstGeom prst="rightBrace">
              <a:avLst>
                <a:gd name="adj1" fmla="val 64072"/>
                <a:gd name="adj2" fmla="val 50000"/>
              </a:avLst>
            </a:prstGeom>
            <a:noFill/>
            <a:ln w="19050">
              <a:solidFill>
                <a:srgbClr val="00B0F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cxnSp>
          <p:nvCxnSpPr>
            <p:cNvPr id="18" name="直接箭头连接符 17"/>
            <p:cNvCxnSpPr/>
            <p:nvPr/>
          </p:nvCxnSpPr>
          <p:spPr>
            <a:xfrm rot="5400000">
              <a:off x="2690976" y="4693541"/>
              <a:ext cx="214314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2428860" y="4234307"/>
              <a:ext cx="8572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kumimoji="0" lang="en-US" altLang="zh-CN" sz="1800" b="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r>
                <a:rPr kumimoji="0" lang="en-US" altLang="zh-CN" sz="18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</a:t>
              </a:r>
              <a:r>
                <a:rPr kumimoji="0" lang="en-US" altLang="zh-CN" sz="1800" b="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s</a:t>
              </a:r>
              <a:r>
                <a:rPr kumimoji="0" lang="en-US" altLang="zh-CN" sz="18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</a:t>
              </a:r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  <p:cxnSp>
          <p:nvCxnSpPr>
            <p:cNvPr id="20" name="直接箭头连接符 19"/>
            <p:cNvCxnSpPr/>
            <p:nvPr/>
          </p:nvCxnSpPr>
          <p:spPr>
            <a:xfrm rot="5400000">
              <a:off x="5048430" y="4678371"/>
              <a:ext cx="214314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4786314" y="4234307"/>
              <a:ext cx="8572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kumimoji="0" lang="en-US" altLang="zh-CN" sz="1800" b="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18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</a:t>
              </a:r>
              <a:r>
                <a:rPr kumimoji="0" lang="en-US" altLang="zh-CN" sz="1800" b="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s</a:t>
              </a:r>
              <a:r>
                <a:rPr kumimoji="0" lang="en-US" altLang="zh-CN" sz="18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</a:t>
              </a:r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000100" y="4203529"/>
              <a:ext cx="135732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相对序号：</a:t>
              </a:r>
            </a:p>
          </p:txBody>
        </p:sp>
      </p:grp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36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571480"/>
            <a:ext cx="8215370" cy="2449489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class Solution 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public: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 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findKthLargest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(vector&lt;int&gt;&amp; nums,int k) 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	int n=nums.size();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	return 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quickselect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(nums,0,n-1,k);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37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428604"/>
            <a:ext cx="8643998" cy="5142534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 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quickselect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(vector&lt;int&gt;&amp;nums,int s,int t,int k) 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 (s&gt;=t) return nums[s];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int i=s, j=t;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int base=nums[(i+j)/2];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while 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i&lt;=j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 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	while (i&lt;=j &amp;&amp; 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nums[i]&gt;base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 {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跳过大于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base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的元素</a:t>
            </a: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	i++;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//i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指向</a:t>
            </a:r>
            <a:r>
              <a:rPr lang="zh-CN" altLang="en-US" sz="2000">
                <a:solidFill>
                  <a:srgbClr val="00B0F0"/>
                </a:solidFill>
                <a:latin typeface="+mn-ea"/>
              </a:rPr>
              <a:t>≤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base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的元素</a:t>
            </a: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while (i&lt;=j &amp;&amp; 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nums[j]&lt;base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 {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跳过小于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base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的元素</a:t>
            </a: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 	j--;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//j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指向</a:t>
            </a:r>
            <a:r>
              <a:rPr lang="zh-CN" altLang="en-US" sz="2000">
                <a:solidFill>
                  <a:srgbClr val="00B0F0"/>
                </a:solidFill>
                <a:latin typeface="+mj-ea"/>
                <a:ea typeface="+mj-ea"/>
              </a:rPr>
              <a:t>≥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base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的元素</a:t>
            </a: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if (i&lt;=j) 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		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swap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(nums[i],nums[j]);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交换</a:t>
            </a: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 	i++; j--;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857488" y="5572140"/>
            <a:ext cx="1357322" cy="757300"/>
            <a:chOff x="2857488" y="5572140"/>
            <a:chExt cx="1357322" cy="757300"/>
          </a:xfrm>
        </p:grpSpPr>
        <p:sp>
          <p:nvSpPr>
            <p:cNvPr id="5" name="TextBox 4"/>
            <p:cNvSpPr txBox="1"/>
            <p:nvPr/>
          </p:nvSpPr>
          <p:spPr>
            <a:xfrm>
              <a:off x="2857488" y="5929330"/>
              <a:ext cx="135732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000">
                  <a:solidFill>
                    <a:srgbClr val="C000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一次划分</a:t>
              </a:r>
            </a:p>
          </p:txBody>
        </p:sp>
        <p:sp>
          <p:nvSpPr>
            <p:cNvPr id="6" name="上箭头 5"/>
            <p:cNvSpPr/>
            <p:nvPr/>
          </p:nvSpPr>
          <p:spPr>
            <a:xfrm>
              <a:off x="3428992" y="5572140"/>
              <a:ext cx="214314" cy="285752"/>
            </a:xfrm>
            <a:prstGeom prst="upArrow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38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2395831"/>
            <a:ext cx="8429652" cy="342597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	if (s+k-1&lt;=j) {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在左区间查找第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大元素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		return 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quickselect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(nums,s,j,k);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	if (s+k-1&gt;=i) {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在右区间查找第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k-(i-s)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大元素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 	return 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quickselect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(nums,i,t,k-(i-s));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return nums[j+1];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2" name="组合 9"/>
          <p:cNvGrpSpPr/>
          <p:nvPr/>
        </p:nvGrpSpPr>
        <p:grpSpPr>
          <a:xfrm>
            <a:off x="642910" y="6039169"/>
            <a:ext cx="7000924" cy="461665"/>
            <a:chOff x="1071538" y="6286520"/>
            <a:chExt cx="7000924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1857356" y="6286520"/>
              <a:ext cx="62151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执行用时为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52ms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，内存消耗为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44.4MB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。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71538" y="6286520"/>
              <a:ext cx="785818" cy="443968"/>
            </a:xfrm>
            <a:prstGeom prst="rect">
              <a:avLst/>
            </a:prstGeom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Eras Bold ITC" pitchFamily="34" charset="0"/>
                  <a:ea typeface="仿宋" pitchFamily="49" charset="-122"/>
                  <a:cs typeface="Courier New" pitchFamily="49" charset="0"/>
                </a:rPr>
                <a:t>EXE </a:t>
              </a:r>
              <a:endParaRPr lang="zh-CN" altLang="en-US" sz="2000">
                <a:solidFill>
                  <a:srgbClr val="FF3300"/>
                </a:solidFill>
                <a:latin typeface="Forte" pitchFamily="66" charset="0"/>
                <a:ea typeface="仿宋" pitchFamily="49" charset="-122"/>
                <a:cs typeface="Consolas" pitchFamily="49" charset="0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000100" y="345877"/>
            <a:ext cx="6000792" cy="1868677"/>
            <a:chOff x="1000100" y="4203529"/>
            <a:chExt cx="6000792" cy="1868677"/>
          </a:xfrm>
        </p:grpSpPr>
        <p:sp>
          <p:nvSpPr>
            <p:cNvPr id="9" name="TextBox 8"/>
            <p:cNvSpPr txBox="1"/>
            <p:nvPr/>
          </p:nvSpPr>
          <p:spPr>
            <a:xfrm>
              <a:off x="1357290" y="4714884"/>
              <a:ext cx="56436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defTabSz="360000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i="1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a</a:t>
              </a:r>
              <a:r>
                <a:rPr lang="en-US" altLang="zh-CN" i="1" baseline="-25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s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  </a:t>
              </a:r>
              <a:r>
                <a:rPr lang="en-US" altLang="zh-CN">
                  <a:solidFill>
                    <a:srgbClr val="0000FF"/>
                  </a:solidFill>
                  <a:latin typeface="+mn-ea"/>
                  <a:ea typeface="+mn-ea"/>
                  <a:cs typeface="Consolas" pitchFamily="49" charset="0"/>
                </a:rPr>
                <a:t>…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  </a:t>
              </a:r>
              <a:r>
                <a:rPr lang="en-US" altLang="zh-CN" i="1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a</a:t>
              </a:r>
              <a:r>
                <a:rPr lang="en-US" altLang="zh-CN" i="1" baseline="-25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j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	</a:t>
              </a:r>
              <a:r>
                <a:rPr lang="en-US" altLang="zh-CN" i="1">
                  <a:solidFill>
                    <a:srgbClr val="FF00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a</a:t>
              </a:r>
              <a:r>
                <a:rPr lang="en-US" altLang="zh-CN" i="1" baseline="-25000">
                  <a:solidFill>
                    <a:srgbClr val="FF00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j</a:t>
              </a:r>
              <a:r>
                <a:rPr lang="en-US" altLang="zh-CN" baseline="-25000">
                  <a:solidFill>
                    <a:srgbClr val="FF00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+1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	 </a:t>
              </a:r>
              <a:r>
                <a:rPr lang="en-US" altLang="zh-CN">
                  <a:solidFill>
                    <a:srgbClr val="0000FF"/>
                  </a:solidFill>
                  <a:latin typeface="+mn-ea"/>
                  <a:ea typeface="+mn-ea"/>
                  <a:cs typeface="Consolas" pitchFamily="49" charset="0"/>
                </a:rPr>
                <a:t>…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		</a:t>
              </a:r>
              <a:r>
                <a:rPr lang="en-US" altLang="zh-CN" i="1">
                  <a:solidFill>
                    <a:srgbClr val="0066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a</a:t>
              </a:r>
              <a:r>
                <a:rPr lang="en-US" altLang="zh-CN" i="1" baseline="-25000">
                  <a:solidFill>
                    <a:srgbClr val="0066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i</a:t>
              </a:r>
              <a:r>
                <a:rPr lang="en-US" altLang="zh-CN">
                  <a:solidFill>
                    <a:srgbClr val="0066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	 </a:t>
              </a:r>
              <a:r>
                <a:rPr lang="en-US" altLang="zh-CN">
                  <a:solidFill>
                    <a:srgbClr val="006600"/>
                  </a:solidFill>
                  <a:latin typeface="+mn-ea"/>
                  <a:ea typeface="+mn-ea"/>
                  <a:cs typeface="Consolas" pitchFamily="49" charset="0"/>
                </a:rPr>
                <a:t>…</a:t>
              </a:r>
              <a:r>
                <a:rPr lang="en-US" altLang="zh-CN">
                  <a:solidFill>
                    <a:srgbClr val="0066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		</a:t>
              </a:r>
              <a:r>
                <a:rPr lang="en-US" altLang="zh-CN" i="1">
                  <a:solidFill>
                    <a:srgbClr val="0066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a</a:t>
              </a:r>
              <a:r>
                <a:rPr lang="en-US" altLang="zh-CN" i="1" baseline="-25000">
                  <a:solidFill>
                    <a:srgbClr val="0066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t</a:t>
              </a:r>
              <a:endParaRPr lang="zh-CN" altLang="en-US" i="1" baseline="-25000">
                <a:solidFill>
                  <a:srgbClr val="006600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1519244" y="5521057"/>
              <a:ext cx="1552558" cy="55114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ts val="21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不小于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base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（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s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个）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1" name="AutoShape 3"/>
            <p:cNvSpPr>
              <a:spLocks/>
            </p:cNvSpPr>
            <p:nvPr/>
          </p:nvSpPr>
          <p:spPr bwMode="auto">
            <a:xfrm rot="5400000">
              <a:off x="2109770" y="4696539"/>
              <a:ext cx="252000" cy="1296000"/>
            </a:xfrm>
            <a:prstGeom prst="rightBrace">
              <a:avLst>
                <a:gd name="adj1" fmla="val 64072"/>
                <a:gd name="adj2" fmla="val 50000"/>
              </a:avLst>
            </a:prstGeom>
            <a:noFill/>
            <a:ln w="19050">
              <a:solidFill>
                <a:srgbClr val="00B0F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2" name="Text Box 4"/>
            <p:cNvSpPr txBox="1">
              <a:spLocks noChangeArrowheads="1"/>
            </p:cNvSpPr>
            <p:nvPr/>
          </p:nvSpPr>
          <p:spPr bwMode="auto">
            <a:xfrm>
              <a:off x="5158878" y="5446031"/>
              <a:ext cx="1552558" cy="4833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ts val="21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不</a:t>
              </a:r>
              <a:r>
                <a:rPr kumimoji="0" lang="zh-CN" altLang="en-US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大</a:t>
              </a: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于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base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（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t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个）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3" name="AutoShape 3"/>
            <p:cNvSpPr>
              <a:spLocks/>
            </p:cNvSpPr>
            <p:nvPr/>
          </p:nvSpPr>
          <p:spPr bwMode="auto">
            <a:xfrm rot="5400000">
              <a:off x="5747258" y="4555132"/>
              <a:ext cx="252000" cy="1428760"/>
            </a:xfrm>
            <a:prstGeom prst="rightBrace">
              <a:avLst>
                <a:gd name="adj1" fmla="val 64072"/>
                <a:gd name="adj2" fmla="val 50000"/>
              </a:avLst>
            </a:prstGeom>
            <a:noFill/>
            <a:ln w="19050">
              <a:solidFill>
                <a:srgbClr val="00B0F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cxnSp>
          <p:nvCxnSpPr>
            <p:cNvPr id="14" name="直接箭头连接符 13"/>
            <p:cNvCxnSpPr/>
            <p:nvPr/>
          </p:nvCxnSpPr>
          <p:spPr>
            <a:xfrm rot="5400000">
              <a:off x="2690976" y="4693541"/>
              <a:ext cx="214314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2428860" y="4234307"/>
              <a:ext cx="8572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kumimoji="0" lang="en-US" altLang="zh-CN" sz="1800" b="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r>
                <a:rPr kumimoji="0" lang="en-US" altLang="zh-CN" sz="18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</a:t>
              </a:r>
              <a:r>
                <a:rPr kumimoji="0" lang="en-US" altLang="zh-CN" sz="1800" b="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s</a:t>
              </a:r>
              <a:r>
                <a:rPr kumimoji="0" lang="en-US" altLang="zh-CN" sz="18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</a:t>
              </a:r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  <p:cxnSp>
          <p:nvCxnSpPr>
            <p:cNvPr id="16" name="直接箭头连接符 15"/>
            <p:cNvCxnSpPr/>
            <p:nvPr/>
          </p:nvCxnSpPr>
          <p:spPr>
            <a:xfrm rot="5400000">
              <a:off x="5048430" y="4678371"/>
              <a:ext cx="214314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4786314" y="4234307"/>
              <a:ext cx="8572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kumimoji="0" lang="en-US" altLang="zh-CN" sz="1800" b="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18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</a:t>
              </a:r>
              <a:r>
                <a:rPr kumimoji="0" lang="en-US" altLang="zh-CN" sz="1800" b="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s</a:t>
              </a:r>
              <a:r>
                <a:rPr kumimoji="0" lang="en-US" altLang="zh-CN" sz="18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+1</a:t>
              </a:r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00100" y="4203529"/>
              <a:ext cx="135732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相对序号：</a:t>
              </a:r>
            </a:p>
          </p:txBody>
        </p:sp>
      </p:grpSp>
      <p:sp>
        <p:nvSpPr>
          <p:cNvPr id="19" name="灯片编号占位符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39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hlinkClick r:id="" action="ppaction://noaction"/>
          </p:cNvPr>
          <p:cNvSpPr txBox="1"/>
          <p:nvPr/>
        </p:nvSpPr>
        <p:spPr>
          <a:xfrm>
            <a:off x="2500298" y="428604"/>
            <a:ext cx="3780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4.3 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二路归并排序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596" y="1785926"/>
            <a:ext cx="8143932" cy="964367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</a:pPr>
            <a:r>
              <a:rPr lang="pt-BR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sym typeface="Wingdings"/>
              </a:rPr>
              <a:t></a:t>
            </a: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问题描述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：给定一个含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个整数的数组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，采用二路归并排序方法实现该数组中所有元素的递增排序。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40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357158" y="285728"/>
            <a:ext cx="928694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85786" y="2285992"/>
            <a:ext cx="7786742" cy="365420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 defTabSz="360000">
              <a:lnSpc>
                <a:spcPts val="32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分解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：将当前序列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[low..high]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一分为二，即求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mid=(low+high)/2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，分解为子序列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[low..mid]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[mid+1..high]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排序的两个子问题。</a:t>
            </a:r>
          </a:p>
          <a:p>
            <a:pPr marL="457200" indent="-457200" algn="l" defTabSz="360000">
              <a:lnSpc>
                <a:spcPts val="32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求解子问题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：递归地对两个子序列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[low..mid]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[mid+1..high]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进行二路归并排序。</a:t>
            </a:r>
          </a:p>
          <a:p>
            <a:pPr marL="457200" indent="-457200" algn="l" defTabSz="360000">
              <a:lnSpc>
                <a:spcPts val="32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合并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：与分解过程相反，将已排序的两个子序列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[low..mid]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[mid+1..high]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归并为一个有序序列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[low..high]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472" y="928670"/>
            <a:ext cx="82868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递归二路归并排序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算法称为自顶向下的二路归并排序算法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设二路归并排序的当前区间是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[low..high]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，则递归二路归并排序的步骤如下：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41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714348" y="571480"/>
            <a:ext cx="47149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两个有序表的归并过程</a:t>
            </a:r>
          </a:p>
        </p:txBody>
      </p:sp>
      <p:sp>
        <p:nvSpPr>
          <p:cNvPr id="78861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8859" name="Rectangle 11"/>
          <p:cNvSpPr>
            <a:spLocks noChangeArrowheads="1"/>
          </p:cNvSpPr>
          <p:nvPr/>
        </p:nvSpPr>
        <p:spPr bwMode="auto">
          <a:xfrm>
            <a:off x="440185" y="2337526"/>
            <a:ext cx="3560387" cy="42535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36000" tIns="180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[low] 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Times New Roman" pitchFamily="18" charset="0"/>
              </a:rPr>
              <a:t>…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 </a:t>
            </a:r>
            <a:r>
              <a:rPr kumimoji="0" lang="en-US" altLang="zh-CN" sz="2000" b="1" i="1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kumimoji="0" lang="en-US" altLang="zh-CN" sz="20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[</a:t>
            </a:r>
            <a:r>
              <a:rPr kumimoji="0" lang="en-US" altLang="zh-CN" sz="2000" b="1" i="1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kumimoji="0" lang="en-US" altLang="zh-CN" sz="20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]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 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Times New Roman" pitchFamily="18" charset="0"/>
              </a:rPr>
              <a:t>…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 </a:t>
            </a:r>
            <a:r>
              <a:rPr kumimoji="0" lang="en-US" altLang="zh-CN" sz="20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[mid]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78858" name="Rectangle 10"/>
          <p:cNvSpPr>
            <a:spLocks noChangeArrowheads="1"/>
          </p:cNvSpPr>
          <p:nvPr/>
        </p:nvSpPr>
        <p:spPr bwMode="auto">
          <a:xfrm>
            <a:off x="3486358" y="1714488"/>
            <a:ext cx="2014336" cy="421266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比较</a:t>
            </a:r>
            <a:r>
              <a:rPr kumimoji="0" lang="en-US" altLang="zh-CN" sz="20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[</a:t>
            </a:r>
            <a:r>
              <a:rPr kumimoji="0" lang="en-US" altLang="zh-CN" sz="20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]</a:t>
            </a:r>
            <a:r>
              <a:rPr kumimoji="0" lang="zh-CN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kumimoji="0" lang="en-US" altLang="zh-CN" sz="20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[</a:t>
            </a:r>
            <a:r>
              <a:rPr kumimoji="0" lang="en-US" altLang="zh-CN" sz="20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j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]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78857" name="Rectangle 9"/>
          <p:cNvSpPr>
            <a:spLocks noChangeArrowheads="1"/>
          </p:cNvSpPr>
          <p:nvPr/>
        </p:nvSpPr>
        <p:spPr bwMode="auto">
          <a:xfrm>
            <a:off x="4116451" y="2337526"/>
            <a:ext cx="4057219" cy="42535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180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[mid+1] 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+mj-ea"/>
                <a:ea typeface="+mj-ea"/>
                <a:cs typeface="Times New Roman" pitchFamily="18" charset="0"/>
              </a:rPr>
              <a:t>…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 </a:t>
            </a:r>
            <a:r>
              <a:rPr kumimoji="0" lang="en-US" altLang="zh-CN" sz="2000" b="1" i="1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kumimoji="0" lang="en-US" altLang="zh-CN" sz="20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[</a:t>
            </a:r>
            <a:r>
              <a:rPr kumimoji="0" lang="en-US" altLang="zh-CN" sz="2000" b="1" i="1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j</a:t>
            </a:r>
            <a:r>
              <a:rPr kumimoji="0" lang="en-US" altLang="zh-CN" sz="20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]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 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+mj-ea"/>
                <a:ea typeface="+mj-ea"/>
                <a:cs typeface="Times New Roman" pitchFamily="18" charset="0"/>
              </a:rPr>
              <a:t>…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 </a:t>
            </a:r>
            <a:r>
              <a:rPr kumimoji="0" lang="en-US" altLang="zh-CN" sz="20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[high]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78856" name="AutoShape 8"/>
          <p:cNvSpPr>
            <a:spLocks/>
          </p:cNvSpPr>
          <p:nvPr/>
        </p:nvSpPr>
        <p:spPr bwMode="auto">
          <a:xfrm rot="5400000">
            <a:off x="4088842" y="145915"/>
            <a:ext cx="229038" cy="4152819"/>
          </a:xfrm>
          <a:prstGeom prst="leftBracket">
            <a:avLst>
              <a:gd name="adj" fmla="val 142212"/>
            </a:avLst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vert="horz" wrap="square" lIns="36000" tIns="0" rIns="0" bIns="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78855" name="Rectangle 7"/>
          <p:cNvSpPr>
            <a:spLocks noChangeArrowheads="1"/>
          </p:cNvSpPr>
          <p:nvPr/>
        </p:nvSpPr>
        <p:spPr bwMode="auto">
          <a:xfrm>
            <a:off x="616901" y="1935346"/>
            <a:ext cx="1163137" cy="31083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有序表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78854" name="Rectangle 6"/>
          <p:cNvSpPr>
            <a:spLocks noChangeArrowheads="1"/>
          </p:cNvSpPr>
          <p:nvPr/>
        </p:nvSpPr>
        <p:spPr bwMode="auto">
          <a:xfrm>
            <a:off x="6423895" y="1923076"/>
            <a:ext cx="1235561" cy="32310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有序表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78853" name="AutoShape 5"/>
          <p:cNvSpPr>
            <a:spLocks noChangeArrowheads="1"/>
          </p:cNvSpPr>
          <p:nvPr/>
        </p:nvSpPr>
        <p:spPr bwMode="auto">
          <a:xfrm>
            <a:off x="3999123" y="2901940"/>
            <a:ext cx="207134" cy="384456"/>
          </a:xfrm>
          <a:prstGeom prst="downArrow">
            <a:avLst>
              <a:gd name="adj1" fmla="val 50000"/>
              <a:gd name="adj2" fmla="val 49301"/>
            </a:avLst>
          </a:prstGeom>
          <a:ln>
            <a:headEnd/>
            <a:tailEnd type="none" w="sm" len="sm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eaVert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78852" name="Rectangle 4"/>
          <p:cNvSpPr>
            <a:spLocks noChangeArrowheads="1"/>
          </p:cNvSpPr>
          <p:nvPr/>
        </p:nvSpPr>
        <p:spPr bwMode="auto">
          <a:xfrm>
            <a:off x="4322137" y="2901940"/>
            <a:ext cx="4393268" cy="39809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将</a:t>
            </a:r>
            <a:r>
              <a:rPr kumimoji="0" lang="en-US" altLang="zh-CN" sz="20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[</a:t>
            </a:r>
            <a:r>
              <a:rPr kumimoji="0" lang="en-US" altLang="zh-CN" sz="20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i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]</a:t>
            </a:r>
            <a:r>
              <a:rPr kumimoji="0" lang="zh-CN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和</a:t>
            </a:r>
            <a:r>
              <a:rPr kumimoji="0" lang="en-US" altLang="zh-CN" sz="20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[</a:t>
            </a:r>
            <a:r>
              <a:rPr kumimoji="0" lang="en-US" altLang="zh-CN" sz="20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j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]</a:t>
            </a:r>
            <a:r>
              <a:rPr kumimoji="0" lang="zh-CN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中较小者临时空间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tmp</a:t>
            </a:r>
            <a:r>
              <a:rPr kumimoji="0" lang="zh-CN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中</a:t>
            </a:r>
            <a:endParaRPr kumimoji="0" lang="zh-CN" altLang="en-US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78851" name="Rectangle 3"/>
          <p:cNvSpPr>
            <a:spLocks noChangeArrowheads="1"/>
          </p:cNvSpPr>
          <p:nvPr/>
        </p:nvSpPr>
        <p:spPr bwMode="auto">
          <a:xfrm>
            <a:off x="440185" y="3421365"/>
            <a:ext cx="7733485" cy="42535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36000" tIns="180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+mj-ea"/>
                <a:ea typeface="+mj-ea"/>
                <a:cs typeface="Times New Roman" pitchFamily="18" charset="0"/>
              </a:rPr>
              <a:t>…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 </a:t>
            </a:r>
            <a:endParaRPr kumimoji="0" lang="zh-CN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78850" name="Rectangle 2"/>
          <p:cNvSpPr>
            <a:spLocks noChangeArrowheads="1"/>
          </p:cNvSpPr>
          <p:nvPr/>
        </p:nvSpPr>
        <p:spPr bwMode="auto">
          <a:xfrm>
            <a:off x="616901" y="2983739"/>
            <a:ext cx="1835236" cy="39809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tmp</a:t>
            </a:r>
            <a:r>
              <a:rPr kumimoji="0" lang="zh-CN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（有序表）</a:t>
            </a:r>
            <a:endParaRPr kumimoji="0" lang="zh-CN" altLang="en-US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42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142844" y="71414"/>
            <a:ext cx="8858312" cy="6843788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36000" bIns="36000" rtlCol="0">
            <a:spAutoFit/>
          </a:bodyPr>
          <a:lstStyle/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merge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(vector&lt;int&gt;&amp;a,int low,int mid,int high) {</a:t>
            </a:r>
          </a:p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vector&lt;int&gt; tmp(high-low+1);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分配临时空间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tmp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i=low,j=mid+1,k=0;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while (i&lt;=mid &amp;&amp; j&lt;=high) {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两个有序表均未遍历完时循环</a:t>
            </a:r>
          </a:p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if (a[i]&lt;=a[j]) {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归并较小元素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a[i]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tmp[k]=a[i];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i++;k++; 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else {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归并较小元素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a[j]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tmp[k]=a[j];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j++;k++; 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while (i&lt;=mid) {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归并有序表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的余下元素</a:t>
            </a:r>
          </a:p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tmp[k]=a[i];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i++;k++; 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while (j&lt;=high) {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归并有序表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的余下元素</a:t>
            </a:r>
          </a:p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tmp[k]=a[j];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j++;k++;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 (k=0,i=low;i&lt;=high;k++,i++)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将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tmp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元素复制回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中</a:t>
            </a:r>
          </a:p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a[i]=tmp[k];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2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43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71406" y="500042"/>
            <a:ext cx="8929718" cy="4899602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36000" bIns="36000" rtlCol="0">
            <a:spAutoFit/>
          </a:bodyPr>
          <a:lstStyle/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pt-BR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pt-BR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mergesort1</a:t>
            </a:r>
            <a:r>
              <a:rPr lang="pt-BR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(vector&lt;int&gt;&amp;a,int low,int high) {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pt-BR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pt-BR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实现</a:t>
            </a:r>
            <a:r>
              <a:rPr lang="pt-BR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a[low..high]</a:t>
            </a:r>
            <a:r>
              <a:rPr lang="zh-CN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的二路归并排序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pt-BR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 (low&lt;high) {							</a:t>
            </a:r>
            <a:r>
              <a:rPr lang="pt-BR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待排序序列有两个或以上元素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pt-BR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int mid=(low+high)/2;			</a:t>
            </a:r>
            <a:r>
              <a:rPr lang="pt-BR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取中间位置</a:t>
            </a:r>
            <a:r>
              <a:rPr lang="pt-BR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mid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pt-BR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mergesort1</a:t>
            </a:r>
            <a:r>
              <a:rPr lang="pt-BR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(a,low,mid);			</a:t>
            </a:r>
            <a:r>
              <a:rPr lang="pt-BR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对</a:t>
            </a:r>
            <a:r>
              <a:rPr lang="pt-BR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a[low..mid]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子序列排序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pt-BR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mergesort1</a:t>
            </a:r>
            <a:r>
              <a:rPr lang="pt-BR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(a,mid+1,high);		</a:t>
            </a:r>
            <a:r>
              <a:rPr lang="pt-BR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对</a:t>
            </a:r>
            <a:r>
              <a:rPr lang="pt-BR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a[mid+1..high]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子序列排序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pt-BR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</a:t>
            </a:r>
            <a:r>
              <a:rPr lang="pt-BR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merge</a:t>
            </a:r>
            <a:r>
              <a:rPr lang="pt-BR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(a,low,mid,high);			</a:t>
            </a:r>
            <a:r>
              <a:rPr lang="pt-BR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将两子序列合并为一个有序序列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pt-BR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pt-BR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pt-BR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pt-BR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mergesort</a:t>
            </a:r>
            <a:r>
              <a:rPr lang="pt-BR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(vector&lt;int&gt;&amp;a) {	</a:t>
            </a:r>
            <a:r>
              <a:rPr lang="pt-BR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//a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的二路归并算法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pt-BR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n=a.size();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pt-BR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pt-BR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mergesort1</a:t>
            </a:r>
            <a:r>
              <a:rPr lang="pt-BR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(a,0,n-1);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pt-BR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44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72"/>
          <p:cNvGrpSpPr/>
          <p:nvPr/>
        </p:nvGrpSpPr>
        <p:grpSpPr>
          <a:xfrm>
            <a:off x="2285984" y="428604"/>
            <a:ext cx="5429288" cy="5572164"/>
            <a:chOff x="1507456" y="1142984"/>
            <a:chExt cx="4246924" cy="4937463"/>
          </a:xfrm>
        </p:grpSpPr>
        <p:sp>
          <p:nvSpPr>
            <p:cNvPr id="4" name="Text Box 67"/>
            <p:cNvSpPr txBox="1">
              <a:spLocks noChangeArrowheads="1"/>
            </p:cNvSpPr>
            <p:nvPr/>
          </p:nvSpPr>
          <p:spPr bwMode="auto">
            <a:xfrm>
              <a:off x="1512923" y="1142984"/>
              <a:ext cx="3615797" cy="30973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3600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ea typeface="仿宋" pitchFamily="49" charset="-122"/>
                  <a:cs typeface="Times New Roman" pitchFamily="18" charset="0"/>
                </a:rPr>
                <a:t>2     5     1     7     10     6     9     4     3     8</a:t>
              </a:r>
            </a:p>
          </p:txBody>
        </p:sp>
        <p:sp>
          <p:nvSpPr>
            <p:cNvPr id="5" name="Text Box 66"/>
            <p:cNvSpPr txBox="1">
              <a:spLocks noChangeArrowheads="1"/>
            </p:cNvSpPr>
            <p:nvPr/>
          </p:nvSpPr>
          <p:spPr bwMode="auto">
            <a:xfrm>
              <a:off x="1512923" y="1719628"/>
              <a:ext cx="1803342" cy="30973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3600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ea typeface="仿宋" pitchFamily="49" charset="-122"/>
                  <a:cs typeface="Times New Roman" pitchFamily="18" charset="0"/>
                </a:rPr>
                <a:t>2    5    1    7    10</a:t>
              </a:r>
            </a:p>
          </p:txBody>
        </p:sp>
        <p:sp>
          <p:nvSpPr>
            <p:cNvPr id="6" name="Text Box 65"/>
            <p:cNvSpPr txBox="1">
              <a:spLocks noChangeArrowheads="1"/>
            </p:cNvSpPr>
            <p:nvPr/>
          </p:nvSpPr>
          <p:spPr bwMode="auto">
            <a:xfrm>
              <a:off x="3480288" y="1723272"/>
              <a:ext cx="1640230" cy="309730"/>
            </a:xfrm>
            <a:prstGeom prst="rect">
              <a:avLst/>
            </a:prstGeom>
            <a:ln w="19050"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3600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ea typeface="仿宋" pitchFamily="49" charset="-122"/>
                  <a:cs typeface="Times New Roman" pitchFamily="18" charset="0"/>
                </a:rPr>
                <a:t>6    9    4    3    8</a:t>
              </a:r>
            </a:p>
          </p:txBody>
        </p:sp>
        <p:sp>
          <p:nvSpPr>
            <p:cNvPr id="7" name="Text Box 64"/>
            <p:cNvSpPr txBox="1">
              <a:spLocks noChangeArrowheads="1"/>
            </p:cNvSpPr>
            <p:nvPr/>
          </p:nvSpPr>
          <p:spPr bwMode="auto">
            <a:xfrm>
              <a:off x="1512923" y="2299006"/>
              <a:ext cx="983227" cy="30973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3600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ea typeface="仿宋" pitchFamily="49" charset="-122"/>
                  <a:cs typeface="Times New Roman" pitchFamily="18" charset="0"/>
                </a:rPr>
                <a:t>2   5   1 </a:t>
              </a:r>
            </a:p>
          </p:txBody>
        </p:sp>
        <p:sp>
          <p:nvSpPr>
            <p:cNvPr id="8" name="Text Box 63"/>
            <p:cNvSpPr txBox="1">
              <a:spLocks noChangeArrowheads="1"/>
            </p:cNvSpPr>
            <p:nvPr/>
          </p:nvSpPr>
          <p:spPr bwMode="auto">
            <a:xfrm>
              <a:off x="2631014" y="2298095"/>
              <a:ext cx="656092" cy="30973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3600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ea typeface="仿宋" pitchFamily="49" charset="-122"/>
                  <a:cs typeface="Times New Roman" pitchFamily="18" charset="0"/>
                </a:rPr>
                <a:t>7   10</a:t>
              </a:r>
            </a:p>
          </p:txBody>
        </p:sp>
        <p:sp>
          <p:nvSpPr>
            <p:cNvPr id="9" name="Text Box 62"/>
            <p:cNvSpPr txBox="1">
              <a:spLocks noChangeArrowheads="1"/>
            </p:cNvSpPr>
            <p:nvPr/>
          </p:nvSpPr>
          <p:spPr bwMode="auto">
            <a:xfrm>
              <a:off x="1512923" y="2898425"/>
              <a:ext cx="490247" cy="30973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3600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ea typeface="仿宋" pitchFamily="49" charset="-122"/>
                  <a:cs typeface="Times New Roman" pitchFamily="18" charset="0"/>
                </a:rPr>
                <a:t>2   5 </a:t>
              </a:r>
            </a:p>
          </p:txBody>
        </p:sp>
        <p:sp>
          <p:nvSpPr>
            <p:cNvPr id="10" name="Text Box 61"/>
            <p:cNvSpPr txBox="1">
              <a:spLocks noChangeArrowheads="1"/>
            </p:cNvSpPr>
            <p:nvPr/>
          </p:nvSpPr>
          <p:spPr bwMode="auto">
            <a:xfrm>
              <a:off x="2168104" y="2898425"/>
              <a:ext cx="328046" cy="30973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3600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ea typeface="仿宋" pitchFamily="49" charset="-122"/>
                  <a:cs typeface="Times New Roman" pitchFamily="18" charset="0"/>
                </a:rPr>
                <a:t>1 </a:t>
              </a:r>
            </a:p>
          </p:txBody>
        </p:sp>
        <p:sp>
          <p:nvSpPr>
            <p:cNvPr id="11" name="Text Box 60"/>
            <p:cNvSpPr txBox="1">
              <a:spLocks noChangeArrowheads="1"/>
            </p:cNvSpPr>
            <p:nvPr/>
          </p:nvSpPr>
          <p:spPr bwMode="auto">
            <a:xfrm>
              <a:off x="1512923" y="3506954"/>
              <a:ext cx="231455" cy="30973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3600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ea typeface="仿宋" pitchFamily="49" charset="-122"/>
                  <a:cs typeface="Times New Roman" pitchFamily="18" charset="0"/>
                </a:rPr>
                <a:t>2 </a:t>
              </a:r>
            </a:p>
          </p:txBody>
        </p:sp>
        <p:sp>
          <p:nvSpPr>
            <p:cNvPr id="12" name="Text Box 59"/>
            <p:cNvSpPr txBox="1">
              <a:spLocks noChangeArrowheads="1"/>
            </p:cNvSpPr>
            <p:nvPr/>
          </p:nvSpPr>
          <p:spPr bwMode="auto">
            <a:xfrm>
              <a:off x="1796319" y="3506954"/>
              <a:ext cx="232366" cy="30973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3600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ea typeface="仿宋" pitchFamily="49" charset="-122"/>
                  <a:cs typeface="Times New Roman" pitchFamily="18" charset="0"/>
                </a:rPr>
                <a:t>5 </a:t>
              </a:r>
            </a:p>
          </p:txBody>
        </p:sp>
        <p:sp>
          <p:nvSpPr>
            <p:cNvPr id="13" name="Text Box 58"/>
            <p:cNvSpPr txBox="1">
              <a:spLocks noChangeArrowheads="1"/>
            </p:cNvSpPr>
            <p:nvPr/>
          </p:nvSpPr>
          <p:spPr bwMode="auto">
            <a:xfrm>
              <a:off x="1520213" y="4099996"/>
              <a:ext cx="490247" cy="30973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3600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ea typeface="仿宋" pitchFamily="49" charset="-122"/>
                  <a:cs typeface="Times New Roman" pitchFamily="18" charset="0"/>
                </a:rPr>
                <a:t> </a:t>
              </a: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ea typeface="仿宋" pitchFamily="49" charset="-122"/>
                  <a:cs typeface="Times New Roman" pitchFamily="18" charset="0"/>
                </a:rPr>
                <a:t>2  5 </a:t>
              </a:r>
            </a:p>
          </p:txBody>
        </p:sp>
        <p:sp>
          <p:nvSpPr>
            <p:cNvPr id="14" name="Text Box 57"/>
            <p:cNvSpPr txBox="1">
              <a:spLocks noChangeArrowheads="1"/>
            </p:cNvSpPr>
            <p:nvPr/>
          </p:nvSpPr>
          <p:spPr bwMode="auto">
            <a:xfrm>
              <a:off x="1512923" y="4640202"/>
              <a:ext cx="983227" cy="30973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3600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ea typeface="仿宋" pitchFamily="49" charset="-122"/>
                  <a:cs typeface="Times New Roman" pitchFamily="18" charset="0"/>
                </a:rPr>
                <a:t>1   2   5 </a:t>
              </a:r>
            </a:p>
          </p:txBody>
        </p:sp>
        <p:sp>
          <p:nvSpPr>
            <p:cNvPr id="15" name="Text Box 56"/>
            <p:cNvSpPr txBox="1">
              <a:spLocks noChangeArrowheads="1"/>
            </p:cNvSpPr>
            <p:nvPr/>
          </p:nvSpPr>
          <p:spPr bwMode="auto">
            <a:xfrm>
              <a:off x="2660173" y="2898425"/>
              <a:ext cx="232366" cy="30973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3600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ea typeface="仿宋" pitchFamily="49" charset="-122"/>
                  <a:cs typeface="Times New Roman" pitchFamily="18" charset="0"/>
                </a:rPr>
                <a:t>7 </a:t>
              </a:r>
            </a:p>
          </p:txBody>
        </p:sp>
        <p:sp>
          <p:nvSpPr>
            <p:cNvPr id="16" name="Text Box 55"/>
            <p:cNvSpPr txBox="1">
              <a:spLocks noChangeArrowheads="1"/>
            </p:cNvSpPr>
            <p:nvPr/>
          </p:nvSpPr>
          <p:spPr bwMode="auto">
            <a:xfrm>
              <a:off x="2995509" y="2898425"/>
              <a:ext cx="232366" cy="30973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3600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ea typeface="仿宋" pitchFamily="49" charset="-122"/>
                  <a:cs typeface="Times New Roman" pitchFamily="18" charset="0"/>
                </a:rPr>
                <a:t>10 </a:t>
              </a:r>
            </a:p>
          </p:txBody>
        </p:sp>
        <p:sp>
          <p:nvSpPr>
            <p:cNvPr id="18" name="Text Box 54"/>
            <p:cNvSpPr txBox="1">
              <a:spLocks noChangeArrowheads="1"/>
            </p:cNvSpPr>
            <p:nvPr/>
          </p:nvSpPr>
          <p:spPr bwMode="auto">
            <a:xfrm>
              <a:off x="2631014" y="3478714"/>
              <a:ext cx="656092" cy="30973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3600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ea typeface="仿宋" pitchFamily="49" charset="-122"/>
                  <a:cs typeface="Times New Roman" pitchFamily="18" charset="0"/>
                </a:rPr>
                <a:t>7   10</a:t>
              </a:r>
            </a:p>
          </p:txBody>
        </p:sp>
        <p:sp>
          <p:nvSpPr>
            <p:cNvPr id="19" name="Text Box 53"/>
            <p:cNvSpPr txBox="1">
              <a:spLocks noChangeArrowheads="1"/>
            </p:cNvSpPr>
            <p:nvPr/>
          </p:nvSpPr>
          <p:spPr bwMode="auto">
            <a:xfrm>
              <a:off x="1507456" y="5185874"/>
              <a:ext cx="1804253" cy="30973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3600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ea typeface="仿宋" pitchFamily="49" charset="-122"/>
                  <a:cs typeface="Times New Roman" pitchFamily="18" charset="0"/>
                </a:rPr>
                <a:t>1   2   5   7   10</a:t>
              </a:r>
            </a:p>
          </p:txBody>
        </p:sp>
        <p:sp>
          <p:nvSpPr>
            <p:cNvPr id="20" name="Text Box 52"/>
            <p:cNvSpPr txBox="1">
              <a:spLocks noChangeArrowheads="1"/>
            </p:cNvSpPr>
            <p:nvPr/>
          </p:nvSpPr>
          <p:spPr bwMode="auto">
            <a:xfrm>
              <a:off x="3464797" y="2303561"/>
              <a:ext cx="984138" cy="30973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3600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ea typeface="仿宋" pitchFamily="49" charset="-122"/>
                  <a:cs typeface="Times New Roman" pitchFamily="18" charset="0"/>
                </a:rPr>
                <a:t>6   9   4 </a:t>
              </a:r>
            </a:p>
          </p:txBody>
        </p:sp>
        <p:sp>
          <p:nvSpPr>
            <p:cNvPr id="21" name="Text Box 51"/>
            <p:cNvSpPr txBox="1">
              <a:spLocks noChangeArrowheads="1"/>
            </p:cNvSpPr>
            <p:nvPr/>
          </p:nvSpPr>
          <p:spPr bwMode="auto">
            <a:xfrm>
              <a:off x="4585621" y="2302650"/>
              <a:ext cx="569524" cy="30973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3600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ea typeface="仿宋" pitchFamily="49" charset="-122"/>
                  <a:cs typeface="Times New Roman" pitchFamily="18" charset="0"/>
                </a:rPr>
                <a:t>3   8</a:t>
              </a:r>
            </a:p>
          </p:txBody>
        </p:sp>
        <p:sp>
          <p:nvSpPr>
            <p:cNvPr id="22" name="Text Box 50"/>
            <p:cNvSpPr txBox="1">
              <a:spLocks noChangeArrowheads="1"/>
            </p:cNvSpPr>
            <p:nvPr/>
          </p:nvSpPr>
          <p:spPr bwMode="auto">
            <a:xfrm>
              <a:off x="3464797" y="2902069"/>
              <a:ext cx="492069" cy="30973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3600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ea typeface="仿宋" pitchFamily="49" charset="-122"/>
                  <a:cs typeface="Times New Roman" pitchFamily="18" charset="0"/>
                </a:rPr>
                <a:t>6   9 </a:t>
              </a:r>
            </a:p>
          </p:txBody>
        </p:sp>
        <p:sp>
          <p:nvSpPr>
            <p:cNvPr id="23" name="Text Box 49"/>
            <p:cNvSpPr txBox="1">
              <a:spLocks noChangeArrowheads="1"/>
            </p:cNvSpPr>
            <p:nvPr/>
          </p:nvSpPr>
          <p:spPr bwMode="auto">
            <a:xfrm>
              <a:off x="4120890" y="2902069"/>
              <a:ext cx="328046" cy="30973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3600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ea typeface="仿宋" pitchFamily="49" charset="-122"/>
                  <a:cs typeface="Times New Roman" pitchFamily="18" charset="0"/>
                </a:rPr>
                <a:t>4 </a:t>
              </a:r>
            </a:p>
          </p:txBody>
        </p:sp>
        <p:sp>
          <p:nvSpPr>
            <p:cNvPr id="24" name="Text Box 48"/>
            <p:cNvSpPr txBox="1">
              <a:spLocks noChangeArrowheads="1"/>
            </p:cNvSpPr>
            <p:nvPr/>
          </p:nvSpPr>
          <p:spPr bwMode="auto">
            <a:xfrm>
              <a:off x="3464797" y="3511509"/>
              <a:ext cx="232366" cy="30973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3600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ea typeface="仿宋" pitchFamily="49" charset="-122"/>
                  <a:cs typeface="Times New Roman" pitchFamily="18" charset="0"/>
                </a:rPr>
                <a:t>6 </a:t>
              </a:r>
            </a:p>
          </p:txBody>
        </p:sp>
        <p:sp>
          <p:nvSpPr>
            <p:cNvPr id="25" name="Text Box 47"/>
            <p:cNvSpPr txBox="1">
              <a:spLocks noChangeArrowheads="1"/>
            </p:cNvSpPr>
            <p:nvPr/>
          </p:nvSpPr>
          <p:spPr bwMode="auto">
            <a:xfrm>
              <a:off x="3749104" y="3511509"/>
              <a:ext cx="232366" cy="30973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3600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ea typeface="仿宋" pitchFamily="49" charset="-122"/>
                  <a:cs typeface="Times New Roman" pitchFamily="18" charset="0"/>
                </a:rPr>
                <a:t>9 </a:t>
              </a:r>
            </a:p>
          </p:txBody>
        </p:sp>
        <p:sp>
          <p:nvSpPr>
            <p:cNvPr id="26" name="Text Box 46"/>
            <p:cNvSpPr txBox="1">
              <a:spLocks noChangeArrowheads="1"/>
            </p:cNvSpPr>
            <p:nvPr/>
          </p:nvSpPr>
          <p:spPr bwMode="auto">
            <a:xfrm>
              <a:off x="3472087" y="4103640"/>
              <a:ext cx="492069" cy="30973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3600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ea typeface="仿宋" pitchFamily="49" charset="-122"/>
                  <a:cs typeface="Times New Roman" pitchFamily="18" charset="0"/>
                </a:rPr>
                <a:t> 6  9 </a:t>
              </a:r>
            </a:p>
          </p:txBody>
        </p:sp>
        <p:sp>
          <p:nvSpPr>
            <p:cNvPr id="27" name="Text Box 45"/>
            <p:cNvSpPr txBox="1">
              <a:spLocks noChangeArrowheads="1"/>
            </p:cNvSpPr>
            <p:nvPr/>
          </p:nvSpPr>
          <p:spPr bwMode="auto">
            <a:xfrm>
              <a:off x="3464797" y="4644757"/>
              <a:ext cx="984138" cy="30973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3600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ea typeface="仿宋" pitchFamily="49" charset="-122"/>
                  <a:cs typeface="Times New Roman" pitchFamily="18" charset="0"/>
                </a:rPr>
                <a:t>4   6   9 </a:t>
              </a:r>
            </a:p>
          </p:txBody>
        </p:sp>
        <p:sp>
          <p:nvSpPr>
            <p:cNvPr id="28" name="Text Box 44"/>
            <p:cNvSpPr txBox="1">
              <a:spLocks noChangeArrowheads="1"/>
            </p:cNvSpPr>
            <p:nvPr/>
          </p:nvSpPr>
          <p:spPr bwMode="auto">
            <a:xfrm>
              <a:off x="4612959" y="2902069"/>
              <a:ext cx="232366" cy="30973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3600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ea typeface="仿宋" pitchFamily="49" charset="-122"/>
                  <a:cs typeface="Times New Roman" pitchFamily="18" charset="0"/>
                </a:rPr>
                <a:t>3 </a:t>
              </a:r>
            </a:p>
          </p:txBody>
        </p:sp>
        <p:sp>
          <p:nvSpPr>
            <p:cNvPr id="29" name="Text Box 43"/>
            <p:cNvSpPr txBox="1">
              <a:spLocks noChangeArrowheads="1"/>
            </p:cNvSpPr>
            <p:nvPr/>
          </p:nvSpPr>
          <p:spPr bwMode="auto">
            <a:xfrm>
              <a:off x="4948295" y="2902069"/>
              <a:ext cx="233277" cy="30973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3600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ea typeface="仿宋" pitchFamily="49" charset="-122"/>
                  <a:cs typeface="Times New Roman" pitchFamily="18" charset="0"/>
                </a:rPr>
                <a:t>8 </a:t>
              </a:r>
            </a:p>
          </p:txBody>
        </p:sp>
        <p:sp>
          <p:nvSpPr>
            <p:cNvPr id="30" name="Text Box 42"/>
            <p:cNvSpPr txBox="1">
              <a:spLocks noChangeArrowheads="1"/>
            </p:cNvSpPr>
            <p:nvPr/>
          </p:nvSpPr>
          <p:spPr bwMode="auto">
            <a:xfrm>
              <a:off x="4583799" y="3502399"/>
              <a:ext cx="597773" cy="30973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3600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ea typeface="仿宋" pitchFamily="49" charset="-122"/>
                  <a:cs typeface="Times New Roman" pitchFamily="18" charset="0"/>
                </a:rPr>
                <a:t>3   8</a:t>
              </a:r>
            </a:p>
          </p:txBody>
        </p:sp>
        <p:sp>
          <p:nvSpPr>
            <p:cNvPr id="31" name="Text Box 41"/>
            <p:cNvSpPr txBox="1">
              <a:spLocks noChangeArrowheads="1"/>
            </p:cNvSpPr>
            <p:nvPr/>
          </p:nvSpPr>
          <p:spPr bwMode="auto">
            <a:xfrm>
              <a:off x="3460241" y="5189517"/>
              <a:ext cx="1721331" cy="30973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3600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ea typeface="仿宋" pitchFamily="49" charset="-122"/>
                  <a:cs typeface="Times New Roman" pitchFamily="18" charset="0"/>
                </a:rPr>
                <a:t>3   4   6   8   9</a:t>
              </a:r>
            </a:p>
          </p:txBody>
        </p:sp>
        <p:sp>
          <p:nvSpPr>
            <p:cNvPr id="32" name="Text Box 40"/>
            <p:cNvSpPr txBox="1">
              <a:spLocks noChangeArrowheads="1"/>
            </p:cNvSpPr>
            <p:nvPr/>
          </p:nvSpPr>
          <p:spPr bwMode="auto">
            <a:xfrm>
              <a:off x="1507456" y="5770717"/>
              <a:ext cx="3674116" cy="30973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3600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ea typeface="仿宋" pitchFamily="49" charset="-122"/>
                  <a:cs typeface="Times New Roman" pitchFamily="18" charset="0"/>
                </a:rPr>
                <a:t>1   2   3   4   5   6   7   8   9   10</a:t>
              </a:r>
            </a:p>
          </p:txBody>
        </p:sp>
        <p:sp>
          <p:nvSpPr>
            <p:cNvPr id="33" name="AutoShape 39"/>
            <p:cNvSpPr>
              <a:spLocks noChangeShapeType="1"/>
            </p:cNvSpPr>
            <p:nvPr/>
          </p:nvSpPr>
          <p:spPr bwMode="auto">
            <a:xfrm flipH="1">
              <a:off x="2415050" y="1452714"/>
              <a:ext cx="905772" cy="266915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360000"/>
              <a:endParaRPr lang="zh-CN" altLang="en-US" sz="180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34" name="AutoShape 38"/>
            <p:cNvSpPr>
              <a:spLocks noChangeShapeType="1"/>
            </p:cNvSpPr>
            <p:nvPr/>
          </p:nvSpPr>
          <p:spPr bwMode="auto">
            <a:xfrm>
              <a:off x="3320822" y="1452714"/>
              <a:ext cx="979582" cy="270558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360000"/>
              <a:endParaRPr lang="zh-CN" altLang="en-US" sz="180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35" name="AutoShape 37"/>
            <p:cNvSpPr>
              <a:spLocks noChangeShapeType="1"/>
            </p:cNvSpPr>
            <p:nvPr/>
          </p:nvSpPr>
          <p:spPr bwMode="auto">
            <a:xfrm flipH="1">
              <a:off x="2004992" y="2029359"/>
              <a:ext cx="410058" cy="269647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360000"/>
              <a:endParaRPr lang="zh-CN" altLang="en-US" sz="180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36" name="AutoShape 36"/>
            <p:cNvSpPr>
              <a:spLocks noChangeShapeType="1"/>
            </p:cNvSpPr>
            <p:nvPr/>
          </p:nvSpPr>
          <p:spPr bwMode="auto">
            <a:xfrm>
              <a:off x="2415050" y="2029359"/>
              <a:ext cx="544010" cy="268736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360000"/>
              <a:endParaRPr lang="zh-CN" altLang="en-US" sz="180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37" name="AutoShape 35"/>
            <p:cNvSpPr>
              <a:spLocks noChangeShapeType="1"/>
            </p:cNvSpPr>
            <p:nvPr/>
          </p:nvSpPr>
          <p:spPr bwMode="auto">
            <a:xfrm flipH="1">
              <a:off x="3956867" y="2033003"/>
              <a:ext cx="343537" cy="270558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360000"/>
              <a:endParaRPr lang="zh-CN" altLang="en-US" sz="180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38" name="AutoShape 34"/>
            <p:cNvSpPr>
              <a:spLocks noChangeShapeType="1"/>
            </p:cNvSpPr>
            <p:nvPr/>
          </p:nvSpPr>
          <p:spPr bwMode="auto">
            <a:xfrm>
              <a:off x="4300404" y="2033003"/>
              <a:ext cx="570436" cy="269647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360000"/>
              <a:endParaRPr lang="zh-CN" altLang="en-US" sz="180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39" name="AutoShape 33"/>
            <p:cNvSpPr>
              <a:spLocks noChangeShapeType="1"/>
            </p:cNvSpPr>
            <p:nvPr/>
          </p:nvSpPr>
          <p:spPr bwMode="auto">
            <a:xfrm flipH="1">
              <a:off x="1758047" y="2608736"/>
              <a:ext cx="246946" cy="289689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360000"/>
              <a:endParaRPr lang="zh-CN" altLang="en-US" sz="180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0" name="AutoShape 32"/>
            <p:cNvSpPr>
              <a:spLocks noChangeShapeType="1"/>
            </p:cNvSpPr>
            <p:nvPr/>
          </p:nvSpPr>
          <p:spPr bwMode="auto">
            <a:xfrm>
              <a:off x="2004992" y="2608736"/>
              <a:ext cx="327135" cy="289689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360000"/>
              <a:endParaRPr lang="zh-CN" altLang="en-US" sz="180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1" name="AutoShape 31"/>
            <p:cNvSpPr>
              <a:spLocks noChangeShapeType="1"/>
            </p:cNvSpPr>
            <p:nvPr/>
          </p:nvSpPr>
          <p:spPr bwMode="auto">
            <a:xfrm flipH="1">
              <a:off x="2776812" y="2607825"/>
              <a:ext cx="182248" cy="29060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360000"/>
              <a:endParaRPr lang="zh-CN" altLang="en-US" sz="180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2" name="AutoShape 30"/>
            <p:cNvSpPr>
              <a:spLocks noChangeShapeType="1"/>
            </p:cNvSpPr>
            <p:nvPr/>
          </p:nvSpPr>
          <p:spPr bwMode="auto">
            <a:xfrm>
              <a:off x="2959060" y="2607825"/>
              <a:ext cx="153088" cy="29060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360000"/>
              <a:endParaRPr lang="zh-CN" altLang="en-US" sz="180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3" name="AutoShape 29"/>
            <p:cNvSpPr>
              <a:spLocks noChangeShapeType="1"/>
            </p:cNvSpPr>
            <p:nvPr/>
          </p:nvSpPr>
          <p:spPr bwMode="auto">
            <a:xfrm flipH="1">
              <a:off x="3710832" y="2613291"/>
              <a:ext cx="246035" cy="288778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360000"/>
              <a:endParaRPr lang="zh-CN" altLang="en-US" sz="180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4" name="AutoShape 28"/>
            <p:cNvSpPr>
              <a:spLocks noChangeShapeType="1"/>
            </p:cNvSpPr>
            <p:nvPr/>
          </p:nvSpPr>
          <p:spPr bwMode="auto">
            <a:xfrm>
              <a:off x="3956867" y="2613291"/>
              <a:ext cx="328046" cy="288778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360000"/>
              <a:endParaRPr lang="zh-CN" altLang="en-US" sz="180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5" name="AutoShape 27"/>
            <p:cNvSpPr>
              <a:spLocks noChangeShapeType="1"/>
            </p:cNvSpPr>
            <p:nvPr/>
          </p:nvSpPr>
          <p:spPr bwMode="auto">
            <a:xfrm flipH="1">
              <a:off x="4729597" y="2612380"/>
              <a:ext cx="141242" cy="289689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360000"/>
              <a:endParaRPr lang="zh-CN" altLang="en-US" sz="180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6" name="AutoShape 26"/>
            <p:cNvSpPr>
              <a:spLocks noChangeShapeType="1"/>
            </p:cNvSpPr>
            <p:nvPr/>
          </p:nvSpPr>
          <p:spPr bwMode="auto">
            <a:xfrm>
              <a:off x="4870839" y="2612380"/>
              <a:ext cx="194094" cy="289689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360000"/>
              <a:endParaRPr lang="zh-CN" altLang="en-US" sz="180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7" name="AutoShape 25"/>
            <p:cNvSpPr>
              <a:spLocks noChangeShapeType="1"/>
            </p:cNvSpPr>
            <p:nvPr/>
          </p:nvSpPr>
          <p:spPr bwMode="auto">
            <a:xfrm flipH="1">
              <a:off x="1628651" y="3208155"/>
              <a:ext cx="129396" cy="298799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360000"/>
              <a:endParaRPr lang="zh-CN" altLang="en-US" sz="180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8" name="AutoShape 24"/>
            <p:cNvSpPr>
              <a:spLocks noChangeShapeType="1"/>
            </p:cNvSpPr>
            <p:nvPr/>
          </p:nvSpPr>
          <p:spPr bwMode="auto">
            <a:xfrm>
              <a:off x="1758047" y="3208155"/>
              <a:ext cx="154911" cy="298799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360000"/>
              <a:endParaRPr lang="zh-CN" altLang="en-US" sz="180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49" name="AutoShape 23"/>
            <p:cNvSpPr>
              <a:spLocks noChangeShapeType="1"/>
            </p:cNvSpPr>
            <p:nvPr/>
          </p:nvSpPr>
          <p:spPr bwMode="auto">
            <a:xfrm flipH="1">
              <a:off x="3581436" y="3211799"/>
              <a:ext cx="129396" cy="299709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360000"/>
              <a:endParaRPr lang="zh-CN" altLang="en-US" sz="180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50" name="AutoShape 22"/>
            <p:cNvSpPr>
              <a:spLocks noChangeShapeType="1"/>
            </p:cNvSpPr>
            <p:nvPr/>
          </p:nvSpPr>
          <p:spPr bwMode="auto">
            <a:xfrm>
              <a:off x="3710832" y="3211799"/>
              <a:ext cx="154911" cy="299709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360000"/>
              <a:endParaRPr lang="zh-CN" altLang="en-US" sz="180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51" name="AutoShape 21"/>
            <p:cNvSpPr>
              <a:spLocks noChangeShapeType="1"/>
            </p:cNvSpPr>
            <p:nvPr/>
          </p:nvSpPr>
          <p:spPr bwMode="auto">
            <a:xfrm>
              <a:off x="1628651" y="3816684"/>
              <a:ext cx="136686" cy="283312"/>
            </a:xfrm>
            <a:prstGeom prst="straightConnector1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360000"/>
              <a:endParaRPr lang="zh-CN" altLang="en-US" sz="180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52" name="AutoShape 20"/>
            <p:cNvSpPr>
              <a:spLocks noChangeShapeType="1"/>
            </p:cNvSpPr>
            <p:nvPr/>
          </p:nvSpPr>
          <p:spPr bwMode="auto">
            <a:xfrm flipH="1">
              <a:off x="1765337" y="3816684"/>
              <a:ext cx="147621" cy="283312"/>
            </a:xfrm>
            <a:prstGeom prst="straightConnector1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360000"/>
              <a:endParaRPr lang="zh-CN" altLang="en-US" sz="180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53" name="AutoShape 19"/>
            <p:cNvSpPr>
              <a:spLocks noChangeShapeType="1"/>
            </p:cNvSpPr>
            <p:nvPr/>
          </p:nvSpPr>
          <p:spPr bwMode="auto">
            <a:xfrm>
              <a:off x="3581436" y="3821239"/>
              <a:ext cx="136686" cy="282401"/>
            </a:xfrm>
            <a:prstGeom prst="straightConnector1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360000"/>
              <a:endParaRPr lang="zh-CN" altLang="en-US" sz="180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54" name="AutoShape 18"/>
            <p:cNvSpPr>
              <a:spLocks noChangeShapeType="1"/>
            </p:cNvSpPr>
            <p:nvPr/>
          </p:nvSpPr>
          <p:spPr bwMode="auto">
            <a:xfrm flipH="1">
              <a:off x="3718122" y="3821239"/>
              <a:ext cx="147621" cy="282401"/>
            </a:xfrm>
            <a:prstGeom prst="straightConnector1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360000"/>
              <a:endParaRPr lang="zh-CN" altLang="en-US" sz="180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55" name="AutoShape 17"/>
            <p:cNvSpPr>
              <a:spLocks noChangeShapeType="1"/>
            </p:cNvSpPr>
            <p:nvPr/>
          </p:nvSpPr>
          <p:spPr bwMode="auto">
            <a:xfrm>
              <a:off x="2776812" y="3208155"/>
              <a:ext cx="182248" cy="270558"/>
            </a:xfrm>
            <a:prstGeom prst="straightConnector1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360000"/>
              <a:endParaRPr lang="zh-CN" altLang="en-US" sz="180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56" name="AutoShape 16"/>
            <p:cNvSpPr>
              <a:spLocks noChangeShapeType="1"/>
            </p:cNvSpPr>
            <p:nvPr/>
          </p:nvSpPr>
          <p:spPr bwMode="auto">
            <a:xfrm flipH="1">
              <a:off x="2959060" y="3208155"/>
              <a:ext cx="153088" cy="270558"/>
            </a:xfrm>
            <a:prstGeom prst="straightConnector1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360000"/>
              <a:endParaRPr lang="zh-CN" altLang="en-US" sz="180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57" name="AutoShape 15"/>
            <p:cNvSpPr>
              <a:spLocks noChangeShapeType="1"/>
            </p:cNvSpPr>
            <p:nvPr/>
          </p:nvSpPr>
          <p:spPr bwMode="auto">
            <a:xfrm>
              <a:off x="4729597" y="3211799"/>
              <a:ext cx="153088" cy="290600"/>
            </a:xfrm>
            <a:prstGeom prst="straightConnector1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360000"/>
              <a:endParaRPr lang="zh-CN" altLang="en-US" sz="180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58" name="AutoShape 14"/>
            <p:cNvSpPr>
              <a:spLocks noChangeShapeType="1"/>
            </p:cNvSpPr>
            <p:nvPr/>
          </p:nvSpPr>
          <p:spPr bwMode="auto">
            <a:xfrm flipH="1">
              <a:off x="4882685" y="3211799"/>
              <a:ext cx="182248" cy="290600"/>
            </a:xfrm>
            <a:prstGeom prst="straightConnector1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360000"/>
              <a:endParaRPr lang="zh-CN" altLang="en-US" sz="180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59" name="AutoShape 13"/>
            <p:cNvSpPr>
              <a:spLocks noChangeShapeType="1"/>
            </p:cNvSpPr>
            <p:nvPr/>
          </p:nvSpPr>
          <p:spPr bwMode="auto">
            <a:xfrm>
              <a:off x="2409583" y="5495604"/>
              <a:ext cx="934931" cy="275113"/>
            </a:xfrm>
            <a:prstGeom prst="straightConnector1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360000"/>
              <a:endParaRPr lang="zh-CN" altLang="en-US" sz="180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0" name="AutoShape 12"/>
            <p:cNvSpPr>
              <a:spLocks noChangeShapeType="1"/>
            </p:cNvSpPr>
            <p:nvPr/>
          </p:nvSpPr>
          <p:spPr bwMode="auto">
            <a:xfrm flipH="1">
              <a:off x="3344514" y="5499248"/>
              <a:ext cx="976848" cy="271469"/>
            </a:xfrm>
            <a:prstGeom prst="straightConnector1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360000"/>
              <a:endParaRPr lang="zh-CN" altLang="en-US" sz="180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1" name="AutoShape 11"/>
            <p:cNvSpPr>
              <a:spLocks noChangeShapeType="1"/>
            </p:cNvSpPr>
            <p:nvPr/>
          </p:nvSpPr>
          <p:spPr bwMode="auto">
            <a:xfrm>
              <a:off x="1765337" y="4409726"/>
              <a:ext cx="239656" cy="230476"/>
            </a:xfrm>
            <a:prstGeom prst="straightConnector1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360000"/>
              <a:endParaRPr lang="zh-CN" altLang="en-US" sz="180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2" name="AutoShape 10"/>
            <p:cNvSpPr>
              <a:spLocks noChangeShapeType="1"/>
            </p:cNvSpPr>
            <p:nvPr/>
          </p:nvSpPr>
          <p:spPr bwMode="auto">
            <a:xfrm>
              <a:off x="3718122" y="4413370"/>
              <a:ext cx="238745" cy="231387"/>
            </a:xfrm>
            <a:prstGeom prst="straightConnector1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360000"/>
              <a:endParaRPr lang="zh-CN" altLang="en-US" sz="180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3" name="AutoShape 9"/>
            <p:cNvSpPr>
              <a:spLocks noChangeShapeType="1"/>
            </p:cNvSpPr>
            <p:nvPr/>
          </p:nvSpPr>
          <p:spPr bwMode="auto">
            <a:xfrm>
              <a:off x="2004992" y="4949932"/>
              <a:ext cx="404590" cy="235942"/>
            </a:xfrm>
            <a:prstGeom prst="straightConnector1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360000"/>
              <a:endParaRPr lang="zh-CN" altLang="en-US" sz="180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4" name="AutoShape 8"/>
            <p:cNvSpPr>
              <a:spLocks noChangeShapeType="1"/>
            </p:cNvSpPr>
            <p:nvPr/>
          </p:nvSpPr>
          <p:spPr bwMode="auto">
            <a:xfrm>
              <a:off x="3956867" y="4954487"/>
              <a:ext cx="479312" cy="235031"/>
            </a:xfrm>
            <a:prstGeom prst="straightConnector1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360000"/>
              <a:endParaRPr lang="zh-CN" altLang="en-US" sz="180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5" name="Freeform 7"/>
            <p:cNvSpPr>
              <a:spLocks/>
            </p:cNvSpPr>
            <p:nvPr/>
          </p:nvSpPr>
          <p:spPr bwMode="auto">
            <a:xfrm>
              <a:off x="2028685" y="3211799"/>
              <a:ext cx="303443" cy="1428403"/>
            </a:xfrm>
            <a:custGeom>
              <a:avLst/>
              <a:gdLst/>
              <a:ahLst/>
              <a:cxnLst>
                <a:cxn ang="0">
                  <a:pos x="333" y="0"/>
                </a:cxn>
                <a:cxn ang="0">
                  <a:pos x="333" y="1253"/>
                </a:cxn>
                <a:cxn ang="0">
                  <a:pos x="0" y="1568"/>
                </a:cxn>
              </a:cxnLst>
              <a:rect l="0" t="0" r="r" b="b"/>
              <a:pathLst>
                <a:path w="333" h="1568">
                  <a:moveTo>
                    <a:pt x="333" y="0"/>
                  </a:moveTo>
                  <a:lnTo>
                    <a:pt x="333" y="1253"/>
                  </a:lnTo>
                  <a:lnTo>
                    <a:pt x="0" y="1568"/>
                  </a:lnTo>
                </a:path>
              </a:pathLst>
            </a:custGeom>
            <a:noFill/>
            <a:ln w="19050">
              <a:solidFill>
                <a:srgbClr val="FF33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360000"/>
              <a:endParaRPr lang="zh-CN" altLang="en-US" sz="180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6" name="Freeform 6"/>
            <p:cNvSpPr>
              <a:spLocks/>
            </p:cNvSpPr>
            <p:nvPr/>
          </p:nvSpPr>
          <p:spPr bwMode="auto">
            <a:xfrm>
              <a:off x="2409583" y="3812129"/>
              <a:ext cx="549477" cy="1373744"/>
            </a:xfrm>
            <a:custGeom>
              <a:avLst/>
              <a:gdLst/>
              <a:ahLst/>
              <a:cxnLst>
                <a:cxn ang="0">
                  <a:pos x="603" y="0"/>
                </a:cxn>
                <a:cxn ang="0">
                  <a:pos x="603" y="1043"/>
                </a:cxn>
                <a:cxn ang="0">
                  <a:pos x="0" y="1508"/>
                </a:cxn>
              </a:cxnLst>
              <a:rect l="0" t="0" r="r" b="b"/>
              <a:pathLst>
                <a:path w="603" h="1508">
                  <a:moveTo>
                    <a:pt x="603" y="0"/>
                  </a:moveTo>
                  <a:lnTo>
                    <a:pt x="603" y="1043"/>
                  </a:lnTo>
                  <a:lnTo>
                    <a:pt x="0" y="1508"/>
                  </a:lnTo>
                </a:path>
              </a:pathLst>
            </a:custGeom>
            <a:noFill/>
            <a:ln w="19050">
              <a:solidFill>
                <a:srgbClr val="FF33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360000"/>
              <a:endParaRPr lang="zh-CN" altLang="en-US" sz="180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7" name="Freeform 5"/>
            <p:cNvSpPr>
              <a:spLocks/>
            </p:cNvSpPr>
            <p:nvPr/>
          </p:nvSpPr>
          <p:spPr bwMode="auto">
            <a:xfrm>
              <a:off x="3981470" y="3211799"/>
              <a:ext cx="318934" cy="1428403"/>
            </a:xfrm>
            <a:custGeom>
              <a:avLst/>
              <a:gdLst/>
              <a:ahLst/>
              <a:cxnLst>
                <a:cxn ang="0">
                  <a:pos x="350" y="0"/>
                </a:cxn>
                <a:cxn ang="0">
                  <a:pos x="350" y="1315"/>
                </a:cxn>
                <a:cxn ang="0">
                  <a:pos x="0" y="1568"/>
                </a:cxn>
              </a:cxnLst>
              <a:rect l="0" t="0" r="r" b="b"/>
              <a:pathLst>
                <a:path w="350" h="1568">
                  <a:moveTo>
                    <a:pt x="350" y="0"/>
                  </a:moveTo>
                  <a:lnTo>
                    <a:pt x="350" y="1315"/>
                  </a:lnTo>
                  <a:lnTo>
                    <a:pt x="0" y="1568"/>
                  </a:lnTo>
                </a:path>
              </a:pathLst>
            </a:custGeom>
            <a:noFill/>
            <a:ln w="19050">
              <a:solidFill>
                <a:srgbClr val="FF33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360000"/>
              <a:endParaRPr lang="zh-CN" altLang="en-US" sz="180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8" name="Freeform 4"/>
            <p:cNvSpPr>
              <a:spLocks/>
            </p:cNvSpPr>
            <p:nvPr/>
          </p:nvSpPr>
          <p:spPr bwMode="auto">
            <a:xfrm>
              <a:off x="4448936" y="3821239"/>
              <a:ext cx="433750" cy="1364635"/>
            </a:xfrm>
            <a:custGeom>
              <a:avLst/>
              <a:gdLst/>
              <a:ahLst/>
              <a:cxnLst>
                <a:cxn ang="0">
                  <a:pos x="476" y="0"/>
                </a:cxn>
                <a:cxn ang="0">
                  <a:pos x="476" y="1154"/>
                </a:cxn>
                <a:cxn ang="0">
                  <a:pos x="0" y="1498"/>
                </a:cxn>
              </a:cxnLst>
              <a:rect l="0" t="0" r="r" b="b"/>
              <a:pathLst>
                <a:path w="476" h="1498">
                  <a:moveTo>
                    <a:pt x="476" y="0"/>
                  </a:moveTo>
                  <a:lnTo>
                    <a:pt x="476" y="1154"/>
                  </a:lnTo>
                  <a:lnTo>
                    <a:pt x="0" y="1498"/>
                  </a:lnTo>
                </a:path>
              </a:pathLst>
            </a:custGeom>
            <a:noFill/>
            <a:ln w="19050">
              <a:solidFill>
                <a:srgbClr val="FF33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360000"/>
              <a:endParaRPr lang="zh-CN" altLang="en-US" sz="180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69" name="AutoShape 3"/>
            <p:cNvSpPr>
              <a:spLocks noChangeShapeType="1"/>
            </p:cNvSpPr>
            <p:nvPr/>
          </p:nvSpPr>
          <p:spPr bwMode="auto">
            <a:xfrm flipV="1">
              <a:off x="5386601" y="1214040"/>
              <a:ext cx="911" cy="4556678"/>
            </a:xfrm>
            <a:prstGeom prst="straightConnector1">
              <a:avLst/>
            </a:prstGeom>
            <a:noFill/>
            <a:ln w="28575">
              <a:solidFill>
                <a:srgbClr val="FF00FF"/>
              </a:solidFill>
              <a:round/>
              <a:headEnd type="arrow" w="sm" len="sm"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360000"/>
              <a:endParaRPr lang="zh-CN" altLang="en-US" sz="1800">
                <a:solidFill>
                  <a:srgbClr val="0000FF"/>
                </a:solidFill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70" name="Text Box 2"/>
            <p:cNvSpPr txBox="1">
              <a:spLocks noChangeArrowheads="1"/>
            </p:cNvSpPr>
            <p:nvPr/>
          </p:nvSpPr>
          <p:spPr bwMode="auto">
            <a:xfrm>
              <a:off x="5572132" y="1369816"/>
              <a:ext cx="182248" cy="25780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3600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ea typeface="仿宋" pitchFamily="49" charset="-122"/>
                  <a:cs typeface="Times New Roman" pitchFamily="18" charset="0"/>
                </a:rPr>
                <a:t>顶</a:t>
              </a: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571472" y="500043"/>
            <a:ext cx="1071570" cy="928693"/>
            <a:chOff x="6862060" y="4310903"/>
            <a:chExt cx="1128915" cy="1130667"/>
          </a:xfrm>
        </p:grpSpPr>
        <p:grpSp>
          <p:nvGrpSpPr>
            <p:cNvPr id="72" name="Group 103"/>
            <p:cNvGrpSpPr>
              <a:grpSpLocks/>
            </p:cNvGrpSpPr>
            <p:nvPr/>
          </p:nvGrpSpPr>
          <p:grpSpPr bwMode="auto">
            <a:xfrm>
              <a:off x="6862060" y="4310903"/>
              <a:ext cx="1128915" cy="1130667"/>
              <a:chOff x="2880" y="1515"/>
              <a:chExt cx="644" cy="645"/>
            </a:xfrm>
          </p:grpSpPr>
          <p:sp>
            <p:nvSpPr>
              <p:cNvPr id="74" name="Oval 104"/>
              <p:cNvSpPr>
                <a:spLocks noChangeArrowheads="1"/>
              </p:cNvSpPr>
              <p:nvPr/>
            </p:nvSpPr>
            <p:spPr bwMode="auto">
              <a:xfrm>
                <a:off x="2880" y="1516"/>
                <a:ext cx="644" cy="644"/>
              </a:xfrm>
              <a:prstGeom prst="ellipse">
                <a:avLst/>
              </a:prstGeom>
              <a:gradFill rotWithShape="1">
                <a:gsLst>
                  <a:gs pos="0">
                    <a:srgbClr val="10942F"/>
                  </a:gs>
                  <a:gs pos="100000">
                    <a:srgbClr val="16D83B"/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5" name="Freeform 105"/>
              <p:cNvSpPr>
                <a:spLocks/>
              </p:cNvSpPr>
              <p:nvPr/>
            </p:nvSpPr>
            <p:spPr bwMode="auto">
              <a:xfrm>
                <a:off x="2887" y="1515"/>
                <a:ext cx="630" cy="441"/>
              </a:xfrm>
              <a:custGeom>
                <a:avLst/>
                <a:gdLst/>
                <a:ahLst/>
                <a:cxnLst>
                  <a:cxn ang="0">
                    <a:pos x="1400" y="275"/>
                  </a:cxn>
                  <a:cxn ang="0">
                    <a:pos x="1596" y="795"/>
                  </a:cxn>
                  <a:cxn ang="0">
                    <a:pos x="0" y="795"/>
                  </a:cxn>
                  <a:cxn ang="0">
                    <a:pos x="217" y="252"/>
                  </a:cxn>
                  <a:cxn ang="0">
                    <a:pos x="796" y="0"/>
                  </a:cxn>
                  <a:cxn ang="0">
                    <a:pos x="1400" y="275"/>
                  </a:cxn>
                </a:cxnLst>
                <a:rect l="0" t="0" r="r" b="b"/>
                <a:pathLst>
                  <a:path w="1596" h="1118">
                    <a:moveTo>
                      <a:pt x="1400" y="275"/>
                    </a:moveTo>
                    <a:cubicBezTo>
                      <a:pt x="1522" y="417"/>
                      <a:pt x="1596" y="597"/>
                      <a:pt x="1596" y="795"/>
                    </a:cubicBezTo>
                    <a:cubicBezTo>
                      <a:pt x="1037" y="1118"/>
                      <a:pt x="668" y="611"/>
                      <a:pt x="0" y="795"/>
                    </a:cubicBezTo>
                    <a:cubicBezTo>
                      <a:pt x="0" y="585"/>
                      <a:pt x="83" y="392"/>
                      <a:pt x="217" y="252"/>
                    </a:cubicBezTo>
                    <a:cubicBezTo>
                      <a:pt x="364" y="95"/>
                      <a:pt x="570" y="0"/>
                      <a:pt x="796" y="0"/>
                    </a:cubicBezTo>
                    <a:cubicBezTo>
                      <a:pt x="1039" y="0"/>
                      <a:pt x="1253" y="108"/>
                      <a:pt x="1400" y="275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chemeClr val="bg1">
                      <a:alpha val="53000"/>
                    </a:schemeClr>
                  </a:gs>
                  <a:gs pos="100000">
                    <a:schemeClr val="bg1">
                      <a:gamma/>
                      <a:shade val="46275"/>
                      <a:invGamma/>
                      <a:alpha val="0"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3" name="Text Box 71"/>
            <p:cNvSpPr txBox="1">
              <a:spLocks noChangeArrowheads="1"/>
            </p:cNvSpPr>
            <p:nvPr/>
          </p:nvSpPr>
          <p:spPr bwMode="auto">
            <a:xfrm>
              <a:off x="7012582" y="4667550"/>
              <a:ext cx="842077" cy="4121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示例</a:t>
              </a:r>
              <a:endParaRPr lang="en-GB" altLang="zh-CN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77" name="灯片编号占位符 7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45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0034" y="714356"/>
            <a:ext cx="40005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时间递推式：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7158" y="1571612"/>
            <a:ext cx="6286544" cy="1064495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tIns="108000" bIns="108000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600"/>
              </a:spcBef>
            </a:pP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)=1									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当</a:t>
            </a:r>
            <a:r>
              <a:rPr lang="en-US" altLang="zh-CN" sz="2000" i="1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=1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时</a:t>
            </a:r>
          </a:p>
          <a:p>
            <a:pPr algn="l" defTabSz="360000">
              <a:lnSpc>
                <a:spcPts val="3000"/>
              </a:lnSpc>
              <a:spcBef>
                <a:spcPts val="600"/>
              </a:spcBef>
            </a:pP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)=2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/2)+O(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					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当</a:t>
            </a:r>
            <a:r>
              <a:rPr lang="en-US" altLang="zh-CN" sz="2000" i="1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&gt;1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时</a:t>
            </a:r>
            <a:endParaRPr lang="zh-CN" altLang="en-US" sz="200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0034" y="3143248"/>
            <a:ext cx="4786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容易推出，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)=O(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log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46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1357298"/>
            <a:ext cx="8715436" cy="4426853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defTabSz="360000">
              <a:lnSpc>
                <a:spcPts val="3200"/>
              </a:lnSpc>
              <a:spcBef>
                <a:spcPts val="6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4.3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计算右侧小于当前元素的个数（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LeetCode315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★★★）。设计一个算法求整数数组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中每个元素右侧小于该元素的个数，用新数组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counts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存放，即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counts[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的值是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右侧小于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的元素的数量。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2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例如，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nums={5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6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的右侧有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个更小的元素（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的右侧仅有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个更小的元素（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6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的右侧有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个更小的元素（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的右侧有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个更小的元素，结果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counts={2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2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要求设计如下成员函数：</a:t>
            </a:r>
          </a:p>
          <a:p>
            <a:pPr algn="l" defTabSz="360000">
              <a:lnSpc>
                <a:spcPts val="32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		vector&lt;int&gt; countSmaller(vector&lt;int&gt;&amp; nums) { }</a:t>
            </a:r>
            <a:endParaRPr lang="zh-CN" altLang="en-US" sz="2000">
              <a:solidFill>
                <a:srgbClr val="0066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714348" y="214290"/>
            <a:ext cx="1041400" cy="1044575"/>
            <a:chOff x="857224" y="1071546"/>
            <a:chExt cx="1041400" cy="1044575"/>
          </a:xfrm>
        </p:grpSpPr>
        <p:sp>
          <p:nvSpPr>
            <p:cNvPr id="6" name="Freeform 8"/>
            <p:cNvSpPr>
              <a:spLocks noEditPoints="1"/>
            </p:cNvSpPr>
            <p:nvPr/>
          </p:nvSpPr>
          <p:spPr bwMode="auto">
            <a:xfrm>
              <a:off x="857224" y="1071546"/>
              <a:ext cx="1041400" cy="1044575"/>
            </a:xfrm>
            <a:custGeom>
              <a:avLst/>
              <a:gdLst>
                <a:gd name="T0" fmla="*/ 964145 w 337"/>
                <a:gd name="T1" fmla="*/ 540830 h 338"/>
                <a:gd name="T2" fmla="*/ 964145 w 337"/>
                <a:gd name="T3" fmla="*/ 494473 h 338"/>
                <a:gd name="T4" fmla="*/ 1041400 w 337"/>
                <a:gd name="T5" fmla="*/ 441936 h 338"/>
                <a:gd name="T6" fmla="*/ 1007408 w 337"/>
                <a:gd name="T7" fmla="*/ 321408 h 338"/>
                <a:gd name="T8" fmla="*/ 914701 w 337"/>
                <a:gd name="T9" fmla="*/ 318317 h 338"/>
                <a:gd name="T10" fmla="*/ 889980 w 337"/>
                <a:gd name="T11" fmla="*/ 275051 h 338"/>
                <a:gd name="T12" fmla="*/ 930153 w 337"/>
                <a:gd name="T13" fmla="*/ 191608 h 338"/>
                <a:gd name="T14" fmla="*/ 843627 w 337"/>
                <a:gd name="T15" fmla="*/ 105076 h 338"/>
                <a:gd name="T16" fmla="*/ 760191 w 337"/>
                <a:gd name="T17" fmla="*/ 148342 h 338"/>
                <a:gd name="T18" fmla="*/ 716928 w 337"/>
                <a:gd name="T19" fmla="*/ 123618 h 338"/>
                <a:gd name="T20" fmla="*/ 710748 w 337"/>
                <a:gd name="T21" fmla="*/ 30905 h 338"/>
                <a:gd name="T22" fmla="*/ 652034 w 337"/>
                <a:gd name="T23" fmla="*/ 15452 h 338"/>
                <a:gd name="T24" fmla="*/ 590230 w 337"/>
                <a:gd name="T25" fmla="*/ 0 h 338"/>
                <a:gd name="T26" fmla="*/ 540786 w 337"/>
                <a:gd name="T27" fmla="*/ 77261 h 338"/>
                <a:gd name="T28" fmla="*/ 494433 w 337"/>
                <a:gd name="T29" fmla="*/ 77261 h 338"/>
                <a:gd name="T30" fmla="*/ 441900 w 337"/>
                <a:gd name="T31" fmla="*/ 3090 h 338"/>
                <a:gd name="T32" fmla="*/ 321382 w 337"/>
                <a:gd name="T33" fmla="*/ 33995 h 338"/>
                <a:gd name="T34" fmla="*/ 318291 w 337"/>
                <a:gd name="T35" fmla="*/ 126709 h 338"/>
                <a:gd name="T36" fmla="*/ 275028 w 337"/>
                <a:gd name="T37" fmla="*/ 151432 h 338"/>
                <a:gd name="T38" fmla="*/ 191593 w 337"/>
                <a:gd name="T39" fmla="*/ 111257 h 338"/>
                <a:gd name="T40" fmla="*/ 105067 w 337"/>
                <a:gd name="T41" fmla="*/ 200880 h 338"/>
                <a:gd name="T42" fmla="*/ 148330 w 337"/>
                <a:gd name="T43" fmla="*/ 281232 h 338"/>
                <a:gd name="T44" fmla="*/ 123608 w 337"/>
                <a:gd name="T45" fmla="*/ 324498 h 338"/>
                <a:gd name="T46" fmla="*/ 30902 w 337"/>
                <a:gd name="T47" fmla="*/ 330679 h 338"/>
                <a:gd name="T48" fmla="*/ 15451 w 337"/>
                <a:gd name="T49" fmla="*/ 392488 h 338"/>
                <a:gd name="T50" fmla="*/ 0 w 337"/>
                <a:gd name="T51" fmla="*/ 451207 h 338"/>
                <a:gd name="T52" fmla="*/ 77255 w 337"/>
                <a:gd name="T53" fmla="*/ 500654 h 338"/>
                <a:gd name="T54" fmla="*/ 77255 w 337"/>
                <a:gd name="T55" fmla="*/ 550102 h 338"/>
                <a:gd name="T56" fmla="*/ 0 w 337"/>
                <a:gd name="T57" fmla="*/ 602639 h 338"/>
                <a:gd name="T58" fmla="*/ 33992 w 337"/>
                <a:gd name="T59" fmla="*/ 723167 h 338"/>
                <a:gd name="T60" fmla="*/ 126699 w 337"/>
                <a:gd name="T61" fmla="*/ 726258 h 338"/>
                <a:gd name="T62" fmla="*/ 151420 w 337"/>
                <a:gd name="T63" fmla="*/ 766434 h 338"/>
                <a:gd name="T64" fmla="*/ 111247 w 337"/>
                <a:gd name="T65" fmla="*/ 849876 h 338"/>
                <a:gd name="T66" fmla="*/ 200864 w 337"/>
                <a:gd name="T67" fmla="*/ 939499 h 338"/>
                <a:gd name="T68" fmla="*/ 281209 w 337"/>
                <a:gd name="T69" fmla="*/ 896233 h 338"/>
                <a:gd name="T70" fmla="*/ 324472 w 337"/>
                <a:gd name="T71" fmla="*/ 920957 h 338"/>
                <a:gd name="T72" fmla="*/ 330652 w 337"/>
                <a:gd name="T73" fmla="*/ 1013670 h 338"/>
                <a:gd name="T74" fmla="*/ 389366 w 337"/>
                <a:gd name="T75" fmla="*/ 1029123 h 338"/>
                <a:gd name="T76" fmla="*/ 451170 w 337"/>
                <a:gd name="T77" fmla="*/ 1044575 h 338"/>
                <a:gd name="T78" fmla="*/ 500614 w 337"/>
                <a:gd name="T79" fmla="*/ 964223 h 338"/>
                <a:gd name="T80" fmla="*/ 550057 w 337"/>
                <a:gd name="T81" fmla="*/ 964223 h 338"/>
                <a:gd name="T82" fmla="*/ 602591 w 337"/>
                <a:gd name="T83" fmla="*/ 1041485 h 338"/>
                <a:gd name="T84" fmla="*/ 720018 w 337"/>
                <a:gd name="T85" fmla="*/ 1007489 h 338"/>
                <a:gd name="T86" fmla="*/ 726199 w 337"/>
                <a:gd name="T87" fmla="*/ 914776 h 338"/>
                <a:gd name="T88" fmla="*/ 766372 w 337"/>
                <a:gd name="T89" fmla="*/ 890052 h 338"/>
                <a:gd name="T90" fmla="*/ 849807 w 337"/>
                <a:gd name="T91" fmla="*/ 933318 h 338"/>
                <a:gd name="T92" fmla="*/ 936333 w 337"/>
                <a:gd name="T93" fmla="*/ 843695 h 338"/>
                <a:gd name="T94" fmla="*/ 896160 w 337"/>
                <a:gd name="T95" fmla="*/ 760253 h 338"/>
                <a:gd name="T96" fmla="*/ 917792 w 337"/>
                <a:gd name="T97" fmla="*/ 720077 h 338"/>
                <a:gd name="T98" fmla="*/ 1010498 w 337"/>
                <a:gd name="T99" fmla="*/ 713896 h 338"/>
                <a:gd name="T100" fmla="*/ 1025949 w 337"/>
                <a:gd name="T101" fmla="*/ 652087 h 338"/>
                <a:gd name="T102" fmla="*/ 1041400 w 337"/>
                <a:gd name="T103" fmla="*/ 593368 h 338"/>
                <a:gd name="T104" fmla="*/ 964145 w 337"/>
                <a:gd name="T105" fmla="*/ 540830 h 338"/>
                <a:gd name="T106" fmla="*/ 432629 w 337"/>
                <a:gd name="T107" fmla="*/ 868419 h 338"/>
                <a:gd name="T108" fmla="*/ 176142 w 337"/>
                <a:gd name="T109" fmla="*/ 432664 h 338"/>
                <a:gd name="T110" fmla="*/ 611861 w 337"/>
                <a:gd name="T111" fmla="*/ 176156 h 338"/>
                <a:gd name="T112" fmla="*/ 868348 w 337"/>
                <a:gd name="T113" fmla="*/ 611911 h 338"/>
                <a:gd name="T114" fmla="*/ 432629 w 337"/>
                <a:gd name="T115" fmla="*/ 868419 h 33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37" h="338">
                  <a:moveTo>
                    <a:pt x="312" y="175"/>
                  </a:moveTo>
                  <a:cubicBezTo>
                    <a:pt x="312" y="170"/>
                    <a:pt x="312" y="165"/>
                    <a:pt x="312" y="160"/>
                  </a:cubicBezTo>
                  <a:cubicBezTo>
                    <a:pt x="337" y="143"/>
                    <a:pt x="337" y="143"/>
                    <a:pt x="337" y="143"/>
                  </a:cubicBezTo>
                  <a:cubicBezTo>
                    <a:pt x="326" y="104"/>
                    <a:pt x="326" y="104"/>
                    <a:pt x="326" y="104"/>
                  </a:cubicBezTo>
                  <a:cubicBezTo>
                    <a:pt x="296" y="103"/>
                    <a:pt x="296" y="103"/>
                    <a:pt x="296" y="103"/>
                  </a:cubicBezTo>
                  <a:cubicBezTo>
                    <a:pt x="294" y="98"/>
                    <a:pt x="291" y="94"/>
                    <a:pt x="288" y="89"/>
                  </a:cubicBezTo>
                  <a:cubicBezTo>
                    <a:pt x="301" y="62"/>
                    <a:pt x="301" y="62"/>
                    <a:pt x="301" y="62"/>
                  </a:cubicBezTo>
                  <a:cubicBezTo>
                    <a:pt x="273" y="34"/>
                    <a:pt x="273" y="34"/>
                    <a:pt x="273" y="34"/>
                  </a:cubicBezTo>
                  <a:cubicBezTo>
                    <a:pt x="246" y="48"/>
                    <a:pt x="246" y="48"/>
                    <a:pt x="246" y="48"/>
                  </a:cubicBezTo>
                  <a:cubicBezTo>
                    <a:pt x="242" y="45"/>
                    <a:pt x="237" y="42"/>
                    <a:pt x="232" y="40"/>
                  </a:cubicBezTo>
                  <a:cubicBezTo>
                    <a:pt x="230" y="10"/>
                    <a:pt x="230" y="10"/>
                    <a:pt x="230" y="10"/>
                  </a:cubicBezTo>
                  <a:cubicBezTo>
                    <a:pt x="211" y="5"/>
                    <a:pt x="211" y="5"/>
                    <a:pt x="211" y="5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75" y="25"/>
                    <a:pt x="175" y="25"/>
                    <a:pt x="175" y="25"/>
                  </a:cubicBezTo>
                  <a:cubicBezTo>
                    <a:pt x="170" y="25"/>
                    <a:pt x="165" y="25"/>
                    <a:pt x="160" y="25"/>
                  </a:cubicBezTo>
                  <a:cubicBezTo>
                    <a:pt x="143" y="1"/>
                    <a:pt x="143" y="1"/>
                    <a:pt x="143" y="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4"/>
                    <a:pt x="93" y="46"/>
                    <a:pt x="89" y="49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48" y="91"/>
                    <a:pt x="48" y="91"/>
                    <a:pt x="48" y="91"/>
                  </a:cubicBezTo>
                  <a:cubicBezTo>
                    <a:pt x="45" y="96"/>
                    <a:pt x="42" y="100"/>
                    <a:pt x="40" y="105"/>
                  </a:cubicBezTo>
                  <a:cubicBezTo>
                    <a:pt x="10" y="107"/>
                    <a:pt x="10" y="107"/>
                    <a:pt x="10" y="107"/>
                  </a:cubicBezTo>
                  <a:cubicBezTo>
                    <a:pt x="5" y="127"/>
                    <a:pt x="5" y="127"/>
                    <a:pt x="5" y="127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25" y="162"/>
                    <a:pt x="25" y="162"/>
                    <a:pt x="25" y="162"/>
                  </a:cubicBezTo>
                  <a:cubicBezTo>
                    <a:pt x="25" y="168"/>
                    <a:pt x="25" y="173"/>
                    <a:pt x="25" y="178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11" y="234"/>
                    <a:pt x="11" y="234"/>
                    <a:pt x="11" y="234"/>
                  </a:cubicBezTo>
                  <a:cubicBezTo>
                    <a:pt x="41" y="235"/>
                    <a:pt x="41" y="235"/>
                    <a:pt x="41" y="235"/>
                  </a:cubicBezTo>
                  <a:cubicBezTo>
                    <a:pt x="44" y="240"/>
                    <a:pt x="46" y="244"/>
                    <a:pt x="49" y="248"/>
                  </a:cubicBezTo>
                  <a:cubicBezTo>
                    <a:pt x="36" y="275"/>
                    <a:pt x="36" y="275"/>
                    <a:pt x="36" y="275"/>
                  </a:cubicBezTo>
                  <a:cubicBezTo>
                    <a:pt x="65" y="304"/>
                    <a:pt x="65" y="304"/>
                    <a:pt x="65" y="304"/>
                  </a:cubicBezTo>
                  <a:cubicBezTo>
                    <a:pt x="91" y="290"/>
                    <a:pt x="91" y="290"/>
                    <a:pt x="91" y="290"/>
                  </a:cubicBezTo>
                  <a:cubicBezTo>
                    <a:pt x="96" y="293"/>
                    <a:pt x="100" y="295"/>
                    <a:pt x="105" y="298"/>
                  </a:cubicBezTo>
                  <a:cubicBezTo>
                    <a:pt x="107" y="328"/>
                    <a:pt x="107" y="328"/>
                    <a:pt x="107" y="328"/>
                  </a:cubicBezTo>
                  <a:cubicBezTo>
                    <a:pt x="126" y="333"/>
                    <a:pt x="126" y="333"/>
                    <a:pt x="126" y="333"/>
                  </a:cubicBezTo>
                  <a:cubicBezTo>
                    <a:pt x="146" y="338"/>
                    <a:pt x="146" y="338"/>
                    <a:pt x="146" y="338"/>
                  </a:cubicBezTo>
                  <a:cubicBezTo>
                    <a:pt x="162" y="312"/>
                    <a:pt x="162" y="312"/>
                    <a:pt x="162" y="312"/>
                  </a:cubicBezTo>
                  <a:cubicBezTo>
                    <a:pt x="167" y="313"/>
                    <a:pt x="173" y="313"/>
                    <a:pt x="178" y="312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233" y="326"/>
                    <a:pt x="233" y="326"/>
                    <a:pt x="233" y="326"/>
                  </a:cubicBezTo>
                  <a:cubicBezTo>
                    <a:pt x="235" y="296"/>
                    <a:pt x="235" y="296"/>
                    <a:pt x="235" y="296"/>
                  </a:cubicBezTo>
                  <a:cubicBezTo>
                    <a:pt x="239" y="294"/>
                    <a:pt x="244" y="291"/>
                    <a:pt x="248" y="288"/>
                  </a:cubicBezTo>
                  <a:cubicBezTo>
                    <a:pt x="275" y="302"/>
                    <a:pt x="275" y="302"/>
                    <a:pt x="275" y="302"/>
                  </a:cubicBezTo>
                  <a:cubicBezTo>
                    <a:pt x="303" y="273"/>
                    <a:pt x="303" y="273"/>
                    <a:pt x="303" y="273"/>
                  </a:cubicBezTo>
                  <a:cubicBezTo>
                    <a:pt x="290" y="246"/>
                    <a:pt x="290" y="246"/>
                    <a:pt x="290" y="246"/>
                  </a:cubicBezTo>
                  <a:cubicBezTo>
                    <a:pt x="293" y="242"/>
                    <a:pt x="295" y="237"/>
                    <a:pt x="297" y="233"/>
                  </a:cubicBezTo>
                  <a:cubicBezTo>
                    <a:pt x="327" y="231"/>
                    <a:pt x="327" y="231"/>
                    <a:pt x="327" y="231"/>
                  </a:cubicBezTo>
                  <a:cubicBezTo>
                    <a:pt x="332" y="211"/>
                    <a:pt x="332" y="211"/>
                    <a:pt x="332" y="211"/>
                  </a:cubicBezTo>
                  <a:cubicBezTo>
                    <a:pt x="337" y="192"/>
                    <a:pt x="337" y="192"/>
                    <a:pt x="337" y="192"/>
                  </a:cubicBezTo>
                  <a:lnTo>
                    <a:pt x="312" y="175"/>
                  </a:lnTo>
                  <a:close/>
                  <a:moveTo>
                    <a:pt x="140" y="281"/>
                  </a:moveTo>
                  <a:cubicBezTo>
                    <a:pt x="78" y="265"/>
                    <a:pt x="41" y="202"/>
                    <a:pt x="57" y="140"/>
                  </a:cubicBezTo>
                  <a:cubicBezTo>
                    <a:pt x="73" y="78"/>
                    <a:pt x="136" y="41"/>
                    <a:pt x="198" y="57"/>
                  </a:cubicBezTo>
                  <a:cubicBezTo>
                    <a:pt x="259" y="73"/>
                    <a:pt x="297" y="136"/>
                    <a:pt x="281" y="198"/>
                  </a:cubicBezTo>
                  <a:cubicBezTo>
                    <a:pt x="265" y="260"/>
                    <a:pt x="202" y="297"/>
                    <a:pt x="140" y="281"/>
                  </a:cubicBezTo>
                  <a:close/>
                </a:path>
              </a:pathLst>
            </a:custGeom>
            <a:solidFill>
              <a:srgbClr val="1848C0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" name="Rectangle 16"/>
            <p:cNvSpPr>
              <a:spLocks noChangeArrowheads="1"/>
            </p:cNvSpPr>
            <p:nvPr/>
          </p:nvSpPr>
          <p:spPr bwMode="auto">
            <a:xfrm>
              <a:off x="1066774" y="1399481"/>
              <a:ext cx="663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2000" spc="5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华文中宋" pitchFamily="2" charset="-122"/>
                  <a:ea typeface="华文中宋" pitchFamily="2" charset="-122"/>
                </a:rPr>
                <a:t>实例</a:t>
              </a:r>
              <a:endParaRPr lang="zh-CN" altLang="zh-CN" sz="2000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47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7158" y="285728"/>
            <a:ext cx="928694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0034" y="1000108"/>
            <a:ext cx="8358246" cy="2602636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 defTabSz="360000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采用递归二路归并排序方法求解，用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counts[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累计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右侧小于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的元素的个数（初始为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在对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[low..high]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进行二路归并排序时，先产生有序表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即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[low..mid]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和有序表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即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[mid+1..high]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，再进行合并，合并过程中用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分别遍历两个有序表，同时求有序表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中每个归并元素的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count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值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endParaRPr lang="zh-CN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298420" y="3971919"/>
            <a:ext cx="8475722" cy="1056256"/>
            <a:chOff x="298420" y="3971919"/>
            <a:chExt cx="8475722" cy="1056256"/>
          </a:xfrm>
        </p:grpSpPr>
        <p:sp>
          <p:nvSpPr>
            <p:cNvPr id="6" name="Rectangle 11"/>
            <p:cNvSpPr>
              <a:spLocks noChangeArrowheads="1"/>
            </p:cNvSpPr>
            <p:nvPr/>
          </p:nvSpPr>
          <p:spPr bwMode="auto">
            <a:xfrm>
              <a:off x="298420" y="4599629"/>
              <a:ext cx="3652863" cy="42854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3600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[low] 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 </a:t>
              </a:r>
              <a:r>
                <a:rPr kumimoji="0" lang="en-US" altLang="zh-CN" sz="2000" b="1" i="1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b="1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</a:t>
              </a:r>
              <a:r>
                <a:rPr kumimoji="0" lang="en-US" altLang="zh-CN" sz="2000" b="1" i="1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1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  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 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[mid]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7" name="Rectangle 10"/>
            <p:cNvSpPr>
              <a:spLocks noChangeArrowheads="1"/>
            </p:cNvSpPr>
            <p:nvPr/>
          </p:nvSpPr>
          <p:spPr bwMode="auto">
            <a:xfrm>
              <a:off x="3694106" y="3971919"/>
              <a:ext cx="1419235" cy="42442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00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合并</a:t>
              </a:r>
              <a:endParaRPr kumimoji="0" lang="en-US" altLang="zh-CN" sz="200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8" name="Rectangle 9"/>
            <p:cNvSpPr>
              <a:spLocks noChangeArrowheads="1"/>
            </p:cNvSpPr>
            <p:nvPr/>
          </p:nvSpPr>
          <p:spPr bwMode="auto">
            <a:xfrm>
              <a:off x="4510087" y="4599629"/>
              <a:ext cx="4264055" cy="42854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[mid+1] 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 </a:t>
              </a:r>
              <a:r>
                <a:rPr kumimoji="0" lang="en-US" altLang="zh-CN" sz="2000" b="1" i="1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b="1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</a:t>
              </a:r>
              <a:r>
                <a:rPr kumimoji="0" lang="en-US" altLang="zh-CN" sz="2000" b="1" i="1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r>
                <a:rPr kumimoji="0" lang="en-US" altLang="zh-CN" sz="2000" b="1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  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 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[high]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9" name="AutoShape 8"/>
            <p:cNvSpPr>
              <a:spLocks/>
            </p:cNvSpPr>
            <p:nvPr/>
          </p:nvSpPr>
          <p:spPr bwMode="auto">
            <a:xfrm rot="5400000">
              <a:off x="4307396" y="2207867"/>
              <a:ext cx="230756" cy="4551394"/>
            </a:xfrm>
            <a:prstGeom prst="leftBracket">
              <a:avLst>
                <a:gd name="adj" fmla="val 142212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3600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1" name="Rectangle 5"/>
            <p:cNvSpPr>
              <a:spLocks noChangeArrowheads="1"/>
            </p:cNvSpPr>
            <p:nvPr/>
          </p:nvSpPr>
          <p:spPr bwMode="auto">
            <a:xfrm>
              <a:off x="492096" y="4194433"/>
              <a:ext cx="1274771" cy="31316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有序表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2" name="Rectangle 4"/>
            <p:cNvSpPr>
              <a:spLocks noChangeArrowheads="1"/>
            </p:cNvSpPr>
            <p:nvPr/>
          </p:nvSpPr>
          <p:spPr bwMode="auto">
            <a:xfrm>
              <a:off x="6856428" y="4182071"/>
              <a:ext cx="1354147" cy="32553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有序表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</p:grp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48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7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500034" y="3286125"/>
            <a:ext cx="8358246" cy="1435148"/>
            <a:chOff x="500034" y="1857365"/>
            <a:chExt cx="8358246" cy="1435148"/>
          </a:xfrm>
        </p:grpSpPr>
        <p:sp>
          <p:nvSpPr>
            <p:cNvPr id="16391" name="AutoShape 7"/>
            <p:cNvSpPr>
              <a:spLocks/>
            </p:cNvSpPr>
            <p:nvPr/>
          </p:nvSpPr>
          <p:spPr bwMode="auto">
            <a:xfrm rot="16200000">
              <a:off x="5613580" y="958661"/>
              <a:ext cx="206032" cy="2003439"/>
            </a:xfrm>
            <a:prstGeom prst="leftBrace">
              <a:avLst>
                <a:gd name="adj1" fmla="val 70111"/>
                <a:gd name="adj2" fmla="val 50000"/>
              </a:avLst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3600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6390" name="Rectangle 6"/>
            <p:cNvSpPr>
              <a:spLocks noChangeArrowheads="1"/>
            </p:cNvSpPr>
            <p:nvPr/>
          </p:nvSpPr>
          <p:spPr bwMode="auto">
            <a:xfrm>
              <a:off x="500034" y="2195051"/>
              <a:ext cx="8358246" cy="109746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2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①</a:t>
              </a:r>
              <a:r>
                <a:rPr kumimoji="0" lang="zh-CN" sz="22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在初始数组</a:t>
              </a:r>
              <a:r>
                <a:rPr kumimoji="0" lang="en-US" altLang="zh-CN" sz="22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zh-CN" altLang="en-US" sz="22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中，有序表</a:t>
              </a:r>
              <a:r>
                <a:rPr kumimoji="0" lang="en-US" altLang="zh-CN" sz="22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r>
                <a:rPr kumimoji="0" lang="zh-CN" altLang="en-US" sz="22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中元素位置均在</a:t>
              </a:r>
              <a:r>
                <a:rPr kumimoji="0" lang="en-US" altLang="zh-CN" sz="22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2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</a:t>
              </a:r>
              <a:r>
                <a:rPr kumimoji="0" lang="en-US" altLang="zh-CN" sz="22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2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</a:t>
              </a:r>
              <a:r>
                <a:rPr kumimoji="0" lang="zh-CN" altLang="en-US" sz="22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的右侧。</a:t>
              </a:r>
              <a:endParaRPr kumimoji="0" lang="zh-CN" altLang="en-US" sz="22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2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②比较中有序表</a:t>
              </a:r>
              <a:r>
                <a:rPr kumimoji="0" lang="en-US" altLang="zh-CN" sz="22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r>
                <a:rPr kumimoji="0" lang="zh-CN" altLang="en-US" sz="22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中较小的元素先归并。</a:t>
              </a:r>
              <a:endParaRPr kumimoji="0" lang="zh-CN" altLang="en-US" sz="22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2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③此时</a:t>
              </a:r>
              <a:r>
                <a:rPr kumimoji="0" lang="en-US" altLang="zh-CN" sz="22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2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[mid+1..</a:t>
              </a:r>
              <a:r>
                <a:rPr kumimoji="0" lang="en-US" altLang="zh-CN" sz="22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r>
                <a:rPr kumimoji="0" lang="en-US" altLang="zh-CN" sz="22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-1]</a:t>
              </a:r>
              <a:r>
                <a:rPr kumimoji="0" lang="zh-CN" altLang="en-US" sz="22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已经先于</a:t>
              </a:r>
              <a:r>
                <a:rPr kumimoji="0" lang="en-US" altLang="zh-CN" sz="22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2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</a:t>
              </a:r>
              <a:r>
                <a:rPr kumimoji="0" lang="en-US" altLang="zh-CN" sz="22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2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</a:t>
              </a:r>
              <a:r>
                <a:rPr kumimoji="0" lang="zh-CN" altLang="en-US" sz="22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归并，说明它们均小于</a:t>
              </a:r>
              <a:r>
                <a:rPr kumimoji="0" lang="en-US" altLang="zh-CN" sz="22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2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</a:t>
              </a:r>
              <a:r>
                <a:rPr kumimoji="0" lang="en-US" altLang="zh-CN" sz="22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2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</a:t>
              </a:r>
              <a:r>
                <a:rPr kumimoji="0" lang="zh-CN" altLang="en-US" sz="22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。</a:t>
              </a:r>
              <a:endParaRPr kumimoji="0" lang="zh-CN" altLang="en-US" sz="22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98420" y="2214554"/>
            <a:ext cx="8702736" cy="1056256"/>
            <a:chOff x="298420" y="785794"/>
            <a:chExt cx="8702736" cy="1056256"/>
          </a:xfrm>
        </p:grpSpPr>
        <p:sp>
          <p:nvSpPr>
            <p:cNvPr id="16395" name="Rectangle 11"/>
            <p:cNvSpPr>
              <a:spLocks noChangeArrowheads="1"/>
            </p:cNvSpPr>
            <p:nvPr/>
          </p:nvSpPr>
          <p:spPr bwMode="auto">
            <a:xfrm>
              <a:off x="298420" y="1413504"/>
              <a:ext cx="3652863" cy="42854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3600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[low] 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 </a:t>
              </a:r>
              <a:r>
                <a:rPr kumimoji="0" lang="en-US" altLang="zh-CN" sz="2000" b="1" i="1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b="1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</a:t>
              </a:r>
              <a:r>
                <a:rPr kumimoji="0" lang="en-US" altLang="zh-CN" sz="2000" b="1" i="1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1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  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 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[mid]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6394" name="Rectangle 10"/>
            <p:cNvSpPr>
              <a:spLocks noChangeArrowheads="1"/>
            </p:cNvSpPr>
            <p:nvPr/>
          </p:nvSpPr>
          <p:spPr bwMode="auto">
            <a:xfrm>
              <a:off x="3694106" y="785794"/>
              <a:ext cx="1419235" cy="42442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≤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6393" name="Rectangle 9"/>
            <p:cNvSpPr>
              <a:spLocks noChangeArrowheads="1"/>
            </p:cNvSpPr>
            <p:nvPr/>
          </p:nvSpPr>
          <p:spPr bwMode="auto">
            <a:xfrm>
              <a:off x="4510087" y="1413504"/>
              <a:ext cx="4491069" cy="42854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[mid+1] 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+mj-ea"/>
                  <a:cs typeface="Times New Roman" pitchFamily="18" charset="0"/>
                </a:rPr>
                <a:t>a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+mj-ea"/>
                  <a:cs typeface="Times New Roman" pitchFamily="18" charset="0"/>
                </a:rPr>
                <a:t>[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+mj-ea"/>
                  <a:cs typeface="Times New Roman" pitchFamily="18" charset="0"/>
                </a:rPr>
                <a:t>j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+mj-ea"/>
                  <a:cs typeface="Times New Roman" pitchFamily="18" charset="0"/>
                </a:rPr>
                <a:t>-1]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 </a:t>
              </a:r>
              <a:r>
                <a:rPr kumimoji="0" lang="en-US" altLang="zh-CN" sz="2000" b="1" i="1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b="1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</a:t>
              </a:r>
              <a:r>
                <a:rPr kumimoji="0" lang="en-US" altLang="zh-CN" sz="2000" b="1" i="1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r>
                <a:rPr kumimoji="0" lang="en-US" altLang="zh-CN" sz="2000" b="1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 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[high]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6392" name="AutoShape 8"/>
            <p:cNvSpPr>
              <a:spLocks/>
            </p:cNvSpPr>
            <p:nvPr/>
          </p:nvSpPr>
          <p:spPr bwMode="auto">
            <a:xfrm rot="5400000">
              <a:off x="4522084" y="-1192948"/>
              <a:ext cx="246675" cy="4996691"/>
            </a:xfrm>
            <a:prstGeom prst="leftBracket">
              <a:avLst>
                <a:gd name="adj" fmla="val 142212"/>
              </a:avLst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3600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6389" name="Rectangle 5"/>
            <p:cNvSpPr>
              <a:spLocks noChangeArrowheads="1"/>
            </p:cNvSpPr>
            <p:nvPr/>
          </p:nvSpPr>
          <p:spPr bwMode="auto">
            <a:xfrm>
              <a:off x="492096" y="1008308"/>
              <a:ext cx="1274771" cy="31316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有序表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6388" name="Rectangle 4"/>
            <p:cNvSpPr>
              <a:spLocks noChangeArrowheads="1"/>
            </p:cNvSpPr>
            <p:nvPr/>
          </p:nvSpPr>
          <p:spPr bwMode="auto">
            <a:xfrm>
              <a:off x="7289819" y="995946"/>
              <a:ext cx="1354147" cy="32553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有序表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089001" y="4721274"/>
            <a:ext cx="7232701" cy="1127680"/>
            <a:chOff x="1089001" y="4721274"/>
            <a:chExt cx="7232701" cy="1127680"/>
          </a:xfrm>
        </p:grpSpPr>
        <p:sp>
          <p:nvSpPr>
            <p:cNvPr id="16387" name="AutoShape 3"/>
            <p:cNvSpPr>
              <a:spLocks noChangeArrowheads="1"/>
            </p:cNvSpPr>
            <p:nvPr/>
          </p:nvSpPr>
          <p:spPr bwMode="auto">
            <a:xfrm>
              <a:off x="4051296" y="4721274"/>
              <a:ext cx="227014" cy="387340"/>
            </a:xfrm>
            <a:prstGeom prst="downArrow">
              <a:avLst>
                <a:gd name="adj1" fmla="val 50000"/>
                <a:gd name="adj2" fmla="val 49301"/>
              </a:avLst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eaVert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6386" name="Rectangle 2"/>
            <p:cNvSpPr>
              <a:spLocks noChangeArrowheads="1"/>
            </p:cNvSpPr>
            <p:nvPr/>
          </p:nvSpPr>
          <p:spPr bwMode="auto">
            <a:xfrm>
              <a:off x="1089001" y="5108613"/>
              <a:ext cx="7232701" cy="7403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2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对于</a:t>
              </a:r>
              <a:r>
                <a:rPr kumimoji="0" lang="en-US" altLang="zh-CN" sz="22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2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</a:t>
              </a:r>
              <a:r>
                <a:rPr kumimoji="0" lang="en-US" altLang="zh-CN" sz="22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2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</a:t>
              </a:r>
              <a:r>
                <a:rPr kumimoji="0" lang="zh-CN" altLang="en-US" sz="22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而言，</a:t>
              </a:r>
              <a:r>
                <a:rPr kumimoji="0" lang="en-US" altLang="zh-CN" sz="22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2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[mid+1..</a:t>
              </a:r>
              <a:r>
                <a:rPr kumimoji="0" lang="en-US" altLang="zh-CN" sz="22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r>
                <a:rPr kumimoji="0" lang="en-US" altLang="zh-CN" sz="22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-1]</a:t>
              </a:r>
              <a:r>
                <a:rPr kumimoji="0" lang="zh-CN" altLang="en-US" sz="22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均是初始数组中右侧小于它的元素，共</a:t>
              </a:r>
              <a:r>
                <a:rPr kumimoji="0" lang="en-US" altLang="zh-CN" sz="2200" b="0" i="1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r>
                <a:rPr kumimoji="0" lang="en-US" altLang="zh-CN" sz="2200" b="0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-mid-1</a:t>
              </a:r>
              <a:r>
                <a:rPr kumimoji="0" lang="zh-CN" altLang="en-US" sz="22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个，将该数累计到</a:t>
              </a:r>
              <a:r>
                <a:rPr kumimoji="0" lang="en-US" altLang="zh-CN" sz="22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count[</a:t>
              </a:r>
              <a:r>
                <a:rPr kumimoji="0" lang="en-US" altLang="zh-CN" sz="22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2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</a:t>
              </a:r>
              <a:r>
                <a:rPr kumimoji="0" lang="zh-CN" altLang="en-US" sz="22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中</a:t>
              </a:r>
              <a:endParaRPr kumimoji="0" lang="zh-CN" altLang="en-US" sz="22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214282" y="428604"/>
            <a:ext cx="8643998" cy="1323439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 defTabSz="360000">
              <a:lnSpc>
                <a:spcPts val="30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当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]&gt;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时，归并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，由于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不属于有序表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，不考虑求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count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30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当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FF0000"/>
                </a:solidFill>
                <a:latin typeface="+mn-ea"/>
              </a:rPr>
              <a:t>≤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时，置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count[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]+=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-mid-1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，如图所示。</a:t>
            </a:r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49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158" y="428604"/>
            <a:ext cx="8643998" cy="344976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struct 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IDX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 val;      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整数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 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	int idx;   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整数在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nums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中的初始下标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	IDX() {}     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构造函数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	IDX(int v,int i):val(v),idx(i) {} 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	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重载构造函数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 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};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class Solution 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vector&lt;int&gt; counts;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存放结果的数组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50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357166"/>
            <a:ext cx="8786874" cy="4039668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public: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vector&lt;int&gt; 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countSmaller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(vector&lt;int&gt;&amp; nums) {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求解算法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int n=nums.size();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	vector&lt;IDX&gt; R;  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//R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存放每个元素及其索引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for (int i=0;i&lt;n;i++)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R.push_back(IDX(nums[i],i));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//R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保存每个元素中及其下标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		counts.push_back(0);  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初始化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counts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所有元素为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0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 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mergesort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(R,0,n-1);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	return counts;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51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76" y="142852"/>
            <a:ext cx="8929718" cy="5911976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 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mergesort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(vector&lt;IDX&gt; &amp;R,int low,int high){ 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二路归并</a:t>
            </a:r>
            <a:r>
              <a:rPr lang="zh-CN" altLang="en-US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排序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 (low&gt;=high) return;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	int mid=(low+high)/2;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mergesort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(R,low,mid);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mergesort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(R,mid+1,high);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12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	int i=low,j=mid+1; 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二路归并</a:t>
            </a: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	vector&lt;IDX&gt; R1;     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分配临时归并空间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R1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	while (i&lt;=mid &amp;&amp; j&lt;=high)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if 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R[i].val&lt;=R[j].val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{  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//R[i]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元素较小</a:t>
            </a: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	R1.push_back(R[i]);  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归并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R[i]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 	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counts[R[i].idx]+=j-mid-1; 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累加前移的元素个数</a:t>
            </a: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	i++;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else {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//R[j]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元素较小</a:t>
            </a: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		R1.push_back(R[j]);        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归并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R[j]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 	j++;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52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406" y="357166"/>
            <a:ext cx="8858280" cy="4886054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		while (i&lt;=mid)  {     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有序表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没有归并完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		R1.push_back(R[i]);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	counts[R[i].idx]+=high-mid;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	i++;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		while (j&lt;=high)  {    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有序表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没有归并完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		R1.push_back(R[j]);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	j++;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	for (int k=0,i=low;i&lt;=high;k++,i++)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将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R1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复制回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R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中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			R[i]=R1[k];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2" name="组合 9"/>
          <p:cNvGrpSpPr/>
          <p:nvPr/>
        </p:nvGrpSpPr>
        <p:grpSpPr>
          <a:xfrm>
            <a:off x="642910" y="5715016"/>
            <a:ext cx="7000924" cy="461665"/>
            <a:chOff x="1071538" y="6286520"/>
            <a:chExt cx="7000924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1857356" y="6286520"/>
              <a:ext cx="62151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执行用时为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1196ms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，内存消耗为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463.9MB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。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71538" y="6286520"/>
              <a:ext cx="785818" cy="443968"/>
            </a:xfrm>
            <a:prstGeom prst="rect">
              <a:avLst/>
            </a:prstGeom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Eras Bold ITC" pitchFamily="34" charset="0"/>
                  <a:ea typeface="仿宋" pitchFamily="49" charset="-122"/>
                  <a:cs typeface="Courier New" pitchFamily="49" charset="0"/>
                </a:rPr>
                <a:t>EXE </a:t>
              </a:r>
              <a:endParaRPr lang="zh-CN" altLang="en-US" sz="2000">
                <a:solidFill>
                  <a:srgbClr val="FF3300"/>
                </a:solidFill>
                <a:latin typeface="Forte" pitchFamily="66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53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hlinkClick r:id="" action="ppaction://noaction"/>
          </p:cNvPr>
          <p:cNvSpPr txBox="1"/>
          <p:nvPr/>
        </p:nvSpPr>
        <p:spPr>
          <a:xfrm>
            <a:off x="2786050" y="428604"/>
            <a:ext cx="3780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4.4 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二分查找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8596" y="1643050"/>
            <a:ext cx="3929090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4.4.1 </a:t>
            </a:r>
            <a:r>
              <a:rPr lang="zh-CN" altLang="en-US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基本二分查找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0034" y="2643182"/>
            <a:ext cx="8286808" cy="990015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ts val="3500"/>
              </a:lnSpc>
              <a:spcBef>
                <a:spcPts val="0"/>
              </a:spcBef>
            </a:pPr>
            <a:r>
              <a:rPr lang="pt-BR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  <a:sym typeface="Wingdings"/>
              </a:rPr>
              <a:t>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问题描述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：给定一个含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个整数的递增有序数组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，采用二分查找方法求整数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的元素的下标，若没有找到则返回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54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158" y="698542"/>
            <a:ext cx="928694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8596" y="1341484"/>
            <a:ext cx="8429684" cy="3016210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defTabSz="360000">
              <a:lnSpc>
                <a:spcPts val="32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设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[low..high]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为当前查找区间，首先确定该区间的中点位置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mid=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sym typeface="Symbol"/>
              </a:rPr>
              <a:t>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(low+high)/2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sym typeface="Symbol"/>
              </a:rPr>
              <a:t>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，然后将待查的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值与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[mid]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比较：</a:t>
            </a:r>
          </a:p>
          <a:p>
            <a:pPr marL="457200" indent="-457200" algn="l" defTabSz="360000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若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=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[mid] 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sym typeface="Wingdings"/>
              </a:rPr>
              <a:t>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查找成功并返回该元素的下标。</a:t>
            </a:r>
          </a:p>
          <a:p>
            <a:pPr marL="457200" indent="-457200" algn="l" defTabSz="360000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若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&lt;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[mid]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sym typeface="Wingdings"/>
              </a:rPr>
              <a:t>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新查找区间改为左子表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[low..mid-1]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  <a:p>
            <a:pPr marL="457200" indent="-457200" algn="l" defTabSz="360000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若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&gt;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[mid]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sym typeface="Wingdings"/>
              </a:rPr>
              <a:t> 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新查找区间改为右子表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[mid+1..high]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  <a:p>
            <a:pPr algn="l" defTabSz="360000">
              <a:lnSpc>
                <a:spcPts val="3200"/>
              </a:lnSpc>
              <a:spcBef>
                <a:spcPts val="120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下一次查找针对新的查找区间进行。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55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406" y="357166"/>
            <a:ext cx="8858280" cy="5221339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binsearch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(vector&lt;int&gt;&amp;a,int k) {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基本二分查找迭代算法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n=a.size();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low=0,high=n-1;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while (low&lt;=high) {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当前区间存在元素时循环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int mid=(low+high)/2;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	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求查找区间的中间位置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if (k==a[mid])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找到后返回其下标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mid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return mid;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if (k&lt;a[mid])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//k&lt;a[mid]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在左区间中查找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high=mid-1;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	else	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//k&gt;a[mid]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在右区间中查找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low=mid+1;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						</a:t>
            </a:r>
            <a:r>
              <a:rPr lang="en-US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循环结束时</a:t>
            </a:r>
            <a:r>
              <a:rPr lang="en-US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[low,high]</a:t>
            </a:r>
            <a:r>
              <a:rPr lang="zh-CN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为空即</a:t>
            </a:r>
            <a:r>
              <a:rPr lang="en-US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low=high+1</a:t>
            </a:r>
            <a:endParaRPr lang="zh-CN" altLang="zh-CN" sz="2000">
              <a:solidFill>
                <a:srgbClr val="00B05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return -1;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en-US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为空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时返回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-1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56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314" y="857232"/>
            <a:ext cx="8858280" cy="4804558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binsearch11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(vector&lt;int&gt;&amp;a,int low,int high,int k) {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 (low&lt;=high) {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当前区间存在元素时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int mid=(low+high)/2;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求查找区间的中间位置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if (k==a[mid])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找到后返回其下标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mid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return mid;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if (k&lt;a[mid])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//a[mid]&gt;k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sym typeface="Wingdings"/>
              </a:rPr>
              <a:t>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a[low..mid-1]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return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binsearch11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(a,low,mid-1,k);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else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//k&gt;a[mid]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sym typeface="Wingdings"/>
              </a:rPr>
              <a:t> 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a[mid+1..high]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return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binsearch11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(a,mid+1,high,k);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else return -1;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若当前查找区间没有元素时返回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-1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720" y="214290"/>
            <a:ext cx="6072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等价的基本二分查找递归算法：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57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76" y="642918"/>
            <a:ext cx="8858280" cy="1756992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binsearch1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(vector&lt;int&gt;&amp;a,int k) { 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二分查找递归算法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n=a.size();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return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binsearch11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(a,0,n-1,k);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58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2910" y="571480"/>
            <a:ext cx="7786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设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个元素的有序表中查找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的时间为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，时间递推式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2910" y="1643050"/>
            <a:ext cx="6072230" cy="1167087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18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T(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)=1								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当</a:t>
            </a:r>
            <a:r>
              <a:rPr lang="en-US" altLang="zh-CN" sz="2000" i="1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=1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时</a:t>
            </a:r>
          </a:p>
          <a:p>
            <a:pPr algn="l" defTabSz="360000">
              <a:lnSpc>
                <a:spcPts val="2800"/>
              </a:lnSpc>
              <a:spcBef>
                <a:spcPts val="18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T(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)=T(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/2)+1					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当</a:t>
            </a:r>
            <a:r>
              <a:rPr lang="en-US" altLang="zh-CN" sz="2000" i="1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 sz="2000">
                <a:solidFill>
                  <a:srgbClr val="00B0F0"/>
                </a:solidFill>
                <a:latin typeface="+mj-ea"/>
                <a:ea typeface="+mj-ea"/>
              </a:rPr>
              <a:t>≥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34" y="3357562"/>
            <a:ext cx="7715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可以推出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pt-BR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)=O(log</a:t>
            </a:r>
            <a:r>
              <a:rPr lang="pt-BR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pt-BR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59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0034" y="928670"/>
            <a:ext cx="8143932" cy="2041585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500"/>
              </a:lnSpc>
              <a:spcBef>
                <a:spcPts val="12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4.4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求解假币问题。有外观相同的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&gt;3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）个硬币，其中恰好有一个重量较真币轻的假币，现在采用天平称重方法找出假币，问保证找到假币的最少称重次数？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500"/>
              </a:lnSpc>
              <a:spcBef>
                <a:spcPts val="12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以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=101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为例说明查找假币的过程。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60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596" y="714356"/>
            <a:ext cx="571504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2976" y="428604"/>
            <a:ext cx="76438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采用这样的三分法称重，将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个硬币分为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份即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、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，保证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中的硬币个数相同，而且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中硬币个数与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中硬币个数最多相差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5720" y="1928802"/>
            <a:ext cx="8572560" cy="1935786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defTabSz="360000">
              <a:lnSpc>
                <a:spcPts val="3200"/>
              </a:lnSpc>
              <a:spcBef>
                <a:spcPts val="60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先将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称重一次，分为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种情况：</a:t>
            </a:r>
          </a:p>
          <a:p>
            <a:pPr algn="l" defTabSz="360000">
              <a:lnSpc>
                <a:spcPts val="3200"/>
              </a:lnSpc>
              <a:spcBef>
                <a:spcPts val="60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的重量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&lt; B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的重量，说明假币在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中，再在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中查找假币。</a:t>
            </a:r>
          </a:p>
          <a:p>
            <a:pPr algn="l" defTabSz="360000">
              <a:lnSpc>
                <a:spcPts val="3200"/>
              </a:lnSpc>
              <a:spcBef>
                <a:spcPts val="60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的重量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&gt; B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的重量，说明假币在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中，再在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中查找假币。</a:t>
            </a:r>
          </a:p>
          <a:p>
            <a:pPr algn="l" defTabSz="360000">
              <a:lnSpc>
                <a:spcPts val="3200"/>
              </a:lnSpc>
              <a:spcBef>
                <a:spcPts val="60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的重量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=B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的重量，说明假币在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中，再在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中查找假币。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14480" y="4429132"/>
            <a:ext cx="5072098" cy="473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最多称重次数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)=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sym typeface="Symbol"/>
              </a:rPr>
              <a:t>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log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sym typeface="Symbol"/>
              </a:rPr>
              <a:t>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61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596" y="428604"/>
            <a:ext cx="14287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=101</a:t>
            </a:r>
            <a:endParaRPr lang="zh-CN" altLang="en-US" sz="20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3122" name="Rectangle 5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120" name="Oval 48"/>
          <p:cNvSpPr>
            <a:spLocks noChangeArrowheads="1"/>
          </p:cNvSpPr>
          <p:nvPr/>
        </p:nvSpPr>
        <p:spPr bwMode="auto">
          <a:xfrm>
            <a:off x="2106846" y="3365722"/>
            <a:ext cx="391476" cy="401118"/>
          </a:xfrm>
          <a:prstGeom prst="ellipse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11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3119" name="Oval 47"/>
          <p:cNvSpPr>
            <a:spLocks noChangeArrowheads="1"/>
          </p:cNvSpPr>
          <p:nvPr/>
        </p:nvSpPr>
        <p:spPr bwMode="auto">
          <a:xfrm>
            <a:off x="1297610" y="4237409"/>
            <a:ext cx="391476" cy="401118"/>
          </a:xfrm>
          <a:prstGeom prst="ellipse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4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3118" name="Oval 46"/>
          <p:cNvSpPr>
            <a:spLocks noChangeArrowheads="1"/>
          </p:cNvSpPr>
          <p:nvPr/>
        </p:nvSpPr>
        <p:spPr bwMode="auto">
          <a:xfrm>
            <a:off x="796852" y="5053818"/>
            <a:ext cx="391476" cy="401118"/>
          </a:xfrm>
          <a:prstGeom prst="ellipse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1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3117" name="Oval 45"/>
          <p:cNvSpPr>
            <a:spLocks noChangeArrowheads="1"/>
          </p:cNvSpPr>
          <p:nvPr/>
        </p:nvSpPr>
        <p:spPr bwMode="auto">
          <a:xfrm>
            <a:off x="1293460" y="5053818"/>
            <a:ext cx="391476" cy="401118"/>
          </a:xfrm>
          <a:prstGeom prst="ellipse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1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3116" name="Oval 44"/>
          <p:cNvSpPr>
            <a:spLocks noChangeArrowheads="1"/>
          </p:cNvSpPr>
          <p:nvPr/>
        </p:nvSpPr>
        <p:spPr bwMode="auto">
          <a:xfrm>
            <a:off x="1783151" y="5053818"/>
            <a:ext cx="391476" cy="401118"/>
          </a:xfrm>
          <a:prstGeom prst="ellipse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2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3115" name="Oval 43"/>
          <p:cNvSpPr>
            <a:spLocks noChangeArrowheads="1"/>
          </p:cNvSpPr>
          <p:nvPr/>
        </p:nvSpPr>
        <p:spPr bwMode="auto">
          <a:xfrm>
            <a:off x="1539689" y="5789437"/>
            <a:ext cx="391476" cy="401118"/>
          </a:xfrm>
          <a:prstGeom prst="ellipse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1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3114" name="Oval 42"/>
          <p:cNvSpPr>
            <a:spLocks noChangeArrowheads="1"/>
          </p:cNvSpPr>
          <p:nvPr/>
        </p:nvSpPr>
        <p:spPr bwMode="auto">
          <a:xfrm>
            <a:off x="2061196" y="5789437"/>
            <a:ext cx="391476" cy="401118"/>
          </a:xfrm>
          <a:prstGeom prst="ellipse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1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3113" name="AutoShape 41"/>
          <p:cNvSpPr>
            <a:spLocks noChangeShapeType="1"/>
          </p:cNvSpPr>
          <p:nvPr/>
        </p:nvSpPr>
        <p:spPr bwMode="auto">
          <a:xfrm flipH="1">
            <a:off x="1736119" y="5396824"/>
            <a:ext cx="103748" cy="392614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3112" name="AutoShape 40"/>
          <p:cNvSpPr>
            <a:spLocks noChangeShapeType="1"/>
          </p:cNvSpPr>
          <p:nvPr/>
        </p:nvSpPr>
        <p:spPr bwMode="auto">
          <a:xfrm>
            <a:off x="2117912" y="5396824"/>
            <a:ext cx="139714" cy="392614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3111" name="AutoShape 39"/>
          <p:cNvSpPr>
            <a:spLocks noChangeShapeType="1"/>
          </p:cNvSpPr>
          <p:nvPr/>
        </p:nvSpPr>
        <p:spPr bwMode="auto">
          <a:xfrm flipH="1">
            <a:off x="993282" y="4580414"/>
            <a:ext cx="361044" cy="473404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3110" name="AutoShape 38"/>
          <p:cNvSpPr>
            <a:spLocks noChangeShapeType="1"/>
          </p:cNvSpPr>
          <p:nvPr/>
        </p:nvSpPr>
        <p:spPr bwMode="auto">
          <a:xfrm flipH="1">
            <a:off x="1489890" y="4638527"/>
            <a:ext cx="4150" cy="41529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3109" name="AutoShape 37"/>
          <p:cNvSpPr>
            <a:spLocks noChangeShapeType="1"/>
          </p:cNvSpPr>
          <p:nvPr/>
        </p:nvSpPr>
        <p:spPr bwMode="auto">
          <a:xfrm>
            <a:off x="1632371" y="4580414"/>
            <a:ext cx="347210" cy="473404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3108" name="Oval 36"/>
          <p:cNvSpPr>
            <a:spLocks noChangeArrowheads="1"/>
          </p:cNvSpPr>
          <p:nvPr/>
        </p:nvSpPr>
        <p:spPr bwMode="auto">
          <a:xfrm>
            <a:off x="2106846" y="4237409"/>
            <a:ext cx="391476" cy="401118"/>
          </a:xfrm>
          <a:prstGeom prst="ellipse">
            <a:avLst/>
          </a:prstGeom>
          <a:ln>
            <a:headEnd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4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3107" name="Oval 35"/>
          <p:cNvSpPr>
            <a:spLocks noChangeArrowheads="1"/>
          </p:cNvSpPr>
          <p:nvPr/>
        </p:nvSpPr>
        <p:spPr bwMode="auto">
          <a:xfrm>
            <a:off x="2895331" y="4237409"/>
            <a:ext cx="391476" cy="401118"/>
          </a:xfrm>
          <a:prstGeom prst="ellipse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3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3106" name="Oval 34"/>
          <p:cNvSpPr>
            <a:spLocks noChangeArrowheads="1"/>
          </p:cNvSpPr>
          <p:nvPr/>
        </p:nvSpPr>
        <p:spPr bwMode="auto">
          <a:xfrm>
            <a:off x="2398724" y="5075079"/>
            <a:ext cx="391476" cy="401118"/>
          </a:xfrm>
          <a:prstGeom prst="ellipse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1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3105" name="Oval 33"/>
          <p:cNvSpPr>
            <a:spLocks noChangeArrowheads="1"/>
          </p:cNvSpPr>
          <p:nvPr/>
        </p:nvSpPr>
        <p:spPr bwMode="auto">
          <a:xfrm>
            <a:off x="2895331" y="5075079"/>
            <a:ext cx="391476" cy="401118"/>
          </a:xfrm>
          <a:prstGeom prst="ellipse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1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3104" name="Oval 32"/>
          <p:cNvSpPr>
            <a:spLocks noChangeArrowheads="1"/>
          </p:cNvSpPr>
          <p:nvPr/>
        </p:nvSpPr>
        <p:spPr bwMode="auto">
          <a:xfrm>
            <a:off x="3385023" y="5075079"/>
            <a:ext cx="391476" cy="401118"/>
          </a:xfrm>
          <a:prstGeom prst="ellipse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Times New Roman" pitchFamily="18" charset="0"/>
              </a:rPr>
              <a:t>1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3103" name="AutoShape 31"/>
          <p:cNvSpPr>
            <a:spLocks noChangeShapeType="1"/>
          </p:cNvSpPr>
          <p:nvPr/>
        </p:nvSpPr>
        <p:spPr bwMode="auto">
          <a:xfrm>
            <a:off x="3091761" y="4638527"/>
            <a:ext cx="1383" cy="436552"/>
          </a:xfrm>
          <a:prstGeom prst="straightConnector1">
            <a:avLst/>
          </a:prstGeom>
          <a:ln w="19050">
            <a:solidFill>
              <a:schemeClr val="tx1"/>
            </a:solidFill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3102" name="AutoShape 30"/>
          <p:cNvSpPr>
            <a:spLocks noChangeShapeType="1"/>
          </p:cNvSpPr>
          <p:nvPr/>
        </p:nvSpPr>
        <p:spPr bwMode="auto">
          <a:xfrm flipH="1">
            <a:off x="2595153" y="4580414"/>
            <a:ext cx="356894" cy="49466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3101" name="AutoShape 29"/>
          <p:cNvSpPr>
            <a:spLocks noChangeShapeType="1"/>
          </p:cNvSpPr>
          <p:nvPr/>
        </p:nvSpPr>
        <p:spPr bwMode="auto">
          <a:xfrm>
            <a:off x="3230092" y="4580414"/>
            <a:ext cx="351360" cy="49466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3100" name="AutoShape 28"/>
          <p:cNvSpPr>
            <a:spLocks noChangeShapeType="1"/>
          </p:cNvSpPr>
          <p:nvPr/>
        </p:nvSpPr>
        <p:spPr bwMode="auto">
          <a:xfrm flipH="1">
            <a:off x="1494040" y="3708727"/>
            <a:ext cx="669521" cy="52868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3099" name="AutoShape 27"/>
          <p:cNvSpPr>
            <a:spLocks noChangeShapeType="1"/>
          </p:cNvSpPr>
          <p:nvPr/>
        </p:nvSpPr>
        <p:spPr bwMode="auto">
          <a:xfrm>
            <a:off x="2303275" y="3766840"/>
            <a:ext cx="1383" cy="470569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3098" name="AutoShape 26"/>
          <p:cNvSpPr>
            <a:spLocks noChangeShapeType="1"/>
          </p:cNvSpPr>
          <p:nvPr/>
        </p:nvSpPr>
        <p:spPr bwMode="auto">
          <a:xfrm>
            <a:off x="2441606" y="3708727"/>
            <a:ext cx="650155" cy="52868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3097" name="Oval 25"/>
          <p:cNvSpPr>
            <a:spLocks noChangeArrowheads="1"/>
          </p:cNvSpPr>
          <p:nvPr/>
        </p:nvSpPr>
        <p:spPr bwMode="auto">
          <a:xfrm>
            <a:off x="3248075" y="3365722"/>
            <a:ext cx="391476" cy="401118"/>
          </a:xfrm>
          <a:prstGeom prst="ellipse">
            <a:avLst/>
          </a:prstGeom>
          <a:ln>
            <a:headEnd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11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3096" name="Oval 24"/>
          <p:cNvSpPr>
            <a:spLocks noChangeArrowheads="1"/>
          </p:cNvSpPr>
          <p:nvPr/>
        </p:nvSpPr>
        <p:spPr bwMode="auto">
          <a:xfrm>
            <a:off x="4567751" y="3365722"/>
            <a:ext cx="391476" cy="401118"/>
          </a:xfrm>
          <a:prstGeom prst="ellipse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12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3095" name="Oval 23"/>
          <p:cNvSpPr>
            <a:spLocks noChangeArrowheads="1"/>
          </p:cNvSpPr>
          <p:nvPr/>
        </p:nvSpPr>
        <p:spPr bwMode="auto">
          <a:xfrm>
            <a:off x="4011661" y="4237409"/>
            <a:ext cx="391476" cy="401118"/>
          </a:xfrm>
          <a:prstGeom prst="ellipse">
            <a:avLst/>
          </a:prstGeom>
          <a:ln>
            <a:headEnd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Times New Roman" pitchFamily="18" charset="0"/>
              </a:rPr>
              <a:t>4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3094" name="Oval 22"/>
          <p:cNvSpPr>
            <a:spLocks noChangeArrowheads="1"/>
          </p:cNvSpPr>
          <p:nvPr/>
        </p:nvSpPr>
        <p:spPr bwMode="auto">
          <a:xfrm>
            <a:off x="4560835" y="4237409"/>
            <a:ext cx="391476" cy="401118"/>
          </a:xfrm>
          <a:prstGeom prst="ellipse">
            <a:avLst/>
          </a:prstGeom>
          <a:ln>
            <a:headEnd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Times New Roman" pitchFamily="18" charset="0"/>
              </a:rPr>
              <a:t>4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3093" name="Oval 21"/>
          <p:cNvSpPr>
            <a:spLocks noChangeArrowheads="1"/>
          </p:cNvSpPr>
          <p:nvPr/>
        </p:nvSpPr>
        <p:spPr bwMode="auto">
          <a:xfrm>
            <a:off x="5133524" y="4237409"/>
            <a:ext cx="391476" cy="401118"/>
          </a:xfrm>
          <a:prstGeom prst="ellipse">
            <a:avLst/>
          </a:prstGeom>
          <a:ln>
            <a:headEnd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Times New Roman" pitchFamily="18" charset="0"/>
              </a:rPr>
              <a:t>4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3092" name="AutoShape 20"/>
          <p:cNvSpPr>
            <a:spLocks noChangeShapeType="1"/>
          </p:cNvSpPr>
          <p:nvPr/>
        </p:nvSpPr>
        <p:spPr bwMode="auto">
          <a:xfrm flipH="1">
            <a:off x="4757265" y="3766840"/>
            <a:ext cx="6917" cy="470569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3091" name="AutoShape 19"/>
          <p:cNvSpPr>
            <a:spLocks noChangeShapeType="1"/>
          </p:cNvSpPr>
          <p:nvPr/>
        </p:nvSpPr>
        <p:spPr bwMode="auto">
          <a:xfrm flipH="1">
            <a:off x="4208091" y="3708727"/>
            <a:ext cx="416376" cy="528682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3090" name="AutoShape 18"/>
          <p:cNvSpPr>
            <a:spLocks noChangeShapeType="1"/>
          </p:cNvSpPr>
          <p:nvPr/>
        </p:nvSpPr>
        <p:spPr bwMode="auto">
          <a:xfrm>
            <a:off x="4902512" y="3708727"/>
            <a:ext cx="427442" cy="528682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3089" name="Oval 17"/>
          <p:cNvSpPr>
            <a:spLocks noChangeArrowheads="1"/>
          </p:cNvSpPr>
          <p:nvPr/>
        </p:nvSpPr>
        <p:spPr bwMode="auto">
          <a:xfrm>
            <a:off x="3261908" y="2414662"/>
            <a:ext cx="391476" cy="401118"/>
          </a:xfrm>
          <a:prstGeom prst="ellipse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34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3088" name="AutoShape 16"/>
          <p:cNvSpPr>
            <a:spLocks noChangeShapeType="1"/>
          </p:cNvSpPr>
          <p:nvPr/>
        </p:nvSpPr>
        <p:spPr bwMode="auto">
          <a:xfrm flipH="1">
            <a:off x="3444505" y="2815779"/>
            <a:ext cx="13833" cy="54994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3087" name="AutoShape 15"/>
          <p:cNvSpPr>
            <a:spLocks noChangeShapeType="1"/>
          </p:cNvSpPr>
          <p:nvPr/>
        </p:nvSpPr>
        <p:spPr bwMode="auto">
          <a:xfrm flipH="1">
            <a:off x="2303275" y="2757667"/>
            <a:ext cx="1015348" cy="60805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3086" name="AutoShape 14"/>
          <p:cNvSpPr>
            <a:spLocks noChangeShapeType="1"/>
          </p:cNvSpPr>
          <p:nvPr/>
        </p:nvSpPr>
        <p:spPr bwMode="auto">
          <a:xfrm>
            <a:off x="3596669" y="2757667"/>
            <a:ext cx="1167512" cy="60805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3085" name="Oval 13"/>
          <p:cNvSpPr>
            <a:spLocks noChangeArrowheads="1"/>
          </p:cNvSpPr>
          <p:nvPr/>
        </p:nvSpPr>
        <p:spPr bwMode="auto">
          <a:xfrm>
            <a:off x="5213756" y="2414662"/>
            <a:ext cx="391476" cy="401118"/>
          </a:xfrm>
          <a:prstGeom prst="ellipse">
            <a:avLst/>
          </a:prstGeom>
          <a:ln>
            <a:headEnd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34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3084" name="Oval 12"/>
          <p:cNvSpPr>
            <a:spLocks noChangeArrowheads="1"/>
          </p:cNvSpPr>
          <p:nvPr/>
        </p:nvSpPr>
        <p:spPr bwMode="auto">
          <a:xfrm>
            <a:off x="6836377" y="2414662"/>
            <a:ext cx="391476" cy="401118"/>
          </a:xfrm>
          <a:prstGeom prst="ellipse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33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3083" name="Oval 11"/>
          <p:cNvSpPr>
            <a:spLocks noChangeArrowheads="1"/>
          </p:cNvSpPr>
          <p:nvPr/>
        </p:nvSpPr>
        <p:spPr bwMode="auto">
          <a:xfrm>
            <a:off x="6280287" y="3365722"/>
            <a:ext cx="391476" cy="401118"/>
          </a:xfrm>
          <a:prstGeom prst="ellipse">
            <a:avLst/>
          </a:prstGeom>
          <a:ln>
            <a:headEnd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11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3082" name="Oval 10"/>
          <p:cNvSpPr>
            <a:spLocks noChangeArrowheads="1"/>
          </p:cNvSpPr>
          <p:nvPr/>
        </p:nvSpPr>
        <p:spPr bwMode="auto">
          <a:xfrm>
            <a:off x="7384167" y="3365722"/>
            <a:ext cx="391476" cy="401118"/>
          </a:xfrm>
          <a:prstGeom prst="ellipse">
            <a:avLst/>
          </a:prstGeom>
          <a:ln>
            <a:headEnd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11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3081" name="Oval 9"/>
          <p:cNvSpPr>
            <a:spLocks noChangeArrowheads="1"/>
          </p:cNvSpPr>
          <p:nvPr/>
        </p:nvSpPr>
        <p:spPr bwMode="auto">
          <a:xfrm>
            <a:off x="6848827" y="3365722"/>
            <a:ext cx="391476" cy="401118"/>
          </a:xfrm>
          <a:prstGeom prst="ellipse">
            <a:avLst/>
          </a:prstGeom>
          <a:ln>
            <a:headEnd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11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3080" name="AutoShape 8"/>
          <p:cNvSpPr>
            <a:spLocks noChangeShapeType="1"/>
          </p:cNvSpPr>
          <p:nvPr/>
        </p:nvSpPr>
        <p:spPr bwMode="auto">
          <a:xfrm>
            <a:off x="7032807" y="2815779"/>
            <a:ext cx="12450" cy="54994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3079" name="AutoShape 7"/>
          <p:cNvSpPr>
            <a:spLocks noChangeShapeType="1"/>
          </p:cNvSpPr>
          <p:nvPr/>
        </p:nvSpPr>
        <p:spPr bwMode="auto">
          <a:xfrm flipH="1">
            <a:off x="6476717" y="2757667"/>
            <a:ext cx="416376" cy="60805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3078" name="AutoShape 6"/>
          <p:cNvSpPr>
            <a:spLocks noChangeShapeType="1"/>
          </p:cNvSpPr>
          <p:nvPr/>
        </p:nvSpPr>
        <p:spPr bwMode="auto">
          <a:xfrm>
            <a:off x="7171138" y="2757667"/>
            <a:ext cx="409459" cy="60805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3077" name="Oval 5"/>
          <p:cNvSpPr>
            <a:spLocks noChangeArrowheads="1"/>
          </p:cNvSpPr>
          <p:nvPr/>
        </p:nvSpPr>
        <p:spPr bwMode="auto">
          <a:xfrm>
            <a:off x="5114158" y="1368637"/>
            <a:ext cx="589289" cy="463482"/>
          </a:xfrm>
          <a:prstGeom prst="ellipse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101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3076" name="AutoShape 4"/>
          <p:cNvSpPr>
            <a:spLocks noChangeShapeType="1"/>
          </p:cNvSpPr>
          <p:nvPr/>
        </p:nvSpPr>
        <p:spPr bwMode="auto">
          <a:xfrm>
            <a:off x="5408803" y="1832119"/>
            <a:ext cx="1383" cy="58254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3075" name="AutoShape 3"/>
          <p:cNvSpPr>
            <a:spLocks noChangeShapeType="1"/>
          </p:cNvSpPr>
          <p:nvPr/>
        </p:nvSpPr>
        <p:spPr bwMode="auto">
          <a:xfrm flipH="1">
            <a:off x="3596669" y="1764085"/>
            <a:ext cx="1603254" cy="708689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3074" name="AutoShape 2"/>
          <p:cNvSpPr>
            <a:spLocks noChangeShapeType="1"/>
          </p:cNvSpPr>
          <p:nvPr/>
        </p:nvSpPr>
        <p:spPr bwMode="auto">
          <a:xfrm>
            <a:off x="5617682" y="1764085"/>
            <a:ext cx="1275410" cy="708689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53" name="灯片编号占位符 5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62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TextBox 7"/>
          <p:cNvSpPr txBox="1"/>
          <p:nvPr/>
        </p:nvSpPr>
        <p:spPr>
          <a:xfrm>
            <a:off x="285720" y="714356"/>
            <a:ext cx="8358246" cy="3840154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000"/>
              </a:lnSpc>
              <a:spcBef>
                <a:spcPts val="12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4.5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对于一个长度为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的有序序列（假设均为递增序列）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[0..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，处于中间位置的元素称为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的中位数（当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为奇数时中位数是唯一的，当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为偶数时有两个中位数，这里指前一个中位数）。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3000"/>
              </a:lnSpc>
              <a:spcBef>
                <a:spcPts val="12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例如，若序列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17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19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），其中位数是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。若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4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6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8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），其中位数为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6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3000"/>
              </a:lnSpc>
              <a:spcBef>
                <a:spcPts val="12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两个等长有序序列的中位数是含它们所有元素的有序序列的中位数，例如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、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两个有序序列的中位数为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。设计一个算法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求给定的两个有序序列的中位数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63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Text Box 2"/>
          <p:cNvSpPr txBox="1">
            <a:spLocks noChangeArrowheads="1"/>
          </p:cNvSpPr>
          <p:nvPr/>
        </p:nvSpPr>
        <p:spPr bwMode="auto">
          <a:xfrm>
            <a:off x="1000100" y="714356"/>
            <a:ext cx="735811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采</a:t>
            </a:r>
            <a:r>
              <a:rPr lang="zh-CN" altLang="en-US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用</a:t>
            </a:r>
            <a:r>
              <a:rPr lang="zh-CN" altLang="en-US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二分法</a:t>
            </a:r>
            <a:r>
              <a:rPr lang="zh-CN" altLang="en-US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求含有</a:t>
            </a:r>
            <a:r>
              <a:rPr lang="en-US" altLang="zh-CN" i="1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en-US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个有序元素的序列</a:t>
            </a:r>
            <a:r>
              <a:rPr lang="en-US" altLang="zh-CN" i="1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zh-CN" altLang="en-US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、</a:t>
            </a:r>
            <a:r>
              <a:rPr lang="en-US" altLang="zh-CN" i="1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</a:t>
            </a:r>
            <a:r>
              <a:rPr lang="zh-CN" altLang="en-US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的中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位数</a:t>
            </a:r>
            <a:endParaRPr lang="zh-CN" altLang="en-US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2643174" y="2538707"/>
            <a:ext cx="1000132" cy="57150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r>
              <a:rPr lang="en-US" altLang="zh-CN" sz="2000">
                <a:latin typeface="Consolas" pitchFamily="49" charset="0"/>
                <a:cs typeface="Consolas" pitchFamily="49" charset="0"/>
              </a:rPr>
              <a:t>8</a:t>
            </a:r>
            <a:endParaRPr lang="zh-CN" altLang="en-US" sz="20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4857752" y="2538707"/>
            <a:ext cx="1000132" cy="57150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5</a:t>
            </a:r>
            <a:endParaRPr lang="zh-CN" altLang="en-US" sz="20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14810" y="3753153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5</a:t>
            </a:r>
            <a:endParaRPr lang="zh-CN" altLang="en-US">
              <a:solidFill>
                <a:srgbClr val="FF0000"/>
              </a:solidFill>
              <a:latin typeface="Consolas" pitchFamily="49" charset="0"/>
              <a:cs typeface="Consolas" pitchFamily="49" charset="0"/>
            </a:endParaRPr>
          </a:p>
        </p:txBody>
      </p:sp>
      <p:cxnSp>
        <p:nvCxnSpPr>
          <p:cNvPr id="8" name="直接箭头连接符 7"/>
          <p:cNvCxnSpPr>
            <a:stCxn id="6" idx="0"/>
          </p:cNvCxnSpPr>
          <p:nvPr/>
        </p:nvCxnSpPr>
        <p:spPr>
          <a:xfrm rot="5400000" flipH="1" flipV="1">
            <a:off x="4607719" y="2931616"/>
            <a:ext cx="642942" cy="10001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6" idx="0"/>
          </p:cNvCxnSpPr>
          <p:nvPr/>
        </p:nvCxnSpPr>
        <p:spPr>
          <a:xfrm rot="16200000" flipV="1">
            <a:off x="3428992" y="2753021"/>
            <a:ext cx="642942" cy="13573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71472" y="1500174"/>
            <a:ext cx="4929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）若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=1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，较小者为中位数。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596" y="714356"/>
            <a:ext cx="571504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64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Text Box 2"/>
          <p:cNvSpPr txBox="1">
            <a:spLocks noChangeArrowheads="1"/>
          </p:cNvSpPr>
          <p:nvPr/>
        </p:nvSpPr>
        <p:spPr bwMode="auto">
          <a:xfrm>
            <a:off x="428596" y="571480"/>
            <a:ext cx="407196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&gt;1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分为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3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种情况。</a:t>
            </a:r>
            <a:endParaRPr lang="zh-CN" altLang="en-US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77155" name="Text Box 3"/>
          <p:cNvSpPr txBox="1">
            <a:spLocks noChangeArrowheads="1"/>
          </p:cNvSpPr>
          <p:nvPr/>
        </p:nvSpPr>
        <p:spPr bwMode="auto">
          <a:xfrm>
            <a:off x="468313" y="1341438"/>
            <a:ext cx="8280400" cy="138499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分别求出</a:t>
            </a:r>
            <a:r>
              <a:rPr lang="en-US" altLang="zh-CN" i="1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zh-CN" altLang="en-US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、</a:t>
            </a:r>
            <a:r>
              <a:rPr lang="en-US" altLang="zh-CN" i="1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</a:t>
            </a:r>
            <a:r>
              <a:rPr lang="zh-CN" altLang="en-US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的中位数</a:t>
            </a:r>
            <a:r>
              <a:rPr lang="en-US" altLang="zh-CN" i="1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m1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</a:t>
            </a:r>
            <a:r>
              <a:rPr lang="zh-CN" altLang="en-US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和</a:t>
            </a:r>
            <a:r>
              <a:rPr lang="en-US" altLang="zh-CN" i="1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m2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</a:t>
            </a:r>
            <a:r>
              <a:rPr lang="zh-CN" altLang="en-US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</a:t>
            </a:r>
          </a:p>
          <a:p>
            <a:pPr algn="l">
              <a:lnSpc>
                <a:spcPct val="100000"/>
              </a:lnSpc>
            </a:pP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　① </a:t>
            </a:r>
            <a:r>
              <a:rPr lang="zh-CN" altLang="en-US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若</a:t>
            </a:r>
            <a:r>
              <a:rPr lang="en-US" altLang="zh-CN" i="1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m1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]=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m2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，则</a:t>
            </a:r>
            <a:r>
              <a:rPr lang="en-US" altLang="zh-CN" i="1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m1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</a:t>
            </a:r>
            <a:r>
              <a:rPr lang="zh-CN" altLang="en-US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或</a:t>
            </a:r>
            <a:r>
              <a:rPr lang="en-US" altLang="zh-CN" i="1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m2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</a:t>
            </a:r>
            <a:r>
              <a:rPr lang="zh-CN" altLang="en-US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即为所求中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位数，算</a:t>
            </a:r>
            <a:r>
              <a:rPr lang="zh-CN" altLang="en-US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法结束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 　</a:t>
            </a:r>
            <a:endParaRPr lang="zh-CN" altLang="en-US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714480" y="3253087"/>
            <a:ext cx="2357454" cy="57150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>
                <a:latin typeface="Consolas" pitchFamily="49" charset="0"/>
                <a:cs typeface="Consolas" pitchFamily="49" charset="0"/>
              </a:rPr>
              <a:t>1</a:t>
            </a:r>
            <a:r>
              <a:rPr lang="zh-CN" altLang="en-US" sz="2000"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>
                <a:latin typeface="Consolas" pitchFamily="49" charset="0"/>
                <a:cs typeface="Consolas" pitchFamily="49" charset="0"/>
              </a:rPr>
              <a:t>3</a:t>
            </a:r>
            <a:r>
              <a:rPr lang="zh-CN" altLang="en-US" sz="2000"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5</a:t>
            </a:r>
            <a:r>
              <a:rPr lang="zh-CN" altLang="en-US" sz="2000"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>
                <a:latin typeface="Consolas" pitchFamily="49" charset="0"/>
                <a:cs typeface="Consolas" pitchFamily="49" charset="0"/>
              </a:rPr>
              <a:t>6</a:t>
            </a:r>
            <a:r>
              <a:rPr lang="zh-CN" altLang="en-US" sz="2000"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>
                <a:latin typeface="Consolas" pitchFamily="49" charset="0"/>
                <a:cs typeface="Consolas" pitchFamily="49" charset="0"/>
              </a:rPr>
              <a:t>9</a:t>
            </a:r>
            <a:endParaRPr lang="zh-CN" altLang="en-US" sz="20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4429124" y="3253087"/>
            <a:ext cx="2357454" cy="57150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>
                <a:latin typeface="Consolas" pitchFamily="49" charset="0"/>
                <a:cs typeface="Consolas" pitchFamily="49" charset="0"/>
              </a:rPr>
              <a:t>2</a:t>
            </a:r>
            <a:r>
              <a:rPr lang="zh-CN" altLang="en-US" sz="2000"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>
                <a:latin typeface="Consolas" pitchFamily="49" charset="0"/>
                <a:cs typeface="Consolas" pitchFamily="49" charset="0"/>
              </a:rPr>
              <a:t>3</a:t>
            </a:r>
            <a:r>
              <a:rPr lang="zh-CN" altLang="en-US" sz="2000"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5</a:t>
            </a:r>
            <a:r>
              <a:rPr lang="zh-CN" altLang="en-US" sz="2000"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>
                <a:latin typeface="Consolas" pitchFamily="49" charset="0"/>
                <a:cs typeface="Consolas" pitchFamily="49" charset="0"/>
              </a:rPr>
              <a:t>8</a:t>
            </a:r>
            <a:r>
              <a:rPr lang="zh-CN" altLang="en-US" sz="2000"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>
                <a:latin typeface="Consolas" pitchFamily="49" charset="0"/>
                <a:cs typeface="Consolas" pitchFamily="49" charset="0"/>
              </a:rPr>
              <a:t>10</a:t>
            </a:r>
            <a:endParaRPr lang="zh-CN" altLang="en-US" sz="20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14810" y="4467533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5</a:t>
            </a:r>
            <a:endParaRPr lang="zh-CN" altLang="en-US">
              <a:solidFill>
                <a:srgbClr val="FF0000"/>
              </a:solidFill>
              <a:latin typeface="Consolas" pitchFamily="49" charset="0"/>
              <a:cs typeface="Consolas" pitchFamily="49" charset="0"/>
            </a:endParaRPr>
          </a:p>
        </p:txBody>
      </p:sp>
      <p:cxnSp>
        <p:nvCxnSpPr>
          <p:cNvPr id="8" name="直接箭头连接符 7"/>
          <p:cNvCxnSpPr>
            <a:stCxn id="6" idx="0"/>
          </p:cNvCxnSpPr>
          <p:nvPr/>
        </p:nvCxnSpPr>
        <p:spPr>
          <a:xfrm rot="5400000" flipH="1" flipV="1">
            <a:off x="4607719" y="3645996"/>
            <a:ext cx="642942" cy="10001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6" idx="0"/>
          </p:cNvCxnSpPr>
          <p:nvPr/>
        </p:nvCxnSpPr>
        <p:spPr>
          <a:xfrm rot="16200000" flipV="1">
            <a:off x="3428992" y="3467401"/>
            <a:ext cx="642942" cy="13573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65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5" name="Text Box 3"/>
          <p:cNvSpPr txBox="1">
            <a:spLocks noChangeArrowheads="1"/>
          </p:cNvSpPr>
          <p:nvPr/>
        </p:nvSpPr>
        <p:spPr bwMode="auto">
          <a:xfrm>
            <a:off x="435004" y="402061"/>
            <a:ext cx="8280400" cy="1169551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　② </a:t>
            </a:r>
            <a:r>
              <a:rPr lang="zh-CN" altLang="en-US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若</a:t>
            </a:r>
            <a:r>
              <a:rPr lang="en-US" altLang="zh-CN" i="1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m1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]&lt;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m2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，则</a:t>
            </a:r>
            <a:r>
              <a:rPr lang="zh-CN" altLang="en-US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舍弃序列</a:t>
            </a:r>
            <a:r>
              <a:rPr lang="en-US" altLang="zh-CN" i="1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zh-CN" altLang="en-US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中前半部分（较小的一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半），同</a:t>
            </a:r>
            <a:r>
              <a:rPr lang="zh-CN" altLang="en-US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时舍弃序列</a:t>
            </a:r>
            <a:r>
              <a:rPr lang="en-US" altLang="zh-CN" i="1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</a:t>
            </a:r>
            <a:r>
              <a:rPr lang="zh-CN" altLang="en-US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中后半部分（较大的一半）要求舍弃的长度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相等。</a:t>
            </a:r>
            <a:endParaRPr lang="zh-CN" altLang="en-US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714480" y="2071678"/>
            <a:ext cx="2357454" cy="57150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>
                <a:latin typeface="Consolas" pitchFamily="49" charset="0"/>
                <a:cs typeface="Consolas" pitchFamily="49" charset="0"/>
              </a:rPr>
              <a:t>1</a:t>
            </a:r>
            <a:r>
              <a:rPr lang="zh-CN" altLang="en-US" sz="2000"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>
                <a:latin typeface="Consolas" pitchFamily="49" charset="0"/>
                <a:cs typeface="Consolas" pitchFamily="49" charset="0"/>
              </a:rPr>
              <a:t>3</a:t>
            </a:r>
            <a:r>
              <a:rPr lang="zh-CN" altLang="en-US" sz="2000"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4</a:t>
            </a:r>
            <a:r>
              <a:rPr lang="zh-CN" altLang="en-US" sz="2000"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>
                <a:latin typeface="Consolas" pitchFamily="49" charset="0"/>
                <a:cs typeface="Consolas" pitchFamily="49" charset="0"/>
              </a:rPr>
              <a:t>6</a:t>
            </a:r>
            <a:r>
              <a:rPr lang="zh-CN" altLang="en-US" sz="2000"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>
                <a:latin typeface="Consolas" pitchFamily="49" charset="0"/>
                <a:cs typeface="Consolas" pitchFamily="49" charset="0"/>
              </a:rPr>
              <a:t>9</a:t>
            </a:r>
            <a:endParaRPr lang="zh-CN" altLang="en-US" sz="20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4429124" y="2071678"/>
            <a:ext cx="2357454" cy="57150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>
                <a:latin typeface="Consolas" pitchFamily="49" charset="0"/>
                <a:cs typeface="Consolas" pitchFamily="49" charset="0"/>
              </a:rPr>
              <a:t>2</a:t>
            </a:r>
            <a:r>
              <a:rPr lang="zh-CN" altLang="en-US" sz="2000"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>
                <a:latin typeface="Consolas" pitchFamily="49" charset="0"/>
                <a:cs typeface="Consolas" pitchFamily="49" charset="0"/>
              </a:rPr>
              <a:t>3</a:t>
            </a:r>
            <a:r>
              <a:rPr lang="zh-CN" altLang="en-US" sz="2000"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5</a:t>
            </a:r>
            <a:r>
              <a:rPr lang="zh-CN" altLang="en-US" sz="2000"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>
                <a:latin typeface="Consolas" pitchFamily="49" charset="0"/>
                <a:cs typeface="Consolas" pitchFamily="49" charset="0"/>
              </a:rPr>
              <a:t>8</a:t>
            </a:r>
            <a:r>
              <a:rPr lang="zh-CN" altLang="en-US" sz="2000"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>
                <a:latin typeface="Consolas" pitchFamily="49" charset="0"/>
                <a:cs typeface="Consolas" pitchFamily="49" charset="0"/>
              </a:rPr>
              <a:t>10</a:t>
            </a:r>
            <a:endParaRPr lang="zh-CN" altLang="en-US" sz="20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2285984" y="3357562"/>
            <a:ext cx="1357322" cy="57150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4</a:t>
            </a:r>
            <a:r>
              <a:rPr lang="zh-CN" altLang="en-US" sz="2000"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>
                <a:latin typeface="Consolas" pitchFamily="49" charset="0"/>
                <a:cs typeface="Consolas" pitchFamily="49" charset="0"/>
              </a:rPr>
              <a:t>6</a:t>
            </a:r>
            <a:r>
              <a:rPr lang="zh-CN" altLang="en-US" sz="2000"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>
                <a:latin typeface="Consolas" pitchFamily="49" charset="0"/>
                <a:cs typeface="Consolas" pitchFamily="49" charset="0"/>
              </a:rPr>
              <a:t>9</a:t>
            </a:r>
            <a:endParaRPr lang="zh-CN" altLang="en-US" sz="20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4857752" y="3357562"/>
            <a:ext cx="1285884" cy="57150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>
                <a:latin typeface="Consolas" pitchFamily="49" charset="0"/>
                <a:cs typeface="Consolas" pitchFamily="49" charset="0"/>
              </a:rPr>
              <a:t>2</a:t>
            </a:r>
            <a:r>
              <a:rPr lang="zh-CN" altLang="en-US" sz="2000"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>
                <a:latin typeface="Consolas" pitchFamily="49" charset="0"/>
                <a:cs typeface="Consolas" pitchFamily="49" charset="0"/>
              </a:rPr>
              <a:t>3</a:t>
            </a:r>
            <a:r>
              <a:rPr lang="zh-CN" altLang="en-US" sz="2000"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5</a:t>
            </a:r>
            <a:endParaRPr lang="zh-CN" altLang="en-US" sz="2000">
              <a:solidFill>
                <a:srgbClr val="FF000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下箭头 7"/>
          <p:cNvSpPr/>
          <p:nvPr/>
        </p:nvSpPr>
        <p:spPr>
          <a:xfrm>
            <a:off x="4071934" y="2857496"/>
            <a:ext cx="214314" cy="500066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43372" y="4681847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4</a:t>
            </a:r>
            <a:endParaRPr lang="zh-CN" altLang="en-US">
              <a:solidFill>
                <a:srgbClr val="FF0000"/>
              </a:solidFill>
              <a:latin typeface="Consolas" pitchFamily="49" charset="0"/>
              <a:cs typeface="Consolas" pitchFamily="49" charset="0"/>
            </a:endParaRPr>
          </a:p>
        </p:txBody>
      </p:sp>
      <p:cxnSp>
        <p:nvCxnSpPr>
          <p:cNvPr id="10" name="直接箭头连接符 9"/>
          <p:cNvCxnSpPr>
            <a:stCxn id="9" idx="0"/>
          </p:cNvCxnSpPr>
          <p:nvPr/>
        </p:nvCxnSpPr>
        <p:spPr>
          <a:xfrm rot="5400000" flipH="1" flipV="1">
            <a:off x="4536281" y="3860310"/>
            <a:ext cx="642942" cy="10001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9" idx="0"/>
          </p:cNvCxnSpPr>
          <p:nvPr/>
        </p:nvCxnSpPr>
        <p:spPr>
          <a:xfrm rot="16200000" flipV="1">
            <a:off x="3357554" y="3681715"/>
            <a:ext cx="642942" cy="13573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633824" y="3143248"/>
            <a:ext cx="430887" cy="114300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000" spc="300">
                <a:solidFill>
                  <a:srgbClr val="0000FF"/>
                </a:solidFill>
                <a:latin typeface="仿宋" pitchFamily="49" charset="-122"/>
                <a:ea typeface="仿宋" pitchFamily="49" charset="-122"/>
                <a:cs typeface="Consolas" pitchFamily="49" charset="0"/>
              </a:rPr>
              <a:t>继续求</a:t>
            </a: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66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5" name="Text Box 3"/>
          <p:cNvSpPr txBox="1">
            <a:spLocks noChangeArrowheads="1"/>
          </p:cNvSpPr>
          <p:nvPr/>
        </p:nvSpPr>
        <p:spPr bwMode="auto">
          <a:xfrm>
            <a:off x="357158" y="642918"/>
            <a:ext cx="8280400" cy="1169551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</a:pP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　③ </a:t>
            </a:r>
            <a:r>
              <a:rPr lang="zh-CN" altLang="en-US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若</a:t>
            </a:r>
            <a:r>
              <a:rPr lang="en-US" altLang="zh-CN" i="1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m1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]&gt;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</a:t>
            </a:r>
            <a:r>
              <a:rPr lang="en-US" altLang="zh-CN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m2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，则</a:t>
            </a:r>
            <a:r>
              <a:rPr lang="zh-CN" altLang="en-US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舍弃序列</a:t>
            </a:r>
            <a:r>
              <a:rPr lang="en-US" altLang="zh-CN" i="1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zh-CN" altLang="en-US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中后半部分（较大的</a:t>
            </a:r>
            <a:r>
              <a:rPr lang="zh-CN" altLang="en-US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一</a:t>
            </a:r>
            <a:r>
              <a:rPr lang="zh-CN" altLang="en-US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半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），同</a:t>
            </a:r>
            <a:r>
              <a:rPr lang="zh-CN" altLang="en-US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时舍弃序列</a:t>
            </a:r>
            <a:r>
              <a:rPr lang="en-US" altLang="zh-CN" i="1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</a:t>
            </a:r>
            <a:r>
              <a:rPr lang="zh-CN" altLang="en-US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中前半部分（较小的</a:t>
            </a:r>
            <a:r>
              <a:rPr lang="zh-CN" altLang="en-US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一</a:t>
            </a:r>
            <a:r>
              <a:rPr lang="zh-CN" altLang="en-US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半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），要</a:t>
            </a:r>
            <a:r>
              <a:rPr lang="zh-CN" altLang="en-US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求舍弃的长度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相等。舍弃一半即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Symbol"/>
              </a:rPr>
              <a:t>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/2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Symbol"/>
              </a:rPr>
              <a:t>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个元素。</a:t>
            </a:r>
            <a:endParaRPr lang="zh-CN" altLang="en-US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500166" y="2357430"/>
            <a:ext cx="2357454" cy="57150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>
                <a:latin typeface="Consolas" pitchFamily="49" charset="0"/>
                <a:cs typeface="Consolas" pitchFamily="49" charset="0"/>
              </a:rPr>
              <a:t>1</a:t>
            </a:r>
            <a:r>
              <a:rPr lang="zh-CN" altLang="en-US" sz="2000"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>
                <a:latin typeface="Consolas" pitchFamily="49" charset="0"/>
                <a:cs typeface="Consolas" pitchFamily="49" charset="0"/>
              </a:rPr>
              <a:t>3</a:t>
            </a:r>
            <a:r>
              <a:rPr lang="zh-CN" altLang="en-US" sz="2000"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5</a:t>
            </a:r>
            <a:r>
              <a:rPr lang="zh-CN" altLang="en-US" sz="2000"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>
                <a:latin typeface="Consolas" pitchFamily="49" charset="0"/>
                <a:cs typeface="Consolas" pitchFamily="49" charset="0"/>
              </a:rPr>
              <a:t>6</a:t>
            </a:r>
            <a:r>
              <a:rPr lang="zh-CN" altLang="en-US" sz="2000"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>
                <a:latin typeface="Consolas" pitchFamily="49" charset="0"/>
                <a:cs typeface="Consolas" pitchFamily="49" charset="0"/>
              </a:rPr>
              <a:t>9</a:t>
            </a:r>
            <a:endParaRPr lang="zh-CN" altLang="en-US" sz="20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4214810" y="2357430"/>
            <a:ext cx="2357454" cy="57150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>
                <a:latin typeface="Consolas" pitchFamily="49" charset="0"/>
                <a:cs typeface="Consolas" pitchFamily="49" charset="0"/>
              </a:rPr>
              <a:t>2</a:t>
            </a:r>
            <a:r>
              <a:rPr lang="zh-CN" altLang="en-US" sz="2000"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>
                <a:latin typeface="Consolas" pitchFamily="49" charset="0"/>
                <a:cs typeface="Consolas" pitchFamily="49" charset="0"/>
              </a:rPr>
              <a:t>3</a:t>
            </a:r>
            <a:r>
              <a:rPr lang="zh-CN" altLang="en-US" sz="2000"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4</a:t>
            </a:r>
            <a:r>
              <a:rPr lang="zh-CN" altLang="en-US" sz="2000"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>
                <a:latin typeface="Consolas" pitchFamily="49" charset="0"/>
                <a:cs typeface="Consolas" pitchFamily="49" charset="0"/>
              </a:rPr>
              <a:t>8</a:t>
            </a:r>
            <a:r>
              <a:rPr lang="zh-CN" altLang="en-US" sz="2000"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>
                <a:latin typeface="Consolas" pitchFamily="49" charset="0"/>
                <a:cs typeface="Consolas" pitchFamily="49" charset="0"/>
              </a:rPr>
              <a:t>10</a:t>
            </a:r>
            <a:endParaRPr lang="zh-CN" altLang="en-US" sz="20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2071670" y="3643314"/>
            <a:ext cx="1357322" cy="57150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1, 3,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5</a:t>
            </a:r>
            <a:endParaRPr lang="zh-CN" altLang="en-US" sz="2000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4643438" y="3643314"/>
            <a:ext cx="1428760" cy="57150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4</a:t>
            </a:r>
            <a:r>
              <a:rPr lang="zh-CN" altLang="en-US" sz="2000"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8</a:t>
            </a:r>
            <a:r>
              <a:rPr lang="zh-CN" altLang="en-US" sz="2000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000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10</a:t>
            </a:r>
            <a:endParaRPr lang="zh-CN" altLang="en-US" sz="2000">
              <a:solidFill>
                <a:schemeClr val="bg1">
                  <a:lumMod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下箭头 7"/>
          <p:cNvSpPr/>
          <p:nvPr/>
        </p:nvSpPr>
        <p:spPr>
          <a:xfrm>
            <a:off x="3857620" y="3143248"/>
            <a:ext cx="214314" cy="500066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29058" y="4967599"/>
            <a:ext cx="428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4</a:t>
            </a:r>
            <a:endParaRPr lang="zh-CN" altLang="en-US">
              <a:solidFill>
                <a:srgbClr val="FF0000"/>
              </a:solidFill>
              <a:latin typeface="Consolas" pitchFamily="49" charset="0"/>
              <a:cs typeface="Consolas" pitchFamily="49" charset="0"/>
            </a:endParaRPr>
          </a:p>
        </p:txBody>
      </p:sp>
      <p:cxnSp>
        <p:nvCxnSpPr>
          <p:cNvPr id="10" name="直接箭头连接符 9"/>
          <p:cNvCxnSpPr>
            <a:stCxn id="9" idx="0"/>
          </p:cNvCxnSpPr>
          <p:nvPr/>
        </p:nvCxnSpPr>
        <p:spPr>
          <a:xfrm rot="5400000" flipH="1" flipV="1">
            <a:off x="4321967" y="4146062"/>
            <a:ext cx="642942" cy="10001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9" idx="0"/>
          </p:cNvCxnSpPr>
          <p:nvPr/>
        </p:nvCxnSpPr>
        <p:spPr>
          <a:xfrm rot="16200000" flipV="1">
            <a:off x="3143240" y="3967467"/>
            <a:ext cx="642942" cy="13573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76634" y="3500438"/>
            <a:ext cx="430887" cy="100013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000" spc="300">
                <a:solidFill>
                  <a:srgbClr val="0000FF"/>
                </a:solidFill>
                <a:latin typeface="仿宋" pitchFamily="49" charset="-122"/>
                <a:ea typeface="仿宋" pitchFamily="49" charset="-122"/>
                <a:cs typeface="Consolas" pitchFamily="49" charset="0"/>
              </a:rPr>
              <a:t>继续求</a:t>
            </a: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67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85720" y="285728"/>
            <a:ext cx="8643998" cy="4454278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prepart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&amp;s,int &amp;t) {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a[s..t]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序列的前半子序列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m=(s+t)/2;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t=m;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postpart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&amp;s,int &amp;t) {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a[s..t]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序列的后半子序列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m=(s+t)/2;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if((t-s+1)%2==1)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序列中有奇数个元素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s=m;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else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序列中有偶数个元素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s=m+1;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68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85720" y="285728"/>
            <a:ext cx="8643998" cy="6543248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midnum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a[],int s1,int t1,int b[],int s2,int t2)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 (s1==t1 &amp;&amp; s2==t2)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均只有一个元素时返回较小者</a:t>
            </a: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return min(a[s1],b[s2]);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else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int m1=(s1+t1)/2;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的中位数</a:t>
            </a: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int m2=(s2+t2)/2;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b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的中位数</a:t>
            </a: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if (a[m1]==b[m2])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两中位数相等时返回该中位数</a:t>
            </a: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return a[m1];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if (a[m1]&lt;b[m2]) {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当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a[m1]&lt;b[m2]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时</a:t>
            </a: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postpart(s1,t1);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//a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取后半部分</a:t>
            </a: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prepart(s2,t2);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//b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取前半部分</a:t>
            </a: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return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midnum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(a,s1,t1,b,s2,t2);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else {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当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a[m1]&gt;b[m2]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时</a:t>
            </a: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prepart(s1,t1);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//a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取前半部分</a:t>
            </a: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postpart(s2,t2);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//b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取后半部分</a:t>
            </a: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return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midnum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(a,s1,t1,b,s2,t2);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5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69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14282" y="714356"/>
            <a:ext cx="8786874" cy="1299568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solve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a[],int b[],int n) {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	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求解算法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printf("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中位数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:%d\n",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midnum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(a,0,n-1,b,0,n-1));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928662" y="3316901"/>
            <a:ext cx="4813309" cy="11329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tIns="180000" bIns="18000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T(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)=1			</a:t>
            </a:r>
            <a:r>
              <a:rPr lang="zh-CN" altLang="en-US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当</a:t>
            </a:r>
            <a:r>
              <a:rPr lang="en-US" altLang="zh-CN" sz="2000" i="1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=1</a:t>
            </a:r>
            <a:endParaRPr lang="en-US" altLang="zh-CN" sz="2000" i="1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T(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)=T(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/2)+1		</a:t>
            </a:r>
            <a:r>
              <a:rPr lang="zh-CN" altLang="en-US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当</a:t>
            </a:r>
            <a:r>
              <a:rPr lang="en-US" altLang="zh-CN" sz="2000" i="1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&gt;1</a:t>
            </a: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971550" y="4743402"/>
            <a:ext cx="43862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容易推出，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)=O(log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70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0034" y="571480"/>
            <a:ext cx="4286280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4.4.2 </a:t>
            </a:r>
            <a:r>
              <a:rPr lang="zh-CN" altLang="en-US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二分查找的扩展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2910" y="1643050"/>
            <a:ext cx="8072494" cy="2862322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400"/>
              </a:lnSpc>
              <a:spcBef>
                <a:spcPts val="600"/>
              </a:spcBef>
            </a:pPr>
            <a:r>
              <a:rPr lang="pt-BR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sym typeface="Wingdings"/>
              </a:rPr>
              <a:t></a:t>
            </a: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问题描述</a:t>
            </a:r>
            <a:r>
              <a:rPr lang="zh-CN" altLang="zh-CN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给定一个递增有序的整数数组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[0..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和目标值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中可能存在相同的元素，设计一个算法求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的插入点。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4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所谓插入点是指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中第一个大于等于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的元素序号。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4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例如，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={1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8}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的插入点是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的插入点是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4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=10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的插入点是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71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596" y="500042"/>
            <a:ext cx="107157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1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4348" y="1285860"/>
            <a:ext cx="7643866" cy="1938992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3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以基本二分查找为基础，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当成功找到一个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元素时只需要继续向左区间查找即可，这样直到查找区间为空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3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最后返回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low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或者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high+1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72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57422" y="642918"/>
            <a:ext cx="4286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i="1">
                <a:solidFill>
                  <a:srgbClr val="0000FF"/>
                </a:solidFill>
                <a:latin typeface="Consolas" pitchFamily="49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</a:rPr>
              <a:t>={1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</a:rPr>
              <a:t>8}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</a:rPr>
              <a:t>k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</a:rPr>
              <a:t>=3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178201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78199" name="Text Box 23"/>
          <p:cNvSpPr txBox="1">
            <a:spLocks noChangeArrowheads="1"/>
          </p:cNvSpPr>
          <p:nvPr/>
        </p:nvSpPr>
        <p:spPr bwMode="auto">
          <a:xfrm>
            <a:off x="3534673" y="1714488"/>
            <a:ext cx="1177015" cy="28077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0</a:t>
            </a:r>
            <a:r>
              <a:rPr kumimoji="0" lang="zh-CN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～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4:2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178198" name="Oval 22"/>
          <p:cNvSpPr>
            <a:spLocks noChangeArrowheads="1"/>
          </p:cNvSpPr>
          <p:nvPr/>
        </p:nvSpPr>
        <p:spPr bwMode="auto">
          <a:xfrm>
            <a:off x="3866948" y="1992788"/>
            <a:ext cx="515771" cy="420543"/>
          </a:xfrm>
          <a:prstGeom prst="ellipse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3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178197" name="Text Box 21"/>
          <p:cNvSpPr txBox="1">
            <a:spLocks noChangeArrowheads="1"/>
          </p:cNvSpPr>
          <p:nvPr/>
        </p:nvSpPr>
        <p:spPr bwMode="auto">
          <a:xfrm>
            <a:off x="2071670" y="2456623"/>
            <a:ext cx="1177015" cy="28077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0</a:t>
            </a:r>
            <a:r>
              <a:rPr kumimoji="0" lang="zh-CN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～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1:0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178196" name="Oval 20"/>
          <p:cNvSpPr>
            <a:spLocks noChangeArrowheads="1"/>
          </p:cNvSpPr>
          <p:nvPr/>
        </p:nvSpPr>
        <p:spPr bwMode="auto">
          <a:xfrm>
            <a:off x="2865163" y="2712659"/>
            <a:ext cx="515771" cy="420543"/>
          </a:xfrm>
          <a:prstGeom prst="ellipse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1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178195" name="Text Box 19"/>
          <p:cNvSpPr txBox="1">
            <a:spLocks noChangeArrowheads="1"/>
          </p:cNvSpPr>
          <p:nvPr/>
        </p:nvSpPr>
        <p:spPr bwMode="auto">
          <a:xfrm>
            <a:off x="3807436" y="3266786"/>
            <a:ext cx="1177015" cy="28077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1</a:t>
            </a:r>
            <a:r>
              <a:rPr kumimoji="0" lang="zh-CN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～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1:1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178194" name="Oval 18"/>
          <p:cNvSpPr>
            <a:spLocks noChangeArrowheads="1"/>
          </p:cNvSpPr>
          <p:nvPr/>
        </p:nvSpPr>
        <p:spPr bwMode="auto">
          <a:xfrm>
            <a:off x="3514836" y="3454794"/>
            <a:ext cx="515771" cy="420543"/>
          </a:xfrm>
          <a:prstGeom prst="ellipse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3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178193" name="Rectangle 17"/>
          <p:cNvSpPr>
            <a:spLocks noChangeArrowheads="1"/>
          </p:cNvSpPr>
          <p:nvPr/>
        </p:nvSpPr>
        <p:spPr bwMode="auto">
          <a:xfrm>
            <a:off x="2137794" y="3499322"/>
            <a:ext cx="609998" cy="350040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180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0,-1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178192" name="Text Box 16"/>
          <p:cNvSpPr txBox="1">
            <a:spLocks noChangeArrowheads="1"/>
          </p:cNvSpPr>
          <p:nvPr/>
        </p:nvSpPr>
        <p:spPr bwMode="auto">
          <a:xfrm>
            <a:off x="5032391" y="2467755"/>
            <a:ext cx="1177015" cy="28077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3</a:t>
            </a:r>
            <a:r>
              <a:rPr kumimoji="0" lang="zh-CN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～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4:3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178191" name="Oval 15"/>
          <p:cNvSpPr>
            <a:spLocks noChangeArrowheads="1"/>
          </p:cNvSpPr>
          <p:nvPr/>
        </p:nvSpPr>
        <p:spPr bwMode="auto">
          <a:xfrm>
            <a:off x="4858815" y="2712659"/>
            <a:ext cx="515771" cy="420543"/>
          </a:xfrm>
          <a:prstGeom prst="ellipse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3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178190" name="Text Box 14"/>
          <p:cNvSpPr txBox="1">
            <a:spLocks noChangeArrowheads="1"/>
          </p:cNvSpPr>
          <p:nvPr/>
        </p:nvSpPr>
        <p:spPr bwMode="auto">
          <a:xfrm>
            <a:off x="5895315" y="3246996"/>
            <a:ext cx="1177015" cy="28077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4</a:t>
            </a:r>
            <a:r>
              <a:rPr kumimoji="0" lang="zh-CN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～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4:4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178189" name="Oval 13"/>
          <p:cNvSpPr>
            <a:spLocks noChangeArrowheads="1"/>
          </p:cNvSpPr>
          <p:nvPr/>
        </p:nvSpPr>
        <p:spPr bwMode="auto">
          <a:xfrm>
            <a:off x="5572959" y="3443662"/>
            <a:ext cx="515771" cy="420543"/>
          </a:xfrm>
          <a:prstGeom prst="ellipse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8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178188" name="AutoShape 12"/>
          <p:cNvSpPr>
            <a:spLocks noChangeShapeType="1"/>
          </p:cNvSpPr>
          <p:nvPr/>
        </p:nvSpPr>
        <p:spPr bwMode="auto">
          <a:xfrm flipH="1">
            <a:off x="3123048" y="2351487"/>
            <a:ext cx="819943" cy="361172"/>
          </a:xfrm>
          <a:prstGeom prst="straightConnector1">
            <a:avLst/>
          </a:prstGeom>
          <a:noFill/>
          <a:ln w="28575">
            <a:solidFill>
              <a:srgbClr val="FF00FF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178187" name="AutoShape 11"/>
          <p:cNvSpPr>
            <a:spLocks noChangeShapeType="1"/>
          </p:cNvSpPr>
          <p:nvPr/>
        </p:nvSpPr>
        <p:spPr bwMode="auto">
          <a:xfrm>
            <a:off x="3304891" y="3071357"/>
            <a:ext cx="467830" cy="383436"/>
          </a:xfrm>
          <a:prstGeom prst="straightConnector1">
            <a:avLst/>
          </a:prstGeom>
          <a:noFill/>
          <a:ln w="28575">
            <a:solidFill>
              <a:srgbClr val="FF00FF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178186" name="AutoShape 10"/>
          <p:cNvSpPr>
            <a:spLocks noChangeShapeType="1"/>
          </p:cNvSpPr>
          <p:nvPr/>
        </p:nvSpPr>
        <p:spPr bwMode="auto">
          <a:xfrm>
            <a:off x="4306676" y="2351487"/>
            <a:ext cx="810024" cy="361172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178185" name="AutoShape 9"/>
          <p:cNvSpPr>
            <a:spLocks noChangeShapeType="1"/>
          </p:cNvSpPr>
          <p:nvPr/>
        </p:nvSpPr>
        <p:spPr bwMode="auto">
          <a:xfrm>
            <a:off x="5298542" y="3071357"/>
            <a:ext cx="532302" cy="372304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178184" name="AutoShape 8"/>
          <p:cNvSpPr>
            <a:spLocks noChangeShapeType="1"/>
          </p:cNvSpPr>
          <p:nvPr/>
        </p:nvSpPr>
        <p:spPr bwMode="auto">
          <a:xfrm flipH="1">
            <a:off x="2443620" y="3071357"/>
            <a:ext cx="497586" cy="427964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178183" name="Rectangle 7"/>
          <p:cNvSpPr>
            <a:spLocks noChangeArrowheads="1"/>
          </p:cNvSpPr>
          <p:nvPr/>
        </p:nvSpPr>
        <p:spPr bwMode="auto">
          <a:xfrm>
            <a:off x="3060230" y="4283511"/>
            <a:ext cx="609998" cy="350040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180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1,0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178182" name="Rectangle 6"/>
          <p:cNvSpPr>
            <a:spLocks noChangeArrowheads="1"/>
          </p:cNvSpPr>
          <p:nvPr/>
        </p:nvSpPr>
        <p:spPr bwMode="auto">
          <a:xfrm>
            <a:off x="3896704" y="4283511"/>
            <a:ext cx="609998" cy="350040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180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4,3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178181" name="Rectangle 5"/>
          <p:cNvSpPr>
            <a:spLocks noChangeArrowheads="1"/>
          </p:cNvSpPr>
          <p:nvPr/>
        </p:nvSpPr>
        <p:spPr bwMode="auto">
          <a:xfrm>
            <a:off x="5943255" y="4283511"/>
            <a:ext cx="609998" cy="350040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180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5,4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178180" name="AutoShape 4"/>
          <p:cNvSpPr>
            <a:spLocks noChangeShapeType="1"/>
          </p:cNvSpPr>
          <p:nvPr/>
        </p:nvSpPr>
        <p:spPr bwMode="auto">
          <a:xfrm>
            <a:off x="6012686" y="3802360"/>
            <a:ext cx="236395" cy="481151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178179" name="AutoShape 3"/>
          <p:cNvSpPr>
            <a:spLocks noChangeShapeType="1"/>
          </p:cNvSpPr>
          <p:nvPr/>
        </p:nvSpPr>
        <p:spPr bwMode="auto">
          <a:xfrm flipH="1">
            <a:off x="3366056" y="3813492"/>
            <a:ext cx="224823" cy="470019"/>
          </a:xfrm>
          <a:prstGeom prst="straightConnector1">
            <a:avLst/>
          </a:prstGeom>
          <a:noFill/>
          <a:ln w="28575">
            <a:solidFill>
              <a:srgbClr val="FF00FF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178178" name="AutoShape 2"/>
          <p:cNvSpPr>
            <a:spLocks noChangeShapeType="1"/>
          </p:cNvSpPr>
          <p:nvPr/>
        </p:nvSpPr>
        <p:spPr bwMode="auto">
          <a:xfrm>
            <a:off x="3954563" y="3813492"/>
            <a:ext cx="247967" cy="470019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73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285728"/>
            <a:ext cx="8643998" cy="4454278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searchinsert1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(vector&lt;int&gt;&amp;a,int k) { 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查找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的插入点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n=a.size();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low=0,high=n-1;          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	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初始查找区间为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[0,n] 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while (low&lt;=high) {           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查找区间至少有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个元素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int mid=(low+high)/2;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	if 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k&lt;=a[mid]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high=mid-1;               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向左区间逼近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else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low=mid+1;                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在右区间中查找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return low;                   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	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返回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low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或者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high+1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74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596" y="500042"/>
            <a:ext cx="107157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解法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2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4348" y="1285860"/>
            <a:ext cx="7643866" cy="182998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 defTabSz="360000">
              <a:lnSpc>
                <a:spcPts val="33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显然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插入点的范围是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～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（当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小于等于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[0]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时插入点为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，当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大于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中所有元素时插入点为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33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采用二分查找方法，若查找区间为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[low..high]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（从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[0..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开始），求出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mid=(low+high)/2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75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7158" y="571480"/>
            <a:ext cx="8358246" cy="3041858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 defTabSz="360000">
              <a:lnSpc>
                <a:spcPts val="32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k&lt;=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[mid]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[mid]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不一定是第一个大于等于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的元素，继续在左区间查找，但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[mid]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可能是第一个等于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的元素，所以左区间应该包含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[mid]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，则新查找区间修改为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[low..mid]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  <a:p>
            <a:pPr marL="457200" indent="-457200" algn="l" defTabSz="360000">
              <a:lnSpc>
                <a:spcPts val="32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k&gt;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[mid]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[mid]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一定不是第一个大于等于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的元素，继续在右区间查找，则新查找区间修改为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[mid+1..high]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76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20" y="285728"/>
            <a:ext cx="8643998" cy="430039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searchinsert2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(vector&lt;int&gt;&amp;a,int k) {  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查找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的插入点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n=a.size();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low=0,high=n;               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初始查找区间为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[0,n]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while (low&lt;high) {              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查找区间至少有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个元素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int mid=(low+high)/2;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if (k&lt;=a[mid])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high=mid;                   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向左区间逼近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	else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low=mid+1;                  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在右区间中查找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return low;                      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	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返回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low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77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571472" y="1928802"/>
          <a:ext cx="8215370" cy="172916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3714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0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4580"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lower_bound(beg,end,val)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在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[beg,end)</a:t>
                      </a: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指定的有序序列中二分查找</a:t>
                      </a: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</a:rPr>
                        <a:t>第一个大于等于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val</a:t>
                      </a: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的位置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4580"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upper_bound(beg,end,val)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ts val="32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在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[beg,end)</a:t>
                      </a: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指定的有序序列中二分查找</a:t>
                      </a:r>
                      <a:r>
                        <a:rPr lang="zh-CN" sz="2000" b="1" kern="100">
                          <a:solidFill>
                            <a:srgbClr val="FF0000"/>
                          </a:solidFill>
                          <a:latin typeface="Consolas" pitchFamily="49" charset="0"/>
                          <a:ea typeface="仿宋" pitchFamily="49" charset="-122"/>
                        </a:rPr>
                        <a:t>第一个大于</a:t>
                      </a:r>
                      <a:r>
                        <a:rPr lang="en-US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val</a:t>
                      </a:r>
                      <a:r>
                        <a:rPr lang="zh-CN" sz="2000" kern="100">
                          <a:solidFill>
                            <a:srgbClr val="0000FF"/>
                          </a:solidFill>
                          <a:latin typeface="Consolas" pitchFamily="49" charset="0"/>
                          <a:ea typeface="仿宋" pitchFamily="49" charset="-122"/>
                        </a:rPr>
                        <a:t>的位置</a:t>
                      </a:r>
                      <a:endParaRPr lang="zh-CN" sz="2000" kern="100">
                        <a:solidFill>
                          <a:srgbClr val="0000FF"/>
                        </a:solidFill>
                        <a:latin typeface="Consolas" pitchFamily="49" charset="0"/>
                        <a:ea typeface="仿宋" pitchFamily="49" charset="-122"/>
                        <a:cs typeface="宋体"/>
                      </a:endParaRPr>
                    </a:p>
                  </a:txBody>
                  <a:tcPr marL="45720" marR="4572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57158" y="928670"/>
            <a:ext cx="56436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STL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中提供的二分查找扩展算法：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78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14480" y="500042"/>
            <a:ext cx="6929486" cy="91307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4.7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采用二分查找扩展方法求数组中的第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个最大元素。问题描述同例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4.2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158" y="1928802"/>
            <a:ext cx="8643998" cy="3836948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12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1.6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数组中的第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个最大元素（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LeetCode215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★★）。设计一个算法求无序数组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nums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中第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1</a:t>
            </a:r>
            <a:r>
              <a:rPr lang="en-US" altLang="zh-CN">
                <a:solidFill>
                  <a:srgbClr val="0000FF"/>
                </a:solidFill>
                <a:latin typeface="+mj-ea"/>
                <a:ea typeface="+mj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k</a:t>
            </a:r>
            <a:r>
              <a:rPr lang="en-US" altLang="zh-CN">
                <a:solidFill>
                  <a:srgbClr val="0000FF"/>
                </a:solidFill>
                <a:latin typeface="+mj-ea"/>
                <a:ea typeface="+mj-ea"/>
              </a:rPr>
              <a:t>≤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数组的长度）大的整数，注意不是第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个不同的元素，而是数组排序后的第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个最大的元素。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楷体" pitchFamily="49" charset="-122"/>
            </a:endParaRPr>
          </a:p>
          <a:p>
            <a:pPr algn="l">
              <a:lnSpc>
                <a:spcPts val="3200"/>
              </a:lnSpc>
              <a:spcBef>
                <a:spcPts val="12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例如，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nums={3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6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4}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楷体" pitchFamily="49" charset="-122"/>
              </a:rPr>
              <a:t>k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楷体" pitchFamily="49" charset="-122"/>
              </a:rPr>
              <a:t>=2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nums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递减排序后是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{6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4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1}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楷体" pitchFamily="49" charset="-122"/>
              </a:rPr>
              <a:t>答案为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楷体" pitchFamily="49" charset="-122"/>
              </a:rPr>
              <a:t>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，若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楷体" pitchFamily="49" charset="-122"/>
              </a:rPr>
              <a:t>k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楷体" pitchFamily="49" charset="-122"/>
              </a:rPr>
              <a:t>=5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楷体" pitchFamily="49" charset="-122"/>
              </a:rPr>
              <a:t>，答案为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楷体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楷体" pitchFamily="49" charset="-122"/>
            </a:endParaRPr>
          </a:p>
          <a:p>
            <a:pPr algn="l">
              <a:lnSpc>
                <a:spcPts val="3200"/>
              </a:lnSpc>
              <a:spcBef>
                <a:spcPts val="12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要求设计如下成员函数：</a:t>
            </a:r>
          </a:p>
          <a:p>
            <a:pPr algn="l">
              <a:lnSpc>
                <a:spcPts val="3200"/>
              </a:lnSpc>
              <a:spcBef>
                <a:spcPts val="12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</a:rPr>
              <a:t>    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楷体" pitchFamily="49" charset="-122"/>
              </a:rPr>
              <a:t>int findKthLargest(vector&lt;int&gt;&amp; nums, int k) {  }</a:t>
            </a:r>
            <a:endParaRPr lang="zh-CN" altLang="zh-CN" sz="2000">
              <a:solidFill>
                <a:srgbClr val="006600"/>
              </a:solidFill>
              <a:latin typeface="Consolas" pitchFamily="49" charset="0"/>
              <a:ea typeface="楷体" pitchFamily="49" charset="-122"/>
            </a:endParaRPr>
          </a:p>
        </p:txBody>
      </p:sp>
      <p:sp>
        <p:nvSpPr>
          <p:cNvPr id="5" name="上箭头 4"/>
          <p:cNvSpPr/>
          <p:nvPr/>
        </p:nvSpPr>
        <p:spPr>
          <a:xfrm>
            <a:off x="4286248" y="1500174"/>
            <a:ext cx="285752" cy="357190"/>
          </a:xfrm>
          <a:prstGeom prst="upArrow">
            <a:avLst/>
          </a:prstGeom>
          <a:ln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500034" y="428604"/>
            <a:ext cx="1041400" cy="1044575"/>
            <a:chOff x="857224" y="1071546"/>
            <a:chExt cx="1041400" cy="1044575"/>
          </a:xfrm>
        </p:grpSpPr>
        <p:sp>
          <p:nvSpPr>
            <p:cNvPr id="8" name="Freeform 8"/>
            <p:cNvSpPr>
              <a:spLocks noEditPoints="1"/>
            </p:cNvSpPr>
            <p:nvPr/>
          </p:nvSpPr>
          <p:spPr bwMode="auto">
            <a:xfrm>
              <a:off x="857224" y="1071546"/>
              <a:ext cx="1041400" cy="1044575"/>
            </a:xfrm>
            <a:custGeom>
              <a:avLst/>
              <a:gdLst>
                <a:gd name="T0" fmla="*/ 964145 w 337"/>
                <a:gd name="T1" fmla="*/ 540830 h 338"/>
                <a:gd name="T2" fmla="*/ 964145 w 337"/>
                <a:gd name="T3" fmla="*/ 494473 h 338"/>
                <a:gd name="T4" fmla="*/ 1041400 w 337"/>
                <a:gd name="T5" fmla="*/ 441936 h 338"/>
                <a:gd name="T6" fmla="*/ 1007408 w 337"/>
                <a:gd name="T7" fmla="*/ 321408 h 338"/>
                <a:gd name="T8" fmla="*/ 914701 w 337"/>
                <a:gd name="T9" fmla="*/ 318317 h 338"/>
                <a:gd name="T10" fmla="*/ 889980 w 337"/>
                <a:gd name="T11" fmla="*/ 275051 h 338"/>
                <a:gd name="T12" fmla="*/ 930153 w 337"/>
                <a:gd name="T13" fmla="*/ 191608 h 338"/>
                <a:gd name="T14" fmla="*/ 843627 w 337"/>
                <a:gd name="T15" fmla="*/ 105076 h 338"/>
                <a:gd name="T16" fmla="*/ 760191 w 337"/>
                <a:gd name="T17" fmla="*/ 148342 h 338"/>
                <a:gd name="T18" fmla="*/ 716928 w 337"/>
                <a:gd name="T19" fmla="*/ 123618 h 338"/>
                <a:gd name="T20" fmla="*/ 710748 w 337"/>
                <a:gd name="T21" fmla="*/ 30905 h 338"/>
                <a:gd name="T22" fmla="*/ 652034 w 337"/>
                <a:gd name="T23" fmla="*/ 15452 h 338"/>
                <a:gd name="T24" fmla="*/ 590230 w 337"/>
                <a:gd name="T25" fmla="*/ 0 h 338"/>
                <a:gd name="T26" fmla="*/ 540786 w 337"/>
                <a:gd name="T27" fmla="*/ 77261 h 338"/>
                <a:gd name="T28" fmla="*/ 494433 w 337"/>
                <a:gd name="T29" fmla="*/ 77261 h 338"/>
                <a:gd name="T30" fmla="*/ 441900 w 337"/>
                <a:gd name="T31" fmla="*/ 3090 h 338"/>
                <a:gd name="T32" fmla="*/ 321382 w 337"/>
                <a:gd name="T33" fmla="*/ 33995 h 338"/>
                <a:gd name="T34" fmla="*/ 318291 w 337"/>
                <a:gd name="T35" fmla="*/ 126709 h 338"/>
                <a:gd name="T36" fmla="*/ 275028 w 337"/>
                <a:gd name="T37" fmla="*/ 151432 h 338"/>
                <a:gd name="T38" fmla="*/ 191593 w 337"/>
                <a:gd name="T39" fmla="*/ 111257 h 338"/>
                <a:gd name="T40" fmla="*/ 105067 w 337"/>
                <a:gd name="T41" fmla="*/ 200880 h 338"/>
                <a:gd name="T42" fmla="*/ 148330 w 337"/>
                <a:gd name="T43" fmla="*/ 281232 h 338"/>
                <a:gd name="T44" fmla="*/ 123608 w 337"/>
                <a:gd name="T45" fmla="*/ 324498 h 338"/>
                <a:gd name="T46" fmla="*/ 30902 w 337"/>
                <a:gd name="T47" fmla="*/ 330679 h 338"/>
                <a:gd name="T48" fmla="*/ 15451 w 337"/>
                <a:gd name="T49" fmla="*/ 392488 h 338"/>
                <a:gd name="T50" fmla="*/ 0 w 337"/>
                <a:gd name="T51" fmla="*/ 451207 h 338"/>
                <a:gd name="T52" fmla="*/ 77255 w 337"/>
                <a:gd name="T53" fmla="*/ 500654 h 338"/>
                <a:gd name="T54" fmla="*/ 77255 w 337"/>
                <a:gd name="T55" fmla="*/ 550102 h 338"/>
                <a:gd name="T56" fmla="*/ 0 w 337"/>
                <a:gd name="T57" fmla="*/ 602639 h 338"/>
                <a:gd name="T58" fmla="*/ 33992 w 337"/>
                <a:gd name="T59" fmla="*/ 723167 h 338"/>
                <a:gd name="T60" fmla="*/ 126699 w 337"/>
                <a:gd name="T61" fmla="*/ 726258 h 338"/>
                <a:gd name="T62" fmla="*/ 151420 w 337"/>
                <a:gd name="T63" fmla="*/ 766434 h 338"/>
                <a:gd name="T64" fmla="*/ 111247 w 337"/>
                <a:gd name="T65" fmla="*/ 849876 h 338"/>
                <a:gd name="T66" fmla="*/ 200864 w 337"/>
                <a:gd name="T67" fmla="*/ 939499 h 338"/>
                <a:gd name="T68" fmla="*/ 281209 w 337"/>
                <a:gd name="T69" fmla="*/ 896233 h 338"/>
                <a:gd name="T70" fmla="*/ 324472 w 337"/>
                <a:gd name="T71" fmla="*/ 920957 h 338"/>
                <a:gd name="T72" fmla="*/ 330652 w 337"/>
                <a:gd name="T73" fmla="*/ 1013670 h 338"/>
                <a:gd name="T74" fmla="*/ 389366 w 337"/>
                <a:gd name="T75" fmla="*/ 1029123 h 338"/>
                <a:gd name="T76" fmla="*/ 451170 w 337"/>
                <a:gd name="T77" fmla="*/ 1044575 h 338"/>
                <a:gd name="T78" fmla="*/ 500614 w 337"/>
                <a:gd name="T79" fmla="*/ 964223 h 338"/>
                <a:gd name="T80" fmla="*/ 550057 w 337"/>
                <a:gd name="T81" fmla="*/ 964223 h 338"/>
                <a:gd name="T82" fmla="*/ 602591 w 337"/>
                <a:gd name="T83" fmla="*/ 1041485 h 338"/>
                <a:gd name="T84" fmla="*/ 720018 w 337"/>
                <a:gd name="T85" fmla="*/ 1007489 h 338"/>
                <a:gd name="T86" fmla="*/ 726199 w 337"/>
                <a:gd name="T87" fmla="*/ 914776 h 338"/>
                <a:gd name="T88" fmla="*/ 766372 w 337"/>
                <a:gd name="T89" fmla="*/ 890052 h 338"/>
                <a:gd name="T90" fmla="*/ 849807 w 337"/>
                <a:gd name="T91" fmla="*/ 933318 h 338"/>
                <a:gd name="T92" fmla="*/ 936333 w 337"/>
                <a:gd name="T93" fmla="*/ 843695 h 338"/>
                <a:gd name="T94" fmla="*/ 896160 w 337"/>
                <a:gd name="T95" fmla="*/ 760253 h 338"/>
                <a:gd name="T96" fmla="*/ 917792 w 337"/>
                <a:gd name="T97" fmla="*/ 720077 h 338"/>
                <a:gd name="T98" fmla="*/ 1010498 w 337"/>
                <a:gd name="T99" fmla="*/ 713896 h 338"/>
                <a:gd name="T100" fmla="*/ 1025949 w 337"/>
                <a:gd name="T101" fmla="*/ 652087 h 338"/>
                <a:gd name="T102" fmla="*/ 1041400 w 337"/>
                <a:gd name="T103" fmla="*/ 593368 h 338"/>
                <a:gd name="T104" fmla="*/ 964145 w 337"/>
                <a:gd name="T105" fmla="*/ 540830 h 338"/>
                <a:gd name="T106" fmla="*/ 432629 w 337"/>
                <a:gd name="T107" fmla="*/ 868419 h 338"/>
                <a:gd name="T108" fmla="*/ 176142 w 337"/>
                <a:gd name="T109" fmla="*/ 432664 h 338"/>
                <a:gd name="T110" fmla="*/ 611861 w 337"/>
                <a:gd name="T111" fmla="*/ 176156 h 338"/>
                <a:gd name="T112" fmla="*/ 868348 w 337"/>
                <a:gd name="T113" fmla="*/ 611911 h 338"/>
                <a:gd name="T114" fmla="*/ 432629 w 337"/>
                <a:gd name="T115" fmla="*/ 868419 h 33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37" h="338">
                  <a:moveTo>
                    <a:pt x="312" y="175"/>
                  </a:moveTo>
                  <a:cubicBezTo>
                    <a:pt x="312" y="170"/>
                    <a:pt x="312" y="165"/>
                    <a:pt x="312" y="160"/>
                  </a:cubicBezTo>
                  <a:cubicBezTo>
                    <a:pt x="337" y="143"/>
                    <a:pt x="337" y="143"/>
                    <a:pt x="337" y="143"/>
                  </a:cubicBezTo>
                  <a:cubicBezTo>
                    <a:pt x="326" y="104"/>
                    <a:pt x="326" y="104"/>
                    <a:pt x="326" y="104"/>
                  </a:cubicBezTo>
                  <a:cubicBezTo>
                    <a:pt x="296" y="103"/>
                    <a:pt x="296" y="103"/>
                    <a:pt x="296" y="103"/>
                  </a:cubicBezTo>
                  <a:cubicBezTo>
                    <a:pt x="294" y="98"/>
                    <a:pt x="291" y="94"/>
                    <a:pt x="288" y="89"/>
                  </a:cubicBezTo>
                  <a:cubicBezTo>
                    <a:pt x="301" y="62"/>
                    <a:pt x="301" y="62"/>
                    <a:pt x="301" y="62"/>
                  </a:cubicBezTo>
                  <a:cubicBezTo>
                    <a:pt x="273" y="34"/>
                    <a:pt x="273" y="34"/>
                    <a:pt x="273" y="34"/>
                  </a:cubicBezTo>
                  <a:cubicBezTo>
                    <a:pt x="246" y="48"/>
                    <a:pt x="246" y="48"/>
                    <a:pt x="246" y="48"/>
                  </a:cubicBezTo>
                  <a:cubicBezTo>
                    <a:pt x="242" y="45"/>
                    <a:pt x="237" y="42"/>
                    <a:pt x="232" y="40"/>
                  </a:cubicBezTo>
                  <a:cubicBezTo>
                    <a:pt x="230" y="10"/>
                    <a:pt x="230" y="10"/>
                    <a:pt x="230" y="10"/>
                  </a:cubicBezTo>
                  <a:cubicBezTo>
                    <a:pt x="211" y="5"/>
                    <a:pt x="211" y="5"/>
                    <a:pt x="211" y="5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75" y="25"/>
                    <a:pt x="175" y="25"/>
                    <a:pt x="175" y="25"/>
                  </a:cubicBezTo>
                  <a:cubicBezTo>
                    <a:pt x="170" y="25"/>
                    <a:pt x="165" y="25"/>
                    <a:pt x="160" y="25"/>
                  </a:cubicBezTo>
                  <a:cubicBezTo>
                    <a:pt x="143" y="1"/>
                    <a:pt x="143" y="1"/>
                    <a:pt x="143" y="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4"/>
                    <a:pt x="93" y="46"/>
                    <a:pt x="89" y="49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48" y="91"/>
                    <a:pt x="48" y="91"/>
                    <a:pt x="48" y="91"/>
                  </a:cubicBezTo>
                  <a:cubicBezTo>
                    <a:pt x="45" y="96"/>
                    <a:pt x="42" y="100"/>
                    <a:pt x="40" y="105"/>
                  </a:cubicBezTo>
                  <a:cubicBezTo>
                    <a:pt x="10" y="107"/>
                    <a:pt x="10" y="107"/>
                    <a:pt x="10" y="107"/>
                  </a:cubicBezTo>
                  <a:cubicBezTo>
                    <a:pt x="5" y="127"/>
                    <a:pt x="5" y="127"/>
                    <a:pt x="5" y="127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25" y="162"/>
                    <a:pt x="25" y="162"/>
                    <a:pt x="25" y="162"/>
                  </a:cubicBezTo>
                  <a:cubicBezTo>
                    <a:pt x="25" y="168"/>
                    <a:pt x="25" y="173"/>
                    <a:pt x="25" y="178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11" y="234"/>
                    <a:pt x="11" y="234"/>
                    <a:pt x="11" y="234"/>
                  </a:cubicBezTo>
                  <a:cubicBezTo>
                    <a:pt x="41" y="235"/>
                    <a:pt x="41" y="235"/>
                    <a:pt x="41" y="235"/>
                  </a:cubicBezTo>
                  <a:cubicBezTo>
                    <a:pt x="44" y="240"/>
                    <a:pt x="46" y="244"/>
                    <a:pt x="49" y="248"/>
                  </a:cubicBezTo>
                  <a:cubicBezTo>
                    <a:pt x="36" y="275"/>
                    <a:pt x="36" y="275"/>
                    <a:pt x="36" y="275"/>
                  </a:cubicBezTo>
                  <a:cubicBezTo>
                    <a:pt x="65" y="304"/>
                    <a:pt x="65" y="304"/>
                    <a:pt x="65" y="304"/>
                  </a:cubicBezTo>
                  <a:cubicBezTo>
                    <a:pt x="91" y="290"/>
                    <a:pt x="91" y="290"/>
                    <a:pt x="91" y="290"/>
                  </a:cubicBezTo>
                  <a:cubicBezTo>
                    <a:pt x="96" y="293"/>
                    <a:pt x="100" y="295"/>
                    <a:pt x="105" y="298"/>
                  </a:cubicBezTo>
                  <a:cubicBezTo>
                    <a:pt x="107" y="328"/>
                    <a:pt x="107" y="328"/>
                    <a:pt x="107" y="328"/>
                  </a:cubicBezTo>
                  <a:cubicBezTo>
                    <a:pt x="126" y="333"/>
                    <a:pt x="126" y="333"/>
                    <a:pt x="126" y="333"/>
                  </a:cubicBezTo>
                  <a:cubicBezTo>
                    <a:pt x="146" y="338"/>
                    <a:pt x="146" y="338"/>
                    <a:pt x="146" y="338"/>
                  </a:cubicBezTo>
                  <a:cubicBezTo>
                    <a:pt x="162" y="312"/>
                    <a:pt x="162" y="312"/>
                    <a:pt x="162" y="312"/>
                  </a:cubicBezTo>
                  <a:cubicBezTo>
                    <a:pt x="167" y="313"/>
                    <a:pt x="173" y="313"/>
                    <a:pt x="178" y="312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233" y="326"/>
                    <a:pt x="233" y="326"/>
                    <a:pt x="233" y="326"/>
                  </a:cubicBezTo>
                  <a:cubicBezTo>
                    <a:pt x="235" y="296"/>
                    <a:pt x="235" y="296"/>
                    <a:pt x="235" y="296"/>
                  </a:cubicBezTo>
                  <a:cubicBezTo>
                    <a:pt x="239" y="294"/>
                    <a:pt x="244" y="291"/>
                    <a:pt x="248" y="288"/>
                  </a:cubicBezTo>
                  <a:cubicBezTo>
                    <a:pt x="275" y="302"/>
                    <a:pt x="275" y="302"/>
                    <a:pt x="275" y="302"/>
                  </a:cubicBezTo>
                  <a:cubicBezTo>
                    <a:pt x="303" y="273"/>
                    <a:pt x="303" y="273"/>
                    <a:pt x="303" y="273"/>
                  </a:cubicBezTo>
                  <a:cubicBezTo>
                    <a:pt x="290" y="246"/>
                    <a:pt x="290" y="246"/>
                    <a:pt x="290" y="246"/>
                  </a:cubicBezTo>
                  <a:cubicBezTo>
                    <a:pt x="293" y="242"/>
                    <a:pt x="295" y="237"/>
                    <a:pt x="297" y="233"/>
                  </a:cubicBezTo>
                  <a:cubicBezTo>
                    <a:pt x="327" y="231"/>
                    <a:pt x="327" y="231"/>
                    <a:pt x="327" y="231"/>
                  </a:cubicBezTo>
                  <a:cubicBezTo>
                    <a:pt x="332" y="211"/>
                    <a:pt x="332" y="211"/>
                    <a:pt x="332" y="211"/>
                  </a:cubicBezTo>
                  <a:cubicBezTo>
                    <a:pt x="337" y="192"/>
                    <a:pt x="337" y="192"/>
                    <a:pt x="337" y="192"/>
                  </a:cubicBezTo>
                  <a:lnTo>
                    <a:pt x="312" y="175"/>
                  </a:lnTo>
                  <a:close/>
                  <a:moveTo>
                    <a:pt x="140" y="281"/>
                  </a:moveTo>
                  <a:cubicBezTo>
                    <a:pt x="78" y="265"/>
                    <a:pt x="41" y="202"/>
                    <a:pt x="57" y="140"/>
                  </a:cubicBezTo>
                  <a:cubicBezTo>
                    <a:pt x="73" y="78"/>
                    <a:pt x="136" y="41"/>
                    <a:pt x="198" y="57"/>
                  </a:cubicBezTo>
                  <a:cubicBezTo>
                    <a:pt x="259" y="73"/>
                    <a:pt x="297" y="136"/>
                    <a:pt x="281" y="198"/>
                  </a:cubicBezTo>
                  <a:cubicBezTo>
                    <a:pt x="265" y="260"/>
                    <a:pt x="202" y="297"/>
                    <a:pt x="140" y="281"/>
                  </a:cubicBezTo>
                  <a:close/>
                </a:path>
              </a:pathLst>
            </a:custGeom>
            <a:solidFill>
              <a:srgbClr val="1848C0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" name="Rectangle 16"/>
            <p:cNvSpPr>
              <a:spLocks noChangeArrowheads="1"/>
            </p:cNvSpPr>
            <p:nvPr/>
          </p:nvSpPr>
          <p:spPr bwMode="auto">
            <a:xfrm>
              <a:off x="1066774" y="1399481"/>
              <a:ext cx="663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2000" spc="5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华文中宋" pitchFamily="2" charset="-122"/>
                  <a:ea typeface="华文中宋" pitchFamily="2" charset="-122"/>
                </a:rPr>
                <a:t>实例</a:t>
              </a:r>
              <a:endParaRPr lang="zh-CN" altLang="zh-CN" sz="2000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endParaRPr>
            </a:p>
          </p:txBody>
        </p:sp>
      </p:grp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79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596" y="500042"/>
            <a:ext cx="857256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1472" y="1428736"/>
            <a:ext cx="8286808" cy="1400383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这里求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个元素中第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大的元素，实际上就是求第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小的元素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重点设计求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第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小元素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的算法。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80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158" y="571480"/>
            <a:ext cx="8643998" cy="2147383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对数组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，遍历一次求最小元素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mind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和最大元素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maxd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[mind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maxd]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区间中通过二分查找求第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小的元素。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对于长度至少为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的查找区间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[low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high]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（初始为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[mind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maxd]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），求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mid=(low+high)/2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，同时求出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中小于等于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mid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的元素个数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cnt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2910" y="3000372"/>
            <a:ext cx="7929618" cy="1400383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若</a:t>
            </a:r>
            <a:r>
              <a:rPr lang="en-US" altLang="zh-CN" sz="22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cnt</a:t>
            </a:r>
            <a:r>
              <a:rPr lang="zh-CN" altLang="zh-CN" sz="2200">
                <a:solidFill>
                  <a:srgbClr val="FF00FF"/>
                </a:solidFill>
                <a:latin typeface="+mj-ea"/>
                <a:ea typeface="+mj-ea"/>
              </a:rPr>
              <a:t>≥</a:t>
            </a:r>
            <a:r>
              <a:rPr lang="en-US" altLang="zh-CN" sz="2200" i="1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，说明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mid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作为第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小的元素大了，置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high=mid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（可能含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mid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）。</a:t>
            </a: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否则，说明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mid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作为第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小的元素小了，置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low=mid+1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472" y="4786322"/>
            <a:ext cx="8358246" cy="1361911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300"/>
              </a:lnSpc>
              <a:spcBef>
                <a:spcPts val="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实际上就是求满足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cnt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≥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的最小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mid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，或者说在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[mind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maxd]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有序区间中查找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第一个满足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cnt</a:t>
            </a:r>
            <a:r>
              <a:rPr lang="zh-CN" altLang="zh-CN">
                <a:solidFill>
                  <a:srgbClr val="FF0000"/>
                </a:solidFill>
                <a:latin typeface="+mn-ea"/>
              </a:rPr>
              <a:t>≥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的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mid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，这样就可以采用二分查找扩展算法求解。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81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71472" y="500042"/>
            <a:ext cx="7858180" cy="830997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例如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nums={-1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mind=-1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max=2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，为了求第二大的元素，转换求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=3-2+1=2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小的元素。</a:t>
            </a:r>
          </a:p>
        </p:txBody>
      </p:sp>
      <p:sp>
        <p:nvSpPr>
          <p:cNvPr id="182281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82279" name="Rectangle 7"/>
          <p:cNvSpPr>
            <a:spLocks noChangeArrowheads="1"/>
          </p:cNvSpPr>
          <p:nvPr/>
        </p:nvSpPr>
        <p:spPr bwMode="auto">
          <a:xfrm>
            <a:off x="1000100" y="2554518"/>
            <a:ext cx="4071966" cy="44585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查找区间元素</a:t>
            </a: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=[-1</a:t>
            </a:r>
            <a:r>
              <a:rPr kumimoji="0" lang="zh-CN" altLang="en-US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r>
              <a:rPr kumimoji="0" lang="zh-CN" altLang="en-US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r>
              <a:rPr kumimoji="0" lang="zh-CN" altLang="en-US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2 ]</a:t>
            </a:r>
            <a:endParaRPr kumimoji="0" lang="en-US" altLang="zh-CN" sz="20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182278" name="Rectangle 6"/>
          <p:cNvSpPr>
            <a:spLocks noChangeArrowheads="1"/>
          </p:cNvSpPr>
          <p:nvPr/>
        </p:nvSpPr>
        <p:spPr bwMode="auto">
          <a:xfrm>
            <a:off x="2123373" y="3130329"/>
            <a:ext cx="2662941" cy="44154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cnt=[1</a:t>
            </a:r>
            <a:r>
              <a:rPr kumimoji="0" lang="zh-CN" altLang="en-US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， </a:t>
            </a: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</a:t>
            </a:r>
            <a:r>
              <a:rPr kumimoji="0" lang="zh-CN" altLang="en-US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</a:t>
            </a:r>
            <a:r>
              <a:rPr kumimoji="0" lang="zh-CN" altLang="en-US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3 ]</a:t>
            </a:r>
            <a:endParaRPr kumimoji="0" lang="en-US" altLang="zh-CN" sz="20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182277" name="Rectangle 5"/>
          <p:cNvSpPr>
            <a:spLocks noChangeArrowheads="1"/>
          </p:cNvSpPr>
          <p:nvPr/>
        </p:nvSpPr>
        <p:spPr bwMode="auto">
          <a:xfrm>
            <a:off x="3367198" y="2483080"/>
            <a:ext cx="351465" cy="125269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FF00FF"/>
            </a:solidFill>
            <a:prstDash val="dash"/>
            <a:miter lim="800000"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182276" name="Rectangle 4"/>
          <p:cNvSpPr>
            <a:spLocks noChangeArrowheads="1"/>
          </p:cNvSpPr>
          <p:nvPr/>
        </p:nvSpPr>
        <p:spPr bwMode="auto">
          <a:xfrm>
            <a:off x="1785918" y="4081568"/>
            <a:ext cx="4714908" cy="34756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2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满足</a:t>
            </a:r>
            <a:r>
              <a:rPr kumimoji="0" lang="en-US" altLang="zh-CN" sz="22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cnt</a:t>
            </a:r>
            <a:r>
              <a:rPr kumimoji="0" lang="en-US" altLang="zh-CN" sz="22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ea typeface="+mn-ea"/>
                <a:cs typeface="Times New Roman" pitchFamily="18" charset="0"/>
              </a:rPr>
              <a:t>≥</a:t>
            </a:r>
            <a:r>
              <a:rPr kumimoji="0" lang="en-US" altLang="zh-CN" sz="22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k</a:t>
            </a:r>
            <a:r>
              <a:rPr kumimoji="0" lang="zh-CN" altLang="en-US" sz="22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的最小</a:t>
            </a:r>
            <a:r>
              <a:rPr kumimoji="0" lang="en-US" altLang="zh-CN" sz="22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mid</a:t>
            </a:r>
            <a:r>
              <a:rPr kumimoji="0" lang="zh-CN" altLang="en-US" sz="22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返回结果为</a:t>
            </a:r>
            <a:r>
              <a:rPr kumimoji="0" lang="en-US" altLang="zh-CN" sz="22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endParaRPr kumimoji="0" lang="en-US" altLang="zh-CN" sz="22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182275" name="AutoShape 3"/>
          <p:cNvSpPr>
            <a:spLocks noChangeShapeType="1"/>
          </p:cNvSpPr>
          <p:nvPr/>
        </p:nvSpPr>
        <p:spPr bwMode="auto">
          <a:xfrm flipV="1">
            <a:off x="3540384" y="3735778"/>
            <a:ext cx="1583" cy="357190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182274" name="Rectangle 2"/>
          <p:cNvSpPr>
            <a:spLocks noChangeArrowheads="1"/>
          </p:cNvSpPr>
          <p:nvPr/>
        </p:nvSpPr>
        <p:spPr bwMode="auto">
          <a:xfrm>
            <a:off x="1928794" y="1857364"/>
            <a:ext cx="2776887" cy="512986"/>
          </a:xfrm>
          <a:prstGeom prst="rect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1" fontAlgn="base" latinLnBrk="0" hangingPunct="1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nums=[-1</a:t>
            </a:r>
            <a:r>
              <a:rPr kumimoji="0" lang="zh-CN" altLang="en-US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</a:t>
            </a:r>
            <a:r>
              <a:rPr kumimoji="0" lang="zh-CN" altLang="en-US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0]</a:t>
            </a:r>
            <a:endParaRPr kumimoji="0" lang="en-US" altLang="zh-CN" sz="20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82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406" y="357166"/>
            <a:ext cx="8858280" cy="5221339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class Solution 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public: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 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findKthLargest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(vector&lt;int&gt;&amp; nums,int k) 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int mind=nums[0],maxd=nums[0];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	for(int i=1;i&lt;nums.size();i++) {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 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求最大最小元素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		if(nums[i]&gt;maxd) maxd=nums[i];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 	else if(nums[i]&lt;mind) mind=nums[i];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	if(maxd==mind)  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所有元素相同的情况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	return maxd;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	else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		return 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smallk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(nums,mind,maxd,nums.size()-k+1); 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n-k+1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小的元素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83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406" y="357166"/>
            <a:ext cx="8858280" cy="5219479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int 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smallk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(vector&lt;int&gt;&amp;a,int mine,int maxe,int k) {     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求第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小的元素</a:t>
            </a: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	int n=a.size();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	int low=mine,high=maxe;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	while(low&lt;=high) 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		int mid=(low+high)/2;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		int cnt=0;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		for (int i=0;i&lt;n;i++)  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</a:t>
            </a:r>
            <a:r>
              <a:rPr lang="zh-CN" altLang="en-US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≤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mid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的元素个数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cnt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    	if (a[i]&lt;=mid) cnt++;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		if(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cnt&gt;=k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 high=mid-1;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查找第一个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cnt</a:t>
            </a:r>
            <a:r>
              <a:rPr lang="en-US" altLang="zh-CN" sz="2000">
                <a:solidFill>
                  <a:srgbClr val="00B0F0"/>
                </a:solidFill>
                <a:latin typeface="+mj-ea"/>
              </a:rPr>
              <a:t>≥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mid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 	else low=mid+1;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	return low;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2" name="组合 9"/>
          <p:cNvGrpSpPr/>
          <p:nvPr/>
        </p:nvGrpSpPr>
        <p:grpSpPr>
          <a:xfrm>
            <a:off x="642910" y="5715016"/>
            <a:ext cx="7000924" cy="461665"/>
            <a:chOff x="1071538" y="6286520"/>
            <a:chExt cx="7000924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1857356" y="6286520"/>
              <a:ext cx="62151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执行用时为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4ms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，内存消耗为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9.7MB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。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71538" y="6286520"/>
              <a:ext cx="785818" cy="443968"/>
            </a:xfrm>
            <a:prstGeom prst="rect">
              <a:avLst/>
            </a:prstGeom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Eras Bold ITC" pitchFamily="34" charset="0"/>
                  <a:ea typeface="仿宋" pitchFamily="49" charset="-122"/>
                  <a:cs typeface="Courier New" pitchFamily="49" charset="0"/>
                </a:rPr>
                <a:t>EXE </a:t>
              </a:r>
              <a:endParaRPr lang="zh-CN" altLang="en-US" sz="2000">
                <a:solidFill>
                  <a:srgbClr val="FF3300"/>
                </a:solidFill>
                <a:latin typeface="Forte" pitchFamily="66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84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hlinkClick r:id="" action="ppaction://noaction"/>
          </p:cNvPr>
          <p:cNvSpPr txBox="1"/>
          <p:nvPr/>
        </p:nvSpPr>
        <p:spPr>
          <a:xfrm>
            <a:off x="2357422" y="428604"/>
            <a:ext cx="4680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4.5 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最大连续子序列和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472" y="1285860"/>
            <a:ext cx="8072494" cy="830997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pt-BR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sym typeface="Wingdings"/>
              </a:rPr>
              <a:t></a:t>
            </a: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问题描述：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参见第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章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3.4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节的问题描述。这里采用分治法求解。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34" y="2763019"/>
            <a:ext cx="8358246" cy="3523501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3200"/>
              </a:lnSpc>
              <a:spcBef>
                <a:spcPts val="1200"/>
              </a:spcBef>
            </a:pPr>
            <a:r>
              <a:rPr lang="en-US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sym typeface="Wingdings"/>
              </a:rPr>
              <a:t></a:t>
            </a: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问题描述</a:t>
            </a:r>
            <a:r>
              <a:rPr lang="zh-CN" altLang="zh-CN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给定一个含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+mn-ea"/>
              </a:rPr>
              <a:t>≥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）个整数的序列，要求求出其中最大连续子序列的和。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200"/>
              </a:lnSpc>
              <a:spcBef>
                <a:spcPts val="120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序列（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u="sng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11</a:t>
            </a:r>
            <a:r>
              <a:rPr lang="zh-CN" altLang="zh-CN" u="sng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u="sng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-4</a:t>
            </a:r>
            <a:r>
              <a:rPr lang="zh-CN" altLang="zh-CN" u="sng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u="sng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13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）的最大子序列和为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20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200"/>
              </a:lnSpc>
              <a:spcBef>
                <a:spcPts val="120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序列（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-6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4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-7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u="sng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5</a:t>
            </a:r>
            <a:r>
              <a:rPr lang="zh-CN" altLang="zh-CN" u="sng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u="sng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 u="sng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u="sng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 u="sng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u="sng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 u="sng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u="sng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6</a:t>
            </a:r>
            <a:r>
              <a:rPr lang="zh-CN" altLang="zh-CN" u="sng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u="sng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-9</a:t>
            </a:r>
            <a:r>
              <a:rPr lang="zh-CN" altLang="zh-CN" u="sng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u="sng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10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）的最大子序列和为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16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200"/>
              </a:lnSpc>
              <a:spcBef>
                <a:spcPts val="120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规定一个序列最大连续子序列和至少是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，如果小于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，其结果为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6" name="上箭头 5"/>
          <p:cNvSpPr/>
          <p:nvPr/>
        </p:nvSpPr>
        <p:spPr>
          <a:xfrm>
            <a:off x="4214810" y="2285992"/>
            <a:ext cx="285752" cy="357190"/>
          </a:xfrm>
          <a:prstGeom prst="upArrow">
            <a:avLst/>
          </a:prstGeom>
          <a:ln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85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57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564" name="Text Box 12"/>
          <p:cNvSpPr txBox="1">
            <a:spLocks noChangeArrowheads="1"/>
          </p:cNvSpPr>
          <p:nvPr/>
        </p:nvSpPr>
        <p:spPr bwMode="auto">
          <a:xfrm>
            <a:off x="2192848" y="3100317"/>
            <a:ext cx="4665167" cy="32547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zh-CN" sz="20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kumimoji="0" lang="pt-BR" altLang="zh-CN" sz="2000" b="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low</a:t>
            </a:r>
            <a:r>
              <a:rPr kumimoji="0" lang="pt-BR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 </a:t>
            </a:r>
            <a:r>
              <a:rPr kumimoji="0" lang="pt-BR" altLang="zh-CN" sz="2000" b="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  </a:t>
            </a:r>
            <a:r>
              <a:rPr kumimoji="0" lang="pt-BR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ea typeface="+mn-ea"/>
                <a:cs typeface="Times New Roman" pitchFamily="18" charset="0"/>
              </a:rPr>
              <a:t>…</a:t>
            </a:r>
            <a:r>
              <a:rPr kumimoji="0" lang="pt-BR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 </a:t>
            </a:r>
            <a:r>
              <a:rPr kumimoji="0" lang="pt-BR" altLang="zh-CN" sz="2000" i="1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kumimoji="0" lang="pt-BR" altLang="zh-CN" sz="2000" i="0" u="none" strike="noStrike" cap="none" normalizeH="0" baseline="-3000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mid</a:t>
            </a:r>
            <a:r>
              <a:rPr kumimoji="0" lang="pt-BR" altLang="zh-CN" sz="2000" b="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       </a:t>
            </a:r>
            <a:r>
              <a:rPr kumimoji="0" lang="pt-BR" altLang="zh-CN" sz="20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kumimoji="0" lang="pt-BR" altLang="zh-CN" sz="2000" b="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mid+1   </a:t>
            </a:r>
            <a:r>
              <a:rPr kumimoji="0" lang="pt-BR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ea typeface="+mn-ea"/>
                <a:cs typeface="Times New Roman" pitchFamily="18" charset="0"/>
              </a:rPr>
              <a:t>…</a:t>
            </a:r>
            <a:r>
              <a:rPr kumimoji="0" lang="pt-BR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  </a:t>
            </a:r>
            <a:r>
              <a:rPr kumimoji="0" lang="pt-BR" altLang="zh-CN" sz="20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kumimoji="0" lang="pt-BR" altLang="zh-CN" sz="2000" b="0" i="0" u="none" strike="noStrike" cap="none" normalizeH="0" baseline="-3000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high</a:t>
            </a:r>
            <a:endParaRPr kumimoji="0" lang="pt-BR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23563" name="Text Box 11"/>
          <p:cNvSpPr txBox="1">
            <a:spLocks noChangeArrowheads="1"/>
          </p:cNvSpPr>
          <p:nvPr/>
        </p:nvSpPr>
        <p:spPr bwMode="auto">
          <a:xfrm>
            <a:off x="1714480" y="2582774"/>
            <a:ext cx="2380403" cy="32547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maxLeftBorderSum</a:t>
            </a:r>
          </a:p>
        </p:txBody>
      </p:sp>
      <p:sp>
        <p:nvSpPr>
          <p:cNvPr id="23562" name="Line 10"/>
          <p:cNvSpPr>
            <a:spLocks noChangeShapeType="1"/>
          </p:cNvSpPr>
          <p:nvPr/>
        </p:nvSpPr>
        <p:spPr bwMode="auto">
          <a:xfrm>
            <a:off x="4224567" y="3045113"/>
            <a:ext cx="1351" cy="35883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23561" name="Text Box 9"/>
          <p:cNvSpPr txBox="1">
            <a:spLocks noChangeArrowheads="1"/>
          </p:cNvSpPr>
          <p:nvPr/>
        </p:nvSpPr>
        <p:spPr bwMode="auto">
          <a:xfrm>
            <a:off x="4344795" y="2582774"/>
            <a:ext cx="2513221" cy="32547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maxRightBorderSum</a:t>
            </a:r>
          </a:p>
        </p:txBody>
      </p:sp>
      <p:sp>
        <p:nvSpPr>
          <p:cNvPr id="23560" name="Text Box 8"/>
          <p:cNvSpPr txBox="1">
            <a:spLocks noChangeArrowheads="1"/>
          </p:cNvSpPr>
          <p:nvPr/>
        </p:nvSpPr>
        <p:spPr bwMode="auto">
          <a:xfrm>
            <a:off x="4105690" y="2604625"/>
            <a:ext cx="244509" cy="32662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+</a:t>
            </a:r>
          </a:p>
        </p:txBody>
      </p:sp>
      <p:sp>
        <p:nvSpPr>
          <p:cNvPr id="23559" name="Text Box 7"/>
          <p:cNvSpPr txBox="1">
            <a:spLocks noChangeArrowheads="1"/>
          </p:cNvSpPr>
          <p:nvPr/>
        </p:nvSpPr>
        <p:spPr bwMode="auto">
          <a:xfrm>
            <a:off x="2300919" y="4357694"/>
            <a:ext cx="5200039" cy="934501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max3</a:t>
            </a: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(maxLeftSum,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maxRightSum,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maxLeftBorderSum+maxRightBorderSum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)</a:t>
            </a:r>
          </a:p>
        </p:txBody>
      </p:sp>
      <p:grpSp>
        <p:nvGrpSpPr>
          <p:cNvPr id="2" name="组合 25"/>
          <p:cNvGrpSpPr/>
          <p:nvPr/>
        </p:nvGrpSpPr>
        <p:grpSpPr>
          <a:xfrm>
            <a:off x="1643042" y="571480"/>
            <a:ext cx="6000792" cy="1319161"/>
            <a:chOff x="1643042" y="571480"/>
            <a:chExt cx="6000792" cy="1319161"/>
          </a:xfrm>
        </p:grpSpPr>
        <p:sp>
          <p:nvSpPr>
            <p:cNvPr id="23571" name="Text Box 19"/>
            <p:cNvSpPr txBox="1">
              <a:spLocks noChangeArrowheads="1"/>
            </p:cNvSpPr>
            <p:nvPr/>
          </p:nvSpPr>
          <p:spPr bwMode="auto">
            <a:xfrm>
              <a:off x="1643042" y="595632"/>
              <a:ext cx="2420771" cy="32547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pt-BR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low</a:t>
              </a:r>
              <a:r>
                <a:rPr kumimoji="0" lang="pt-BR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 </a:t>
              </a:r>
              <a:r>
                <a:rPr kumimoji="0" lang="pt-BR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  <a:r>
                <a:rPr kumimoji="0" lang="pt-BR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 </a:t>
              </a:r>
              <a:r>
                <a:rPr kumimoji="0" lang="pt-BR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pt-BR" altLang="zh-CN" sz="2000" b="0" i="1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pt-BR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 </a:t>
              </a:r>
              <a:r>
                <a:rPr kumimoji="0" lang="pt-BR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n-ea"/>
                  <a:ea typeface="+mn-ea"/>
                  <a:cs typeface="Times New Roman" pitchFamily="18" charset="0"/>
                </a:rPr>
                <a:t>…</a:t>
              </a:r>
              <a:r>
                <a:rPr kumimoji="0" lang="pt-BR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 </a:t>
              </a:r>
              <a:r>
                <a:rPr kumimoji="0" lang="pt-BR" altLang="zh-CN" sz="2000" i="1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pt-BR" altLang="zh-CN" sz="2000" i="0" u="none" strike="noStrike" cap="none" normalizeH="0" baseline="-3000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mid</a:t>
              </a:r>
              <a:endParaRPr kumimoji="0" lang="pt-BR" altLang="zh-CN" sz="20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23570" name="Text Box 18"/>
            <p:cNvSpPr txBox="1">
              <a:spLocks noChangeArrowheads="1"/>
            </p:cNvSpPr>
            <p:nvPr/>
          </p:nvSpPr>
          <p:spPr bwMode="auto">
            <a:xfrm>
              <a:off x="4306970" y="571480"/>
              <a:ext cx="3336864" cy="32547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mid+1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 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  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b="0" i="1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  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  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b="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high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23569" name="Line 17"/>
            <p:cNvSpPr>
              <a:spLocks noChangeShapeType="1"/>
            </p:cNvSpPr>
            <p:nvPr/>
          </p:nvSpPr>
          <p:spPr bwMode="auto">
            <a:xfrm>
              <a:off x="4256988" y="585281"/>
              <a:ext cx="1351" cy="3588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23568" name="AutoShape 16"/>
            <p:cNvSpPr>
              <a:spLocks/>
            </p:cNvSpPr>
            <p:nvPr/>
          </p:nvSpPr>
          <p:spPr bwMode="auto">
            <a:xfrm rot="16200000">
              <a:off x="2779775" y="-152351"/>
              <a:ext cx="162164" cy="2373490"/>
            </a:xfrm>
            <a:prstGeom prst="leftBrace">
              <a:avLst>
                <a:gd name="adj1" fmla="val 103842"/>
                <a:gd name="adj2" fmla="val 50000"/>
              </a:avLst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23567" name="Text Box 15"/>
            <p:cNvSpPr txBox="1">
              <a:spLocks noChangeArrowheads="1"/>
            </p:cNvSpPr>
            <p:nvPr/>
          </p:nvSpPr>
          <p:spPr bwMode="auto">
            <a:xfrm>
              <a:off x="1714480" y="1152279"/>
              <a:ext cx="2500330" cy="32547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maxLeftSum</a:t>
              </a:r>
            </a:p>
          </p:txBody>
        </p:sp>
        <p:sp>
          <p:nvSpPr>
            <p:cNvPr id="23566" name="AutoShape 14"/>
            <p:cNvSpPr>
              <a:spLocks/>
            </p:cNvSpPr>
            <p:nvPr/>
          </p:nvSpPr>
          <p:spPr bwMode="auto">
            <a:xfrm rot="16200000">
              <a:off x="5681558" y="-244274"/>
              <a:ext cx="163314" cy="2604490"/>
            </a:xfrm>
            <a:prstGeom prst="leftBrace">
              <a:avLst>
                <a:gd name="adj1" fmla="val 113146"/>
                <a:gd name="adj2" fmla="val 50000"/>
              </a:avLst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23565" name="Text Box 13"/>
            <p:cNvSpPr txBox="1">
              <a:spLocks noChangeArrowheads="1"/>
            </p:cNvSpPr>
            <p:nvPr/>
          </p:nvSpPr>
          <p:spPr bwMode="auto">
            <a:xfrm>
              <a:off x="5126953" y="1129277"/>
              <a:ext cx="1731063" cy="32547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maxRightSum</a:t>
              </a:r>
            </a:p>
          </p:txBody>
        </p:sp>
        <p:sp>
          <p:nvSpPr>
            <p:cNvPr id="23558" name="Text Box 6"/>
            <p:cNvSpPr txBox="1">
              <a:spLocks noChangeArrowheads="1"/>
            </p:cNvSpPr>
            <p:nvPr/>
          </p:nvSpPr>
          <p:spPr bwMode="auto">
            <a:xfrm>
              <a:off x="1857356" y="1565164"/>
              <a:ext cx="4980322" cy="32547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（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）递归求出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maxLeftSum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和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maxRightSum</a:t>
              </a:r>
            </a:p>
          </p:txBody>
        </p:sp>
      </p:grpSp>
      <p:sp>
        <p:nvSpPr>
          <p:cNvPr id="23557" name="Text Box 5"/>
          <p:cNvSpPr txBox="1">
            <a:spLocks noChangeArrowheads="1"/>
          </p:cNvSpPr>
          <p:nvPr/>
        </p:nvSpPr>
        <p:spPr bwMode="auto">
          <a:xfrm>
            <a:off x="1826760" y="3661565"/>
            <a:ext cx="6602891" cy="32547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（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b</a:t>
            </a:r>
            <a:r>
              <a:rPr kumimoji="0" lang="zh-CN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）求出</a:t>
            </a: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0066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maxLeftBorderSum+maxRightBorderSum</a:t>
            </a:r>
          </a:p>
        </p:txBody>
      </p:sp>
      <p:sp>
        <p:nvSpPr>
          <p:cNvPr id="23556" name="Text Box 4"/>
          <p:cNvSpPr txBox="1">
            <a:spLocks noChangeArrowheads="1"/>
          </p:cNvSpPr>
          <p:nvPr/>
        </p:nvSpPr>
        <p:spPr bwMode="auto">
          <a:xfrm>
            <a:off x="2357422" y="5429264"/>
            <a:ext cx="4619998" cy="32662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（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c</a:t>
            </a:r>
            <a:r>
              <a:rPr kumimoji="0" lang="zh-CN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）求出</a:t>
            </a:r>
            <a:r>
              <a:rPr kumimoji="0" lang="en-US" altLang="zh-CN" sz="20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a</a:t>
            </a:r>
            <a:r>
              <a:rPr kumimoji="0" lang="zh-CN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序列中最大连续子序列的和</a:t>
            </a:r>
          </a:p>
        </p:txBody>
      </p:sp>
      <p:sp>
        <p:nvSpPr>
          <p:cNvPr id="23555" name="AutoShape 3"/>
          <p:cNvSpPr>
            <a:spLocks noChangeShapeType="1"/>
          </p:cNvSpPr>
          <p:nvPr/>
        </p:nvSpPr>
        <p:spPr bwMode="auto">
          <a:xfrm flipV="1">
            <a:off x="4447462" y="3115646"/>
            <a:ext cx="1148245" cy="1150"/>
          </a:xfrm>
          <a:prstGeom prst="straightConnector1">
            <a:avLst/>
          </a:prstGeom>
          <a:noFill/>
          <a:ln w="28575">
            <a:solidFill>
              <a:srgbClr val="FF00FF"/>
            </a:solidFill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23554" name="AutoShape 2"/>
          <p:cNvSpPr>
            <a:spLocks noChangeShapeType="1"/>
          </p:cNvSpPr>
          <p:nvPr/>
        </p:nvSpPr>
        <p:spPr bwMode="auto">
          <a:xfrm flipH="1">
            <a:off x="2939024" y="3142098"/>
            <a:ext cx="918596" cy="1150"/>
          </a:xfrm>
          <a:prstGeom prst="straightConnector1">
            <a:avLst/>
          </a:prstGeom>
          <a:noFill/>
          <a:ln w="28575">
            <a:solidFill>
              <a:srgbClr val="FF00FF"/>
            </a:solidFill>
            <a:round/>
            <a:headEnd type="none" w="med" len="med"/>
            <a:tailEnd type="arrow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0034" y="599998"/>
            <a:ext cx="500066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86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579" name="Rectangle 5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57" name="组合 56"/>
          <p:cNvGrpSpPr/>
          <p:nvPr/>
        </p:nvGrpSpPr>
        <p:grpSpPr>
          <a:xfrm>
            <a:off x="1571604" y="71414"/>
            <a:ext cx="5802556" cy="2421963"/>
            <a:chOff x="357158" y="71414"/>
            <a:chExt cx="5802556" cy="2421963"/>
          </a:xfrm>
        </p:grpSpPr>
        <p:sp>
          <p:nvSpPr>
            <p:cNvPr id="22576" name="Text Box 48"/>
            <p:cNvSpPr txBox="1">
              <a:spLocks noChangeArrowheads="1"/>
            </p:cNvSpPr>
            <p:nvPr/>
          </p:nvSpPr>
          <p:spPr bwMode="auto">
            <a:xfrm>
              <a:off x="908570" y="856167"/>
              <a:ext cx="480154" cy="34863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-2</a:t>
              </a:r>
            </a:p>
          </p:txBody>
        </p:sp>
        <p:sp>
          <p:nvSpPr>
            <p:cNvPr id="22575" name="Text Box 47"/>
            <p:cNvSpPr txBox="1">
              <a:spLocks noChangeArrowheads="1"/>
            </p:cNvSpPr>
            <p:nvPr/>
          </p:nvSpPr>
          <p:spPr bwMode="auto">
            <a:xfrm>
              <a:off x="967953" y="542030"/>
              <a:ext cx="363084" cy="26362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22574" name="Text Box 46"/>
            <p:cNvSpPr txBox="1">
              <a:spLocks noChangeArrowheads="1"/>
            </p:cNvSpPr>
            <p:nvPr/>
          </p:nvSpPr>
          <p:spPr bwMode="auto">
            <a:xfrm>
              <a:off x="1804403" y="856167"/>
              <a:ext cx="480154" cy="34863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11</a:t>
              </a:r>
            </a:p>
          </p:txBody>
        </p:sp>
        <p:sp>
          <p:nvSpPr>
            <p:cNvPr id="22573" name="Text Box 45"/>
            <p:cNvSpPr txBox="1">
              <a:spLocks noChangeArrowheads="1"/>
            </p:cNvSpPr>
            <p:nvPr/>
          </p:nvSpPr>
          <p:spPr bwMode="auto">
            <a:xfrm>
              <a:off x="1863786" y="542030"/>
              <a:ext cx="363084" cy="26362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22572" name="Text Box 44"/>
            <p:cNvSpPr txBox="1">
              <a:spLocks noChangeArrowheads="1"/>
            </p:cNvSpPr>
            <p:nvPr/>
          </p:nvSpPr>
          <p:spPr bwMode="auto">
            <a:xfrm>
              <a:off x="2659516" y="856167"/>
              <a:ext cx="480154" cy="34863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-4</a:t>
              </a:r>
            </a:p>
          </p:txBody>
        </p:sp>
        <p:sp>
          <p:nvSpPr>
            <p:cNvPr id="22571" name="Text Box 43"/>
            <p:cNvSpPr txBox="1">
              <a:spLocks noChangeArrowheads="1"/>
            </p:cNvSpPr>
            <p:nvPr/>
          </p:nvSpPr>
          <p:spPr bwMode="auto">
            <a:xfrm>
              <a:off x="2718899" y="542030"/>
              <a:ext cx="363084" cy="26362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22570" name="Text Box 42"/>
            <p:cNvSpPr txBox="1">
              <a:spLocks noChangeArrowheads="1"/>
            </p:cNvSpPr>
            <p:nvPr/>
          </p:nvSpPr>
          <p:spPr bwMode="auto">
            <a:xfrm>
              <a:off x="3453551" y="856167"/>
              <a:ext cx="480154" cy="34863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13</a:t>
              </a:r>
            </a:p>
          </p:txBody>
        </p:sp>
        <p:sp>
          <p:nvSpPr>
            <p:cNvPr id="22569" name="Text Box 41"/>
            <p:cNvSpPr txBox="1">
              <a:spLocks noChangeArrowheads="1"/>
            </p:cNvSpPr>
            <p:nvPr/>
          </p:nvSpPr>
          <p:spPr bwMode="auto">
            <a:xfrm>
              <a:off x="3512934" y="542030"/>
              <a:ext cx="363084" cy="26362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</a:p>
          </p:txBody>
        </p:sp>
        <p:sp>
          <p:nvSpPr>
            <p:cNvPr id="22568" name="Text Box 40"/>
            <p:cNvSpPr txBox="1">
              <a:spLocks noChangeArrowheads="1"/>
            </p:cNvSpPr>
            <p:nvPr/>
          </p:nvSpPr>
          <p:spPr bwMode="auto">
            <a:xfrm>
              <a:off x="4227225" y="856167"/>
              <a:ext cx="480154" cy="34863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-5</a:t>
              </a:r>
            </a:p>
          </p:txBody>
        </p:sp>
        <p:sp>
          <p:nvSpPr>
            <p:cNvPr id="22567" name="Text Box 39"/>
            <p:cNvSpPr txBox="1">
              <a:spLocks noChangeArrowheads="1"/>
            </p:cNvSpPr>
            <p:nvPr/>
          </p:nvSpPr>
          <p:spPr bwMode="auto">
            <a:xfrm>
              <a:off x="4286608" y="542030"/>
              <a:ext cx="363084" cy="26362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4</a:t>
              </a:r>
            </a:p>
          </p:txBody>
        </p:sp>
        <p:sp>
          <p:nvSpPr>
            <p:cNvPr id="22566" name="Text Box 38"/>
            <p:cNvSpPr txBox="1">
              <a:spLocks noChangeArrowheads="1"/>
            </p:cNvSpPr>
            <p:nvPr/>
          </p:nvSpPr>
          <p:spPr bwMode="auto">
            <a:xfrm>
              <a:off x="5082338" y="856167"/>
              <a:ext cx="480154" cy="34863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-2</a:t>
              </a:r>
            </a:p>
          </p:txBody>
        </p:sp>
        <p:sp>
          <p:nvSpPr>
            <p:cNvPr id="22565" name="Text Box 37"/>
            <p:cNvSpPr txBox="1">
              <a:spLocks noChangeArrowheads="1"/>
            </p:cNvSpPr>
            <p:nvPr/>
          </p:nvSpPr>
          <p:spPr bwMode="auto">
            <a:xfrm>
              <a:off x="5141721" y="542030"/>
              <a:ext cx="363084" cy="26362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5</a:t>
              </a:r>
            </a:p>
          </p:txBody>
        </p:sp>
        <p:sp>
          <p:nvSpPr>
            <p:cNvPr id="22564" name="Text Box 36"/>
            <p:cNvSpPr txBox="1">
              <a:spLocks noChangeArrowheads="1"/>
            </p:cNvSpPr>
            <p:nvPr/>
          </p:nvSpPr>
          <p:spPr bwMode="auto">
            <a:xfrm>
              <a:off x="2676483" y="71414"/>
              <a:ext cx="485243" cy="26239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mid</a:t>
              </a:r>
            </a:p>
          </p:txBody>
        </p:sp>
        <p:sp>
          <p:nvSpPr>
            <p:cNvPr id="22563" name="AutoShape 35"/>
            <p:cNvSpPr>
              <a:spLocks noChangeShapeType="1"/>
            </p:cNvSpPr>
            <p:nvPr/>
          </p:nvSpPr>
          <p:spPr bwMode="auto">
            <a:xfrm>
              <a:off x="2893655" y="321900"/>
              <a:ext cx="1697" cy="282108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22562" name="AutoShape 34"/>
            <p:cNvSpPr>
              <a:spLocks/>
            </p:cNvSpPr>
            <p:nvPr/>
          </p:nvSpPr>
          <p:spPr bwMode="auto">
            <a:xfrm rot="16200000">
              <a:off x="1867940" y="539074"/>
              <a:ext cx="174931" cy="1730587"/>
            </a:xfrm>
            <a:prstGeom prst="leftBrace">
              <a:avLst>
                <a:gd name="adj1" fmla="val 59859"/>
                <a:gd name="adj2" fmla="val 50000"/>
              </a:avLst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22561" name="AutoShape 33"/>
            <p:cNvSpPr>
              <a:spLocks/>
            </p:cNvSpPr>
            <p:nvPr/>
          </p:nvSpPr>
          <p:spPr bwMode="auto">
            <a:xfrm rot="16200000">
              <a:off x="4384077" y="527987"/>
              <a:ext cx="174931" cy="1730587"/>
            </a:xfrm>
            <a:prstGeom prst="leftBrace">
              <a:avLst>
                <a:gd name="adj1" fmla="val 59859"/>
                <a:gd name="adj2" fmla="val 50000"/>
              </a:avLst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22560" name="Text Box 32"/>
            <p:cNvSpPr txBox="1">
              <a:spLocks noChangeArrowheads="1"/>
            </p:cNvSpPr>
            <p:nvPr/>
          </p:nvSpPr>
          <p:spPr bwMode="auto">
            <a:xfrm>
              <a:off x="752478" y="1575603"/>
              <a:ext cx="2317629" cy="28333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maxLeftSum=11</a:t>
              </a:r>
            </a:p>
          </p:txBody>
        </p:sp>
        <p:sp>
          <p:nvSpPr>
            <p:cNvPr id="22559" name="Text Box 31"/>
            <p:cNvSpPr txBox="1">
              <a:spLocks noChangeArrowheads="1"/>
            </p:cNvSpPr>
            <p:nvPr/>
          </p:nvSpPr>
          <p:spPr bwMode="auto">
            <a:xfrm>
              <a:off x="3392471" y="1575603"/>
              <a:ext cx="2317629" cy="28333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maxRightSum=13</a:t>
              </a:r>
            </a:p>
          </p:txBody>
        </p:sp>
        <p:sp>
          <p:nvSpPr>
            <p:cNvPr id="22558" name="Text Box 30"/>
            <p:cNvSpPr txBox="1">
              <a:spLocks noChangeArrowheads="1"/>
            </p:cNvSpPr>
            <p:nvPr/>
          </p:nvSpPr>
          <p:spPr bwMode="auto">
            <a:xfrm>
              <a:off x="357158" y="2144746"/>
              <a:ext cx="5802556" cy="34863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（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）递归求出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maxLeftSum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和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maxRightSum</a:t>
              </a: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1623222" y="2758801"/>
            <a:ext cx="6449240" cy="3191737"/>
            <a:chOff x="408776" y="2758801"/>
            <a:chExt cx="6449240" cy="3191737"/>
          </a:xfrm>
        </p:grpSpPr>
        <p:sp>
          <p:nvSpPr>
            <p:cNvPr id="22577" name="Text Box 49"/>
            <p:cNvSpPr txBox="1">
              <a:spLocks noChangeArrowheads="1"/>
            </p:cNvSpPr>
            <p:nvPr/>
          </p:nvSpPr>
          <p:spPr bwMode="auto">
            <a:xfrm>
              <a:off x="408776" y="5103797"/>
              <a:ext cx="2915410" cy="25993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maxLeftBorderSum=7</a:t>
              </a:r>
            </a:p>
          </p:txBody>
        </p:sp>
        <p:sp>
          <p:nvSpPr>
            <p:cNvPr id="22557" name="Text Box 29"/>
            <p:cNvSpPr txBox="1">
              <a:spLocks noChangeArrowheads="1"/>
            </p:cNvSpPr>
            <p:nvPr/>
          </p:nvSpPr>
          <p:spPr bwMode="auto">
            <a:xfrm>
              <a:off x="845256" y="3061851"/>
              <a:ext cx="480154" cy="34863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-2</a:t>
              </a:r>
            </a:p>
          </p:txBody>
        </p:sp>
        <p:sp>
          <p:nvSpPr>
            <p:cNvPr id="22556" name="Text Box 28"/>
            <p:cNvSpPr txBox="1">
              <a:spLocks noChangeArrowheads="1"/>
            </p:cNvSpPr>
            <p:nvPr/>
          </p:nvSpPr>
          <p:spPr bwMode="auto">
            <a:xfrm>
              <a:off x="889370" y="2758801"/>
              <a:ext cx="363084" cy="26362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22555" name="Text Box 27"/>
            <p:cNvSpPr txBox="1">
              <a:spLocks noChangeArrowheads="1"/>
            </p:cNvSpPr>
            <p:nvPr/>
          </p:nvSpPr>
          <p:spPr bwMode="auto">
            <a:xfrm>
              <a:off x="1741089" y="3061851"/>
              <a:ext cx="480154" cy="34863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11</a:t>
              </a:r>
            </a:p>
          </p:txBody>
        </p:sp>
        <p:sp>
          <p:nvSpPr>
            <p:cNvPr id="22554" name="Text Box 26"/>
            <p:cNvSpPr txBox="1">
              <a:spLocks noChangeArrowheads="1"/>
            </p:cNvSpPr>
            <p:nvPr/>
          </p:nvSpPr>
          <p:spPr bwMode="auto">
            <a:xfrm>
              <a:off x="1785203" y="2758801"/>
              <a:ext cx="363084" cy="26362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22553" name="Text Box 25"/>
            <p:cNvSpPr txBox="1">
              <a:spLocks noChangeArrowheads="1"/>
            </p:cNvSpPr>
            <p:nvPr/>
          </p:nvSpPr>
          <p:spPr bwMode="auto">
            <a:xfrm>
              <a:off x="2640316" y="2758801"/>
              <a:ext cx="363084" cy="26362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22552" name="Text Box 24"/>
            <p:cNvSpPr txBox="1">
              <a:spLocks noChangeArrowheads="1"/>
            </p:cNvSpPr>
            <p:nvPr/>
          </p:nvSpPr>
          <p:spPr bwMode="auto">
            <a:xfrm>
              <a:off x="3390237" y="3061851"/>
              <a:ext cx="480154" cy="34863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13</a:t>
              </a:r>
            </a:p>
          </p:txBody>
        </p:sp>
        <p:sp>
          <p:nvSpPr>
            <p:cNvPr id="22551" name="Text Box 23"/>
            <p:cNvSpPr txBox="1">
              <a:spLocks noChangeArrowheads="1"/>
            </p:cNvSpPr>
            <p:nvPr/>
          </p:nvSpPr>
          <p:spPr bwMode="auto">
            <a:xfrm>
              <a:off x="3434350" y="2758801"/>
              <a:ext cx="363084" cy="26362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</a:p>
          </p:txBody>
        </p:sp>
        <p:sp>
          <p:nvSpPr>
            <p:cNvPr id="22550" name="Text Box 22"/>
            <p:cNvSpPr txBox="1">
              <a:spLocks noChangeArrowheads="1"/>
            </p:cNvSpPr>
            <p:nvPr/>
          </p:nvSpPr>
          <p:spPr bwMode="auto">
            <a:xfrm>
              <a:off x="4163911" y="3061851"/>
              <a:ext cx="480154" cy="34863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-5</a:t>
              </a:r>
            </a:p>
          </p:txBody>
        </p:sp>
        <p:sp>
          <p:nvSpPr>
            <p:cNvPr id="22549" name="Text Box 21"/>
            <p:cNvSpPr txBox="1">
              <a:spLocks noChangeArrowheads="1"/>
            </p:cNvSpPr>
            <p:nvPr/>
          </p:nvSpPr>
          <p:spPr bwMode="auto">
            <a:xfrm>
              <a:off x="4208024" y="2758801"/>
              <a:ext cx="363084" cy="26362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4</a:t>
              </a:r>
            </a:p>
          </p:txBody>
        </p:sp>
        <p:sp>
          <p:nvSpPr>
            <p:cNvPr id="22548" name="Text Box 20"/>
            <p:cNvSpPr txBox="1">
              <a:spLocks noChangeArrowheads="1"/>
            </p:cNvSpPr>
            <p:nvPr/>
          </p:nvSpPr>
          <p:spPr bwMode="auto">
            <a:xfrm>
              <a:off x="5019024" y="3061851"/>
              <a:ext cx="480154" cy="34863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-2</a:t>
              </a:r>
            </a:p>
          </p:txBody>
        </p:sp>
        <p:sp>
          <p:nvSpPr>
            <p:cNvPr id="22547" name="Text Box 19"/>
            <p:cNvSpPr txBox="1">
              <a:spLocks noChangeArrowheads="1"/>
            </p:cNvSpPr>
            <p:nvPr/>
          </p:nvSpPr>
          <p:spPr bwMode="auto">
            <a:xfrm>
              <a:off x="5063137" y="2758801"/>
              <a:ext cx="363084" cy="26362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5</a:t>
              </a:r>
            </a:p>
          </p:txBody>
        </p:sp>
        <p:sp>
          <p:nvSpPr>
            <p:cNvPr id="22546" name="AutoShape 18"/>
            <p:cNvSpPr>
              <a:spLocks noChangeShapeType="1"/>
            </p:cNvSpPr>
            <p:nvPr/>
          </p:nvSpPr>
          <p:spPr bwMode="auto">
            <a:xfrm flipH="1">
              <a:off x="2418054" y="3605123"/>
              <a:ext cx="385141" cy="1231"/>
            </a:xfrm>
            <a:prstGeom prst="straightConnector1">
              <a:avLst/>
            </a:prstGeom>
            <a:noFill/>
            <a:ln w="19050">
              <a:solidFill>
                <a:srgbClr val="FF00FF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22545" name="Text Box 17"/>
            <p:cNvSpPr txBox="1">
              <a:spLocks noChangeArrowheads="1"/>
            </p:cNvSpPr>
            <p:nvPr/>
          </p:nvSpPr>
          <p:spPr bwMode="auto">
            <a:xfrm>
              <a:off x="2606383" y="3632874"/>
              <a:ext cx="361387" cy="26239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-4</a:t>
              </a:r>
            </a:p>
          </p:txBody>
        </p:sp>
        <p:sp>
          <p:nvSpPr>
            <p:cNvPr id="22544" name="Text Box 16"/>
            <p:cNvSpPr txBox="1">
              <a:spLocks noChangeArrowheads="1"/>
            </p:cNvSpPr>
            <p:nvPr/>
          </p:nvSpPr>
          <p:spPr bwMode="auto">
            <a:xfrm>
              <a:off x="2563967" y="3061851"/>
              <a:ext cx="480154" cy="34863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-4</a:t>
              </a:r>
            </a:p>
          </p:txBody>
        </p:sp>
        <p:sp>
          <p:nvSpPr>
            <p:cNvPr id="22543" name="AutoShape 15"/>
            <p:cNvSpPr>
              <a:spLocks noChangeShapeType="1"/>
            </p:cNvSpPr>
            <p:nvPr/>
          </p:nvSpPr>
          <p:spPr bwMode="auto">
            <a:xfrm flipH="1">
              <a:off x="1727517" y="4004911"/>
              <a:ext cx="1058712" cy="1231"/>
            </a:xfrm>
            <a:prstGeom prst="straightConnector1">
              <a:avLst/>
            </a:prstGeom>
            <a:noFill/>
            <a:ln w="19050">
              <a:solidFill>
                <a:srgbClr val="FF00FF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22542" name="Text Box 14"/>
            <p:cNvSpPr txBox="1">
              <a:spLocks noChangeArrowheads="1"/>
            </p:cNvSpPr>
            <p:nvPr/>
          </p:nvSpPr>
          <p:spPr bwMode="auto">
            <a:xfrm>
              <a:off x="1725820" y="4090539"/>
              <a:ext cx="361387" cy="26239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7</a:t>
              </a:r>
            </a:p>
          </p:txBody>
        </p:sp>
        <p:sp>
          <p:nvSpPr>
            <p:cNvPr id="22541" name="AutoShape 13"/>
            <p:cNvSpPr>
              <a:spLocks noChangeShapeType="1"/>
            </p:cNvSpPr>
            <p:nvPr/>
          </p:nvSpPr>
          <p:spPr bwMode="auto">
            <a:xfrm flipH="1" flipV="1">
              <a:off x="889906" y="4392983"/>
              <a:ext cx="1924005" cy="1231"/>
            </a:xfrm>
            <a:prstGeom prst="straightConnector1">
              <a:avLst/>
            </a:prstGeom>
            <a:noFill/>
            <a:ln w="19050">
              <a:solidFill>
                <a:srgbClr val="FF00FF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22540" name="Text Box 12"/>
            <p:cNvSpPr txBox="1">
              <a:spLocks noChangeArrowheads="1"/>
            </p:cNvSpPr>
            <p:nvPr/>
          </p:nvSpPr>
          <p:spPr bwMode="auto">
            <a:xfrm>
              <a:off x="932323" y="4433254"/>
              <a:ext cx="361387" cy="26239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5</a:t>
              </a:r>
            </a:p>
          </p:txBody>
        </p:sp>
        <p:sp>
          <p:nvSpPr>
            <p:cNvPr id="22539" name="Text Box 11"/>
            <p:cNvSpPr txBox="1">
              <a:spLocks noChangeArrowheads="1"/>
            </p:cNvSpPr>
            <p:nvPr/>
          </p:nvSpPr>
          <p:spPr bwMode="auto">
            <a:xfrm>
              <a:off x="3769129" y="5103797"/>
              <a:ext cx="3088887" cy="25993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maxRightBorderSum=13</a:t>
              </a:r>
            </a:p>
          </p:txBody>
        </p:sp>
        <p:sp>
          <p:nvSpPr>
            <p:cNvPr id="22538" name="AutoShape 10"/>
            <p:cNvSpPr>
              <a:spLocks noChangeArrowheads="1"/>
            </p:cNvSpPr>
            <p:nvPr/>
          </p:nvSpPr>
          <p:spPr bwMode="auto">
            <a:xfrm>
              <a:off x="1560085" y="4773644"/>
              <a:ext cx="252802" cy="274716"/>
            </a:xfrm>
            <a:prstGeom prst="downArrow">
              <a:avLst>
                <a:gd name="adj1" fmla="val 50000"/>
                <a:gd name="adj2" fmla="val 37416"/>
              </a:avLst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eaVert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22537" name="AutoShape 9"/>
            <p:cNvSpPr>
              <a:spLocks noChangeShapeType="1"/>
            </p:cNvSpPr>
            <p:nvPr/>
          </p:nvSpPr>
          <p:spPr bwMode="auto">
            <a:xfrm>
              <a:off x="3439439" y="3606356"/>
              <a:ext cx="385141" cy="1231"/>
            </a:xfrm>
            <a:prstGeom prst="straightConnector1">
              <a:avLst/>
            </a:prstGeom>
            <a:noFill/>
            <a:ln w="19050">
              <a:solidFill>
                <a:srgbClr val="FF00FF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22536" name="Text Box 8"/>
            <p:cNvSpPr txBox="1">
              <a:spLocks noChangeArrowheads="1"/>
            </p:cNvSpPr>
            <p:nvPr/>
          </p:nvSpPr>
          <p:spPr bwMode="auto">
            <a:xfrm>
              <a:off x="3380057" y="3640264"/>
              <a:ext cx="361387" cy="26239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13</a:t>
              </a:r>
            </a:p>
          </p:txBody>
        </p:sp>
        <p:sp>
          <p:nvSpPr>
            <p:cNvPr id="22535" name="AutoShape 7"/>
            <p:cNvSpPr>
              <a:spLocks noChangeShapeType="1"/>
            </p:cNvSpPr>
            <p:nvPr/>
          </p:nvSpPr>
          <p:spPr bwMode="auto">
            <a:xfrm flipV="1">
              <a:off x="3420777" y="4015998"/>
              <a:ext cx="1058712" cy="1231"/>
            </a:xfrm>
            <a:prstGeom prst="straightConnector1">
              <a:avLst/>
            </a:prstGeom>
            <a:noFill/>
            <a:ln w="19050">
              <a:solidFill>
                <a:srgbClr val="FF00FF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22534" name="Text Box 6"/>
            <p:cNvSpPr txBox="1">
              <a:spLocks noChangeArrowheads="1"/>
            </p:cNvSpPr>
            <p:nvPr/>
          </p:nvSpPr>
          <p:spPr bwMode="auto">
            <a:xfrm>
              <a:off x="4214810" y="4057277"/>
              <a:ext cx="361387" cy="26239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8</a:t>
              </a:r>
            </a:p>
          </p:txBody>
        </p:sp>
        <p:sp>
          <p:nvSpPr>
            <p:cNvPr id="22533" name="AutoShape 5"/>
            <p:cNvSpPr>
              <a:spLocks noChangeShapeType="1"/>
            </p:cNvSpPr>
            <p:nvPr/>
          </p:nvSpPr>
          <p:spPr bwMode="auto">
            <a:xfrm flipV="1">
              <a:off x="3462034" y="4392983"/>
              <a:ext cx="1924005" cy="1231"/>
            </a:xfrm>
            <a:prstGeom prst="straightConnector1">
              <a:avLst/>
            </a:prstGeom>
            <a:noFill/>
            <a:ln w="19050">
              <a:solidFill>
                <a:srgbClr val="FF00FF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22532" name="Text Box 4"/>
            <p:cNvSpPr txBox="1">
              <a:spLocks noChangeArrowheads="1"/>
            </p:cNvSpPr>
            <p:nvPr/>
          </p:nvSpPr>
          <p:spPr bwMode="auto">
            <a:xfrm>
              <a:off x="5031439" y="4433254"/>
              <a:ext cx="361387" cy="26239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6</a:t>
              </a:r>
            </a:p>
          </p:txBody>
        </p:sp>
        <p:sp>
          <p:nvSpPr>
            <p:cNvPr id="22531" name="AutoShape 3"/>
            <p:cNvSpPr>
              <a:spLocks noChangeArrowheads="1"/>
            </p:cNvSpPr>
            <p:nvPr/>
          </p:nvSpPr>
          <p:spPr bwMode="auto">
            <a:xfrm>
              <a:off x="4396890" y="4773644"/>
              <a:ext cx="252802" cy="274716"/>
            </a:xfrm>
            <a:prstGeom prst="downArrow">
              <a:avLst>
                <a:gd name="adj1" fmla="val 50000"/>
                <a:gd name="adj2" fmla="val 37416"/>
              </a:avLst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eaVert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  <p:sp>
          <p:nvSpPr>
            <p:cNvPr id="22530" name="Text Box 2"/>
            <p:cNvSpPr txBox="1">
              <a:spLocks noChangeArrowheads="1"/>
            </p:cNvSpPr>
            <p:nvPr/>
          </p:nvSpPr>
          <p:spPr bwMode="auto">
            <a:xfrm>
              <a:off x="497121" y="5601907"/>
              <a:ext cx="5802556" cy="34863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（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b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）</a:t>
              </a:r>
              <a:r>
                <a:rPr kumimoji="0" lang="zh-CN" altLang="en-US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以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-4</a:t>
              </a:r>
              <a:r>
                <a:rPr kumimoji="0" lang="zh-CN" altLang="en-US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为中心的最大连续子序列和为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66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20</a:t>
              </a:r>
            </a:p>
          </p:txBody>
        </p:sp>
      </p:grpSp>
      <p:sp>
        <p:nvSpPr>
          <p:cNvPr id="55" name="TextBox 54"/>
          <p:cNvSpPr txBox="1"/>
          <p:nvPr/>
        </p:nvSpPr>
        <p:spPr>
          <a:xfrm>
            <a:off x="1836641" y="6191348"/>
            <a:ext cx="47706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（</a:t>
            </a:r>
            <a:r>
              <a:rPr lang="en-US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c</a:t>
            </a:r>
            <a:r>
              <a:rPr lang="zh-CN" altLang="en-US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） 结果</a:t>
            </a:r>
            <a:r>
              <a:rPr lang="en-US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=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max3(11</a:t>
            </a:r>
            <a:r>
              <a:rPr lang="zh-CN" altLang="en-US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13</a:t>
            </a:r>
            <a:r>
              <a:rPr lang="zh-CN" altLang="en-US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，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20)=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20</a:t>
            </a:r>
            <a:endParaRPr lang="zh-CN" altLang="en-US" sz="2000">
              <a:solidFill>
                <a:srgbClr val="FF0000"/>
              </a:solidFill>
              <a:latin typeface="Consolas" pitchFamily="49" charset="0"/>
              <a:ea typeface="仿宋" pitchFamily="49" charset="-122"/>
              <a:cs typeface="Times New Roman" pitchFamily="18" charset="0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571472" y="500043"/>
            <a:ext cx="1071570" cy="928693"/>
            <a:chOff x="6862060" y="4310903"/>
            <a:chExt cx="1128915" cy="1130667"/>
          </a:xfrm>
        </p:grpSpPr>
        <p:grpSp>
          <p:nvGrpSpPr>
            <p:cNvPr id="60" name="Group 103"/>
            <p:cNvGrpSpPr>
              <a:grpSpLocks/>
            </p:cNvGrpSpPr>
            <p:nvPr/>
          </p:nvGrpSpPr>
          <p:grpSpPr bwMode="auto">
            <a:xfrm>
              <a:off x="6862060" y="4310903"/>
              <a:ext cx="1128915" cy="1130667"/>
              <a:chOff x="2880" y="1515"/>
              <a:chExt cx="644" cy="645"/>
            </a:xfrm>
          </p:grpSpPr>
          <p:sp>
            <p:nvSpPr>
              <p:cNvPr id="62" name="Oval 104"/>
              <p:cNvSpPr>
                <a:spLocks noChangeArrowheads="1"/>
              </p:cNvSpPr>
              <p:nvPr/>
            </p:nvSpPr>
            <p:spPr bwMode="auto">
              <a:xfrm>
                <a:off x="2880" y="1516"/>
                <a:ext cx="644" cy="644"/>
              </a:xfrm>
              <a:prstGeom prst="ellipse">
                <a:avLst/>
              </a:prstGeom>
              <a:gradFill rotWithShape="1">
                <a:gsLst>
                  <a:gs pos="0">
                    <a:srgbClr val="10942F"/>
                  </a:gs>
                  <a:gs pos="100000">
                    <a:srgbClr val="16D83B"/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" name="Freeform 105"/>
              <p:cNvSpPr>
                <a:spLocks/>
              </p:cNvSpPr>
              <p:nvPr/>
            </p:nvSpPr>
            <p:spPr bwMode="auto">
              <a:xfrm>
                <a:off x="2887" y="1515"/>
                <a:ext cx="630" cy="441"/>
              </a:xfrm>
              <a:custGeom>
                <a:avLst/>
                <a:gdLst/>
                <a:ahLst/>
                <a:cxnLst>
                  <a:cxn ang="0">
                    <a:pos x="1400" y="275"/>
                  </a:cxn>
                  <a:cxn ang="0">
                    <a:pos x="1596" y="795"/>
                  </a:cxn>
                  <a:cxn ang="0">
                    <a:pos x="0" y="795"/>
                  </a:cxn>
                  <a:cxn ang="0">
                    <a:pos x="217" y="252"/>
                  </a:cxn>
                  <a:cxn ang="0">
                    <a:pos x="796" y="0"/>
                  </a:cxn>
                  <a:cxn ang="0">
                    <a:pos x="1400" y="275"/>
                  </a:cxn>
                </a:cxnLst>
                <a:rect l="0" t="0" r="r" b="b"/>
                <a:pathLst>
                  <a:path w="1596" h="1118">
                    <a:moveTo>
                      <a:pt x="1400" y="275"/>
                    </a:moveTo>
                    <a:cubicBezTo>
                      <a:pt x="1522" y="417"/>
                      <a:pt x="1596" y="597"/>
                      <a:pt x="1596" y="795"/>
                    </a:cubicBezTo>
                    <a:cubicBezTo>
                      <a:pt x="1037" y="1118"/>
                      <a:pt x="668" y="611"/>
                      <a:pt x="0" y="795"/>
                    </a:cubicBezTo>
                    <a:cubicBezTo>
                      <a:pt x="0" y="585"/>
                      <a:pt x="83" y="392"/>
                      <a:pt x="217" y="252"/>
                    </a:cubicBezTo>
                    <a:cubicBezTo>
                      <a:pt x="364" y="95"/>
                      <a:pt x="570" y="0"/>
                      <a:pt x="796" y="0"/>
                    </a:cubicBezTo>
                    <a:cubicBezTo>
                      <a:pt x="1039" y="0"/>
                      <a:pt x="1253" y="108"/>
                      <a:pt x="1400" y="275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chemeClr val="bg1">
                      <a:alpha val="53000"/>
                    </a:schemeClr>
                  </a:gs>
                  <a:gs pos="100000">
                    <a:schemeClr val="bg1">
                      <a:gamma/>
                      <a:shade val="46275"/>
                      <a:invGamma/>
                      <a:alpha val="0"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1" name="Text Box 71"/>
            <p:cNvSpPr txBox="1">
              <a:spLocks noChangeArrowheads="1"/>
            </p:cNvSpPr>
            <p:nvPr/>
          </p:nvSpPr>
          <p:spPr bwMode="auto">
            <a:xfrm>
              <a:off x="7012582" y="4667550"/>
              <a:ext cx="842077" cy="4121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示例</a:t>
              </a:r>
              <a:endParaRPr lang="en-GB" altLang="zh-CN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65" name="灯片编号占位符 6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87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42844" y="482814"/>
            <a:ext cx="8786874" cy="363788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44000" bIns="144000" rtlCol="0">
            <a:spAutoFit/>
          </a:bodyPr>
          <a:lstStyle/>
          <a:p>
            <a:pPr algn="l" defTabSz="360000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maxsubsum51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a[],int low,int high) {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分治算法</a:t>
            </a:r>
          </a:p>
          <a:p>
            <a:pPr algn="l" defTabSz="360000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 (low==high)					//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子序列只有一个元素时</a:t>
            </a:r>
          </a:p>
          <a:p>
            <a:pPr algn="l" defTabSz="360000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return max(a[low],0);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900"/>
              </a:lnSpc>
              <a:spcBef>
                <a:spcPts val="0"/>
              </a:spcBef>
            </a:pPr>
            <a:endParaRPr lang="en-US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int mid=(low+high)/2;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求中间位置</a:t>
            </a:r>
          </a:p>
          <a:p>
            <a:pPr algn="l" defTabSz="360000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int maxLeftSum=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maxsubsum51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(a,low,mid);	</a:t>
            </a:r>
          </a:p>
          <a:p>
            <a:pPr algn="l" defTabSz="360000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求左边的最大连续子序列之和</a:t>
            </a:r>
          </a:p>
          <a:p>
            <a:pPr algn="l" defTabSz="360000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int maxRightSum=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maxsubsum51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(a,mid+1,high);		</a:t>
            </a:r>
          </a:p>
          <a:p>
            <a:pPr algn="l" defTabSz="360000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求右边的最大连续子序列之和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88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14282" y="214290"/>
            <a:ext cx="8786874" cy="6322345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maxLeftBorderSum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=0,lowBorderSum=0;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for (int i=mid;i&gt;=low;i--) {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求左段最大连续子序列和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lowBorderSum+=a[i];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if (lowBorderSum&gt;maxLeftBorderSum)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		maxLeftBorderSum=lowBorderSum;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int 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maxRightBorderSum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=0,highBorderSum=0;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for (int j=mid+1;j&lt;=high;j++) {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求右段最大连续子序列和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highBorderSum+=a[j];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	if (highBorderSum&gt;maxRightBorderSum)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  	maxRightBorderSum=highBorderSum;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}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int ans=max(max(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maxLeftSum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,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maxRightSum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),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maxLeftBorderSum+maxRightBorderSum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return max(ans,0);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 b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89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071538" y="571480"/>
            <a:ext cx="6000824" cy="1756992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maxsubsum5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a[],int n) {	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算法</a:t>
            </a:r>
            <a:r>
              <a:rPr lang="en-US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5:</a:t>
            </a:r>
            <a:r>
              <a:rPr lang="zh-CN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求</a:t>
            </a:r>
            <a:r>
              <a:rPr lang="en-US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序列中最大连续子序列和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return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maxsubsum51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(a,0,n-1);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57224" y="3643314"/>
            <a:ext cx="6429420" cy="98331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44000" bIns="144000" rtlCol="0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T(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)=1				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当</a:t>
            </a:r>
            <a:r>
              <a:rPr lang="en-US" altLang="zh-CN" sz="2000" i="1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=1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T(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)=2T(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/2)+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当</a:t>
            </a:r>
            <a:r>
              <a:rPr lang="en-US" altLang="zh-CN" sz="2000" i="1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&gt;1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14414" y="5214950"/>
            <a:ext cx="27146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T(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)=O(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log</a:t>
            </a:r>
            <a:r>
              <a:rPr lang="en-US" altLang="zh-CN" sz="2200" baseline="-2500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)</a:t>
            </a:r>
            <a:endParaRPr lang="zh-CN" altLang="en-US" sz="220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8" name="下箭头 7"/>
          <p:cNvSpPr/>
          <p:nvPr/>
        </p:nvSpPr>
        <p:spPr>
          <a:xfrm>
            <a:off x="2071670" y="4714884"/>
            <a:ext cx="214314" cy="357190"/>
          </a:xfrm>
          <a:prstGeom prst="downArrow">
            <a:avLst/>
          </a:prstGeom>
          <a:ln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90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0034" y="1469187"/>
            <a:ext cx="8143932" cy="3245697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defTabSz="360000">
              <a:lnSpc>
                <a:spcPts val="3300"/>
              </a:lnSpc>
              <a:spcBef>
                <a:spcPts val="6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4.8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主元素（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LintCode46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★）。给定一个大小为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的数组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，设计一个算法求其中的主元素。主元素是指在数组中出现次数大于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sym typeface="Symbol"/>
              </a:rPr>
              <a:t>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/2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sym typeface="Symbol"/>
              </a:rPr>
              <a:t>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的元素。可以假设中给定的非空数组中总是存在主元素。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3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例如数组为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，结果为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3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要求设计如下成员函数：</a:t>
            </a:r>
          </a:p>
          <a:p>
            <a:pPr algn="l" defTabSz="360000">
              <a:lnSpc>
                <a:spcPts val="33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		int majorityNumber(vector&lt;int&gt;&amp; nums) { }</a:t>
            </a:r>
            <a:endParaRPr lang="zh-CN" altLang="en-US" sz="2000">
              <a:solidFill>
                <a:srgbClr val="0066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928662" y="285728"/>
            <a:ext cx="1041400" cy="1044575"/>
            <a:chOff x="857224" y="1071546"/>
            <a:chExt cx="1041400" cy="1044575"/>
          </a:xfrm>
        </p:grpSpPr>
        <p:sp>
          <p:nvSpPr>
            <p:cNvPr id="6" name="Freeform 8"/>
            <p:cNvSpPr>
              <a:spLocks noEditPoints="1"/>
            </p:cNvSpPr>
            <p:nvPr/>
          </p:nvSpPr>
          <p:spPr bwMode="auto">
            <a:xfrm>
              <a:off x="857224" y="1071546"/>
              <a:ext cx="1041400" cy="1044575"/>
            </a:xfrm>
            <a:custGeom>
              <a:avLst/>
              <a:gdLst>
                <a:gd name="T0" fmla="*/ 964145 w 337"/>
                <a:gd name="T1" fmla="*/ 540830 h 338"/>
                <a:gd name="T2" fmla="*/ 964145 w 337"/>
                <a:gd name="T3" fmla="*/ 494473 h 338"/>
                <a:gd name="T4" fmla="*/ 1041400 w 337"/>
                <a:gd name="T5" fmla="*/ 441936 h 338"/>
                <a:gd name="T6" fmla="*/ 1007408 w 337"/>
                <a:gd name="T7" fmla="*/ 321408 h 338"/>
                <a:gd name="T8" fmla="*/ 914701 w 337"/>
                <a:gd name="T9" fmla="*/ 318317 h 338"/>
                <a:gd name="T10" fmla="*/ 889980 w 337"/>
                <a:gd name="T11" fmla="*/ 275051 h 338"/>
                <a:gd name="T12" fmla="*/ 930153 w 337"/>
                <a:gd name="T13" fmla="*/ 191608 h 338"/>
                <a:gd name="T14" fmla="*/ 843627 w 337"/>
                <a:gd name="T15" fmla="*/ 105076 h 338"/>
                <a:gd name="T16" fmla="*/ 760191 w 337"/>
                <a:gd name="T17" fmla="*/ 148342 h 338"/>
                <a:gd name="T18" fmla="*/ 716928 w 337"/>
                <a:gd name="T19" fmla="*/ 123618 h 338"/>
                <a:gd name="T20" fmla="*/ 710748 w 337"/>
                <a:gd name="T21" fmla="*/ 30905 h 338"/>
                <a:gd name="T22" fmla="*/ 652034 w 337"/>
                <a:gd name="T23" fmla="*/ 15452 h 338"/>
                <a:gd name="T24" fmla="*/ 590230 w 337"/>
                <a:gd name="T25" fmla="*/ 0 h 338"/>
                <a:gd name="T26" fmla="*/ 540786 w 337"/>
                <a:gd name="T27" fmla="*/ 77261 h 338"/>
                <a:gd name="T28" fmla="*/ 494433 w 337"/>
                <a:gd name="T29" fmla="*/ 77261 h 338"/>
                <a:gd name="T30" fmla="*/ 441900 w 337"/>
                <a:gd name="T31" fmla="*/ 3090 h 338"/>
                <a:gd name="T32" fmla="*/ 321382 w 337"/>
                <a:gd name="T33" fmla="*/ 33995 h 338"/>
                <a:gd name="T34" fmla="*/ 318291 w 337"/>
                <a:gd name="T35" fmla="*/ 126709 h 338"/>
                <a:gd name="T36" fmla="*/ 275028 w 337"/>
                <a:gd name="T37" fmla="*/ 151432 h 338"/>
                <a:gd name="T38" fmla="*/ 191593 w 337"/>
                <a:gd name="T39" fmla="*/ 111257 h 338"/>
                <a:gd name="T40" fmla="*/ 105067 w 337"/>
                <a:gd name="T41" fmla="*/ 200880 h 338"/>
                <a:gd name="T42" fmla="*/ 148330 w 337"/>
                <a:gd name="T43" fmla="*/ 281232 h 338"/>
                <a:gd name="T44" fmla="*/ 123608 w 337"/>
                <a:gd name="T45" fmla="*/ 324498 h 338"/>
                <a:gd name="T46" fmla="*/ 30902 w 337"/>
                <a:gd name="T47" fmla="*/ 330679 h 338"/>
                <a:gd name="T48" fmla="*/ 15451 w 337"/>
                <a:gd name="T49" fmla="*/ 392488 h 338"/>
                <a:gd name="T50" fmla="*/ 0 w 337"/>
                <a:gd name="T51" fmla="*/ 451207 h 338"/>
                <a:gd name="T52" fmla="*/ 77255 w 337"/>
                <a:gd name="T53" fmla="*/ 500654 h 338"/>
                <a:gd name="T54" fmla="*/ 77255 w 337"/>
                <a:gd name="T55" fmla="*/ 550102 h 338"/>
                <a:gd name="T56" fmla="*/ 0 w 337"/>
                <a:gd name="T57" fmla="*/ 602639 h 338"/>
                <a:gd name="T58" fmla="*/ 33992 w 337"/>
                <a:gd name="T59" fmla="*/ 723167 h 338"/>
                <a:gd name="T60" fmla="*/ 126699 w 337"/>
                <a:gd name="T61" fmla="*/ 726258 h 338"/>
                <a:gd name="T62" fmla="*/ 151420 w 337"/>
                <a:gd name="T63" fmla="*/ 766434 h 338"/>
                <a:gd name="T64" fmla="*/ 111247 w 337"/>
                <a:gd name="T65" fmla="*/ 849876 h 338"/>
                <a:gd name="T66" fmla="*/ 200864 w 337"/>
                <a:gd name="T67" fmla="*/ 939499 h 338"/>
                <a:gd name="T68" fmla="*/ 281209 w 337"/>
                <a:gd name="T69" fmla="*/ 896233 h 338"/>
                <a:gd name="T70" fmla="*/ 324472 w 337"/>
                <a:gd name="T71" fmla="*/ 920957 h 338"/>
                <a:gd name="T72" fmla="*/ 330652 w 337"/>
                <a:gd name="T73" fmla="*/ 1013670 h 338"/>
                <a:gd name="T74" fmla="*/ 389366 w 337"/>
                <a:gd name="T75" fmla="*/ 1029123 h 338"/>
                <a:gd name="T76" fmla="*/ 451170 w 337"/>
                <a:gd name="T77" fmla="*/ 1044575 h 338"/>
                <a:gd name="T78" fmla="*/ 500614 w 337"/>
                <a:gd name="T79" fmla="*/ 964223 h 338"/>
                <a:gd name="T80" fmla="*/ 550057 w 337"/>
                <a:gd name="T81" fmla="*/ 964223 h 338"/>
                <a:gd name="T82" fmla="*/ 602591 w 337"/>
                <a:gd name="T83" fmla="*/ 1041485 h 338"/>
                <a:gd name="T84" fmla="*/ 720018 w 337"/>
                <a:gd name="T85" fmla="*/ 1007489 h 338"/>
                <a:gd name="T86" fmla="*/ 726199 w 337"/>
                <a:gd name="T87" fmla="*/ 914776 h 338"/>
                <a:gd name="T88" fmla="*/ 766372 w 337"/>
                <a:gd name="T89" fmla="*/ 890052 h 338"/>
                <a:gd name="T90" fmla="*/ 849807 w 337"/>
                <a:gd name="T91" fmla="*/ 933318 h 338"/>
                <a:gd name="T92" fmla="*/ 936333 w 337"/>
                <a:gd name="T93" fmla="*/ 843695 h 338"/>
                <a:gd name="T94" fmla="*/ 896160 w 337"/>
                <a:gd name="T95" fmla="*/ 760253 h 338"/>
                <a:gd name="T96" fmla="*/ 917792 w 337"/>
                <a:gd name="T97" fmla="*/ 720077 h 338"/>
                <a:gd name="T98" fmla="*/ 1010498 w 337"/>
                <a:gd name="T99" fmla="*/ 713896 h 338"/>
                <a:gd name="T100" fmla="*/ 1025949 w 337"/>
                <a:gd name="T101" fmla="*/ 652087 h 338"/>
                <a:gd name="T102" fmla="*/ 1041400 w 337"/>
                <a:gd name="T103" fmla="*/ 593368 h 338"/>
                <a:gd name="T104" fmla="*/ 964145 w 337"/>
                <a:gd name="T105" fmla="*/ 540830 h 338"/>
                <a:gd name="T106" fmla="*/ 432629 w 337"/>
                <a:gd name="T107" fmla="*/ 868419 h 338"/>
                <a:gd name="T108" fmla="*/ 176142 w 337"/>
                <a:gd name="T109" fmla="*/ 432664 h 338"/>
                <a:gd name="T110" fmla="*/ 611861 w 337"/>
                <a:gd name="T111" fmla="*/ 176156 h 338"/>
                <a:gd name="T112" fmla="*/ 868348 w 337"/>
                <a:gd name="T113" fmla="*/ 611911 h 338"/>
                <a:gd name="T114" fmla="*/ 432629 w 337"/>
                <a:gd name="T115" fmla="*/ 868419 h 33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37" h="338">
                  <a:moveTo>
                    <a:pt x="312" y="175"/>
                  </a:moveTo>
                  <a:cubicBezTo>
                    <a:pt x="312" y="170"/>
                    <a:pt x="312" y="165"/>
                    <a:pt x="312" y="160"/>
                  </a:cubicBezTo>
                  <a:cubicBezTo>
                    <a:pt x="337" y="143"/>
                    <a:pt x="337" y="143"/>
                    <a:pt x="337" y="143"/>
                  </a:cubicBezTo>
                  <a:cubicBezTo>
                    <a:pt x="326" y="104"/>
                    <a:pt x="326" y="104"/>
                    <a:pt x="326" y="104"/>
                  </a:cubicBezTo>
                  <a:cubicBezTo>
                    <a:pt x="296" y="103"/>
                    <a:pt x="296" y="103"/>
                    <a:pt x="296" y="103"/>
                  </a:cubicBezTo>
                  <a:cubicBezTo>
                    <a:pt x="294" y="98"/>
                    <a:pt x="291" y="94"/>
                    <a:pt x="288" y="89"/>
                  </a:cubicBezTo>
                  <a:cubicBezTo>
                    <a:pt x="301" y="62"/>
                    <a:pt x="301" y="62"/>
                    <a:pt x="301" y="62"/>
                  </a:cubicBezTo>
                  <a:cubicBezTo>
                    <a:pt x="273" y="34"/>
                    <a:pt x="273" y="34"/>
                    <a:pt x="273" y="34"/>
                  </a:cubicBezTo>
                  <a:cubicBezTo>
                    <a:pt x="246" y="48"/>
                    <a:pt x="246" y="48"/>
                    <a:pt x="246" y="48"/>
                  </a:cubicBezTo>
                  <a:cubicBezTo>
                    <a:pt x="242" y="45"/>
                    <a:pt x="237" y="42"/>
                    <a:pt x="232" y="40"/>
                  </a:cubicBezTo>
                  <a:cubicBezTo>
                    <a:pt x="230" y="10"/>
                    <a:pt x="230" y="10"/>
                    <a:pt x="230" y="10"/>
                  </a:cubicBezTo>
                  <a:cubicBezTo>
                    <a:pt x="211" y="5"/>
                    <a:pt x="211" y="5"/>
                    <a:pt x="211" y="5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75" y="25"/>
                    <a:pt x="175" y="25"/>
                    <a:pt x="175" y="25"/>
                  </a:cubicBezTo>
                  <a:cubicBezTo>
                    <a:pt x="170" y="25"/>
                    <a:pt x="165" y="25"/>
                    <a:pt x="160" y="25"/>
                  </a:cubicBezTo>
                  <a:cubicBezTo>
                    <a:pt x="143" y="1"/>
                    <a:pt x="143" y="1"/>
                    <a:pt x="143" y="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4"/>
                    <a:pt x="93" y="46"/>
                    <a:pt x="89" y="49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48" y="91"/>
                    <a:pt x="48" y="91"/>
                    <a:pt x="48" y="91"/>
                  </a:cubicBezTo>
                  <a:cubicBezTo>
                    <a:pt x="45" y="96"/>
                    <a:pt x="42" y="100"/>
                    <a:pt x="40" y="105"/>
                  </a:cubicBezTo>
                  <a:cubicBezTo>
                    <a:pt x="10" y="107"/>
                    <a:pt x="10" y="107"/>
                    <a:pt x="10" y="107"/>
                  </a:cubicBezTo>
                  <a:cubicBezTo>
                    <a:pt x="5" y="127"/>
                    <a:pt x="5" y="127"/>
                    <a:pt x="5" y="127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25" y="162"/>
                    <a:pt x="25" y="162"/>
                    <a:pt x="25" y="162"/>
                  </a:cubicBezTo>
                  <a:cubicBezTo>
                    <a:pt x="25" y="168"/>
                    <a:pt x="25" y="173"/>
                    <a:pt x="25" y="178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11" y="234"/>
                    <a:pt x="11" y="234"/>
                    <a:pt x="11" y="234"/>
                  </a:cubicBezTo>
                  <a:cubicBezTo>
                    <a:pt x="41" y="235"/>
                    <a:pt x="41" y="235"/>
                    <a:pt x="41" y="235"/>
                  </a:cubicBezTo>
                  <a:cubicBezTo>
                    <a:pt x="44" y="240"/>
                    <a:pt x="46" y="244"/>
                    <a:pt x="49" y="248"/>
                  </a:cubicBezTo>
                  <a:cubicBezTo>
                    <a:pt x="36" y="275"/>
                    <a:pt x="36" y="275"/>
                    <a:pt x="36" y="275"/>
                  </a:cubicBezTo>
                  <a:cubicBezTo>
                    <a:pt x="65" y="304"/>
                    <a:pt x="65" y="304"/>
                    <a:pt x="65" y="304"/>
                  </a:cubicBezTo>
                  <a:cubicBezTo>
                    <a:pt x="91" y="290"/>
                    <a:pt x="91" y="290"/>
                    <a:pt x="91" y="290"/>
                  </a:cubicBezTo>
                  <a:cubicBezTo>
                    <a:pt x="96" y="293"/>
                    <a:pt x="100" y="295"/>
                    <a:pt x="105" y="298"/>
                  </a:cubicBezTo>
                  <a:cubicBezTo>
                    <a:pt x="107" y="328"/>
                    <a:pt x="107" y="328"/>
                    <a:pt x="107" y="328"/>
                  </a:cubicBezTo>
                  <a:cubicBezTo>
                    <a:pt x="126" y="333"/>
                    <a:pt x="126" y="333"/>
                    <a:pt x="126" y="333"/>
                  </a:cubicBezTo>
                  <a:cubicBezTo>
                    <a:pt x="146" y="338"/>
                    <a:pt x="146" y="338"/>
                    <a:pt x="146" y="338"/>
                  </a:cubicBezTo>
                  <a:cubicBezTo>
                    <a:pt x="162" y="312"/>
                    <a:pt x="162" y="312"/>
                    <a:pt x="162" y="312"/>
                  </a:cubicBezTo>
                  <a:cubicBezTo>
                    <a:pt x="167" y="313"/>
                    <a:pt x="173" y="313"/>
                    <a:pt x="178" y="312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233" y="326"/>
                    <a:pt x="233" y="326"/>
                    <a:pt x="233" y="326"/>
                  </a:cubicBezTo>
                  <a:cubicBezTo>
                    <a:pt x="235" y="296"/>
                    <a:pt x="235" y="296"/>
                    <a:pt x="235" y="296"/>
                  </a:cubicBezTo>
                  <a:cubicBezTo>
                    <a:pt x="239" y="294"/>
                    <a:pt x="244" y="291"/>
                    <a:pt x="248" y="288"/>
                  </a:cubicBezTo>
                  <a:cubicBezTo>
                    <a:pt x="275" y="302"/>
                    <a:pt x="275" y="302"/>
                    <a:pt x="275" y="302"/>
                  </a:cubicBezTo>
                  <a:cubicBezTo>
                    <a:pt x="303" y="273"/>
                    <a:pt x="303" y="273"/>
                    <a:pt x="303" y="273"/>
                  </a:cubicBezTo>
                  <a:cubicBezTo>
                    <a:pt x="290" y="246"/>
                    <a:pt x="290" y="246"/>
                    <a:pt x="290" y="246"/>
                  </a:cubicBezTo>
                  <a:cubicBezTo>
                    <a:pt x="293" y="242"/>
                    <a:pt x="295" y="237"/>
                    <a:pt x="297" y="233"/>
                  </a:cubicBezTo>
                  <a:cubicBezTo>
                    <a:pt x="327" y="231"/>
                    <a:pt x="327" y="231"/>
                    <a:pt x="327" y="231"/>
                  </a:cubicBezTo>
                  <a:cubicBezTo>
                    <a:pt x="332" y="211"/>
                    <a:pt x="332" y="211"/>
                    <a:pt x="332" y="211"/>
                  </a:cubicBezTo>
                  <a:cubicBezTo>
                    <a:pt x="337" y="192"/>
                    <a:pt x="337" y="192"/>
                    <a:pt x="337" y="192"/>
                  </a:cubicBezTo>
                  <a:lnTo>
                    <a:pt x="312" y="175"/>
                  </a:lnTo>
                  <a:close/>
                  <a:moveTo>
                    <a:pt x="140" y="281"/>
                  </a:moveTo>
                  <a:cubicBezTo>
                    <a:pt x="78" y="265"/>
                    <a:pt x="41" y="202"/>
                    <a:pt x="57" y="140"/>
                  </a:cubicBezTo>
                  <a:cubicBezTo>
                    <a:pt x="73" y="78"/>
                    <a:pt x="136" y="41"/>
                    <a:pt x="198" y="57"/>
                  </a:cubicBezTo>
                  <a:cubicBezTo>
                    <a:pt x="259" y="73"/>
                    <a:pt x="297" y="136"/>
                    <a:pt x="281" y="198"/>
                  </a:cubicBezTo>
                  <a:cubicBezTo>
                    <a:pt x="265" y="260"/>
                    <a:pt x="202" y="297"/>
                    <a:pt x="140" y="281"/>
                  </a:cubicBezTo>
                  <a:close/>
                </a:path>
              </a:pathLst>
            </a:custGeom>
            <a:solidFill>
              <a:srgbClr val="1848C0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" name="Rectangle 16"/>
            <p:cNvSpPr>
              <a:spLocks noChangeArrowheads="1"/>
            </p:cNvSpPr>
            <p:nvPr/>
          </p:nvSpPr>
          <p:spPr bwMode="auto">
            <a:xfrm>
              <a:off x="1066774" y="1399481"/>
              <a:ext cx="663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2000" spc="5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华文中宋" pitchFamily="2" charset="-122"/>
                  <a:ea typeface="华文中宋" pitchFamily="2" charset="-122"/>
                </a:rPr>
                <a:t>实例</a:t>
              </a:r>
              <a:endParaRPr lang="zh-CN" altLang="zh-CN" sz="2000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91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0034" y="703851"/>
            <a:ext cx="500066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4282" y="1456065"/>
            <a:ext cx="8715436" cy="233012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 defTabSz="360000">
              <a:lnSpc>
                <a:spcPts val="33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分解</a:t>
            </a:r>
            <a:r>
              <a:rPr lang="zh-CN" altLang="zh-CN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求出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mid=(low+high)/2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，将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nums[low..high]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分解成两个子序列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nums[low..mid]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nums[mid+1..high]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，即将整个问题分解为两个相似的子问题。</a:t>
            </a:r>
          </a:p>
          <a:p>
            <a:pPr marL="457200" indent="-457200" algn="l" defTabSz="360000">
              <a:lnSpc>
                <a:spcPts val="3300"/>
              </a:lnSpc>
              <a:spcBef>
                <a:spcPts val="1200"/>
              </a:spcBef>
              <a:buBlip>
                <a:blip r:embed="rId3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求解子问题</a:t>
            </a:r>
            <a:r>
              <a:rPr lang="zh-CN" altLang="zh-CN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求出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nums[low..mid]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中主元素为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leftmaj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，求出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nums[mid+1..high]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中主元素为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rightmaj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5852" y="675333"/>
            <a:ext cx="4857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nums[low..high]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的分治策略：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92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857232"/>
            <a:ext cx="8715436" cy="3465051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 defTabSz="360000">
              <a:lnSpc>
                <a:spcPts val="35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合并</a:t>
            </a:r>
            <a:r>
              <a:rPr lang="zh-CN" altLang="zh-CN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：</a:t>
            </a:r>
            <a:r>
              <a:rPr lang="zh-CN" altLang="en-US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leftmaj=rightmaj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，它就是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nums[low..high]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的主元素。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35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求出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leftmaj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nums[low..high]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的出现次数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leftcnt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rightmaj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nums[low..high]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的出现次数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rightcnt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35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</a:t>
            </a:r>
            <a:r>
              <a:rPr lang="zh-CN" altLang="en-US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 ①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若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leftcnt&gt;rightcnt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，则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leftmaj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是主元素</a:t>
            </a:r>
            <a:r>
              <a:rPr lang="zh-CN" altLang="en-US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 defTabSz="360000">
              <a:lnSpc>
                <a:spcPts val="3500"/>
              </a:lnSpc>
              <a:spcBef>
                <a:spcPts val="600"/>
              </a:spcBef>
            </a:pP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		</a:t>
            </a:r>
            <a:r>
              <a:rPr lang="zh-CN" altLang="en-US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 ②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否则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rightmaj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是主元素。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93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428604"/>
            <a:ext cx="8786874" cy="2880954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class Solution 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public: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int 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majorityNumber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(vector&lt;int&gt;&amp; nums) 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	int n=nums.size();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if(n==1) return nums[0];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return 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majore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(nums,0,n-1);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94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428604"/>
            <a:ext cx="8786874" cy="4035116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 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majore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(vector&lt;int&gt; &amp;nums,int low,int high) 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if(low==high)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	return nums[low];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	int mid=(low+high)/2;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	int leftmaj=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majore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(nums,low,mid);	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求左区间中的主元素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leftmaj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	int rightmaj=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majore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(nums,mid+1,high);		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求右区间中的主元素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rightmaj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	if(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leftmaj==rightmaj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	return leftmaj;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95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285728"/>
            <a:ext cx="8786874" cy="5116886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	else 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	int leftcnt=0;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 	for(int i=low;i&lt;=high;i++)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求左区间中的次数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leftcnt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  	if(nums[i]==leftmaj) leftcnt++;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 	int rightcnt=0;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6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 	for(int i=low;i&lt;=high;i++)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求右区间中的次数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rightcnt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 		if(nums[i]==rightmaj) rightcnt++;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120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 	if(leftcnt&gt;rightcnt)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   	return leftmaj;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		else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  			return rightmaj;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  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6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4" name="组合 9"/>
          <p:cNvGrpSpPr/>
          <p:nvPr/>
        </p:nvGrpSpPr>
        <p:grpSpPr>
          <a:xfrm>
            <a:off x="642910" y="5715016"/>
            <a:ext cx="7000924" cy="461665"/>
            <a:chOff x="1071538" y="6286520"/>
            <a:chExt cx="7000924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1857356" y="6286520"/>
              <a:ext cx="62151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执行用时为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41ms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，内存消耗为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5.37MB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。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71538" y="6286520"/>
              <a:ext cx="785818" cy="441018"/>
            </a:xfrm>
            <a:prstGeom prst="rect">
              <a:avLst/>
            </a:prstGeom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Eras Bold ITC" pitchFamily="34" charset="0"/>
                  <a:ea typeface="仿宋" pitchFamily="49" charset="-122"/>
                  <a:cs typeface="Courier New" pitchFamily="49" charset="0"/>
                </a:rPr>
                <a:t>EXE</a:t>
              </a:r>
              <a:endParaRPr lang="zh-CN" altLang="en-US" sz="2000">
                <a:solidFill>
                  <a:srgbClr val="FF3300"/>
                </a:solidFill>
                <a:latin typeface="Forte" pitchFamily="66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96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596" y="1428736"/>
            <a:ext cx="8286808" cy="1785104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</a:pPr>
            <a:r>
              <a:rPr lang="en-US" altLang="zh-CN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Consolas" pitchFamily="49" charset="0"/>
              </a:rPr>
              <a:t> </a:t>
            </a:r>
            <a:r>
              <a:rPr lang="pt-BR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sym typeface="Wingdings"/>
              </a:rPr>
              <a:t></a:t>
            </a: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Consolas" pitchFamily="49" charset="0"/>
              </a:rPr>
              <a:t>问题描述</a:t>
            </a:r>
            <a:r>
              <a:rPr lang="zh-CN" altLang="en-US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Consolas" pitchFamily="49" charset="0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有一个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  <a:r>
              <a:rPr lang="en-US" altLang="zh-CN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×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  <a:r>
              <a:rPr lang="en-US" altLang="zh-CN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&gt;0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）的棋盘，恰好有一个方格与其他方格不同，称之为特殊方格。现在要用如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下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型骨牌覆盖除了特殊方格外的其他全部方格，骨牌可以任意旋转，并且任何两个骨牌不能重叠。请给出一种覆盖方法。</a:t>
            </a:r>
          </a:p>
        </p:txBody>
      </p:sp>
      <p:pic>
        <p:nvPicPr>
          <p:cNvPr id="4" name="图片 3" descr="http://115.28.138.223/RequireFile.do?fid=DNHB9nN9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14744" y="3500438"/>
            <a:ext cx="1143008" cy="1071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>
            <a:hlinkClick r:id="" action="ppaction://noaction"/>
          </p:cNvPr>
          <p:cNvSpPr txBox="1"/>
          <p:nvPr/>
        </p:nvSpPr>
        <p:spPr>
          <a:xfrm>
            <a:off x="1857356" y="357166"/>
            <a:ext cx="4680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4.6 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棋盘覆盖问题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97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20" y="714356"/>
            <a:ext cx="8643998" cy="2708434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总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方格数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=2</a:t>
            </a:r>
            <a:r>
              <a:rPr lang="en-US" altLang="zh-CN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×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  <a:r>
              <a:rPr lang="en-US" altLang="zh-CN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=4</a:t>
            </a:r>
            <a:r>
              <a:rPr lang="en-US" altLang="zh-CN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，覆盖使用的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型骨牌个数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=(4</a:t>
            </a:r>
            <a:r>
              <a:rPr lang="en-US" altLang="zh-CN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-1)/3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采用的方法是：将棋盘划分为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4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个大小相同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4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个象限，根据特殊方格的位置</a:t>
            </a:r>
            <a:r>
              <a:rPr lang="zh-CN" altLang="zh-CN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lang="en-US" altLang="zh-CN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dr</a:t>
            </a:r>
            <a:r>
              <a:rPr lang="zh-CN" altLang="zh-CN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dc</a:t>
            </a:r>
            <a:r>
              <a:rPr lang="zh-CN" altLang="zh-CN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，在中间位置放置一个合适的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型骨牌。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例如，如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下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图所示，特殊方格在左上角象限中，在中间放置一个覆盖其他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个象限中各一个方格的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型骨牌。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2910" y="6212823"/>
            <a:ext cx="2571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其他情况类似！</a:t>
            </a:r>
          </a:p>
        </p:txBody>
      </p:sp>
      <p:grpSp>
        <p:nvGrpSpPr>
          <p:cNvPr id="3" name="组合 15"/>
          <p:cNvGrpSpPr/>
          <p:nvPr/>
        </p:nvGrpSpPr>
        <p:grpSpPr>
          <a:xfrm>
            <a:off x="1785918" y="3886146"/>
            <a:ext cx="6357982" cy="2186060"/>
            <a:chOff x="1785918" y="3357562"/>
            <a:chExt cx="6357982" cy="2186060"/>
          </a:xfrm>
        </p:grpSpPr>
        <p:pic>
          <p:nvPicPr>
            <p:cNvPr id="261122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500430" y="3357562"/>
              <a:ext cx="1590675" cy="1628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" name="TextBox 3"/>
            <p:cNvSpPr txBox="1"/>
            <p:nvPr/>
          </p:nvSpPr>
          <p:spPr>
            <a:xfrm>
              <a:off x="2928926" y="5143512"/>
              <a:ext cx="29289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2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特殊方格在左上角象限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  <p:cxnSp>
          <p:nvCxnSpPr>
            <p:cNvPr id="7" name="直接箭头连接符 6"/>
            <p:cNvCxnSpPr/>
            <p:nvPr/>
          </p:nvCxnSpPr>
          <p:spPr>
            <a:xfrm>
              <a:off x="3143240" y="3786190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1785918" y="3541482"/>
              <a:ext cx="135732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2000">
                  <a:solidFill>
                    <a:srgbClr val="C000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（</a:t>
              </a:r>
              <a:r>
                <a:rPr lang="en-US" altLang="zh-CN" sz="2000">
                  <a:solidFill>
                    <a:srgbClr val="C000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dr</a:t>
              </a:r>
              <a:r>
                <a:rPr lang="zh-CN" altLang="zh-CN" sz="2000">
                  <a:solidFill>
                    <a:srgbClr val="C000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，</a:t>
              </a:r>
              <a:r>
                <a:rPr lang="en-US" altLang="zh-CN" sz="2000">
                  <a:solidFill>
                    <a:srgbClr val="C000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dc</a:t>
              </a:r>
              <a:r>
                <a:rPr lang="zh-CN" altLang="zh-CN" sz="2000">
                  <a:solidFill>
                    <a:srgbClr val="C00000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）</a:t>
              </a:r>
              <a:endParaRPr lang="zh-CN" altLang="en-US" sz="20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643570" y="3714752"/>
              <a:ext cx="25003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2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放置一个</a:t>
              </a: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L</a:t>
              </a:r>
              <a:r>
                <a:rPr lang="zh-CN" altLang="zh-CN" sz="2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型骨牌</a:t>
              </a:r>
              <a:endParaRPr lang="zh-CN" altLang="en-US" sz="2000">
                <a:latin typeface="Consolas" pitchFamily="49" charset="0"/>
                <a:cs typeface="Consolas" pitchFamily="49" charset="0"/>
              </a:endParaRPr>
            </a:p>
          </p:txBody>
        </p:sp>
        <p:cxnSp>
          <p:nvCxnSpPr>
            <p:cNvPr id="11" name="直接箭头连接符 10"/>
            <p:cNvCxnSpPr>
              <a:stCxn id="9" idx="1"/>
            </p:cNvCxnSpPr>
            <p:nvPr/>
          </p:nvCxnSpPr>
          <p:spPr>
            <a:xfrm rot="10800000" flipV="1">
              <a:off x="4572000" y="3914806"/>
              <a:ext cx="1071570" cy="15713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5643570" y="4357694"/>
              <a:ext cx="14287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20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中间位置</a:t>
              </a:r>
              <a:endParaRPr lang="zh-CN" altLang="en-US" sz="2000">
                <a:latin typeface="Consolas" pitchFamily="49" charset="0"/>
                <a:cs typeface="Consolas" pitchFamily="49" charset="0"/>
              </a:endParaRPr>
            </a:p>
          </p:txBody>
        </p:sp>
        <p:cxnSp>
          <p:nvCxnSpPr>
            <p:cNvPr id="14" name="直接箭头连接符 13"/>
            <p:cNvCxnSpPr/>
            <p:nvPr/>
          </p:nvCxnSpPr>
          <p:spPr>
            <a:xfrm rot="10800000">
              <a:off x="4286248" y="4214818"/>
              <a:ext cx="1357322" cy="35719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" name="TextBox 12"/>
          <p:cNvSpPr txBox="1"/>
          <p:nvPr/>
        </p:nvSpPr>
        <p:spPr>
          <a:xfrm>
            <a:off x="285720" y="214290"/>
            <a:ext cx="928694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98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8662" y="428604"/>
            <a:ext cx="1357322" cy="769441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200" b="0" i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k</a:t>
            </a:r>
            <a:r>
              <a:rPr lang="en-US" altLang="zh-CN" sz="2200" b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=3</a:t>
            </a:r>
            <a:r>
              <a:rPr lang="zh-CN" altLang="en-US" sz="2200" b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200" b="0" i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altLang="zh-CN" sz="2200" b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=2</a:t>
            </a:r>
            <a:r>
              <a:rPr lang="en-US" altLang="zh-CN" sz="2200" b="0" baseline="3000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3</a:t>
            </a:r>
            <a:r>
              <a:rPr lang="en-US" altLang="zh-CN" sz="2200" b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=8</a:t>
            </a:r>
            <a:endParaRPr lang="zh-CN" altLang="en-US" sz="2200" b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643042" y="1571612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143108" y="1571612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643174" y="1571612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143240" y="1571612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643306" y="1571612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143372" y="1571612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643438" y="1571612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143504" y="1571612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643042" y="2071678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143108" y="2071678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643174" y="2071678"/>
            <a:ext cx="500066" cy="500066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143240" y="2071678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643306" y="2071678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143372" y="2071678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643438" y="2071678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143504" y="2071678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643042" y="2571744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143108" y="2571744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643174" y="2571744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143240" y="2571744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643306" y="2571744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143372" y="2571744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643438" y="2571744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143504" y="2571744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643042" y="3071810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2143108" y="3071810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2643174" y="3071810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143240" y="3071810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3643306" y="3071810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143372" y="3071810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4643438" y="3071810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5143504" y="3071810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643042" y="3571876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143108" y="3571876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643174" y="3571876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3143240" y="3571876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3643306" y="3571876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4143372" y="3571876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4643438" y="3571876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143504" y="3571876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1643042" y="4071942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2143108" y="4071942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2643174" y="4071942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3143240" y="4071942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3643306" y="4071942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4143372" y="4071942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4643438" y="4071942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5143504" y="4071942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1643042" y="4572008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2143108" y="4572008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2643174" y="4572008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3143240" y="4572008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3643306" y="4572008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4143372" y="4572008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4643438" y="4572008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5143504" y="4572008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643042" y="5072074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2143108" y="5072074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2643174" y="5072074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3143240" y="5072074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3643306" y="5072074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4143372" y="5072074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4643438" y="5072074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5143504" y="5072074"/>
            <a:ext cx="500066" cy="5000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grpSp>
        <p:nvGrpSpPr>
          <p:cNvPr id="3" name="组合 236"/>
          <p:cNvGrpSpPr/>
          <p:nvPr/>
        </p:nvGrpSpPr>
        <p:grpSpPr>
          <a:xfrm>
            <a:off x="1643042" y="1571612"/>
            <a:ext cx="1000132" cy="1000132"/>
            <a:chOff x="5072066" y="1357298"/>
            <a:chExt cx="1000132" cy="1000132"/>
          </a:xfrm>
        </p:grpSpPr>
        <p:sp>
          <p:nvSpPr>
            <p:cNvPr id="238" name="矩形 237"/>
            <p:cNvSpPr/>
            <p:nvPr/>
          </p:nvSpPr>
          <p:spPr>
            <a:xfrm>
              <a:off x="5072066" y="1357298"/>
              <a:ext cx="500066" cy="50006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39" name="矩形 238"/>
            <p:cNvSpPr/>
            <p:nvPr/>
          </p:nvSpPr>
          <p:spPr>
            <a:xfrm>
              <a:off x="5572132" y="1357298"/>
              <a:ext cx="500066" cy="50006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40" name="矩形 239"/>
            <p:cNvSpPr/>
            <p:nvPr/>
          </p:nvSpPr>
          <p:spPr>
            <a:xfrm>
              <a:off x="5072066" y="1857364"/>
              <a:ext cx="500066" cy="50006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</p:grpSp>
      <p:grpSp>
        <p:nvGrpSpPr>
          <p:cNvPr id="5" name="组合 240"/>
          <p:cNvGrpSpPr/>
          <p:nvPr/>
        </p:nvGrpSpPr>
        <p:grpSpPr>
          <a:xfrm>
            <a:off x="2643174" y="1571612"/>
            <a:ext cx="1000132" cy="1000132"/>
            <a:chOff x="6072198" y="1357298"/>
            <a:chExt cx="1000132" cy="1000132"/>
          </a:xfrm>
        </p:grpSpPr>
        <p:sp>
          <p:nvSpPr>
            <p:cNvPr id="242" name="矩形 241"/>
            <p:cNvSpPr/>
            <p:nvPr/>
          </p:nvSpPr>
          <p:spPr>
            <a:xfrm>
              <a:off x="6072198" y="1357298"/>
              <a:ext cx="500066" cy="500066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43" name="矩形 242"/>
            <p:cNvSpPr/>
            <p:nvPr/>
          </p:nvSpPr>
          <p:spPr>
            <a:xfrm>
              <a:off x="6572264" y="1357298"/>
              <a:ext cx="500066" cy="500066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44" name="矩形 243"/>
            <p:cNvSpPr/>
            <p:nvPr/>
          </p:nvSpPr>
          <p:spPr>
            <a:xfrm>
              <a:off x="6572264" y="1857364"/>
              <a:ext cx="500066" cy="500066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</p:grpSp>
      <p:grpSp>
        <p:nvGrpSpPr>
          <p:cNvPr id="224" name="组合 244"/>
          <p:cNvGrpSpPr/>
          <p:nvPr/>
        </p:nvGrpSpPr>
        <p:grpSpPr>
          <a:xfrm>
            <a:off x="3643306" y="1571612"/>
            <a:ext cx="1000132" cy="1000132"/>
            <a:chOff x="7072330" y="1357298"/>
            <a:chExt cx="1000132" cy="1000132"/>
          </a:xfrm>
        </p:grpSpPr>
        <p:sp>
          <p:nvSpPr>
            <p:cNvPr id="246" name="矩形 245"/>
            <p:cNvSpPr/>
            <p:nvPr/>
          </p:nvSpPr>
          <p:spPr>
            <a:xfrm>
              <a:off x="7072330" y="1357298"/>
              <a:ext cx="500066" cy="500066"/>
            </a:xfrm>
            <a:prstGeom prst="rect">
              <a:avLst/>
            </a:prstGeom>
            <a:solidFill>
              <a:srgbClr val="3399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8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47" name="矩形 246"/>
            <p:cNvSpPr/>
            <p:nvPr/>
          </p:nvSpPr>
          <p:spPr>
            <a:xfrm>
              <a:off x="7572396" y="1357298"/>
              <a:ext cx="500066" cy="500066"/>
            </a:xfrm>
            <a:prstGeom prst="rect">
              <a:avLst/>
            </a:prstGeom>
            <a:solidFill>
              <a:srgbClr val="3399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8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48" name="矩形 247"/>
            <p:cNvSpPr/>
            <p:nvPr/>
          </p:nvSpPr>
          <p:spPr>
            <a:xfrm>
              <a:off x="7072330" y="1857364"/>
              <a:ext cx="500066" cy="500066"/>
            </a:xfrm>
            <a:prstGeom prst="rect">
              <a:avLst/>
            </a:prstGeom>
            <a:solidFill>
              <a:srgbClr val="3399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8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</p:grpSp>
      <p:grpSp>
        <p:nvGrpSpPr>
          <p:cNvPr id="225" name="组合 248"/>
          <p:cNvGrpSpPr/>
          <p:nvPr/>
        </p:nvGrpSpPr>
        <p:grpSpPr>
          <a:xfrm>
            <a:off x="4643438" y="1571612"/>
            <a:ext cx="1000132" cy="1000132"/>
            <a:chOff x="8072462" y="1357298"/>
            <a:chExt cx="1000132" cy="1000132"/>
          </a:xfrm>
        </p:grpSpPr>
        <p:sp>
          <p:nvSpPr>
            <p:cNvPr id="250" name="矩形 249"/>
            <p:cNvSpPr/>
            <p:nvPr/>
          </p:nvSpPr>
          <p:spPr>
            <a:xfrm>
              <a:off x="8072462" y="1357298"/>
              <a:ext cx="500066" cy="500066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9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51" name="矩形 250"/>
            <p:cNvSpPr/>
            <p:nvPr/>
          </p:nvSpPr>
          <p:spPr>
            <a:xfrm>
              <a:off x="8572528" y="1357298"/>
              <a:ext cx="500066" cy="500066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9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52" name="矩形 251"/>
            <p:cNvSpPr/>
            <p:nvPr/>
          </p:nvSpPr>
          <p:spPr>
            <a:xfrm>
              <a:off x="8572528" y="1857364"/>
              <a:ext cx="500066" cy="500066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9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</p:grpSp>
      <p:grpSp>
        <p:nvGrpSpPr>
          <p:cNvPr id="226" name="组合 252"/>
          <p:cNvGrpSpPr/>
          <p:nvPr/>
        </p:nvGrpSpPr>
        <p:grpSpPr>
          <a:xfrm>
            <a:off x="2143108" y="2071678"/>
            <a:ext cx="1000132" cy="1000132"/>
            <a:chOff x="5572132" y="1857364"/>
            <a:chExt cx="1000132" cy="1000132"/>
          </a:xfrm>
        </p:grpSpPr>
        <p:sp>
          <p:nvSpPr>
            <p:cNvPr id="254" name="矩形 253"/>
            <p:cNvSpPr/>
            <p:nvPr/>
          </p:nvSpPr>
          <p:spPr>
            <a:xfrm>
              <a:off x="5572132" y="1857364"/>
              <a:ext cx="500066" cy="500066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55" name="矩形 254"/>
            <p:cNvSpPr/>
            <p:nvPr/>
          </p:nvSpPr>
          <p:spPr>
            <a:xfrm>
              <a:off x="5572132" y="2357430"/>
              <a:ext cx="500066" cy="500066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56" name="矩形 255"/>
            <p:cNvSpPr/>
            <p:nvPr/>
          </p:nvSpPr>
          <p:spPr>
            <a:xfrm>
              <a:off x="6072198" y="2357430"/>
              <a:ext cx="500066" cy="500066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</p:grpSp>
      <p:grpSp>
        <p:nvGrpSpPr>
          <p:cNvPr id="227" name="组合 256"/>
          <p:cNvGrpSpPr/>
          <p:nvPr/>
        </p:nvGrpSpPr>
        <p:grpSpPr>
          <a:xfrm>
            <a:off x="4143372" y="2071678"/>
            <a:ext cx="1000132" cy="1000132"/>
            <a:chOff x="7572396" y="1857364"/>
            <a:chExt cx="1000132" cy="1000132"/>
          </a:xfrm>
        </p:grpSpPr>
        <p:sp>
          <p:nvSpPr>
            <p:cNvPr id="258" name="矩形 257"/>
            <p:cNvSpPr/>
            <p:nvPr/>
          </p:nvSpPr>
          <p:spPr>
            <a:xfrm>
              <a:off x="7572396" y="1857364"/>
              <a:ext cx="500066" cy="500066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7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59" name="矩形 258"/>
            <p:cNvSpPr/>
            <p:nvPr/>
          </p:nvSpPr>
          <p:spPr>
            <a:xfrm>
              <a:off x="8072462" y="1857364"/>
              <a:ext cx="500066" cy="500066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7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60" name="矩形 259"/>
            <p:cNvSpPr/>
            <p:nvPr/>
          </p:nvSpPr>
          <p:spPr>
            <a:xfrm>
              <a:off x="8072462" y="2357430"/>
              <a:ext cx="500066" cy="500066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7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</p:grpSp>
      <p:grpSp>
        <p:nvGrpSpPr>
          <p:cNvPr id="228" name="组合 260"/>
          <p:cNvGrpSpPr/>
          <p:nvPr/>
        </p:nvGrpSpPr>
        <p:grpSpPr>
          <a:xfrm>
            <a:off x="1643042" y="2571744"/>
            <a:ext cx="1000132" cy="1000132"/>
            <a:chOff x="5072066" y="2357430"/>
            <a:chExt cx="1000132" cy="1000132"/>
          </a:xfrm>
        </p:grpSpPr>
        <p:sp>
          <p:nvSpPr>
            <p:cNvPr id="262" name="矩形 261"/>
            <p:cNvSpPr/>
            <p:nvPr/>
          </p:nvSpPr>
          <p:spPr>
            <a:xfrm>
              <a:off x="5072066" y="2357430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5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63" name="矩形 262"/>
            <p:cNvSpPr/>
            <p:nvPr/>
          </p:nvSpPr>
          <p:spPr>
            <a:xfrm>
              <a:off x="5072066" y="2857496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5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64" name="矩形 263"/>
            <p:cNvSpPr/>
            <p:nvPr/>
          </p:nvSpPr>
          <p:spPr>
            <a:xfrm>
              <a:off x="5572132" y="2857496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5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</p:grpSp>
      <p:grpSp>
        <p:nvGrpSpPr>
          <p:cNvPr id="229" name="组合 264"/>
          <p:cNvGrpSpPr/>
          <p:nvPr/>
        </p:nvGrpSpPr>
        <p:grpSpPr>
          <a:xfrm>
            <a:off x="2643174" y="2571744"/>
            <a:ext cx="1000132" cy="1000132"/>
            <a:chOff x="6072198" y="2357430"/>
            <a:chExt cx="1000132" cy="1000132"/>
          </a:xfrm>
        </p:grpSpPr>
        <p:sp>
          <p:nvSpPr>
            <p:cNvPr id="266" name="矩形 265"/>
            <p:cNvSpPr/>
            <p:nvPr/>
          </p:nvSpPr>
          <p:spPr>
            <a:xfrm>
              <a:off x="6572264" y="2357430"/>
              <a:ext cx="500066" cy="500066"/>
            </a:xfrm>
            <a:prstGeom prst="rect">
              <a:avLst/>
            </a:prstGeom>
            <a:solidFill>
              <a:srgbClr val="FF33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6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67" name="矩形 266"/>
            <p:cNvSpPr/>
            <p:nvPr/>
          </p:nvSpPr>
          <p:spPr>
            <a:xfrm>
              <a:off x="6072198" y="2857496"/>
              <a:ext cx="500066" cy="500066"/>
            </a:xfrm>
            <a:prstGeom prst="rect">
              <a:avLst/>
            </a:prstGeom>
            <a:solidFill>
              <a:srgbClr val="FF33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6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68" name="矩形 267"/>
            <p:cNvSpPr/>
            <p:nvPr/>
          </p:nvSpPr>
          <p:spPr>
            <a:xfrm>
              <a:off x="6572264" y="2857496"/>
              <a:ext cx="500066" cy="500066"/>
            </a:xfrm>
            <a:prstGeom prst="rect">
              <a:avLst/>
            </a:prstGeom>
            <a:solidFill>
              <a:srgbClr val="FF33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6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</p:grpSp>
      <p:grpSp>
        <p:nvGrpSpPr>
          <p:cNvPr id="230" name="组合 268"/>
          <p:cNvGrpSpPr/>
          <p:nvPr/>
        </p:nvGrpSpPr>
        <p:grpSpPr>
          <a:xfrm>
            <a:off x="3643306" y="2571744"/>
            <a:ext cx="1000132" cy="1000132"/>
            <a:chOff x="7072330" y="2357430"/>
            <a:chExt cx="1000132" cy="1000132"/>
          </a:xfrm>
        </p:grpSpPr>
        <p:sp>
          <p:nvSpPr>
            <p:cNvPr id="270" name="矩形 269"/>
            <p:cNvSpPr/>
            <p:nvPr/>
          </p:nvSpPr>
          <p:spPr>
            <a:xfrm>
              <a:off x="7072330" y="2357430"/>
              <a:ext cx="500066" cy="50006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10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71" name="矩形 270"/>
            <p:cNvSpPr/>
            <p:nvPr/>
          </p:nvSpPr>
          <p:spPr>
            <a:xfrm>
              <a:off x="7572396" y="2357430"/>
              <a:ext cx="500066" cy="50006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10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72" name="矩形 271"/>
            <p:cNvSpPr/>
            <p:nvPr/>
          </p:nvSpPr>
          <p:spPr>
            <a:xfrm>
              <a:off x="7572396" y="2857496"/>
              <a:ext cx="500066" cy="50006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10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</p:grpSp>
      <p:grpSp>
        <p:nvGrpSpPr>
          <p:cNvPr id="231" name="组合 272"/>
          <p:cNvGrpSpPr/>
          <p:nvPr/>
        </p:nvGrpSpPr>
        <p:grpSpPr>
          <a:xfrm>
            <a:off x="4643438" y="2571744"/>
            <a:ext cx="1000132" cy="1000132"/>
            <a:chOff x="8072462" y="2357430"/>
            <a:chExt cx="1000132" cy="1000132"/>
          </a:xfrm>
        </p:grpSpPr>
        <p:sp>
          <p:nvSpPr>
            <p:cNvPr id="274" name="矩形 273"/>
            <p:cNvSpPr/>
            <p:nvPr/>
          </p:nvSpPr>
          <p:spPr>
            <a:xfrm>
              <a:off x="8572528" y="2357430"/>
              <a:ext cx="500066" cy="500066"/>
            </a:xfrm>
            <a:prstGeom prst="rect">
              <a:avLst/>
            </a:prstGeom>
            <a:solidFill>
              <a:srgbClr val="3399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11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75" name="矩形 274"/>
            <p:cNvSpPr/>
            <p:nvPr/>
          </p:nvSpPr>
          <p:spPr>
            <a:xfrm>
              <a:off x="8072462" y="2857496"/>
              <a:ext cx="500066" cy="500066"/>
            </a:xfrm>
            <a:prstGeom prst="rect">
              <a:avLst/>
            </a:prstGeom>
            <a:solidFill>
              <a:srgbClr val="3399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11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76" name="矩形 275"/>
            <p:cNvSpPr/>
            <p:nvPr/>
          </p:nvSpPr>
          <p:spPr>
            <a:xfrm>
              <a:off x="8572528" y="2857496"/>
              <a:ext cx="500066" cy="500066"/>
            </a:xfrm>
            <a:prstGeom prst="rect">
              <a:avLst/>
            </a:prstGeom>
            <a:solidFill>
              <a:srgbClr val="3399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11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</p:grpSp>
      <p:grpSp>
        <p:nvGrpSpPr>
          <p:cNvPr id="232" name="组合 276"/>
          <p:cNvGrpSpPr/>
          <p:nvPr/>
        </p:nvGrpSpPr>
        <p:grpSpPr>
          <a:xfrm>
            <a:off x="3143240" y="3071810"/>
            <a:ext cx="1000132" cy="1000132"/>
            <a:chOff x="6572264" y="2857496"/>
            <a:chExt cx="1000132" cy="1000132"/>
          </a:xfrm>
        </p:grpSpPr>
        <p:sp>
          <p:nvSpPr>
            <p:cNvPr id="278" name="矩形 277"/>
            <p:cNvSpPr/>
            <p:nvPr/>
          </p:nvSpPr>
          <p:spPr>
            <a:xfrm>
              <a:off x="7072330" y="2857496"/>
              <a:ext cx="500066" cy="500066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79" name="矩形 278"/>
            <p:cNvSpPr/>
            <p:nvPr/>
          </p:nvSpPr>
          <p:spPr>
            <a:xfrm>
              <a:off x="6572264" y="3357562"/>
              <a:ext cx="500066" cy="500066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80" name="矩形 279"/>
            <p:cNvSpPr/>
            <p:nvPr/>
          </p:nvSpPr>
          <p:spPr>
            <a:xfrm>
              <a:off x="7072330" y="3357562"/>
              <a:ext cx="500066" cy="500066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</p:grpSp>
      <p:grpSp>
        <p:nvGrpSpPr>
          <p:cNvPr id="233" name="组合 280"/>
          <p:cNvGrpSpPr/>
          <p:nvPr/>
        </p:nvGrpSpPr>
        <p:grpSpPr>
          <a:xfrm>
            <a:off x="1643042" y="3571876"/>
            <a:ext cx="1000132" cy="1000132"/>
            <a:chOff x="5072066" y="3357562"/>
            <a:chExt cx="1000132" cy="1000132"/>
          </a:xfrm>
        </p:grpSpPr>
        <p:sp>
          <p:nvSpPr>
            <p:cNvPr id="282" name="矩形 281"/>
            <p:cNvSpPr/>
            <p:nvPr/>
          </p:nvSpPr>
          <p:spPr>
            <a:xfrm>
              <a:off x="5072066" y="3357562"/>
              <a:ext cx="500066" cy="500066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13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83" name="矩形 282"/>
            <p:cNvSpPr/>
            <p:nvPr/>
          </p:nvSpPr>
          <p:spPr>
            <a:xfrm>
              <a:off x="5572132" y="3357562"/>
              <a:ext cx="500066" cy="500066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13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84" name="矩形 283"/>
            <p:cNvSpPr/>
            <p:nvPr/>
          </p:nvSpPr>
          <p:spPr>
            <a:xfrm>
              <a:off x="5072066" y="3857628"/>
              <a:ext cx="500066" cy="500066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13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</p:grpSp>
      <p:grpSp>
        <p:nvGrpSpPr>
          <p:cNvPr id="234" name="组合 284"/>
          <p:cNvGrpSpPr/>
          <p:nvPr/>
        </p:nvGrpSpPr>
        <p:grpSpPr>
          <a:xfrm>
            <a:off x="2643174" y="3571876"/>
            <a:ext cx="1000132" cy="1000132"/>
            <a:chOff x="6072198" y="3357562"/>
            <a:chExt cx="1000132" cy="1000132"/>
          </a:xfrm>
        </p:grpSpPr>
        <p:sp>
          <p:nvSpPr>
            <p:cNvPr id="286" name="矩形 285"/>
            <p:cNvSpPr/>
            <p:nvPr/>
          </p:nvSpPr>
          <p:spPr>
            <a:xfrm>
              <a:off x="6072198" y="3357562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14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87" name="矩形 286"/>
            <p:cNvSpPr/>
            <p:nvPr/>
          </p:nvSpPr>
          <p:spPr>
            <a:xfrm>
              <a:off x="6072198" y="3857628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14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88" name="矩形 287"/>
            <p:cNvSpPr/>
            <p:nvPr/>
          </p:nvSpPr>
          <p:spPr>
            <a:xfrm>
              <a:off x="6572264" y="3857628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14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</p:grpSp>
      <p:grpSp>
        <p:nvGrpSpPr>
          <p:cNvPr id="235" name="组合 288"/>
          <p:cNvGrpSpPr/>
          <p:nvPr/>
        </p:nvGrpSpPr>
        <p:grpSpPr>
          <a:xfrm>
            <a:off x="3643306" y="3571876"/>
            <a:ext cx="1000132" cy="1000132"/>
            <a:chOff x="7072330" y="3357562"/>
            <a:chExt cx="1000132" cy="1000132"/>
          </a:xfrm>
        </p:grpSpPr>
        <p:sp>
          <p:nvSpPr>
            <p:cNvPr id="290" name="矩形 289"/>
            <p:cNvSpPr/>
            <p:nvPr/>
          </p:nvSpPr>
          <p:spPr>
            <a:xfrm>
              <a:off x="7572396" y="3357562"/>
              <a:ext cx="500066" cy="5000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18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91" name="矩形 290"/>
            <p:cNvSpPr/>
            <p:nvPr/>
          </p:nvSpPr>
          <p:spPr>
            <a:xfrm>
              <a:off x="7072330" y="3857628"/>
              <a:ext cx="500066" cy="5000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18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92" name="矩形 291"/>
            <p:cNvSpPr/>
            <p:nvPr/>
          </p:nvSpPr>
          <p:spPr>
            <a:xfrm>
              <a:off x="7572396" y="3857628"/>
              <a:ext cx="500066" cy="5000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18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</p:grpSp>
      <p:grpSp>
        <p:nvGrpSpPr>
          <p:cNvPr id="236" name="组合 292"/>
          <p:cNvGrpSpPr/>
          <p:nvPr/>
        </p:nvGrpSpPr>
        <p:grpSpPr>
          <a:xfrm>
            <a:off x="4643438" y="3571876"/>
            <a:ext cx="1000132" cy="1000132"/>
            <a:chOff x="8072462" y="3357562"/>
            <a:chExt cx="1000132" cy="1000132"/>
          </a:xfrm>
        </p:grpSpPr>
        <p:sp>
          <p:nvSpPr>
            <p:cNvPr id="294" name="矩形 293"/>
            <p:cNvSpPr/>
            <p:nvPr/>
          </p:nvSpPr>
          <p:spPr>
            <a:xfrm>
              <a:off x="8072462" y="3357562"/>
              <a:ext cx="500066" cy="500066"/>
            </a:xfrm>
            <a:prstGeom prst="rect">
              <a:avLst/>
            </a:prstGeom>
            <a:solidFill>
              <a:srgbClr val="99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19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95" name="矩形 294"/>
            <p:cNvSpPr/>
            <p:nvPr/>
          </p:nvSpPr>
          <p:spPr>
            <a:xfrm>
              <a:off x="8572528" y="3357562"/>
              <a:ext cx="500066" cy="500066"/>
            </a:xfrm>
            <a:prstGeom prst="rect">
              <a:avLst/>
            </a:prstGeom>
            <a:solidFill>
              <a:srgbClr val="99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19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96" name="矩形 295"/>
            <p:cNvSpPr/>
            <p:nvPr/>
          </p:nvSpPr>
          <p:spPr>
            <a:xfrm>
              <a:off x="8572528" y="3857628"/>
              <a:ext cx="500066" cy="500066"/>
            </a:xfrm>
            <a:prstGeom prst="rect">
              <a:avLst/>
            </a:prstGeom>
            <a:solidFill>
              <a:srgbClr val="99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19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</p:grpSp>
      <p:grpSp>
        <p:nvGrpSpPr>
          <p:cNvPr id="237" name="组合 296"/>
          <p:cNvGrpSpPr/>
          <p:nvPr/>
        </p:nvGrpSpPr>
        <p:grpSpPr>
          <a:xfrm>
            <a:off x="2143108" y="4071942"/>
            <a:ext cx="1000132" cy="1000132"/>
            <a:chOff x="5572132" y="3857628"/>
            <a:chExt cx="1000132" cy="1000132"/>
          </a:xfrm>
        </p:grpSpPr>
        <p:sp>
          <p:nvSpPr>
            <p:cNvPr id="298" name="矩形 297"/>
            <p:cNvSpPr/>
            <p:nvPr/>
          </p:nvSpPr>
          <p:spPr>
            <a:xfrm>
              <a:off x="5572132" y="3857628"/>
              <a:ext cx="500066" cy="50006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12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99" name="矩形 298"/>
            <p:cNvSpPr/>
            <p:nvPr/>
          </p:nvSpPr>
          <p:spPr>
            <a:xfrm>
              <a:off x="5572132" y="4357694"/>
              <a:ext cx="500066" cy="50006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12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00" name="矩形 299"/>
            <p:cNvSpPr/>
            <p:nvPr/>
          </p:nvSpPr>
          <p:spPr>
            <a:xfrm>
              <a:off x="6072198" y="4357694"/>
              <a:ext cx="500066" cy="50006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12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</p:grpSp>
      <p:grpSp>
        <p:nvGrpSpPr>
          <p:cNvPr id="241" name="组合 300"/>
          <p:cNvGrpSpPr/>
          <p:nvPr/>
        </p:nvGrpSpPr>
        <p:grpSpPr>
          <a:xfrm>
            <a:off x="4143372" y="4071942"/>
            <a:ext cx="1000132" cy="1000132"/>
            <a:chOff x="7572396" y="3857628"/>
            <a:chExt cx="1000132" cy="1000132"/>
          </a:xfrm>
        </p:grpSpPr>
        <p:sp>
          <p:nvSpPr>
            <p:cNvPr id="302" name="矩形 301"/>
            <p:cNvSpPr/>
            <p:nvPr/>
          </p:nvSpPr>
          <p:spPr>
            <a:xfrm>
              <a:off x="8072462" y="3857628"/>
              <a:ext cx="500066" cy="50006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17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03" name="矩形 302"/>
            <p:cNvSpPr/>
            <p:nvPr/>
          </p:nvSpPr>
          <p:spPr>
            <a:xfrm>
              <a:off x="7572396" y="4357694"/>
              <a:ext cx="500066" cy="50006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17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04" name="矩形 303"/>
            <p:cNvSpPr/>
            <p:nvPr/>
          </p:nvSpPr>
          <p:spPr>
            <a:xfrm>
              <a:off x="8072462" y="4357694"/>
              <a:ext cx="500066" cy="50006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17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</p:grpSp>
      <p:grpSp>
        <p:nvGrpSpPr>
          <p:cNvPr id="245" name="组合 304"/>
          <p:cNvGrpSpPr/>
          <p:nvPr/>
        </p:nvGrpSpPr>
        <p:grpSpPr>
          <a:xfrm>
            <a:off x="1643042" y="4572008"/>
            <a:ext cx="1000132" cy="1000132"/>
            <a:chOff x="5072066" y="4357694"/>
            <a:chExt cx="1000132" cy="1000132"/>
          </a:xfrm>
        </p:grpSpPr>
        <p:sp>
          <p:nvSpPr>
            <p:cNvPr id="306" name="矩形 305"/>
            <p:cNvSpPr/>
            <p:nvPr/>
          </p:nvSpPr>
          <p:spPr>
            <a:xfrm>
              <a:off x="5072066" y="4357694"/>
              <a:ext cx="500066" cy="50006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15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07" name="矩形 306"/>
            <p:cNvSpPr/>
            <p:nvPr/>
          </p:nvSpPr>
          <p:spPr>
            <a:xfrm>
              <a:off x="5072066" y="4857760"/>
              <a:ext cx="500066" cy="50006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15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08" name="矩形 307"/>
            <p:cNvSpPr/>
            <p:nvPr/>
          </p:nvSpPr>
          <p:spPr>
            <a:xfrm>
              <a:off x="5572132" y="4857760"/>
              <a:ext cx="500066" cy="50006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15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</p:grpSp>
      <p:grpSp>
        <p:nvGrpSpPr>
          <p:cNvPr id="249" name="组合 308"/>
          <p:cNvGrpSpPr/>
          <p:nvPr/>
        </p:nvGrpSpPr>
        <p:grpSpPr>
          <a:xfrm>
            <a:off x="2643174" y="4572008"/>
            <a:ext cx="1000132" cy="1000132"/>
            <a:chOff x="6072198" y="4357694"/>
            <a:chExt cx="1000132" cy="1000132"/>
          </a:xfrm>
        </p:grpSpPr>
        <p:sp>
          <p:nvSpPr>
            <p:cNvPr id="310" name="矩形 309"/>
            <p:cNvSpPr/>
            <p:nvPr/>
          </p:nvSpPr>
          <p:spPr>
            <a:xfrm>
              <a:off x="6572264" y="4357694"/>
              <a:ext cx="500066" cy="50006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16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11" name="矩形 310"/>
            <p:cNvSpPr/>
            <p:nvPr/>
          </p:nvSpPr>
          <p:spPr>
            <a:xfrm>
              <a:off x="6072198" y="4857760"/>
              <a:ext cx="500066" cy="50006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16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12" name="矩形 311"/>
            <p:cNvSpPr/>
            <p:nvPr/>
          </p:nvSpPr>
          <p:spPr>
            <a:xfrm>
              <a:off x="6572264" y="4857760"/>
              <a:ext cx="500066" cy="50006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16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</p:grpSp>
      <p:grpSp>
        <p:nvGrpSpPr>
          <p:cNvPr id="253" name="组合 312"/>
          <p:cNvGrpSpPr/>
          <p:nvPr/>
        </p:nvGrpSpPr>
        <p:grpSpPr>
          <a:xfrm>
            <a:off x="3643306" y="4572008"/>
            <a:ext cx="1000132" cy="1000132"/>
            <a:chOff x="7072330" y="4357694"/>
            <a:chExt cx="1000132" cy="1000132"/>
          </a:xfrm>
        </p:grpSpPr>
        <p:sp>
          <p:nvSpPr>
            <p:cNvPr id="314" name="矩形 313"/>
            <p:cNvSpPr/>
            <p:nvPr/>
          </p:nvSpPr>
          <p:spPr>
            <a:xfrm>
              <a:off x="7072330" y="4357694"/>
              <a:ext cx="500066" cy="500066"/>
            </a:xfrm>
            <a:prstGeom prst="rect">
              <a:avLst/>
            </a:prstGeom>
            <a:solidFill>
              <a:srgbClr val="0066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20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15" name="矩形 314"/>
            <p:cNvSpPr/>
            <p:nvPr/>
          </p:nvSpPr>
          <p:spPr>
            <a:xfrm>
              <a:off x="7072330" y="4857760"/>
              <a:ext cx="500066" cy="500066"/>
            </a:xfrm>
            <a:prstGeom prst="rect">
              <a:avLst/>
            </a:prstGeom>
            <a:solidFill>
              <a:srgbClr val="0066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20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16" name="矩形 315"/>
            <p:cNvSpPr/>
            <p:nvPr/>
          </p:nvSpPr>
          <p:spPr>
            <a:xfrm>
              <a:off x="7572396" y="4857760"/>
              <a:ext cx="500066" cy="500066"/>
            </a:xfrm>
            <a:prstGeom prst="rect">
              <a:avLst/>
            </a:prstGeom>
            <a:solidFill>
              <a:srgbClr val="0066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20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</p:grpSp>
      <p:grpSp>
        <p:nvGrpSpPr>
          <p:cNvPr id="257" name="组合 316"/>
          <p:cNvGrpSpPr/>
          <p:nvPr/>
        </p:nvGrpSpPr>
        <p:grpSpPr>
          <a:xfrm>
            <a:off x="4643438" y="4572008"/>
            <a:ext cx="1000132" cy="1000132"/>
            <a:chOff x="8072462" y="4357694"/>
            <a:chExt cx="1000132" cy="1000132"/>
          </a:xfrm>
        </p:grpSpPr>
        <p:sp>
          <p:nvSpPr>
            <p:cNvPr id="318" name="矩形 317"/>
            <p:cNvSpPr/>
            <p:nvPr/>
          </p:nvSpPr>
          <p:spPr>
            <a:xfrm>
              <a:off x="8572528" y="4357694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21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19" name="矩形 318"/>
            <p:cNvSpPr/>
            <p:nvPr/>
          </p:nvSpPr>
          <p:spPr>
            <a:xfrm>
              <a:off x="8072462" y="4857760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21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20" name="矩形 319"/>
            <p:cNvSpPr/>
            <p:nvPr/>
          </p:nvSpPr>
          <p:spPr>
            <a:xfrm>
              <a:off x="8572528" y="4857760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21</a:t>
              </a:r>
              <a:endParaRPr lang="zh-CN" altLang="en-US" sz="16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</p:grpSp>
      <p:sp>
        <p:nvSpPr>
          <p:cNvPr id="151" name="右弧形箭头 150"/>
          <p:cNvSpPr/>
          <p:nvPr/>
        </p:nvSpPr>
        <p:spPr>
          <a:xfrm>
            <a:off x="2500298" y="642918"/>
            <a:ext cx="285752" cy="642942"/>
          </a:xfrm>
          <a:prstGeom prst="curvedLef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  <p:cxnSp>
        <p:nvCxnSpPr>
          <p:cNvPr id="152" name="直接连接符 151"/>
          <p:cNvCxnSpPr/>
          <p:nvPr/>
        </p:nvCxnSpPr>
        <p:spPr>
          <a:xfrm>
            <a:off x="285720" y="3564959"/>
            <a:ext cx="6572296" cy="1588"/>
          </a:xfrm>
          <a:prstGeom prst="line">
            <a:avLst/>
          </a:prstGeom>
          <a:ln>
            <a:solidFill>
              <a:srgbClr val="9900FF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3" name="直接连接符 152"/>
          <p:cNvCxnSpPr/>
          <p:nvPr/>
        </p:nvCxnSpPr>
        <p:spPr>
          <a:xfrm rot="5400000">
            <a:off x="964381" y="3619864"/>
            <a:ext cx="5357850" cy="1588"/>
          </a:xfrm>
          <a:prstGeom prst="line">
            <a:avLst/>
          </a:prstGeom>
          <a:ln>
            <a:solidFill>
              <a:srgbClr val="9900FF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4" name="TextBox 153"/>
          <p:cNvSpPr txBox="1"/>
          <p:nvPr/>
        </p:nvSpPr>
        <p:spPr>
          <a:xfrm>
            <a:off x="357158" y="1785926"/>
            <a:ext cx="10001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左上角象限</a:t>
            </a:r>
            <a:endParaRPr lang="zh-CN" altLang="en-US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6000760" y="1785926"/>
            <a:ext cx="10001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右上角象限</a:t>
            </a:r>
            <a:endParaRPr lang="zh-CN" altLang="en-US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6000760" y="4572008"/>
            <a:ext cx="114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右下角象限</a:t>
            </a:r>
            <a:endParaRPr lang="zh-CN" altLang="en-US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357158" y="4572008"/>
            <a:ext cx="114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左下角象限</a:t>
            </a:r>
            <a:endParaRPr lang="zh-CN" altLang="en-US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59" name="灯片编号占位符 1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99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7158" y="357166"/>
            <a:ext cx="8572560" cy="2299989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用</a:t>
            </a:r>
            <a:r>
              <a:rPr lang="zh-CN" altLang="zh-CN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lang="en-US" altLang="zh-CN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tr</a:t>
            </a:r>
            <a:r>
              <a:rPr lang="zh-CN" altLang="zh-CN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tc</a:t>
            </a:r>
            <a:r>
              <a:rPr lang="zh-CN" altLang="zh-CN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表示一个象限左上角方格的坐标，</a:t>
            </a:r>
            <a:r>
              <a:rPr lang="zh-CN" altLang="zh-CN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lang="en-US" altLang="zh-CN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dr</a:t>
            </a:r>
            <a:r>
              <a:rPr lang="zh-CN" altLang="zh-CN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altLang="zh-CN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dc</a:t>
            </a:r>
            <a:r>
              <a:rPr lang="zh-CN" altLang="zh-CN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是特殊方格所在的坐标，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size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是棋盘的行数和列数。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marL="457200" indent="-457200" algn="l">
              <a:lnSpc>
                <a:spcPts val="3200"/>
              </a:lnSpc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用二维数组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board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存放覆盖方案，用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tile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全局变量表示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型骨牌的编号（从整数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开始），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board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中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个相同的整数表示一个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L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型骨牌。</a:t>
            </a:r>
          </a:p>
        </p:txBody>
      </p:sp>
      <p:sp>
        <p:nvSpPr>
          <p:cNvPr id="4" name="矩形 3"/>
          <p:cNvSpPr/>
          <p:nvPr/>
        </p:nvSpPr>
        <p:spPr>
          <a:xfrm>
            <a:off x="3643306" y="3869770"/>
            <a:ext cx="1857388" cy="17859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000496" y="4226960"/>
            <a:ext cx="357190" cy="3571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3571868" y="3798332"/>
            <a:ext cx="142876" cy="142876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000364" y="3357562"/>
            <a:ext cx="1214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(tr,tc)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15008" y="4000504"/>
            <a:ext cx="1214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(dr,dc)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cxnSp>
        <p:nvCxnSpPr>
          <p:cNvPr id="10" name="直接连接符 9"/>
          <p:cNvCxnSpPr/>
          <p:nvPr/>
        </p:nvCxnSpPr>
        <p:spPr>
          <a:xfrm flipV="1">
            <a:off x="4410074" y="4226960"/>
            <a:ext cx="1357322" cy="142876"/>
          </a:xfrm>
          <a:prstGeom prst="line">
            <a:avLst/>
          </a:prstGeom>
          <a:ln w="190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左大括号 10"/>
          <p:cNvSpPr/>
          <p:nvPr/>
        </p:nvSpPr>
        <p:spPr>
          <a:xfrm>
            <a:off x="3357554" y="3941208"/>
            <a:ext cx="214314" cy="1643074"/>
          </a:xfrm>
          <a:prstGeom prst="leftBrace">
            <a:avLst/>
          </a:prstGeom>
          <a:ln w="1270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3071802" y="4572008"/>
            <a:ext cx="285752" cy="34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s</a:t>
            </a:r>
            <a:endParaRPr lang="zh-CN" altLang="en-US" sz="2000" i="1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29124" y="3214686"/>
            <a:ext cx="285752" cy="34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s</a:t>
            </a:r>
            <a:endParaRPr lang="zh-CN" altLang="en-US" sz="2000" i="1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4" name="左大括号 13"/>
          <p:cNvSpPr/>
          <p:nvPr/>
        </p:nvSpPr>
        <p:spPr>
          <a:xfrm rot="5400000">
            <a:off x="4500562" y="2869638"/>
            <a:ext cx="214314" cy="1643074"/>
          </a:xfrm>
          <a:prstGeom prst="leftBrace">
            <a:avLst/>
          </a:prstGeom>
          <a:ln w="1270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642910" y="3349608"/>
            <a:ext cx="24288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左上角（行</a:t>
            </a:r>
            <a:r>
              <a:rPr lang="en-US" altLang="zh-CN" sz="20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,</a:t>
            </a:r>
            <a:r>
              <a:rPr lang="zh-CN" altLang="en-US" sz="20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列）</a:t>
            </a:r>
            <a:r>
              <a:rPr lang="zh-CN" altLang="en-US" sz="2000">
                <a:solidFill>
                  <a:srgbClr val="FF00FF"/>
                </a:solidFill>
                <a:latin typeface="华文中宋" pitchFamily="2" charset="-122"/>
                <a:ea typeface="华文中宋" pitchFamily="2" charset="-122"/>
                <a:sym typeface="Wingdings"/>
              </a:rPr>
              <a:t></a:t>
            </a:r>
            <a:endParaRPr lang="zh-CN" altLang="en-US" sz="2000">
              <a:solidFill>
                <a:srgbClr val="FF00FF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100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428604"/>
            <a:ext cx="8786874" cy="3533632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k;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棋盘大小</a:t>
            </a:r>
          </a:p>
          <a:p>
            <a:pPr algn="l" defTabSz="360000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x,y;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特殊方格的位置</a:t>
            </a:r>
          </a:p>
          <a:p>
            <a:pPr algn="l" defTabSz="360000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board[MAX][MAX];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tile=1;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//L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型骨牌的编号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,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从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开始</a:t>
            </a:r>
            <a:endParaRPr lang="en-US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900"/>
              </a:lnSpc>
              <a:spcBef>
                <a:spcPts val="0"/>
              </a:spcBef>
            </a:pPr>
            <a:endParaRPr lang="en-US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chessboard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tr,int tc,int dr,int dc,int size)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if(size==1) return;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t=tile++;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取一个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L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型骨，其牌号为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tile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9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s=size/2;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分割棋盘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101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23"/>
          <p:cNvGrpSpPr/>
          <p:nvPr/>
        </p:nvGrpSpPr>
        <p:grpSpPr>
          <a:xfrm>
            <a:off x="3704696" y="3929066"/>
            <a:ext cx="2500330" cy="2441034"/>
            <a:chOff x="428596" y="4214818"/>
            <a:chExt cx="2500330" cy="2441034"/>
          </a:xfrm>
        </p:grpSpPr>
        <p:sp>
          <p:nvSpPr>
            <p:cNvPr id="11" name="TextBox 10"/>
            <p:cNvSpPr txBox="1"/>
            <p:nvPr/>
          </p:nvSpPr>
          <p:spPr>
            <a:xfrm>
              <a:off x="1857356" y="4214818"/>
              <a:ext cx="2857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i="1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s</a:t>
              </a:r>
              <a:endParaRPr lang="zh-CN" altLang="en-US" sz="1800" i="1">
                <a:solidFill>
                  <a:schemeClr val="tx1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1071538" y="4869902"/>
              <a:ext cx="1857388" cy="17859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1428728" y="5227092"/>
              <a:ext cx="357190" cy="35719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/>
            <p:cNvSpPr/>
            <p:nvPr/>
          </p:nvSpPr>
          <p:spPr>
            <a:xfrm>
              <a:off x="1000100" y="4798464"/>
              <a:ext cx="142876" cy="142876"/>
            </a:xfrm>
            <a:prstGeom prst="ellipse">
              <a:avLst/>
            </a:prstGeom>
            <a:solidFill>
              <a:srgbClr val="00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28596" y="4357694"/>
              <a:ext cx="1214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(tr,tc)</a:t>
              </a:r>
              <a:endParaRPr lang="zh-CN" altLang="en-US" sz="1800">
                <a:solidFill>
                  <a:schemeClr val="tx1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714480" y="5202808"/>
              <a:ext cx="10715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(dr,dc)</a:t>
              </a:r>
              <a:endParaRPr lang="zh-CN" altLang="en-US" sz="18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9" name="左大括号 8"/>
            <p:cNvSpPr/>
            <p:nvPr/>
          </p:nvSpPr>
          <p:spPr>
            <a:xfrm>
              <a:off x="785786" y="4941340"/>
              <a:ext cx="214314" cy="1643074"/>
            </a:xfrm>
            <a:prstGeom prst="leftBrace">
              <a:avLst/>
            </a:prstGeom>
            <a:ln w="1270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00034" y="5572140"/>
              <a:ext cx="2857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i="1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s</a:t>
              </a:r>
              <a:endParaRPr lang="zh-CN" altLang="en-US" sz="1800" i="1">
                <a:solidFill>
                  <a:schemeClr val="tx1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2" name="左大括号 11"/>
            <p:cNvSpPr/>
            <p:nvPr/>
          </p:nvSpPr>
          <p:spPr>
            <a:xfrm rot="5400000">
              <a:off x="1928794" y="3869770"/>
              <a:ext cx="214314" cy="1643074"/>
            </a:xfrm>
            <a:prstGeom prst="leftBrace">
              <a:avLst/>
            </a:prstGeom>
            <a:ln w="1270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组合 24"/>
          <p:cNvGrpSpPr/>
          <p:nvPr/>
        </p:nvGrpSpPr>
        <p:grpSpPr>
          <a:xfrm>
            <a:off x="3714744" y="3929066"/>
            <a:ext cx="4643470" cy="2441034"/>
            <a:chOff x="4214810" y="4214818"/>
            <a:chExt cx="4643470" cy="2441034"/>
          </a:xfrm>
        </p:grpSpPr>
        <p:grpSp>
          <p:nvGrpSpPr>
            <p:cNvPr id="13" name="组合 13"/>
            <p:cNvGrpSpPr/>
            <p:nvPr/>
          </p:nvGrpSpPr>
          <p:grpSpPr>
            <a:xfrm>
              <a:off x="4214810" y="4357694"/>
              <a:ext cx="4643470" cy="2298158"/>
              <a:chOff x="428596" y="4357694"/>
              <a:chExt cx="4643470" cy="2298158"/>
            </a:xfrm>
          </p:grpSpPr>
          <p:sp>
            <p:nvSpPr>
              <p:cNvPr id="15" name="矩形 14"/>
              <p:cNvSpPr/>
              <p:nvPr/>
            </p:nvSpPr>
            <p:spPr>
              <a:xfrm>
                <a:off x="1071538" y="4869902"/>
                <a:ext cx="1857388" cy="178595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2571736" y="6289002"/>
                <a:ext cx="357190" cy="357190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1000100" y="4798464"/>
                <a:ext cx="142876" cy="142876"/>
              </a:xfrm>
              <a:prstGeom prst="ellipse">
                <a:avLst/>
              </a:prstGeom>
              <a:solidFill>
                <a:srgbClr val="0000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428596" y="4357694"/>
                <a:ext cx="12144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800">
                    <a:solidFill>
                      <a:schemeClr val="tx1"/>
                    </a:solidFill>
                    <a:latin typeface="Consolas" pitchFamily="49" charset="0"/>
                    <a:cs typeface="Consolas" pitchFamily="49" charset="0"/>
                  </a:rPr>
                  <a:t>(tr,tc)</a:t>
                </a:r>
                <a:endParaRPr lang="zh-CN" altLang="en-US" sz="180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endParaRP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2928926" y="6264330"/>
                <a:ext cx="21431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800">
                    <a:solidFill>
                      <a:srgbClr val="0000FF"/>
                    </a:solidFill>
                    <a:latin typeface="Consolas" pitchFamily="49" charset="0"/>
                    <a:cs typeface="Consolas" pitchFamily="49" charset="0"/>
                  </a:rPr>
                  <a:t>(tr+s-1,tc+s-1)</a:t>
                </a:r>
                <a:endParaRPr lang="zh-CN" altLang="en-US" sz="18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endParaRPr>
              </a:p>
            </p:txBody>
          </p:sp>
          <p:sp>
            <p:nvSpPr>
              <p:cNvPr id="20" name="左大括号 19"/>
              <p:cNvSpPr/>
              <p:nvPr/>
            </p:nvSpPr>
            <p:spPr>
              <a:xfrm>
                <a:off x="785786" y="4941340"/>
                <a:ext cx="214314" cy="1643074"/>
              </a:xfrm>
              <a:prstGeom prst="leftBrace">
                <a:avLst/>
              </a:prstGeom>
              <a:ln w="12700">
                <a:tailEnd type="non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500034" y="5572140"/>
                <a:ext cx="2857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800" i="1">
                    <a:solidFill>
                      <a:schemeClr val="tx1"/>
                    </a:solidFill>
                    <a:latin typeface="Consolas" pitchFamily="49" charset="0"/>
                    <a:cs typeface="Consolas" pitchFamily="49" charset="0"/>
                  </a:rPr>
                  <a:t>s</a:t>
                </a:r>
                <a:endParaRPr lang="zh-CN" altLang="en-US" sz="1800" i="1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endParaRPr>
              </a:p>
            </p:txBody>
          </p:sp>
          <p:sp>
            <p:nvSpPr>
              <p:cNvPr id="22" name="左大括号 21"/>
              <p:cNvSpPr/>
              <p:nvPr/>
            </p:nvSpPr>
            <p:spPr>
              <a:xfrm rot="5400000">
                <a:off x="1928794" y="3869770"/>
                <a:ext cx="214314" cy="1643074"/>
              </a:xfrm>
              <a:prstGeom prst="leftBrace">
                <a:avLst/>
              </a:prstGeom>
              <a:ln w="12700">
                <a:tailEnd type="non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3" name="TextBox 22"/>
            <p:cNvSpPr txBox="1"/>
            <p:nvPr/>
          </p:nvSpPr>
          <p:spPr>
            <a:xfrm>
              <a:off x="5674816" y="4214818"/>
              <a:ext cx="2857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i="1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s</a:t>
              </a:r>
              <a:endParaRPr lang="zh-CN" altLang="en-US" sz="1800" i="1">
                <a:solidFill>
                  <a:schemeClr val="tx1"/>
                </a:solidFill>
                <a:latin typeface="Consolas" pitchFamily="49" charset="0"/>
                <a:cs typeface="Consolas" pitchFamily="49" charset="0"/>
              </a:endParaRPr>
            </a:p>
          </p:txBody>
        </p:sp>
      </p:grpSp>
      <p:grpSp>
        <p:nvGrpSpPr>
          <p:cNvPr id="14" name="组合 36"/>
          <p:cNvGrpSpPr/>
          <p:nvPr/>
        </p:nvGrpSpPr>
        <p:grpSpPr>
          <a:xfrm>
            <a:off x="310858" y="4366116"/>
            <a:ext cx="2832382" cy="1848966"/>
            <a:chOff x="25106" y="4580430"/>
            <a:chExt cx="2832382" cy="1848966"/>
          </a:xfrm>
        </p:grpSpPr>
        <p:sp>
          <p:nvSpPr>
            <p:cNvPr id="26" name="矩形 25"/>
            <p:cNvSpPr/>
            <p:nvPr/>
          </p:nvSpPr>
          <p:spPr>
            <a:xfrm>
              <a:off x="1142976" y="4714884"/>
              <a:ext cx="857256" cy="85725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5106" y="4580430"/>
              <a:ext cx="1214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(tr,tc)</a:t>
              </a:r>
              <a:endParaRPr lang="zh-CN" altLang="en-US" sz="1800">
                <a:solidFill>
                  <a:schemeClr val="tx1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1142976" y="5572140"/>
              <a:ext cx="857256" cy="8572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2000232" y="4714884"/>
              <a:ext cx="857256" cy="8572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2000232" y="5572140"/>
              <a:ext cx="857256" cy="8572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214282" y="428604"/>
            <a:ext cx="8786874" cy="3090691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en-US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考虑左上角象限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dr&lt;tr+s &amp;&amp; dc&lt;tc+s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特殊方格在此象限中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chessboard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(tr,tc,dr,dc,s);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else {	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此象限中无特殊方格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board[tr+s-1][tc+s-1]=t;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用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t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号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L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型骨牌覆盖右下角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chessboard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(tr,tc,tr+s-1,tc+s-1,s);	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将右下角作为特殊方格继续处理该象限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33" name="上弧形箭头 32"/>
          <p:cNvSpPr/>
          <p:nvPr/>
        </p:nvSpPr>
        <p:spPr>
          <a:xfrm>
            <a:off x="1928794" y="4143380"/>
            <a:ext cx="1857388" cy="500066"/>
          </a:xfrm>
          <a:prstGeom prst="curvedDownArrow">
            <a:avLst/>
          </a:prstGeom>
          <a:ln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7" name="灯片编号占位符 3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102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3"/>
          <p:cNvGrpSpPr/>
          <p:nvPr/>
        </p:nvGrpSpPr>
        <p:grpSpPr>
          <a:xfrm>
            <a:off x="71406" y="4071942"/>
            <a:ext cx="2786082" cy="1848966"/>
            <a:chOff x="71406" y="4580430"/>
            <a:chExt cx="2786082" cy="1848966"/>
          </a:xfrm>
        </p:grpSpPr>
        <p:sp>
          <p:nvSpPr>
            <p:cNvPr id="15" name="矩形 14"/>
            <p:cNvSpPr/>
            <p:nvPr/>
          </p:nvSpPr>
          <p:spPr>
            <a:xfrm>
              <a:off x="1142976" y="4714884"/>
              <a:ext cx="857256" cy="8572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1406" y="4580430"/>
              <a:ext cx="1214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(tr,tc)</a:t>
              </a:r>
              <a:endParaRPr lang="zh-CN" altLang="en-US" sz="1800">
                <a:solidFill>
                  <a:schemeClr val="tx1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142976" y="5572140"/>
              <a:ext cx="857256" cy="8572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2000232" y="4714884"/>
              <a:ext cx="857256" cy="85725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2000232" y="5572140"/>
              <a:ext cx="857256" cy="8572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组合 19"/>
          <p:cNvGrpSpPr/>
          <p:nvPr/>
        </p:nvGrpSpPr>
        <p:grpSpPr>
          <a:xfrm>
            <a:off x="3286116" y="3559734"/>
            <a:ext cx="2500330" cy="2441034"/>
            <a:chOff x="428596" y="4214818"/>
            <a:chExt cx="2500330" cy="2441034"/>
          </a:xfrm>
        </p:grpSpPr>
        <p:sp>
          <p:nvSpPr>
            <p:cNvPr id="21" name="TextBox 20"/>
            <p:cNvSpPr txBox="1"/>
            <p:nvPr/>
          </p:nvSpPr>
          <p:spPr>
            <a:xfrm>
              <a:off x="1897548" y="4214818"/>
              <a:ext cx="2857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i="1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s</a:t>
              </a:r>
              <a:endParaRPr lang="zh-CN" altLang="en-US" sz="1800" i="1">
                <a:solidFill>
                  <a:schemeClr val="tx1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1071538" y="4869902"/>
              <a:ext cx="1857388" cy="178595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1428728" y="5227092"/>
              <a:ext cx="357190" cy="35719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000100" y="4798464"/>
              <a:ext cx="142876" cy="142876"/>
            </a:xfrm>
            <a:prstGeom prst="ellipse">
              <a:avLst/>
            </a:prstGeom>
            <a:solidFill>
              <a:srgbClr val="00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28596" y="4357694"/>
              <a:ext cx="1214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(tr,tc+s)</a:t>
              </a:r>
              <a:endParaRPr lang="zh-CN" altLang="en-US" sz="1800">
                <a:solidFill>
                  <a:schemeClr val="tx1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714480" y="5202808"/>
              <a:ext cx="10715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(dr,dc)</a:t>
              </a:r>
              <a:endParaRPr lang="zh-CN" altLang="en-US" sz="18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7" name="左大括号 26"/>
            <p:cNvSpPr/>
            <p:nvPr/>
          </p:nvSpPr>
          <p:spPr>
            <a:xfrm>
              <a:off x="785786" y="4941340"/>
              <a:ext cx="214314" cy="1643074"/>
            </a:xfrm>
            <a:prstGeom prst="leftBrace">
              <a:avLst/>
            </a:prstGeom>
            <a:ln w="1270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00034" y="5572140"/>
              <a:ext cx="2857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i="1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s</a:t>
              </a:r>
              <a:endParaRPr lang="zh-CN" altLang="en-US" sz="1800" i="1">
                <a:solidFill>
                  <a:schemeClr val="tx1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9" name="左大括号 28"/>
            <p:cNvSpPr/>
            <p:nvPr/>
          </p:nvSpPr>
          <p:spPr>
            <a:xfrm rot="5400000">
              <a:off x="1928794" y="3869770"/>
              <a:ext cx="214314" cy="1643074"/>
            </a:xfrm>
            <a:prstGeom prst="leftBrace">
              <a:avLst/>
            </a:prstGeom>
            <a:ln w="1270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组合 2"/>
          <p:cNvGrpSpPr/>
          <p:nvPr/>
        </p:nvGrpSpPr>
        <p:grpSpPr>
          <a:xfrm>
            <a:off x="3286116" y="3571876"/>
            <a:ext cx="3143272" cy="2442663"/>
            <a:chOff x="4214810" y="4214818"/>
            <a:chExt cx="3143272" cy="2442663"/>
          </a:xfrm>
        </p:grpSpPr>
        <p:grpSp>
          <p:nvGrpSpPr>
            <p:cNvPr id="14" name="组合 13"/>
            <p:cNvGrpSpPr/>
            <p:nvPr/>
          </p:nvGrpSpPr>
          <p:grpSpPr>
            <a:xfrm>
              <a:off x="4214810" y="4357694"/>
              <a:ext cx="3143272" cy="2299787"/>
              <a:chOff x="428596" y="4357694"/>
              <a:chExt cx="3143272" cy="2299787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1071538" y="4869902"/>
                <a:ext cx="1857388" cy="178595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1071538" y="6300291"/>
                <a:ext cx="357190" cy="357190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椭圆 7"/>
              <p:cNvSpPr/>
              <p:nvPr/>
            </p:nvSpPr>
            <p:spPr>
              <a:xfrm>
                <a:off x="1000100" y="4798464"/>
                <a:ext cx="142876" cy="142876"/>
              </a:xfrm>
              <a:prstGeom prst="ellipse">
                <a:avLst/>
              </a:prstGeom>
              <a:solidFill>
                <a:srgbClr val="0000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428596" y="4357694"/>
                <a:ext cx="12144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800">
                    <a:solidFill>
                      <a:schemeClr val="tx1"/>
                    </a:solidFill>
                    <a:latin typeface="Consolas" pitchFamily="49" charset="0"/>
                    <a:cs typeface="Consolas" pitchFamily="49" charset="0"/>
                  </a:rPr>
                  <a:t>(tr,tc+s)</a:t>
                </a:r>
                <a:endParaRPr lang="zh-CN" altLang="en-US" sz="180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endParaRP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1428728" y="6264330"/>
                <a:ext cx="21431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800">
                    <a:solidFill>
                      <a:srgbClr val="0000FF"/>
                    </a:solidFill>
                    <a:latin typeface="Consolas" pitchFamily="49" charset="0"/>
                    <a:cs typeface="Consolas" pitchFamily="49" charset="0"/>
                  </a:rPr>
                  <a:t>(tr+s-1,tc+s)</a:t>
                </a:r>
                <a:endParaRPr lang="zh-CN" altLang="en-US" sz="18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endParaRPr>
              </a:p>
            </p:txBody>
          </p:sp>
          <p:sp>
            <p:nvSpPr>
              <p:cNvPr id="11" name="左大括号 10"/>
              <p:cNvSpPr/>
              <p:nvPr/>
            </p:nvSpPr>
            <p:spPr>
              <a:xfrm>
                <a:off x="785786" y="4941340"/>
                <a:ext cx="214314" cy="1643074"/>
              </a:xfrm>
              <a:prstGeom prst="leftBrace">
                <a:avLst/>
              </a:prstGeom>
              <a:ln w="12700">
                <a:tailEnd type="non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500034" y="5572140"/>
                <a:ext cx="2857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800" i="1">
                    <a:solidFill>
                      <a:schemeClr val="tx1"/>
                    </a:solidFill>
                    <a:latin typeface="Consolas" pitchFamily="49" charset="0"/>
                    <a:cs typeface="Consolas" pitchFamily="49" charset="0"/>
                  </a:rPr>
                  <a:t>s</a:t>
                </a:r>
                <a:endParaRPr lang="zh-CN" altLang="en-US" sz="1800" i="1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endParaRPr>
              </a:p>
            </p:txBody>
          </p:sp>
          <p:sp>
            <p:nvSpPr>
              <p:cNvPr id="13" name="左大括号 12"/>
              <p:cNvSpPr/>
              <p:nvPr/>
            </p:nvSpPr>
            <p:spPr>
              <a:xfrm rot="5400000">
                <a:off x="1928794" y="3869770"/>
                <a:ext cx="214314" cy="1643074"/>
              </a:xfrm>
              <a:prstGeom prst="leftBrace">
                <a:avLst/>
              </a:prstGeom>
              <a:ln w="12700">
                <a:tailEnd type="non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" name="TextBox 4"/>
            <p:cNvSpPr txBox="1"/>
            <p:nvPr/>
          </p:nvSpPr>
          <p:spPr>
            <a:xfrm>
              <a:off x="5674816" y="4214818"/>
              <a:ext cx="2857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i="1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s</a:t>
              </a:r>
              <a:endParaRPr lang="zh-CN" altLang="en-US" sz="1800" i="1">
                <a:solidFill>
                  <a:schemeClr val="tx1"/>
                </a:solidFill>
                <a:latin typeface="Consolas" pitchFamily="49" charset="0"/>
                <a:cs typeface="Consolas" pitchFamily="49" charset="0"/>
              </a:endParaRP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214282" y="428604"/>
            <a:ext cx="8786874" cy="3090691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en-US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考虑右上角象限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dr&lt;tr+s &amp;&amp; dc&gt;=tc+s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chessboard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(tr,tc+s,dr,dc,s);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特殊方格在此象限中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else {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此象限中无特殊方格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board[tr+s-1][tc+s]=t;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用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t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号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L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型骨牌覆盖左下角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chessboard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(tr,tc+s,tr+s-1,tc+s,s); 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将左下角作为特殊方格继续处理该象限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32" name="上弧形箭头 31"/>
          <p:cNvSpPr/>
          <p:nvPr/>
        </p:nvSpPr>
        <p:spPr>
          <a:xfrm>
            <a:off x="2285984" y="4023082"/>
            <a:ext cx="1285884" cy="428628"/>
          </a:xfrm>
          <a:prstGeom prst="curvedDownArrow">
            <a:avLst/>
          </a:prstGeom>
          <a:ln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3" name="灯片编号占位符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103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992647" y="4294678"/>
            <a:ext cx="2793667" cy="1848966"/>
            <a:chOff x="63821" y="4580430"/>
            <a:chExt cx="2793667" cy="1848966"/>
          </a:xfrm>
        </p:grpSpPr>
        <p:sp>
          <p:nvSpPr>
            <p:cNvPr id="4" name="矩形 3"/>
            <p:cNvSpPr/>
            <p:nvPr/>
          </p:nvSpPr>
          <p:spPr>
            <a:xfrm>
              <a:off x="1142976" y="4714884"/>
              <a:ext cx="857256" cy="8572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3821" y="4580430"/>
              <a:ext cx="1214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(tr,tc)</a:t>
              </a:r>
              <a:endParaRPr lang="zh-CN" altLang="en-US" sz="1800">
                <a:solidFill>
                  <a:schemeClr val="tx1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1142976" y="5572140"/>
              <a:ext cx="857256" cy="85725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2000232" y="4714884"/>
              <a:ext cx="857256" cy="8572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2000232" y="5572140"/>
              <a:ext cx="857256" cy="8572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14282" y="428604"/>
            <a:ext cx="8786874" cy="2988098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en-US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处理左下角象限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if(dr&gt;=tr+s &amp;&amp; dc&lt;tc+s)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特殊方格在此象限中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chessboard(tr+s,tc,dr,dc,s);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else { 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此象限中无特殊方格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board[tr+s][tc+s-1]=t;  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用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t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号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L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型骨牌覆盖右上角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 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chessboard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(tr+s,tc,tr+s,tc+s-1,s);			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将右上角作为特殊方格继续处理该象限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104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932498" y="4357694"/>
            <a:ext cx="2782378" cy="1848966"/>
            <a:chOff x="75110" y="4580430"/>
            <a:chExt cx="2782378" cy="1848966"/>
          </a:xfrm>
        </p:grpSpPr>
        <p:sp>
          <p:nvSpPr>
            <p:cNvPr id="4" name="矩形 3"/>
            <p:cNvSpPr/>
            <p:nvPr/>
          </p:nvSpPr>
          <p:spPr>
            <a:xfrm>
              <a:off x="1142976" y="4714884"/>
              <a:ext cx="857256" cy="8572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75110" y="4580430"/>
              <a:ext cx="12144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>
                  <a:solidFill>
                    <a:schemeClr val="tx1"/>
                  </a:solidFill>
                  <a:latin typeface="Consolas" pitchFamily="49" charset="0"/>
                  <a:cs typeface="Consolas" pitchFamily="49" charset="0"/>
                </a:rPr>
                <a:t>(tr,tc)</a:t>
              </a:r>
              <a:endParaRPr lang="zh-CN" altLang="en-US" sz="1800">
                <a:solidFill>
                  <a:schemeClr val="tx1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1142976" y="5572140"/>
              <a:ext cx="857256" cy="8572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2000232" y="4714884"/>
              <a:ext cx="857256" cy="8572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2000232" y="5572140"/>
              <a:ext cx="857256" cy="85725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14282" y="428604"/>
            <a:ext cx="8786874" cy="344976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en-US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50"/>
                </a:solidFill>
                <a:latin typeface="Consolas" pitchFamily="49" charset="0"/>
                <a:ea typeface="仿宋" pitchFamily="49" charset="-122"/>
              </a:rPr>
              <a:t>处理右下角象限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if(dr&gt;=tr+s &amp;&amp; dc&gt;=tc+s)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特殊方格在此象限中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chessboard(tr+s,tc+s,dr,dc,s); 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else {	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此象限中无特殊方格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board[tr+s][tc+s]=t;  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用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t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号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L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型骨牌覆盖左上角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chessboard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(tr+s,tc+s,tr+s,tc+s,s);  		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将左上角作为特殊方格继续处理该象限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105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2976" y="428604"/>
            <a:ext cx="1357322" cy="638829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200" b="0" i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k</a:t>
            </a:r>
            <a:r>
              <a:rPr lang="en-US" altLang="zh-CN" sz="2200" b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=3</a:t>
            </a:r>
            <a:r>
              <a:rPr lang="zh-CN" altLang="en-US" sz="2200" b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，</a:t>
            </a:r>
            <a:r>
              <a:rPr lang="en-US" altLang="zh-CN" sz="2200" b="0" i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altLang="zh-CN" sz="2200" b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=2</a:t>
            </a:r>
            <a:r>
              <a:rPr lang="en-US" altLang="zh-CN" sz="2200" b="0" baseline="3000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3</a:t>
            </a:r>
            <a:r>
              <a:rPr lang="en-US" altLang="zh-CN" sz="2200" b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=8</a:t>
            </a:r>
            <a:endParaRPr lang="zh-CN" altLang="en-US" sz="2200" b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881192" y="1357296"/>
          <a:ext cx="4976824" cy="4071968"/>
        </p:xfrm>
        <a:graphic>
          <a:graphicData uri="http://schemas.openxmlformats.org/drawingml/2006/table">
            <a:tbl>
              <a:tblPr/>
              <a:tblGrid>
                <a:gridCol w="622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1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1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21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21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21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21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210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08996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4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4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8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8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9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9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996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0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4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8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7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7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9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996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5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6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10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10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7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11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996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5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5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6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6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10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11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11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996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13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13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14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18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19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19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996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13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12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14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14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18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18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17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19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996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15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12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12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16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20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17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17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21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996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15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15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16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16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20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20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21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00">
                          <a:solidFill>
                            <a:srgbClr val="0000FF"/>
                          </a:solidFill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21</a:t>
                      </a:r>
                      <a:endParaRPr lang="zh-CN" sz="1800" b="1" kern="100">
                        <a:solidFill>
                          <a:srgbClr val="0000FF"/>
                        </a:solidFill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右弧形箭头 3"/>
          <p:cNvSpPr/>
          <p:nvPr/>
        </p:nvSpPr>
        <p:spPr>
          <a:xfrm>
            <a:off x="2643174" y="642918"/>
            <a:ext cx="285752" cy="642942"/>
          </a:xfrm>
          <a:prstGeom prst="curvedLef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000100" y="3396751"/>
            <a:ext cx="6572296" cy="1588"/>
          </a:xfrm>
          <a:prstGeom prst="line">
            <a:avLst/>
          </a:prstGeom>
          <a:ln>
            <a:solidFill>
              <a:srgbClr val="9900FF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rot="5400000">
            <a:off x="1691824" y="3451656"/>
            <a:ext cx="5357850" cy="1588"/>
          </a:xfrm>
          <a:prstGeom prst="line">
            <a:avLst/>
          </a:prstGeom>
          <a:ln>
            <a:solidFill>
              <a:srgbClr val="9900FF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106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8596" y="642918"/>
            <a:ext cx="79296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设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en-US" altLang="zh-CN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×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en-US" altLang="zh-CN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+mn-ea"/>
                <a:ea typeface="+mn-ea"/>
              </a:rPr>
              <a:t>≥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）的棋盘覆盖问题的执行时间为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，时间递推式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4348" y="1934612"/>
            <a:ext cx="7143800" cy="1137198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tIns="144000" bIns="144000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600"/>
              </a:spcBef>
            </a:pP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)=1								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当</a:t>
            </a:r>
            <a:r>
              <a:rPr lang="en-US" altLang="zh-CN" sz="2000" i="1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=0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时</a:t>
            </a:r>
          </a:p>
          <a:p>
            <a:pPr algn="l" defTabSz="360000">
              <a:lnSpc>
                <a:spcPts val="3000"/>
              </a:lnSpc>
              <a:spcBef>
                <a:spcPts val="600"/>
              </a:spcBef>
            </a:pP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)=4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-1)+O(1)				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当</a:t>
            </a:r>
            <a:r>
              <a:rPr lang="en-US" altLang="zh-CN" sz="2000" i="1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&gt;0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2910" y="3500438"/>
            <a:ext cx="6786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推出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T(n)=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O(4</a:t>
            </a:r>
            <a:r>
              <a:rPr lang="en-US" altLang="zh-CN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107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57224" y="1500174"/>
            <a:ext cx="7500990" cy="249299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300"/>
              </a:lnSpc>
              <a:spcBef>
                <a:spcPts val="600"/>
              </a:spcBef>
            </a:pPr>
            <a:r>
              <a:rPr lang="pt-BR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sym typeface="Wingdings"/>
              </a:rPr>
              <a:t></a:t>
            </a: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Consolas" pitchFamily="49" charset="0"/>
              </a:rPr>
              <a:t>问题描述</a:t>
            </a:r>
            <a:r>
              <a:rPr lang="zh-CN" altLang="en-US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Consolas" pitchFamily="49" charset="0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设有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=2</a:t>
            </a:r>
            <a:r>
              <a:rPr lang="en-US" altLang="zh-CN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个选手要进行网球循环赛，要求设计一个满足以下要求的比赛日程表：</a:t>
            </a:r>
          </a:p>
          <a:p>
            <a:pPr algn="l">
              <a:lnSpc>
                <a:spcPts val="33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）每个选手必须与其他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个选手各赛一次。</a:t>
            </a:r>
          </a:p>
          <a:p>
            <a:pPr algn="l">
              <a:lnSpc>
                <a:spcPts val="33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）每个选手一天只能赛一次。</a:t>
            </a:r>
          </a:p>
          <a:p>
            <a:pPr algn="l">
              <a:lnSpc>
                <a:spcPts val="33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）循环赛在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天之内结束。</a:t>
            </a:r>
          </a:p>
        </p:txBody>
      </p:sp>
      <p:sp>
        <p:nvSpPr>
          <p:cNvPr id="4" name="TextBox 3">
            <a:hlinkClick r:id="" action="ppaction://noaction"/>
          </p:cNvPr>
          <p:cNvSpPr txBox="1"/>
          <p:nvPr/>
        </p:nvSpPr>
        <p:spPr>
          <a:xfrm>
            <a:off x="1857356" y="357166"/>
            <a:ext cx="4680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4.7 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循环日程安排问题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108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4348" y="1571612"/>
            <a:ext cx="8001056" cy="1862048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marL="457200" indent="-457200" algn="l" defTabSz="360000">
              <a:lnSpc>
                <a:spcPts val="33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假设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位选手被顺序编号为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、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、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  <a:cs typeface="Consolas" pitchFamily="49" charset="0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、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  <a:r>
              <a:rPr lang="en-US" altLang="zh-CN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）。</a:t>
            </a:r>
          </a:p>
          <a:p>
            <a:pPr marL="457200" indent="-457200" algn="l" defTabSz="360000">
              <a:lnSpc>
                <a:spcPts val="33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按问题要求可将比赛日程表设计成一个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列的二维表，其中第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行、第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列表示和第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个选手在第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天比赛的选手。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7158" y="857232"/>
            <a:ext cx="928694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109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29"/>
          <p:cNvGrpSpPr/>
          <p:nvPr/>
        </p:nvGrpSpPr>
        <p:grpSpPr>
          <a:xfrm>
            <a:off x="2071670" y="2941076"/>
            <a:ext cx="1000132" cy="1000132"/>
            <a:chOff x="1071538" y="2500306"/>
            <a:chExt cx="1000132" cy="1000132"/>
          </a:xfrm>
        </p:grpSpPr>
        <p:sp>
          <p:nvSpPr>
            <p:cNvPr id="6" name="矩形 5"/>
            <p:cNvSpPr/>
            <p:nvPr/>
          </p:nvSpPr>
          <p:spPr>
            <a:xfrm>
              <a:off x="1571604" y="2500306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071538" y="3000372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  <a:endParaRPr lang="zh-CN" altLang="en-US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1571604" y="3000372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1071538" y="2500306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FF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lang="zh-CN" altLang="en-US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214546" y="4155522"/>
            <a:ext cx="6429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=1</a:t>
            </a:r>
            <a:endParaRPr lang="zh-CN" altLang="en-US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857884" y="4655588"/>
            <a:ext cx="6429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=2</a:t>
            </a:r>
            <a:endParaRPr lang="zh-CN" altLang="en-US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3" name="组合 30"/>
          <p:cNvGrpSpPr/>
          <p:nvPr/>
        </p:nvGrpSpPr>
        <p:grpSpPr>
          <a:xfrm>
            <a:off x="5286380" y="1940944"/>
            <a:ext cx="1000132" cy="1000132"/>
            <a:chOff x="4286248" y="1500174"/>
            <a:chExt cx="1000132" cy="1000132"/>
          </a:xfrm>
        </p:grpSpPr>
        <p:sp>
          <p:nvSpPr>
            <p:cNvPr id="12" name="矩形 11"/>
            <p:cNvSpPr/>
            <p:nvPr/>
          </p:nvSpPr>
          <p:spPr>
            <a:xfrm>
              <a:off x="4786314" y="1500174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4286248" y="2000240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4786314" y="2000240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4286248" y="1500174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cxnSp>
        <p:nvCxnSpPr>
          <p:cNvPr id="17" name="直接箭头连接符 16"/>
          <p:cNvCxnSpPr/>
          <p:nvPr/>
        </p:nvCxnSpPr>
        <p:spPr>
          <a:xfrm flipV="1">
            <a:off x="3286116" y="2369572"/>
            <a:ext cx="1857388" cy="10001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" name="组合 31"/>
          <p:cNvGrpSpPr/>
          <p:nvPr/>
        </p:nvGrpSpPr>
        <p:grpSpPr>
          <a:xfrm>
            <a:off x="5286380" y="2941076"/>
            <a:ext cx="1000132" cy="1000132"/>
            <a:chOff x="4286248" y="2500306"/>
            <a:chExt cx="1000132" cy="1000132"/>
          </a:xfrm>
        </p:grpSpPr>
        <p:sp>
          <p:nvSpPr>
            <p:cNvPr id="18" name="矩形 17"/>
            <p:cNvSpPr/>
            <p:nvPr/>
          </p:nvSpPr>
          <p:spPr>
            <a:xfrm>
              <a:off x="4786314" y="2500306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4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4286248" y="3000372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4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4786314" y="3000372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4286248" y="2500306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cxnSp>
        <p:nvCxnSpPr>
          <p:cNvPr id="23" name="直接箭头连接符 22"/>
          <p:cNvCxnSpPr/>
          <p:nvPr/>
        </p:nvCxnSpPr>
        <p:spPr>
          <a:xfrm>
            <a:off x="3357554" y="3584018"/>
            <a:ext cx="1857388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286380" y="1428736"/>
            <a:ext cx="10001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左上角</a:t>
            </a:r>
            <a:endParaRPr lang="zh-CN" altLang="en-US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286380" y="4012646"/>
            <a:ext cx="10001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左</a:t>
            </a:r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下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角</a:t>
            </a:r>
            <a:endParaRPr lang="zh-CN" altLang="en-US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29388" y="1440878"/>
            <a:ext cx="10001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右上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角</a:t>
            </a:r>
            <a:endParaRPr lang="zh-CN" altLang="en-US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29388" y="4024788"/>
            <a:ext cx="10001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右下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角</a:t>
            </a:r>
            <a:endParaRPr lang="zh-CN" altLang="en-US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9" name="任意多边形 28"/>
          <p:cNvSpPr/>
          <p:nvPr/>
        </p:nvSpPr>
        <p:spPr>
          <a:xfrm>
            <a:off x="6215074" y="2405269"/>
            <a:ext cx="889348" cy="1292268"/>
          </a:xfrm>
          <a:custGeom>
            <a:avLst/>
            <a:gdLst>
              <a:gd name="connsiteX0" fmla="*/ 0 w 889348"/>
              <a:gd name="connsiteY0" fmla="*/ 52191 h 1292268"/>
              <a:gd name="connsiteX1" fmla="*/ 300624 w 889348"/>
              <a:gd name="connsiteY1" fmla="*/ 114822 h 1292268"/>
              <a:gd name="connsiteX2" fmla="*/ 801666 w 889348"/>
              <a:gd name="connsiteY2" fmla="*/ 741123 h 1292268"/>
              <a:gd name="connsiteX3" fmla="*/ 826718 w 889348"/>
              <a:gd name="connsiteY3" fmla="*/ 1292268 h 1292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9348" h="1292268">
                <a:moveTo>
                  <a:pt x="0" y="52191"/>
                </a:moveTo>
                <a:cubicBezTo>
                  <a:pt x="83506" y="26095"/>
                  <a:pt x="167013" y="0"/>
                  <a:pt x="300624" y="114822"/>
                </a:cubicBezTo>
                <a:cubicBezTo>
                  <a:pt x="434235" y="229644"/>
                  <a:pt x="713984" y="544882"/>
                  <a:pt x="801666" y="741123"/>
                </a:cubicBezTo>
                <a:cubicBezTo>
                  <a:pt x="889348" y="937364"/>
                  <a:pt x="858033" y="1114816"/>
                  <a:pt x="826718" y="1292268"/>
                </a:cubicBezTo>
              </a:path>
            </a:pathLst>
          </a:cu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5" name="组合 32"/>
          <p:cNvGrpSpPr/>
          <p:nvPr/>
        </p:nvGrpSpPr>
        <p:grpSpPr>
          <a:xfrm>
            <a:off x="6286512" y="1940944"/>
            <a:ext cx="1000132" cy="1000132"/>
            <a:chOff x="4286248" y="2500306"/>
            <a:chExt cx="1000132" cy="1000132"/>
          </a:xfrm>
        </p:grpSpPr>
        <p:sp>
          <p:nvSpPr>
            <p:cNvPr id="34" name="矩形 33"/>
            <p:cNvSpPr/>
            <p:nvPr/>
          </p:nvSpPr>
          <p:spPr>
            <a:xfrm>
              <a:off x="4786314" y="2500306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4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4286248" y="3000372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4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4786314" y="3000372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4286248" y="2500306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grpSp>
        <p:nvGrpSpPr>
          <p:cNvPr id="16" name="组合 37"/>
          <p:cNvGrpSpPr/>
          <p:nvPr/>
        </p:nvGrpSpPr>
        <p:grpSpPr>
          <a:xfrm>
            <a:off x="6286512" y="2941076"/>
            <a:ext cx="1000132" cy="1000132"/>
            <a:chOff x="4286248" y="1500174"/>
            <a:chExt cx="1000132" cy="1000132"/>
          </a:xfrm>
        </p:grpSpPr>
        <p:sp>
          <p:nvSpPr>
            <p:cNvPr id="39" name="矩形 38"/>
            <p:cNvSpPr/>
            <p:nvPr/>
          </p:nvSpPr>
          <p:spPr>
            <a:xfrm>
              <a:off x="4786314" y="1500174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4286248" y="2000240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4786314" y="2000240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4286248" y="1500174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grpSp>
        <p:nvGrpSpPr>
          <p:cNvPr id="22" name="组合 50"/>
          <p:cNvGrpSpPr/>
          <p:nvPr/>
        </p:nvGrpSpPr>
        <p:grpSpPr>
          <a:xfrm>
            <a:off x="1000132" y="2155258"/>
            <a:ext cx="1571636" cy="2000264"/>
            <a:chOff x="0" y="1714488"/>
            <a:chExt cx="1571636" cy="2000264"/>
          </a:xfrm>
        </p:grpSpPr>
        <p:sp>
          <p:nvSpPr>
            <p:cNvPr id="43" name="TextBox 42"/>
            <p:cNvSpPr txBox="1"/>
            <p:nvPr/>
          </p:nvSpPr>
          <p:spPr>
            <a:xfrm>
              <a:off x="0" y="1714488"/>
              <a:ext cx="15716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人为添加的</a:t>
              </a:r>
            </a:p>
          </p:txBody>
        </p:sp>
        <p:sp>
          <p:nvSpPr>
            <p:cNvPr id="45" name="椭圆 44"/>
            <p:cNvSpPr/>
            <p:nvPr/>
          </p:nvSpPr>
          <p:spPr>
            <a:xfrm>
              <a:off x="928662" y="2285992"/>
              <a:ext cx="642942" cy="1428760"/>
            </a:xfrm>
            <a:prstGeom prst="ellipse">
              <a:avLst/>
            </a:prstGeom>
            <a:noFill/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48" name="直接连接符 47"/>
            <p:cNvCxnSpPr>
              <a:stCxn id="43" idx="2"/>
              <a:endCxn id="45" idx="1"/>
            </p:cNvCxnSpPr>
            <p:nvPr/>
          </p:nvCxnSpPr>
          <p:spPr>
            <a:xfrm rot="16200000" flipH="1">
              <a:off x="683225" y="2155634"/>
              <a:ext cx="442187" cy="23700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0" name="组合 51"/>
          <p:cNvGrpSpPr/>
          <p:nvPr/>
        </p:nvGrpSpPr>
        <p:grpSpPr>
          <a:xfrm>
            <a:off x="2500298" y="1940944"/>
            <a:ext cx="1714512" cy="2214578"/>
            <a:chOff x="1500166" y="1500174"/>
            <a:chExt cx="1714512" cy="2214578"/>
          </a:xfrm>
        </p:grpSpPr>
        <p:sp>
          <p:nvSpPr>
            <p:cNvPr id="44" name="TextBox 43"/>
            <p:cNvSpPr txBox="1"/>
            <p:nvPr/>
          </p:nvSpPr>
          <p:spPr>
            <a:xfrm>
              <a:off x="1500166" y="1500174"/>
              <a:ext cx="17145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表示</a:t>
              </a:r>
              <a:r>
                <a:rPr lang="zh-CN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选手</a:t>
              </a: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r>
                <a: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与</a:t>
              </a:r>
              <a:r>
                <a:rPr lang="zh-CN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选手</a:t>
              </a: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  <a:r>
                <a: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比赛</a:t>
              </a:r>
            </a:p>
          </p:txBody>
        </p:sp>
        <p:sp>
          <p:nvSpPr>
            <p:cNvPr id="46" name="椭圆 45"/>
            <p:cNvSpPr/>
            <p:nvPr/>
          </p:nvSpPr>
          <p:spPr>
            <a:xfrm>
              <a:off x="1571604" y="2285992"/>
              <a:ext cx="642942" cy="1428760"/>
            </a:xfrm>
            <a:prstGeom prst="ellipse">
              <a:avLst/>
            </a:prstGeom>
            <a:noFill/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cxnSp>
          <p:nvCxnSpPr>
            <p:cNvPr id="50" name="直接连接符 49"/>
            <p:cNvCxnSpPr>
              <a:stCxn id="44" idx="2"/>
              <a:endCxn id="46" idx="7"/>
            </p:cNvCxnSpPr>
            <p:nvPr/>
          </p:nvCxnSpPr>
          <p:spPr>
            <a:xfrm rot="5400000">
              <a:off x="2033766" y="2171573"/>
              <a:ext cx="410280" cy="23703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" name="任意多边形 27"/>
          <p:cNvSpPr/>
          <p:nvPr/>
        </p:nvSpPr>
        <p:spPr>
          <a:xfrm>
            <a:off x="6215074" y="1956419"/>
            <a:ext cx="726509" cy="1488510"/>
          </a:xfrm>
          <a:custGeom>
            <a:avLst/>
            <a:gdLst>
              <a:gd name="connsiteX0" fmla="*/ 0 w 726509"/>
              <a:gd name="connsiteY0" fmla="*/ 1415441 h 1488510"/>
              <a:gd name="connsiteX1" fmla="*/ 438411 w 726509"/>
              <a:gd name="connsiteY1" fmla="*/ 1252603 h 1488510"/>
              <a:gd name="connsiteX2" fmla="*/ 726509 w 726509"/>
              <a:gd name="connsiteY2" fmla="*/ 0 h 1488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6509" h="1488510">
                <a:moveTo>
                  <a:pt x="0" y="1415441"/>
                </a:moveTo>
                <a:cubicBezTo>
                  <a:pt x="158663" y="1451975"/>
                  <a:pt x="317326" y="1488510"/>
                  <a:pt x="438411" y="1252603"/>
                </a:cubicBezTo>
                <a:cubicBezTo>
                  <a:pt x="559496" y="1016696"/>
                  <a:pt x="643002" y="508348"/>
                  <a:pt x="726509" y="0"/>
                </a:cubicBezTo>
              </a:path>
            </a:pathLst>
          </a:cu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643306" y="3655456"/>
            <a:ext cx="12144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加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  <a:r>
              <a:rPr lang="en-US" altLang="zh-CN" sz="2000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en-US" altLang="zh-CN" sz="2000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=2</a:t>
            </a:r>
            <a:endParaRPr lang="zh-CN" altLang="en-US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14348" y="571480"/>
            <a:ext cx="32147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由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=1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创建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=2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的过程</a:t>
            </a:r>
          </a:p>
        </p:txBody>
      </p:sp>
      <p:sp>
        <p:nvSpPr>
          <p:cNvPr id="49" name="灯片编号占位符 4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110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4" grpId="0"/>
      <p:bldP spid="25" grpId="0"/>
      <p:bldP spid="26" grpId="0"/>
      <p:bldP spid="27" grpId="0"/>
      <p:bldP spid="29" grpId="0" animBg="1"/>
      <p:bldP spid="29" grpId="1" animBg="1"/>
      <p:bldP spid="28" grpId="0" animBg="1"/>
      <p:bldP spid="28" grpId="1" animBg="1"/>
      <p:bldP spid="53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1000100" y="4071942"/>
            <a:ext cx="6429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=2</a:t>
            </a:r>
            <a:endParaRPr lang="zh-CN" altLang="en-US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 flipV="1">
            <a:off x="2500298" y="1714488"/>
            <a:ext cx="1857388" cy="10001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2500298" y="3643314"/>
            <a:ext cx="1857388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214942" y="630776"/>
            <a:ext cx="10001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左上角</a:t>
            </a:r>
            <a:endParaRPr lang="zh-CN" altLang="en-US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286380" y="5262104"/>
            <a:ext cx="10001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左</a:t>
            </a:r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下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角</a:t>
            </a:r>
            <a:endParaRPr lang="zh-CN" altLang="en-US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215206" y="642918"/>
            <a:ext cx="10001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右上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角</a:t>
            </a:r>
            <a:endParaRPr lang="zh-CN" altLang="en-US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286644" y="5274246"/>
            <a:ext cx="10001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右下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角</a:t>
            </a:r>
            <a:endParaRPr lang="zh-CN" altLang="en-US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2" name="组合 76"/>
          <p:cNvGrpSpPr/>
          <p:nvPr/>
        </p:nvGrpSpPr>
        <p:grpSpPr>
          <a:xfrm>
            <a:off x="4572000" y="1142984"/>
            <a:ext cx="2000264" cy="2000264"/>
            <a:chOff x="4572000" y="1142984"/>
            <a:chExt cx="2000264" cy="2000264"/>
          </a:xfrm>
        </p:grpSpPr>
        <p:sp>
          <p:nvSpPr>
            <p:cNvPr id="12" name="矩形 11"/>
            <p:cNvSpPr/>
            <p:nvPr/>
          </p:nvSpPr>
          <p:spPr>
            <a:xfrm>
              <a:off x="5072066" y="1142984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4572000" y="1643050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072066" y="1643050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4572000" y="1142984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5072066" y="2143116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4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4572000" y="2643182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4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5072066" y="2643182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4572000" y="2143116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6072198" y="1142984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4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5572132" y="1643050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4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6072198" y="1643050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5572132" y="1142984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6072198" y="2143116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5572132" y="2643182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6072198" y="2643182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5572132" y="2143116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642910" y="357166"/>
            <a:ext cx="32147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由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=2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创建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=3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的过程</a:t>
            </a:r>
          </a:p>
        </p:txBody>
      </p:sp>
      <p:grpSp>
        <p:nvGrpSpPr>
          <p:cNvPr id="3" name="组合 30"/>
          <p:cNvGrpSpPr/>
          <p:nvPr/>
        </p:nvGrpSpPr>
        <p:grpSpPr>
          <a:xfrm>
            <a:off x="428596" y="1904518"/>
            <a:ext cx="1000132" cy="1000132"/>
            <a:chOff x="4286248" y="1500174"/>
            <a:chExt cx="1000132" cy="1000132"/>
          </a:xfrm>
        </p:grpSpPr>
        <p:sp>
          <p:nvSpPr>
            <p:cNvPr id="49" name="矩形 48"/>
            <p:cNvSpPr/>
            <p:nvPr/>
          </p:nvSpPr>
          <p:spPr>
            <a:xfrm>
              <a:off x="4786314" y="1500174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4286248" y="2000240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4786314" y="2000240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55" name="矩形 54"/>
            <p:cNvSpPr/>
            <p:nvPr/>
          </p:nvSpPr>
          <p:spPr>
            <a:xfrm>
              <a:off x="4286248" y="1500174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grpSp>
        <p:nvGrpSpPr>
          <p:cNvPr id="4" name="组合 31"/>
          <p:cNvGrpSpPr/>
          <p:nvPr/>
        </p:nvGrpSpPr>
        <p:grpSpPr>
          <a:xfrm>
            <a:off x="428596" y="2904650"/>
            <a:ext cx="1000132" cy="1000132"/>
            <a:chOff x="4286248" y="2500306"/>
            <a:chExt cx="1000132" cy="1000132"/>
          </a:xfrm>
        </p:grpSpPr>
        <p:sp>
          <p:nvSpPr>
            <p:cNvPr id="57" name="矩形 56"/>
            <p:cNvSpPr/>
            <p:nvPr/>
          </p:nvSpPr>
          <p:spPr>
            <a:xfrm>
              <a:off x="4786314" y="2500306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4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58" name="矩形 57"/>
            <p:cNvSpPr/>
            <p:nvPr/>
          </p:nvSpPr>
          <p:spPr>
            <a:xfrm>
              <a:off x="4286248" y="3000372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4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59" name="矩形 58"/>
            <p:cNvSpPr/>
            <p:nvPr/>
          </p:nvSpPr>
          <p:spPr>
            <a:xfrm>
              <a:off x="4786314" y="3000372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60" name="矩形 59"/>
            <p:cNvSpPr/>
            <p:nvPr/>
          </p:nvSpPr>
          <p:spPr>
            <a:xfrm>
              <a:off x="4286248" y="2500306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grpSp>
        <p:nvGrpSpPr>
          <p:cNvPr id="5" name="组合 32"/>
          <p:cNvGrpSpPr/>
          <p:nvPr/>
        </p:nvGrpSpPr>
        <p:grpSpPr>
          <a:xfrm>
            <a:off x="1428728" y="1904518"/>
            <a:ext cx="1000132" cy="1000132"/>
            <a:chOff x="4286248" y="2500306"/>
            <a:chExt cx="1000132" cy="1000132"/>
          </a:xfrm>
        </p:grpSpPr>
        <p:sp>
          <p:nvSpPr>
            <p:cNvPr id="67" name="矩形 66"/>
            <p:cNvSpPr/>
            <p:nvPr/>
          </p:nvSpPr>
          <p:spPr>
            <a:xfrm>
              <a:off x="4786314" y="2500306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4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68" name="矩形 67"/>
            <p:cNvSpPr/>
            <p:nvPr/>
          </p:nvSpPr>
          <p:spPr>
            <a:xfrm>
              <a:off x="4286248" y="3000372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4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69" name="矩形 68"/>
            <p:cNvSpPr/>
            <p:nvPr/>
          </p:nvSpPr>
          <p:spPr>
            <a:xfrm>
              <a:off x="4786314" y="3000372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70" name="矩形 69"/>
            <p:cNvSpPr/>
            <p:nvPr/>
          </p:nvSpPr>
          <p:spPr>
            <a:xfrm>
              <a:off x="4286248" y="2500306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grpSp>
        <p:nvGrpSpPr>
          <p:cNvPr id="6" name="组合 37"/>
          <p:cNvGrpSpPr/>
          <p:nvPr/>
        </p:nvGrpSpPr>
        <p:grpSpPr>
          <a:xfrm>
            <a:off x="1428728" y="2904650"/>
            <a:ext cx="1000132" cy="1000132"/>
            <a:chOff x="4286248" y="1500174"/>
            <a:chExt cx="1000132" cy="1000132"/>
          </a:xfrm>
        </p:grpSpPr>
        <p:sp>
          <p:nvSpPr>
            <p:cNvPr id="72" name="矩形 71"/>
            <p:cNvSpPr/>
            <p:nvPr/>
          </p:nvSpPr>
          <p:spPr>
            <a:xfrm>
              <a:off x="4786314" y="1500174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73" name="矩形 72"/>
            <p:cNvSpPr/>
            <p:nvPr/>
          </p:nvSpPr>
          <p:spPr>
            <a:xfrm>
              <a:off x="4286248" y="2000240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74" name="矩形 73"/>
            <p:cNvSpPr/>
            <p:nvPr/>
          </p:nvSpPr>
          <p:spPr>
            <a:xfrm>
              <a:off x="4786314" y="2000240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75" name="矩形 74"/>
            <p:cNvSpPr/>
            <p:nvPr/>
          </p:nvSpPr>
          <p:spPr>
            <a:xfrm>
              <a:off x="4286248" y="1500174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grpSp>
        <p:nvGrpSpPr>
          <p:cNvPr id="7" name="组合 77"/>
          <p:cNvGrpSpPr/>
          <p:nvPr/>
        </p:nvGrpSpPr>
        <p:grpSpPr>
          <a:xfrm>
            <a:off x="4572000" y="3143248"/>
            <a:ext cx="2000264" cy="2000264"/>
            <a:chOff x="4572000" y="1142984"/>
            <a:chExt cx="2000264" cy="2000264"/>
          </a:xfrm>
        </p:grpSpPr>
        <p:sp>
          <p:nvSpPr>
            <p:cNvPr id="79" name="矩形 78"/>
            <p:cNvSpPr/>
            <p:nvPr/>
          </p:nvSpPr>
          <p:spPr>
            <a:xfrm>
              <a:off x="5072066" y="1142984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6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80" name="矩形 79"/>
            <p:cNvSpPr/>
            <p:nvPr/>
          </p:nvSpPr>
          <p:spPr>
            <a:xfrm>
              <a:off x="4572000" y="1643050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6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81" name="矩形 80"/>
            <p:cNvSpPr/>
            <p:nvPr/>
          </p:nvSpPr>
          <p:spPr>
            <a:xfrm>
              <a:off x="5072066" y="1643050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5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82" name="矩形 81"/>
            <p:cNvSpPr/>
            <p:nvPr/>
          </p:nvSpPr>
          <p:spPr>
            <a:xfrm>
              <a:off x="4572000" y="1142984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5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83" name="矩形 82"/>
            <p:cNvSpPr/>
            <p:nvPr/>
          </p:nvSpPr>
          <p:spPr>
            <a:xfrm>
              <a:off x="5072066" y="2143116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8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84" name="矩形 83"/>
            <p:cNvSpPr/>
            <p:nvPr/>
          </p:nvSpPr>
          <p:spPr>
            <a:xfrm>
              <a:off x="4572000" y="2643182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8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85" name="矩形 84"/>
            <p:cNvSpPr/>
            <p:nvPr/>
          </p:nvSpPr>
          <p:spPr>
            <a:xfrm>
              <a:off x="5072066" y="2643182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7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86" name="矩形 85"/>
            <p:cNvSpPr/>
            <p:nvPr/>
          </p:nvSpPr>
          <p:spPr>
            <a:xfrm>
              <a:off x="4572000" y="2143116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7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87" name="矩形 86"/>
            <p:cNvSpPr/>
            <p:nvPr/>
          </p:nvSpPr>
          <p:spPr>
            <a:xfrm>
              <a:off x="6072198" y="1142984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8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88" name="矩形 87"/>
            <p:cNvSpPr/>
            <p:nvPr/>
          </p:nvSpPr>
          <p:spPr>
            <a:xfrm>
              <a:off x="5572132" y="1643050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8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89" name="矩形 88"/>
            <p:cNvSpPr/>
            <p:nvPr/>
          </p:nvSpPr>
          <p:spPr>
            <a:xfrm>
              <a:off x="6072198" y="1643050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7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90" name="矩形 89"/>
            <p:cNvSpPr/>
            <p:nvPr/>
          </p:nvSpPr>
          <p:spPr>
            <a:xfrm>
              <a:off x="5572132" y="1142984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7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91" name="矩形 90"/>
            <p:cNvSpPr/>
            <p:nvPr/>
          </p:nvSpPr>
          <p:spPr>
            <a:xfrm>
              <a:off x="6072198" y="2143116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6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92" name="矩形 91"/>
            <p:cNvSpPr/>
            <p:nvPr/>
          </p:nvSpPr>
          <p:spPr>
            <a:xfrm>
              <a:off x="5572132" y="2643182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6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93" name="矩形 92"/>
            <p:cNvSpPr/>
            <p:nvPr/>
          </p:nvSpPr>
          <p:spPr>
            <a:xfrm>
              <a:off x="6072198" y="2643182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5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94" name="矩形 93"/>
            <p:cNvSpPr/>
            <p:nvPr/>
          </p:nvSpPr>
          <p:spPr>
            <a:xfrm>
              <a:off x="5572132" y="2143116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5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95" name="TextBox 94"/>
          <p:cNvSpPr txBox="1"/>
          <p:nvPr/>
        </p:nvSpPr>
        <p:spPr>
          <a:xfrm>
            <a:off x="6429388" y="5786454"/>
            <a:ext cx="6429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=3</a:t>
            </a:r>
            <a:endParaRPr lang="zh-CN" altLang="en-US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2786050" y="3143248"/>
            <a:ext cx="12144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加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  <a:r>
              <a:rPr lang="en-US" altLang="zh-CN" sz="2000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en-US" altLang="zh-CN" sz="2000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=4</a:t>
            </a:r>
            <a:endParaRPr lang="zh-CN" altLang="en-US" sz="20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8" name="组合 96"/>
          <p:cNvGrpSpPr/>
          <p:nvPr/>
        </p:nvGrpSpPr>
        <p:grpSpPr>
          <a:xfrm>
            <a:off x="6572264" y="3143248"/>
            <a:ext cx="2000264" cy="2000264"/>
            <a:chOff x="4572000" y="1142984"/>
            <a:chExt cx="2000264" cy="2000264"/>
          </a:xfrm>
        </p:grpSpPr>
        <p:sp>
          <p:nvSpPr>
            <p:cNvPr id="98" name="矩形 97"/>
            <p:cNvSpPr/>
            <p:nvPr/>
          </p:nvSpPr>
          <p:spPr>
            <a:xfrm>
              <a:off x="5072066" y="1142984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99" name="矩形 98"/>
            <p:cNvSpPr/>
            <p:nvPr/>
          </p:nvSpPr>
          <p:spPr>
            <a:xfrm>
              <a:off x="4572000" y="1643050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00" name="矩形 99"/>
            <p:cNvSpPr/>
            <p:nvPr/>
          </p:nvSpPr>
          <p:spPr>
            <a:xfrm>
              <a:off x="5072066" y="1643050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01" name="矩形 100"/>
            <p:cNvSpPr/>
            <p:nvPr/>
          </p:nvSpPr>
          <p:spPr>
            <a:xfrm>
              <a:off x="4572000" y="1142984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02" name="矩形 101"/>
            <p:cNvSpPr/>
            <p:nvPr/>
          </p:nvSpPr>
          <p:spPr>
            <a:xfrm>
              <a:off x="5072066" y="2143116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4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03" name="矩形 102"/>
            <p:cNvSpPr/>
            <p:nvPr/>
          </p:nvSpPr>
          <p:spPr>
            <a:xfrm>
              <a:off x="4572000" y="2643182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4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04" name="矩形 103"/>
            <p:cNvSpPr/>
            <p:nvPr/>
          </p:nvSpPr>
          <p:spPr>
            <a:xfrm>
              <a:off x="5072066" y="2643182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05" name="矩形 104"/>
            <p:cNvSpPr/>
            <p:nvPr/>
          </p:nvSpPr>
          <p:spPr>
            <a:xfrm>
              <a:off x="4572000" y="2143116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06" name="矩形 105"/>
            <p:cNvSpPr/>
            <p:nvPr/>
          </p:nvSpPr>
          <p:spPr>
            <a:xfrm>
              <a:off x="6072198" y="1142984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4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07" name="矩形 106"/>
            <p:cNvSpPr/>
            <p:nvPr/>
          </p:nvSpPr>
          <p:spPr>
            <a:xfrm>
              <a:off x="5572132" y="1643050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4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08" name="矩形 107"/>
            <p:cNvSpPr/>
            <p:nvPr/>
          </p:nvSpPr>
          <p:spPr>
            <a:xfrm>
              <a:off x="6072198" y="1643050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09" name="矩形 108"/>
            <p:cNvSpPr/>
            <p:nvPr/>
          </p:nvSpPr>
          <p:spPr>
            <a:xfrm>
              <a:off x="5572132" y="1142984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3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10" name="矩形 109"/>
            <p:cNvSpPr/>
            <p:nvPr/>
          </p:nvSpPr>
          <p:spPr>
            <a:xfrm>
              <a:off x="6072198" y="2143116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11" name="矩形 110"/>
            <p:cNvSpPr/>
            <p:nvPr/>
          </p:nvSpPr>
          <p:spPr>
            <a:xfrm>
              <a:off x="5572132" y="2643182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2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12" name="矩形 111"/>
            <p:cNvSpPr/>
            <p:nvPr/>
          </p:nvSpPr>
          <p:spPr>
            <a:xfrm>
              <a:off x="6072198" y="2643182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13" name="矩形 112"/>
            <p:cNvSpPr/>
            <p:nvPr/>
          </p:nvSpPr>
          <p:spPr>
            <a:xfrm>
              <a:off x="5572132" y="2143116"/>
              <a:ext cx="500066" cy="500066"/>
            </a:xfrm>
            <a:prstGeom prst="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1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grpSp>
        <p:nvGrpSpPr>
          <p:cNvPr id="9" name="组合 113"/>
          <p:cNvGrpSpPr/>
          <p:nvPr/>
        </p:nvGrpSpPr>
        <p:grpSpPr>
          <a:xfrm>
            <a:off x="6572264" y="1142984"/>
            <a:ext cx="2000264" cy="2000264"/>
            <a:chOff x="4572000" y="1142984"/>
            <a:chExt cx="2000264" cy="2000264"/>
          </a:xfrm>
        </p:grpSpPr>
        <p:sp>
          <p:nvSpPr>
            <p:cNvPr id="115" name="矩形 114"/>
            <p:cNvSpPr/>
            <p:nvPr/>
          </p:nvSpPr>
          <p:spPr>
            <a:xfrm>
              <a:off x="5072066" y="1142984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6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16" name="矩形 115"/>
            <p:cNvSpPr/>
            <p:nvPr/>
          </p:nvSpPr>
          <p:spPr>
            <a:xfrm>
              <a:off x="4572000" y="1643050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6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17" name="矩形 116"/>
            <p:cNvSpPr/>
            <p:nvPr/>
          </p:nvSpPr>
          <p:spPr>
            <a:xfrm>
              <a:off x="5072066" y="1643050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5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18" name="矩形 117"/>
            <p:cNvSpPr/>
            <p:nvPr/>
          </p:nvSpPr>
          <p:spPr>
            <a:xfrm>
              <a:off x="4572000" y="1142984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5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19" name="矩形 118"/>
            <p:cNvSpPr/>
            <p:nvPr/>
          </p:nvSpPr>
          <p:spPr>
            <a:xfrm>
              <a:off x="5072066" y="2143116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8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20" name="矩形 119"/>
            <p:cNvSpPr/>
            <p:nvPr/>
          </p:nvSpPr>
          <p:spPr>
            <a:xfrm>
              <a:off x="4572000" y="2643182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8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21" name="矩形 120"/>
            <p:cNvSpPr/>
            <p:nvPr/>
          </p:nvSpPr>
          <p:spPr>
            <a:xfrm>
              <a:off x="5072066" y="2643182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7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22" name="矩形 121"/>
            <p:cNvSpPr/>
            <p:nvPr/>
          </p:nvSpPr>
          <p:spPr>
            <a:xfrm>
              <a:off x="4572000" y="2143116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7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23" name="矩形 122"/>
            <p:cNvSpPr/>
            <p:nvPr/>
          </p:nvSpPr>
          <p:spPr>
            <a:xfrm>
              <a:off x="6072198" y="1142984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8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24" name="矩形 123"/>
            <p:cNvSpPr/>
            <p:nvPr/>
          </p:nvSpPr>
          <p:spPr>
            <a:xfrm>
              <a:off x="5572132" y="1643050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8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25" name="矩形 124"/>
            <p:cNvSpPr/>
            <p:nvPr/>
          </p:nvSpPr>
          <p:spPr>
            <a:xfrm>
              <a:off x="6072198" y="1643050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7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26" name="矩形 125"/>
            <p:cNvSpPr/>
            <p:nvPr/>
          </p:nvSpPr>
          <p:spPr>
            <a:xfrm>
              <a:off x="5572132" y="1142984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7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27" name="矩形 126"/>
            <p:cNvSpPr/>
            <p:nvPr/>
          </p:nvSpPr>
          <p:spPr>
            <a:xfrm>
              <a:off x="6072198" y="2143116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6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28" name="矩形 127"/>
            <p:cNvSpPr/>
            <p:nvPr/>
          </p:nvSpPr>
          <p:spPr>
            <a:xfrm>
              <a:off x="5572132" y="2643182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6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29" name="矩形 128"/>
            <p:cNvSpPr/>
            <p:nvPr/>
          </p:nvSpPr>
          <p:spPr>
            <a:xfrm>
              <a:off x="6072198" y="2643182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5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130" name="矩形 129"/>
            <p:cNvSpPr/>
            <p:nvPr/>
          </p:nvSpPr>
          <p:spPr>
            <a:xfrm>
              <a:off x="5572132" y="2143116"/>
              <a:ext cx="500066" cy="5000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5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131" name="灯片编号占位符 1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111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  <p:bldP spid="96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71472" y="928670"/>
            <a:ext cx="7500990" cy="2631490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>
              <a:lnSpc>
                <a:spcPts val="3000"/>
              </a:lnSpc>
              <a:spcBef>
                <a:spcPts val="12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=2</a:t>
            </a:r>
            <a:r>
              <a:rPr lang="en-US" altLang="zh-CN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问题划分为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4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部分：</a:t>
            </a:r>
          </a:p>
          <a:p>
            <a:pPr algn="l">
              <a:lnSpc>
                <a:spcPts val="3000"/>
              </a:lnSpc>
              <a:spcBef>
                <a:spcPts val="1200"/>
              </a:spcBef>
            </a:pPr>
            <a:r>
              <a:rPr lang="en-US" altLang="zh-CN"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</a:t>
            </a: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Consolas" pitchFamily="49" charset="0"/>
              </a:rPr>
              <a:t>左上角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：左上角为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  <a:r>
              <a:rPr lang="en-US" altLang="zh-CN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en-US" altLang="zh-CN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个选手的比赛日程。</a:t>
            </a:r>
          </a:p>
          <a:p>
            <a:pPr algn="l">
              <a:lnSpc>
                <a:spcPts val="3000"/>
              </a:lnSpc>
              <a:spcBef>
                <a:spcPts val="12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</a:t>
            </a: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Consolas" pitchFamily="49" charset="0"/>
              </a:rPr>
              <a:t>左下角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：左下角由左上角加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  <a:r>
              <a:rPr lang="en-US" altLang="zh-CN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</a:t>
            </a:r>
            <a:r>
              <a:rPr lang="en-US" altLang="zh-CN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得到。</a:t>
            </a:r>
          </a:p>
          <a:p>
            <a:pPr algn="l">
              <a:lnSpc>
                <a:spcPts val="3000"/>
              </a:lnSpc>
              <a:spcBef>
                <a:spcPts val="12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</a:t>
            </a: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Consolas" pitchFamily="49" charset="0"/>
              </a:rPr>
              <a:t>右上</a:t>
            </a:r>
            <a:r>
              <a:rPr lang="zh-CN" altLang="zh-CN">
                <a:solidFill>
                  <a:srgbClr val="C0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角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：将左下角直接复制到右上角。</a:t>
            </a:r>
          </a:p>
          <a:p>
            <a:pPr algn="l">
              <a:lnSpc>
                <a:spcPts val="3000"/>
              </a:lnSpc>
              <a:spcBef>
                <a:spcPts val="12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4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）</a:t>
            </a: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cs typeface="Consolas" pitchFamily="49" charset="0"/>
              </a:rPr>
              <a:t>右下角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：将左上角直接复制到右下角。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112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428604"/>
            <a:ext cx="8786874" cy="4886054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a[MAX][MAX];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存放比赛日程表（行列下标为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的元素不用）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plan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(int k) {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分治算法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n=2;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//n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从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2^1=2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开始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a[1][1]=1; a[1][2]=2;   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//2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个选手程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,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得到左上角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a[2][1]=2; a[2][2]=1;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 (int t=1;t&lt;k;t++) {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迭代处理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int tmp=n;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//tmp=2^t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n=n*2; 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//n=2^(t+1)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for (int i=tmp+1;i&lt;=n;i++) {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填左下角元素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for (int j=1; j&lt;=tmp; j++)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a[i][j]=a[i-tmp][j]+tmp; 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	//</a:t>
            </a:r>
            <a:r>
              <a:rPr lang="zh-CN" altLang="en-US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复制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113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4282" y="428604"/>
            <a:ext cx="8786874" cy="4167909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for (int i=1; i&lt;=tmp;i++) {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填右上角元素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for (int j=tmp+1; j&lt;=n; j++)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a[i][j]=a[i+tmp][(j+tmp)% n];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for (int i=tmp+1;i&lt;=n;i++) {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填右下角元素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for (int j=tmp+1; j&lt;=n; j++)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a[i][j]=a[i-tmp][j-tmp];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114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14348" y="928670"/>
            <a:ext cx="7286676" cy="46166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  <a:sym typeface="Wingdings"/>
              </a:rPr>
              <a:t>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plan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算法分析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同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棋盘覆盖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问题。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115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hlinkClick r:id="" action="ppaction://noaction"/>
          </p:cNvPr>
          <p:cNvSpPr txBox="1"/>
          <p:nvPr/>
        </p:nvSpPr>
        <p:spPr>
          <a:xfrm>
            <a:off x="2357422" y="214290"/>
            <a:ext cx="392909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4.8 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旅行商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472" y="1097805"/>
            <a:ext cx="8286808" cy="830997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sym typeface="Wingdings"/>
              </a:rPr>
              <a:t></a:t>
            </a: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问题描述</a:t>
            </a:r>
            <a:r>
              <a:rPr lang="zh-CN" altLang="zh-CN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问题描述参见第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章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3.10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节，这里采用分治法求解。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58" y="2424847"/>
            <a:ext cx="8429684" cy="1603104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tIns="108000" bIns="108000" rtlCol="0">
            <a:spAutoFit/>
          </a:bodyPr>
          <a:lstStyle/>
          <a:p>
            <a:pPr algn="l" defTabSz="360000">
              <a:lnSpc>
                <a:spcPts val="3600"/>
              </a:lnSpc>
              <a:spcBef>
                <a:spcPts val="0"/>
              </a:spcBef>
            </a:pPr>
            <a:r>
              <a:rPr lang="en-US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  <a:sym typeface="Wingdings"/>
              </a:rPr>
              <a:t></a:t>
            </a: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问题描述</a:t>
            </a:r>
            <a:r>
              <a:rPr lang="zh-CN" altLang="zh-CN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假设有一个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旅行商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要拜访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rPr>
              <a:t>个城市，他必须选择所要走的路径，路径的限制是每个城市只能拜访一次，而且最后要回到原来出发的城市，要求路径长度最短的路径。</a:t>
            </a:r>
          </a:p>
        </p:txBody>
      </p:sp>
      <p:grpSp>
        <p:nvGrpSpPr>
          <p:cNvPr id="6" name="组合 98"/>
          <p:cNvGrpSpPr/>
          <p:nvPr/>
        </p:nvGrpSpPr>
        <p:grpSpPr>
          <a:xfrm>
            <a:off x="928662" y="4139358"/>
            <a:ext cx="7286676" cy="2432914"/>
            <a:chOff x="1214414" y="3429000"/>
            <a:chExt cx="6286544" cy="2000264"/>
          </a:xfrm>
        </p:grpSpPr>
        <p:sp>
          <p:nvSpPr>
            <p:cNvPr id="7" name="Text Box 29"/>
            <p:cNvSpPr txBox="1">
              <a:spLocks noChangeArrowheads="1"/>
            </p:cNvSpPr>
            <p:nvPr/>
          </p:nvSpPr>
          <p:spPr bwMode="auto">
            <a:xfrm>
              <a:off x="1940597" y="4749139"/>
              <a:ext cx="244951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8</a:t>
              </a:r>
            </a:p>
          </p:txBody>
        </p:sp>
        <p:sp>
          <p:nvSpPr>
            <p:cNvPr id="8" name="Text Box 28"/>
            <p:cNvSpPr txBox="1">
              <a:spLocks noChangeArrowheads="1"/>
            </p:cNvSpPr>
            <p:nvPr/>
          </p:nvSpPr>
          <p:spPr bwMode="auto">
            <a:xfrm>
              <a:off x="1745503" y="4536871"/>
              <a:ext cx="246035" cy="24692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9</a:t>
              </a:r>
            </a:p>
          </p:txBody>
        </p:sp>
        <p:sp>
          <p:nvSpPr>
            <p:cNvPr id="9" name="Text Box 27"/>
            <p:cNvSpPr txBox="1">
              <a:spLocks noChangeArrowheads="1"/>
            </p:cNvSpPr>
            <p:nvPr/>
          </p:nvSpPr>
          <p:spPr bwMode="auto">
            <a:xfrm>
              <a:off x="1774767" y="4223883"/>
              <a:ext cx="247119" cy="24475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7</a:t>
              </a:r>
            </a:p>
          </p:txBody>
        </p:sp>
        <p:sp>
          <p:nvSpPr>
            <p:cNvPr id="10" name="Text Box 26"/>
            <p:cNvSpPr txBox="1">
              <a:spLocks noChangeArrowheads="1"/>
            </p:cNvSpPr>
            <p:nvPr/>
          </p:nvSpPr>
          <p:spPr bwMode="auto">
            <a:xfrm>
              <a:off x="2056569" y="3941220"/>
              <a:ext cx="246035" cy="24692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36</a:t>
              </a:r>
            </a:p>
          </p:txBody>
        </p:sp>
        <p:sp>
          <p:nvSpPr>
            <p:cNvPr id="11" name="Text Box 25"/>
            <p:cNvSpPr txBox="1">
              <a:spLocks noChangeArrowheads="1"/>
            </p:cNvSpPr>
            <p:nvPr/>
          </p:nvSpPr>
          <p:spPr bwMode="auto">
            <a:xfrm>
              <a:off x="1498384" y="4328934"/>
              <a:ext cx="244951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8</a:t>
              </a:r>
            </a:p>
          </p:txBody>
        </p:sp>
        <p:sp>
          <p:nvSpPr>
            <p:cNvPr id="12" name="Text Box 24"/>
            <p:cNvSpPr txBox="1">
              <a:spLocks noChangeArrowheads="1"/>
            </p:cNvSpPr>
            <p:nvPr/>
          </p:nvSpPr>
          <p:spPr bwMode="auto">
            <a:xfrm>
              <a:off x="1214414" y="4332183"/>
              <a:ext cx="247119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5</a:t>
              </a:r>
            </a:p>
          </p:txBody>
        </p:sp>
        <p:sp>
          <p:nvSpPr>
            <p:cNvPr id="13" name="Text Box 23"/>
            <p:cNvSpPr txBox="1">
              <a:spLocks noChangeArrowheads="1"/>
            </p:cNvSpPr>
            <p:nvPr/>
          </p:nvSpPr>
          <p:spPr bwMode="auto">
            <a:xfrm>
              <a:off x="2485776" y="3789599"/>
              <a:ext cx="246035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8</a:t>
              </a:r>
            </a:p>
          </p:txBody>
        </p:sp>
        <p:sp>
          <p:nvSpPr>
            <p:cNvPr id="14" name="Text Box 22"/>
            <p:cNvSpPr txBox="1">
              <a:spLocks noChangeArrowheads="1"/>
            </p:cNvSpPr>
            <p:nvPr/>
          </p:nvSpPr>
          <p:spPr bwMode="auto">
            <a:xfrm>
              <a:off x="2485776" y="3500438"/>
              <a:ext cx="246035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6</a:t>
              </a:r>
            </a:p>
          </p:txBody>
        </p:sp>
        <p:sp>
          <p:nvSpPr>
            <p:cNvPr id="15" name="Oval 21"/>
            <p:cNvSpPr>
              <a:spLocks noChangeArrowheads="1"/>
            </p:cNvSpPr>
            <p:nvPr/>
          </p:nvSpPr>
          <p:spPr bwMode="auto">
            <a:xfrm>
              <a:off x="1318464" y="3652058"/>
              <a:ext cx="368511" cy="36822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16" name="Oval 20"/>
            <p:cNvSpPr>
              <a:spLocks noChangeArrowheads="1"/>
            </p:cNvSpPr>
            <p:nvPr/>
          </p:nvSpPr>
          <p:spPr bwMode="auto">
            <a:xfrm>
              <a:off x="1318464" y="4978735"/>
              <a:ext cx="368511" cy="36822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18" name="Oval 19"/>
            <p:cNvSpPr>
              <a:spLocks noChangeArrowheads="1"/>
            </p:cNvSpPr>
            <p:nvPr/>
          </p:nvSpPr>
          <p:spPr bwMode="auto">
            <a:xfrm>
              <a:off x="3165353" y="3620651"/>
              <a:ext cx="368511" cy="36822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19" name="Oval 18"/>
            <p:cNvSpPr>
              <a:spLocks noChangeArrowheads="1"/>
            </p:cNvSpPr>
            <p:nvPr/>
          </p:nvSpPr>
          <p:spPr bwMode="auto">
            <a:xfrm>
              <a:off x="3165353" y="4947328"/>
              <a:ext cx="368511" cy="36822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3</a:t>
              </a:r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1704316" y="3836169"/>
              <a:ext cx="1475126" cy="108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70" y="6"/>
                </a:cxn>
              </a:cxnLst>
              <a:rect l="0" t="0" r="r" b="b"/>
              <a:pathLst>
                <a:path w="1270" h="6">
                  <a:moveTo>
                    <a:pt x="0" y="0"/>
                  </a:moveTo>
                  <a:lnTo>
                    <a:pt x="1270" y="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21" name="Freeform 16"/>
            <p:cNvSpPr>
              <a:spLocks/>
            </p:cNvSpPr>
            <p:nvPr/>
          </p:nvSpPr>
          <p:spPr bwMode="auto">
            <a:xfrm>
              <a:off x="1684807" y="3758192"/>
              <a:ext cx="1475126" cy="1083"/>
            </a:xfrm>
            <a:custGeom>
              <a:avLst/>
              <a:gdLst/>
              <a:ahLst/>
              <a:cxnLst>
                <a:cxn ang="0">
                  <a:pos x="1267" y="14"/>
                </a:cxn>
                <a:cxn ang="0">
                  <a:pos x="0" y="0"/>
                </a:cxn>
              </a:cxnLst>
              <a:rect l="0" t="0" r="r" b="b"/>
              <a:pathLst>
                <a:path w="1267" h="14">
                  <a:moveTo>
                    <a:pt x="1267" y="14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22" name="Text Box 15"/>
            <p:cNvSpPr txBox="1">
              <a:spLocks noChangeArrowheads="1"/>
            </p:cNvSpPr>
            <p:nvPr/>
          </p:nvSpPr>
          <p:spPr bwMode="auto">
            <a:xfrm>
              <a:off x="2274424" y="5183423"/>
              <a:ext cx="246035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5</a:t>
              </a:r>
            </a:p>
          </p:txBody>
        </p:sp>
        <p:sp>
          <p:nvSpPr>
            <p:cNvPr id="23" name="Text Box 14"/>
            <p:cNvSpPr txBox="1">
              <a:spLocks noChangeArrowheads="1"/>
            </p:cNvSpPr>
            <p:nvPr/>
          </p:nvSpPr>
          <p:spPr bwMode="auto">
            <a:xfrm>
              <a:off x="2274424" y="4855273"/>
              <a:ext cx="246035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8</a:t>
              </a:r>
            </a:p>
          </p:txBody>
        </p:sp>
        <p:sp>
          <p:nvSpPr>
            <p:cNvPr id="24" name="Freeform 13"/>
            <p:cNvSpPr>
              <a:spLocks/>
            </p:cNvSpPr>
            <p:nvPr/>
          </p:nvSpPr>
          <p:spPr bwMode="auto">
            <a:xfrm>
              <a:off x="1689142" y="5204000"/>
              <a:ext cx="1475126" cy="216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341" y="0"/>
                </a:cxn>
              </a:cxnLst>
              <a:rect l="0" t="0" r="r" b="b"/>
              <a:pathLst>
                <a:path w="1341" h="2">
                  <a:moveTo>
                    <a:pt x="0" y="2"/>
                  </a:moveTo>
                  <a:lnTo>
                    <a:pt x="1341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25" name="Freeform 12"/>
            <p:cNvSpPr>
              <a:spLocks/>
            </p:cNvSpPr>
            <p:nvPr/>
          </p:nvSpPr>
          <p:spPr bwMode="auto">
            <a:xfrm>
              <a:off x="1679388" y="5118443"/>
              <a:ext cx="1475126" cy="1083"/>
            </a:xfrm>
            <a:custGeom>
              <a:avLst/>
              <a:gdLst/>
              <a:ahLst/>
              <a:cxnLst>
                <a:cxn ang="0">
                  <a:pos x="1344" y="3"/>
                </a:cxn>
                <a:cxn ang="0">
                  <a:pos x="0" y="0"/>
                </a:cxn>
              </a:cxnLst>
              <a:rect l="0" t="0" r="r" b="b"/>
              <a:pathLst>
                <a:path w="1344" h="3">
                  <a:moveTo>
                    <a:pt x="1344" y="3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26" name="Line 11"/>
            <p:cNvSpPr>
              <a:spLocks noChangeShapeType="1"/>
            </p:cNvSpPr>
            <p:nvPr/>
          </p:nvSpPr>
          <p:spPr bwMode="auto">
            <a:xfrm>
              <a:off x="1442023" y="4023528"/>
              <a:ext cx="1084" cy="98228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27" name="Line 10"/>
            <p:cNvSpPr>
              <a:spLocks noChangeShapeType="1"/>
            </p:cNvSpPr>
            <p:nvPr/>
          </p:nvSpPr>
          <p:spPr bwMode="auto">
            <a:xfrm flipV="1">
              <a:off x="1531983" y="3995370"/>
              <a:ext cx="1084" cy="98228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28" name="Text Box 9"/>
            <p:cNvSpPr txBox="1">
              <a:spLocks noChangeArrowheads="1"/>
            </p:cNvSpPr>
            <p:nvPr/>
          </p:nvSpPr>
          <p:spPr bwMode="auto">
            <a:xfrm>
              <a:off x="3370201" y="4299693"/>
              <a:ext cx="247119" cy="24584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7</a:t>
              </a:r>
            </a:p>
          </p:txBody>
        </p:sp>
        <p:sp>
          <p:nvSpPr>
            <p:cNvPr id="29" name="Text Box 8"/>
            <p:cNvSpPr txBox="1">
              <a:spLocks noChangeArrowheads="1"/>
            </p:cNvSpPr>
            <p:nvPr/>
          </p:nvSpPr>
          <p:spPr bwMode="auto">
            <a:xfrm>
              <a:off x="3068889" y="4304025"/>
              <a:ext cx="244951" cy="24475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5</a:t>
              </a:r>
            </a:p>
          </p:txBody>
        </p:sp>
        <p:sp>
          <p:nvSpPr>
            <p:cNvPr id="30" name="Line 7"/>
            <p:cNvSpPr>
              <a:spLocks noChangeShapeType="1"/>
            </p:cNvSpPr>
            <p:nvPr/>
          </p:nvSpPr>
          <p:spPr bwMode="auto">
            <a:xfrm>
              <a:off x="3316008" y="3974793"/>
              <a:ext cx="1084" cy="98228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31" name="Line 6"/>
            <p:cNvSpPr>
              <a:spLocks noChangeShapeType="1"/>
            </p:cNvSpPr>
            <p:nvPr/>
          </p:nvSpPr>
          <p:spPr bwMode="auto">
            <a:xfrm flipV="1">
              <a:off x="3394046" y="3971544"/>
              <a:ext cx="1084" cy="98228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32" name="Freeform 5"/>
            <p:cNvSpPr>
              <a:spLocks/>
            </p:cNvSpPr>
            <p:nvPr/>
          </p:nvSpPr>
          <p:spPr bwMode="auto">
            <a:xfrm>
              <a:off x="1669633" y="3919560"/>
              <a:ext cx="1549912" cy="10667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30" y="985"/>
                </a:cxn>
              </a:cxnLst>
              <a:rect l="0" t="0" r="r" b="b"/>
              <a:pathLst>
                <a:path w="1430" h="985">
                  <a:moveTo>
                    <a:pt x="0" y="0"/>
                  </a:moveTo>
                  <a:lnTo>
                    <a:pt x="1430" y="985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33" name="Freeform 4"/>
            <p:cNvSpPr>
              <a:spLocks/>
            </p:cNvSpPr>
            <p:nvPr/>
          </p:nvSpPr>
          <p:spPr bwMode="auto">
            <a:xfrm>
              <a:off x="1581841" y="3997536"/>
              <a:ext cx="1585680" cy="1060259"/>
            </a:xfrm>
            <a:custGeom>
              <a:avLst/>
              <a:gdLst/>
              <a:ahLst/>
              <a:cxnLst>
                <a:cxn ang="0">
                  <a:pos x="1463" y="979"/>
                </a:cxn>
                <a:cxn ang="0">
                  <a:pos x="0" y="0"/>
                </a:cxn>
              </a:cxnLst>
              <a:rect l="0" t="0" r="r" b="b"/>
              <a:pathLst>
                <a:path w="1463" h="979">
                  <a:moveTo>
                    <a:pt x="1463" y="979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34" name="Freeform 3"/>
            <p:cNvSpPr>
              <a:spLocks/>
            </p:cNvSpPr>
            <p:nvPr/>
          </p:nvSpPr>
          <p:spPr bwMode="auto">
            <a:xfrm>
              <a:off x="1564499" y="3907647"/>
              <a:ext cx="1629034" cy="1080836"/>
            </a:xfrm>
            <a:custGeom>
              <a:avLst/>
              <a:gdLst/>
              <a:ahLst/>
              <a:cxnLst>
                <a:cxn ang="0">
                  <a:pos x="0" y="998"/>
                </a:cxn>
                <a:cxn ang="0">
                  <a:pos x="1503" y="0"/>
                </a:cxn>
              </a:cxnLst>
              <a:rect l="0" t="0" r="r" b="b"/>
              <a:pathLst>
                <a:path w="1503" h="998">
                  <a:moveTo>
                    <a:pt x="0" y="998"/>
                  </a:moveTo>
                  <a:lnTo>
                    <a:pt x="150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35" name="Freeform 2"/>
            <p:cNvSpPr>
              <a:spLocks/>
            </p:cNvSpPr>
            <p:nvPr/>
          </p:nvSpPr>
          <p:spPr bwMode="auto">
            <a:xfrm>
              <a:off x="1633866" y="3959631"/>
              <a:ext cx="1611692" cy="1067840"/>
            </a:xfrm>
            <a:custGeom>
              <a:avLst/>
              <a:gdLst/>
              <a:ahLst/>
              <a:cxnLst>
                <a:cxn ang="0">
                  <a:pos x="1487" y="0"/>
                </a:cxn>
                <a:cxn ang="0">
                  <a:pos x="0" y="986"/>
                </a:cxn>
              </a:cxnLst>
              <a:rect l="0" t="0" r="r" b="b"/>
              <a:pathLst>
                <a:path w="1487" h="986">
                  <a:moveTo>
                    <a:pt x="1487" y="0"/>
                  </a:moveTo>
                  <a:lnTo>
                    <a:pt x="0" y="98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214810" y="3429000"/>
              <a:ext cx="3286148" cy="19231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路径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28</a:t>
              </a:r>
              <a:endParaRPr lang="zh-CN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  <a:p>
              <a:pPr algn="l"/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路径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29</a:t>
              </a:r>
              <a:endParaRPr lang="zh-CN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  <a:p>
              <a:pPr algn="l"/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路径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26</a:t>
              </a:r>
              <a:endParaRPr lang="zh-CN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  <a:p>
              <a:pPr algn="l"/>
              <a:r>
                <a:rPr lang="zh-CN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路径</a:t>
              </a:r>
              <a:r>
                <a:rPr lang="en-US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4</a:t>
              </a:r>
              <a:r>
                <a:rPr lang="zh-CN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lang="en-US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lang="zh-CN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r>
                <a:rPr lang="zh-CN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  <a:r>
                <a:rPr lang="zh-CN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lang="zh-CN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lang="zh-CN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lang="en-US" altLang="zh-CN" sz="2000">
                  <a:solidFill>
                    <a:srgbClr val="FF3300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23</a:t>
              </a:r>
              <a:endParaRPr lang="zh-CN" altLang="zh-CN" sz="2000">
                <a:solidFill>
                  <a:srgbClr val="FF3300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  <a:p>
              <a:pPr algn="l"/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路径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5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59</a:t>
              </a:r>
              <a:endParaRPr lang="zh-CN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  <a:p>
              <a:pPr algn="l"/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路径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6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→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r>
                <a:rPr lang="zh-CN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：</a:t>
              </a:r>
              <a:r>
                <a:rPr lang="en-US" altLang="zh-CN" sz="2000" b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59</a:t>
              </a:r>
              <a:endParaRPr lang="zh-CN" altLang="zh-CN" sz="2000" b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Times New Roman" pitchFamily="18" charset="0"/>
              </a:endParaRPr>
            </a:p>
          </p:txBody>
        </p:sp>
      </p:grpSp>
      <p:sp>
        <p:nvSpPr>
          <p:cNvPr id="37" name="上箭头 36"/>
          <p:cNvSpPr/>
          <p:nvPr/>
        </p:nvSpPr>
        <p:spPr>
          <a:xfrm>
            <a:off x="4214810" y="1928802"/>
            <a:ext cx="357190" cy="357190"/>
          </a:xfrm>
          <a:prstGeom prst="upArrow">
            <a:avLst/>
          </a:prstGeom>
          <a:ln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灯片编号占位符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116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158" y="785794"/>
            <a:ext cx="928694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7158" y="1500174"/>
            <a:ext cx="8358246" cy="929100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设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表示从顶点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出发经过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（一个顶点的集合）中全部顶点（每个顶点恰好经过一次）到达顶点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的最短路径长度。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2143108" y="2786058"/>
            <a:ext cx="3539064" cy="1781408"/>
            <a:chOff x="368183" y="1081456"/>
            <a:chExt cx="3539064" cy="1781408"/>
          </a:xfrm>
        </p:grpSpPr>
        <p:sp>
          <p:nvSpPr>
            <p:cNvPr id="7" name="Text Box 33"/>
            <p:cNvSpPr txBox="1">
              <a:spLocks noChangeArrowheads="1"/>
            </p:cNvSpPr>
            <p:nvPr/>
          </p:nvSpPr>
          <p:spPr bwMode="auto">
            <a:xfrm>
              <a:off x="1141320" y="1081456"/>
              <a:ext cx="312838" cy="28368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V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8" name="Oval 32"/>
            <p:cNvSpPr>
              <a:spLocks noChangeArrowheads="1"/>
            </p:cNvSpPr>
            <p:nvPr/>
          </p:nvSpPr>
          <p:spPr bwMode="auto">
            <a:xfrm>
              <a:off x="1258461" y="1081456"/>
              <a:ext cx="1849464" cy="130446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00FF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9" name="Oval 31"/>
            <p:cNvSpPr>
              <a:spLocks noChangeArrowheads="1"/>
            </p:cNvSpPr>
            <p:nvPr/>
          </p:nvSpPr>
          <p:spPr bwMode="auto">
            <a:xfrm>
              <a:off x="1659500" y="1889160"/>
              <a:ext cx="272872" cy="281210"/>
            </a:xfrm>
            <a:prstGeom prst="ellipse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0" name="Oval 30"/>
            <p:cNvSpPr>
              <a:spLocks noChangeArrowheads="1"/>
            </p:cNvSpPr>
            <p:nvPr/>
          </p:nvSpPr>
          <p:spPr bwMode="auto">
            <a:xfrm>
              <a:off x="2015060" y="1226397"/>
              <a:ext cx="272872" cy="281210"/>
            </a:xfrm>
            <a:prstGeom prst="ellipse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1" name="Oval 29"/>
            <p:cNvSpPr>
              <a:spLocks noChangeArrowheads="1"/>
            </p:cNvSpPr>
            <p:nvPr/>
          </p:nvSpPr>
          <p:spPr bwMode="auto">
            <a:xfrm>
              <a:off x="2489140" y="1866862"/>
              <a:ext cx="272872" cy="281210"/>
            </a:xfrm>
            <a:prstGeom prst="ellipse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2" name="AutoShape 28"/>
            <p:cNvSpPr>
              <a:spLocks noChangeShapeType="1"/>
            </p:cNvSpPr>
            <p:nvPr/>
          </p:nvSpPr>
          <p:spPr bwMode="auto">
            <a:xfrm flipV="1">
              <a:off x="1795936" y="1466726"/>
              <a:ext cx="259090" cy="422434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3" name="AutoShape 27"/>
            <p:cNvSpPr>
              <a:spLocks noChangeShapeType="1"/>
            </p:cNvSpPr>
            <p:nvPr/>
          </p:nvSpPr>
          <p:spPr bwMode="auto">
            <a:xfrm>
              <a:off x="2247966" y="1466726"/>
              <a:ext cx="281141" cy="441016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4" name="Oval 26"/>
            <p:cNvSpPr>
              <a:spLocks noChangeArrowheads="1"/>
            </p:cNvSpPr>
            <p:nvPr/>
          </p:nvSpPr>
          <p:spPr bwMode="auto">
            <a:xfrm>
              <a:off x="368183" y="1507607"/>
              <a:ext cx="429980" cy="421195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s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5" name="Oval 25"/>
            <p:cNvSpPr>
              <a:spLocks noChangeArrowheads="1"/>
            </p:cNvSpPr>
            <p:nvPr/>
          </p:nvSpPr>
          <p:spPr bwMode="auto">
            <a:xfrm>
              <a:off x="3477267" y="1508846"/>
              <a:ext cx="429980" cy="421195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6" name="AutoShape 24"/>
            <p:cNvSpPr>
              <a:spLocks noChangeShapeType="1"/>
            </p:cNvSpPr>
            <p:nvPr/>
          </p:nvSpPr>
          <p:spPr bwMode="auto">
            <a:xfrm>
              <a:off x="798163" y="1718204"/>
              <a:ext cx="861337" cy="31218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7" name="AutoShape 23"/>
            <p:cNvSpPr>
              <a:spLocks noChangeShapeType="1"/>
            </p:cNvSpPr>
            <p:nvPr/>
          </p:nvSpPr>
          <p:spPr bwMode="auto">
            <a:xfrm flipV="1">
              <a:off x="2762012" y="1719443"/>
              <a:ext cx="715255" cy="288643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8" name="Text Box 22"/>
            <p:cNvSpPr txBox="1">
              <a:spLocks noChangeArrowheads="1"/>
            </p:cNvSpPr>
            <p:nvPr/>
          </p:nvSpPr>
          <p:spPr bwMode="auto">
            <a:xfrm>
              <a:off x="1071034" y="2579177"/>
              <a:ext cx="2320788" cy="28368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(a) 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f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(V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，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)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的含义</a:t>
              </a:r>
              <a:endParaRPr kumimoji="0" lang="zh-CN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</p:grp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117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20" y="285728"/>
            <a:ext cx="8572560" cy="913070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当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为空集，那么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表示从顶点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不经过任何顶点到达顶点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，显然此时有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f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(V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)=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][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85720" y="2428868"/>
            <a:ext cx="8572560" cy="1323439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如果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不为空，对于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sym typeface="Symbol"/>
              </a:rPr>
              <a:t>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，那么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(V-{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就是子问题，尝试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中的每个顶点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对应的子问题，则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0"/>
              </a:spcBef>
            </a:pP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f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(V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)=min</a:t>
            </a:r>
            <a:r>
              <a:rPr lang="en-US" altLang="zh-CN" i="1" baseline="-25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 baseline="-25000">
                <a:solidFill>
                  <a:srgbClr val="FF00FF"/>
                </a:solidFill>
                <a:latin typeface="Consolas" pitchFamily="49" charset="0"/>
                <a:ea typeface="仿宋" pitchFamily="49" charset="-122"/>
                <a:sym typeface="Symbol"/>
              </a:rPr>
              <a:t></a:t>
            </a:r>
            <a:r>
              <a:rPr lang="en-US" altLang="zh-CN" baseline="-25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V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{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f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(V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-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{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}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)+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[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][</a:t>
            </a:r>
            <a:r>
              <a:rPr lang="en-US" altLang="zh-CN" i="1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]}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 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2357422" y="1551099"/>
            <a:ext cx="4786346" cy="580455"/>
            <a:chOff x="5536208" y="1556467"/>
            <a:chExt cx="4786346" cy="580455"/>
          </a:xfrm>
        </p:grpSpPr>
        <p:sp>
          <p:nvSpPr>
            <p:cNvPr id="5" name="Oval 21"/>
            <p:cNvSpPr>
              <a:spLocks noChangeArrowheads="1"/>
            </p:cNvSpPr>
            <p:nvPr/>
          </p:nvSpPr>
          <p:spPr bwMode="auto">
            <a:xfrm>
              <a:off x="5536208" y="1715727"/>
              <a:ext cx="429980" cy="421195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s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6" name="Oval 20"/>
            <p:cNvSpPr>
              <a:spLocks noChangeArrowheads="1"/>
            </p:cNvSpPr>
            <p:nvPr/>
          </p:nvSpPr>
          <p:spPr bwMode="auto">
            <a:xfrm>
              <a:off x="7535120" y="1715727"/>
              <a:ext cx="429980" cy="421195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7" name="Text Box 19"/>
            <p:cNvSpPr txBox="1">
              <a:spLocks noChangeArrowheads="1"/>
            </p:cNvSpPr>
            <p:nvPr/>
          </p:nvSpPr>
          <p:spPr bwMode="auto">
            <a:xfrm>
              <a:off x="8241563" y="1793359"/>
              <a:ext cx="2080991" cy="28368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(b) V={}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的情况</a:t>
              </a:r>
              <a:endParaRPr kumimoji="0" lang="zh-CN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8" name="AutoShape 18"/>
            <p:cNvSpPr>
              <a:spLocks noChangeShapeType="1"/>
            </p:cNvSpPr>
            <p:nvPr/>
          </p:nvSpPr>
          <p:spPr bwMode="auto">
            <a:xfrm flipV="1">
              <a:off x="5966187" y="1907889"/>
              <a:ext cx="1570285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9" name="Text Box 17"/>
            <p:cNvSpPr txBox="1">
              <a:spLocks noChangeArrowheads="1"/>
            </p:cNvSpPr>
            <p:nvPr/>
          </p:nvSpPr>
          <p:spPr bwMode="auto">
            <a:xfrm>
              <a:off x="6310603" y="1556467"/>
              <a:ext cx="1011555" cy="28368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s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][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893890" y="4071942"/>
            <a:ext cx="6964258" cy="2083677"/>
            <a:chOff x="2575963" y="3043730"/>
            <a:chExt cx="6964258" cy="2083677"/>
          </a:xfrm>
        </p:grpSpPr>
        <p:sp>
          <p:nvSpPr>
            <p:cNvPr id="11" name="Oval 16"/>
            <p:cNvSpPr>
              <a:spLocks noChangeArrowheads="1"/>
            </p:cNvSpPr>
            <p:nvPr/>
          </p:nvSpPr>
          <p:spPr bwMode="auto">
            <a:xfrm>
              <a:off x="3440057" y="3229552"/>
              <a:ext cx="1433265" cy="1320571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00FF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3763920" y="4070703"/>
              <a:ext cx="272872" cy="281210"/>
            </a:xfrm>
            <a:prstGeom prst="ellipse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3" name="Oval 14"/>
            <p:cNvSpPr>
              <a:spLocks noChangeArrowheads="1"/>
            </p:cNvSpPr>
            <p:nvPr/>
          </p:nvSpPr>
          <p:spPr bwMode="auto">
            <a:xfrm>
              <a:off x="4119480" y="3407940"/>
              <a:ext cx="272872" cy="281210"/>
            </a:xfrm>
            <a:prstGeom prst="ellipse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4" name="AutoShape 13"/>
            <p:cNvSpPr>
              <a:spLocks noChangeShapeType="1"/>
            </p:cNvSpPr>
            <p:nvPr/>
          </p:nvSpPr>
          <p:spPr bwMode="auto">
            <a:xfrm flipV="1">
              <a:off x="3900356" y="3648269"/>
              <a:ext cx="259090" cy="422434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5" name="Oval 12"/>
            <p:cNvSpPr>
              <a:spLocks noChangeArrowheads="1"/>
            </p:cNvSpPr>
            <p:nvPr/>
          </p:nvSpPr>
          <p:spPr bwMode="auto">
            <a:xfrm>
              <a:off x="2575963" y="3649508"/>
              <a:ext cx="429980" cy="421195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s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6" name="Oval 11"/>
            <p:cNvSpPr>
              <a:spLocks noChangeArrowheads="1"/>
            </p:cNvSpPr>
            <p:nvPr/>
          </p:nvSpPr>
          <p:spPr bwMode="auto">
            <a:xfrm>
              <a:off x="6791781" y="3768434"/>
              <a:ext cx="429980" cy="421195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7" name="Text Box 10"/>
            <p:cNvSpPr txBox="1">
              <a:spLocks noChangeArrowheads="1"/>
            </p:cNvSpPr>
            <p:nvPr/>
          </p:nvSpPr>
          <p:spPr bwMode="auto">
            <a:xfrm>
              <a:off x="7219433" y="3831613"/>
              <a:ext cx="2320788" cy="28368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(c) V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n-ea"/>
                  <a:ea typeface="+mn-ea"/>
                  <a:cs typeface="Times New Roman" pitchFamily="18" charset="0"/>
                </a:rPr>
                <a:t>≠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{}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的情况</a:t>
              </a:r>
              <a:endParaRPr kumimoji="0" lang="zh-CN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8" name="Oval 9"/>
            <p:cNvSpPr>
              <a:spLocks noChangeArrowheads="1"/>
            </p:cNvSpPr>
            <p:nvPr/>
          </p:nvSpPr>
          <p:spPr bwMode="auto">
            <a:xfrm>
              <a:off x="5238529" y="3768434"/>
              <a:ext cx="429980" cy="421195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9" name="AutoShape 8"/>
            <p:cNvSpPr>
              <a:spLocks noChangeShapeType="1"/>
            </p:cNvSpPr>
            <p:nvPr/>
          </p:nvSpPr>
          <p:spPr bwMode="auto">
            <a:xfrm>
              <a:off x="3005943" y="3860106"/>
              <a:ext cx="757977" cy="351822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20" name="AutoShape 7"/>
            <p:cNvSpPr>
              <a:spLocks noChangeShapeType="1"/>
            </p:cNvSpPr>
            <p:nvPr/>
          </p:nvSpPr>
          <p:spPr bwMode="auto">
            <a:xfrm>
              <a:off x="4352385" y="3648269"/>
              <a:ext cx="886144" cy="330762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21" name="Text Box 6"/>
            <p:cNvSpPr txBox="1">
              <a:spLocks noChangeArrowheads="1"/>
            </p:cNvSpPr>
            <p:nvPr/>
          </p:nvSpPr>
          <p:spPr bwMode="auto">
            <a:xfrm>
              <a:off x="2961842" y="3043730"/>
              <a:ext cx="824128" cy="28368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V-{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}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22" name="AutoShape 5"/>
            <p:cNvSpPr>
              <a:spLocks noChangeShapeType="1"/>
            </p:cNvSpPr>
            <p:nvPr/>
          </p:nvSpPr>
          <p:spPr bwMode="auto">
            <a:xfrm flipV="1">
              <a:off x="5668509" y="3955890"/>
              <a:ext cx="1157068" cy="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23" name="Text Box 4"/>
            <p:cNvSpPr txBox="1">
              <a:spLocks noChangeArrowheads="1"/>
            </p:cNvSpPr>
            <p:nvPr/>
          </p:nvSpPr>
          <p:spPr bwMode="auto">
            <a:xfrm>
              <a:off x="5735393" y="3576418"/>
              <a:ext cx="1011555" cy="28368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[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][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]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24" name="AutoShape 3"/>
            <p:cNvSpPr>
              <a:spLocks/>
            </p:cNvSpPr>
            <p:nvPr/>
          </p:nvSpPr>
          <p:spPr bwMode="auto">
            <a:xfrm rot="5400000">
              <a:off x="3919816" y="3206269"/>
              <a:ext cx="272538" cy="2960244"/>
            </a:xfrm>
            <a:prstGeom prst="rightBrace">
              <a:avLst>
                <a:gd name="adj1" fmla="val 81364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25" name="Text Box 2"/>
            <p:cNvSpPr txBox="1">
              <a:spLocks noChangeArrowheads="1"/>
            </p:cNvSpPr>
            <p:nvPr/>
          </p:nvSpPr>
          <p:spPr bwMode="auto">
            <a:xfrm>
              <a:off x="3387688" y="4843720"/>
              <a:ext cx="1420862" cy="28368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f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(V-{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}</a:t>
              </a:r>
              <a:r>
                <a:rPr kumimoji="0" lang="zh-CN" altLang="en-US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，</a:t>
              </a:r>
              <a:r>
                <a:rPr kumimoji="0" lang="en-US" altLang="zh-CN" sz="2000" b="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j</a:t>
              </a:r>
              <a:r>
                <a:rPr kumimoji="0" lang="en-US" altLang="zh-CN" sz="20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)</a:t>
              </a:r>
              <a:endPara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</p:grp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118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007" name="Rectangle 6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11005" name="Text Box 61"/>
          <p:cNvSpPr txBox="1">
            <a:spLocks noChangeArrowheads="1"/>
          </p:cNvSpPr>
          <p:nvPr/>
        </p:nvSpPr>
        <p:spPr bwMode="auto">
          <a:xfrm>
            <a:off x="7558838" y="5366605"/>
            <a:ext cx="513623" cy="348411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1→2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11004" name="Text Box 60"/>
          <p:cNvSpPr txBox="1">
            <a:spLocks noChangeArrowheads="1"/>
          </p:cNvSpPr>
          <p:nvPr/>
        </p:nvSpPr>
        <p:spPr bwMode="auto">
          <a:xfrm>
            <a:off x="6124456" y="5349349"/>
            <a:ext cx="590683" cy="294229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2→1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11003" name="Text Box 59"/>
          <p:cNvSpPr txBox="1">
            <a:spLocks noChangeArrowheads="1"/>
          </p:cNvSpPr>
          <p:nvPr/>
        </p:nvSpPr>
        <p:spPr bwMode="auto">
          <a:xfrm>
            <a:off x="4625103" y="5366605"/>
            <a:ext cx="518402" cy="27697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1→3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11002" name="Text Box 58"/>
          <p:cNvSpPr txBox="1">
            <a:spLocks noChangeArrowheads="1"/>
          </p:cNvSpPr>
          <p:nvPr/>
        </p:nvSpPr>
        <p:spPr bwMode="auto">
          <a:xfrm>
            <a:off x="418163" y="5366605"/>
            <a:ext cx="510499" cy="27697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3→2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11001" name="Text Box 57"/>
          <p:cNvSpPr txBox="1">
            <a:spLocks noChangeArrowheads="1"/>
          </p:cNvSpPr>
          <p:nvPr/>
        </p:nvSpPr>
        <p:spPr bwMode="auto">
          <a:xfrm>
            <a:off x="6049489" y="5842732"/>
            <a:ext cx="1274451" cy="55804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f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({},2)=5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11000" name="Text Box 56"/>
          <p:cNvSpPr txBox="1">
            <a:spLocks noChangeArrowheads="1"/>
          </p:cNvSpPr>
          <p:nvPr/>
        </p:nvSpPr>
        <p:spPr bwMode="auto">
          <a:xfrm>
            <a:off x="3625532" y="1785926"/>
            <a:ext cx="1629299" cy="55804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f</a:t>
            </a: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({1,2,3},0)=23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10999" name="Text Box 55"/>
          <p:cNvSpPr txBox="1">
            <a:spLocks noChangeArrowheads="1"/>
          </p:cNvSpPr>
          <p:nvPr/>
        </p:nvSpPr>
        <p:spPr bwMode="auto">
          <a:xfrm>
            <a:off x="1254053" y="3350763"/>
            <a:ext cx="1416890" cy="56002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f</a:t>
            </a: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({2,3},1)=17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10998" name="Text Box 54"/>
          <p:cNvSpPr txBox="1">
            <a:spLocks noChangeArrowheads="1"/>
          </p:cNvSpPr>
          <p:nvPr/>
        </p:nvSpPr>
        <p:spPr bwMode="auto">
          <a:xfrm>
            <a:off x="295716" y="4612152"/>
            <a:ext cx="1274451" cy="56002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f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({3},2)=44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10997" name="Text Box 53"/>
          <p:cNvSpPr txBox="1">
            <a:spLocks noChangeArrowheads="1"/>
          </p:cNvSpPr>
          <p:nvPr/>
        </p:nvSpPr>
        <p:spPr bwMode="auto">
          <a:xfrm>
            <a:off x="1770081" y="4612152"/>
            <a:ext cx="1274451" cy="56002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f</a:t>
            </a: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({2},3)=10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10996" name="Text Box 52"/>
          <p:cNvSpPr txBox="1">
            <a:spLocks noChangeArrowheads="1"/>
          </p:cNvSpPr>
          <p:nvPr/>
        </p:nvSpPr>
        <p:spPr bwMode="auto">
          <a:xfrm>
            <a:off x="295716" y="5842732"/>
            <a:ext cx="1274451" cy="55804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f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({},3)=36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10995" name="Text Box 51"/>
          <p:cNvSpPr txBox="1">
            <a:spLocks noChangeArrowheads="1"/>
          </p:cNvSpPr>
          <p:nvPr/>
        </p:nvSpPr>
        <p:spPr bwMode="auto">
          <a:xfrm>
            <a:off x="1796320" y="5842732"/>
            <a:ext cx="1274451" cy="55804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f</a:t>
            </a:r>
            <a:r>
              <a: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({},2)=5</a:t>
            </a:r>
            <a:endParaRPr kumimoji="0" lang="en-US" altLang="zh-CN" sz="180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10990" name="Text Box 46"/>
          <p:cNvSpPr txBox="1">
            <a:spLocks noChangeArrowheads="1"/>
          </p:cNvSpPr>
          <p:nvPr/>
        </p:nvSpPr>
        <p:spPr bwMode="auto">
          <a:xfrm>
            <a:off x="3935399" y="3350763"/>
            <a:ext cx="1416890" cy="56002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f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({1,3},2)=21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10989" name="Text Box 45"/>
          <p:cNvSpPr txBox="1">
            <a:spLocks noChangeArrowheads="1"/>
          </p:cNvSpPr>
          <p:nvPr/>
        </p:nvSpPr>
        <p:spPr bwMode="auto">
          <a:xfrm>
            <a:off x="3225705" y="4612152"/>
            <a:ext cx="1274451" cy="56002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f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({3},1)=43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10988" name="Text Box 44"/>
          <p:cNvSpPr txBox="1">
            <a:spLocks noChangeArrowheads="1"/>
          </p:cNvSpPr>
          <p:nvPr/>
        </p:nvSpPr>
        <p:spPr bwMode="auto">
          <a:xfrm>
            <a:off x="4601362" y="4612152"/>
            <a:ext cx="1274451" cy="56002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f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({1},3)=13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10987" name="Text Box 43"/>
          <p:cNvSpPr txBox="1">
            <a:spLocks noChangeArrowheads="1"/>
          </p:cNvSpPr>
          <p:nvPr/>
        </p:nvSpPr>
        <p:spPr bwMode="auto">
          <a:xfrm>
            <a:off x="3225705" y="5842732"/>
            <a:ext cx="1274451" cy="55804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f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({},3)=36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10986" name="Text Box 42"/>
          <p:cNvSpPr txBox="1">
            <a:spLocks noChangeArrowheads="1"/>
          </p:cNvSpPr>
          <p:nvPr/>
        </p:nvSpPr>
        <p:spPr bwMode="auto">
          <a:xfrm>
            <a:off x="4625102" y="5842732"/>
            <a:ext cx="1274451" cy="55804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f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({},1)=8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10981" name="Text Box 37"/>
          <p:cNvSpPr txBox="1">
            <a:spLocks noChangeArrowheads="1"/>
          </p:cNvSpPr>
          <p:nvPr/>
        </p:nvSpPr>
        <p:spPr bwMode="auto">
          <a:xfrm>
            <a:off x="6683339" y="3350763"/>
            <a:ext cx="1416890" cy="56002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f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({1,2},3)=19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10980" name="Text Box 36"/>
          <p:cNvSpPr txBox="1">
            <a:spLocks noChangeArrowheads="1"/>
          </p:cNvSpPr>
          <p:nvPr/>
        </p:nvSpPr>
        <p:spPr bwMode="auto">
          <a:xfrm>
            <a:off x="6049489" y="4612152"/>
            <a:ext cx="1274451" cy="56002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f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({2},1)=14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10979" name="Text Box 35"/>
          <p:cNvSpPr txBox="1">
            <a:spLocks noChangeArrowheads="1"/>
          </p:cNvSpPr>
          <p:nvPr/>
        </p:nvSpPr>
        <p:spPr bwMode="auto">
          <a:xfrm>
            <a:off x="7548844" y="4612152"/>
            <a:ext cx="1274451" cy="56002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f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({1},2)=16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10978" name="Text Box 34"/>
          <p:cNvSpPr txBox="1">
            <a:spLocks noChangeArrowheads="1"/>
          </p:cNvSpPr>
          <p:nvPr/>
        </p:nvSpPr>
        <p:spPr bwMode="auto">
          <a:xfrm>
            <a:off x="7573833" y="5842732"/>
            <a:ext cx="1274451" cy="55804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ctr" defTabSz="914400" rtl="0" eaLnBrk="1" fontAlgn="base" latinLnBrk="0" hangingPunct="1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1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f</a:t>
            </a: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({},1)=8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10970" name="Text Box 26"/>
          <p:cNvSpPr txBox="1">
            <a:spLocks noChangeArrowheads="1"/>
          </p:cNvSpPr>
          <p:nvPr/>
        </p:nvSpPr>
        <p:spPr bwMode="auto">
          <a:xfrm>
            <a:off x="4581371" y="2560772"/>
            <a:ext cx="490695" cy="34946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min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10969" name="Freeform 25"/>
          <p:cNvSpPr>
            <a:spLocks/>
          </p:cNvSpPr>
          <p:nvPr/>
        </p:nvSpPr>
        <p:spPr bwMode="auto">
          <a:xfrm>
            <a:off x="3972291" y="2370903"/>
            <a:ext cx="948342" cy="168206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81" y="84"/>
              </a:cxn>
              <a:cxn ang="0">
                <a:pos x="759" y="0"/>
              </a:cxn>
            </a:cxnLst>
            <a:rect l="0" t="0" r="r" b="b"/>
            <a:pathLst>
              <a:path w="759" h="84">
                <a:moveTo>
                  <a:pt x="0" y="0"/>
                </a:moveTo>
                <a:cubicBezTo>
                  <a:pt x="63" y="14"/>
                  <a:pt x="255" y="84"/>
                  <a:pt x="381" y="84"/>
                </a:cubicBezTo>
                <a:cubicBezTo>
                  <a:pt x="501" y="84"/>
                  <a:pt x="681" y="17"/>
                  <a:pt x="759" y="0"/>
                </a:cubicBezTo>
              </a:path>
            </a:pathLst>
          </a:custGeom>
          <a:noFill/>
          <a:ln w="19050">
            <a:solidFill>
              <a:srgbClr val="FF00FF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10968" name="Text Box 24"/>
          <p:cNvSpPr txBox="1">
            <a:spLocks noChangeArrowheads="1"/>
          </p:cNvSpPr>
          <p:nvPr/>
        </p:nvSpPr>
        <p:spPr bwMode="auto">
          <a:xfrm>
            <a:off x="4435577" y="4053057"/>
            <a:ext cx="452337" cy="33850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min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10967" name="Freeform 23"/>
          <p:cNvSpPr>
            <a:spLocks/>
          </p:cNvSpPr>
          <p:nvPr/>
        </p:nvSpPr>
        <p:spPr bwMode="auto">
          <a:xfrm>
            <a:off x="4318217" y="3955047"/>
            <a:ext cx="623482" cy="118734"/>
          </a:xfrm>
          <a:custGeom>
            <a:avLst/>
            <a:gdLst/>
            <a:ahLst/>
            <a:cxnLst>
              <a:cxn ang="0">
                <a:pos x="0" y="6"/>
              </a:cxn>
              <a:cxn ang="0">
                <a:pos x="261" y="60"/>
              </a:cxn>
              <a:cxn ang="0">
                <a:pos x="498" y="0"/>
              </a:cxn>
            </a:cxnLst>
            <a:rect l="0" t="0" r="r" b="b"/>
            <a:pathLst>
              <a:path w="498" h="61">
                <a:moveTo>
                  <a:pt x="0" y="6"/>
                </a:moveTo>
                <a:cubicBezTo>
                  <a:pt x="43" y="15"/>
                  <a:pt x="178" y="61"/>
                  <a:pt x="261" y="60"/>
                </a:cubicBezTo>
                <a:cubicBezTo>
                  <a:pt x="351" y="60"/>
                  <a:pt x="449" y="12"/>
                  <a:pt x="498" y="0"/>
                </a:cubicBezTo>
              </a:path>
            </a:pathLst>
          </a:custGeom>
          <a:noFill/>
          <a:ln w="19050">
            <a:solidFill>
              <a:srgbClr val="FF00FF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10966" name="Text Box 22"/>
          <p:cNvSpPr txBox="1">
            <a:spLocks noChangeArrowheads="1"/>
          </p:cNvSpPr>
          <p:nvPr/>
        </p:nvSpPr>
        <p:spPr bwMode="auto">
          <a:xfrm>
            <a:off x="1648883" y="4006859"/>
            <a:ext cx="422787" cy="350836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min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10965" name="Freeform 21"/>
          <p:cNvSpPr>
            <a:spLocks/>
          </p:cNvSpPr>
          <p:nvPr/>
        </p:nvSpPr>
        <p:spPr bwMode="auto">
          <a:xfrm>
            <a:off x="1510193" y="3953751"/>
            <a:ext cx="622232" cy="122691"/>
          </a:xfrm>
          <a:custGeom>
            <a:avLst/>
            <a:gdLst/>
            <a:ahLst/>
            <a:cxnLst>
              <a:cxn ang="0">
                <a:pos x="0" y="6"/>
              </a:cxn>
              <a:cxn ang="0">
                <a:pos x="261" y="60"/>
              </a:cxn>
              <a:cxn ang="0">
                <a:pos x="498" y="0"/>
              </a:cxn>
            </a:cxnLst>
            <a:rect l="0" t="0" r="r" b="b"/>
            <a:pathLst>
              <a:path w="498" h="61">
                <a:moveTo>
                  <a:pt x="0" y="6"/>
                </a:moveTo>
                <a:cubicBezTo>
                  <a:pt x="43" y="15"/>
                  <a:pt x="178" y="61"/>
                  <a:pt x="261" y="60"/>
                </a:cubicBezTo>
                <a:cubicBezTo>
                  <a:pt x="351" y="60"/>
                  <a:pt x="449" y="12"/>
                  <a:pt x="498" y="0"/>
                </a:cubicBezTo>
              </a:path>
            </a:pathLst>
          </a:custGeom>
          <a:noFill/>
          <a:ln w="19050">
            <a:solidFill>
              <a:srgbClr val="FF00FF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10964" name="Text Box 20"/>
          <p:cNvSpPr txBox="1">
            <a:spLocks noChangeArrowheads="1"/>
          </p:cNvSpPr>
          <p:nvPr/>
        </p:nvSpPr>
        <p:spPr bwMode="auto">
          <a:xfrm>
            <a:off x="7298951" y="4019190"/>
            <a:ext cx="487759" cy="44723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min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10963" name="Freeform 19"/>
          <p:cNvSpPr>
            <a:spLocks/>
          </p:cNvSpPr>
          <p:nvPr/>
        </p:nvSpPr>
        <p:spPr bwMode="auto">
          <a:xfrm>
            <a:off x="7115105" y="3955047"/>
            <a:ext cx="622232" cy="118734"/>
          </a:xfrm>
          <a:custGeom>
            <a:avLst/>
            <a:gdLst/>
            <a:ahLst/>
            <a:cxnLst>
              <a:cxn ang="0">
                <a:pos x="0" y="6"/>
              </a:cxn>
              <a:cxn ang="0">
                <a:pos x="261" y="60"/>
              </a:cxn>
              <a:cxn ang="0">
                <a:pos x="498" y="0"/>
              </a:cxn>
            </a:cxnLst>
            <a:rect l="0" t="0" r="r" b="b"/>
            <a:pathLst>
              <a:path w="498" h="61">
                <a:moveTo>
                  <a:pt x="0" y="6"/>
                </a:moveTo>
                <a:cubicBezTo>
                  <a:pt x="43" y="15"/>
                  <a:pt x="178" y="61"/>
                  <a:pt x="261" y="60"/>
                </a:cubicBezTo>
                <a:cubicBezTo>
                  <a:pt x="351" y="60"/>
                  <a:pt x="449" y="12"/>
                  <a:pt x="498" y="0"/>
                </a:cubicBezTo>
              </a:path>
            </a:pathLst>
          </a:custGeom>
          <a:noFill/>
          <a:ln w="19050">
            <a:solidFill>
              <a:srgbClr val="FF00FF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10962" name="Text Box 18"/>
          <p:cNvSpPr txBox="1">
            <a:spLocks noChangeArrowheads="1"/>
          </p:cNvSpPr>
          <p:nvPr/>
        </p:nvSpPr>
        <p:spPr bwMode="auto">
          <a:xfrm>
            <a:off x="1024153" y="5366605"/>
            <a:ext cx="404576" cy="27697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min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10961" name="Text Box 17"/>
          <p:cNvSpPr txBox="1">
            <a:spLocks noChangeArrowheads="1"/>
          </p:cNvSpPr>
          <p:nvPr/>
        </p:nvSpPr>
        <p:spPr bwMode="auto">
          <a:xfrm>
            <a:off x="2523507" y="5349349"/>
            <a:ext cx="405419" cy="294229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min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10960" name="Text Box 16"/>
          <p:cNvSpPr txBox="1">
            <a:spLocks noChangeArrowheads="1"/>
          </p:cNvSpPr>
          <p:nvPr/>
        </p:nvSpPr>
        <p:spPr bwMode="auto">
          <a:xfrm>
            <a:off x="3885421" y="5349349"/>
            <a:ext cx="400827" cy="36566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min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10959" name="Text Box 15"/>
          <p:cNvSpPr txBox="1">
            <a:spLocks noChangeArrowheads="1"/>
          </p:cNvSpPr>
          <p:nvPr/>
        </p:nvSpPr>
        <p:spPr bwMode="auto">
          <a:xfrm>
            <a:off x="5272324" y="5349349"/>
            <a:ext cx="442683" cy="36566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min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10958" name="Text Box 14"/>
          <p:cNvSpPr txBox="1">
            <a:spLocks noChangeArrowheads="1"/>
          </p:cNvSpPr>
          <p:nvPr/>
        </p:nvSpPr>
        <p:spPr bwMode="auto">
          <a:xfrm>
            <a:off x="6784173" y="5349349"/>
            <a:ext cx="431033" cy="36566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min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10957" name="Text Box 13"/>
          <p:cNvSpPr txBox="1">
            <a:spLocks noChangeArrowheads="1"/>
          </p:cNvSpPr>
          <p:nvPr/>
        </p:nvSpPr>
        <p:spPr bwMode="auto">
          <a:xfrm>
            <a:off x="8261037" y="5333819"/>
            <a:ext cx="382929" cy="38119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min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10956" name="Text Box 12"/>
          <p:cNvSpPr txBox="1">
            <a:spLocks noChangeArrowheads="1"/>
          </p:cNvSpPr>
          <p:nvPr/>
        </p:nvSpPr>
        <p:spPr bwMode="auto">
          <a:xfrm>
            <a:off x="2214547" y="2505617"/>
            <a:ext cx="571504" cy="28044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1→0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10955" name="Text Box 11"/>
          <p:cNvSpPr txBox="1">
            <a:spLocks noChangeArrowheads="1"/>
          </p:cNvSpPr>
          <p:nvPr/>
        </p:nvSpPr>
        <p:spPr bwMode="auto">
          <a:xfrm>
            <a:off x="3885421" y="2591895"/>
            <a:ext cx="543703" cy="33704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2→0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10954" name="Text Box 10"/>
          <p:cNvSpPr txBox="1">
            <a:spLocks noChangeArrowheads="1"/>
          </p:cNvSpPr>
          <p:nvPr/>
        </p:nvSpPr>
        <p:spPr bwMode="auto">
          <a:xfrm>
            <a:off x="6234409" y="2436593"/>
            <a:ext cx="552169" cy="27802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3→0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10953" name="Text Box 9"/>
          <p:cNvSpPr txBox="1">
            <a:spLocks noChangeArrowheads="1"/>
          </p:cNvSpPr>
          <p:nvPr/>
        </p:nvSpPr>
        <p:spPr bwMode="auto">
          <a:xfrm>
            <a:off x="704290" y="4006859"/>
            <a:ext cx="581562" cy="350836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2→1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10952" name="Text Box 8"/>
          <p:cNvSpPr txBox="1">
            <a:spLocks noChangeArrowheads="1"/>
          </p:cNvSpPr>
          <p:nvPr/>
        </p:nvSpPr>
        <p:spPr bwMode="auto">
          <a:xfrm>
            <a:off x="2398561" y="4006859"/>
            <a:ext cx="601803" cy="350836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3→1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10951" name="Text Box 7"/>
          <p:cNvSpPr txBox="1">
            <a:spLocks noChangeArrowheads="1"/>
          </p:cNvSpPr>
          <p:nvPr/>
        </p:nvSpPr>
        <p:spPr bwMode="auto">
          <a:xfrm>
            <a:off x="3385636" y="4006859"/>
            <a:ext cx="614860" cy="350836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1→2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10950" name="Text Box 6"/>
          <p:cNvSpPr txBox="1">
            <a:spLocks noChangeArrowheads="1"/>
          </p:cNvSpPr>
          <p:nvPr/>
        </p:nvSpPr>
        <p:spPr bwMode="auto">
          <a:xfrm>
            <a:off x="5068661" y="4027565"/>
            <a:ext cx="574909" cy="330129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3→2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10949" name="Text Box 5"/>
          <p:cNvSpPr txBox="1">
            <a:spLocks noChangeArrowheads="1"/>
          </p:cNvSpPr>
          <p:nvPr/>
        </p:nvSpPr>
        <p:spPr bwMode="auto">
          <a:xfrm>
            <a:off x="6359357" y="4006858"/>
            <a:ext cx="498659" cy="27939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1→3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10948" name="Text Box 4"/>
          <p:cNvSpPr txBox="1">
            <a:spLocks noChangeArrowheads="1"/>
          </p:cNvSpPr>
          <p:nvPr/>
        </p:nvSpPr>
        <p:spPr bwMode="auto">
          <a:xfrm>
            <a:off x="7955818" y="4006859"/>
            <a:ext cx="526397" cy="35083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2→3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10947" name="Text Box 3"/>
          <p:cNvSpPr txBox="1">
            <a:spLocks noChangeArrowheads="1"/>
          </p:cNvSpPr>
          <p:nvPr/>
        </p:nvSpPr>
        <p:spPr bwMode="auto">
          <a:xfrm>
            <a:off x="1848797" y="5366605"/>
            <a:ext cx="580063" cy="27697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2→3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10946" name="Text Box 2"/>
          <p:cNvSpPr txBox="1">
            <a:spLocks noChangeArrowheads="1"/>
          </p:cNvSpPr>
          <p:nvPr/>
        </p:nvSpPr>
        <p:spPr bwMode="auto">
          <a:xfrm>
            <a:off x="3249445" y="5366605"/>
            <a:ext cx="536738" cy="27697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3→1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5715008" y="142876"/>
            <a:ext cx="2571768" cy="1928802"/>
            <a:chOff x="714348" y="2158568"/>
            <a:chExt cx="2785186" cy="2346024"/>
          </a:xfrm>
        </p:grpSpPr>
        <p:sp>
          <p:nvSpPr>
            <p:cNvPr id="66" name="Text Box 29"/>
            <p:cNvSpPr txBox="1">
              <a:spLocks noChangeArrowheads="1"/>
            </p:cNvSpPr>
            <p:nvPr/>
          </p:nvSpPr>
          <p:spPr bwMode="auto">
            <a:xfrm>
              <a:off x="1556060" y="3677358"/>
              <a:ext cx="283920" cy="29901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8</a:t>
              </a:r>
            </a:p>
          </p:txBody>
        </p:sp>
        <p:sp>
          <p:nvSpPr>
            <p:cNvPr id="67" name="Text Box 28"/>
            <p:cNvSpPr txBox="1">
              <a:spLocks noChangeArrowheads="1"/>
            </p:cNvSpPr>
            <p:nvPr/>
          </p:nvSpPr>
          <p:spPr bwMode="auto">
            <a:xfrm>
              <a:off x="1329928" y="3419178"/>
              <a:ext cx="285177" cy="30033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9</a:t>
              </a:r>
            </a:p>
          </p:txBody>
        </p:sp>
        <p:sp>
          <p:nvSpPr>
            <p:cNvPr id="68" name="Text Box 27"/>
            <p:cNvSpPr txBox="1">
              <a:spLocks noChangeArrowheads="1"/>
            </p:cNvSpPr>
            <p:nvPr/>
          </p:nvSpPr>
          <p:spPr bwMode="auto">
            <a:xfrm>
              <a:off x="1363848" y="3038491"/>
              <a:ext cx="286433" cy="29769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7</a:t>
              </a:r>
            </a:p>
          </p:txBody>
        </p:sp>
        <p:sp>
          <p:nvSpPr>
            <p:cNvPr id="69" name="Text Box 26"/>
            <p:cNvSpPr txBox="1">
              <a:spLocks noChangeArrowheads="1"/>
            </p:cNvSpPr>
            <p:nvPr/>
          </p:nvSpPr>
          <p:spPr bwMode="auto">
            <a:xfrm>
              <a:off x="1690482" y="2694689"/>
              <a:ext cx="285177" cy="30033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36</a:t>
              </a:r>
            </a:p>
          </p:txBody>
        </p:sp>
        <p:sp>
          <p:nvSpPr>
            <p:cNvPr id="70" name="Text Box 25"/>
            <p:cNvSpPr txBox="1">
              <a:spLocks noChangeArrowheads="1"/>
            </p:cNvSpPr>
            <p:nvPr/>
          </p:nvSpPr>
          <p:spPr bwMode="auto">
            <a:xfrm>
              <a:off x="1043495" y="3166265"/>
              <a:ext cx="283920" cy="29901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8</a:t>
              </a:r>
            </a:p>
          </p:txBody>
        </p:sp>
        <p:sp>
          <p:nvSpPr>
            <p:cNvPr id="71" name="Text Box 24"/>
            <p:cNvSpPr txBox="1">
              <a:spLocks noChangeArrowheads="1"/>
            </p:cNvSpPr>
            <p:nvPr/>
          </p:nvSpPr>
          <p:spPr bwMode="auto">
            <a:xfrm>
              <a:off x="714348" y="3170216"/>
              <a:ext cx="286433" cy="29901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5</a:t>
              </a:r>
            </a:p>
          </p:txBody>
        </p:sp>
        <p:sp>
          <p:nvSpPr>
            <p:cNvPr id="72" name="Text Box 23"/>
            <p:cNvSpPr txBox="1">
              <a:spLocks noChangeArrowheads="1"/>
            </p:cNvSpPr>
            <p:nvPr/>
          </p:nvSpPr>
          <p:spPr bwMode="auto">
            <a:xfrm>
              <a:off x="2187972" y="2510273"/>
              <a:ext cx="285177" cy="29901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8</a:t>
              </a:r>
            </a:p>
          </p:txBody>
        </p:sp>
        <p:sp>
          <p:nvSpPr>
            <p:cNvPr id="73" name="Text Box 22"/>
            <p:cNvSpPr txBox="1">
              <a:spLocks noChangeArrowheads="1"/>
            </p:cNvSpPr>
            <p:nvPr/>
          </p:nvSpPr>
          <p:spPr bwMode="auto">
            <a:xfrm>
              <a:off x="2187972" y="2158568"/>
              <a:ext cx="285177" cy="29901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6</a:t>
              </a:r>
            </a:p>
          </p:txBody>
        </p:sp>
        <p:sp>
          <p:nvSpPr>
            <p:cNvPr id="74" name="Oval 21"/>
            <p:cNvSpPr>
              <a:spLocks noChangeArrowheads="1"/>
            </p:cNvSpPr>
            <p:nvPr/>
          </p:nvSpPr>
          <p:spPr bwMode="auto">
            <a:xfrm>
              <a:off x="834951" y="2342983"/>
              <a:ext cx="427138" cy="447866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75" name="Oval 20"/>
            <p:cNvSpPr>
              <a:spLocks noChangeArrowheads="1"/>
            </p:cNvSpPr>
            <p:nvPr/>
          </p:nvSpPr>
          <p:spPr bwMode="auto">
            <a:xfrm>
              <a:off x="834951" y="3956615"/>
              <a:ext cx="427138" cy="447866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76" name="Oval 19"/>
            <p:cNvSpPr>
              <a:spLocks noChangeArrowheads="1"/>
            </p:cNvSpPr>
            <p:nvPr/>
          </p:nvSpPr>
          <p:spPr bwMode="auto">
            <a:xfrm>
              <a:off x="2975664" y="2304782"/>
              <a:ext cx="427138" cy="447866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77" name="Oval 18"/>
            <p:cNvSpPr>
              <a:spLocks noChangeArrowheads="1"/>
            </p:cNvSpPr>
            <p:nvPr/>
          </p:nvSpPr>
          <p:spPr bwMode="auto">
            <a:xfrm>
              <a:off x="2975664" y="3918415"/>
              <a:ext cx="427138" cy="447866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3</a:t>
              </a:r>
            </a:p>
          </p:txBody>
        </p:sp>
        <p:sp>
          <p:nvSpPr>
            <p:cNvPr id="78" name="Freeform 17"/>
            <p:cNvSpPr>
              <a:spLocks/>
            </p:cNvSpPr>
            <p:nvPr/>
          </p:nvSpPr>
          <p:spPr bwMode="auto">
            <a:xfrm>
              <a:off x="1282189" y="2566916"/>
              <a:ext cx="1709805" cy="13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70" y="6"/>
                </a:cxn>
              </a:cxnLst>
              <a:rect l="0" t="0" r="r" b="b"/>
              <a:pathLst>
                <a:path w="1270" h="6">
                  <a:moveTo>
                    <a:pt x="0" y="0"/>
                  </a:moveTo>
                  <a:lnTo>
                    <a:pt x="1270" y="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79" name="Freeform 16"/>
            <p:cNvSpPr>
              <a:spLocks/>
            </p:cNvSpPr>
            <p:nvPr/>
          </p:nvSpPr>
          <p:spPr bwMode="auto">
            <a:xfrm>
              <a:off x="1259576" y="2472073"/>
              <a:ext cx="1709805" cy="1317"/>
            </a:xfrm>
            <a:custGeom>
              <a:avLst/>
              <a:gdLst/>
              <a:ahLst/>
              <a:cxnLst>
                <a:cxn ang="0">
                  <a:pos x="1267" y="14"/>
                </a:cxn>
                <a:cxn ang="0">
                  <a:pos x="0" y="0"/>
                </a:cxn>
              </a:cxnLst>
              <a:rect l="0" t="0" r="r" b="b"/>
              <a:pathLst>
                <a:path w="1267" h="14">
                  <a:moveTo>
                    <a:pt x="1267" y="14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80" name="Text Box 15"/>
            <p:cNvSpPr txBox="1">
              <a:spLocks noChangeArrowheads="1"/>
            </p:cNvSpPr>
            <p:nvPr/>
          </p:nvSpPr>
          <p:spPr bwMode="auto">
            <a:xfrm>
              <a:off x="1942996" y="4205576"/>
              <a:ext cx="285177" cy="29901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5</a:t>
              </a:r>
            </a:p>
          </p:txBody>
        </p:sp>
        <p:sp>
          <p:nvSpPr>
            <p:cNvPr id="81" name="Text Box 14"/>
            <p:cNvSpPr txBox="1">
              <a:spLocks noChangeArrowheads="1"/>
            </p:cNvSpPr>
            <p:nvPr/>
          </p:nvSpPr>
          <p:spPr bwMode="auto">
            <a:xfrm>
              <a:off x="1942996" y="3806449"/>
              <a:ext cx="285177" cy="29901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8</a:t>
              </a:r>
            </a:p>
          </p:txBody>
        </p:sp>
        <p:sp>
          <p:nvSpPr>
            <p:cNvPr id="82" name="Freeform 13"/>
            <p:cNvSpPr>
              <a:spLocks/>
            </p:cNvSpPr>
            <p:nvPr/>
          </p:nvSpPr>
          <p:spPr bwMode="auto">
            <a:xfrm>
              <a:off x="1264601" y="4230604"/>
              <a:ext cx="1709805" cy="2634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341" y="0"/>
                </a:cxn>
              </a:cxnLst>
              <a:rect l="0" t="0" r="r" b="b"/>
              <a:pathLst>
                <a:path w="1341" h="2">
                  <a:moveTo>
                    <a:pt x="0" y="2"/>
                  </a:moveTo>
                  <a:lnTo>
                    <a:pt x="1341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83" name="Freeform 12"/>
            <p:cNvSpPr>
              <a:spLocks/>
            </p:cNvSpPr>
            <p:nvPr/>
          </p:nvSpPr>
          <p:spPr bwMode="auto">
            <a:xfrm>
              <a:off x="1253295" y="4126542"/>
              <a:ext cx="1709805" cy="1317"/>
            </a:xfrm>
            <a:custGeom>
              <a:avLst/>
              <a:gdLst/>
              <a:ahLst/>
              <a:cxnLst>
                <a:cxn ang="0">
                  <a:pos x="1344" y="3"/>
                </a:cxn>
                <a:cxn ang="0">
                  <a:pos x="0" y="0"/>
                </a:cxn>
              </a:cxnLst>
              <a:rect l="0" t="0" r="r" b="b"/>
              <a:pathLst>
                <a:path w="1344" h="3">
                  <a:moveTo>
                    <a:pt x="1344" y="3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84" name="Line 11"/>
            <p:cNvSpPr>
              <a:spLocks noChangeShapeType="1"/>
            </p:cNvSpPr>
            <p:nvPr/>
          </p:nvSpPr>
          <p:spPr bwMode="auto">
            <a:xfrm>
              <a:off x="978168" y="2794800"/>
              <a:ext cx="1256" cy="119474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85" name="Line 10"/>
            <p:cNvSpPr>
              <a:spLocks noChangeShapeType="1"/>
            </p:cNvSpPr>
            <p:nvPr/>
          </p:nvSpPr>
          <p:spPr bwMode="auto">
            <a:xfrm flipV="1">
              <a:off x="1082439" y="2760552"/>
              <a:ext cx="1256" cy="119474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86" name="Text Box 9"/>
            <p:cNvSpPr txBox="1">
              <a:spLocks noChangeArrowheads="1"/>
            </p:cNvSpPr>
            <p:nvPr/>
          </p:nvSpPr>
          <p:spPr bwMode="auto">
            <a:xfrm>
              <a:off x="3213101" y="3130699"/>
              <a:ext cx="286433" cy="29901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7</a:t>
              </a:r>
            </a:p>
          </p:txBody>
        </p:sp>
        <p:sp>
          <p:nvSpPr>
            <p:cNvPr id="87" name="Text Box 8"/>
            <p:cNvSpPr txBox="1">
              <a:spLocks noChangeArrowheads="1"/>
            </p:cNvSpPr>
            <p:nvPr/>
          </p:nvSpPr>
          <p:spPr bwMode="auto">
            <a:xfrm>
              <a:off x="2863853" y="3135968"/>
              <a:ext cx="283920" cy="29769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5</a:t>
              </a:r>
            </a:p>
          </p:txBody>
        </p:sp>
        <p:sp>
          <p:nvSpPr>
            <p:cNvPr id="88" name="Line 7"/>
            <p:cNvSpPr>
              <a:spLocks noChangeShapeType="1"/>
            </p:cNvSpPr>
            <p:nvPr/>
          </p:nvSpPr>
          <p:spPr bwMode="auto">
            <a:xfrm>
              <a:off x="3150287" y="2735524"/>
              <a:ext cx="1256" cy="119474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89" name="Line 6"/>
            <p:cNvSpPr>
              <a:spLocks noChangeShapeType="1"/>
            </p:cNvSpPr>
            <p:nvPr/>
          </p:nvSpPr>
          <p:spPr bwMode="auto">
            <a:xfrm flipV="1">
              <a:off x="3240740" y="2731572"/>
              <a:ext cx="1256" cy="119474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90" name="Freeform 5"/>
            <p:cNvSpPr>
              <a:spLocks/>
            </p:cNvSpPr>
            <p:nvPr/>
          </p:nvSpPr>
          <p:spPr bwMode="auto">
            <a:xfrm>
              <a:off x="1241988" y="2668344"/>
              <a:ext cx="1796489" cy="129749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30" y="985"/>
                </a:cxn>
              </a:cxnLst>
              <a:rect l="0" t="0" r="r" b="b"/>
              <a:pathLst>
                <a:path w="1430" h="985">
                  <a:moveTo>
                    <a:pt x="0" y="0"/>
                  </a:moveTo>
                  <a:lnTo>
                    <a:pt x="1430" y="985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91" name="Freeform 4"/>
            <p:cNvSpPr>
              <a:spLocks/>
            </p:cNvSpPr>
            <p:nvPr/>
          </p:nvSpPr>
          <p:spPr bwMode="auto">
            <a:xfrm>
              <a:off x="1140229" y="2763186"/>
              <a:ext cx="1837947" cy="1289589"/>
            </a:xfrm>
            <a:custGeom>
              <a:avLst/>
              <a:gdLst/>
              <a:ahLst/>
              <a:cxnLst>
                <a:cxn ang="0">
                  <a:pos x="1463" y="979"/>
                </a:cxn>
                <a:cxn ang="0">
                  <a:pos x="0" y="0"/>
                </a:cxn>
              </a:cxnLst>
              <a:rect l="0" t="0" r="r" b="b"/>
              <a:pathLst>
                <a:path w="1463" h="979">
                  <a:moveTo>
                    <a:pt x="1463" y="979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92" name="Freeform 3"/>
            <p:cNvSpPr>
              <a:spLocks/>
            </p:cNvSpPr>
            <p:nvPr/>
          </p:nvSpPr>
          <p:spPr bwMode="auto">
            <a:xfrm>
              <a:off x="1120128" y="2653855"/>
              <a:ext cx="1888199" cy="1314617"/>
            </a:xfrm>
            <a:custGeom>
              <a:avLst/>
              <a:gdLst/>
              <a:ahLst/>
              <a:cxnLst>
                <a:cxn ang="0">
                  <a:pos x="0" y="998"/>
                </a:cxn>
                <a:cxn ang="0">
                  <a:pos x="1503" y="0"/>
                </a:cxn>
              </a:cxnLst>
              <a:rect l="0" t="0" r="r" b="b"/>
              <a:pathLst>
                <a:path w="1503" h="998">
                  <a:moveTo>
                    <a:pt x="0" y="998"/>
                  </a:moveTo>
                  <a:lnTo>
                    <a:pt x="150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  <p:sp>
          <p:nvSpPr>
            <p:cNvPr id="93" name="Freeform 2"/>
            <p:cNvSpPr>
              <a:spLocks/>
            </p:cNvSpPr>
            <p:nvPr/>
          </p:nvSpPr>
          <p:spPr bwMode="auto">
            <a:xfrm>
              <a:off x="1200531" y="2717083"/>
              <a:ext cx="1868098" cy="1298810"/>
            </a:xfrm>
            <a:custGeom>
              <a:avLst/>
              <a:gdLst/>
              <a:ahLst/>
              <a:cxnLst>
                <a:cxn ang="0">
                  <a:pos x="1487" y="0"/>
                </a:cxn>
                <a:cxn ang="0">
                  <a:pos x="0" y="986"/>
                </a:cxn>
              </a:cxnLst>
              <a:rect l="0" t="0" r="r" b="b"/>
              <a:pathLst>
                <a:path w="1487" h="986">
                  <a:moveTo>
                    <a:pt x="1487" y="0"/>
                  </a:moveTo>
                  <a:lnTo>
                    <a:pt x="0" y="98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cs typeface="Times New Roman" pitchFamily="18" charset="0"/>
              </a:endParaRPr>
            </a:p>
          </p:txBody>
        </p:sp>
      </p:grpSp>
      <p:cxnSp>
        <p:nvCxnSpPr>
          <p:cNvPr id="95" name="直接连接符 94"/>
          <p:cNvCxnSpPr/>
          <p:nvPr/>
        </p:nvCxnSpPr>
        <p:spPr>
          <a:xfrm rot="16200000" flipH="1">
            <a:off x="3967255" y="2862057"/>
            <a:ext cx="1013588" cy="0"/>
          </a:xfrm>
          <a:prstGeom prst="line">
            <a:avLst/>
          </a:prstGeom>
          <a:ln w="190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直接连接符 96"/>
          <p:cNvCxnSpPr>
            <a:endCxn id="210999" idx="0"/>
          </p:cNvCxnSpPr>
          <p:nvPr/>
        </p:nvCxnSpPr>
        <p:spPr>
          <a:xfrm rot="10800000" flipV="1">
            <a:off x="1962498" y="2357429"/>
            <a:ext cx="2180874" cy="993333"/>
          </a:xfrm>
          <a:prstGeom prst="line">
            <a:avLst/>
          </a:prstGeom>
          <a:ln w="190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9" name="直接连接符 98"/>
          <p:cNvCxnSpPr>
            <a:endCxn id="210981" idx="0"/>
          </p:cNvCxnSpPr>
          <p:nvPr/>
        </p:nvCxnSpPr>
        <p:spPr>
          <a:xfrm>
            <a:off x="4741158" y="2357430"/>
            <a:ext cx="2650626" cy="993333"/>
          </a:xfrm>
          <a:prstGeom prst="line">
            <a:avLst/>
          </a:prstGeom>
          <a:ln w="190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直接连接符 100"/>
          <p:cNvCxnSpPr>
            <a:stCxn id="210980" idx="2"/>
            <a:endCxn id="211001" idx="0"/>
          </p:cNvCxnSpPr>
          <p:nvPr/>
        </p:nvCxnSpPr>
        <p:spPr>
          <a:xfrm rot="5400000">
            <a:off x="6351438" y="5507455"/>
            <a:ext cx="670554" cy="0"/>
          </a:xfrm>
          <a:prstGeom prst="line">
            <a:avLst/>
          </a:prstGeom>
          <a:ln w="190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直接连接符 102"/>
          <p:cNvCxnSpPr>
            <a:stCxn id="210979" idx="2"/>
            <a:endCxn id="210978" idx="0"/>
          </p:cNvCxnSpPr>
          <p:nvPr/>
        </p:nvCxnSpPr>
        <p:spPr>
          <a:xfrm rot="16200000" flipH="1">
            <a:off x="7863287" y="5494960"/>
            <a:ext cx="670554" cy="24989"/>
          </a:xfrm>
          <a:prstGeom prst="line">
            <a:avLst/>
          </a:prstGeom>
          <a:ln w="190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" name="直接连接符 104"/>
          <p:cNvCxnSpPr>
            <a:stCxn id="210988" idx="2"/>
            <a:endCxn id="210986" idx="0"/>
          </p:cNvCxnSpPr>
          <p:nvPr/>
        </p:nvCxnSpPr>
        <p:spPr>
          <a:xfrm rot="16200000" flipH="1">
            <a:off x="4915181" y="5495585"/>
            <a:ext cx="670554" cy="23740"/>
          </a:xfrm>
          <a:prstGeom prst="line">
            <a:avLst/>
          </a:prstGeom>
          <a:ln w="190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7" name="直接连接符 106"/>
          <p:cNvCxnSpPr>
            <a:stCxn id="210989" idx="2"/>
            <a:endCxn id="210987" idx="0"/>
          </p:cNvCxnSpPr>
          <p:nvPr/>
        </p:nvCxnSpPr>
        <p:spPr>
          <a:xfrm rot="5400000">
            <a:off x="3527654" y="5507455"/>
            <a:ext cx="670554" cy="0"/>
          </a:xfrm>
          <a:prstGeom prst="line">
            <a:avLst/>
          </a:prstGeom>
          <a:ln w="190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9" name="直接连接符 108"/>
          <p:cNvCxnSpPr>
            <a:stCxn id="210997" idx="2"/>
            <a:endCxn id="210995" idx="0"/>
          </p:cNvCxnSpPr>
          <p:nvPr/>
        </p:nvCxnSpPr>
        <p:spPr>
          <a:xfrm rot="16200000" flipH="1">
            <a:off x="2085149" y="5494335"/>
            <a:ext cx="670554" cy="26239"/>
          </a:xfrm>
          <a:prstGeom prst="line">
            <a:avLst/>
          </a:prstGeom>
          <a:ln w="190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" name="直接连接符 110"/>
          <p:cNvCxnSpPr>
            <a:stCxn id="210998" idx="2"/>
            <a:endCxn id="210996" idx="0"/>
          </p:cNvCxnSpPr>
          <p:nvPr/>
        </p:nvCxnSpPr>
        <p:spPr>
          <a:xfrm rot="5400000">
            <a:off x="597665" y="5507455"/>
            <a:ext cx="670554" cy="0"/>
          </a:xfrm>
          <a:prstGeom prst="line">
            <a:avLst/>
          </a:prstGeom>
          <a:ln w="190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3" name="直接连接符 112"/>
          <p:cNvCxnSpPr>
            <a:endCxn id="210998" idx="0"/>
          </p:cNvCxnSpPr>
          <p:nvPr/>
        </p:nvCxnSpPr>
        <p:spPr>
          <a:xfrm rot="10800000" flipV="1">
            <a:off x="932942" y="3857628"/>
            <a:ext cx="781538" cy="754524"/>
          </a:xfrm>
          <a:prstGeom prst="line">
            <a:avLst/>
          </a:prstGeom>
          <a:ln w="190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直接连接符 114"/>
          <p:cNvCxnSpPr>
            <a:stCxn id="210999" idx="2"/>
            <a:endCxn id="210997" idx="0"/>
          </p:cNvCxnSpPr>
          <p:nvPr/>
        </p:nvCxnSpPr>
        <p:spPr>
          <a:xfrm rot="16200000" flipH="1">
            <a:off x="1834221" y="4039065"/>
            <a:ext cx="701363" cy="444809"/>
          </a:xfrm>
          <a:prstGeom prst="line">
            <a:avLst/>
          </a:prstGeom>
          <a:ln w="190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" name="直接连接符 116"/>
          <p:cNvCxnSpPr>
            <a:endCxn id="210989" idx="0"/>
          </p:cNvCxnSpPr>
          <p:nvPr/>
        </p:nvCxnSpPr>
        <p:spPr>
          <a:xfrm rot="5400000">
            <a:off x="3804485" y="3987513"/>
            <a:ext cx="683086" cy="566193"/>
          </a:xfrm>
          <a:prstGeom prst="line">
            <a:avLst/>
          </a:prstGeom>
          <a:ln w="190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9" name="直接连接符 118"/>
          <p:cNvCxnSpPr>
            <a:endCxn id="210988" idx="0"/>
          </p:cNvCxnSpPr>
          <p:nvPr/>
        </p:nvCxnSpPr>
        <p:spPr>
          <a:xfrm rot="16200000" flipH="1">
            <a:off x="4706627" y="4080191"/>
            <a:ext cx="683086" cy="380836"/>
          </a:xfrm>
          <a:prstGeom prst="line">
            <a:avLst/>
          </a:prstGeom>
          <a:ln w="190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5" name="直接连接符 124"/>
          <p:cNvCxnSpPr>
            <a:endCxn id="210980" idx="0"/>
          </p:cNvCxnSpPr>
          <p:nvPr/>
        </p:nvCxnSpPr>
        <p:spPr>
          <a:xfrm rot="5400000">
            <a:off x="6609418" y="4006364"/>
            <a:ext cx="683086" cy="528491"/>
          </a:xfrm>
          <a:prstGeom prst="line">
            <a:avLst/>
          </a:prstGeom>
          <a:ln w="190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7" name="直接连接符 126"/>
          <p:cNvCxnSpPr>
            <a:endCxn id="210979" idx="0"/>
          </p:cNvCxnSpPr>
          <p:nvPr/>
        </p:nvCxnSpPr>
        <p:spPr>
          <a:xfrm rot="16200000" flipH="1">
            <a:off x="7573409" y="3999491"/>
            <a:ext cx="683086" cy="542236"/>
          </a:xfrm>
          <a:prstGeom prst="line">
            <a:avLst/>
          </a:prstGeom>
          <a:ln w="190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30" name="组合 129"/>
          <p:cNvGrpSpPr/>
          <p:nvPr/>
        </p:nvGrpSpPr>
        <p:grpSpPr>
          <a:xfrm>
            <a:off x="1000100" y="500043"/>
            <a:ext cx="1071570" cy="928693"/>
            <a:chOff x="6862060" y="4310903"/>
            <a:chExt cx="1128915" cy="1130667"/>
          </a:xfrm>
        </p:grpSpPr>
        <p:grpSp>
          <p:nvGrpSpPr>
            <p:cNvPr id="131" name="Group 103"/>
            <p:cNvGrpSpPr>
              <a:grpSpLocks/>
            </p:cNvGrpSpPr>
            <p:nvPr/>
          </p:nvGrpSpPr>
          <p:grpSpPr bwMode="auto">
            <a:xfrm>
              <a:off x="6862060" y="4310903"/>
              <a:ext cx="1128915" cy="1130667"/>
              <a:chOff x="2880" y="1515"/>
              <a:chExt cx="644" cy="645"/>
            </a:xfrm>
          </p:grpSpPr>
          <p:sp>
            <p:nvSpPr>
              <p:cNvPr id="133" name="Oval 104"/>
              <p:cNvSpPr>
                <a:spLocks noChangeArrowheads="1"/>
              </p:cNvSpPr>
              <p:nvPr/>
            </p:nvSpPr>
            <p:spPr bwMode="auto">
              <a:xfrm>
                <a:off x="2880" y="1516"/>
                <a:ext cx="644" cy="644"/>
              </a:xfrm>
              <a:prstGeom prst="ellipse">
                <a:avLst/>
              </a:prstGeom>
              <a:gradFill rotWithShape="1">
                <a:gsLst>
                  <a:gs pos="0">
                    <a:srgbClr val="10942F"/>
                  </a:gs>
                  <a:gs pos="100000">
                    <a:srgbClr val="16D83B"/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" name="Freeform 105"/>
              <p:cNvSpPr>
                <a:spLocks/>
              </p:cNvSpPr>
              <p:nvPr/>
            </p:nvSpPr>
            <p:spPr bwMode="auto">
              <a:xfrm>
                <a:off x="2887" y="1515"/>
                <a:ext cx="630" cy="441"/>
              </a:xfrm>
              <a:custGeom>
                <a:avLst/>
                <a:gdLst/>
                <a:ahLst/>
                <a:cxnLst>
                  <a:cxn ang="0">
                    <a:pos x="1400" y="275"/>
                  </a:cxn>
                  <a:cxn ang="0">
                    <a:pos x="1596" y="795"/>
                  </a:cxn>
                  <a:cxn ang="0">
                    <a:pos x="0" y="795"/>
                  </a:cxn>
                  <a:cxn ang="0">
                    <a:pos x="217" y="252"/>
                  </a:cxn>
                  <a:cxn ang="0">
                    <a:pos x="796" y="0"/>
                  </a:cxn>
                  <a:cxn ang="0">
                    <a:pos x="1400" y="275"/>
                  </a:cxn>
                </a:cxnLst>
                <a:rect l="0" t="0" r="r" b="b"/>
                <a:pathLst>
                  <a:path w="1596" h="1118">
                    <a:moveTo>
                      <a:pt x="1400" y="275"/>
                    </a:moveTo>
                    <a:cubicBezTo>
                      <a:pt x="1522" y="417"/>
                      <a:pt x="1596" y="597"/>
                      <a:pt x="1596" y="795"/>
                    </a:cubicBezTo>
                    <a:cubicBezTo>
                      <a:pt x="1037" y="1118"/>
                      <a:pt x="668" y="611"/>
                      <a:pt x="0" y="795"/>
                    </a:cubicBezTo>
                    <a:cubicBezTo>
                      <a:pt x="0" y="585"/>
                      <a:pt x="83" y="392"/>
                      <a:pt x="217" y="252"/>
                    </a:cubicBezTo>
                    <a:cubicBezTo>
                      <a:pt x="364" y="95"/>
                      <a:pt x="570" y="0"/>
                      <a:pt x="796" y="0"/>
                    </a:cubicBezTo>
                    <a:cubicBezTo>
                      <a:pt x="1039" y="0"/>
                      <a:pt x="1253" y="108"/>
                      <a:pt x="1400" y="275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chemeClr val="bg1">
                      <a:alpha val="53000"/>
                    </a:schemeClr>
                  </a:gs>
                  <a:gs pos="100000">
                    <a:schemeClr val="bg1">
                      <a:gamma/>
                      <a:shade val="46275"/>
                      <a:invGamma/>
                      <a:alpha val="0"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2" name="Text Box 71"/>
            <p:cNvSpPr txBox="1">
              <a:spLocks noChangeArrowheads="1"/>
            </p:cNvSpPr>
            <p:nvPr/>
          </p:nvSpPr>
          <p:spPr bwMode="auto">
            <a:xfrm>
              <a:off x="7012582" y="4667550"/>
              <a:ext cx="842077" cy="4121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00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示例</a:t>
              </a:r>
              <a:endParaRPr lang="en-GB" altLang="zh-CN"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98" name="灯片编号占位符 9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119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282" y="285728"/>
            <a:ext cx="8786874" cy="643000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72000" bIns="72000" rtlCol="0">
            <a:spAutoFit/>
          </a:bodyPr>
          <a:lstStyle/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TSP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(vector&lt;vector&lt;int&gt;&gt; &amp;A,int s,set&lt;int&gt; V,int i) {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minpathlen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=INF;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最短路径长度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 (</a:t>
            </a:r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V.size()==0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{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当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V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为空时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递归出口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)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return A[s][i];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else {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当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V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为不空时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for (auto it=V.begin();it!=V.end();it++) {					</a:t>
            </a: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遍历集合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V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中的顶点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j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set&lt;int&gt; tmpV=V;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int j=*it;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tmpV.erase(j);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//tmpV=V-{j}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int pathlen1=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TSP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(A,s,tmpV,j);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int pathlen=pathlen1+A[j][i];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minpathlen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=min(minpathlen,pathlen);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return 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minpathlen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7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120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282" y="428604"/>
            <a:ext cx="8786874" cy="3680596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void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solve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(vector&lt;vector&lt;int&gt;&gt; &amp;A,int s) { 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求解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TSP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路径长度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n=A.size();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set&lt;int&gt; V;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for (int i=0;i&lt;n;i++)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if(i!=s)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//V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中添加除了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外的其他顶点</a:t>
            </a: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V.insert(i);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printf("TSP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路径长度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=%d\n",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TSP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(A,s,V,s));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121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0034" y="500042"/>
            <a:ext cx="82868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若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图中有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个顶点，对于大问题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(V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对应的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中含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个顶点，设其执行时间为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，该问题转换为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个问题规模为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的子问题，每个子问题的转换时间为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，时间递推式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4348" y="2057346"/>
            <a:ext cx="7143800" cy="1085902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tIns="144000" bIns="144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600"/>
              </a:spcBef>
            </a:pP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)=1										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当</a:t>
            </a:r>
            <a:r>
              <a:rPr lang="en-US" altLang="zh-CN" sz="2000" i="1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=1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时</a:t>
            </a:r>
          </a:p>
          <a:p>
            <a:pPr algn="l" defTabSz="360000">
              <a:lnSpc>
                <a:spcPts val="2800"/>
              </a:lnSpc>
              <a:spcBef>
                <a:spcPts val="600"/>
              </a:spcBef>
            </a:pP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)=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T(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-1)+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000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		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当</a:t>
            </a:r>
            <a:r>
              <a:rPr lang="en-US" altLang="zh-CN" sz="2000" i="1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&gt;1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2910" y="3500438"/>
            <a:ext cx="80724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可以推导出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)=O(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!)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TSP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算法针对的图中含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个顶点，所以对应的时间复杂度为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-1)!)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122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7158" y="500042"/>
            <a:ext cx="8501122" cy="4478149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600"/>
              </a:spcBef>
            </a:pP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       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4.14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】</a:t>
            </a:r>
            <a:r>
              <a:rPr lang="zh-CN" altLang="en-US">
                <a:solidFill>
                  <a:srgbClr val="0000FF"/>
                </a:solidFill>
                <a:latin typeface="仿宋" pitchFamily="49" charset="-122"/>
                <a:ea typeface="仿宋" pitchFamily="49" charset="-122"/>
              </a:rPr>
              <a:t>分治法求解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旅行计划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问题</a:t>
            </a:r>
            <a:r>
              <a:rPr lang="zh-CN" altLang="en-US">
                <a:solidFill>
                  <a:srgbClr val="0000FF"/>
                </a:solidFill>
                <a:latin typeface="仿宋" pitchFamily="49" charset="-122"/>
                <a:ea typeface="仿宋" pitchFamily="49" charset="-122"/>
              </a:rPr>
              <a:t>：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3.9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】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      </a:t>
            </a:r>
          </a:p>
          <a:p>
            <a:pPr algn="l" defTabSz="360000">
              <a:lnSpc>
                <a:spcPts val="3000"/>
              </a:lnSpc>
              <a:spcBef>
                <a:spcPts val="600"/>
              </a:spcBef>
            </a:pP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    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旅行计划（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LintCode1891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★★）有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≤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）个城市，城市编号为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～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。给出邻接矩阵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arr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代表任意两个城市的距离，其中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arr[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arr[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][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]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≤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10000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）表示从城市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到城市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的距离。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Alice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在周末制定了一个游玩计划，她从所在的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城市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开始，游玩其他的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1~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的全部城市，最后回到城市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Alice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想知道她能完成游玩计划需要行走的最小距离，返回这个最小距离。除了城市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之外每个城市都只能经过一次，且城市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只能是起点和终点，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Alice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中途不可经过城市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30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例如，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arr={{0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{2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0}}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，答案是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4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，对应的路径是城市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0-&gt;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城市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2-&gt;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城市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1-&gt;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城市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endParaRPr lang="zh-CN" altLang="zh-CN" sz="2000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428992" y="4929198"/>
            <a:ext cx="2071702" cy="1500198"/>
            <a:chOff x="1928794" y="4857760"/>
            <a:chExt cx="2071702" cy="1500198"/>
          </a:xfrm>
        </p:grpSpPr>
        <p:sp>
          <p:nvSpPr>
            <p:cNvPr id="4" name="椭圆 3"/>
            <p:cNvSpPr/>
            <p:nvPr/>
          </p:nvSpPr>
          <p:spPr>
            <a:xfrm>
              <a:off x="1928794" y="5072074"/>
              <a:ext cx="428628" cy="428628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ts val="2600"/>
                </a:lnSpc>
                <a:spcBef>
                  <a:spcPts val="0"/>
                </a:spcBef>
              </a:pPr>
              <a:r>
                <a:rPr lang="en-US" altLang="zh-CN" sz="2000">
                  <a:latin typeface="Consolas" pitchFamily="49" charset="0"/>
                </a:rPr>
                <a:t>0</a:t>
              </a:r>
              <a:endParaRPr lang="zh-CN" altLang="en-US" sz="2000">
                <a:latin typeface="Consolas" pitchFamily="49" charset="0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3571868" y="5072074"/>
              <a:ext cx="428628" cy="428628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ts val="2600"/>
                </a:lnSpc>
                <a:spcBef>
                  <a:spcPts val="0"/>
                </a:spcBef>
              </a:pPr>
              <a:r>
                <a:rPr lang="en-US" altLang="zh-CN" sz="2000">
                  <a:latin typeface="Consolas" pitchFamily="49" charset="0"/>
                </a:rPr>
                <a:t>1</a:t>
              </a:r>
              <a:endParaRPr lang="zh-CN" altLang="en-US" sz="2000">
                <a:latin typeface="Consolas" pitchFamily="49" charset="0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2786050" y="5929330"/>
              <a:ext cx="428628" cy="428628"/>
            </a:xfrm>
            <a:prstGeom prst="ellipse">
              <a:avLst/>
            </a:prstGeom>
            <a:ln>
              <a:tailEnd type="none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ts val="2600"/>
                </a:lnSpc>
                <a:spcBef>
                  <a:spcPts val="0"/>
                </a:spcBef>
              </a:pPr>
              <a:r>
                <a:rPr lang="en-US" altLang="zh-CN" sz="2000">
                  <a:latin typeface="Consolas" pitchFamily="49" charset="0"/>
                </a:rPr>
                <a:t>2</a:t>
              </a:r>
              <a:endParaRPr lang="zh-CN" altLang="en-US" sz="2000">
                <a:latin typeface="Consolas" pitchFamily="49" charset="0"/>
              </a:endParaRPr>
            </a:p>
          </p:txBody>
        </p:sp>
        <p:cxnSp>
          <p:nvCxnSpPr>
            <p:cNvPr id="7" name="直接箭头连接符 6"/>
            <p:cNvCxnSpPr/>
            <p:nvPr/>
          </p:nvCxnSpPr>
          <p:spPr>
            <a:xfrm>
              <a:off x="2357422" y="5218654"/>
              <a:ext cx="1214446" cy="1588"/>
            </a:xfrm>
            <a:prstGeom prst="straightConnector1">
              <a:avLst/>
            </a:prstGeom>
            <a:ln w="9525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接箭头连接符 7"/>
            <p:cNvCxnSpPr/>
            <p:nvPr/>
          </p:nvCxnSpPr>
          <p:spPr>
            <a:xfrm rot="16200000" flipH="1">
              <a:off x="2226917" y="5505665"/>
              <a:ext cx="554170" cy="554170"/>
            </a:xfrm>
            <a:prstGeom prst="straightConnector1">
              <a:avLst/>
            </a:prstGeom>
            <a:ln w="38100">
              <a:solidFill>
                <a:srgbClr val="FF00FF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2786050" y="5286388"/>
              <a:ext cx="3571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8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1</a:t>
              </a:r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143108" y="5715016"/>
              <a:ext cx="3571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8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2</a:t>
              </a:r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786050" y="4857760"/>
              <a:ext cx="3571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8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1</a:t>
              </a:r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  <p:cxnSp>
          <p:nvCxnSpPr>
            <p:cNvPr id="12" name="直接箭头连接符 11"/>
            <p:cNvCxnSpPr/>
            <p:nvPr/>
          </p:nvCxnSpPr>
          <p:spPr>
            <a:xfrm rot="10800000">
              <a:off x="2357422" y="5308966"/>
              <a:ext cx="1214446" cy="1588"/>
            </a:xfrm>
            <a:prstGeom prst="straightConnector1">
              <a:avLst/>
            </a:prstGeom>
            <a:ln w="38100">
              <a:solidFill>
                <a:srgbClr val="FF00FF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/>
            <p:nvPr/>
          </p:nvCxnSpPr>
          <p:spPr>
            <a:xfrm rot="5400000">
              <a:off x="3082321" y="5451072"/>
              <a:ext cx="554170" cy="482732"/>
            </a:xfrm>
            <a:prstGeom prst="straightConnector1">
              <a:avLst/>
            </a:prstGeom>
            <a:ln w="9525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3109373" y="5444257"/>
              <a:ext cx="3571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8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2</a:t>
              </a:r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545454" y="5500702"/>
              <a:ext cx="3571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8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2</a:t>
              </a:r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357554" y="5643578"/>
              <a:ext cx="3571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80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1</a:t>
              </a:r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endParaRPr>
            </a:p>
          </p:txBody>
        </p:sp>
        <p:cxnSp>
          <p:nvCxnSpPr>
            <p:cNvPr id="17" name="直接箭头连接符 16"/>
            <p:cNvCxnSpPr>
              <a:stCxn id="6" idx="1"/>
              <a:endCxn id="4" idx="5"/>
            </p:cNvCxnSpPr>
            <p:nvPr/>
          </p:nvCxnSpPr>
          <p:spPr>
            <a:xfrm rot="16200000" flipV="1">
              <a:off x="2294651" y="5437931"/>
              <a:ext cx="554170" cy="554170"/>
            </a:xfrm>
            <a:prstGeom prst="straightConnector1">
              <a:avLst/>
            </a:prstGeom>
            <a:ln w="9525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/>
            <p:nvPr/>
          </p:nvCxnSpPr>
          <p:spPr>
            <a:xfrm rot="5400000" flipH="1" flipV="1">
              <a:off x="3138766" y="5518806"/>
              <a:ext cx="554170" cy="482732"/>
            </a:xfrm>
            <a:prstGeom prst="straightConnector1">
              <a:avLst/>
            </a:prstGeom>
            <a:ln w="38100">
              <a:solidFill>
                <a:srgbClr val="FF00FF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0" name="组合 19"/>
          <p:cNvGrpSpPr/>
          <p:nvPr/>
        </p:nvGrpSpPr>
        <p:grpSpPr>
          <a:xfrm>
            <a:off x="285720" y="285728"/>
            <a:ext cx="1041400" cy="1044575"/>
            <a:chOff x="857224" y="1071546"/>
            <a:chExt cx="1041400" cy="1044575"/>
          </a:xfrm>
        </p:grpSpPr>
        <p:sp>
          <p:nvSpPr>
            <p:cNvPr id="21" name="Freeform 8"/>
            <p:cNvSpPr>
              <a:spLocks noEditPoints="1"/>
            </p:cNvSpPr>
            <p:nvPr/>
          </p:nvSpPr>
          <p:spPr bwMode="auto">
            <a:xfrm>
              <a:off x="857224" y="1071546"/>
              <a:ext cx="1041400" cy="1044575"/>
            </a:xfrm>
            <a:custGeom>
              <a:avLst/>
              <a:gdLst>
                <a:gd name="T0" fmla="*/ 964145 w 337"/>
                <a:gd name="T1" fmla="*/ 540830 h 338"/>
                <a:gd name="T2" fmla="*/ 964145 w 337"/>
                <a:gd name="T3" fmla="*/ 494473 h 338"/>
                <a:gd name="T4" fmla="*/ 1041400 w 337"/>
                <a:gd name="T5" fmla="*/ 441936 h 338"/>
                <a:gd name="T6" fmla="*/ 1007408 w 337"/>
                <a:gd name="T7" fmla="*/ 321408 h 338"/>
                <a:gd name="T8" fmla="*/ 914701 w 337"/>
                <a:gd name="T9" fmla="*/ 318317 h 338"/>
                <a:gd name="T10" fmla="*/ 889980 w 337"/>
                <a:gd name="T11" fmla="*/ 275051 h 338"/>
                <a:gd name="T12" fmla="*/ 930153 w 337"/>
                <a:gd name="T13" fmla="*/ 191608 h 338"/>
                <a:gd name="T14" fmla="*/ 843627 w 337"/>
                <a:gd name="T15" fmla="*/ 105076 h 338"/>
                <a:gd name="T16" fmla="*/ 760191 w 337"/>
                <a:gd name="T17" fmla="*/ 148342 h 338"/>
                <a:gd name="T18" fmla="*/ 716928 w 337"/>
                <a:gd name="T19" fmla="*/ 123618 h 338"/>
                <a:gd name="T20" fmla="*/ 710748 w 337"/>
                <a:gd name="T21" fmla="*/ 30905 h 338"/>
                <a:gd name="T22" fmla="*/ 652034 w 337"/>
                <a:gd name="T23" fmla="*/ 15452 h 338"/>
                <a:gd name="T24" fmla="*/ 590230 w 337"/>
                <a:gd name="T25" fmla="*/ 0 h 338"/>
                <a:gd name="T26" fmla="*/ 540786 w 337"/>
                <a:gd name="T27" fmla="*/ 77261 h 338"/>
                <a:gd name="T28" fmla="*/ 494433 w 337"/>
                <a:gd name="T29" fmla="*/ 77261 h 338"/>
                <a:gd name="T30" fmla="*/ 441900 w 337"/>
                <a:gd name="T31" fmla="*/ 3090 h 338"/>
                <a:gd name="T32" fmla="*/ 321382 w 337"/>
                <a:gd name="T33" fmla="*/ 33995 h 338"/>
                <a:gd name="T34" fmla="*/ 318291 w 337"/>
                <a:gd name="T35" fmla="*/ 126709 h 338"/>
                <a:gd name="T36" fmla="*/ 275028 w 337"/>
                <a:gd name="T37" fmla="*/ 151432 h 338"/>
                <a:gd name="T38" fmla="*/ 191593 w 337"/>
                <a:gd name="T39" fmla="*/ 111257 h 338"/>
                <a:gd name="T40" fmla="*/ 105067 w 337"/>
                <a:gd name="T41" fmla="*/ 200880 h 338"/>
                <a:gd name="T42" fmla="*/ 148330 w 337"/>
                <a:gd name="T43" fmla="*/ 281232 h 338"/>
                <a:gd name="T44" fmla="*/ 123608 w 337"/>
                <a:gd name="T45" fmla="*/ 324498 h 338"/>
                <a:gd name="T46" fmla="*/ 30902 w 337"/>
                <a:gd name="T47" fmla="*/ 330679 h 338"/>
                <a:gd name="T48" fmla="*/ 15451 w 337"/>
                <a:gd name="T49" fmla="*/ 392488 h 338"/>
                <a:gd name="T50" fmla="*/ 0 w 337"/>
                <a:gd name="T51" fmla="*/ 451207 h 338"/>
                <a:gd name="T52" fmla="*/ 77255 w 337"/>
                <a:gd name="T53" fmla="*/ 500654 h 338"/>
                <a:gd name="T54" fmla="*/ 77255 w 337"/>
                <a:gd name="T55" fmla="*/ 550102 h 338"/>
                <a:gd name="T56" fmla="*/ 0 w 337"/>
                <a:gd name="T57" fmla="*/ 602639 h 338"/>
                <a:gd name="T58" fmla="*/ 33992 w 337"/>
                <a:gd name="T59" fmla="*/ 723167 h 338"/>
                <a:gd name="T60" fmla="*/ 126699 w 337"/>
                <a:gd name="T61" fmla="*/ 726258 h 338"/>
                <a:gd name="T62" fmla="*/ 151420 w 337"/>
                <a:gd name="T63" fmla="*/ 766434 h 338"/>
                <a:gd name="T64" fmla="*/ 111247 w 337"/>
                <a:gd name="T65" fmla="*/ 849876 h 338"/>
                <a:gd name="T66" fmla="*/ 200864 w 337"/>
                <a:gd name="T67" fmla="*/ 939499 h 338"/>
                <a:gd name="T68" fmla="*/ 281209 w 337"/>
                <a:gd name="T69" fmla="*/ 896233 h 338"/>
                <a:gd name="T70" fmla="*/ 324472 w 337"/>
                <a:gd name="T71" fmla="*/ 920957 h 338"/>
                <a:gd name="T72" fmla="*/ 330652 w 337"/>
                <a:gd name="T73" fmla="*/ 1013670 h 338"/>
                <a:gd name="T74" fmla="*/ 389366 w 337"/>
                <a:gd name="T75" fmla="*/ 1029123 h 338"/>
                <a:gd name="T76" fmla="*/ 451170 w 337"/>
                <a:gd name="T77" fmla="*/ 1044575 h 338"/>
                <a:gd name="T78" fmla="*/ 500614 w 337"/>
                <a:gd name="T79" fmla="*/ 964223 h 338"/>
                <a:gd name="T80" fmla="*/ 550057 w 337"/>
                <a:gd name="T81" fmla="*/ 964223 h 338"/>
                <a:gd name="T82" fmla="*/ 602591 w 337"/>
                <a:gd name="T83" fmla="*/ 1041485 h 338"/>
                <a:gd name="T84" fmla="*/ 720018 w 337"/>
                <a:gd name="T85" fmla="*/ 1007489 h 338"/>
                <a:gd name="T86" fmla="*/ 726199 w 337"/>
                <a:gd name="T87" fmla="*/ 914776 h 338"/>
                <a:gd name="T88" fmla="*/ 766372 w 337"/>
                <a:gd name="T89" fmla="*/ 890052 h 338"/>
                <a:gd name="T90" fmla="*/ 849807 w 337"/>
                <a:gd name="T91" fmla="*/ 933318 h 338"/>
                <a:gd name="T92" fmla="*/ 936333 w 337"/>
                <a:gd name="T93" fmla="*/ 843695 h 338"/>
                <a:gd name="T94" fmla="*/ 896160 w 337"/>
                <a:gd name="T95" fmla="*/ 760253 h 338"/>
                <a:gd name="T96" fmla="*/ 917792 w 337"/>
                <a:gd name="T97" fmla="*/ 720077 h 338"/>
                <a:gd name="T98" fmla="*/ 1010498 w 337"/>
                <a:gd name="T99" fmla="*/ 713896 h 338"/>
                <a:gd name="T100" fmla="*/ 1025949 w 337"/>
                <a:gd name="T101" fmla="*/ 652087 h 338"/>
                <a:gd name="T102" fmla="*/ 1041400 w 337"/>
                <a:gd name="T103" fmla="*/ 593368 h 338"/>
                <a:gd name="T104" fmla="*/ 964145 w 337"/>
                <a:gd name="T105" fmla="*/ 540830 h 338"/>
                <a:gd name="T106" fmla="*/ 432629 w 337"/>
                <a:gd name="T107" fmla="*/ 868419 h 338"/>
                <a:gd name="T108" fmla="*/ 176142 w 337"/>
                <a:gd name="T109" fmla="*/ 432664 h 338"/>
                <a:gd name="T110" fmla="*/ 611861 w 337"/>
                <a:gd name="T111" fmla="*/ 176156 h 338"/>
                <a:gd name="T112" fmla="*/ 868348 w 337"/>
                <a:gd name="T113" fmla="*/ 611911 h 338"/>
                <a:gd name="T114" fmla="*/ 432629 w 337"/>
                <a:gd name="T115" fmla="*/ 868419 h 33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37" h="338">
                  <a:moveTo>
                    <a:pt x="312" y="175"/>
                  </a:moveTo>
                  <a:cubicBezTo>
                    <a:pt x="312" y="170"/>
                    <a:pt x="312" y="165"/>
                    <a:pt x="312" y="160"/>
                  </a:cubicBezTo>
                  <a:cubicBezTo>
                    <a:pt x="337" y="143"/>
                    <a:pt x="337" y="143"/>
                    <a:pt x="337" y="143"/>
                  </a:cubicBezTo>
                  <a:cubicBezTo>
                    <a:pt x="326" y="104"/>
                    <a:pt x="326" y="104"/>
                    <a:pt x="326" y="104"/>
                  </a:cubicBezTo>
                  <a:cubicBezTo>
                    <a:pt x="296" y="103"/>
                    <a:pt x="296" y="103"/>
                    <a:pt x="296" y="103"/>
                  </a:cubicBezTo>
                  <a:cubicBezTo>
                    <a:pt x="294" y="98"/>
                    <a:pt x="291" y="94"/>
                    <a:pt x="288" y="89"/>
                  </a:cubicBezTo>
                  <a:cubicBezTo>
                    <a:pt x="301" y="62"/>
                    <a:pt x="301" y="62"/>
                    <a:pt x="301" y="62"/>
                  </a:cubicBezTo>
                  <a:cubicBezTo>
                    <a:pt x="273" y="34"/>
                    <a:pt x="273" y="34"/>
                    <a:pt x="273" y="34"/>
                  </a:cubicBezTo>
                  <a:cubicBezTo>
                    <a:pt x="246" y="48"/>
                    <a:pt x="246" y="48"/>
                    <a:pt x="246" y="48"/>
                  </a:cubicBezTo>
                  <a:cubicBezTo>
                    <a:pt x="242" y="45"/>
                    <a:pt x="237" y="42"/>
                    <a:pt x="232" y="40"/>
                  </a:cubicBezTo>
                  <a:cubicBezTo>
                    <a:pt x="230" y="10"/>
                    <a:pt x="230" y="10"/>
                    <a:pt x="230" y="10"/>
                  </a:cubicBezTo>
                  <a:cubicBezTo>
                    <a:pt x="211" y="5"/>
                    <a:pt x="211" y="5"/>
                    <a:pt x="211" y="5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75" y="25"/>
                    <a:pt x="175" y="25"/>
                    <a:pt x="175" y="25"/>
                  </a:cubicBezTo>
                  <a:cubicBezTo>
                    <a:pt x="170" y="25"/>
                    <a:pt x="165" y="25"/>
                    <a:pt x="160" y="25"/>
                  </a:cubicBezTo>
                  <a:cubicBezTo>
                    <a:pt x="143" y="1"/>
                    <a:pt x="143" y="1"/>
                    <a:pt x="143" y="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98" y="44"/>
                    <a:pt x="93" y="46"/>
                    <a:pt x="89" y="49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48" y="91"/>
                    <a:pt x="48" y="91"/>
                    <a:pt x="48" y="91"/>
                  </a:cubicBezTo>
                  <a:cubicBezTo>
                    <a:pt x="45" y="96"/>
                    <a:pt x="42" y="100"/>
                    <a:pt x="40" y="105"/>
                  </a:cubicBezTo>
                  <a:cubicBezTo>
                    <a:pt x="10" y="107"/>
                    <a:pt x="10" y="107"/>
                    <a:pt x="10" y="107"/>
                  </a:cubicBezTo>
                  <a:cubicBezTo>
                    <a:pt x="5" y="127"/>
                    <a:pt x="5" y="127"/>
                    <a:pt x="5" y="127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25" y="162"/>
                    <a:pt x="25" y="162"/>
                    <a:pt x="25" y="162"/>
                  </a:cubicBezTo>
                  <a:cubicBezTo>
                    <a:pt x="25" y="168"/>
                    <a:pt x="25" y="173"/>
                    <a:pt x="25" y="178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11" y="234"/>
                    <a:pt x="11" y="234"/>
                    <a:pt x="11" y="234"/>
                  </a:cubicBezTo>
                  <a:cubicBezTo>
                    <a:pt x="41" y="235"/>
                    <a:pt x="41" y="235"/>
                    <a:pt x="41" y="235"/>
                  </a:cubicBezTo>
                  <a:cubicBezTo>
                    <a:pt x="44" y="240"/>
                    <a:pt x="46" y="244"/>
                    <a:pt x="49" y="248"/>
                  </a:cubicBezTo>
                  <a:cubicBezTo>
                    <a:pt x="36" y="275"/>
                    <a:pt x="36" y="275"/>
                    <a:pt x="36" y="275"/>
                  </a:cubicBezTo>
                  <a:cubicBezTo>
                    <a:pt x="65" y="304"/>
                    <a:pt x="65" y="304"/>
                    <a:pt x="65" y="304"/>
                  </a:cubicBezTo>
                  <a:cubicBezTo>
                    <a:pt x="91" y="290"/>
                    <a:pt x="91" y="290"/>
                    <a:pt x="91" y="290"/>
                  </a:cubicBezTo>
                  <a:cubicBezTo>
                    <a:pt x="96" y="293"/>
                    <a:pt x="100" y="295"/>
                    <a:pt x="105" y="298"/>
                  </a:cubicBezTo>
                  <a:cubicBezTo>
                    <a:pt x="107" y="328"/>
                    <a:pt x="107" y="328"/>
                    <a:pt x="107" y="328"/>
                  </a:cubicBezTo>
                  <a:cubicBezTo>
                    <a:pt x="126" y="333"/>
                    <a:pt x="126" y="333"/>
                    <a:pt x="126" y="333"/>
                  </a:cubicBezTo>
                  <a:cubicBezTo>
                    <a:pt x="146" y="338"/>
                    <a:pt x="146" y="338"/>
                    <a:pt x="146" y="338"/>
                  </a:cubicBezTo>
                  <a:cubicBezTo>
                    <a:pt x="162" y="312"/>
                    <a:pt x="162" y="312"/>
                    <a:pt x="162" y="312"/>
                  </a:cubicBezTo>
                  <a:cubicBezTo>
                    <a:pt x="167" y="313"/>
                    <a:pt x="173" y="313"/>
                    <a:pt x="178" y="312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233" y="326"/>
                    <a:pt x="233" y="326"/>
                    <a:pt x="233" y="326"/>
                  </a:cubicBezTo>
                  <a:cubicBezTo>
                    <a:pt x="235" y="296"/>
                    <a:pt x="235" y="296"/>
                    <a:pt x="235" y="296"/>
                  </a:cubicBezTo>
                  <a:cubicBezTo>
                    <a:pt x="239" y="294"/>
                    <a:pt x="244" y="291"/>
                    <a:pt x="248" y="288"/>
                  </a:cubicBezTo>
                  <a:cubicBezTo>
                    <a:pt x="275" y="302"/>
                    <a:pt x="275" y="302"/>
                    <a:pt x="275" y="302"/>
                  </a:cubicBezTo>
                  <a:cubicBezTo>
                    <a:pt x="303" y="273"/>
                    <a:pt x="303" y="273"/>
                    <a:pt x="303" y="273"/>
                  </a:cubicBezTo>
                  <a:cubicBezTo>
                    <a:pt x="290" y="246"/>
                    <a:pt x="290" y="246"/>
                    <a:pt x="290" y="246"/>
                  </a:cubicBezTo>
                  <a:cubicBezTo>
                    <a:pt x="293" y="242"/>
                    <a:pt x="295" y="237"/>
                    <a:pt x="297" y="233"/>
                  </a:cubicBezTo>
                  <a:cubicBezTo>
                    <a:pt x="327" y="231"/>
                    <a:pt x="327" y="231"/>
                    <a:pt x="327" y="231"/>
                  </a:cubicBezTo>
                  <a:cubicBezTo>
                    <a:pt x="332" y="211"/>
                    <a:pt x="332" y="211"/>
                    <a:pt x="332" y="211"/>
                  </a:cubicBezTo>
                  <a:cubicBezTo>
                    <a:pt x="337" y="192"/>
                    <a:pt x="337" y="192"/>
                    <a:pt x="337" y="192"/>
                  </a:cubicBezTo>
                  <a:lnTo>
                    <a:pt x="312" y="175"/>
                  </a:lnTo>
                  <a:close/>
                  <a:moveTo>
                    <a:pt x="140" y="281"/>
                  </a:moveTo>
                  <a:cubicBezTo>
                    <a:pt x="78" y="265"/>
                    <a:pt x="41" y="202"/>
                    <a:pt x="57" y="140"/>
                  </a:cubicBezTo>
                  <a:cubicBezTo>
                    <a:pt x="73" y="78"/>
                    <a:pt x="136" y="41"/>
                    <a:pt x="198" y="57"/>
                  </a:cubicBezTo>
                  <a:cubicBezTo>
                    <a:pt x="259" y="73"/>
                    <a:pt x="297" y="136"/>
                    <a:pt x="281" y="198"/>
                  </a:cubicBezTo>
                  <a:cubicBezTo>
                    <a:pt x="265" y="260"/>
                    <a:pt x="202" y="297"/>
                    <a:pt x="140" y="281"/>
                  </a:cubicBezTo>
                  <a:close/>
                </a:path>
              </a:pathLst>
            </a:custGeom>
            <a:solidFill>
              <a:srgbClr val="1848C0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" name="Rectangle 16"/>
            <p:cNvSpPr>
              <a:spLocks noChangeArrowheads="1"/>
            </p:cNvSpPr>
            <p:nvPr/>
          </p:nvSpPr>
          <p:spPr bwMode="auto">
            <a:xfrm>
              <a:off x="1066774" y="1399481"/>
              <a:ext cx="663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>
              <a:defPPr>
                <a:defRPr lang="zh-CN"/>
              </a:defPPr>
              <a:lvl1pPr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1pPr>
              <a:lvl2pPr marL="4572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2pPr>
              <a:lvl3pPr marL="9144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3pPr>
              <a:lvl4pPr marL="13716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4pPr>
              <a:lvl5pPr marL="1828800" algn="ctr" rtl="0" fontAlgn="base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400" b="1" kern="1200">
                  <a:solidFill>
                    <a:srgbClr val="0033CC"/>
                  </a:solidFill>
                  <a:latin typeface="Times New Roman" pitchFamily="18" charset="0"/>
                  <a:ea typeface="楷体_GB2312" pitchFamily="49" charset="-122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2000" spc="5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华文中宋" pitchFamily="2" charset="-122"/>
                  <a:ea typeface="华文中宋" pitchFamily="2" charset="-122"/>
                </a:rPr>
                <a:t>实例</a:t>
              </a:r>
              <a:endParaRPr lang="zh-CN" altLang="zh-CN" sz="2000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endParaRPr>
            </a:p>
          </p:txBody>
        </p:sp>
      </p:grp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123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2910" y="928670"/>
            <a:ext cx="785818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2910" y="1731852"/>
            <a:ext cx="7929618" cy="1554272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Alice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最小距离的旅游路径就是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TSP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路径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5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采用分治法求解本例的思路与前面讨论的求解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TSP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路径长度完全相同，仅仅将起始点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设置为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即可。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124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8596" y="428604"/>
            <a:ext cx="8215370" cy="4503193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class Solution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const int INF=0x3f3f3f3f;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	vector&lt;vector&lt;int&gt;&gt; A;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邻接矩阵</a:t>
            </a: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public: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int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travelPla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n(vector&lt;vector&lt;int&gt;&gt; &amp;arr)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	A=arr;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set&lt;int&gt; V;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for (int i=1;i&lt;arr.size();i++) {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这里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s=0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		V.insert(i);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return TSP(V,0);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8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125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282" y="428604"/>
            <a:ext cx="8786874" cy="6065864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int 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TSP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(set&lt;int&gt; V,int i) { 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递归算法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	int 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minpathlen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=INF;           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最短路径长度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if (V.size()==0) {   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当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V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为空时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	return A[0][i];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else {            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当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V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为不空时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	for (auto it=V.begin();it!=V.end();it++) {  			</a:t>
            </a: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								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遍历集合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V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中的顶点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j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	set&lt;int&gt; tmpV=V;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	int j=*it;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	tmpV.erase(j);  	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//tmpV=V-{j}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	int pathlen1=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TSP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(tmpV,j);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	int pathlen=pathlen1+A[j][i];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  	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minpathlen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=min(minpathlen,pathlen);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   	return </a:t>
            </a:r>
            <a:r>
              <a:rPr lang="en-US" altLang="zh-CN" sz="2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minpathlen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    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ct val="100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126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9"/>
          <p:cNvGrpSpPr/>
          <p:nvPr/>
        </p:nvGrpSpPr>
        <p:grpSpPr>
          <a:xfrm>
            <a:off x="642910" y="1324261"/>
            <a:ext cx="7000924" cy="461665"/>
            <a:chOff x="1071538" y="6286520"/>
            <a:chExt cx="7000924" cy="461665"/>
          </a:xfrm>
        </p:grpSpPr>
        <p:sp>
          <p:nvSpPr>
            <p:cNvPr id="3" name="TextBox 2"/>
            <p:cNvSpPr txBox="1"/>
            <p:nvPr/>
          </p:nvSpPr>
          <p:spPr>
            <a:xfrm>
              <a:off x="1857356" y="6286520"/>
              <a:ext cx="62151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执行用时为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2752ms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，内存消耗为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5.32MB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。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071538" y="6286520"/>
              <a:ext cx="785818" cy="443968"/>
            </a:xfrm>
            <a:prstGeom prst="rect">
              <a:avLst/>
            </a:prstGeom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Eras Bold ITC" pitchFamily="34" charset="0"/>
                  <a:ea typeface="仿宋" pitchFamily="49" charset="-122"/>
                  <a:cs typeface="Courier New" pitchFamily="49" charset="0"/>
                </a:rPr>
                <a:t>EXE </a:t>
              </a:r>
              <a:endParaRPr lang="zh-CN" altLang="en-US" sz="2000">
                <a:solidFill>
                  <a:srgbClr val="FF3300"/>
                </a:solidFill>
                <a:latin typeface="Forte" pitchFamily="66" charset="0"/>
                <a:ea typeface="仿宋" pitchFamily="49" charset="-122"/>
                <a:cs typeface="Consolas" pitchFamily="49" charset="0"/>
              </a:endParaRPr>
            </a:p>
          </p:txBody>
        </p:sp>
      </p:grpSp>
      <p:grpSp>
        <p:nvGrpSpPr>
          <p:cNvPr id="5" name="组合 9"/>
          <p:cNvGrpSpPr/>
          <p:nvPr/>
        </p:nvGrpSpPr>
        <p:grpSpPr>
          <a:xfrm>
            <a:off x="714348" y="2681583"/>
            <a:ext cx="6858048" cy="461665"/>
            <a:chOff x="1071538" y="6286520"/>
            <a:chExt cx="6858048" cy="461665"/>
          </a:xfrm>
        </p:grpSpPr>
        <p:sp>
          <p:nvSpPr>
            <p:cNvPr id="6" name="TextBox 5"/>
            <p:cNvSpPr txBox="1"/>
            <p:nvPr/>
          </p:nvSpPr>
          <p:spPr>
            <a:xfrm>
              <a:off x="1928794" y="6286520"/>
              <a:ext cx="6000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执行用时为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284ms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，内存消耗为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5.59MB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。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71538" y="6286520"/>
              <a:ext cx="785818" cy="443968"/>
            </a:xfrm>
            <a:prstGeom prst="rect">
              <a:avLst/>
            </a:prstGeom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ts val="3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Eras Bold ITC" pitchFamily="34" charset="0"/>
                  <a:ea typeface="仿宋" pitchFamily="49" charset="-122"/>
                  <a:cs typeface="Courier New" pitchFamily="49" charset="0"/>
                </a:rPr>
                <a:t>EXE </a:t>
              </a:r>
              <a:endParaRPr lang="zh-CN" altLang="en-US" sz="2000">
                <a:solidFill>
                  <a:srgbClr val="FF3300"/>
                </a:solidFill>
                <a:latin typeface="Forte" pitchFamily="66" charset="0"/>
                <a:ea typeface="仿宋" pitchFamily="49" charset="-122"/>
                <a:cs typeface="Consolas" pitchFamily="49" charset="0"/>
              </a:endParaR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642910" y="785794"/>
            <a:ext cx="40005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200">
                <a:solidFill>
                  <a:srgbClr val="0000FF"/>
                </a:solidFill>
                <a:latin typeface="仿宋" pitchFamily="49" charset="-122"/>
                <a:ea typeface="仿宋" pitchFamily="49" charset="-122"/>
                <a:cs typeface="Consolas" pitchFamily="49" charset="0"/>
              </a:rPr>
              <a:t>分治法：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910" y="2143116"/>
            <a:ext cx="40005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200">
                <a:solidFill>
                  <a:srgbClr val="0000FF"/>
                </a:solidFill>
                <a:latin typeface="仿宋" pitchFamily="49" charset="-122"/>
                <a:ea typeface="仿宋" pitchFamily="49" charset="-122"/>
                <a:cs typeface="Consolas" pitchFamily="49" charset="0"/>
              </a:rPr>
              <a:t>穷举法：</a:t>
            </a:r>
          </a:p>
        </p:txBody>
      </p:sp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00958" y="1285860"/>
            <a:ext cx="1019175" cy="176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127</a:t>
            </a:fld>
            <a:r>
              <a:rPr lang="en-US" altLang="zh-CN"/>
              <a:t>/127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83A4C28-90C5-AF0C-71C8-3FDE4A745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128</a:t>
            </a:fld>
            <a:r>
              <a:rPr lang="en-US" altLang="zh-CN"/>
              <a:t>/127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7D52035-B8DF-E154-6855-5BC18718F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2286000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94971D1-E83C-C920-0209-9781A257987E}"/>
              </a:ext>
            </a:extLst>
          </p:cNvPr>
          <p:cNvSpPr txBox="1"/>
          <p:nvPr/>
        </p:nvSpPr>
        <p:spPr>
          <a:xfrm>
            <a:off x="4067944" y="4797152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思政</a:t>
            </a:r>
          </a:p>
        </p:txBody>
      </p:sp>
    </p:spTree>
    <p:extLst>
      <p:ext uri="{BB962C8B-B14F-4D97-AF65-F5344CB8AC3E}">
        <p14:creationId xmlns:p14="http://schemas.microsoft.com/office/powerpoint/2010/main" val="1591476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9050">
          <a:tailEnd type="none"/>
        </a:ln>
      </a:spPr>
      <a:bodyPr rtlCol="0" anchor="ctr"/>
      <a:lstStyle>
        <a:defPPr algn="ctr">
          <a:defRPr/>
        </a:defPPr>
      </a:lstStyle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spDef>
    <a:lnDef>
      <a:spPr>
        <a:ln w="19050">
          <a:tailEnd type="none"/>
        </a:ln>
      </a:spPr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00000"/>
          </a:lnSpc>
          <a:spcBef>
            <a:spcPts val="0"/>
          </a:spcBef>
          <a:defRPr sz="1800" smtClean="0">
            <a:solidFill>
              <a:srgbClr val="0000FF"/>
            </a:solidFill>
            <a:latin typeface="Consolas" pitchFamily="49" charset="0"/>
            <a:ea typeface="楷体" pitchFamily="49" charset="-122"/>
            <a:cs typeface="Consolas" pitchFamily="49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5066</TotalTime>
  <Words>14935</Words>
  <Application>Microsoft Office PowerPoint</Application>
  <PresentationFormat>全屏显示(4:3)</PresentationFormat>
  <Paragraphs>1688</Paragraphs>
  <Slides>128</Slides>
  <Notes>79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128</vt:i4>
      </vt:variant>
    </vt:vector>
  </HeadingPairs>
  <TitlesOfParts>
    <vt:vector size="139" baseType="lpstr">
      <vt:lpstr>仿宋</vt:lpstr>
      <vt:lpstr>华文中宋</vt:lpstr>
      <vt:lpstr>楷体</vt:lpstr>
      <vt:lpstr>微软雅黑</vt:lpstr>
      <vt:lpstr>Arial</vt:lpstr>
      <vt:lpstr>Calibri</vt:lpstr>
      <vt:lpstr>Consolas</vt:lpstr>
      <vt:lpstr>Eras Bold ITC</vt:lpstr>
      <vt:lpstr>Forte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lcb; wbh</dc:creator>
  <cp:lastModifiedBy>jj wei</cp:lastModifiedBy>
  <cp:revision>1920</cp:revision>
  <dcterms:created xsi:type="dcterms:W3CDTF">2004-03-31T23:50:14Z</dcterms:created>
  <dcterms:modified xsi:type="dcterms:W3CDTF">2024-01-28T08:39:32Z</dcterms:modified>
</cp:coreProperties>
</file>