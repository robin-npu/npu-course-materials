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8"/>
  </p:notesMasterIdLst>
  <p:sldIdLst>
    <p:sldId id="257" r:id="rId2"/>
    <p:sldId id="260" r:id="rId3"/>
    <p:sldId id="261" r:id="rId4"/>
    <p:sldId id="284" r:id="rId5"/>
    <p:sldId id="262" r:id="rId6"/>
    <p:sldId id="264" r:id="rId7"/>
    <p:sldId id="265" r:id="rId8"/>
    <p:sldId id="285" r:id="rId9"/>
    <p:sldId id="266" r:id="rId10"/>
    <p:sldId id="267" r:id="rId11"/>
    <p:sldId id="283" r:id="rId12"/>
    <p:sldId id="268" r:id="rId13"/>
    <p:sldId id="278" r:id="rId14"/>
    <p:sldId id="279" r:id="rId15"/>
    <p:sldId id="269" r:id="rId16"/>
    <p:sldId id="281" r:id="rId17"/>
    <p:sldId id="270" r:id="rId18"/>
    <p:sldId id="271" r:id="rId19"/>
    <p:sldId id="263" r:id="rId20"/>
    <p:sldId id="274" r:id="rId21"/>
    <p:sldId id="280" r:id="rId22"/>
    <p:sldId id="275" r:id="rId23"/>
    <p:sldId id="276" r:id="rId24"/>
    <p:sldId id="286" r:id="rId25"/>
    <p:sldId id="287" r:id="rId26"/>
    <p:sldId id="288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FFCC00"/>
    <a:srgbClr val="FFCCFF"/>
    <a:srgbClr val="FF33CC"/>
    <a:srgbClr val="FF99FF"/>
    <a:srgbClr val="FF9933"/>
    <a:srgbClr val="FF99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69" autoAdjust="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1152"/>
        <p:guide pos="6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4" Type="http://schemas.openxmlformats.org/officeDocument/2006/relationships/image" Target="../media/image8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4" Type="http://schemas.openxmlformats.org/officeDocument/2006/relationships/image" Target="../media/image8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4" Type="http://schemas.openxmlformats.org/officeDocument/2006/relationships/image" Target="../media/image122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44DE9BA-0220-41EE-A87F-6C719FC6BC6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237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EB4EE1-858C-41C9-960E-0826B8D6674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979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43DABF3-71CD-4953-A22D-03498A7D10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96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F8A75A-89E5-43AC-8FDF-33704FD5C31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22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9E1059-B044-4C57-9EE8-AED26D421A5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74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47CDB5-71EA-4EC1-9689-CE8EF023E65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33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94DB26-1C07-4FB6-BA48-25BFE7C7382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0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9F8040-3F56-471D-ABF7-6FEAA61FAD0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05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B7FFC68-E554-45F8-9915-7B93962E44D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088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68AC56-3E60-4C31-A27D-519A276D592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833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6E65135-F4C1-4E63-91D8-96C446A54AA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07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D6020F-145F-4AE6-B7EC-01C0AEE00AD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2271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7256463" y="64166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1530F59-3E8C-4E2D-A003-7FAD92FAA2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735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7066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364288" y="6026150"/>
            <a:ext cx="503238" cy="503237"/>
          </a:xfrm>
          <a:prstGeom prst="actionButtonBackPreviou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5400000">
            <a:off x="7259638" y="6026150"/>
            <a:ext cx="503238" cy="503237"/>
          </a:xfrm>
          <a:prstGeom prst="actionButtonForwardNex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4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101013" y="6029325"/>
            <a:ext cx="503237" cy="503238"/>
          </a:xfrm>
          <a:prstGeom prst="actionButtonReturn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56463" y="641667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8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FF3570D3-DF7C-40F1-945C-5F7DA7ACF8F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宋体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宋体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宋体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slide" Target="slide2.xml"/><Relationship Id="rId7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slide" Target="slide24.xml"/><Relationship Id="rId5" Type="http://schemas.openxmlformats.org/officeDocument/2006/relationships/slide" Target="slide19.xml"/><Relationship Id="rId10" Type="http://schemas.openxmlformats.org/officeDocument/2006/relationships/image" Target="../media/image6.gif"/><Relationship Id="rId4" Type="http://schemas.openxmlformats.org/officeDocument/2006/relationships/slide" Target="slide7.xml"/><Relationship Id="rId9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7.wmf"/><Relationship Id="rId3" Type="http://schemas.openxmlformats.org/officeDocument/2006/relationships/image" Target="../media/image38.jpeg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5.e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6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9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99.bin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0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1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image" Target="../media/image38.jpeg"/><Relationship Id="rId7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2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23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457450" y="2382838"/>
            <a:ext cx="3435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一、复数列的极限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451100" y="3144838"/>
            <a:ext cx="3028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二、级数的概念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solidFill>
                  <a:srgbClr val="FF3300"/>
                </a:solidFill>
                <a:latin typeface="黑体" pitchFamily="2" charset="-122"/>
              </a:rPr>
              <a:t>第一节  复数项级数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457450" y="3938588"/>
            <a:ext cx="2622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FFFF00"/>
                </a:solidFill>
                <a:ea typeface="黑体" pitchFamily="2" charset="-122"/>
              </a:rPr>
              <a:t>三、典型例题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459038" y="4745038"/>
            <a:ext cx="3028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FFFF00"/>
                </a:solidFill>
                <a:ea typeface="黑体" pitchFamily="2" charset="-122"/>
              </a:rPr>
              <a:t>四、小结与思考</a:t>
            </a:r>
            <a:endParaRPr lang="zh-CN" altLang="en-US" sz="3200">
              <a:solidFill>
                <a:srgbClr val="FFFF00"/>
              </a:solidFill>
            </a:endParaRPr>
          </a:p>
        </p:txBody>
      </p:sp>
      <p:sp>
        <p:nvSpPr>
          <p:cNvPr id="6152" name="Rectangl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438400" y="2495550"/>
            <a:ext cx="35052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Rectangle 9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38400" y="321945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Rectangle 1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438400" y="4038600"/>
            <a:ext cx="2743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Rectangle 11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438400" y="48006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167" name="Picture 23" descr="bul1a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3373438"/>
            <a:ext cx="136525" cy="13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8" name="Picture 24" descr="bul1b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937125"/>
            <a:ext cx="136525" cy="13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9" name="Picture 25" descr="bul1d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2586038"/>
            <a:ext cx="136525" cy="13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70" name="Picture 26" descr="bul1e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4164013"/>
            <a:ext cx="136525" cy="13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73" name="AutoShape 29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094663" y="5997575"/>
            <a:ext cx="539750" cy="539750"/>
          </a:xfrm>
          <a:prstGeom prst="actionButtonReturn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DDD77B-A5C9-4F62-A84F-B3477D12DA35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55600"/>
            <a:ext cx="7772400" cy="1143000"/>
          </a:xfrm>
          <a:noFill/>
          <a:ln/>
        </p:spPr>
        <p:txBody>
          <a:bodyPr/>
          <a:lstStyle/>
          <a:p>
            <a:pPr algn="l"/>
            <a:r>
              <a:rPr lang="zh-CN" altLang="en-US" sz="4000">
                <a:latin typeface="黑体" pitchFamily="2" charset="-122"/>
              </a:rPr>
              <a:t>一、复数列的极限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815975" y="1376363"/>
            <a:ext cx="1622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  <a:latin typeface="宋体" charset="-122"/>
              </a:rPr>
              <a:t>1.定义</a:t>
            </a:r>
          </a:p>
        </p:txBody>
      </p:sp>
      <p:graphicFrame>
        <p:nvGraphicFramePr>
          <p:cNvPr id="9229" name="Object 13"/>
          <p:cNvGraphicFramePr>
            <a:graphicFrameLocks noChangeAspect="1"/>
          </p:cNvGraphicFramePr>
          <p:nvPr/>
        </p:nvGraphicFramePr>
        <p:xfrm>
          <a:off x="935038" y="2819400"/>
          <a:ext cx="7353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name="Equation" r:id="rId3" imgW="7353000" imgH="406080" progId="Equation.3">
                  <p:embed/>
                </p:oleObj>
              </mc:Choice>
              <mc:Fallback>
                <p:oleObj name="Equation" r:id="rId3" imgW="735300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2819400"/>
                        <a:ext cx="7353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17"/>
          <p:cNvGraphicFramePr>
            <a:graphicFrameLocks noChangeAspect="1"/>
          </p:cNvGraphicFramePr>
          <p:nvPr/>
        </p:nvGraphicFramePr>
        <p:xfrm>
          <a:off x="917575" y="3546475"/>
          <a:ext cx="582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1" name="Equation" r:id="rId5" imgW="5829120" imgH="469800" progId="Equation.DSMT4">
                  <p:embed/>
                </p:oleObj>
              </mc:Choice>
              <mc:Fallback>
                <p:oleObj name="Equation" r:id="rId5" imgW="5829120" imgH="469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3546475"/>
                        <a:ext cx="582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1"/>
          <p:cNvGraphicFramePr>
            <a:graphicFrameLocks noChangeAspect="1"/>
          </p:cNvGraphicFramePr>
          <p:nvPr/>
        </p:nvGraphicFramePr>
        <p:xfrm>
          <a:off x="969963" y="4217988"/>
          <a:ext cx="68453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Equation" r:id="rId7" imgW="6845040" imgH="444240" progId="Equation.3">
                  <p:embed/>
                </p:oleObj>
              </mc:Choice>
              <mc:Fallback>
                <p:oleObj name="Equation" r:id="rId7" imgW="6845040" imgH="4442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4217988"/>
                        <a:ext cx="68453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893763" y="484981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记作</a:t>
            </a:r>
          </a:p>
        </p:txBody>
      </p:sp>
      <p:graphicFrame>
        <p:nvGraphicFramePr>
          <p:cNvPr id="9239" name="Object 23"/>
          <p:cNvGraphicFramePr>
            <a:graphicFrameLocks noChangeAspect="1"/>
          </p:cNvGraphicFramePr>
          <p:nvPr/>
        </p:nvGraphicFramePr>
        <p:xfrm>
          <a:off x="3497263" y="4953000"/>
          <a:ext cx="1714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Equation" r:id="rId9" imgW="1714320" imgH="558720" progId="Equation.3">
                  <p:embed/>
                </p:oleObj>
              </mc:Choice>
              <mc:Fallback>
                <p:oleObj name="Equation" r:id="rId9" imgW="1714320" imgH="55872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4953000"/>
                        <a:ext cx="1714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1" name="Object 25"/>
          <p:cNvGraphicFramePr>
            <a:graphicFrameLocks noChangeAspect="1"/>
          </p:cNvGraphicFramePr>
          <p:nvPr/>
        </p:nvGraphicFramePr>
        <p:xfrm>
          <a:off x="949325" y="5645150"/>
          <a:ext cx="5003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11" imgW="5003640" imgH="444240" progId="Equation.3">
                  <p:embed/>
                </p:oleObj>
              </mc:Choice>
              <mc:Fallback>
                <p:oleObj name="Equation" r:id="rId11" imgW="5003640" imgH="4442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5645150"/>
                        <a:ext cx="50038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2349500" y="1468438"/>
          <a:ext cx="57531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13" imgW="5752800" imgH="444240" progId="Equation.3">
                  <p:embed/>
                </p:oleObj>
              </mc:Choice>
              <mc:Fallback>
                <p:oleObj name="Equation" r:id="rId13" imgW="575280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468438"/>
                        <a:ext cx="57531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952500" y="2151063"/>
          <a:ext cx="20193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Equation" r:id="rId15" imgW="2019240" imgH="431640" progId="Equation.3">
                  <p:embed/>
                </p:oleObj>
              </mc:Choice>
              <mc:Fallback>
                <p:oleObj name="Equation" r:id="rId15" imgW="201924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151063"/>
                        <a:ext cx="20193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3048000" y="2133600"/>
          <a:ext cx="51435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17" imgW="5143320" imgH="419040" progId="Equation.3">
                  <p:embed/>
                </p:oleObj>
              </mc:Choice>
              <mc:Fallback>
                <p:oleObj name="Equation" r:id="rId17" imgW="514332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33600"/>
                        <a:ext cx="51435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  <p:bldP spid="923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5AD81F-38D6-4D1E-B02E-1A3758666537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838200" y="793750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</a:rPr>
              <a:t>2.</a:t>
            </a:r>
            <a:r>
              <a:rPr lang="zh-CN" altLang="en-US" sz="2800" b="1">
                <a:solidFill>
                  <a:schemeClr val="accent2"/>
                </a:solidFill>
                <a:latin typeface="宋体" charset="-122"/>
              </a:rPr>
              <a:t>复数列收敛的条件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1549400" y="1628775"/>
          <a:ext cx="75946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Equation" r:id="rId3" imgW="7594560" imgH="457200" progId="Equation.3">
                  <p:embed/>
                </p:oleObj>
              </mc:Choice>
              <mc:Fallback>
                <p:oleObj name="Equation" r:id="rId3" imgW="759456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1628775"/>
                        <a:ext cx="75946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2608263" y="2420938"/>
          <a:ext cx="3543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Equation" r:id="rId5" imgW="3543120" imgH="558720" progId="Equation.3">
                  <p:embed/>
                </p:oleObj>
              </mc:Choice>
              <mc:Fallback>
                <p:oleObj name="Equation" r:id="rId5" imgW="3543120" imgH="5587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2420938"/>
                        <a:ext cx="3543300" cy="558800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/>
          <p:cNvGraphicFramePr>
            <a:graphicFrameLocks noChangeAspect="1"/>
          </p:cNvGraphicFramePr>
          <p:nvPr/>
        </p:nvGraphicFramePr>
        <p:xfrm>
          <a:off x="1752600" y="3430588"/>
          <a:ext cx="2413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Equation" r:id="rId7" imgW="2412720" imgH="571320" progId="Equation.3">
                  <p:embed/>
                </p:oleObj>
              </mc:Choice>
              <mc:Fallback>
                <p:oleObj name="Equation" r:id="rId7" imgW="2412720" imgH="5713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430588"/>
                        <a:ext cx="2413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4248150" y="3375025"/>
            <a:ext cx="3829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/>
              <a:t>那末对于任意给定的</a:t>
            </a:r>
          </a:p>
        </p:txBody>
      </p:sp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7589838" y="3502025"/>
          <a:ext cx="7731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公式" r:id="rId9" imgW="774360" imgH="317160" progId="Equation.3">
                  <p:embed/>
                </p:oleObj>
              </mc:Choice>
              <mc:Fallback>
                <p:oleObj name="公式" r:id="rId9" imgW="774360" imgH="3171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838" y="3502025"/>
                        <a:ext cx="7731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971550" y="4149725"/>
            <a:ext cx="3717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/>
              <a:t>就能找到一个正数</a:t>
            </a:r>
            <a:r>
              <a:rPr lang="en-US" altLang="zh-CN" sz="2800" b="1" i="1"/>
              <a:t>N</a:t>
            </a:r>
            <a:r>
              <a:rPr lang="en-US" altLang="zh-CN" sz="2800" b="1"/>
              <a:t>,</a:t>
            </a:r>
            <a:endParaRPr lang="en-US" altLang="zh-CN" sz="2800" b="1" i="1"/>
          </a:p>
        </p:txBody>
      </p:sp>
      <p:graphicFrame>
        <p:nvGraphicFramePr>
          <p:cNvPr id="10259" name="Object 19"/>
          <p:cNvGraphicFramePr>
            <a:graphicFrameLocks noChangeAspect="1"/>
          </p:cNvGraphicFramePr>
          <p:nvPr/>
        </p:nvGraphicFramePr>
        <p:xfrm>
          <a:off x="4537075" y="4237038"/>
          <a:ext cx="209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Equation" r:id="rId11" imgW="2095200" imgH="431640" progId="Equation.3">
                  <p:embed/>
                </p:oleObj>
              </mc:Choice>
              <mc:Fallback>
                <p:oleObj name="Equation" r:id="rId11" imgW="2095200" imgH="431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4237038"/>
                        <a:ext cx="2095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" name="Object 20"/>
          <p:cNvGraphicFramePr>
            <a:graphicFrameLocks noChangeAspect="1"/>
          </p:cNvGraphicFramePr>
          <p:nvPr/>
        </p:nvGraphicFramePr>
        <p:xfrm>
          <a:off x="2771775" y="4868863"/>
          <a:ext cx="342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Equation" r:id="rId13" imgW="3441600" imgH="457200" progId="Equation.DSMT4">
                  <p:embed/>
                </p:oleObj>
              </mc:Choice>
              <mc:Fallback>
                <p:oleObj name="Equation" r:id="rId13" imgW="3441600" imgH="457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868863"/>
                        <a:ext cx="3429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928688" y="3333750"/>
            <a:ext cx="1338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证</a:t>
            </a:r>
            <a:endParaRPr lang="zh-CN" altLang="en-US" sz="2800" b="1"/>
          </a:p>
        </p:txBody>
      </p:sp>
      <p:graphicFrame>
        <p:nvGraphicFramePr>
          <p:cNvPr id="10280" name="Object 40"/>
          <p:cNvGraphicFramePr>
            <a:graphicFrameLocks noChangeAspect="1"/>
          </p:cNvGraphicFramePr>
          <p:nvPr>
            <p:ph/>
          </p:nvPr>
        </p:nvGraphicFramePr>
        <p:xfrm>
          <a:off x="2771775" y="5448300"/>
          <a:ext cx="30892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Equation" r:id="rId15" imgW="3581280" imgH="520560" progId="Equation.DSMT4">
                  <p:embed/>
                </p:oleObj>
              </mc:Choice>
              <mc:Fallback>
                <p:oleObj name="Equation" r:id="rId15" imgW="3581280" imgH="52056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448300"/>
                        <a:ext cx="30892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1" grpId="0" autoUpdateAnimBg="0"/>
      <p:bldP spid="10256" grpId="0" autoUpdateAnimBg="0"/>
      <p:bldP spid="1027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7895B-6E4A-437A-80F9-8BB8AAFBBEAD}" type="slidenum">
              <a:rPr lang="zh-CN" altLang="en-US"/>
              <a:pPr/>
              <a:t>4</a:t>
            </a:fld>
            <a:endParaRPr lang="en-US" altLang="zh-CN"/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2759075" y="836613"/>
          <a:ext cx="1714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3" name="Equation" r:id="rId3" imgW="1714320" imgH="520560" progId="Equation.DSMT4">
                  <p:embed/>
                </p:oleObj>
              </mc:Choice>
              <mc:Fallback>
                <p:oleObj name="Equation" r:id="rId3" imgW="1714320" imgH="520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836613"/>
                        <a:ext cx="1714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900113" y="333375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从而有</a:t>
            </a:r>
          </a:p>
        </p:txBody>
      </p:sp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2055813" y="2268538"/>
          <a:ext cx="1574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4" name="Equation" r:id="rId5" imgW="1574640" imgH="558720" progId="Equation.3">
                  <p:embed/>
                </p:oleObj>
              </mc:Choice>
              <mc:Fallback>
                <p:oleObj name="Equation" r:id="rId5" imgW="1574640" imgH="5587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2268538"/>
                        <a:ext cx="1574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931863" y="220503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所以</a:t>
            </a:r>
          </a:p>
        </p:txBody>
      </p:sp>
      <p:graphicFrame>
        <p:nvGraphicFramePr>
          <p:cNvPr id="63497" name="Object 9"/>
          <p:cNvGraphicFramePr>
            <a:graphicFrameLocks noChangeAspect="1"/>
          </p:cNvGraphicFramePr>
          <p:nvPr/>
        </p:nvGraphicFramePr>
        <p:xfrm>
          <a:off x="5446713" y="2268538"/>
          <a:ext cx="1536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5" name="Equation" r:id="rId7" imgW="1536480" imgH="558720" progId="Equation.3">
                  <p:embed/>
                </p:oleObj>
              </mc:Choice>
              <mc:Fallback>
                <p:oleObj name="Equation" r:id="rId7" imgW="1536480" imgH="5587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713" y="2268538"/>
                        <a:ext cx="1536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4284663" y="220503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同理</a:t>
            </a:r>
          </a:p>
        </p:txBody>
      </p:sp>
      <p:graphicFrame>
        <p:nvGraphicFramePr>
          <p:cNvPr id="63499" name="Object 11"/>
          <p:cNvGraphicFramePr>
            <a:graphicFrameLocks noChangeAspect="1"/>
          </p:cNvGraphicFramePr>
          <p:nvPr/>
        </p:nvGraphicFramePr>
        <p:xfrm>
          <a:off x="2495550" y="4718050"/>
          <a:ext cx="334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6" name="Equation" r:id="rId9" imgW="3340080" imgH="838080" progId="Equation.3">
                  <p:embed/>
                </p:oleObj>
              </mc:Choice>
              <mc:Fallback>
                <p:oleObj name="Equation" r:id="rId9" imgW="3340080" imgH="838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718050"/>
                        <a:ext cx="3340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1" name="Text Box 13"/>
          <p:cNvSpPr txBox="1">
            <a:spLocks noChangeArrowheads="1"/>
          </p:cNvSpPr>
          <p:nvPr/>
        </p:nvSpPr>
        <p:spPr bwMode="auto">
          <a:xfrm>
            <a:off x="1844675" y="3216275"/>
            <a:ext cx="178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反之, 如果</a:t>
            </a:r>
          </a:p>
        </p:txBody>
      </p:sp>
      <p:graphicFrame>
        <p:nvGraphicFramePr>
          <p:cNvPr id="63502" name="Object 14"/>
          <p:cNvGraphicFramePr>
            <a:graphicFrameLocks noChangeAspect="1"/>
          </p:cNvGraphicFramePr>
          <p:nvPr/>
        </p:nvGraphicFramePr>
        <p:xfrm>
          <a:off x="3719513" y="3205163"/>
          <a:ext cx="3479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7" name="Equation" r:id="rId11" imgW="3479760" imgH="558720" progId="Equation.3">
                  <p:embed/>
                </p:oleObj>
              </mc:Choice>
              <mc:Fallback>
                <p:oleObj name="Equation" r:id="rId11" imgW="3479760" imgH="5587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3205163"/>
                        <a:ext cx="3479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3" name="Object 15"/>
          <p:cNvGraphicFramePr>
            <a:graphicFrameLocks noChangeAspect="1"/>
          </p:cNvGraphicFramePr>
          <p:nvPr/>
        </p:nvGraphicFramePr>
        <p:xfrm>
          <a:off x="1008063" y="4198938"/>
          <a:ext cx="270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8" name="Equation" r:id="rId13" imgW="2705040" imgH="406080" progId="Equation.3">
                  <p:embed/>
                </p:oleObj>
              </mc:Choice>
              <mc:Fallback>
                <p:oleObj name="Equation" r:id="rId13" imgW="2705040" imgH="4060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4198938"/>
                        <a:ext cx="2705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8" name="Object 20"/>
          <p:cNvGraphicFramePr>
            <a:graphicFrameLocks noChangeAspect="1"/>
          </p:cNvGraphicFramePr>
          <p:nvPr/>
        </p:nvGraphicFramePr>
        <p:xfrm>
          <a:off x="2752725" y="1412875"/>
          <a:ext cx="1689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9" name="Equation" r:id="rId15" imgW="1688760" imgH="520560" progId="Equation.DSMT4">
                  <p:embed/>
                </p:oleObj>
              </mc:Choice>
              <mc:Fallback>
                <p:oleObj name="Equation" r:id="rId15" imgW="1688760" imgH="5205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1412875"/>
                        <a:ext cx="16891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utoUpdateAnimBg="0"/>
      <p:bldP spid="63498" grpId="0" autoUpdateAnimBg="0"/>
      <p:bldP spid="6350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65AD64-DBD5-4FEA-AE7F-4522D92DFD31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812800" y="8763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/>
              <a:t>从而有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2555875" y="1268413"/>
          <a:ext cx="41783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Equation" r:id="rId3" imgW="4178160" imgH="457200" progId="Equation.3">
                  <p:embed/>
                </p:oleObj>
              </mc:Choice>
              <mc:Fallback>
                <p:oleObj name="Equation" r:id="rId3" imgW="417816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268413"/>
                        <a:ext cx="41783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2454275" y="2233613"/>
          <a:ext cx="30622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Equation" r:id="rId5" imgW="3060360" imgH="469800" progId="Equation.3">
                  <p:embed/>
                </p:oleObj>
              </mc:Choice>
              <mc:Fallback>
                <p:oleObj name="Equation" r:id="rId5" imgW="306036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233613"/>
                        <a:ext cx="30622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85" name="Group 21"/>
          <p:cNvGrpSpPr>
            <a:grpSpLocks/>
          </p:cNvGrpSpPr>
          <p:nvPr/>
        </p:nvGrpSpPr>
        <p:grpSpPr bwMode="auto">
          <a:xfrm>
            <a:off x="790575" y="4678363"/>
            <a:ext cx="7504113" cy="1347787"/>
            <a:chOff x="510" y="3009"/>
            <a:chExt cx="4727" cy="849"/>
          </a:xfrm>
        </p:grpSpPr>
        <p:sp>
          <p:nvSpPr>
            <p:cNvPr id="11278" name="Text Box 14"/>
            <p:cNvSpPr txBox="1">
              <a:spLocks noChangeArrowheads="1"/>
            </p:cNvSpPr>
            <p:nvPr/>
          </p:nvSpPr>
          <p:spPr bwMode="auto">
            <a:xfrm>
              <a:off x="510" y="3009"/>
              <a:ext cx="47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chemeClr val="accent2"/>
                  </a:solidFill>
                  <a:ea typeface="黑体" pitchFamily="2" charset="-122"/>
                </a:rPr>
                <a:t>定理一说明</a:t>
              </a:r>
              <a:r>
                <a:rPr lang="zh-CN" altLang="en-US" sz="2800" b="1"/>
                <a:t>: </a:t>
              </a:r>
              <a:r>
                <a:rPr lang="zh-CN" altLang="en-US" sz="2800" b="1">
                  <a:ea typeface="黑体" pitchFamily="2" charset="-122"/>
                </a:rPr>
                <a:t>可将复数列的敛散性转化为判别两</a:t>
              </a:r>
            </a:p>
          </p:txBody>
        </p:sp>
        <p:sp>
          <p:nvSpPr>
            <p:cNvPr id="11279" name="Text Box 15"/>
            <p:cNvSpPr txBox="1">
              <a:spLocks noChangeArrowheads="1"/>
            </p:cNvSpPr>
            <p:nvPr/>
          </p:nvSpPr>
          <p:spPr bwMode="auto">
            <a:xfrm>
              <a:off x="520" y="3531"/>
              <a:ext cx="19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ea typeface="黑体" pitchFamily="2" charset="-122"/>
                </a:rPr>
                <a:t>个实数列的敛散性</a:t>
              </a:r>
              <a:r>
                <a:rPr lang="zh-CN" altLang="en-US" sz="2800" b="1"/>
                <a:t>.</a:t>
              </a:r>
            </a:p>
          </p:txBody>
        </p:sp>
      </p:grpSp>
      <p:graphicFrame>
        <p:nvGraphicFramePr>
          <p:cNvPr id="11282" name="Object 18"/>
          <p:cNvGraphicFramePr>
            <a:graphicFrameLocks noChangeAspect="1"/>
          </p:cNvGraphicFramePr>
          <p:nvPr/>
        </p:nvGraphicFramePr>
        <p:xfrm>
          <a:off x="971550" y="3860800"/>
          <a:ext cx="2667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7" imgW="2666880" imgH="571320" progId="Equation.3">
                  <p:embed/>
                </p:oleObj>
              </mc:Choice>
              <mc:Fallback>
                <p:oleObj name="Equation" r:id="rId7" imgW="2666880" imgH="5713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860800"/>
                        <a:ext cx="2667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7156450" y="3832225"/>
            <a:ext cx="113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[证毕]</a:t>
            </a:r>
          </a:p>
        </p:txBody>
      </p:sp>
      <p:graphicFrame>
        <p:nvGraphicFramePr>
          <p:cNvPr id="11284" name="Object 20"/>
          <p:cNvGraphicFramePr>
            <a:graphicFrameLocks noChangeAspect="1"/>
          </p:cNvGraphicFramePr>
          <p:nvPr/>
        </p:nvGraphicFramePr>
        <p:xfrm>
          <a:off x="2468563" y="3173413"/>
          <a:ext cx="3086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Equation" r:id="rId9" imgW="3085920" imgH="457200" progId="Equation.3">
                  <p:embed/>
                </p:oleObj>
              </mc:Choice>
              <mc:Fallback>
                <p:oleObj name="Equation" r:id="rId9" imgW="308592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173413"/>
                        <a:ext cx="3086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F5AB31-52A4-4A1D-BCD3-74FD43A3F286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13314" name="Text Box 1026"/>
          <p:cNvSpPr txBox="1">
            <a:spLocks noChangeArrowheads="1"/>
          </p:cNvSpPr>
          <p:nvPr/>
        </p:nvSpPr>
        <p:spPr bwMode="auto">
          <a:xfrm>
            <a:off x="906463" y="750888"/>
            <a:ext cx="2065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课堂练习:</a:t>
            </a:r>
          </a:p>
        </p:txBody>
      </p:sp>
      <p:sp>
        <p:nvSpPr>
          <p:cNvPr id="13315" name="Rectangle 1027"/>
          <p:cNvSpPr>
            <a:spLocks noChangeArrowheads="1"/>
          </p:cNvSpPr>
          <p:nvPr/>
        </p:nvSpPr>
        <p:spPr bwMode="auto">
          <a:xfrm>
            <a:off x="906463" y="1614488"/>
            <a:ext cx="6789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下列数列是否收敛? 如果收敛, 求出其极限.</a:t>
            </a:r>
          </a:p>
        </p:txBody>
      </p:sp>
      <p:graphicFrame>
        <p:nvGraphicFramePr>
          <p:cNvPr id="13316" name="Object 1028"/>
          <p:cNvGraphicFramePr>
            <a:graphicFrameLocks noChangeAspect="1"/>
          </p:cNvGraphicFramePr>
          <p:nvPr/>
        </p:nvGraphicFramePr>
        <p:xfrm>
          <a:off x="1055688" y="2489200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Equation" r:id="rId4" imgW="2120760" imgH="838080" progId="Equation.3">
                  <p:embed/>
                </p:oleObj>
              </mc:Choice>
              <mc:Fallback>
                <p:oleObj name="Equation" r:id="rId4" imgW="2120760" imgH="83808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2489200"/>
                        <a:ext cx="2120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029"/>
          <p:cNvGraphicFramePr>
            <a:graphicFrameLocks noChangeAspect="1"/>
          </p:cNvGraphicFramePr>
          <p:nvPr/>
        </p:nvGraphicFramePr>
        <p:xfrm>
          <a:off x="1066800" y="3581400"/>
          <a:ext cx="3136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Equation" r:id="rId6" imgW="3136680" imgH="838080" progId="Equation.3">
                  <p:embed/>
                </p:oleObj>
              </mc:Choice>
              <mc:Fallback>
                <p:oleObj name="Equation" r:id="rId6" imgW="3136680" imgH="83808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81400"/>
                        <a:ext cx="3136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030"/>
          <p:cNvGraphicFramePr>
            <a:graphicFrameLocks noChangeAspect="1"/>
          </p:cNvGraphicFramePr>
          <p:nvPr/>
        </p:nvGraphicFramePr>
        <p:xfrm>
          <a:off x="1049338" y="4724400"/>
          <a:ext cx="2247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Equation" r:id="rId8" imgW="2247840" imgH="914400" progId="Equation.3">
                  <p:embed/>
                </p:oleObj>
              </mc:Choice>
              <mc:Fallback>
                <p:oleObj name="Equation" r:id="rId8" imgW="2247840" imgH="91440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4724400"/>
                        <a:ext cx="2247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031"/>
          <p:cNvGraphicFramePr>
            <a:graphicFrameLocks noChangeAspect="1"/>
          </p:cNvGraphicFramePr>
          <p:nvPr/>
        </p:nvGraphicFramePr>
        <p:xfrm>
          <a:off x="3819525" y="1976438"/>
          <a:ext cx="2463800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Equation" r:id="rId10" imgW="2463480" imgH="1815840" progId="Equation.DSMT4">
                  <p:embed/>
                </p:oleObj>
              </mc:Choice>
              <mc:Fallback>
                <p:oleObj name="Equation" r:id="rId10" imgW="2463480" imgH="1815840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9525" y="1976438"/>
                        <a:ext cx="2463800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032"/>
          <p:cNvGraphicFramePr>
            <a:graphicFrameLocks noChangeAspect="1"/>
          </p:cNvGraphicFramePr>
          <p:nvPr/>
        </p:nvGraphicFramePr>
        <p:xfrm>
          <a:off x="3435350" y="4718050"/>
          <a:ext cx="4673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Equation" r:id="rId12" imgW="4673520" imgH="901440" progId="Equation.DSMT4">
                  <p:embed/>
                </p:oleObj>
              </mc:Choice>
              <mc:Fallback>
                <p:oleObj name="Equation" r:id="rId12" imgW="4673520" imgH="901440" progId="Equation.DSMT4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4718050"/>
                        <a:ext cx="4673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223848-C41A-4AD2-8415-1E483FE9ACDC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457200"/>
            <a:ext cx="7772400" cy="1143000"/>
          </a:xfrm>
          <a:noFill/>
          <a:ln/>
        </p:spPr>
        <p:txBody>
          <a:bodyPr/>
          <a:lstStyle/>
          <a:p>
            <a:pPr algn="l"/>
            <a:r>
              <a:rPr lang="zh-CN" altLang="en-US" sz="4000">
                <a:latin typeface="黑体" pitchFamily="2" charset="-122"/>
              </a:rPr>
              <a:t>二、级数的概念</a:t>
            </a:r>
            <a:endParaRPr lang="en-US" altLang="zh-CN" sz="4000">
              <a:latin typeface="黑体" pitchFamily="2" charset="-122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800100" y="1617663"/>
            <a:ext cx="1257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  <a:latin typeface="宋体" charset="-122"/>
              </a:rPr>
              <a:t>1.定义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139950" y="1716088"/>
          <a:ext cx="67389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Equation" r:id="rId3" imgW="6629400" imgH="444240" progId="Equation.DSMT4">
                  <p:embed/>
                </p:oleObj>
              </mc:Choice>
              <mc:Fallback>
                <p:oleObj name="Equation" r:id="rId3" imgW="662940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1716088"/>
                        <a:ext cx="67389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2700338" y="2708275"/>
          <a:ext cx="4191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Equation" r:id="rId5" imgW="4190760" imgH="939600" progId="Equation.3">
                  <p:embed/>
                </p:oleObj>
              </mc:Choice>
              <mc:Fallback>
                <p:oleObj name="Equation" r:id="rId5" imgW="419076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708275"/>
                        <a:ext cx="4191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827088" y="2492375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表达式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838200" y="373380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称为复数项无穷级数</a:t>
            </a:r>
            <a:r>
              <a:rPr lang="zh-CN" altLang="en-US" sz="2800" b="1"/>
              <a:t>.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124075" y="44370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/>
              <a:t>其最前面 </a:t>
            </a:r>
            <a:r>
              <a:rPr lang="en-US" altLang="zh-CN" sz="2800" b="1" i="1"/>
              <a:t>n</a:t>
            </a:r>
            <a:r>
              <a:rPr lang="en-US" altLang="zh-CN" sz="2800" b="1"/>
              <a:t> </a:t>
            </a:r>
            <a:r>
              <a:rPr lang="zh-CN" altLang="en-US" sz="2800" b="1"/>
              <a:t>项的和</a:t>
            </a:r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2259013" y="5059363"/>
          <a:ext cx="3048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Equation" r:id="rId7" imgW="3047760" imgH="431640" progId="Equation.3">
                  <p:embed/>
                </p:oleObj>
              </mc:Choice>
              <mc:Fallback>
                <p:oleObj name="Equation" r:id="rId7" imgW="304776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5059363"/>
                        <a:ext cx="3048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755650" y="5589588"/>
            <a:ext cx="311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称为级数的部分和.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790575" y="4402138"/>
            <a:ext cx="125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部分和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  <p:bldP spid="14342" grpId="0" autoUpdateAnimBg="0"/>
      <p:bldP spid="14343" grpId="0" autoUpdateAnimBg="0"/>
      <p:bldP spid="14345" grpId="0" autoUpdateAnimBg="0"/>
      <p:bldP spid="14348" grpId="0" autoUpdateAnimBg="0"/>
      <p:bldP spid="1434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2D5150-82D2-4E50-ADC2-8788CA467D9D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904875" y="623888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收敛与发散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969963" y="1301750"/>
          <a:ext cx="440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9" name="Equation" r:id="rId3" imgW="4406760" imgH="444240" progId="Equation.3">
                  <p:embed/>
                </p:oleObj>
              </mc:Choice>
              <mc:Fallback>
                <p:oleObj name="Equation" r:id="rId3" imgW="440676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1301750"/>
                        <a:ext cx="4406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5187950" y="1052513"/>
          <a:ext cx="320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0" name="Equation" r:id="rId5" imgW="3200400" imgH="939600" progId="Equation.3">
                  <p:embed/>
                </p:oleObj>
              </mc:Choice>
              <mc:Fallback>
                <p:oleObj name="Equation" r:id="rId5" imgW="320040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1052513"/>
                        <a:ext cx="3200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925513" y="2209800"/>
          <a:ext cx="53990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1" name="Equation" r:id="rId7" imgW="5232240" imgH="571320" progId="Equation.3">
                  <p:embed/>
                </p:oleObj>
              </mc:Choice>
              <mc:Fallback>
                <p:oleObj name="Equation" r:id="rId7" imgW="5232240" imgH="571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2209800"/>
                        <a:ext cx="53990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995363" y="4156075"/>
            <a:ext cx="1014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说明</a:t>
            </a:r>
            <a:r>
              <a:rPr lang="zh-CN" altLang="en-US" sz="2800" b="1"/>
              <a:t>:</a:t>
            </a:r>
          </a:p>
        </p:txBody>
      </p:sp>
      <p:graphicFrame>
        <p:nvGraphicFramePr>
          <p:cNvPr id="64526" name="Object 14"/>
          <p:cNvGraphicFramePr>
            <a:graphicFrameLocks noChangeAspect="1"/>
          </p:cNvGraphicFramePr>
          <p:nvPr/>
        </p:nvGraphicFramePr>
        <p:xfrm>
          <a:off x="3840163" y="4795838"/>
          <a:ext cx="3187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2" name="Equation" r:id="rId9" imgW="3187440" imgH="571320" progId="Equation.3">
                  <p:embed/>
                </p:oleObj>
              </mc:Choice>
              <mc:Fallback>
                <p:oleObj name="Equation" r:id="rId9" imgW="3187440" imgH="5713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163" y="4795838"/>
                        <a:ext cx="3187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8" name="Text Box 16"/>
          <p:cNvSpPr txBox="1">
            <a:spLocks noChangeArrowheads="1"/>
          </p:cNvSpPr>
          <p:nvPr/>
        </p:nvSpPr>
        <p:spPr bwMode="auto">
          <a:xfrm>
            <a:off x="971550" y="4076700"/>
            <a:ext cx="7807325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/>
              <a:t>            与实数项级数相同, 判别复数项级数敛散性的基本方法是:</a:t>
            </a:r>
          </a:p>
        </p:txBody>
      </p:sp>
      <p:graphicFrame>
        <p:nvGraphicFramePr>
          <p:cNvPr id="64534" name="Object 22"/>
          <p:cNvGraphicFramePr>
            <a:graphicFrameLocks noChangeAspect="1"/>
          </p:cNvGraphicFramePr>
          <p:nvPr/>
        </p:nvGraphicFramePr>
        <p:xfrm>
          <a:off x="984250" y="3048000"/>
          <a:ext cx="4762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3" name="Equation" r:id="rId11" imgW="4762440" imgH="444240" progId="Equation.3">
                  <p:embed/>
                </p:oleObj>
              </mc:Choice>
              <mc:Fallback>
                <p:oleObj name="Equation" r:id="rId11" imgW="4762440" imgH="4442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3048000"/>
                        <a:ext cx="4762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5" name="Object 23"/>
          <p:cNvGraphicFramePr>
            <a:graphicFrameLocks noChangeAspect="1"/>
          </p:cNvGraphicFramePr>
          <p:nvPr/>
        </p:nvGraphicFramePr>
        <p:xfrm>
          <a:off x="5676900" y="2781300"/>
          <a:ext cx="3467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4" name="Equation" r:id="rId13" imgW="3466800" imgH="939600" progId="Equation.3">
                  <p:embed/>
                </p:oleObj>
              </mc:Choice>
              <mc:Fallback>
                <p:oleObj name="Equation" r:id="rId13" imgW="3466800" imgH="939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2781300"/>
                        <a:ext cx="3467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5" grpId="0" autoUpdateAnimBg="0"/>
      <p:bldP spid="6452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75F23A-EB81-4F3B-BAA9-295E7B8A0F71}" type="slidenum">
              <a:rPr lang="zh-CN" altLang="en-US"/>
              <a:pPr/>
              <a:t>9</a:t>
            </a:fld>
            <a:endParaRPr lang="en-US" altLang="zh-CN"/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1058863" y="903288"/>
          <a:ext cx="2654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Equation" r:id="rId3" imgW="2654280" imgH="939600" progId="Equation.3">
                  <p:embed/>
                </p:oleObj>
              </mc:Choice>
              <mc:Fallback>
                <p:oleObj name="Equation" r:id="rId3" imgW="2654280" imgH="939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903288"/>
                        <a:ext cx="2654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1135063" y="2197100"/>
          <a:ext cx="3416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Equation" r:id="rId5" imgW="3416040" imgH="482400" progId="Equation.3">
                  <p:embed/>
                </p:oleObj>
              </mc:Choice>
              <mc:Fallback>
                <p:oleObj name="Equation" r:id="rId5" imgW="3416040" imgH="482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63" y="2197100"/>
                        <a:ext cx="3416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1104900" y="3541713"/>
          <a:ext cx="2387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Equation" r:id="rId7" imgW="2387520" imgH="444240" progId="Equation.3">
                  <p:embed/>
                </p:oleObj>
              </mc:Choice>
              <mc:Fallback>
                <p:oleObj name="Equation" r:id="rId7" imgW="238752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3541713"/>
                        <a:ext cx="2387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0" name="Object 20"/>
          <p:cNvGraphicFramePr>
            <a:graphicFrameLocks noChangeAspect="1"/>
          </p:cNvGraphicFramePr>
          <p:nvPr/>
        </p:nvGraphicFramePr>
        <p:xfrm>
          <a:off x="4673600" y="1981200"/>
          <a:ext cx="248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Equation" r:id="rId9" imgW="2489040" imgH="914400" progId="Equation.3">
                  <p:embed/>
                </p:oleObj>
              </mc:Choice>
              <mc:Fallback>
                <p:oleObj name="Equation" r:id="rId9" imgW="2489040" imgH="914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1981200"/>
                        <a:ext cx="2489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1" name="Object 21"/>
          <p:cNvGraphicFramePr>
            <a:graphicFrameLocks noChangeAspect="1"/>
          </p:cNvGraphicFramePr>
          <p:nvPr/>
        </p:nvGraphicFramePr>
        <p:xfrm>
          <a:off x="3703638" y="3251200"/>
          <a:ext cx="2768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Equation" r:id="rId11" imgW="2768400" imgH="914400" progId="Equation.3">
                  <p:embed/>
                </p:oleObj>
              </mc:Choice>
              <mc:Fallback>
                <p:oleObj name="Equation" r:id="rId11" imgW="2768400" imgH="9144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8" y="3251200"/>
                        <a:ext cx="2768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2" name="Object 22"/>
          <p:cNvGraphicFramePr>
            <a:graphicFrameLocks noChangeAspect="1"/>
          </p:cNvGraphicFramePr>
          <p:nvPr/>
        </p:nvGraphicFramePr>
        <p:xfrm>
          <a:off x="6496050" y="3286125"/>
          <a:ext cx="1117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Equation" r:id="rId13" imgW="1117440" imgH="863280" progId="Equation.3">
                  <p:embed/>
                </p:oleObj>
              </mc:Choice>
              <mc:Fallback>
                <p:oleObj name="Equation" r:id="rId13" imgW="1117440" imgH="8632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3286125"/>
                        <a:ext cx="1117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3" name="Object 23"/>
          <p:cNvGraphicFramePr>
            <a:graphicFrameLocks noChangeAspect="1"/>
          </p:cNvGraphicFramePr>
          <p:nvPr/>
        </p:nvGraphicFramePr>
        <p:xfrm>
          <a:off x="1101725" y="4794250"/>
          <a:ext cx="4102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Equation" r:id="rId15" imgW="4101840" imgH="457200" progId="Equation.3">
                  <p:embed/>
                </p:oleObj>
              </mc:Choice>
              <mc:Fallback>
                <p:oleObj name="Equation" r:id="rId15" imgW="4101840" imgH="457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4794250"/>
                        <a:ext cx="4102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6BAFD9-6899-4463-B630-EF0D6514DBDB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762000" y="8382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</a:rPr>
              <a:t>2.</a:t>
            </a:r>
            <a:r>
              <a:rPr lang="zh-CN" altLang="en-US" sz="2800" b="1">
                <a:solidFill>
                  <a:schemeClr val="accent2"/>
                </a:solidFill>
                <a:latin typeface="宋体" charset="-122"/>
              </a:rPr>
              <a:t>复数项级数收敛的条件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828675" y="389413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证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704975" y="39004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因为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2657475" y="3963988"/>
          <a:ext cx="3048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4" name="Equation" r:id="rId3" imgW="3047760" imgH="431640" progId="Equation.3">
                  <p:embed/>
                </p:oleObj>
              </mc:Choice>
              <mc:Fallback>
                <p:oleObj name="Equation" r:id="rId3" imgW="304776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3963988"/>
                        <a:ext cx="3048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2405063" y="4749800"/>
          <a:ext cx="56911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" name="Equation" r:id="rId5" imgW="5689440" imgH="431640" progId="Equation.3">
                  <p:embed/>
                </p:oleObj>
              </mc:Choice>
              <mc:Fallback>
                <p:oleObj name="Equation" r:id="rId5" imgW="568944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4749800"/>
                        <a:ext cx="56911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2419350" y="5524500"/>
          <a:ext cx="158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6" name="Equation" r:id="rId7" imgW="1587240" imgH="431640" progId="Equation.3">
                  <p:embed/>
                </p:oleObj>
              </mc:Choice>
              <mc:Fallback>
                <p:oleObj name="Equation" r:id="rId7" imgW="158724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5524500"/>
                        <a:ext cx="158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23"/>
          <p:cNvGraphicFramePr>
            <a:graphicFrameLocks noChangeAspect="1"/>
          </p:cNvGraphicFramePr>
          <p:nvPr/>
        </p:nvGraphicFramePr>
        <p:xfrm>
          <a:off x="2022475" y="1538288"/>
          <a:ext cx="64579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7" name="Equation" r:id="rId9" imgW="6578280" imgH="939600" progId="Equation.3">
                  <p:embed/>
                </p:oleObj>
              </mc:Choice>
              <mc:Fallback>
                <p:oleObj name="Equation" r:id="rId9" imgW="6578280" imgH="939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1538288"/>
                        <a:ext cx="645795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6" name="Rectangle 32"/>
          <p:cNvSpPr>
            <a:spLocks noChangeArrowheads="1"/>
          </p:cNvSpPr>
          <p:nvPr/>
        </p:nvSpPr>
        <p:spPr bwMode="auto">
          <a:xfrm>
            <a:off x="1905000" y="2743200"/>
            <a:ext cx="3733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09" name="Object 25"/>
          <p:cNvGraphicFramePr>
            <a:graphicFrameLocks noChangeAspect="1"/>
          </p:cNvGraphicFramePr>
          <p:nvPr/>
        </p:nvGraphicFramePr>
        <p:xfrm>
          <a:off x="900113" y="2492375"/>
          <a:ext cx="3492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8" name="Equation" r:id="rId11" imgW="3492360" imgH="939600" progId="Equation.3">
                  <p:embed/>
                </p:oleObj>
              </mc:Choice>
              <mc:Fallback>
                <p:oleObj name="Equation" r:id="rId11" imgW="3492360" imgH="939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492375"/>
                        <a:ext cx="3492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1" name="Text Box 37"/>
          <p:cNvSpPr txBox="1">
            <a:spLocks noChangeArrowheads="1"/>
          </p:cNvSpPr>
          <p:nvPr/>
        </p:nvSpPr>
        <p:spPr bwMode="auto">
          <a:xfrm>
            <a:off x="685800" y="16764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定理二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89" grpId="0" autoUpdateAnimBg="0"/>
      <p:bldP spid="16416" grpId="0" animBg="1"/>
      <p:bldP spid="1642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DDA2CF-EAC8-49AB-B277-F4C5C2778275}" type="slidenum">
              <a:rPr lang="zh-CN" altLang="en-US"/>
              <a:pPr/>
              <a:t>11</a:t>
            </a:fld>
            <a:endParaRPr lang="en-US" altLang="zh-CN"/>
          </a:p>
        </p:txBody>
      </p:sp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2805113" y="1911350"/>
          <a:ext cx="4419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1" name="Equation" r:id="rId3" imgW="4419360" imgH="990360" progId="Equation.DSMT4">
                  <p:embed/>
                </p:oleObj>
              </mc:Choice>
              <mc:Fallback>
                <p:oleObj name="Equation" r:id="rId3" imgW="4419360" imgH="990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1911350"/>
                        <a:ext cx="4419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1023938" y="1119188"/>
          <a:ext cx="24574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2" name="Equation" r:id="rId5" imgW="2463480" imgH="482400" progId="Equation.DSMT4">
                  <p:embed/>
                </p:oleObj>
              </mc:Choice>
              <mc:Fallback>
                <p:oleObj name="Equation" r:id="rId5" imgW="246348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1119188"/>
                        <a:ext cx="245745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9" name="Object 9"/>
          <p:cNvGraphicFramePr>
            <a:graphicFrameLocks noChangeAspect="1"/>
          </p:cNvGraphicFramePr>
          <p:nvPr/>
        </p:nvGraphicFramePr>
        <p:xfrm>
          <a:off x="3538538" y="1119188"/>
          <a:ext cx="352266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3" name="Equation" r:id="rId7" imgW="3530520" imgH="482400" progId="Equation.DSMT4">
                  <p:embed/>
                </p:oleObj>
              </mc:Choice>
              <mc:Fallback>
                <p:oleObj name="Equation" r:id="rId7" imgW="353052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538" y="1119188"/>
                        <a:ext cx="3522662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4" name="Text Box 14"/>
          <p:cNvSpPr txBox="1">
            <a:spLocks noChangeArrowheads="1"/>
          </p:cNvSpPr>
          <p:nvPr/>
        </p:nvSpPr>
        <p:spPr bwMode="auto">
          <a:xfrm>
            <a:off x="800100" y="3508375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说明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61455" name="Text Box 15"/>
          <p:cNvSpPr txBox="1">
            <a:spLocks noChangeArrowheads="1"/>
          </p:cNvSpPr>
          <p:nvPr/>
        </p:nvSpPr>
        <p:spPr bwMode="auto">
          <a:xfrm>
            <a:off x="1908175" y="3500438"/>
            <a:ext cx="374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复数项级数的审敛问题</a:t>
            </a:r>
          </a:p>
        </p:txBody>
      </p:sp>
      <p:graphicFrame>
        <p:nvGraphicFramePr>
          <p:cNvPr id="61456" name="Object 16"/>
          <p:cNvGraphicFramePr>
            <a:graphicFrameLocks noChangeAspect="1"/>
          </p:cNvGraphicFramePr>
          <p:nvPr/>
        </p:nvGraphicFramePr>
        <p:xfrm>
          <a:off x="3544888" y="4173538"/>
          <a:ext cx="3889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4" name="公式" r:id="rId9" imgW="241200" imgH="393480" progId="Equation.3">
                  <p:embed/>
                </p:oleObj>
              </mc:Choice>
              <mc:Fallback>
                <p:oleObj name="公式" r:id="rId9" imgW="24120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888" y="4173538"/>
                        <a:ext cx="3889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7" name="Text Box 17"/>
          <p:cNvSpPr txBox="1">
            <a:spLocks noChangeArrowheads="1"/>
          </p:cNvSpPr>
          <p:nvPr/>
        </p:nvSpPr>
        <p:spPr bwMode="auto">
          <a:xfrm>
            <a:off x="1868488" y="4935538"/>
            <a:ext cx="374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实数项级数的审敛问题</a:t>
            </a:r>
          </a:p>
        </p:txBody>
      </p:sp>
      <p:sp>
        <p:nvSpPr>
          <p:cNvPr id="61458" name="Text Box 18"/>
          <p:cNvSpPr txBox="1">
            <a:spLocks noChangeArrowheads="1"/>
          </p:cNvSpPr>
          <p:nvPr/>
        </p:nvSpPr>
        <p:spPr bwMode="auto">
          <a:xfrm>
            <a:off x="3965575" y="4173538"/>
            <a:ext cx="130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33CC"/>
                </a:solidFill>
              </a:rPr>
              <a:t>(定理二)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4" grpId="0" autoUpdateAnimBg="0"/>
      <p:bldP spid="61455" grpId="0" autoUpdateAnimBg="0"/>
      <p:bldP spid="61457" grpId="0" autoUpdateAnimBg="0"/>
      <p:bldP spid="6145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8146D8-3FD6-4692-8C98-B242D7967098}" type="slidenum">
              <a:rPr lang="zh-CN" altLang="en-US"/>
              <a:pPr/>
              <a:t>12</a:t>
            </a:fld>
            <a:endParaRPr lang="en-US" altLang="zh-CN"/>
          </a:p>
        </p:txBody>
      </p:sp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2547938" y="1073150"/>
          <a:ext cx="4292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Equation" r:id="rId3" imgW="4292280" imgH="939600" progId="Equation.3">
                  <p:embed/>
                </p:oleObj>
              </mc:Choice>
              <mc:Fallback>
                <p:oleObj name="Equation" r:id="rId3" imgW="4292280" imgH="939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1073150"/>
                        <a:ext cx="4292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752475" y="2446338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ea typeface="黑体" pitchFamily="2" charset="-122"/>
              </a:rPr>
              <a:t>解</a:t>
            </a:r>
          </a:p>
        </p:txBody>
      </p:sp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1549400" y="2286000"/>
          <a:ext cx="3390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Equation" r:id="rId5" imgW="3390840" imgH="939600" progId="Equation.3">
                  <p:embed/>
                </p:oleObj>
              </mc:Choice>
              <mc:Fallback>
                <p:oleObj name="Equation" r:id="rId5" imgW="3390840" imgH="939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2286000"/>
                        <a:ext cx="3390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5292725" y="2276475"/>
          <a:ext cx="2959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Equation" r:id="rId7" imgW="2958840" imgH="939600" progId="Equation.3">
                  <p:embed/>
                </p:oleObj>
              </mc:Choice>
              <mc:Fallback>
                <p:oleObj name="Equation" r:id="rId7" imgW="2958840" imgH="939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276475"/>
                        <a:ext cx="2959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755650" y="3500438"/>
            <a:ext cx="302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所以原级数发散.   </a:t>
            </a:r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685800" y="1219200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课堂练习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2" grpId="0" autoUpdateAnimBg="0"/>
      <p:bldP spid="1742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5FE1E7-C844-4E58-964F-87DA91BC02B4}" type="slidenum">
              <a:rPr lang="zh-CN" altLang="en-US"/>
              <a:pPr/>
              <a:t>13</a:t>
            </a:fld>
            <a:endParaRPr lang="en-US" altLang="zh-CN"/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814388" y="1339850"/>
          <a:ext cx="77962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8" name="Equation" r:id="rId3" imgW="7556400" imgH="939600" progId="Equation.3">
                  <p:embed/>
                </p:oleObj>
              </mc:Choice>
              <mc:Fallback>
                <p:oleObj name="Equation" r:id="rId3" imgW="7556400" imgH="93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1339850"/>
                        <a:ext cx="77962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2209800" y="2552700"/>
          <a:ext cx="3695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9" name="Equation" r:id="rId5" imgW="3695400" imgH="571320" progId="Equation.3">
                  <p:embed/>
                </p:oleObj>
              </mc:Choice>
              <mc:Fallback>
                <p:oleObj name="Equation" r:id="rId5" imgW="3695400" imgH="571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552700"/>
                        <a:ext cx="3695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3054350" y="4343400"/>
          <a:ext cx="1498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Equation" r:id="rId7" imgW="1498320" imgH="558720" progId="Equation.3">
                  <p:embed/>
                </p:oleObj>
              </mc:Choice>
              <mc:Fallback>
                <p:oleObj name="Equation" r:id="rId7" imgW="1498320" imgH="5587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4343400"/>
                        <a:ext cx="1498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739775" y="75406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必要条件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720725" y="5276850"/>
            <a:ext cx="1731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重要结论</a:t>
            </a:r>
            <a:r>
              <a:rPr lang="zh-CN" altLang="en-US" sz="2800" b="1">
                <a:solidFill>
                  <a:schemeClr val="accent2"/>
                </a:solidFill>
              </a:rPr>
              <a:t>:</a:t>
            </a:r>
          </a:p>
        </p:txBody>
      </p:sp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2714625" y="5084763"/>
          <a:ext cx="4279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1" name="Equation" r:id="rId9" imgW="4279680" imgH="939600" progId="Equation.3">
                  <p:embed/>
                </p:oleObj>
              </mc:Choice>
              <mc:Fallback>
                <p:oleObj name="Equation" r:id="rId9" imgW="4279680" imgH="939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084763"/>
                        <a:ext cx="4279900" cy="9398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/>
        </p:nvGraphicFramePr>
        <p:xfrm>
          <a:off x="777875" y="3251200"/>
          <a:ext cx="6629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2" name="Equation" r:id="rId11" imgW="6629400" imgH="939600" progId="Equation.3">
                  <p:embed/>
                </p:oleObj>
              </mc:Choice>
              <mc:Fallback>
                <p:oleObj name="Equation" r:id="rId11" imgW="6629400" imgH="939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3251200"/>
                        <a:ext cx="6629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7321AA-E0FA-4172-8625-A767D28768BF}" type="slidenum">
              <a:rPr lang="zh-CN" altLang="en-US"/>
              <a:pPr/>
              <a:t>14</a:t>
            </a:fld>
            <a:endParaRPr lang="en-US" altLang="zh-CN"/>
          </a:p>
        </p:txBody>
      </p:sp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1187450" y="692150"/>
          <a:ext cx="2540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7" name="Equation" r:id="rId3" imgW="2539800" imgH="939600" progId="Equation.3">
                  <p:embed/>
                </p:oleObj>
              </mc:Choice>
              <mc:Fallback>
                <p:oleObj name="Equation" r:id="rId3" imgW="2539800" imgH="93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692150"/>
                        <a:ext cx="2540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3924300" y="908050"/>
          <a:ext cx="3581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8" name="Equation" r:id="rId5" imgW="3581280" imgH="609480" progId="Equation.3">
                  <p:embed/>
                </p:oleObj>
              </mc:Choice>
              <mc:Fallback>
                <p:oleObj name="Equation" r:id="rId5" imgW="3581280" imgH="609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908050"/>
                        <a:ext cx="3581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684213" y="1916113"/>
            <a:ext cx="3829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不满足收敛的必要条件,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4500563" y="1916113"/>
            <a:ext cx="276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所以原级数发散.</a:t>
            </a:r>
          </a:p>
        </p:txBody>
      </p:sp>
      <p:grpSp>
        <p:nvGrpSpPr>
          <p:cNvPr id="56335" name="Group 15"/>
          <p:cNvGrpSpPr>
            <a:grpSpLocks/>
          </p:cNvGrpSpPr>
          <p:nvPr/>
        </p:nvGrpSpPr>
        <p:grpSpPr bwMode="auto">
          <a:xfrm>
            <a:off x="900113" y="3357563"/>
            <a:ext cx="7407275" cy="630237"/>
            <a:chOff x="518" y="2555"/>
            <a:chExt cx="4666" cy="397"/>
          </a:xfrm>
        </p:grpSpPr>
        <p:sp>
          <p:nvSpPr>
            <p:cNvPr id="56326" name="Text Box 6"/>
            <p:cNvSpPr txBox="1">
              <a:spLocks noChangeArrowheads="1"/>
            </p:cNvSpPr>
            <p:nvPr/>
          </p:nvSpPr>
          <p:spPr bwMode="auto">
            <a:xfrm>
              <a:off x="518" y="2566"/>
              <a:ext cx="37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chemeClr val="accent2"/>
                  </a:solidFill>
                  <a:ea typeface="黑体" pitchFamily="2" charset="-122"/>
                </a:rPr>
                <a:t>启示</a:t>
              </a:r>
              <a:r>
                <a:rPr lang="zh-CN" altLang="en-US" sz="2800" b="1"/>
                <a:t>: 判别级数的敛散性时, 可先考察</a:t>
              </a:r>
            </a:p>
          </p:txBody>
        </p:sp>
        <p:grpSp>
          <p:nvGrpSpPr>
            <p:cNvPr id="56329" name="Group 9"/>
            <p:cNvGrpSpPr>
              <a:grpSpLocks/>
            </p:cNvGrpSpPr>
            <p:nvPr/>
          </p:nvGrpSpPr>
          <p:grpSpPr bwMode="auto">
            <a:xfrm>
              <a:off x="4232" y="2555"/>
              <a:ext cx="952" cy="397"/>
              <a:chOff x="4232" y="2533"/>
              <a:chExt cx="952" cy="397"/>
            </a:xfrm>
          </p:grpSpPr>
          <p:graphicFrame>
            <p:nvGraphicFramePr>
              <p:cNvPr id="56327" name="Object 7"/>
              <p:cNvGraphicFramePr>
                <a:graphicFrameLocks noChangeAspect="1"/>
              </p:cNvGraphicFramePr>
              <p:nvPr/>
            </p:nvGraphicFramePr>
            <p:xfrm>
              <a:off x="4232" y="2578"/>
              <a:ext cx="952" cy="3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349" name="公式" r:id="rId7" imgW="1511280" imgH="558720" progId="Equation.3">
                      <p:embed/>
                    </p:oleObj>
                  </mc:Choice>
                  <mc:Fallback>
                    <p:oleObj name="公式" r:id="rId7" imgW="1511280" imgH="55872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2" y="2578"/>
                            <a:ext cx="952" cy="3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CC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328" name="Text Box 8"/>
              <p:cNvSpPr txBox="1">
                <a:spLocks noChangeArrowheads="1"/>
              </p:cNvSpPr>
              <p:nvPr/>
            </p:nvSpPr>
            <p:spPr bwMode="auto">
              <a:xfrm>
                <a:off x="4822" y="2533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/>
                  <a:t>?</a:t>
                </a:r>
              </a:p>
            </p:txBody>
          </p:sp>
        </p:grpSp>
      </p:grpSp>
      <p:graphicFrame>
        <p:nvGraphicFramePr>
          <p:cNvPr id="56331" name="Object 11"/>
          <p:cNvGraphicFramePr>
            <a:graphicFrameLocks noChangeAspect="1"/>
          </p:cNvGraphicFramePr>
          <p:nvPr/>
        </p:nvGraphicFramePr>
        <p:xfrm>
          <a:off x="1828800" y="4278313"/>
          <a:ext cx="24765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0" name="Equation" r:id="rId9" imgW="2476440" imgH="1523880" progId="Equation.3">
                  <p:embed/>
                </p:oleObj>
              </mc:Choice>
              <mc:Fallback>
                <p:oleObj name="Equation" r:id="rId9" imgW="2476440" imgH="1523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78313"/>
                        <a:ext cx="24765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4622800" y="4251325"/>
            <a:ext cx="1725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级数发散;</a:t>
            </a: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4635500" y="5200650"/>
            <a:ext cx="2406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应进一步判断.</a:t>
            </a:r>
          </a:p>
        </p:txBody>
      </p:sp>
      <p:graphicFrame>
        <p:nvGraphicFramePr>
          <p:cNvPr id="56336" name="Object 16"/>
          <p:cNvGraphicFramePr>
            <a:graphicFrameLocks noChangeAspect="1"/>
          </p:cNvGraphicFramePr>
          <p:nvPr/>
        </p:nvGraphicFramePr>
        <p:xfrm>
          <a:off x="2717800" y="5237163"/>
          <a:ext cx="1587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1" name="Equation" r:id="rId11" imgW="1587240" imgH="558720" progId="Equation.3">
                  <p:embed/>
                </p:oleObj>
              </mc:Choice>
              <mc:Fallback>
                <p:oleObj name="Equation" r:id="rId11" imgW="1587240" imgH="55872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5237163"/>
                        <a:ext cx="1587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utoUpdateAnimBg="0"/>
      <p:bldP spid="56325" grpId="0" autoUpdateAnimBg="0"/>
      <p:bldP spid="56332" grpId="0" autoUpdateAnimBg="0"/>
      <p:bldP spid="5633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EAE1CC-B35B-4527-B65C-26F3C5DBFE41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825500" y="673100"/>
            <a:ext cx="3754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</a:rPr>
              <a:t>3. </a:t>
            </a:r>
            <a:r>
              <a:rPr lang="zh-CN" altLang="en-US" sz="2800" b="1">
                <a:solidFill>
                  <a:schemeClr val="accent2"/>
                </a:solidFill>
                <a:latin typeface="宋体" charset="-122"/>
              </a:rPr>
              <a:t>绝对收敛与条件收敛</a:t>
            </a:r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2112963" y="1420813"/>
          <a:ext cx="5575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Equation" r:id="rId3" imgW="5574960" imgH="939600" progId="Equation.3">
                  <p:embed/>
                </p:oleObj>
              </mc:Choice>
              <mc:Fallback>
                <p:oleObj name="Equation" r:id="rId3" imgW="5574960" imgH="939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1420813"/>
                        <a:ext cx="5575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755650" y="2565400"/>
          <a:ext cx="4762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7" name="Equation" r:id="rId5" imgW="4762440" imgH="965160" progId="Equation.3">
                  <p:embed/>
                </p:oleObj>
              </mc:Choice>
              <mc:Fallback>
                <p:oleObj name="Equation" r:id="rId5" imgW="4762440" imgH="9651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565400"/>
                        <a:ext cx="4762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609600" y="4108450"/>
            <a:ext cx="1082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注意 </a:t>
            </a:r>
          </a:p>
        </p:txBody>
      </p:sp>
      <p:graphicFrame>
        <p:nvGraphicFramePr>
          <p:cNvPr id="18453" name="Object 21"/>
          <p:cNvGraphicFramePr>
            <a:graphicFrameLocks noChangeAspect="1"/>
          </p:cNvGraphicFramePr>
          <p:nvPr/>
        </p:nvGraphicFramePr>
        <p:xfrm>
          <a:off x="1820863" y="3933825"/>
          <a:ext cx="51133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8" name="Equation" r:id="rId7" imgW="5003640" imgH="939600" progId="Equation.3">
                  <p:embed/>
                </p:oleObj>
              </mc:Choice>
              <mc:Fallback>
                <p:oleObj name="Equation" r:id="rId7" imgW="5003640" imgH="939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3933825"/>
                        <a:ext cx="511333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1703388" y="5070475"/>
            <a:ext cx="6145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应用正项级数的审敛法则判定.</a:t>
            </a: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657225" y="1558925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定理三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1" grpId="0" autoUpdateAnimBg="0"/>
      <p:bldP spid="18455" grpId="0" autoUpdateAnimBg="0"/>
      <p:bldP spid="1845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F1FC1E-A767-4EF2-897A-28CB7904F4F0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904875" y="98583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ea typeface="黑体" pitchFamily="2" charset="-122"/>
              </a:rPr>
              <a:t>证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2001838" y="10160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由于</a:t>
            </a: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2997200" y="844550"/>
          <a:ext cx="3263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5" name="Equation" r:id="rId3" imgW="3263760" imgH="939600" progId="Equation.3">
                  <p:embed/>
                </p:oleObj>
              </mc:Choice>
              <mc:Fallback>
                <p:oleObj name="Equation" r:id="rId3" imgW="326376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844550"/>
                        <a:ext cx="3263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6659563" y="9810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而</a:t>
            </a:r>
          </a:p>
        </p:txBody>
      </p:sp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2124075" y="2060575"/>
          <a:ext cx="5130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6" name="Equation" r:id="rId5" imgW="5130720" imgH="558720" progId="Equation.3">
                  <p:embed/>
                </p:oleObj>
              </mc:Choice>
              <mc:Fallback>
                <p:oleObj name="Equation" r:id="rId5" imgW="5130720" imgH="5587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060575"/>
                        <a:ext cx="5130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8" name="Text Box 16"/>
          <p:cNvSpPr txBox="1">
            <a:spLocks noChangeArrowheads="1"/>
          </p:cNvSpPr>
          <p:nvPr/>
        </p:nvSpPr>
        <p:spPr bwMode="auto">
          <a:xfrm>
            <a:off x="827088" y="3068638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根据实数项级数的比较审敛法, 知</a:t>
            </a:r>
          </a:p>
        </p:txBody>
      </p:sp>
      <p:graphicFrame>
        <p:nvGraphicFramePr>
          <p:cNvPr id="59410" name="Object 18"/>
          <p:cNvGraphicFramePr>
            <a:graphicFrameLocks noChangeAspect="1"/>
          </p:cNvGraphicFramePr>
          <p:nvPr/>
        </p:nvGraphicFramePr>
        <p:xfrm>
          <a:off x="1116013" y="3789363"/>
          <a:ext cx="36512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7" name="Equation" r:id="rId7" imgW="3657600" imgH="939600" progId="Equation.3">
                  <p:embed/>
                </p:oleObj>
              </mc:Choice>
              <mc:Fallback>
                <p:oleObj name="Equation" r:id="rId7" imgW="3657600" imgH="939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789363"/>
                        <a:ext cx="365125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6" name="Object 24"/>
          <p:cNvGraphicFramePr>
            <a:graphicFrameLocks noChangeAspect="1"/>
          </p:cNvGraphicFramePr>
          <p:nvPr/>
        </p:nvGraphicFramePr>
        <p:xfrm>
          <a:off x="971550" y="4941888"/>
          <a:ext cx="42592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8" name="Equation" r:id="rId9" imgW="4267080" imgH="939600" progId="Equation.3">
                  <p:embed/>
                </p:oleObj>
              </mc:Choice>
              <mc:Fallback>
                <p:oleObj name="Equation" r:id="rId9" imgW="4267080" imgH="939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941888"/>
                        <a:ext cx="425926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utoUpdateAnimBg="0"/>
      <p:bldP spid="59399" grpId="0" autoUpdateAnimBg="0"/>
      <p:bldP spid="5940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51CDDB-9FAA-45C9-AFD8-90800DEAC481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101725" y="1019175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由定理二可得</a:t>
            </a:r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3449638" y="874713"/>
          <a:ext cx="2755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6" name="Equation" r:id="rId3" imgW="2755800" imgH="939600" progId="Equation.3">
                  <p:embed/>
                </p:oleObj>
              </mc:Choice>
              <mc:Fallback>
                <p:oleObj name="Equation" r:id="rId3" imgW="2755800" imgH="939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638" y="874713"/>
                        <a:ext cx="2755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1192213" y="1981200"/>
          <a:ext cx="3429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7" name="Equation" r:id="rId5" imgW="3429000" imgH="965160" progId="Equation.3">
                  <p:embed/>
                </p:oleObj>
              </mc:Choice>
              <mc:Fallback>
                <p:oleObj name="Equation" r:id="rId5" imgW="3429000" imgH="96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981200"/>
                        <a:ext cx="3429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2" name="Object 16"/>
          <p:cNvGraphicFramePr>
            <a:graphicFrameLocks noChangeAspect="1"/>
          </p:cNvGraphicFramePr>
          <p:nvPr/>
        </p:nvGraphicFramePr>
        <p:xfrm>
          <a:off x="1212850" y="3352800"/>
          <a:ext cx="4521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8" name="Equation" r:id="rId7" imgW="4520880" imgH="965160" progId="Equation.3">
                  <p:embed/>
                </p:oleObj>
              </mc:Choice>
              <mc:Fallback>
                <p:oleObj name="Equation" r:id="rId7" imgW="4520880" imgH="9651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3352800"/>
                        <a:ext cx="4521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6708775" y="4987925"/>
            <a:ext cx="1139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[证毕]</a:t>
            </a:r>
          </a:p>
        </p:txBody>
      </p:sp>
      <p:graphicFrame>
        <p:nvGraphicFramePr>
          <p:cNvPr id="19480" name="Object 24"/>
          <p:cNvGraphicFramePr>
            <a:graphicFrameLocks noChangeAspect="1"/>
          </p:cNvGraphicFramePr>
          <p:nvPr/>
        </p:nvGraphicFramePr>
        <p:xfrm>
          <a:off x="1219200" y="4800600"/>
          <a:ext cx="336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9" name="Equation" r:id="rId9" imgW="3365280" imgH="965160" progId="Equation.3">
                  <p:embed/>
                </p:oleObj>
              </mc:Choice>
              <mc:Fallback>
                <p:oleObj name="Equation" r:id="rId9" imgW="3365280" imgH="96516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800600"/>
                        <a:ext cx="3365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F21908-4176-40CF-9C2F-D6E169909428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739775" y="2259013"/>
            <a:ext cx="6673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ea typeface="黑体" pitchFamily="2" charset="-122"/>
              </a:rPr>
              <a:t>非绝对收敛的收敛级数称为</a:t>
            </a:r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条件收敛级数</a:t>
            </a:r>
            <a:r>
              <a:rPr lang="zh-CN" altLang="en-US" sz="2800" b="1"/>
              <a:t>.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896938" y="2817813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CC0066"/>
                </a:solidFill>
                <a:ea typeface="黑体" pitchFamily="2" charset="-122"/>
              </a:rPr>
              <a:t>说明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2092325" y="2852738"/>
          <a:ext cx="48895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Equation" r:id="rId3" imgW="4889160" imgH="622080" progId="Equation.DSMT4">
                  <p:embed/>
                </p:oleObj>
              </mc:Choice>
              <mc:Fallback>
                <p:oleObj name="Equation" r:id="rId3" imgW="4889160" imgH="6220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2852738"/>
                        <a:ext cx="48895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02" name="Group 22"/>
          <p:cNvGrpSpPr>
            <a:grpSpLocks/>
          </p:cNvGrpSpPr>
          <p:nvPr/>
        </p:nvGrpSpPr>
        <p:grpSpPr bwMode="auto">
          <a:xfrm>
            <a:off x="755650" y="1052513"/>
            <a:ext cx="7296150" cy="1003300"/>
            <a:chOff x="504" y="824"/>
            <a:chExt cx="4596" cy="632"/>
          </a:xfrm>
        </p:grpSpPr>
        <p:sp>
          <p:nvSpPr>
            <p:cNvPr id="20492" name="Text Box 12"/>
            <p:cNvSpPr txBox="1">
              <a:spLocks noChangeArrowheads="1"/>
            </p:cNvSpPr>
            <p:nvPr/>
          </p:nvSpPr>
          <p:spPr bwMode="auto">
            <a:xfrm>
              <a:off x="504" y="972"/>
              <a:ext cx="45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ea typeface="黑体" pitchFamily="2" charset="-122"/>
                </a:rPr>
                <a:t>如果</a:t>
              </a:r>
              <a:r>
                <a:rPr lang="zh-CN" altLang="en-US" sz="2800" b="1"/>
                <a:t>           </a:t>
              </a:r>
              <a:r>
                <a:rPr lang="zh-CN" altLang="en-US" sz="2800" b="1">
                  <a:ea typeface="黑体" pitchFamily="2" charset="-122"/>
                </a:rPr>
                <a:t>收敛</a:t>
              </a:r>
              <a:r>
                <a:rPr lang="zh-CN" altLang="en-US" sz="2800" b="1"/>
                <a:t>, </a:t>
              </a:r>
              <a:r>
                <a:rPr lang="zh-CN" altLang="en-US" sz="2800" b="1">
                  <a:ea typeface="黑体" pitchFamily="2" charset="-122"/>
                </a:rPr>
                <a:t>那末称级数</a:t>
              </a:r>
              <a:r>
                <a:rPr lang="zh-CN" altLang="en-US" sz="2800" b="1"/>
                <a:t>          </a:t>
              </a:r>
              <a:r>
                <a:rPr lang="zh-CN" altLang="en-US" sz="2800" b="1">
                  <a:ea typeface="黑体" pitchFamily="2" charset="-122"/>
                </a:rPr>
                <a:t>为</a:t>
              </a:r>
              <a:r>
                <a:rPr lang="zh-CN" altLang="en-US" sz="2800" b="1">
                  <a:solidFill>
                    <a:schemeClr val="accent2"/>
                  </a:solidFill>
                  <a:ea typeface="黑体" pitchFamily="2" charset="-122"/>
                </a:rPr>
                <a:t>绝对收敛</a:t>
              </a:r>
              <a:r>
                <a:rPr lang="zh-CN" altLang="en-US" sz="2800" b="1"/>
                <a:t>.</a:t>
              </a:r>
            </a:p>
          </p:txBody>
        </p:sp>
        <p:graphicFrame>
          <p:nvGraphicFramePr>
            <p:cNvPr id="20493" name="Object 13"/>
            <p:cNvGraphicFramePr>
              <a:graphicFrameLocks noChangeAspect="1"/>
            </p:cNvGraphicFramePr>
            <p:nvPr/>
          </p:nvGraphicFramePr>
          <p:xfrm>
            <a:off x="1040" y="872"/>
            <a:ext cx="56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6" name="Equation" r:id="rId5" imgW="888840" imgH="927000" progId="Equation.3">
                    <p:embed/>
                  </p:oleObj>
                </mc:Choice>
                <mc:Fallback>
                  <p:oleObj name="Equation" r:id="rId5" imgW="888840" imgH="9270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" y="872"/>
                          <a:ext cx="560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14"/>
            <p:cNvGraphicFramePr>
              <a:graphicFrameLocks noChangeAspect="1"/>
            </p:cNvGraphicFramePr>
            <p:nvPr/>
          </p:nvGraphicFramePr>
          <p:xfrm>
            <a:off x="3392" y="824"/>
            <a:ext cx="512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7" name="Equation" r:id="rId7" imgW="812520" imgH="927000" progId="Equation.3">
                    <p:embed/>
                  </p:oleObj>
                </mc:Choice>
                <mc:Fallback>
                  <p:oleObj name="Equation" r:id="rId7" imgW="812520" imgH="9270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824"/>
                          <a:ext cx="512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777875" y="474663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20508" name="Object 28"/>
          <p:cNvGraphicFramePr>
            <a:graphicFrameLocks noChangeAspect="1"/>
          </p:cNvGraphicFramePr>
          <p:nvPr/>
        </p:nvGraphicFramePr>
        <p:xfrm>
          <a:off x="2006600" y="3605213"/>
          <a:ext cx="3708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name="公式" r:id="rId9" imgW="3708360" imgH="952200" progId="Equation.3">
                  <p:embed/>
                </p:oleObj>
              </mc:Choice>
              <mc:Fallback>
                <p:oleObj name="公式" r:id="rId9" imgW="3708360" imgH="952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3605213"/>
                        <a:ext cx="3708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739775" y="3757613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所以</a:t>
            </a:r>
          </a:p>
        </p:txBody>
      </p:sp>
      <p:graphicFrame>
        <p:nvGraphicFramePr>
          <p:cNvPr id="20510" name="Object 30"/>
          <p:cNvGraphicFramePr>
            <a:graphicFrameLocks noChangeAspect="1"/>
          </p:cNvGraphicFramePr>
          <p:nvPr/>
        </p:nvGraphicFramePr>
        <p:xfrm>
          <a:off x="5967413" y="3605213"/>
          <a:ext cx="2641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Equation" r:id="rId11" imgW="2641320" imgH="927000" progId="Equation.3">
                  <p:embed/>
                </p:oleObj>
              </mc:Choice>
              <mc:Fallback>
                <p:oleObj name="Equation" r:id="rId11" imgW="2641320" imgH="9270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3605213"/>
                        <a:ext cx="2641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1" name="Object 31"/>
          <p:cNvGraphicFramePr>
            <a:graphicFrameLocks noChangeAspect="1"/>
          </p:cNvGraphicFramePr>
          <p:nvPr/>
        </p:nvGraphicFramePr>
        <p:xfrm>
          <a:off x="2051050" y="4724400"/>
          <a:ext cx="60594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name="Equation" r:id="rId13" imgW="6057720" imgH="927000" progId="Equation.3">
                  <p:embed/>
                </p:oleObj>
              </mc:Choice>
              <mc:Fallback>
                <p:oleObj name="Equation" r:id="rId13" imgW="6057720" imgH="9270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724400"/>
                        <a:ext cx="6059488" cy="9271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900113" y="4903788"/>
            <a:ext cx="1014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ea typeface="黑体" pitchFamily="2" charset="-122"/>
              </a:rPr>
              <a:t>综上</a:t>
            </a:r>
            <a:r>
              <a:rPr lang="zh-CN" altLang="en-US" sz="2800" b="1">
                <a:solidFill>
                  <a:schemeClr val="accent2"/>
                </a:solidFill>
              </a:rPr>
              <a:t>: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utoUpdateAnimBg="0"/>
      <p:bldP spid="20500" grpId="0"/>
      <p:bldP spid="20509" grpId="0"/>
      <p:bldP spid="205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49BB96-7110-46C0-B1BD-666E0C2266F2}" type="slidenum">
              <a:rPr lang="zh-CN" altLang="en-US"/>
              <a:pPr/>
              <a:t>19</a:t>
            </a:fld>
            <a:endParaRPr lang="en-US" altLang="zh-CN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145506"/>
              </p:ext>
            </p:extLst>
          </p:nvPr>
        </p:nvGraphicFramePr>
        <p:xfrm>
          <a:off x="1726388" y="3145408"/>
          <a:ext cx="2917620" cy="859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6" name="Equation" r:id="rId3" imgW="1422360" imgH="419040" progId="Equation.DSMT4">
                  <p:embed/>
                </p:oleObj>
              </mc:Choice>
              <mc:Fallback>
                <p:oleObj name="Equation" r:id="rId3" imgW="142236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388" y="3145408"/>
                        <a:ext cx="2917620" cy="859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1585913" y="1447800"/>
            <a:ext cx="6672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/>
              <a:t>下列数列是否收敛, 如果收敛, 求出其极限.</a:t>
            </a:r>
          </a:p>
        </p:txBody>
      </p:sp>
      <p:graphicFrame>
        <p:nvGraphicFramePr>
          <p:cNvPr id="12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101467"/>
              </p:ext>
            </p:extLst>
          </p:nvPr>
        </p:nvGraphicFramePr>
        <p:xfrm>
          <a:off x="1763688" y="1966913"/>
          <a:ext cx="2612813" cy="958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7" name="Equation" r:id="rId5" imgW="1143000" imgH="419040" progId="Equation.DSMT4">
                  <p:embed/>
                </p:oleObj>
              </mc:Choice>
              <mc:Fallback>
                <p:oleObj name="Equation" r:id="rId5" imgW="114300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966913"/>
                        <a:ext cx="2612813" cy="958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5194300" y="4395788"/>
          <a:ext cx="2578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8" name="Equation" r:id="rId7" imgW="2577960" imgH="838080" progId="Equation.3">
                  <p:embed/>
                </p:oleObj>
              </mc:Choice>
              <mc:Fallback>
                <p:oleObj name="Equation" r:id="rId7" imgW="2577960" imgH="838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4395788"/>
                        <a:ext cx="2578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965200" y="4368800"/>
          <a:ext cx="337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9" name="Equation" r:id="rId9" imgW="3377880" imgH="838080" progId="Equation.3">
                  <p:embed/>
                </p:oleObj>
              </mc:Choice>
              <mc:Fallback>
                <p:oleObj name="Equation" r:id="rId9" imgW="3377880" imgH="838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4368800"/>
                        <a:ext cx="3378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838200" y="549275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/>
              <a:t>而</a:t>
            </a:r>
          </a:p>
        </p:txBody>
      </p:sp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1981200" y="5537200"/>
          <a:ext cx="3365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0" name="公式" r:id="rId11" imgW="3365280" imgH="558720" progId="Equation.3">
                  <p:embed/>
                </p:oleObj>
              </mc:Choice>
              <mc:Fallback>
                <p:oleObj name="公式" r:id="rId11" imgW="3365280" imgH="5587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537200"/>
                        <a:ext cx="3365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762000" y="3346450"/>
            <a:ext cx="631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ea typeface="黑体" pitchFamily="2" charset="-122"/>
              </a:rPr>
              <a:t>解</a:t>
            </a:r>
            <a:r>
              <a:rPr lang="zh-CN" altLang="en-US" sz="2800" b="1"/>
              <a:t> </a:t>
            </a:r>
          </a:p>
        </p:txBody>
      </p:sp>
      <p:sp>
        <p:nvSpPr>
          <p:cNvPr id="12308" name="Rectangle 20"/>
          <p:cNvSpPr>
            <a:spLocks noGrp="1" noChangeArrowheads="1"/>
          </p:cNvSpPr>
          <p:nvPr>
            <p:ph type="title"/>
          </p:nvPr>
        </p:nvSpPr>
        <p:spPr>
          <a:xfrm>
            <a:off x="757238" y="400050"/>
            <a:ext cx="7772400" cy="1143000"/>
          </a:xfrm>
        </p:spPr>
        <p:txBody>
          <a:bodyPr/>
          <a:lstStyle/>
          <a:p>
            <a:pPr algn="l"/>
            <a:r>
              <a:rPr lang="zh-CN" altLang="en-US" sz="4000">
                <a:solidFill>
                  <a:schemeClr val="tx1"/>
                </a:solidFill>
              </a:rPr>
              <a:t>三、典型例题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762000" y="1427163"/>
            <a:ext cx="72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latin typeface="黑体" pitchFamily="2" charset="-122"/>
                <a:ea typeface="黑体" pitchFamily="2" charset="-122"/>
              </a:rPr>
              <a:t>例1</a:t>
            </a:r>
            <a:endParaRPr lang="zh-CN" altLang="en-US" sz="2800" b="1"/>
          </a:p>
        </p:txBody>
      </p:sp>
      <p:graphicFrame>
        <p:nvGraphicFramePr>
          <p:cNvPr id="12310" name="Object 22"/>
          <p:cNvGraphicFramePr>
            <a:graphicFrameLocks noChangeAspect="1"/>
          </p:cNvGraphicFramePr>
          <p:nvPr/>
        </p:nvGraphicFramePr>
        <p:xfrm>
          <a:off x="4651375" y="3189288"/>
          <a:ext cx="35575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1" name="Equation" r:id="rId13" imgW="3555720" imgH="838080" progId="Equation.3">
                  <p:embed/>
                </p:oleObj>
              </mc:Choice>
              <mc:Fallback>
                <p:oleObj name="Equation" r:id="rId13" imgW="3555720" imgH="8380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75" y="3189288"/>
                        <a:ext cx="35575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23"/>
          <p:cNvGraphicFramePr>
            <a:graphicFrameLocks noChangeAspect="1"/>
          </p:cNvGraphicFramePr>
          <p:nvPr/>
        </p:nvGraphicFramePr>
        <p:xfrm>
          <a:off x="4978400" y="2286000"/>
          <a:ext cx="2463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2" name="Equation" r:id="rId15" imgW="2463480" imgH="431640" progId="Equation.3">
                  <p:embed/>
                </p:oleObj>
              </mc:Choice>
              <mc:Fallback>
                <p:oleObj name="Equation" r:id="rId15" imgW="2463480" imgH="4316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2286000"/>
                        <a:ext cx="24638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utoUpdateAnimBg="0"/>
      <p:bldP spid="12300" grpId="0" autoUpdateAnimBg="0"/>
      <p:bldP spid="12305" grpId="0" autoUpdateAnimBg="0"/>
      <p:bldP spid="1230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1B1B37-756A-4FA4-B6F4-90151F73EC3B}" type="slidenum">
              <a:rPr lang="zh-CN" altLang="en-US"/>
              <a:pPr/>
              <a:t>20</a:t>
            </a:fld>
            <a:endParaRPr lang="en-US" altLang="zh-CN"/>
          </a:p>
        </p:txBody>
      </p:sp>
      <p:grpSp>
        <p:nvGrpSpPr>
          <p:cNvPr id="51220" name="Group 20"/>
          <p:cNvGrpSpPr>
            <a:grpSpLocks/>
          </p:cNvGrpSpPr>
          <p:nvPr/>
        </p:nvGrpSpPr>
        <p:grpSpPr bwMode="auto">
          <a:xfrm>
            <a:off x="957263" y="2124075"/>
            <a:ext cx="1244600" cy="519113"/>
            <a:chOff x="432" y="1584"/>
            <a:chExt cx="784" cy="327"/>
          </a:xfrm>
        </p:grpSpPr>
        <p:graphicFrame>
          <p:nvGraphicFramePr>
            <p:cNvPr id="51212" name="Object 12"/>
            <p:cNvGraphicFramePr>
              <a:graphicFrameLocks noChangeAspect="1"/>
            </p:cNvGraphicFramePr>
            <p:nvPr/>
          </p:nvGraphicFramePr>
          <p:xfrm>
            <a:off x="864" y="1632"/>
            <a:ext cx="35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7" name="Equation" r:id="rId3" imgW="558720" imgH="393480" progId="Equation.3">
                    <p:embed/>
                  </p:oleObj>
                </mc:Choice>
                <mc:Fallback>
                  <p:oleObj name="Equation" r:id="rId3" imgW="558720" imgH="3934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632"/>
                          <a:ext cx="35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3" name="Text Box 13"/>
            <p:cNvSpPr txBox="1">
              <a:spLocks noChangeArrowheads="1"/>
            </p:cNvSpPr>
            <p:nvPr/>
          </p:nvSpPr>
          <p:spPr bwMode="auto">
            <a:xfrm>
              <a:off x="432" y="1584"/>
              <a:ext cx="3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>
                  <a:ea typeface="黑体" pitchFamily="2" charset="-122"/>
                </a:rPr>
                <a:t>解</a:t>
              </a:r>
              <a:r>
                <a:rPr lang="zh-CN" altLang="en-US" sz="2800" b="1"/>
                <a:t> </a:t>
              </a:r>
            </a:p>
          </p:txBody>
        </p:sp>
      </p:grpSp>
      <p:graphicFrame>
        <p:nvGraphicFramePr>
          <p:cNvPr id="51214" name="Object 14"/>
          <p:cNvGraphicFramePr>
            <a:graphicFrameLocks noChangeAspect="1"/>
          </p:cNvGraphicFramePr>
          <p:nvPr/>
        </p:nvGraphicFramePr>
        <p:xfrm>
          <a:off x="2493963" y="2193925"/>
          <a:ext cx="25527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8" name="Equation" r:id="rId5" imgW="2552400" imgH="444240" progId="Equation.3">
                  <p:embed/>
                </p:oleObj>
              </mc:Choice>
              <mc:Fallback>
                <p:oleObj name="Equation" r:id="rId5" imgW="255240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193925"/>
                        <a:ext cx="25527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6877050" y="2276475"/>
          <a:ext cx="1905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9" name="Equation" r:id="rId7" imgW="1904760" imgH="431640" progId="Equation.3">
                  <p:embed/>
                </p:oleObj>
              </mc:Choice>
              <mc:Fallback>
                <p:oleObj name="Equation" r:id="rId7" imgW="1904760" imgH="431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2276475"/>
                        <a:ext cx="19050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2555875" y="2924175"/>
            <a:ext cx="2406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所以数列发散.</a:t>
            </a:r>
          </a:p>
        </p:txBody>
      </p:sp>
      <p:graphicFrame>
        <p:nvGraphicFramePr>
          <p:cNvPr id="512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594310"/>
              </p:ext>
            </p:extLst>
          </p:nvPr>
        </p:nvGraphicFramePr>
        <p:xfrm>
          <a:off x="1215327" y="764704"/>
          <a:ext cx="4436793" cy="989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0" name="Equation" r:id="rId9" imgW="1879560" imgH="419040" progId="Equation.DSMT4">
                  <p:embed/>
                </p:oleObj>
              </mc:Choice>
              <mc:Fallback>
                <p:oleObj name="Equation" r:id="rId9" imgW="1879560" imgH="4190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5327" y="764704"/>
                        <a:ext cx="4436793" cy="989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9" name="Object 19"/>
          <p:cNvGraphicFramePr>
            <a:graphicFrameLocks noChangeAspect="1"/>
          </p:cNvGraphicFramePr>
          <p:nvPr/>
        </p:nvGraphicFramePr>
        <p:xfrm>
          <a:off x="5651500" y="1052513"/>
          <a:ext cx="2044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1" name="Equation" r:id="rId11" imgW="2044440" imgH="558720" progId="Equation.3">
                  <p:embed/>
                </p:oleObj>
              </mc:Choice>
              <mc:Fallback>
                <p:oleObj name="Equation" r:id="rId11" imgW="2044440" imgH="55872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052513"/>
                        <a:ext cx="2044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1" name="Object 21"/>
          <p:cNvGraphicFramePr>
            <a:graphicFrameLocks noChangeAspect="1"/>
          </p:cNvGraphicFramePr>
          <p:nvPr/>
        </p:nvGraphicFramePr>
        <p:xfrm>
          <a:off x="5148263" y="2276475"/>
          <a:ext cx="15494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2" name="Equation" r:id="rId13" imgW="1549080" imgH="355320" progId="Equation.3">
                  <p:embed/>
                </p:oleObj>
              </mc:Choice>
              <mc:Fallback>
                <p:oleObj name="Equation" r:id="rId13" imgW="1549080" imgH="3553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276475"/>
                        <a:ext cx="15494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1042988" y="2997200"/>
          <a:ext cx="1270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Equation" r:id="rId15" imgW="1269720" imgH="431640" progId="Equation.3">
                  <p:embed/>
                </p:oleObj>
              </mc:Choice>
              <mc:Fallback>
                <p:oleObj name="Equation" r:id="rId15" imgW="1269720" imgH="431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997200"/>
                        <a:ext cx="12700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36B858-4A8F-443E-97CC-093FCC2D0C28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57346" name="Text Box 1026"/>
          <p:cNvSpPr txBox="1">
            <a:spLocks noChangeArrowheads="1"/>
          </p:cNvSpPr>
          <p:nvPr/>
        </p:nvSpPr>
        <p:spPr bwMode="auto">
          <a:xfrm>
            <a:off x="739775" y="838200"/>
            <a:ext cx="1158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latin typeface="黑体" pitchFamily="2" charset="-122"/>
                <a:ea typeface="黑体" pitchFamily="2" charset="-122"/>
              </a:rPr>
              <a:t>例2 </a:t>
            </a:r>
          </a:p>
        </p:txBody>
      </p:sp>
      <p:graphicFrame>
        <p:nvGraphicFramePr>
          <p:cNvPr id="57347" name="Object 1027"/>
          <p:cNvGraphicFramePr>
            <a:graphicFrameLocks noChangeAspect="1"/>
          </p:cNvGraphicFramePr>
          <p:nvPr/>
        </p:nvGraphicFramePr>
        <p:xfrm>
          <a:off x="1828800" y="650875"/>
          <a:ext cx="4318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2" name="Equation" r:id="rId3" imgW="4317840" imgH="965160" progId="Equation.3">
                  <p:embed/>
                </p:oleObj>
              </mc:Choice>
              <mc:Fallback>
                <p:oleObj name="Equation" r:id="rId3" imgW="4317840" imgH="96516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650875"/>
                        <a:ext cx="4318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1029"/>
          <p:cNvSpPr txBox="1">
            <a:spLocks noChangeArrowheads="1"/>
          </p:cNvSpPr>
          <p:nvPr/>
        </p:nvSpPr>
        <p:spPr bwMode="auto">
          <a:xfrm>
            <a:off x="739775" y="1768475"/>
            <a:ext cx="1006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ea typeface="黑体" pitchFamily="2" charset="-122"/>
              </a:rPr>
              <a:t>解 </a:t>
            </a:r>
            <a:endParaRPr lang="zh-CN" altLang="en-US" sz="2800" b="1"/>
          </a:p>
        </p:txBody>
      </p:sp>
      <p:sp>
        <p:nvSpPr>
          <p:cNvPr id="57350" name="Text Box 1030"/>
          <p:cNvSpPr txBox="1">
            <a:spLocks noChangeArrowheads="1"/>
          </p:cNvSpPr>
          <p:nvPr/>
        </p:nvSpPr>
        <p:spPr bwMode="auto">
          <a:xfrm>
            <a:off x="1414463" y="1762125"/>
            <a:ext cx="3219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级数满足必要条件, </a:t>
            </a:r>
          </a:p>
        </p:txBody>
      </p:sp>
      <p:graphicFrame>
        <p:nvGraphicFramePr>
          <p:cNvPr id="57354" name="Object 1034"/>
          <p:cNvGraphicFramePr>
            <a:graphicFrameLocks noChangeAspect="1"/>
          </p:cNvGraphicFramePr>
          <p:nvPr/>
        </p:nvGraphicFramePr>
        <p:xfrm>
          <a:off x="5048250" y="1571625"/>
          <a:ext cx="276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3" name="Equation" r:id="rId5" imgW="2768400" imgH="888840" progId="Equation.3">
                  <p:embed/>
                </p:oleObj>
              </mc:Choice>
              <mc:Fallback>
                <p:oleObj name="Equation" r:id="rId5" imgW="2768400" imgH="88884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1571625"/>
                        <a:ext cx="2768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5" name="Text Box 1035"/>
          <p:cNvSpPr txBox="1">
            <a:spLocks noChangeArrowheads="1"/>
          </p:cNvSpPr>
          <p:nvPr/>
        </p:nvSpPr>
        <p:spPr bwMode="auto">
          <a:xfrm>
            <a:off x="727075" y="2676525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但</a:t>
            </a:r>
          </a:p>
        </p:txBody>
      </p:sp>
      <p:graphicFrame>
        <p:nvGraphicFramePr>
          <p:cNvPr id="57359" name="Object 1039"/>
          <p:cNvGraphicFramePr>
            <a:graphicFrameLocks noChangeAspect="1"/>
          </p:cNvGraphicFramePr>
          <p:nvPr/>
        </p:nvGraphicFramePr>
        <p:xfrm>
          <a:off x="1412875" y="2479675"/>
          <a:ext cx="3835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4" name="公式" r:id="rId7" imgW="3835080" imgH="965160" progId="Equation.3">
                  <p:embed/>
                </p:oleObj>
              </mc:Choice>
              <mc:Fallback>
                <p:oleObj name="公式" r:id="rId7" imgW="3835080" imgH="965160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2479675"/>
                        <a:ext cx="3835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1" name="Object 1041"/>
          <p:cNvGraphicFramePr>
            <a:graphicFrameLocks noChangeAspect="1"/>
          </p:cNvGraphicFramePr>
          <p:nvPr/>
        </p:nvGraphicFramePr>
        <p:xfrm>
          <a:off x="777875" y="3789363"/>
          <a:ext cx="3162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5" name="Equation" r:id="rId9" imgW="3162240" imgH="939600" progId="Equation.3">
                  <p:embed/>
                </p:oleObj>
              </mc:Choice>
              <mc:Fallback>
                <p:oleObj name="Equation" r:id="rId9" imgW="3162240" imgH="93960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3789363"/>
                        <a:ext cx="3162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2" name="Object 1042"/>
          <p:cNvGraphicFramePr>
            <a:graphicFrameLocks noChangeAspect="1"/>
          </p:cNvGraphicFramePr>
          <p:nvPr/>
        </p:nvGraphicFramePr>
        <p:xfrm>
          <a:off x="781050" y="4918075"/>
          <a:ext cx="23860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6" name="公式" r:id="rId11" imgW="2273040" imgH="406080" progId="Equation.3">
                  <p:embed/>
                </p:oleObj>
              </mc:Choice>
              <mc:Fallback>
                <p:oleObj name="公式" r:id="rId11" imgW="2273040" imgH="406080" progId="Equation.3">
                  <p:embed/>
                  <p:pic>
                    <p:nvPicPr>
                      <p:cNvPr id="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4918075"/>
                        <a:ext cx="238601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3" name="Object 1043"/>
          <p:cNvGraphicFramePr>
            <a:graphicFrameLocks noChangeAspect="1"/>
          </p:cNvGraphicFramePr>
          <p:nvPr/>
        </p:nvGraphicFramePr>
        <p:xfrm>
          <a:off x="3995738" y="3789363"/>
          <a:ext cx="2768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7" name="Equation" r:id="rId13" imgW="2768400" imgH="939600" progId="Equation.3">
                  <p:embed/>
                </p:oleObj>
              </mc:Choice>
              <mc:Fallback>
                <p:oleObj name="Equation" r:id="rId13" imgW="2768400" imgH="93960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789363"/>
                        <a:ext cx="2768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4" name="Object 1044"/>
          <p:cNvGraphicFramePr>
            <a:graphicFrameLocks noChangeAspect="1"/>
          </p:cNvGraphicFramePr>
          <p:nvPr/>
        </p:nvGraphicFramePr>
        <p:xfrm>
          <a:off x="5364163" y="2565400"/>
          <a:ext cx="965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8" name="Equation" r:id="rId15" imgW="965160" imgH="939600" progId="Equation.3">
                  <p:embed/>
                </p:oleObj>
              </mc:Choice>
              <mc:Fallback>
                <p:oleObj name="Equation" r:id="rId15" imgW="965160" imgH="939600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565400"/>
                        <a:ext cx="965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5" name="Object 1045"/>
          <p:cNvGraphicFramePr>
            <a:graphicFrameLocks noChangeAspect="1"/>
          </p:cNvGraphicFramePr>
          <p:nvPr/>
        </p:nvGraphicFramePr>
        <p:xfrm>
          <a:off x="6416675" y="2565400"/>
          <a:ext cx="1892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9" name="Equation" r:id="rId17" imgW="1892160" imgH="939600" progId="Equation.3">
                  <p:embed/>
                </p:oleObj>
              </mc:Choice>
              <mc:Fallback>
                <p:oleObj name="Equation" r:id="rId17" imgW="1892160" imgH="939600" progId="Equation.3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6675" y="2565400"/>
                        <a:ext cx="1892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autoUpdateAnimBg="0"/>
      <p:bldP spid="57350" grpId="0" autoUpdateAnimBg="0"/>
      <p:bldP spid="5735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583DE5-27D7-44BC-94A1-6A8631656086}" type="slidenum">
              <a:rPr lang="zh-CN" altLang="en-US"/>
              <a:pPr/>
              <a:t>22</a:t>
            </a:fld>
            <a:endParaRPr lang="en-US" altLang="zh-CN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1676400" y="727075"/>
          <a:ext cx="463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2" name="Equation" r:id="rId3" imgW="4635360" imgH="965160" progId="Equation.3">
                  <p:embed/>
                </p:oleObj>
              </mc:Choice>
              <mc:Fallback>
                <p:oleObj name="Equation" r:id="rId3" imgW="4635360" imgH="9651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727075"/>
                        <a:ext cx="4635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822325" y="92075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黑体" pitchFamily="2" charset="-122"/>
                <a:ea typeface="黑体" pitchFamily="2" charset="-122"/>
              </a:rPr>
              <a:t>例3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6156325" y="2997200"/>
          <a:ext cx="2032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3" name="Equation" r:id="rId5" imgW="2031840" imgH="965160" progId="Equation.3">
                  <p:embed/>
                </p:oleObj>
              </mc:Choice>
              <mc:Fallback>
                <p:oleObj name="Equation" r:id="rId5" imgW="2031840" imgH="965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997200"/>
                        <a:ext cx="2032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755650" y="4149725"/>
            <a:ext cx="4718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故原级数收敛, 且为绝对收敛.</a:t>
            </a:r>
          </a:p>
        </p:txBody>
      </p:sp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2755900" y="1905000"/>
          <a:ext cx="17018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4" name="公式" r:id="rId7" imgW="1701720" imgH="1002960" progId="Equation.3">
                  <p:embed/>
                </p:oleObj>
              </mc:Choice>
              <mc:Fallback>
                <p:oleObj name="公式" r:id="rId7" imgW="1701720" imgH="1002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1905000"/>
                        <a:ext cx="17018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1590675" y="210820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因为</a:t>
            </a: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755650" y="3213100"/>
            <a:ext cx="5281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所以由正项级数的比值判别法知: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822325" y="2097088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ea typeface="黑体" pitchFamily="2" charset="-122"/>
              </a:rPr>
              <a:t>解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 autoUpdateAnimBg="0"/>
      <p:bldP spid="52232" grpId="0" autoUpdateAnimBg="0"/>
      <p:bldP spid="52233" grpId="0" autoUpdateAnimBg="0"/>
      <p:bldP spid="5223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7803D7-CB70-4295-9845-45A2A46EAFE9}" type="slidenum">
              <a:rPr lang="zh-CN" altLang="en-US"/>
              <a:pPr/>
              <a:t>23</a:t>
            </a:fld>
            <a:endParaRPr lang="en-US" altLang="zh-CN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1676400" y="2119313"/>
          <a:ext cx="3022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8" name="Equation" r:id="rId4" imgW="3022560" imgH="965160" progId="Equation.3">
                  <p:embed/>
                </p:oleObj>
              </mc:Choice>
              <mc:Fallback>
                <p:oleObj name="Equation" r:id="rId4" imgW="3022560" imgH="9651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19313"/>
                        <a:ext cx="3022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4953000" y="2112963"/>
          <a:ext cx="2057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9" name="公式" r:id="rId6" imgW="1968480" imgH="952200" progId="Equation.3">
                  <p:embed/>
                </p:oleObj>
              </mc:Choice>
              <mc:Fallback>
                <p:oleObj name="公式" r:id="rId6" imgW="1968480" imgH="952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112963"/>
                        <a:ext cx="2057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827088" y="3357563"/>
            <a:ext cx="240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故原级数收敛.</a:t>
            </a: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3490913" y="3141663"/>
          <a:ext cx="3619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0" name="公式" r:id="rId8" imgW="3492360" imgH="965160" progId="Equation.3">
                  <p:embed/>
                </p:oleObj>
              </mc:Choice>
              <mc:Fallback>
                <p:oleObj name="公式" r:id="rId8" imgW="3492360" imgH="9651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3141663"/>
                        <a:ext cx="3619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827088" y="4437063"/>
            <a:ext cx="3829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所以原级数非绝对收敛.</a:t>
            </a:r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1712913" y="803275"/>
          <a:ext cx="5765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1" name="Equation" r:id="rId10" imgW="5765760" imgH="965160" progId="Equation.3">
                  <p:embed/>
                </p:oleObj>
              </mc:Choice>
              <mc:Fallback>
                <p:oleObj name="Equation" r:id="rId10" imgW="5765760" imgH="965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803275"/>
                        <a:ext cx="5765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838200" y="9747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黑体" pitchFamily="2" charset="-122"/>
                <a:ea typeface="黑体" pitchFamily="2" charset="-122"/>
              </a:rPr>
              <a:t>例4</a:t>
            </a:r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822325" y="2293938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ea typeface="黑体" pitchFamily="2" charset="-122"/>
              </a:rPr>
              <a:t>解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 autoUpdateAnimBg="0"/>
      <p:bldP spid="53256" grpId="0" autoUpdateAnimBg="0"/>
      <p:bldP spid="5325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400237-5227-49C6-829F-DFD9092EDDD5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4000"/>
              <a:t>四、小结与思考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803275" y="1728788"/>
            <a:ext cx="445135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/>
              <a:t>复数列收敛及极限的计算。</a:t>
            </a: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755650" y="2852738"/>
            <a:ext cx="698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复数项级数收敛与绝对收敛的充要条件。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autoUpdateAnimBg="0"/>
      <p:bldP spid="6656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F2114B-DB43-47C4-9F31-95192453D5B5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884238" y="1249363"/>
            <a:ext cx="2697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ea typeface="黑体" pitchFamily="2" charset="-122"/>
              </a:rPr>
              <a:t>思考题</a:t>
            </a:r>
            <a:endParaRPr lang="zh-CN" altLang="en-US" sz="3200" b="1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1676400" y="2127250"/>
          <a:ext cx="66055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8" name="Equation" r:id="rId3" imgW="6603840" imgH="939600" progId="Equation.3">
                  <p:embed/>
                </p:oleObj>
              </mc:Choice>
              <mc:Fallback>
                <p:oleObj name="Equation" r:id="rId3" imgW="660384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27250"/>
                        <a:ext cx="66055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933450" y="3022600"/>
          <a:ext cx="4178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9" name="Equation" r:id="rId5" imgW="4178160" imgH="939600" progId="Equation.3">
                  <p:embed/>
                </p:oleObj>
              </mc:Choice>
              <mc:Fallback>
                <p:oleObj name="Equation" r:id="rId5" imgW="417816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3022600"/>
                        <a:ext cx="4178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C67120-95D6-45D2-A7C3-4606A71C3F41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790575" y="1358900"/>
            <a:ext cx="3248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chemeClr val="accent2"/>
                </a:solidFill>
                <a:ea typeface="黑体" pitchFamily="2" charset="-122"/>
              </a:rPr>
              <a:t>思考题答案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1196975" y="2452688"/>
            <a:ext cx="631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否.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2133600" y="6380163"/>
            <a:ext cx="3429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放映结束，按</a:t>
            </a:r>
            <a:r>
              <a:rPr lang="en-US" altLang="zh-CN" sz="20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Esc</a:t>
            </a:r>
            <a:r>
              <a:rPr lang="zh-CN" altLang="en-US" sz="20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退出.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autoUpdateAnimBg="0"/>
      <p:bldP spid="68612" grpId="0" autoUpdateAnimBg="0"/>
    </p:bldLst>
  </p:timing>
</p:sld>
</file>

<file path=ppt/theme/theme1.xml><?xml version="1.0" encoding="utf-8"?>
<a:theme xmlns:a="http://schemas.openxmlformats.org/drawingml/2006/main" name="yds001">
  <a:themeElements>
    <a:clrScheme name="yds00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yds00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yds00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ds00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ds00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ds00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ds00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ds00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ds00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E:\杨东升\复变函数素材\yds001.pot</Template>
  <TotalTime>599</TotalTime>
  <Words>430</Words>
  <Application>Microsoft Office PowerPoint</Application>
  <PresentationFormat>全屏显示(4:3)</PresentationFormat>
  <Paragraphs>119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Times New Roman</vt:lpstr>
      <vt:lpstr>宋体</vt:lpstr>
      <vt:lpstr>黑体</vt:lpstr>
      <vt:lpstr>Verdana</vt:lpstr>
      <vt:lpstr>楷体_GB2312</vt:lpstr>
      <vt:lpstr>yds001</vt:lpstr>
      <vt:lpstr>Microsoft 公式 3.0</vt:lpstr>
      <vt:lpstr>MathType 5.0 Equation</vt:lpstr>
      <vt:lpstr>Microsoft Equation 3.0</vt:lpstr>
      <vt:lpstr>MathType 6.0 Equation</vt:lpstr>
      <vt:lpstr>第一节  复数项级数</vt:lpstr>
      <vt:lpstr>一、复数列的极限</vt:lpstr>
      <vt:lpstr>PowerPoint 演示文稿</vt:lpstr>
      <vt:lpstr>PowerPoint 演示文稿</vt:lpstr>
      <vt:lpstr>PowerPoint 演示文稿</vt:lpstr>
      <vt:lpstr>PowerPoint 演示文稿</vt:lpstr>
      <vt:lpstr>二、级数的概念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三、典型例题</vt:lpstr>
      <vt:lpstr>PowerPoint 演示文稿</vt:lpstr>
      <vt:lpstr>PowerPoint 演示文稿</vt:lpstr>
      <vt:lpstr>PowerPoint 演示文稿</vt:lpstr>
      <vt:lpstr>PowerPoint 演示文稿</vt:lpstr>
      <vt:lpstr>四、小结与思考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第一节 复数项级数</dc:title>
  <dc:creator>zyl</dc:creator>
  <cp:lastModifiedBy>马荣</cp:lastModifiedBy>
  <cp:revision>103</cp:revision>
  <dcterms:created xsi:type="dcterms:W3CDTF">1601-01-01T00:00:00Z</dcterms:created>
  <dcterms:modified xsi:type="dcterms:W3CDTF">2020-10-21T11:03:17Z</dcterms:modified>
</cp:coreProperties>
</file>